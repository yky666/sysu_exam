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42"/>
  </p:notesMasterIdLst>
  <p:handoutMasterIdLst>
    <p:handoutMasterId r:id="rId43"/>
  </p:handoutMasterIdLst>
  <p:sldIdLst>
    <p:sldId id="256" r:id="rId2"/>
    <p:sldId id="258" r:id="rId3"/>
    <p:sldId id="391" r:id="rId4"/>
    <p:sldId id="434" r:id="rId5"/>
    <p:sldId id="393" r:id="rId6"/>
    <p:sldId id="394" r:id="rId7"/>
    <p:sldId id="395" r:id="rId8"/>
    <p:sldId id="397" r:id="rId9"/>
    <p:sldId id="399" r:id="rId10"/>
    <p:sldId id="435" r:id="rId11"/>
    <p:sldId id="401" r:id="rId12"/>
    <p:sldId id="436" r:id="rId13"/>
    <p:sldId id="403" r:id="rId14"/>
    <p:sldId id="404" r:id="rId15"/>
    <p:sldId id="405" r:id="rId16"/>
    <p:sldId id="406" r:id="rId17"/>
    <p:sldId id="407" r:id="rId18"/>
    <p:sldId id="408" r:id="rId19"/>
    <p:sldId id="411" r:id="rId20"/>
    <p:sldId id="412" r:id="rId21"/>
    <p:sldId id="413" r:id="rId22"/>
    <p:sldId id="414" r:id="rId23"/>
    <p:sldId id="417" r:id="rId24"/>
    <p:sldId id="418" r:id="rId25"/>
    <p:sldId id="419" r:id="rId26"/>
    <p:sldId id="420"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433" r:id="rId40"/>
    <p:sldId id="437" r:id="rId4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9900"/>
    <a:srgbClr val="00CC00"/>
    <a:srgbClr val="003300"/>
    <a:srgbClr val="007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5" autoAdjust="0"/>
    <p:restoredTop sz="94561" autoAdjust="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82"/>
    </p:cViewPr>
  </p:sorterViewPr>
  <p:notesViewPr>
    <p:cSldViewPr>
      <p:cViewPr varScale="1">
        <p:scale>
          <a:sx n="45" d="100"/>
          <a:sy n="45" d="100"/>
        </p:scale>
        <p:origin x="-1440"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6BF0D5FF-1535-3CF0-7A71-4C4CCD9EDFC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3603" name="Rectangle 3">
            <a:extLst>
              <a:ext uri="{FF2B5EF4-FFF2-40B4-BE49-F238E27FC236}">
                <a16:creationId xmlns:a16="http://schemas.microsoft.com/office/drawing/2014/main" id="{FF263299-5D52-EE38-6F21-309DE3B5975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3604" name="Rectangle 4">
            <a:extLst>
              <a:ext uri="{FF2B5EF4-FFF2-40B4-BE49-F238E27FC236}">
                <a16:creationId xmlns:a16="http://schemas.microsoft.com/office/drawing/2014/main" id="{32D4E45A-669A-7A02-1CB9-F64F2EEDD7BF}"/>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3605" name="Rectangle 5">
            <a:extLst>
              <a:ext uri="{FF2B5EF4-FFF2-40B4-BE49-F238E27FC236}">
                <a16:creationId xmlns:a16="http://schemas.microsoft.com/office/drawing/2014/main" id="{47C379F4-5F88-2FE1-7240-FC8A4882C18C}"/>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CACA1B8-9338-4355-92EC-A0DF9E07BAEC}"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7ABA90D4-33FA-8109-CD5D-B54432725B7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0531" name="Rectangle 3">
            <a:extLst>
              <a:ext uri="{FF2B5EF4-FFF2-40B4-BE49-F238E27FC236}">
                <a16:creationId xmlns:a16="http://schemas.microsoft.com/office/drawing/2014/main" id="{7B2A7628-942D-2912-1F5C-2A341AB18907}"/>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0532" name="Rectangle 4">
            <a:extLst>
              <a:ext uri="{FF2B5EF4-FFF2-40B4-BE49-F238E27FC236}">
                <a16:creationId xmlns:a16="http://schemas.microsoft.com/office/drawing/2014/main" id="{19C7DBD7-59BA-B259-666C-305CD8B87C64}"/>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0533" name="Rectangle 5">
            <a:extLst>
              <a:ext uri="{FF2B5EF4-FFF2-40B4-BE49-F238E27FC236}">
                <a16:creationId xmlns:a16="http://schemas.microsoft.com/office/drawing/2014/main" id="{EB79CBF7-D8DA-23D0-5A88-D4E4952DCAE1}"/>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0534" name="Rectangle 6">
            <a:extLst>
              <a:ext uri="{FF2B5EF4-FFF2-40B4-BE49-F238E27FC236}">
                <a16:creationId xmlns:a16="http://schemas.microsoft.com/office/drawing/2014/main" id="{95ED3E0E-A3A4-A651-4643-031321D87B59}"/>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0535" name="Rectangle 7">
            <a:extLst>
              <a:ext uri="{FF2B5EF4-FFF2-40B4-BE49-F238E27FC236}">
                <a16:creationId xmlns:a16="http://schemas.microsoft.com/office/drawing/2014/main" id="{D6488674-3451-9E30-12F7-86C2E9759BE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D93406B-D5EF-4AE7-AEE4-F5E60EA6438C}" type="slidenum">
              <a:rPr lang="en-US" altLang="zh-CN"/>
              <a:pPr/>
              <a:t>‹#›</a:t>
            </a:fld>
            <a:endParaRPr lang="en-US" altLang="zh-CN"/>
          </a:p>
        </p:txBody>
      </p:sp>
    </p:spTree>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65218" name="Group 2">
            <a:extLst>
              <a:ext uri="{FF2B5EF4-FFF2-40B4-BE49-F238E27FC236}">
                <a16:creationId xmlns:a16="http://schemas.microsoft.com/office/drawing/2014/main" id="{BFC877FE-A96E-1BAF-E27E-E31C0FB5CCBA}"/>
              </a:ext>
            </a:extLst>
          </p:cNvPr>
          <p:cNvGrpSpPr>
            <a:grpSpLocks/>
          </p:cNvGrpSpPr>
          <p:nvPr/>
        </p:nvGrpSpPr>
        <p:grpSpPr bwMode="auto">
          <a:xfrm>
            <a:off x="-6350" y="20638"/>
            <a:ext cx="9144000" cy="6858000"/>
            <a:chOff x="0" y="0"/>
            <a:chExt cx="5760" cy="4320"/>
          </a:xfrm>
        </p:grpSpPr>
        <p:sp>
          <p:nvSpPr>
            <p:cNvPr id="265219" name="Freeform 3">
              <a:extLst>
                <a:ext uri="{FF2B5EF4-FFF2-40B4-BE49-F238E27FC236}">
                  <a16:creationId xmlns:a16="http://schemas.microsoft.com/office/drawing/2014/main" id="{E4556833-4E84-16F4-86BE-DE025A6E5EE9}"/>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0" name="Freeform 4">
              <a:extLst>
                <a:ext uri="{FF2B5EF4-FFF2-40B4-BE49-F238E27FC236}">
                  <a16:creationId xmlns:a16="http://schemas.microsoft.com/office/drawing/2014/main" id="{8DB276BA-2824-4B1F-9790-2F4158433CC8}"/>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21" name="Freeform 5">
            <a:extLst>
              <a:ext uri="{FF2B5EF4-FFF2-40B4-BE49-F238E27FC236}">
                <a16:creationId xmlns:a16="http://schemas.microsoft.com/office/drawing/2014/main" id="{2D3D31F5-1444-202B-CFA1-2997F3DAC287}"/>
              </a:ext>
            </a:extLst>
          </p:cNvPr>
          <p:cNvSpPr>
            <a:spLocks/>
          </p:cNvSpPr>
          <p:nvPr/>
        </p:nvSpPr>
        <p:spPr bwMode="hidden">
          <a:xfrm>
            <a:off x="6242050" y="626903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2" name="Group 6">
            <a:extLst>
              <a:ext uri="{FF2B5EF4-FFF2-40B4-BE49-F238E27FC236}">
                <a16:creationId xmlns:a16="http://schemas.microsoft.com/office/drawing/2014/main" id="{08D58E72-D8F1-B1BE-AFF6-6B3B9703BB24}"/>
              </a:ext>
            </a:extLst>
          </p:cNvPr>
          <p:cNvGrpSpPr>
            <a:grpSpLocks/>
          </p:cNvGrpSpPr>
          <p:nvPr/>
        </p:nvGrpSpPr>
        <p:grpSpPr bwMode="auto">
          <a:xfrm>
            <a:off x="-1588" y="6034088"/>
            <a:ext cx="7845426" cy="850900"/>
            <a:chOff x="0" y="3792"/>
            <a:chExt cx="4942" cy="536"/>
          </a:xfrm>
        </p:grpSpPr>
        <p:sp>
          <p:nvSpPr>
            <p:cNvPr id="265223" name="Freeform 7">
              <a:extLst>
                <a:ext uri="{FF2B5EF4-FFF2-40B4-BE49-F238E27FC236}">
                  <a16:creationId xmlns:a16="http://schemas.microsoft.com/office/drawing/2014/main" id="{E44361D2-59B5-715A-5944-3FC6B73327BE}"/>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4" name="Group 8">
              <a:extLst>
                <a:ext uri="{FF2B5EF4-FFF2-40B4-BE49-F238E27FC236}">
                  <a16:creationId xmlns:a16="http://schemas.microsoft.com/office/drawing/2014/main" id="{3AA65D79-9FFC-188A-CBE7-17CCF6A31B8D}"/>
                </a:ext>
              </a:extLst>
            </p:cNvPr>
            <p:cNvGrpSpPr>
              <a:grpSpLocks/>
            </p:cNvGrpSpPr>
            <p:nvPr userDrawn="1"/>
          </p:nvGrpSpPr>
          <p:grpSpPr bwMode="auto">
            <a:xfrm>
              <a:off x="2486" y="3792"/>
              <a:ext cx="2456" cy="536"/>
              <a:chOff x="2486" y="3792"/>
              <a:chExt cx="2456" cy="536"/>
            </a:xfrm>
          </p:grpSpPr>
          <p:sp>
            <p:nvSpPr>
              <p:cNvPr id="265225" name="Freeform 9">
                <a:extLst>
                  <a:ext uri="{FF2B5EF4-FFF2-40B4-BE49-F238E27FC236}">
                    <a16:creationId xmlns:a16="http://schemas.microsoft.com/office/drawing/2014/main" id="{8F6CB030-75D7-54F5-B6BB-9D06330E2419}"/>
                  </a:ext>
                </a:extLst>
              </p:cNvPr>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6" name="Freeform 10">
                <a:extLst>
                  <a:ext uri="{FF2B5EF4-FFF2-40B4-BE49-F238E27FC236}">
                    <a16:creationId xmlns:a16="http://schemas.microsoft.com/office/drawing/2014/main" id="{3C5871AE-BAA7-79F0-7B79-9DFDC1384778}"/>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7" name="Freeform 11">
                <a:extLst>
                  <a:ext uri="{FF2B5EF4-FFF2-40B4-BE49-F238E27FC236}">
                    <a16:creationId xmlns:a16="http://schemas.microsoft.com/office/drawing/2014/main" id="{2CA2F95D-5ED6-362A-14B5-468E66129006}"/>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8" name="Freeform 12">
                <a:extLst>
                  <a:ext uri="{FF2B5EF4-FFF2-40B4-BE49-F238E27FC236}">
                    <a16:creationId xmlns:a16="http://schemas.microsoft.com/office/drawing/2014/main" id="{312C68C0-9486-83AB-3DBA-4541BD4D634B}"/>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9" name="Freeform 13">
                <a:extLst>
                  <a:ext uri="{FF2B5EF4-FFF2-40B4-BE49-F238E27FC236}">
                    <a16:creationId xmlns:a16="http://schemas.microsoft.com/office/drawing/2014/main" id="{5621BCD3-0119-1D0D-8F1C-603F20E30B44}"/>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0" name="Freeform 14">
              <a:extLst>
                <a:ext uri="{FF2B5EF4-FFF2-40B4-BE49-F238E27FC236}">
                  <a16:creationId xmlns:a16="http://schemas.microsoft.com/office/drawing/2014/main" id="{771B85AE-F8AC-E5A0-70FE-2BC8B13AE299}"/>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5231" name="Group 15">
            <a:extLst>
              <a:ext uri="{FF2B5EF4-FFF2-40B4-BE49-F238E27FC236}">
                <a16:creationId xmlns:a16="http://schemas.microsoft.com/office/drawing/2014/main" id="{FCD848B2-0A98-8909-5969-7975A1DC2FE8}"/>
              </a:ext>
            </a:extLst>
          </p:cNvPr>
          <p:cNvGrpSpPr>
            <a:grpSpLocks/>
          </p:cNvGrpSpPr>
          <p:nvPr/>
        </p:nvGrpSpPr>
        <p:grpSpPr bwMode="auto">
          <a:xfrm>
            <a:off x="627063" y="6021388"/>
            <a:ext cx="5684837" cy="849312"/>
            <a:chOff x="395" y="3793"/>
            <a:chExt cx="3581" cy="535"/>
          </a:xfrm>
        </p:grpSpPr>
        <p:sp>
          <p:nvSpPr>
            <p:cNvPr id="265232" name="Freeform 16">
              <a:extLst>
                <a:ext uri="{FF2B5EF4-FFF2-40B4-BE49-F238E27FC236}">
                  <a16:creationId xmlns:a16="http://schemas.microsoft.com/office/drawing/2014/main" id="{FA83746A-4D72-BED5-3621-4928531C08C3}"/>
                </a:ext>
              </a:extLst>
            </p:cNvPr>
            <p:cNvSpPr>
              <a:spLocks/>
            </p:cNvSpPr>
            <p:nvPr userDrawn="1"/>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3" name="Freeform 17">
              <a:extLst>
                <a:ext uri="{FF2B5EF4-FFF2-40B4-BE49-F238E27FC236}">
                  <a16:creationId xmlns:a16="http://schemas.microsoft.com/office/drawing/2014/main" id="{C972F2DE-4688-E50E-058D-84DB850AA77B}"/>
                </a:ext>
              </a:extLst>
            </p:cNvPr>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4" name="Freeform 18">
              <a:extLst>
                <a:ext uri="{FF2B5EF4-FFF2-40B4-BE49-F238E27FC236}">
                  <a16:creationId xmlns:a16="http://schemas.microsoft.com/office/drawing/2014/main" id="{68D907A8-9E2F-CED2-E8CD-5D00D1418A1F}"/>
                </a:ext>
              </a:extLst>
            </p:cNvPr>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5" name="Freeform 19">
              <a:extLst>
                <a:ext uri="{FF2B5EF4-FFF2-40B4-BE49-F238E27FC236}">
                  <a16:creationId xmlns:a16="http://schemas.microsoft.com/office/drawing/2014/main" id="{8CCFDE84-1FF9-8592-0210-2B1481EF64C2}"/>
                </a:ext>
              </a:extLst>
            </p:cNvPr>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6" name="Freeform 20">
              <a:extLst>
                <a:ext uri="{FF2B5EF4-FFF2-40B4-BE49-F238E27FC236}">
                  <a16:creationId xmlns:a16="http://schemas.microsoft.com/office/drawing/2014/main" id="{0B84D8C0-1A82-38B0-6C21-83F24F48AA8F}"/>
                </a:ext>
              </a:extLst>
            </p:cNvPr>
            <p:cNvSpPr>
              <a:spLocks/>
            </p:cNvSpPr>
            <p:nvPr userDrawn="1"/>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7" name="Freeform 21">
              <a:extLst>
                <a:ext uri="{FF2B5EF4-FFF2-40B4-BE49-F238E27FC236}">
                  <a16:creationId xmlns:a16="http://schemas.microsoft.com/office/drawing/2014/main" id="{D669CE74-10FF-6FCE-3652-50551612DF3E}"/>
                </a:ext>
              </a:extLst>
            </p:cNvPr>
            <p:cNvSpPr>
              <a:spLocks/>
            </p:cNvSpPr>
            <p:nvPr userDrawn="1"/>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8" name="Rectangle 22">
            <a:extLst>
              <a:ext uri="{FF2B5EF4-FFF2-40B4-BE49-F238E27FC236}">
                <a16:creationId xmlns:a16="http://schemas.microsoft.com/office/drawing/2014/main" id="{669A1FC1-D6FE-AC62-B121-E2561B4CE947}"/>
              </a:ext>
            </a:extLst>
          </p:cNvPr>
          <p:cNvSpPr>
            <a:spLocks noGrp="1" noChangeArrowheads="1"/>
          </p:cNvSpPr>
          <p:nvPr>
            <p:ph type="ctrTitle" sz="quarter"/>
          </p:nvPr>
        </p:nvSpPr>
        <p:spPr>
          <a:xfrm>
            <a:off x="457200" y="1447800"/>
            <a:ext cx="8229600" cy="1736725"/>
          </a:xfrm>
        </p:spPr>
        <p:txBody>
          <a:bodyPr/>
          <a:lstStyle>
            <a:lvl1pPr>
              <a:defRPr sz="5400"/>
            </a:lvl1pPr>
          </a:lstStyle>
          <a:p>
            <a:pPr lvl="0"/>
            <a:r>
              <a:rPr lang="zh-CN" altLang="en-US" noProof="0"/>
              <a:t>单击此处编辑母版标题样式</a:t>
            </a:r>
          </a:p>
        </p:txBody>
      </p:sp>
      <p:sp>
        <p:nvSpPr>
          <p:cNvPr id="265239" name="Rectangle 23">
            <a:extLst>
              <a:ext uri="{FF2B5EF4-FFF2-40B4-BE49-F238E27FC236}">
                <a16:creationId xmlns:a16="http://schemas.microsoft.com/office/drawing/2014/main" id="{ABE315A8-397A-3D52-9818-496D853AF376}"/>
              </a:ext>
            </a:extLst>
          </p:cNvPr>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265240" name="Rectangle 24">
            <a:extLst>
              <a:ext uri="{FF2B5EF4-FFF2-40B4-BE49-F238E27FC236}">
                <a16:creationId xmlns:a16="http://schemas.microsoft.com/office/drawing/2014/main" id="{E6B1F957-42AC-A431-AF0D-8F04F76423D9}"/>
              </a:ext>
            </a:extLst>
          </p:cNvPr>
          <p:cNvSpPr>
            <a:spLocks noGrp="1" noChangeArrowheads="1"/>
          </p:cNvSpPr>
          <p:nvPr>
            <p:ph type="dt" sz="quarter" idx="2"/>
          </p:nvPr>
        </p:nvSpPr>
        <p:spPr/>
        <p:txBody>
          <a:bodyPr/>
          <a:lstStyle>
            <a:lvl1pPr>
              <a:defRPr/>
            </a:lvl1pPr>
          </a:lstStyle>
          <a:p>
            <a:r>
              <a:rPr lang="zh-CN" altLang="en-US"/>
              <a:t>讲义制作：李丽，陈志祥审</a:t>
            </a:r>
            <a:endParaRPr lang="en-US" altLang="zh-CN"/>
          </a:p>
        </p:txBody>
      </p:sp>
      <p:sp>
        <p:nvSpPr>
          <p:cNvPr id="265241" name="Rectangle 25">
            <a:extLst>
              <a:ext uri="{FF2B5EF4-FFF2-40B4-BE49-F238E27FC236}">
                <a16:creationId xmlns:a16="http://schemas.microsoft.com/office/drawing/2014/main" id="{CB85FDE2-85CE-6C2D-ED5A-DF51E3EE435A}"/>
              </a:ext>
            </a:extLst>
          </p:cNvPr>
          <p:cNvSpPr>
            <a:spLocks noGrp="1" noChangeArrowheads="1"/>
          </p:cNvSpPr>
          <p:nvPr>
            <p:ph type="sldNum" sz="quarter" idx="4"/>
          </p:nvPr>
        </p:nvSpPr>
        <p:spPr/>
        <p:txBody>
          <a:bodyPr/>
          <a:lstStyle>
            <a:lvl1pPr>
              <a:defRPr/>
            </a:lvl1pPr>
          </a:lstStyle>
          <a:p>
            <a:fld id="{DBC043AC-A4F6-4C2F-8EBF-A11E5AE03D90}" type="slidenum">
              <a:rPr lang="en-US" altLang="zh-CN"/>
              <a:pPr/>
              <a:t>‹#›</a:t>
            </a:fld>
            <a:endParaRPr lang="en-US" altLang="zh-CN"/>
          </a:p>
        </p:txBody>
      </p:sp>
      <p:sp>
        <p:nvSpPr>
          <p:cNvPr id="265242" name="Rectangle 26">
            <a:extLst>
              <a:ext uri="{FF2B5EF4-FFF2-40B4-BE49-F238E27FC236}">
                <a16:creationId xmlns:a16="http://schemas.microsoft.com/office/drawing/2014/main" id="{5ABD61EC-478C-50ED-28A0-AB50914E68F9}"/>
              </a:ext>
            </a:extLst>
          </p:cNvPr>
          <p:cNvSpPr>
            <a:spLocks noGrp="1" noChangeArrowheads="1"/>
          </p:cNvSpPr>
          <p:nvPr>
            <p:ph type="ftr" sz="quarter" idx="3"/>
          </p:nvPr>
        </p:nvSpPr>
        <p:spPr/>
        <p:txBody>
          <a:bodyPr/>
          <a:lstStyle>
            <a:lvl1pPr>
              <a:defRPr/>
            </a:lvl1pPr>
          </a:lstStyle>
          <a:p>
            <a:endParaRPr lang="en-US" altLang="zh-CN"/>
          </a:p>
        </p:txBody>
      </p:sp>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11EABD-9398-8BB4-E78A-1FEA34EE0F1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66C005-5C44-62A9-9E7E-8DF29832F08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5509DB-B7AC-97DE-DF42-2806C70412F8}"/>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6CB1D550-7821-F38A-6659-9D1AEC93CD9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4A2F13A-9147-0D76-D964-F37844F83164}"/>
              </a:ext>
            </a:extLst>
          </p:cNvPr>
          <p:cNvSpPr>
            <a:spLocks noGrp="1"/>
          </p:cNvSpPr>
          <p:nvPr>
            <p:ph type="sldNum" sz="quarter" idx="12"/>
          </p:nvPr>
        </p:nvSpPr>
        <p:spPr/>
        <p:txBody>
          <a:bodyPr/>
          <a:lstStyle>
            <a:lvl1pPr>
              <a:defRPr/>
            </a:lvl1pPr>
          </a:lstStyle>
          <a:p>
            <a:fld id="{627C3E7B-1D7F-4E97-A11C-A5833F2D21ED}" type="slidenum">
              <a:rPr lang="en-US" altLang="zh-CN"/>
              <a:pPr/>
              <a:t>‹#›</a:t>
            </a:fld>
            <a:endParaRPr lang="en-US" altLang="zh-CN"/>
          </a:p>
        </p:txBody>
      </p:sp>
    </p:spTree>
    <p:extLst>
      <p:ext uri="{BB962C8B-B14F-4D97-AF65-F5344CB8AC3E}">
        <p14:creationId xmlns:p14="http://schemas.microsoft.com/office/powerpoint/2010/main" val="1510217418"/>
      </p:ext>
    </p:extLst>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1509F2-4611-0589-49D3-ED90420E4031}"/>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45F6B98-893D-E4B8-EC79-8D9F32BF189C}"/>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C840566-E118-8630-3E74-B7BE547C7AA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FFFEC337-F786-1F58-2FB2-273A4F4818EA}"/>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8DAEBA1-8044-94FB-9FEE-555FCE1D60CC}"/>
              </a:ext>
            </a:extLst>
          </p:cNvPr>
          <p:cNvSpPr>
            <a:spLocks noGrp="1"/>
          </p:cNvSpPr>
          <p:nvPr>
            <p:ph type="sldNum" sz="quarter" idx="12"/>
          </p:nvPr>
        </p:nvSpPr>
        <p:spPr/>
        <p:txBody>
          <a:bodyPr/>
          <a:lstStyle>
            <a:lvl1pPr>
              <a:defRPr/>
            </a:lvl1pPr>
          </a:lstStyle>
          <a:p>
            <a:fld id="{D178705D-55A6-40C9-AA64-C7A85A1411DA}" type="slidenum">
              <a:rPr lang="en-US" altLang="zh-CN"/>
              <a:pPr/>
              <a:t>‹#›</a:t>
            </a:fld>
            <a:endParaRPr lang="en-US" altLang="zh-CN"/>
          </a:p>
        </p:txBody>
      </p:sp>
    </p:spTree>
    <p:extLst>
      <p:ext uri="{BB962C8B-B14F-4D97-AF65-F5344CB8AC3E}">
        <p14:creationId xmlns:p14="http://schemas.microsoft.com/office/powerpoint/2010/main" val="696889963"/>
      </p:ext>
    </p:extLst>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937ED6-825B-67AB-2849-46784D7BBC6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E49A40-043D-8E14-6066-7EF993987612}"/>
              </a:ext>
            </a:extLst>
          </p:cNvPr>
          <p:cNvSpPr>
            <a:spLocks noGrp="1"/>
          </p:cNvSpPr>
          <p:nvPr>
            <p:ph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B424787-3213-DD86-9A7F-322457FAA89E}"/>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C3C6707-B5BD-3B41-07FD-3496F530D35A}"/>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975FCEDC-A36D-F46B-D1DA-FB43D9931C0E}"/>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98249351-A420-3E6B-EF43-1ABF15CF4111}"/>
              </a:ext>
            </a:extLst>
          </p:cNvPr>
          <p:cNvSpPr>
            <a:spLocks noGrp="1"/>
          </p:cNvSpPr>
          <p:nvPr>
            <p:ph type="sldNum" sz="quarter" idx="12"/>
          </p:nvPr>
        </p:nvSpPr>
        <p:spPr/>
        <p:txBody>
          <a:bodyPr/>
          <a:lstStyle>
            <a:lvl1pPr>
              <a:defRPr/>
            </a:lvl1pPr>
          </a:lstStyle>
          <a:p>
            <a:fld id="{F38AA8DD-8F8C-4C16-AEC1-A7F04471700B}" type="slidenum">
              <a:rPr lang="en-US" altLang="zh-CN"/>
              <a:pPr/>
              <a:t>‹#›</a:t>
            </a:fld>
            <a:endParaRPr lang="en-US" altLang="zh-CN"/>
          </a:p>
        </p:txBody>
      </p:sp>
    </p:spTree>
    <p:extLst>
      <p:ext uri="{BB962C8B-B14F-4D97-AF65-F5344CB8AC3E}">
        <p14:creationId xmlns:p14="http://schemas.microsoft.com/office/powerpoint/2010/main" val="3164352916"/>
      </p:ext>
    </p:extLst>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3A1B36-39BA-5F45-7BE5-06350D41AEFE}"/>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96A2A02-E17A-F73B-A07E-6A74706789B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6DEF1BC-2998-E90A-F262-E94A267461DF}"/>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6ED64FB-BEBF-8703-9597-D5438F822DA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96FAE1-60DD-6540-BF9C-CE1242BC8EA3}"/>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B13DE6D-ADE7-7771-D6DF-9B69131DAB49}"/>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8" name="页脚占位符 7">
            <a:extLst>
              <a:ext uri="{FF2B5EF4-FFF2-40B4-BE49-F238E27FC236}">
                <a16:creationId xmlns:a16="http://schemas.microsoft.com/office/drawing/2014/main" id="{EEC28E86-4C0A-6371-80E6-86B980068ED5}"/>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C85F3D73-CDBC-1F47-6729-489739F94B8F}"/>
              </a:ext>
            </a:extLst>
          </p:cNvPr>
          <p:cNvSpPr>
            <a:spLocks noGrp="1"/>
          </p:cNvSpPr>
          <p:nvPr>
            <p:ph type="sldNum" sz="quarter" idx="12"/>
          </p:nvPr>
        </p:nvSpPr>
        <p:spPr/>
        <p:txBody>
          <a:bodyPr/>
          <a:lstStyle>
            <a:lvl1pPr>
              <a:defRPr/>
            </a:lvl1pPr>
          </a:lstStyle>
          <a:p>
            <a:fld id="{2F46A897-EA4E-4E48-A7A4-1F4AB5E5C3F0}" type="slidenum">
              <a:rPr lang="en-US" altLang="zh-CN"/>
              <a:pPr/>
              <a:t>‹#›</a:t>
            </a:fld>
            <a:endParaRPr lang="en-US" altLang="zh-CN"/>
          </a:p>
        </p:txBody>
      </p:sp>
    </p:spTree>
    <p:extLst>
      <p:ext uri="{BB962C8B-B14F-4D97-AF65-F5344CB8AC3E}">
        <p14:creationId xmlns:p14="http://schemas.microsoft.com/office/powerpoint/2010/main" val="1010739702"/>
      </p:ext>
    </p:extLst>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D0E60F-A1FA-17D1-7A86-B4CFAB58733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0CC1391-CA52-1CE0-C1CC-EA3391684874}"/>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4" name="页脚占位符 3">
            <a:extLst>
              <a:ext uri="{FF2B5EF4-FFF2-40B4-BE49-F238E27FC236}">
                <a16:creationId xmlns:a16="http://schemas.microsoft.com/office/drawing/2014/main" id="{25B749DB-49AC-3B54-F807-08BE79031C0C}"/>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1D7F526-48BD-A494-9A95-F36718DCCA8B}"/>
              </a:ext>
            </a:extLst>
          </p:cNvPr>
          <p:cNvSpPr>
            <a:spLocks noGrp="1"/>
          </p:cNvSpPr>
          <p:nvPr>
            <p:ph type="sldNum" sz="quarter" idx="12"/>
          </p:nvPr>
        </p:nvSpPr>
        <p:spPr/>
        <p:txBody>
          <a:bodyPr/>
          <a:lstStyle>
            <a:lvl1pPr>
              <a:defRPr/>
            </a:lvl1pPr>
          </a:lstStyle>
          <a:p>
            <a:fld id="{A3AB97EF-0A04-4946-8BB7-732BDE8A049F}" type="slidenum">
              <a:rPr lang="en-US" altLang="zh-CN"/>
              <a:pPr/>
              <a:t>‹#›</a:t>
            </a:fld>
            <a:endParaRPr lang="en-US" altLang="zh-CN"/>
          </a:p>
        </p:txBody>
      </p:sp>
    </p:spTree>
    <p:extLst>
      <p:ext uri="{BB962C8B-B14F-4D97-AF65-F5344CB8AC3E}">
        <p14:creationId xmlns:p14="http://schemas.microsoft.com/office/powerpoint/2010/main" val="1664518471"/>
      </p:ext>
    </p:extLst>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3885B60-BD2C-FD6D-79FF-DB31DDFE3C4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3" name="页脚占位符 2">
            <a:extLst>
              <a:ext uri="{FF2B5EF4-FFF2-40B4-BE49-F238E27FC236}">
                <a16:creationId xmlns:a16="http://schemas.microsoft.com/office/drawing/2014/main" id="{E7A67D35-9E26-7F41-8D58-CC3AD1DDBA75}"/>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21478731-4BD7-86E5-FA68-434C7E16BACF}"/>
              </a:ext>
            </a:extLst>
          </p:cNvPr>
          <p:cNvSpPr>
            <a:spLocks noGrp="1"/>
          </p:cNvSpPr>
          <p:nvPr>
            <p:ph type="sldNum" sz="quarter" idx="12"/>
          </p:nvPr>
        </p:nvSpPr>
        <p:spPr/>
        <p:txBody>
          <a:bodyPr/>
          <a:lstStyle>
            <a:lvl1pPr>
              <a:defRPr/>
            </a:lvl1pPr>
          </a:lstStyle>
          <a:p>
            <a:fld id="{038D8BB2-699D-427B-9EFB-FBEB79448E84}" type="slidenum">
              <a:rPr lang="en-US" altLang="zh-CN"/>
              <a:pPr/>
              <a:t>‹#›</a:t>
            </a:fld>
            <a:endParaRPr lang="en-US" altLang="zh-CN"/>
          </a:p>
        </p:txBody>
      </p:sp>
    </p:spTree>
    <p:extLst>
      <p:ext uri="{BB962C8B-B14F-4D97-AF65-F5344CB8AC3E}">
        <p14:creationId xmlns:p14="http://schemas.microsoft.com/office/powerpoint/2010/main" val="3665937691"/>
      </p:ext>
    </p:extLst>
  </p:cSld>
  <p:clrMapOvr>
    <a:masterClrMapping/>
  </p:clrMapOvr>
  <p:transition spd="slow">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316E56-3EA1-4F90-B41F-8EF360A3AE88}"/>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E11297A-E4BB-26DB-4BCF-975FF626F9D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4799375-FDB7-2927-FE3F-7033F37ABA0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F3694B1-CDD5-6453-7419-6808F7B5AA4E}"/>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88703618-3A5F-600E-BCF9-F28C3AF39443}"/>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A43DFDF-B7E8-B7B8-A05B-DD9AF730F8E6}"/>
              </a:ext>
            </a:extLst>
          </p:cNvPr>
          <p:cNvSpPr>
            <a:spLocks noGrp="1"/>
          </p:cNvSpPr>
          <p:nvPr>
            <p:ph type="sldNum" sz="quarter" idx="12"/>
          </p:nvPr>
        </p:nvSpPr>
        <p:spPr/>
        <p:txBody>
          <a:bodyPr/>
          <a:lstStyle>
            <a:lvl1pPr>
              <a:defRPr/>
            </a:lvl1pPr>
          </a:lstStyle>
          <a:p>
            <a:fld id="{0AC5E769-FC71-4D7D-886D-B376944DB125}" type="slidenum">
              <a:rPr lang="en-US" altLang="zh-CN"/>
              <a:pPr/>
              <a:t>‹#›</a:t>
            </a:fld>
            <a:endParaRPr lang="en-US" altLang="zh-CN"/>
          </a:p>
        </p:txBody>
      </p:sp>
    </p:spTree>
    <p:extLst>
      <p:ext uri="{BB962C8B-B14F-4D97-AF65-F5344CB8AC3E}">
        <p14:creationId xmlns:p14="http://schemas.microsoft.com/office/powerpoint/2010/main" val="1357498967"/>
      </p:ext>
    </p:extLst>
  </p:cSld>
  <p:clrMapOvr>
    <a:masterClrMapping/>
  </p:clrMapOvr>
  <p:transition spd="slow">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98F63-4982-DD9A-CEB2-9CD90EF0C0E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84D5735-7C39-2139-9E21-684061C2A09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BDE077A-5670-CFD9-DF0E-3610310DE93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B104DC4-FE8E-9878-30DD-38D6A4A120F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EF808992-80C9-A44A-0BC4-97E2B1F9FCC8}"/>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D0EE3704-33BE-F0C0-B12C-02CDEEB42E0B}"/>
              </a:ext>
            </a:extLst>
          </p:cNvPr>
          <p:cNvSpPr>
            <a:spLocks noGrp="1"/>
          </p:cNvSpPr>
          <p:nvPr>
            <p:ph type="sldNum" sz="quarter" idx="12"/>
          </p:nvPr>
        </p:nvSpPr>
        <p:spPr/>
        <p:txBody>
          <a:bodyPr/>
          <a:lstStyle>
            <a:lvl1pPr>
              <a:defRPr/>
            </a:lvl1pPr>
          </a:lstStyle>
          <a:p>
            <a:fld id="{B0621FA2-DF86-4749-A87C-23757D2307EC}" type="slidenum">
              <a:rPr lang="en-US" altLang="zh-CN"/>
              <a:pPr/>
              <a:t>‹#›</a:t>
            </a:fld>
            <a:endParaRPr lang="en-US" altLang="zh-CN"/>
          </a:p>
        </p:txBody>
      </p:sp>
    </p:spTree>
    <p:extLst>
      <p:ext uri="{BB962C8B-B14F-4D97-AF65-F5344CB8AC3E}">
        <p14:creationId xmlns:p14="http://schemas.microsoft.com/office/powerpoint/2010/main" val="2438140814"/>
      </p:ext>
    </p:extLst>
  </p:cSld>
  <p:clrMapOvr>
    <a:masterClrMapping/>
  </p:clrMapOvr>
  <p:transition spd="slow">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4808FF-D549-BC44-0D5B-6AFE769623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1FDE0C6-456D-682B-FAED-29F4E8B358C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68CAAB-BE1B-6A61-E88D-7D0712088665}"/>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8CCD0271-E5D5-55CE-57BA-8444533583A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4706B16-6F49-53FA-CBA2-3440798BD34F}"/>
              </a:ext>
            </a:extLst>
          </p:cNvPr>
          <p:cNvSpPr>
            <a:spLocks noGrp="1"/>
          </p:cNvSpPr>
          <p:nvPr>
            <p:ph type="sldNum" sz="quarter" idx="12"/>
          </p:nvPr>
        </p:nvSpPr>
        <p:spPr/>
        <p:txBody>
          <a:bodyPr/>
          <a:lstStyle>
            <a:lvl1pPr>
              <a:defRPr/>
            </a:lvl1pPr>
          </a:lstStyle>
          <a:p>
            <a:fld id="{9C3167CD-AA95-48A6-91C6-FD1439893576}" type="slidenum">
              <a:rPr lang="en-US" altLang="zh-CN"/>
              <a:pPr/>
              <a:t>‹#›</a:t>
            </a:fld>
            <a:endParaRPr lang="en-US" altLang="zh-CN"/>
          </a:p>
        </p:txBody>
      </p:sp>
    </p:spTree>
    <p:extLst>
      <p:ext uri="{BB962C8B-B14F-4D97-AF65-F5344CB8AC3E}">
        <p14:creationId xmlns:p14="http://schemas.microsoft.com/office/powerpoint/2010/main" val="1188525702"/>
      </p:ext>
    </p:extLst>
  </p:cSld>
  <p:clrMapOvr>
    <a:masterClrMapping/>
  </p:clrMapOvr>
  <p:transition spd="slow">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0D1FE9B-718C-3694-A06E-C50FB0DF9885}"/>
              </a:ext>
            </a:extLst>
          </p:cNvPr>
          <p:cNvSpPr>
            <a:spLocks noGrp="1"/>
          </p:cNvSpPr>
          <p:nvPr>
            <p:ph type="title" orient="vert"/>
          </p:nvPr>
        </p:nvSpPr>
        <p:spPr>
          <a:xfrm>
            <a:off x="6629400" y="228600"/>
            <a:ext cx="2057400" cy="5867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7793905-1E2F-623B-A122-37338A8424BF}"/>
              </a:ext>
            </a:extLst>
          </p:cNvPr>
          <p:cNvSpPr>
            <a:spLocks noGrp="1"/>
          </p:cNvSpPr>
          <p:nvPr>
            <p:ph type="body" orient="vert" idx="1"/>
          </p:nvPr>
        </p:nvSpPr>
        <p:spPr>
          <a:xfrm>
            <a:off x="457200" y="228600"/>
            <a:ext cx="60198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517DE-78B1-512B-1CFF-723B99AC07F5}"/>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8E4CCDC1-AFA2-D636-19EE-4839F0957CCE}"/>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5645954-65B2-DD2F-77A1-4B49C89DA444}"/>
              </a:ext>
            </a:extLst>
          </p:cNvPr>
          <p:cNvSpPr>
            <a:spLocks noGrp="1"/>
          </p:cNvSpPr>
          <p:nvPr>
            <p:ph type="sldNum" sz="quarter" idx="12"/>
          </p:nvPr>
        </p:nvSpPr>
        <p:spPr/>
        <p:txBody>
          <a:bodyPr/>
          <a:lstStyle>
            <a:lvl1pPr>
              <a:defRPr/>
            </a:lvl1pPr>
          </a:lstStyle>
          <a:p>
            <a:fld id="{5FBB0F43-4B79-4FBE-A379-A48D8DBC8BBD}" type="slidenum">
              <a:rPr lang="en-US" altLang="zh-CN"/>
              <a:pPr/>
              <a:t>‹#›</a:t>
            </a:fld>
            <a:endParaRPr lang="en-US" altLang="zh-CN"/>
          </a:p>
        </p:txBody>
      </p:sp>
    </p:spTree>
    <p:extLst>
      <p:ext uri="{BB962C8B-B14F-4D97-AF65-F5344CB8AC3E}">
        <p14:creationId xmlns:p14="http://schemas.microsoft.com/office/powerpoint/2010/main" val="2918097288"/>
      </p:ext>
    </p:extLst>
  </p:cSld>
  <p:clrMapOvr>
    <a:masterClrMapping/>
  </p:clrMapOvr>
  <p:transition spd="slow">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264194" name="Group 2">
            <a:extLst>
              <a:ext uri="{FF2B5EF4-FFF2-40B4-BE49-F238E27FC236}">
                <a16:creationId xmlns:a16="http://schemas.microsoft.com/office/drawing/2014/main" id="{9B72213C-611B-F354-C81D-091767CCF31E}"/>
              </a:ext>
            </a:extLst>
          </p:cNvPr>
          <p:cNvGrpSpPr>
            <a:grpSpLocks/>
          </p:cNvGrpSpPr>
          <p:nvPr/>
        </p:nvGrpSpPr>
        <p:grpSpPr bwMode="auto">
          <a:xfrm>
            <a:off x="0" y="0"/>
            <a:ext cx="9144000" cy="6858000"/>
            <a:chOff x="0" y="0"/>
            <a:chExt cx="5760" cy="4320"/>
          </a:xfrm>
        </p:grpSpPr>
        <p:sp>
          <p:nvSpPr>
            <p:cNvPr id="264195" name="Freeform 3">
              <a:extLst>
                <a:ext uri="{FF2B5EF4-FFF2-40B4-BE49-F238E27FC236}">
                  <a16:creationId xmlns:a16="http://schemas.microsoft.com/office/drawing/2014/main" id="{9D961FAD-49BA-41E4-6E63-E71A82DE874A}"/>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196" name="Freeform 4">
              <a:extLst>
                <a:ext uri="{FF2B5EF4-FFF2-40B4-BE49-F238E27FC236}">
                  <a16:creationId xmlns:a16="http://schemas.microsoft.com/office/drawing/2014/main" id="{AA473D9A-CF7C-44F7-3FB1-CA8B596C7046}"/>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197" name="Freeform 5">
            <a:extLst>
              <a:ext uri="{FF2B5EF4-FFF2-40B4-BE49-F238E27FC236}">
                <a16:creationId xmlns:a16="http://schemas.microsoft.com/office/drawing/2014/main" id="{45E3A6ED-C64A-8F0F-B7D0-06423DEC6072}"/>
              </a:ext>
            </a:extLst>
          </p:cNvPr>
          <p:cNvSpPr>
            <a:spLocks/>
          </p:cNvSpPr>
          <p:nvPr/>
        </p:nvSpPr>
        <p:spPr bwMode="hidden">
          <a:xfrm>
            <a:off x="6248400" y="626268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198" name="Group 6">
            <a:extLst>
              <a:ext uri="{FF2B5EF4-FFF2-40B4-BE49-F238E27FC236}">
                <a16:creationId xmlns:a16="http://schemas.microsoft.com/office/drawing/2014/main" id="{D64CEB31-CD0D-9480-3F23-24A0E4FFD017}"/>
              </a:ext>
            </a:extLst>
          </p:cNvPr>
          <p:cNvGrpSpPr>
            <a:grpSpLocks/>
          </p:cNvGrpSpPr>
          <p:nvPr/>
        </p:nvGrpSpPr>
        <p:grpSpPr bwMode="auto">
          <a:xfrm>
            <a:off x="0" y="6019800"/>
            <a:ext cx="7848600" cy="857250"/>
            <a:chOff x="0" y="3792"/>
            <a:chExt cx="4944" cy="540"/>
          </a:xfrm>
        </p:grpSpPr>
        <p:sp>
          <p:nvSpPr>
            <p:cNvPr id="264199" name="Freeform 7">
              <a:extLst>
                <a:ext uri="{FF2B5EF4-FFF2-40B4-BE49-F238E27FC236}">
                  <a16:creationId xmlns:a16="http://schemas.microsoft.com/office/drawing/2014/main" id="{A773ABA1-E905-5234-FFC4-17469FEFDD23}"/>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200" name="Group 8">
              <a:extLst>
                <a:ext uri="{FF2B5EF4-FFF2-40B4-BE49-F238E27FC236}">
                  <a16:creationId xmlns:a16="http://schemas.microsoft.com/office/drawing/2014/main" id="{9161D248-B28B-4CE8-F06F-E446565423A4}"/>
                </a:ext>
              </a:extLst>
            </p:cNvPr>
            <p:cNvGrpSpPr>
              <a:grpSpLocks/>
            </p:cNvGrpSpPr>
            <p:nvPr userDrawn="1"/>
          </p:nvGrpSpPr>
          <p:grpSpPr bwMode="auto">
            <a:xfrm>
              <a:off x="2486" y="3792"/>
              <a:ext cx="2458" cy="540"/>
              <a:chOff x="2486" y="3792"/>
              <a:chExt cx="2458" cy="540"/>
            </a:xfrm>
          </p:grpSpPr>
          <p:sp>
            <p:nvSpPr>
              <p:cNvPr id="264201" name="Freeform 9">
                <a:extLst>
                  <a:ext uri="{FF2B5EF4-FFF2-40B4-BE49-F238E27FC236}">
                    <a16:creationId xmlns:a16="http://schemas.microsoft.com/office/drawing/2014/main" id="{88D80F5A-D9C3-15B6-5BD1-4B27808A67DA}"/>
                  </a:ext>
                </a:extLst>
              </p:cNvPr>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2" name="Freeform 10">
                <a:extLst>
                  <a:ext uri="{FF2B5EF4-FFF2-40B4-BE49-F238E27FC236}">
                    <a16:creationId xmlns:a16="http://schemas.microsoft.com/office/drawing/2014/main" id="{1417B5F5-B682-2F90-1AAD-12D95917BDA9}"/>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3" name="Freeform 11">
                <a:extLst>
                  <a:ext uri="{FF2B5EF4-FFF2-40B4-BE49-F238E27FC236}">
                    <a16:creationId xmlns:a16="http://schemas.microsoft.com/office/drawing/2014/main" id="{AEB00EC1-053B-5024-D90C-D4DCB98BBE5F}"/>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4" name="Freeform 12">
                <a:extLst>
                  <a:ext uri="{FF2B5EF4-FFF2-40B4-BE49-F238E27FC236}">
                    <a16:creationId xmlns:a16="http://schemas.microsoft.com/office/drawing/2014/main" id="{390B34B8-59F5-357C-9D0F-C0499EB9B529}"/>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5" name="Freeform 13">
                <a:extLst>
                  <a:ext uri="{FF2B5EF4-FFF2-40B4-BE49-F238E27FC236}">
                    <a16:creationId xmlns:a16="http://schemas.microsoft.com/office/drawing/2014/main" id="{BCE189B9-4972-7CD5-11DA-0ADAAADF5CAA}"/>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06" name="Freeform 14">
              <a:extLst>
                <a:ext uri="{FF2B5EF4-FFF2-40B4-BE49-F238E27FC236}">
                  <a16:creationId xmlns:a16="http://schemas.microsoft.com/office/drawing/2014/main" id="{F36BD4B8-67A8-5C7F-4947-B88624E1A698}"/>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4207" name="Group 15">
            <a:extLst>
              <a:ext uri="{FF2B5EF4-FFF2-40B4-BE49-F238E27FC236}">
                <a16:creationId xmlns:a16="http://schemas.microsoft.com/office/drawing/2014/main" id="{732C5425-782B-AF81-78E4-6BBE6C519353}"/>
              </a:ext>
            </a:extLst>
          </p:cNvPr>
          <p:cNvGrpSpPr>
            <a:grpSpLocks/>
          </p:cNvGrpSpPr>
          <p:nvPr/>
        </p:nvGrpSpPr>
        <p:grpSpPr bwMode="auto">
          <a:xfrm>
            <a:off x="627063" y="6021388"/>
            <a:ext cx="5684837" cy="849312"/>
            <a:chOff x="395" y="3793"/>
            <a:chExt cx="3581" cy="535"/>
          </a:xfrm>
        </p:grpSpPr>
        <p:sp>
          <p:nvSpPr>
            <p:cNvPr id="264208" name="Freeform 16">
              <a:extLst>
                <a:ext uri="{FF2B5EF4-FFF2-40B4-BE49-F238E27FC236}">
                  <a16:creationId xmlns:a16="http://schemas.microsoft.com/office/drawing/2014/main" id="{B3C6BA04-C02C-C6A4-59BC-CA9074704366}"/>
                </a:ext>
              </a:extLst>
            </p:cNvPr>
            <p:cNvSpPr>
              <a:spLocks/>
            </p:cNvSpPr>
            <p:nvPr/>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9" name="Freeform 17">
              <a:extLst>
                <a:ext uri="{FF2B5EF4-FFF2-40B4-BE49-F238E27FC236}">
                  <a16:creationId xmlns:a16="http://schemas.microsoft.com/office/drawing/2014/main" id="{4C168A04-2E7C-7B43-CAFB-2D2BC357E2A1}"/>
                </a:ext>
              </a:extLst>
            </p:cNvPr>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0" name="Freeform 18">
              <a:extLst>
                <a:ext uri="{FF2B5EF4-FFF2-40B4-BE49-F238E27FC236}">
                  <a16:creationId xmlns:a16="http://schemas.microsoft.com/office/drawing/2014/main" id="{5D6A97D8-0C1E-7756-755F-023F4283CE40}"/>
                </a:ext>
              </a:extLst>
            </p:cNvPr>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1" name="Freeform 19">
              <a:extLst>
                <a:ext uri="{FF2B5EF4-FFF2-40B4-BE49-F238E27FC236}">
                  <a16:creationId xmlns:a16="http://schemas.microsoft.com/office/drawing/2014/main" id="{0B36E814-FD1E-881C-FC78-42D1B8671B15}"/>
                </a:ext>
              </a:extLst>
            </p:cNvPr>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2" name="Freeform 20">
              <a:extLst>
                <a:ext uri="{FF2B5EF4-FFF2-40B4-BE49-F238E27FC236}">
                  <a16:creationId xmlns:a16="http://schemas.microsoft.com/office/drawing/2014/main" id="{509A2B97-2F8C-980C-F515-90442E2767CF}"/>
                </a:ext>
              </a:extLst>
            </p:cNvPr>
            <p:cNvSpPr>
              <a:spLocks/>
            </p:cNvSpPr>
            <p:nvPr/>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3" name="Freeform 21">
              <a:extLst>
                <a:ext uri="{FF2B5EF4-FFF2-40B4-BE49-F238E27FC236}">
                  <a16:creationId xmlns:a16="http://schemas.microsoft.com/office/drawing/2014/main" id="{E85D8419-20E3-E1EA-8418-D4840A58A6A1}"/>
                </a:ext>
              </a:extLst>
            </p:cNvPr>
            <p:cNvSpPr>
              <a:spLocks/>
            </p:cNvSpPr>
            <p:nvPr/>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14" name="Rectangle 22">
            <a:extLst>
              <a:ext uri="{FF2B5EF4-FFF2-40B4-BE49-F238E27FC236}">
                <a16:creationId xmlns:a16="http://schemas.microsoft.com/office/drawing/2014/main" id="{A8A06A86-552B-2770-B26C-B38E55845E90}"/>
              </a:ext>
            </a:extLst>
          </p:cNvPr>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4215" name="Rectangle 23">
            <a:extLst>
              <a:ext uri="{FF2B5EF4-FFF2-40B4-BE49-F238E27FC236}">
                <a16:creationId xmlns:a16="http://schemas.microsoft.com/office/drawing/2014/main" id="{242C812A-7896-44C3-7E00-4589C20C1A6A}"/>
              </a:ext>
            </a:extLst>
          </p:cNvPr>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4216" name="Rectangle 24">
            <a:extLst>
              <a:ext uri="{FF2B5EF4-FFF2-40B4-BE49-F238E27FC236}">
                <a16:creationId xmlns:a16="http://schemas.microsoft.com/office/drawing/2014/main" id="{556F421B-4BA3-4E9C-6F15-4F8CD07E6C95}"/>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r>
              <a:rPr lang="zh-CN" altLang="en-US"/>
              <a:t>讲义制作：李丽，陈志祥审</a:t>
            </a:r>
            <a:endParaRPr lang="en-US" altLang="zh-CN"/>
          </a:p>
        </p:txBody>
      </p:sp>
      <p:sp>
        <p:nvSpPr>
          <p:cNvPr id="264217" name="Rectangle 25">
            <a:extLst>
              <a:ext uri="{FF2B5EF4-FFF2-40B4-BE49-F238E27FC236}">
                <a16:creationId xmlns:a16="http://schemas.microsoft.com/office/drawing/2014/main" id="{B95A6E62-6623-7B81-0B48-66543FBABA9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US" altLang="zh-CN"/>
          </a:p>
        </p:txBody>
      </p:sp>
      <p:sp>
        <p:nvSpPr>
          <p:cNvPr id="264218" name="Rectangle 26">
            <a:extLst>
              <a:ext uri="{FF2B5EF4-FFF2-40B4-BE49-F238E27FC236}">
                <a16:creationId xmlns:a16="http://schemas.microsoft.com/office/drawing/2014/main" id="{5FD9E2A3-B1AC-FB5B-15BA-BC84F4D365DB}"/>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960F4EC3-E8AA-4035-962B-FA207993D993}"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ransition spd="slow">
    <p:strips dir="rd"/>
  </p:transition>
  <p:hf sldNum="0" hdr="0" ftr="0"/>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nsczx@mail.sys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image" Target="../media/image12.w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7.bin"/><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A1050CB-B344-C02C-0073-F3FEEE8E4658}"/>
              </a:ext>
            </a:extLst>
          </p:cNvPr>
          <p:cNvSpPr>
            <a:spLocks noGrp="1" noChangeArrowheads="1"/>
          </p:cNvSpPr>
          <p:nvPr>
            <p:ph type="ctrTitle"/>
          </p:nvPr>
        </p:nvSpPr>
        <p:spPr>
          <a:xfrm>
            <a:off x="971550" y="476250"/>
            <a:ext cx="7631113" cy="2376488"/>
          </a:xfrm>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2"/>
                </a:solidFill>
                <a:miter lim="800000"/>
                <a:headEnd/>
                <a:tailEnd/>
              </a14:hiddenLine>
            </a:ext>
          </a:extLst>
        </p:spPr>
        <p:txBody>
          <a:bodyPr/>
          <a:lstStyle/>
          <a:p>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生产与运作管理</a:t>
            </a:r>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教辅材料参考讲义</a:t>
            </a:r>
          </a:p>
        </p:txBody>
      </p:sp>
      <p:sp>
        <p:nvSpPr>
          <p:cNvPr id="2052" name="Text Box 4">
            <a:extLst>
              <a:ext uri="{FF2B5EF4-FFF2-40B4-BE49-F238E27FC236}">
                <a16:creationId xmlns:a16="http://schemas.microsoft.com/office/drawing/2014/main" id="{C41C2B14-FBD9-2D94-3889-2EF4159D91B4}"/>
              </a:ext>
            </a:extLst>
          </p:cNvPr>
          <p:cNvSpPr txBox="1">
            <a:spLocks noChangeArrowheads="1"/>
          </p:cNvSpPr>
          <p:nvPr/>
        </p:nvSpPr>
        <p:spPr bwMode="auto">
          <a:xfrm>
            <a:off x="1403350" y="2636838"/>
            <a:ext cx="6840538"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t>出版社：北京：机械工业出版社，</a:t>
            </a:r>
            <a:r>
              <a:rPr lang="en-US" altLang="zh-CN" b="1"/>
              <a:t>2009</a:t>
            </a:r>
            <a:r>
              <a:rPr lang="zh-CN" altLang="en-US" b="1"/>
              <a:t>年</a:t>
            </a:r>
            <a:r>
              <a:rPr lang="en-US" altLang="zh-CN" b="1"/>
              <a:t>7</a:t>
            </a:r>
            <a:r>
              <a:rPr lang="zh-CN" altLang="en-US" b="1"/>
              <a:t>月</a:t>
            </a:r>
          </a:p>
          <a:p>
            <a:pPr algn="ctr">
              <a:spcBef>
                <a:spcPct val="50000"/>
              </a:spcBef>
            </a:pPr>
            <a:r>
              <a:rPr lang="zh-CN" altLang="en-US" b="1"/>
              <a:t>编著者：陈志祥，李丽</a:t>
            </a:r>
          </a:p>
          <a:p>
            <a:pPr algn="ctr">
              <a:spcBef>
                <a:spcPct val="50000"/>
              </a:spcBef>
            </a:pPr>
            <a:r>
              <a:rPr lang="zh-CN" altLang="en-US" b="1"/>
              <a:t>本讲义由李丽老师制作，陈志祥教授审校</a:t>
            </a:r>
          </a:p>
          <a:p>
            <a:pPr algn="ctr">
              <a:spcBef>
                <a:spcPct val="50000"/>
              </a:spcBef>
            </a:pPr>
            <a:r>
              <a:rPr lang="en-US" altLang="zh-CN" b="1">
                <a:hlinkClick r:id="rId2"/>
              </a:rPr>
              <a:t>mnsczx@mail.sysu.edu.cn</a:t>
            </a:r>
            <a:r>
              <a:rPr lang="en-US" altLang="zh-CN" b="1"/>
              <a:t> </a:t>
            </a:r>
          </a:p>
        </p:txBody>
      </p:sp>
      <p:sp>
        <p:nvSpPr>
          <p:cNvPr id="2053" name="Rectangle 5">
            <a:extLst>
              <a:ext uri="{FF2B5EF4-FFF2-40B4-BE49-F238E27FC236}">
                <a16:creationId xmlns:a16="http://schemas.microsoft.com/office/drawing/2014/main" id="{2D283A53-D137-CFBB-08F5-641DF26809D0}"/>
              </a:ext>
            </a:extLst>
          </p:cNvPr>
          <p:cNvSpPr>
            <a:spLocks noGrp="1" noChangeArrowheads="1"/>
          </p:cNvSpPr>
          <p:nvPr>
            <p:ph type="subTitle" idx="1"/>
          </p:nvPr>
        </p:nvSpPr>
        <p:spPr>
          <a:xfrm>
            <a:off x="1476375" y="4508500"/>
            <a:ext cx="6400800" cy="1536700"/>
          </a:xfrm>
          <a:ln>
            <a:solidFill>
              <a:schemeClr val="tx1"/>
            </a:solidFill>
            <a:miter lim="800000"/>
            <a:headEnd/>
            <a:tailEnd/>
          </a:ln>
        </p:spPr>
        <p:txBody>
          <a:bodyPr/>
          <a:lstStyle/>
          <a:p>
            <a:r>
              <a:rPr lang="zh-CN" altLang="en-US" sz="2800"/>
              <a:t>声明：本讲义只提供给购买与使用本教材的教师作为教学使用，未经允许不得转发给其他任何人</a:t>
            </a:r>
          </a:p>
        </p:txBody>
      </p:sp>
    </p:spTree>
  </p:cSld>
  <p:clrMapOvr>
    <a:masterClrMapping/>
  </p:clrMapOvr>
  <p:transition spd="slow">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851447A-E5D0-490C-CA32-676D8499B2AC}"/>
              </a:ext>
            </a:extLst>
          </p:cNvPr>
          <p:cNvSpPr>
            <a:spLocks noGrp="1"/>
          </p:cNvSpPr>
          <p:nvPr>
            <p:ph type="dt" sz="half" idx="10"/>
          </p:nvPr>
        </p:nvSpPr>
        <p:spPr/>
        <p:txBody>
          <a:bodyPr/>
          <a:lstStyle/>
          <a:p>
            <a:r>
              <a:rPr lang="zh-CN" altLang="en-US"/>
              <a:t>讲义制作：李丽，陈志祥审</a:t>
            </a:r>
            <a:endParaRPr lang="en-US" altLang="zh-CN"/>
          </a:p>
        </p:txBody>
      </p:sp>
      <p:sp>
        <p:nvSpPr>
          <p:cNvPr id="7170" name="Rectangle 2">
            <a:extLst>
              <a:ext uri="{FF2B5EF4-FFF2-40B4-BE49-F238E27FC236}">
                <a16:creationId xmlns:a16="http://schemas.microsoft.com/office/drawing/2014/main" id="{07CEAAC0-BD13-CD02-C52D-CB1F69222D1F}"/>
              </a:ext>
            </a:extLst>
          </p:cNvPr>
          <p:cNvSpPr>
            <a:spLocks noGrp="1" noChangeArrowheads="1"/>
          </p:cNvSpPr>
          <p:nvPr>
            <p:ph type="title"/>
          </p:nvPr>
        </p:nvSpPr>
        <p:spPr/>
        <p:txBody>
          <a:bodyPr/>
          <a:lstStyle/>
          <a:p>
            <a:r>
              <a:rPr lang="zh-CN" altLang="en-US" b="1"/>
              <a:t>第</a:t>
            </a:r>
            <a:r>
              <a:rPr lang="en-US" altLang="zh-CN" b="1"/>
              <a:t>11</a:t>
            </a:r>
            <a:r>
              <a:rPr lang="zh-CN" altLang="en-US" b="1"/>
              <a:t>章：项目计划与控制</a:t>
            </a:r>
          </a:p>
        </p:txBody>
      </p:sp>
      <p:sp>
        <p:nvSpPr>
          <p:cNvPr id="7171" name="Rectangle 3">
            <a:extLst>
              <a:ext uri="{FF2B5EF4-FFF2-40B4-BE49-F238E27FC236}">
                <a16:creationId xmlns:a16="http://schemas.microsoft.com/office/drawing/2014/main" id="{39A4B970-CC5F-8B4B-9FD5-0E36D4A274D7}"/>
              </a:ext>
            </a:extLst>
          </p:cNvPr>
          <p:cNvSpPr>
            <a:spLocks noGrp="1" noChangeArrowheads="1"/>
          </p:cNvSpPr>
          <p:nvPr>
            <p:ph type="body" idx="1"/>
          </p:nvPr>
        </p:nvSpPr>
        <p:spPr/>
        <p:txBody>
          <a:bodyPr/>
          <a:lstStyle/>
          <a:p>
            <a:pPr>
              <a:lnSpc>
                <a:spcPct val="90000"/>
              </a:lnSpc>
              <a:buFontTx/>
              <a:buNone/>
            </a:pPr>
            <a:r>
              <a:rPr lang="zh-CN" altLang="en-US" sz="2800" b="1">
                <a:effectLst>
                  <a:outerShdw blurRad="38100" dist="38100" dir="2700000" algn="tl">
                    <a:srgbClr val="000000"/>
                  </a:outerShdw>
                </a:effectLst>
              </a:rPr>
              <a:t>（一）学习目标</a:t>
            </a:r>
          </a:p>
          <a:p>
            <a:pPr>
              <a:lnSpc>
                <a:spcPct val="9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1</a:t>
            </a:r>
            <a:r>
              <a:rPr lang="zh-CN" altLang="en-US" sz="2800" b="1">
                <a:effectLst>
                  <a:outerShdw blurRad="38100" dist="38100" dir="2700000" algn="tl">
                    <a:srgbClr val="000000"/>
                  </a:outerShdw>
                </a:effectLst>
              </a:rPr>
              <a:t>、了解项目管理和项目组织的特点</a:t>
            </a:r>
          </a:p>
          <a:p>
            <a:pPr>
              <a:lnSpc>
                <a:spcPct val="9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2</a:t>
            </a:r>
            <a:r>
              <a:rPr lang="zh-CN" altLang="en-US" sz="2800" b="1">
                <a:effectLst>
                  <a:outerShdw blurRad="38100" dist="38100" dir="2700000" algn="tl">
                    <a:srgbClr val="000000"/>
                  </a:outerShdw>
                </a:effectLst>
              </a:rPr>
              <a:t>、熟悉网络计划方法和应用</a:t>
            </a:r>
          </a:p>
          <a:p>
            <a:pPr>
              <a:lnSpc>
                <a:spcPct val="9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3</a:t>
            </a:r>
            <a:r>
              <a:rPr lang="zh-CN" altLang="en-US" sz="2800" b="1">
                <a:effectLst>
                  <a:outerShdw blurRad="38100" dist="38100" dir="2700000" algn="tl">
                    <a:srgbClr val="000000"/>
                  </a:outerShdw>
                </a:effectLst>
              </a:rPr>
              <a:t>、掌握网络参数的计算和时间费用优化</a:t>
            </a:r>
          </a:p>
          <a:p>
            <a:pPr>
              <a:lnSpc>
                <a:spcPct val="90000"/>
              </a:lnSpc>
              <a:buFontTx/>
              <a:buNone/>
            </a:pPr>
            <a:r>
              <a:rPr lang="zh-CN" altLang="en-US" sz="2800" b="1">
                <a:effectLst>
                  <a:outerShdw blurRad="38100" dist="38100" dir="2700000" algn="tl">
                    <a:srgbClr val="000000"/>
                  </a:outerShdw>
                </a:effectLst>
              </a:rPr>
              <a:t>（二）内容提要</a:t>
            </a:r>
          </a:p>
          <a:p>
            <a:pPr>
              <a:lnSpc>
                <a:spcPct val="9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1</a:t>
            </a:r>
            <a:r>
              <a:rPr lang="zh-CN" altLang="en-US" sz="2800" b="1">
                <a:effectLst>
                  <a:outerShdw blurRad="38100" dist="38100" dir="2700000" algn="tl">
                    <a:srgbClr val="000000"/>
                  </a:outerShdw>
                </a:effectLst>
              </a:rPr>
              <a:t>、项目管理概述</a:t>
            </a:r>
          </a:p>
          <a:p>
            <a:pPr>
              <a:lnSpc>
                <a:spcPct val="9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2</a:t>
            </a:r>
            <a:r>
              <a:rPr lang="zh-CN" altLang="en-US" sz="2800" b="1">
                <a:effectLst>
                  <a:outerShdw blurRad="38100" dist="38100" dir="2700000" algn="tl">
                    <a:srgbClr val="000000"/>
                  </a:outerShdw>
                </a:effectLst>
              </a:rPr>
              <a:t>、网络计划方法</a:t>
            </a:r>
          </a:p>
          <a:p>
            <a:pPr>
              <a:lnSpc>
                <a:spcPct val="9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3</a:t>
            </a:r>
            <a:r>
              <a:rPr lang="zh-CN" altLang="en-US" sz="2800" b="1">
                <a:effectLst>
                  <a:outerShdw blurRad="38100" dist="38100" dir="2700000" algn="tl">
                    <a:srgbClr val="000000"/>
                  </a:outerShdw>
                </a:effectLst>
              </a:rPr>
              <a:t>、网络参数的计算与优化</a:t>
            </a:r>
          </a:p>
          <a:p>
            <a:pPr>
              <a:lnSpc>
                <a:spcPct val="90000"/>
              </a:lnSpc>
              <a:buFontTx/>
              <a:buNone/>
            </a:pPr>
            <a:r>
              <a:rPr lang="zh-CN" altLang="en-US" sz="2800" b="1">
                <a:effectLst>
                  <a:outerShdw blurRad="38100" dist="38100" dir="2700000" algn="tl">
                    <a:srgbClr val="000000"/>
                  </a:outerShdw>
                </a:effectLst>
              </a:rPr>
              <a:t>   </a:t>
            </a:r>
          </a:p>
        </p:txBody>
      </p:sp>
    </p:spTree>
  </p:cSld>
  <p:clrMapOvr>
    <a:masterClrMapping/>
  </p:clrMapOvr>
  <p:transition spd="slow">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EFCA5370-98B3-7333-0380-D42ACDB8ACE5}"/>
              </a:ext>
            </a:extLst>
          </p:cNvPr>
          <p:cNvSpPr>
            <a:spLocks noGrp="1"/>
          </p:cNvSpPr>
          <p:nvPr>
            <p:ph type="dt" sz="half" idx="10"/>
          </p:nvPr>
        </p:nvSpPr>
        <p:spPr/>
        <p:txBody>
          <a:bodyPr/>
          <a:lstStyle/>
          <a:p>
            <a:r>
              <a:rPr lang="zh-CN" altLang="en-US"/>
              <a:t>讲义制作：李丽，陈志祥审</a:t>
            </a:r>
            <a:endParaRPr lang="en-US" altLang="zh-CN"/>
          </a:p>
        </p:txBody>
      </p:sp>
      <p:sp>
        <p:nvSpPr>
          <p:cNvPr id="281602" name="Rectangle 2">
            <a:extLst>
              <a:ext uri="{FF2B5EF4-FFF2-40B4-BE49-F238E27FC236}">
                <a16:creationId xmlns:a16="http://schemas.microsoft.com/office/drawing/2014/main" id="{FBD99F73-C43D-524D-5490-0A1BD9033763}"/>
              </a:ext>
            </a:extLst>
          </p:cNvPr>
          <p:cNvSpPr>
            <a:spLocks noGrp="1" noChangeArrowheads="1"/>
          </p:cNvSpPr>
          <p:nvPr>
            <p:ph type="title"/>
          </p:nvPr>
        </p:nvSpPr>
        <p:spPr/>
        <p:txBody>
          <a:bodyPr/>
          <a:lstStyle/>
          <a:p>
            <a:r>
              <a:rPr lang="zh-CN" altLang="en-US" sz="3600"/>
              <a:t>引导案例：</a:t>
            </a:r>
            <a:r>
              <a:rPr lang="zh-CN" altLang="en-US" sz="3600" b="1"/>
              <a:t>创新有效的项目管理将为企业注入新动力</a:t>
            </a:r>
            <a:r>
              <a:rPr lang="zh-CN" altLang="en-US" sz="3600"/>
              <a:t> </a:t>
            </a:r>
          </a:p>
        </p:txBody>
      </p:sp>
      <p:sp>
        <p:nvSpPr>
          <p:cNvPr id="281603" name="Rectangle 3">
            <a:extLst>
              <a:ext uri="{FF2B5EF4-FFF2-40B4-BE49-F238E27FC236}">
                <a16:creationId xmlns:a16="http://schemas.microsoft.com/office/drawing/2014/main" id="{F405803D-DC9F-2F59-1E34-D58F486DA54C}"/>
              </a:ext>
            </a:extLst>
          </p:cNvPr>
          <p:cNvSpPr>
            <a:spLocks noGrp="1" noChangeArrowheads="1"/>
          </p:cNvSpPr>
          <p:nvPr>
            <p:ph type="body" idx="1"/>
          </p:nvPr>
        </p:nvSpPr>
        <p:spPr>
          <a:xfrm>
            <a:off x="457200" y="1600200"/>
            <a:ext cx="8229600" cy="4421188"/>
          </a:xfrm>
        </p:spPr>
        <p:txBody>
          <a:bodyPr/>
          <a:lstStyle/>
          <a:p>
            <a:pPr>
              <a:buFontTx/>
              <a:buNone/>
            </a:pPr>
            <a:r>
              <a:rPr lang="en-US" altLang="zh-CN"/>
              <a:t>         </a:t>
            </a:r>
            <a:r>
              <a:rPr lang="zh-CN" altLang="en-US" sz="2400">
                <a:latin typeface="楷体_GB2312" pitchFamily="49" charset="-122"/>
                <a:ea typeface="楷体_GB2312" pitchFamily="49" charset="-122"/>
              </a:rPr>
              <a:t>项目管理的重要性在最近发表的项目管理协会</a:t>
            </a:r>
            <a:r>
              <a:rPr lang="en-US" altLang="zh-CN" sz="2400">
                <a:latin typeface="楷体_GB2312" pitchFamily="49" charset="-122"/>
                <a:ea typeface="楷体_GB2312" pitchFamily="49" charset="-122"/>
              </a:rPr>
              <a:t>(PMI)</a:t>
            </a:r>
            <a:r>
              <a:rPr lang="zh-CN" altLang="en-US" sz="2400">
                <a:latin typeface="楷体_GB2312" pitchFamily="49" charset="-122"/>
                <a:ea typeface="楷体_GB2312" pitchFamily="49" charset="-122"/>
              </a:rPr>
              <a:t>全球项目管理价值研究报告中得到了充分体现。该报告的分析研究长达</a:t>
            </a:r>
            <a:r>
              <a:rPr lang="en-US" altLang="zh-CN" sz="2400">
                <a:latin typeface="楷体_GB2312" pitchFamily="49" charset="-122"/>
                <a:ea typeface="楷体_GB2312" pitchFamily="49" charset="-122"/>
              </a:rPr>
              <a:t>3</a:t>
            </a:r>
            <a:r>
              <a:rPr lang="zh-CN" altLang="en-US" sz="2400">
                <a:latin typeface="楷体_GB2312" pitchFamily="49" charset="-122"/>
                <a:ea typeface="楷体_GB2312" pitchFamily="49" charset="-122"/>
              </a:rPr>
              <a:t>年之久，来自</a:t>
            </a:r>
            <a:r>
              <a:rPr lang="en-US" altLang="zh-CN" sz="2400">
                <a:latin typeface="楷体_GB2312" pitchFamily="49" charset="-122"/>
                <a:ea typeface="楷体_GB2312" pitchFamily="49" charset="-122"/>
              </a:rPr>
              <a:t>4</a:t>
            </a:r>
            <a:r>
              <a:rPr lang="zh-CN" altLang="en-US" sz="2400">
                <a:latin typeface="楷体_GB2312" pitchFamily="49" charset="-122"/>
                <a:ea typeface="楷体_GB2312" pitchFamily="49" charset="-122"/>
              </a:rPr>
              <a:t>大洲的</a:t>
            </a:r>
            <a:r>
              <a:rPr lang="en-US" altLang="zh-CN" sz="2400">
                <a:latin typeface="楷体_GB2312" pitchFamily="49" charset="-122"/>
                <a:ea typeface="楷体_GB2312" pitchFamily="49" charset="-122"/>
              </a:rPr>
              <a:t>48</a:t>
            </a:r>
            <a:r>
              <a:rPr lang="zh-CN" altLang="en-US" sz="2400">
                <a:latin typeface="楷体_GB2312" pitchFamily="49" charset="-122"/>
                <a:ea typeface="楷体_GB2312" pitchFamily="49" charset="-122"/>
              </a:rPr>
              <a:t>位专业学者参与了项目管理为企业带来的影响的调研。研究发现，受访公司中，</a:t>
            </a:r>
            <a:r>
              <a:rPr lang="en-US" altLang="zh-CN" sz="2400">
                <a:latin typeface="楷体_GB2312" pitchFamily="49" charset="-122"/>
                <a:ea typeface="楷体_GB2312" pitchFamily="49" charset="-122"/>
              </a:rPr>
              <a:t>63%</a:t>
            </a:r>
            <a:r>
              <a:rPr lang="zh-CN" altLang="en-US" sz="2400">
                <a:latin typeface="楷体_GB2312" pitchFamily="49" charset="-122"/>
                <a:ea typeface="楷体_GB2312" pitchFamily="49" charset="-122"/>
              </a:rPr>
              <a:t>的企业表示项目管理使公司实现了战略目标，</a:t>
            </a:r>
            <a:r>
              <a:rPr lang="en-US" altLang="zh-CN" sz="2400">
                <a:latin typeface="楷体_GB2312" pitchFamily="49" charset="-122"/>
                <a:ea typeface="楷体_GB2312" pitchFamily="49" charset="-122"/>
              </a:rPr>
              <a:t>63%</a:t>
            </a:r>
            <a:r>
              <a:rPr lang="zh-CN" altLang="en-US" sz="2400">
                <a:latin typeface="楷体_GB2312" pitchFamily="49" charset="-122"/>
                <a:ea typeface="楷体_GB2312" pitchFamily="49" charset="-122"/>
              </a:rPr>
              <a:t>确认项目管理使其有效地使用了人力资源，</a:t>
            </a:r>
            <a:r>
              <a:rPr lang="en-US" altLang="zh-CN" sz="2400">
                <a:latin typeface="楷体_GB2312" pitchFamily="49" charset="-122"/>
                <a:ea typeface="楷体_GB2312" pitchFamily="49" charset="-122"/>
              </a:rPr>
              <a:t>61%</a:t>
            </a:r>
            <a:r>
              <a:rPr lang="zh-CN" altLang="en-US" sz="2400">
                <a:latin typeface="楷体_GB2312" pitchFamily="49" charset="-122"/>
                <a:ea typeface="楷体_GB2312" pitchFamily="49" charset="-122"/>
              </a:rPr>
              <a:t>的企业表示管理得到明显改善，</a:t>
            </a:r>
            <a:r>
              <a:rPr lang="en-US" altLang="zh-CN" sz="2400">
                <a:latin typeface="楷体_GB2312" pitchFamily="49" charset="-122"/>
                <a:ea typeface="楷体_GB2312" pitchFamily="49" charset="-122"/>
              </a:rPr>
              <a:t>56%</a:t>
            </a:r>
            <a:r>
              <a:rPr lang="zh-CN" altLang="en-US" sz="2400">
                <a:latin typeface="楷体_GB2312" pitchFamily="49" charset="-122"/>
                <a:ea typeface="楷体_GB2312" pitchFamily="49" charset="-122"/>
              </a:rPr>
              <a:t>承认增强了企业文化，</a:t>
            </a:r>
            <a:r>
              <a:rPr lang="en-US" altLang="zh-CN" sz="2400">
                <a:latin typeface="楷体_GB2312" pitchFamily="49" charset="-122"/>
                <a:ea typeface="楷体_GB2312" pitchFamily="49" charset="-122"/>
              </a:rPr>
              <a:t>53%</a:t>
            </a:r>
            <a:r>
              <a:rPr lang="zh-CN" altLang="en-US" sz="2400">
                <a:latin typeface="楷体_GB2312" pitchFamily="49" charset="-122"/>
                <a:ea typeface="楷体_GB2312" pitchFamily="49" charset="-122"/>
              </a:rPr>
              <a:t>提高了公司声誉，</a:t>
            </a:r>
            <a:r>
              <a:rPr lang="en-US" altLang="zh-CN" sz="2400">
                <a:latin typeface="楷体_GB2312" pitchFamily="49" charset="-122"/>
                <a:ea typeface="楷体_GB2312" pitchFamily="49" charset="-122"/>
              </a:rPr>
              <a:t>22%</a:t>
            </a:r>
            <a:r>
              <a:rPr lang="zh-CN" altLang="en-US" sz="2400">
                <a:latin typeface="楷体_GB2312" pitchFamily="49" charset="-122"/>
                <a:ea typeface="楷体_GB2312" pitchFamily="49" charset="-122"/>
              </a:rPr>
              <a:t>认为竞争力得到增强。</a:t>
            </a:r>
          </a:p>
        </p:txBody>
      </p:sp>
    </p:spTree>
  </p:cSld>
  <p:clrMapOvr>
    <a:masterClrMapping/>
  </p:clrMapOvr>
  <p:transition spd="slow">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8D18126-B306-DCA1-C4D4-35860E7D1DD9}"/>
              </a:ext>
            </a:extLst>
          </p:cNvPr>
          <p:cNvSpPr>
            <a:spLocks noGrp="1"/>
          </p:cNvSpPr>
          <p:nvPr>
            <p:ph type="dt" sz="half" idx="10"/>
          </p:nvPr>
        </p:nvSpPr>
        <p:spPr/>
        <p:txBody>
          <a:bodyPr/>
          <a:lstStyle/>
          <a:p>
            <a:r>
              <a:rPr lang="zh-CN" altLang="en-US"/>
              <a:t>讲义制作：李丽，陈志祥审</a:t>
            </a:r>
            <a:endParaRPr lang="en-US" altLang="zh-CN"/>
          </a:p>
        </p:txBody>
      </p:sp>
      <p:sp>
        <p:nvSpPr>
          <p:cNvPr id="347138" name="标题 1">
            <a:extLst>
              <a:ext uri="{FF2B5EF4-FFF2-40B4-BE49-F238E27FC236}">
                <a16:creationId xmlns:a16="http://schemas.microsoft.com/office/drawing/2014/main" id="{3BF5B6BC-5BD2-A355-2E76-E59DD5C5C60C}"/>
              </a:ext>
            </a:extLst>
          </p:cNvPr>
          <p:cNvSpPr>
            <a:spLocks noGrp="1"/>
          </p:cNvSpPr>
          <p:nvPr>
            <p:ph type="title" idx="4294967295"/>
          </p:nvPr>
        </p:nvSpPr>
        <p:spPr/>
        <p:txBody>
          <a:bodyPr/>
          <a:lstStyle/>
          <a:p>
            <a:r>
              <a:rPr lang="zh-CN" altLang="en-US" b="1"/>
              <a:t>一、 项目管理概述</a:t>
            </a:r>
            <a:endParaRPr lang="zh-CN" altLang="en-US"/>
          </a:p>
        </p:txBody>
      </p:sp>
      <p:sp>
        <p:nvSpPr>
          <p:cNvPr id="347139" name="内容占位符 2">
            <a:extLst>
              <a:ext uri="{FF2B5EF4-FFF2-40B4-BE49-F238E27FC236}">
                <a16:creationId xmlns:a16="http://schemas.microsoft.com/office/drawing/2014/main" id="{4500D160-0FEC-B1D6-705A-05CE7917F58A}"/>
              </a:ext>
            </a:extLst>
          </p:cNvPr>
          <p:cNvSpPr>
            <a:spLocks noGrp="1"/>
          </p:cNvSpPr>
          <p:nvPr>
            <p:ph idx="4294967295"/>
          </p:nvPr>
        </p:nvSpPr>
        <p:spPr/>
        <p:txBody>
          <a:bodyPr/>
          <a:lstStyle/>
          <a:p>
            <a:pPr>
              <a:lnSpc>
                <a:spcPct val="80000"/>
              </a:lnSpc>
              <a:buFontTx/>
              <a:buNone/>
            </a:pPr>
            <a:r>
              <a:rPr lang="zh-CN" altLang="en-US" sz="2800" b="1"/>
              <a:t>（一）项目与项目管理</a:t>
            </a:r>
            <a:endParaRPr lang="zh-CN" altLang="en-US" sz="2800"/>
          </a:p>
          <a:p>
            <a:pPr>
              <a:lnSpc>
                <a:spcPct val="80000"/>
              </a:lnSpc>
              <a:buFontTx/>
              <a:buNone/>
            </a:pPr>
            <a:r>
              <a:rPr lang="zh-CN" altLang="en-US" sz="2800" b="1"/>
              <a:t>（二）项目组织形式</a:t>
            </a:r>
          </a:p>
        </p:txBody>
      </p:sp>
    </p:spTree>
  </p:cSld>
  <p:clrMapOvr>
    <a:masterClrMapping/>
  </p:clrMapOvr>
  <p:transition spd="slow">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8B3162-5269-DACC-94E2-557983FFEC2A}"/>
              </a:ext>
            </a:extLst>
          </p:cNvPr>
          <p:cNvSpPr>
            <a:spLocks noGrp="1"/>
          </p:cNvSpPr>
          <p:nvPr>
            <p:ph type="dt" sz="half" idx="10"/>
          </p:nvPr>
        </p:nvSpPr>
        <p:spPr/>
        <p:txBody>
          <a:bodyPr/>
          <a:lstStyle/>
          <a:p>
            <a:r>
              <a:rPr lang="zh-CN" altLang="en-US"/>
              <a:t>讲义制作：李丽，陈志祥审</a:t>
            </a:r>
            <a:endParaRPr lang="en-US" altLang="zh-CN"/>
          </a:p>
        </p:txBody>
      </p:sp>
      <p:sp>
        <p:nvSpPr>
          <p:cNvPr id="305154" name="标题 1">
            <a:extLst>
              <a:ext uri="{FF2B5EF4-FFF2-40B4-BE49-F238E27FC236}">
                <a16:creationId xmlns:a16="http://schemas.microsoft.com/office/drawing/2014/main" id="{B38D3263-2598-B415-40D7-6F40AE555373}"/>
              </a:ext>
            </a:extLst>
          </p:cNvPr>
          <p:cNvSpPr>
            <a:spLocks noGrp="1"/>
          </p:cNvSpPr>
          <p:nvPr>
            <p:ph type="title" idx="4294967295"/>
          </p:nvPr>
        </p:nvSpPr>
        <p:spPr/>
        <p:txBody>
          <a:bodyPr/>
          <a:lstStyle/>
          <a:p>
            <a:r>
              <a:rPr lang="zh-CN" altLang="en-US" sz="4000" b="1"/>
              <a:t>（一）项目与项目管理</a:t>
            </a:r>
            <a:endParaRPr lang="zh-CN" altLang="en-US" sz="4000"/>
          </a:p>
        </p:txBody>
      </p:sp>
      <p:sp>
        <p:nvSpPr>
          <p:cNvPr id="305155" name="内容占位符 2">
            <a:extLst>
              <a:ext uri="{FF2B5EF4-FFF2-40B4-BE49-F238E27FC236}">
                <a16:creationId xmlns:a16="http://schemas.microsoft.com/office/drawing/2014/main" id="{E8F7B209-FB98-F3A7-2258-E6873ABBD1D8}"/>
              </a:ext>
            </a:extLst>
          </p:cNvPr>
          <p:cNvSpPr>
            <a:spLocks noGrp="1"/>
          </p:cNvSpPr>
          <p:nvPr>
            <p:ph idx="4294967295"/>
          </p:nvPr>
        </p:nvSpPr>
        <p:spPr>
          <a:xfrm>
            <a:off x="1476375" y="2060575"/>
            <a:ext cx="6070600" cy="1368425"/>
          </a:xfrm>
        </p:spPr>
        <p:txBody>
          <a:bodyPr/>
          <a:lstStyle/>
          <a:p>
            <a:pPr>
              <a:lnSpc>
                <a:spcPct val="80000"/>
              </a:lnSpc>
              <a:buFontTx/>
              <a:buNone/>
            </a:pPr>
            <a:r>
              <a:rPr lang="en-US" altLang="zh-CN" sz="2500"/>
              <a:t>          </a:t>
            </a:r>
            <a:r>
              <a:rPr lang="en-US" altLang="zh-CN" sz="2400"/>
              <a:t>1.</a:t>
            </a:r>
            <a:r>
              <a:rPr lang="zh-CN" altLang="en-US" sz="2400"/>
              <a:t>项目的定义</a:t>
            </a:r>
          </a:p>
          <a:p>
            <a:pPr>
              <a:lnSpc>
                <a:spcPct val="80000"/>
              </a:lnSpc>
              <a:buFontTx/>
              <a:buNone/>
            </a:pPr>
            <a:r>
              <a:rPr lang="zh-CN" altLang="en-US" sz="2400"/>
              <a:t>           </a:t>
            </a:r>
            <a:r>
              <a:rPr lang="en-US" altLang="zh-CN" sz="2400"/>
              <a:t>2.</a:t>
            </a:r>
            <a:r>
              <a:rPr lang="zh-CN" altLang="en-US" sz="2400"/>
              <a:t>项目管理的定义与内容</a:t>
            </a:r>
          </a:p>
        </p:txBody>
      </p:sp>
    </p:spTree>
  </p:cSld>
  <p:clrMapOvr>
    <a:masterClrMapping/>
  </p:clrMapOvr>
  <p:transition spd="slow">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61FCB76-1134-6F33-FA8F-DD9368EE7A3C}"/>
              </a:ext>
            </a:extLst>
          </p:cNvPr>
          <p:cNvSpPr>
            <a:spLocks noGrp="1"/>
          </p:cNvSpPr>
          <p:nvPr>
            <p:ph type="dt" sz="half" idx="10"/>
          </p:nvPr>
        </p:nvSpPr>
        <p:spPr/>
        <p:txBody>
          <a:bodyPr/>
          <a:lstStyle/>
          <a:p>
            <a:r>
              <a:rPr lang="zh-CN" altLang="en-US"/>
              <a:t>讲义制作：李丽，陈志祥审</a:t>
            </a:r>
            <a:endParaRPr lang="en-US" altLang="zh-CN"/>
          </a:p>
        </p:txBody>
      </p:sp>
      <p:sp>
        <p:nvSpPr>
          <p:cNvPr id="306178" name="内容占位符 2">
            <a:extLst>
              <a:ext uri="{FF2B5EF4-FFF2-40B4-BE49-F238E27FC236}">
                <a16:creationId xmlns:a16="http://schemas.microsoft.com/office/drawing/2014/main" id="{9A7DFFA0-188E-8F32-7869-45E9D2554B8C}"/>
              </a:ext>
            </a:extLst>
          </p:cNvPr>
          <p:cNvSpPr>
            <a:spLocks noGrp="1"/>
          </p:cNvSpPr>
          <p:nvPr>
            <p:ph idx="4294967295"/>
          </p:nvPr>
        </p:nvSpPr>
        <p:spPr>
          <a:xfrm>
            <a:off x="468313" y="836613"/>
            <a:ext cx="8229600" cy="4525962"/>
          </a:xfrm>
        </p:spPr>
        <p:txBody>
          <a:bodyPr/>
          <a:lstStyle/>
          <a:p>
            <a:pPr>
              <a:buFontTx/>
              <a:buNone/>
            </a:pPr>
            <a:r>
              <a:rPr lang="zh-CN" altLang="en-US" sz="3600" b="1"/>
              <a:t>（二）项目组织形式</a:t>
            </a:r>
            <a:endParaRPr lang="zh-CN" altLang="en-US" sz="3600"/>
          </a:p>
          <a:p>
            <a:pPr>
              <a:buFontTx/>
              <a:buNone/>
            </a:pPr>
            <a:endParaRPr lang="zh-CN" altLang="en-US"/>
          </a:p>
          <a:p>
            <a:pPr>
              <a:buFontTx/>
              <a:buNone/>
            </a:pPr>
            <a:r>
              <a:rPr lang="zh-CN" altLang="en-US" sz="2800"/>
              <a:t>（</a:t>
            </a:r>
            <a:r>
              <a:rPr lang="en-US" altLang="zh-CN" sz="2800"/>
              <a:t>1</a:t>
            </a:r>
            <a:r>
              <a:rPr lang="zh-CN" altLang="en-US" sz="2800"/>
              <a:t>）职能式项目组织</a:t>
            </a:r>
          </a:p>
          <a:p>
            <a:pPr>
              <a:buFontTx/>
              <a:buNone/>
            </a:pPr>
            <a:r>
              <a:rPr lang="zh-CN" altLang="en-US" sz="2800"/>
              <a:t>（</a:t>
            </a:r>
            <a:r>
              <a:rPr lang="en-US" altLang="zh-CN" sz="2800"/>
              <a:t>2</a:t>
            </a:r>
            <a:r>
              <a:rPr lang="zh-CN" altLang="en-US" sz="2800"/>
              <a:t>）纯项目式项目组织</a:t>
            </a:r>
          </a:p>
          <a:p>
            <a:pPr>
              <a:buFontTx/>
              <a:buNone/>
            </a:pPr>
            <a:r>
              <a:rPr lang="zh-CN" altLang="en-US" sz="2800"/>
              <a:t>（</a:t>
            </a:r>
            <a:r>
              <a:rPr lang="en-US" altLang="zh-CN" sz="2800"/>
              <a:t>3</a:t>
            </a:r>
            <a:r>
              <a:rPr lang="zh-CN" altLang="en-US" sz="2800"/>
              <a:t>）矩阵式项目组织</a:t>
            </a:r>
          </a:p>
          <a:p>
            <a:pPr>
              <a:buFontTx/>
              <a:buNone/>
            </a:pPr>
            <a:endParaRPr lang="en-US" altLang="zh-CN" sz="2800"/>
          </a:p>
        </p:txBody>
      </p:sp>
    </p:spTree>
  </p:cSld>
  <p:clrMapOvr>
    <a:masterClrMapping/>
  </p:clrMapOvr>
  <p:transition spd="slow">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71C646F-29A5-4196-80F0-69B60751BED2}"/>
              </a:ext>
            </a:extLst>
          </p:cNvPr>
          <p:cNvSpPr>
            <a:spLocks noGrp="1"/>
          </p:cNvSpPr>
          <p:nvPr>
            <p:ph type="dt" sz="half" idx="10"/>
          </p:nvPr>
        </p:nvSpPr>
        <p:spPr/>
        <p:txBody>
          <a:bodyPr/>
          <a:lstStyle/>
          <a:p>
            <a:r>
              <a:rPr lang="zh-CN" altLang="en-US"/>
              <a:t>讲义制作：李丽，陈志祥审</a:t>
            </a:r>
            <a:endParaRPr lang="en-US" altLang="zh-CN"/>
          </a:p>
        </p:txBody>
      </p:sp>
      <p:sp>
        <p:nvSpPr>
          <p:cNvPr id="307202" name="标题 1">
            <a:extLst>
              <a:ext uri="{FF2B5EF4-FFF2-40B4-BE49-F238E27FC236}">
                <a16:creationId xmlns:a16="http://schemas.microsoft.com/office/drawing/2014/main" id="{AF979CA1-1692-08D9-0F26-F84E0EE501CD}"/>
              </a:ext>
            </a:extLst>
          </p:cNvPr>
          <p:cNvSpPr>
            <a:spLocks noGrp="1"/>
          </p:cNvSpPr>
          <p:nvPr>
            <p:ph type="title" idx="4294967295"/>
          </p:nvPr>
        </p:nvSpPr>
        <p:spPr/>
        <p:txBody>
          <a:bodyPr/>
          <a:lstStyle/>
          <a:p>
            <a:r>
              <a:rPr lang="zh-CN" altLang="en-US"/>
              <a:t>（</a:t>
            </a:r>
            <a:r>
              <a:rPr lang="en-US" altLang="zh-CN"/>
              <a:t>1</a:t>
            </a:r>
            <a:r>
              <a:rPr lang="zh-CN" altLang="en-US"/>
              <a:t>）职能式项目管理组织</a:t>
            </a:r>
          </a:p>
        </p:txBody>
      </p:sp>
      <p:sp>
        <p:nvSpPr>
          <p:cNvPr id="307203" name="内容占位符 2">
            <a:extLst>
              <a:ext uri="{FF2B5EF4-FFF2-40B4-BE49-F238E27FC236}">
                <a16:creationId xmlns:a16="http://schemas.microsoft.com/office/drawing/2014/main" id="{3628C78E-EFB9-80BF-D81D-79DFABB1B929}"/>
              </a:ext>
            </a:extLst>
          </p:cNvPr>
          <p:cNvSpPr>
            <a:spLocks noGrp="1"/>
          </p:cNvSpPr>
          <p:nvPr>
            <p:ph idx="4294967295"/>
          </p:nvPr>
        </p:nvSpPr>
        <p:spPr>
          <a:xfrm>
            <a:off x="468313" y="1341438"/>
            <a:ext cx="8229600" cy="4697412"/>
          </a:xfrm>
        </p:spPr>
        <p:txBody>
          <a:bodyPr/>
          <a:lstStyle/>
          <a:p>
            <a:pPr>
              <a:lnSpc>
                <a:spcPct val="80000"/>
              </a:lnSpc>
            </a:pPr>
            <a:r>
              <a:rPr lang="zh-CN" altLang="en-US" sz="2000"/>
              <a:t>适用于当项目的规模比较小、项目比较多、技术重复性强时，可以采用职能式的组织。职能式的项目活动的组织类似于工艺专业化的生产组织形式。</a:t>
            </a:r>
          </a:p>
        </p:txBody>
      </p:sp>
      <p:pic>
        <p:nvPicPr>
          <p:cNvPr id="2050" name="Picture 2" descr="公司主管2-Model1">
            <a:extLst>
              <a:ext uri="{FF2B5EF4-FFF2-40B4-BE49-F238E27FC236}">
                <a16:creationId xmlns:a16="http://schemas.microsoft.com/office/drawing/2014/main" id="{6CA4676B-8EC5-07F1-2A6B-EF57779F4A65}"/>
              </a:ext>
            </a:extLst>
          </p:cNvPr>
          <p:cNvPicPr>
            <a:picLocks noChangeAspect="1" noChangeArrowheads="1"/>
          </p:cNvPicPr>
          <p:nvPr/>
        </p:nvPicPr>
        <p:blipFill>
          <a:blip r:embed="rId2"/>
          <a:srcRect l="18497" t="13480" r="14102" b="17480"/>
          <a:stretch>
            <a:fillRect/>
          </a:stretch>
        </p:blipFill>
        <p:spPr bwMode="auto">
          <a:xfrm>
            <a:off x="2379513" y="2535455"/>
            <a:ext cx="5167761" cy="300601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07205" name="标题 1">
            <a:extLst>
              <a:ext uri="{FF2B5EF4-FFF2-40B4-BE49-F238E27FC236}">
                <a16:creationId xmlns:a16="http://schemas.microsoft.com/office/drawing/2014/main" id="{EBCAC66A-F357-48D7-A9CE-B488434505BA}"/>
              </a:ext>
            </a:extLst>
          </p:cNvPr>
          <p:cNvSpPr>
            <a:spLocks/>
          </p:cNvSpPr>
          <p:nvPr/>
        </p:nvSpPr>
        <p:spPr bwMode="auto">
          <a:xfrm>
            <a:off x="2124075" y="5734050"/>
            <a:ext cx="6786563"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2000" b="1"/>
              <a:t>图</a:t>
            </a:r>
            <a:r>
              <a:rPr lang="en-US" altLang="zh-CN" sz="2000" b="1"/>
              <a:t>11-1 </a:t>
            </a:r>
            <a:r>
              <a:rPr lang="zh-CN" altLang="en-US" sz="2000" b="1"/>
              <a:t>职能式项目管理组织</a:t>
            </a:r>
            <a:endParaRPr lang="zh-CN" altLang="en-US" sz="2000"/>
          </a:p>
        </p:txBody>
      </p:sp>
    </p:spTree>
  </p:cSld>
  <p:clrMapOvr>
    <a:masterClrMapping/>
  </p:clrMapOvr>
  <p:transition spd="slow">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2B9AF31-3305-6718-441B-54C93FDAF294}"/>
              </a:ext>
            </a:extLst>
          </p:cNvPr>
          <p:cNvSpPr>
            <a:spLocks noGrp="1"/>
          </p:cNvSpPr>
          <p:nvPr>
            <p:ph type="dt" sz="half" idx="10"/>
          </p:nvPr>
        </p:nvSpPr>
        <p:spPr/>
        <p:txBody>
          <a:bodyPr/>
          <a:lstStyle/>
          <a:p>
            <a:r>
              <a:rPr lang="zh-CN" altLang="en-US"/>
              <a:t>讲义制作：李丽，陈志祥审</a:t>
            </a:r>
            <a:endParaRPr lang="en-US" altLang="zh-CN"/>
          </a:p>
        </p:txBody>
      </p:sp>
      <p:sp>
        <p:nvSpPr>
          <p:cNvPr id="309250" name="标题 1">
            <a:extLst>
              <a:ext uri="{FF2B5EF4-FFF2-40B4-BE49-F238E27FC236}">
                <a16:creationId xmlns:a16="http://schemas.microsoft.com/office/drawing/2014/main" id="{A278264E-55DF-CE3D-9D89-9BF276DA15A5}"/>
              </a:ext>
            </a:extLst>
          </p:cNvPr>
          <p:cNvSpPr>
            <a:spLocks noGrp="1"/>
          </p:cNvSpPr>
          <p:nvPr>
            <p:ph type="title" idx="4294967295"/>
          </p:nvPr>
        </p:nvSpPr>
        <p:spPr/>
        <p:txBody>
          <a:bodyPr/>
          <a:lstStyle/>
          <a:p>
            <a:r>
              <a:rPr lang="zh-CN" altLang="en-US"/>
              <a:t>（</a:t>
            </a:r>
            <a:r>
              <a:rPr lang="en-US" altLang="zh-CN"/>
              <a:t>2</a:t>
            </a:r>
            <a:r>
              <a:rPr lang="zh-CN" altLang="en-US"/>
              <a:t>）纯项目式项目管理组织</a:t>
            </a:r>
          </a:p>
        </p:txBody>
      </p:sp>
      <p:sp>
        <p:nvSpPr>
          <p:cNvPr id="309251" name="内容占位符 2">
            <a:extLst>
              <a:ext uri="{FF2B5EF4-FFF2-40B4-BE49-F238E27FC236}">
                <a16:creationId xmlns:a16="http://schemas.microsoft.com/office/drawing/2014/main" id="{071FF3BB-ABDB-E878-75D8-8555DF429C64}"/>
              </a:ext>
            </a:extLst>
          </p:cNvPr>
          <p:cNvSpPr>
            <a:spLocks noGrp="1"/>
          </p:cNvSpPr>
          <p:nvPr>
            <p:ph idx="4294967295"/>
          </p:nvPr>
        </p:nvSpPr>
        <p:spPr>
          <a:xfrm>
            <a:off x="395288" y="1268413"/>
            <a:ext cx="8229600" cy="4495800"/>
          </a:xfrm>
        </p:spPr>
        <p:txBody>
          <a:bodyPr/>
          <a:lstStyle/>
          <a:p>
            <a:pPr>
              <a:lnSpc>
                <a:spcPct val="80000"/>
              </a:lnSpc>
            </a:pPr>
            <a:r>
              <a:rPr lang="zh-CN" altLang="en-US" sz="2000"/>
              <a:t>纯项目式的组织比较适合于周期长、任务独特、项目数量不多的大型项目。纯项目式的项目活动的组织类似于工业生产的对象专业化的生产组织形式。</a:t>
            </a:r>
          </a:p>
          <a:p>
            <a:pPr>
              <a:lnSpc>
                <a:spcPct val="80000"/>
              </a:lnSpc>
            </a:pPr>
            <a:endParaRPr lang="en-US" altLang="zh-CN" sz="2000"/>
          </a:p>
        </p:txBody>
      </p:sp>
      <p:pic>
        <p:nvPicPr>
          <p:cNvPr id="3074" name="Picture 2" descr="公司主管2-Model2">
            <a:extLst>
              <a:ext uri="{FF2B5EF4-FFF2-40B4-BE49-F238E27FC236}">
                <a16:creationId xmlns:a16="http://schemas.microsoft.com/office/drawing/2014/main" id="{57846226-348C-7CE4-3CCF-942FA805E56F}"/>
              </a:ext>
            </a:extLst>
          </p:cNvPr>
          <p:cNvPicPr>
            <a:picLocks noChangeAspect="1" noChangeArrowheads="1"/>
          </p:cNvPicPr>
          <p:nvPr/>
        </p:nvPicPr>
        <p:blipFill>
          <a:blip r:embed="rId2"/>
          <a:srcRect l="16512" t="12251" r="18449" b="13795"/>
          <a:stretch>
            <a:fillRect/>
          </a:stretch>
        </p:blipFill>
        <p:spPr bwMode="auto">
          <a:xfrm>
            <a:off x="2268538" y="2349500"/>
            <a:ext cx="5302250" cy="3092450"/>
          </a:xfrm>
          <a:prstGeom prst="rect">
            <a:avLst/>
          </a:prstGeom>
          <a:ln>
            <a:noFill/>
          </a:ln>
          <a:effectLst>
            <a:outerShdw blurRad="190500" algn="tl" rotWithShape="0">
              <a:srgbClr val="000000">
                <a:alpha val="70000"/>
              </a:srgbClr>
            </a:outerShdw>
          </a:effectLst>
        </p:spPr>
      </p:pic>
      <p:sp>
        <p:nvSpPr>
          <p:cNvPr id="309253" name="标题 1">
            <a:extLst>
              <a:ext uri="{FF2B5EF4-FFF2-40B4-BE49-F238E27FC236}">
                <a16:creationId xmlns:a16="http://schemas.microsoft.com/office/drawing/2014/main" id="{118224D7-DB19-D658-4F0B-1C7C89AAAA1A}"/>
              </a:ext>
            </a:extLst>
          </p:cNvPr>
          <p:cNvSpPr>
            <a:spLocks/>
          </p:cNvSpPr>
          <p:nvPr/>
        </p:nvSpPr>
        <p:spPr bwMode="auto">
          <a:xfrm>
            <a:off x="1928813" y="6021388"/>
            <a:ext cx="7215187"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2000" b="1"/>
              <a:t>图</a:t>
            </a:r>
            <a:r>
              <a:rPr lang="en-US" altLang="zh-CN" sz="2000" b="1"/>
              <a:t>11-2 </a:t>
            </a:r>
            <a:r>
              <a:rPr lang="zh-CN" altLang="en-US" sz="2000" b="1"/>
              <a:t>纯项目式项目管理组织</a:t>
            </a:r>
            <a:endParaRPr lang="zh-CN" altLang="en-US" sz="2000"/>
          </a:p>
        </p:txBody>
      </p:sp>
    </p:spTree>
  </p:cSld>
  <p:clrMapOvr>
    <a:masterClrMapping/>
  </p:clrMapOvr>
  <p:transition spd="slow">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5779C8C-B8C7-D2EF-3173-B3AB23F51DD9}"/>
              </a:ext>
            </a:extLst>
          </p:cNvPr>
          <p:cNvSpPr>
            <a:spLocks noGrp="1"/>
          </p:cNvSpPr>
          <p:nvPr>
            <p:ph type="dt" sz="half" idx="10"/>
          </p:nvPr>
        </p:nvSpPr>
        <p:spPr/>
        <p:txBody>
          <a:bodyPr/>
          <a:lstStyle/>
          <a:p>
            <a:r>
              <a:rPr lang="zh-CN" altLang="en-US"/>
              <a:t>讲义制作：李丽，陈志祥审</a:t>
            </a:r>
            <a:endParaRPr lang="en-US" altLang="zh-CN"/>
          </a:p>
        </p:txBody>
      </p:sp>
      <p:sp>
        <p:nvSpPr>
          <p:cNvPr id="311298" name="标题 1">
            <a:extLst>
              <a:ext uri="{FF2B5EF4-FFF2-40B4-BE49-F238E27FC236}">
                <a16:creationId xmlns:a16="http://schemas.microsoft.com/office/drawing/2014/main" id="{A9F871F7-7A7B-9DF5-0C63-6C218B2998CA}"/>
              </a:ext>
            </a:extLst>
          </p:cNvPr>
          <p:cNvSpPr>
            <a:spLocks noGrp="1"/>
          </p:cNvSpPr>
          <p:nvPr>
            <p:ph type="title" idx="4294967295"/>
          </p:nvPr>
        </p:nvSpPr>
        <p:spPr/>
        <p:txBody>
          <a:bodyPr/>
          <a:lstStyle/>
          <a:p>
            <a:r>
              <a:rPr lang="zh-CN" altLang="en-US"/>
              <a:t>（</a:t>
            </a:r>
            <a:r>
              <a:rPr lang="en-US" altLang="zh-CN"/>
              <a:t>3</a:t>
            </a:r>
            <a:r>
              <a:rPr lang="zh-CN" altLang="en-US"/>
              <a:t>）矩阵式项目管理组织</a:t>
            </a:r>
          </a:p>
        </p:txBody>
      </p:sp>
      <p:sp>
        <p:nvSpPr>
          <p:cNvPr id="311299" name="内容占位符 2">
            <a:extLst>
              <a:ext uri="{FF2B5EF4-FFF2-40B4-BE49-F238E27FC236}">
                <a16:creationId xmlns:a16="http://schemas.microsoft.com/office/drawing/2014/main" id="{4719540A-E7B2-4F7F-B298-40E2909B1C4F}"/>
              </a:ext>
            </a:extLst>
          </p:cNvPr>
          <p:cNvSpPr>
            <a:spLocks noGrp="1"/>
          </p:cNvSpPr>
          <p:nvPr>
            <p:ph idx="4294967295"/>
          </p:nvPr>
        </p:nvSpPr>
        <p:spPr>
          <a:xfrm>
            <a:off x="395288" y="1268413"/>
            <a:ext cx="8229600" cy="4495800"/>
          </a:xfrm>
        </p:spPr>
        <p:txBody>
          <a:bodyPr/>
          <a:lstStyle/>
          <a:p>
            <a:pPr>
              <a:lnSpc>
                <a:spcPct val="80000"/>
              </a:lnSpc>
            </a:pPr>
            <a:r>
              <a:rPr lang="zh-CN" altLang="en-US" sz="2000"/>
              <a:t>矩阵式项目管理组织结合了职能式与纯项目式两种组织的特点的一种混合组织形式。比较适合于项目需要多个职能部门的配合、技术相对复杂、可进行专业化分工、项目数目不太多的情形。</a:t>
            </a:r>
          </a:p>
        </p:txBody>
      </p:sp>
      <p:sp>
        <p:nvSpPr>
          <p:cNvPr id="311300" name="标题 1">
            <a:extLst>
              <a:ext uri="{FF2B5EF4-FFF2-40B4-BE49-F238E27FC236}">
                <a16:creationId xmlns:a16="http://schemas.microsoft.com/office/drawing/2014/main" id="{5774B77A-B248-C6BB-A71A-91041C354681}"/>
              </a:ext>
            </a:extLst>
          </p:cNvPr>
          <p:cNvSpPr>
            <a:spLocks/>
          </p:cNvSpPr>
          <p:nvPr/>
        </p:nvSpPr>
        <p:spPr bwMode="auto">
          <a:xfrm>
            <a:off x="2627313" y="5949950"/>
            <a:ext cx="5362575"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r>
              <a:rPr lang="zh-CN" altLang="en-US" sz="2000" b="1"/>
              <a:t>图</a:t>
            </a:r>
            <a:r>
              <a:rPr lang="en-US" altLang="zh-CN" sz="2000" b="1"/>
              <a:t>11-3 </a:t>
            </a:r>
            <a:r>
              <a:rPr lang="zh-CN" altLang="en-US" sz="2000" b="1"/>
              <a:t>矩阵式项目管理组织</a:t>
            </a:r>
            <a:endParaRPr lang="zh-CN" altLang="en-US" sz="2000"/>
          </a:p>
        </p:txBody>
      </p:sp>
      <p:pic>
        <p:nvPicPr>
          <p:cNvPr id="4098" name="Picture 2" descr="公司主管2-Model3">
            <a:extLst>
              <a:ext uri="{FF2B5EF4-FFF2-40B4-BE49-F238E27FC236}">
                <a16:creationId xmlns:a16="http://schemas.microsoft.com/office/drawing/2014/main" id="{C7CF2195-DD1C-768E-11D6-48529ACCF5DE}"/>
              </a:ext>
            </a:extLst>
          </p:cNvPr>
          <p:cNvPicPr>
            <a:picLocks noChangeAspect="1" noChangeArrowheads="1"/>
          </p:cNvPicPr>
          <p:nvPr/>
        </p:nvPicPr>
        <p:blipFill>
          <a:blip r:embed="rId2"/>
          <a:srcRect l="19678" t="12315" r="15141" b="13733"/>
          <a:stretch>
            <a:fillRect/>
          </a:stretch>
        </p:blipFill>
        <p:spPr bwMode="auto">
          <a:xfrm>
            <a:off x="2195513" y="2349500"/>
            <a:ext cx="5473700" cy="31273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spd="slow">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483C7C-0D88-FB6A-AAF9-DCB8A386C944}"/>
              </a:ext>
            </a:extLst>
          </p:cNvPr>
          <p:cNvSpPr>
            <a:spLocks noGrp="1"/>
          </p:cNvSpPr>
          <p:nvPr>
            <p:ph type="dt" sz="half" idx="10"/>
          </p:nvPr>
        </p:nvSpPr>
        <p:spPr/>
        <p:txBody>
          <a:bodyPr/>
          <a:lstStyle/>
          <a:p>
            <a:r>
              <a:rPr lang="zh-CN" altLang="en-US"/>
              <a:t>讲义制作：李丽，陈志祥审</a:t>
            </a:r>
            <a:endParaRPr lang="en-US" altLang="zh-CN"/>
          </a:p>
        </p:txBody>
      </p:sp>
      <p:sp>
        <p:nvSpPr>
          <p:cNvPr id="348162" name="标题 1">
            <a:extLst>
              <a:ext uri="{FF2B5EF4-FFF2-40B4-BE49-F238E27FC236}">
                <a16:creationId xmlns:a16="http://schemas.microsoft.com/office/drawing/2014/main" id="{1BCC23DE-F0C4-88E7-A125-6F4024A1E996}"/>
              </a:ext>
            </a:extLst>
          </p:cNvPr>
          <p:cNvSpPr>
            <a:spLocks noGrp="1"/>
          </p:cNvSpPr>
          <p:nvPr>
            <p:ph type="title" idx="4294967295"/>
          </p:nvPr>
        </p:nvSpPr>
        <p:spPr/>
        <p:txBody>
          <a:bodyPr/>
          <a:lstStyle/>
          <a:p>
            <a:r>
              <a:rPr lang="zh-CN" altLang="en-US" b="1"/>
              <a:t>二、 网络计划方法</a:t>
            </a:r>
            <a:endParaRPr lang="zh-CN" altLang="en-US"/>
          </a:p>
        </p:txBody>
      </p:sp>
      <p:sp>
        <p:nvSpPr>
          <p:cNvPr id="348163" name="内容占位符 2">
            <a:extLst>
              <a:ext uri="{FF2B5EF4-FFF2-40B4-BE49-F238E27FC236}">
                <a16:creationId xmlns:a16="http://schemas.microsoft.com/office/drawing/2014/main" id="{73F1560B-EFA0-DCFE-648E-20B22E824FF0}"/>
              </a:ext>
            </a:extLst>
          </p:cNvPr>
          <p:cNvSpPr>
            <a:spLocks noGrp="1"/>
          </p:cNvSpPr>
          <p:nvPr>
            <p:ph idx="4294967295"/>
          </p:nvPr>
        </p:nvSpPr>
        <p:spPr/>
        <p:txBody>
          <a:bodyPr/>
          <a:lstStyle/>
          <a:p>
            <a:pPr>
              <a:buFontTx/>
              <a:buNone/>
            </a:pPr>
            <a:r>
              <a:rPr lang="zh-CN" altLang="en-US" b="1">
                <a:latin typeface="Maiandra GD" panose="020E0502030308020204" pitchFamily="34" charset="0"/>
                <a:ea typeface="隶书" panose="02010509060101010101" pitchFamily="49" charset="-122"/>
              </a:rPr>
              <a:t>（一）项目计划方法简介</a:t>
            </a:r>
          </a:p>
          <a:p>
            <a:pPr>
              <a:buFontTx/>
              <a:buNone/>
            </a:pPr>
            <a:r>
              <a:rPr lang="zh-CN" altLang="en-US" b="1">
                <a:latin typeface="Maiandra GD" panose="020E0502030308020204" pitchFamily="34" charset="0"/>
                <a:ea typeface="隶书" panose="02010509060101010101" pitchFamily="49" charset="-122"/>
              </a:rPr>
              <a:t>（二）网络计划的应用</a:t>
            </a:r>
          </a:p>
          <a:p>
            <a:pPr>
              <a:buFontTx/>
              <a:buNone/>
            </a:pPr>
            <a:r>
              <a:rPr lang="zh-CN" altLang="en-US"/>
              <a:t>        </a:t>
            </a:r>
          </a:p>
          <a:p>
            <a:pPr>
              <a:buFontTx/>
              <a:buNone/>
            </a:pPr>
            <a:endParaRPr lang="en-US" altLang="zh-CN"/>
          </a:p>
        </p:txBody>
      </p:sp>
    </p:spTree>
  </p:cSld>
  <p:clrMapOvr>
    <a:masterClrMapping/>
  </p:clrMapOvr>
  <p:transition spd="slow">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5025759-E690-C2AB-15D8-BFA8D0F27FD8}"/>
              </a:ext>
            </a:extLst>
          </p:cNvPr>
          <p:cNvSpPr>
            <a:spLocks noGrp="1"/>
          </p:cNvSpPr>
          <p:nvPr>
            <p:ph type="dt" sz="half" idx="10"/>
          </p:nvPr>
        </p:nvSpPr>
        <p:spPr/>
        <p:txBody>
          <a:bodyPr/>
          <a:lstStyle/>
          <a:p>
            <a:r>
              <a:rPr lang="zh-CN" altLang="en-US"/>
              <a:t>讲义制作：李丽，陈志祥审</a:t>
            </a:r>
            <a:endParaRPr lang="en-US" altLang="zh-CN"/>
          </a:p>
        </p:txBody>
      </p:sp>
      <p:sp>
        <p:nvSpPr>
          <p:cNvPr id="313346" name="标题 1">
            <a:extLst>
              <a:ext uri="{FF2B5EF4-FFF2-40B4-BE49-F238E27FC236}">
                <a16:creationId xmlns:a16="http://schemas.microsoft.com/office/drawing/2014/main" id="{F8AB77DB-E827-AF84-2BF8-F199B813331C}"/>
              </a:ext>
            </a:extLst>
          </p:cNvPr>
          <p:cNvSpPr>
            <a:spLocks noGrp="1"/>
          </p:cNvSpPr>
          <p:nvPr>
            <p:ph type="title" idx="4294967295"/>
          </p:nvPr>
        </p:nvSpPr>
        <p:spPr/>
        <p:txBody>
          <a:bodyPr/>
          <a:lstStyle/>
          <a:p>
            <a:r>
              <a:rPr lang="zh-CN" altLang="en-US" b="1">
                <a:latin typeface="Maiandra GD" panose="020E0502030308020204" pitchFamily="34" charset="0"/>
                <a:ea typeface="隶书" panose="02010509060101010101" pitchFamily="49" charset="-122"/>
              </a:rPr>
              <a:t>（一）项目计划方法简介</a:t>
            </a:r>
            <a:endParaRPr lang="zh-CN" altLang="en-US" b="1"/>
          </a:p>
        </p:txBody>
      </p:sp>
      <p:sp>
        <p:nvSpPr>
          <p:cNvPr id="313347" name="内容占位符 2">
            <a:extLst>
              <a:ext uri="{FF2B5EF4-FFF2-40B4-BE49-F238E27FC236}">
                <a16:creationId xmlns:a16="http://schemas.microsoft.com/office/drawing/2014/main" id="{1662CB87-A2D9-344E-5EAD-70D623F95734}"/>
              </a:ext>
            </a:extLst>
          </p:cNvPr>
          <p:cNvSpPr>
            <a:spLocks noGrp="1"/>
          </p:cNvSpPr>
          <p:nvPr>
            <p:ph idx="4294967295"/>
          </p:nvPr>
        </p:nvSpPr>
        <p:spPr>
          <a:xfrm>
            <a:off x="395288" y="1196975"/>
            <a:ext cx="8229600" cy="1295400"/>
          </a:xfrm>
        </p:spPr>
        <p:txBody>
          <a:bodyPr/>
          <a:lstStyle/>
          <a:p>
            <a:pPr>
              <a:buFontTx/>
              <a:buNone/>
            </a:pPr>
            <a:endParaRPr lang="en-US" altLang="zh-CN" sz="2000" b="1">
              <a:latin typeface="Maiandra GD" panose="020E0502030308020204" pitchFamily="34" charset="0"/>
              <a:ea typeface="隶书" panose="02010509060101010101" pitchFamily="49" charset="-122"/>
            </a:endParaRPr>
          </a:p>
          <a:p>
            <a:pPr>
              <a:buFontTx/>
              <a:buNone/>
            </a:pPr>
            <a:r>
              <a:rPr lang="en-US" altLang="zh-CN" sz="2000"/>
              <a:t>         </a:t>
            </a:r>
            <a:r>
              <a:rPr lang="zh-CN" altLang="en-US" sz="2000"/>
              <a:t>项目进度计划目的是有效规划项目的时间安排，从而保证项目严格按照规定的时间完成，保证资源在需要的时间内得到合理的利用，降低项目的成本。常用办法有：</a:t>
            </a:r>
          </a:p>
        </p:txBody>
      </p:sp>
      <p:sp>
        <p:nvSpPr>
          <p:cNvPr id="313348" name="内容占位符 2">
            <a:extLst>
              <a:ext uri="{FF2B5EF4-FFF2-40B4-BE49-F238E27FC236}">
                <a16:creationId xmlns:a16="http://schemas.microsoft.com/office/drawing/2014/main" id="{D6A831F7-1127-6E67-83C4-36A2B74C3BA6}"/>
              </a:ext>
            </a:extLst>
          </p:cNvPr>
          <p:cNvSpPr>
            <a:spLocks/>
          </p:cNvSpPr>
          <p:nvPr/>
        </p:nvSpPr>
        <p:spPr bwMode="auto">
          <a:xfrm>
            <a:off x="611188" y="2824163"/>
            <a:ext cx="8329612" cy="391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2"/>
              </a:buClr>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buChar char="•"/>
              <a:defRPr sz="2000">
                <a:solidFill>
                  <a:schemeClr val="tx1"/>
                </a:solidFill>
                <a:latin typeface="Arial" panose="020B0604020202020204" pitchFamily="34" charset="0"/>
                <a:ea typeface="宋体" panose="02010600030101010101" pitchFamily="2" charset="-122"/>
              </a:defRPr>
            </a:lvl9pPr>
          </a:lstStyle>
          <a:p>
            <a:pPr>
              <a:lnSpc>
                <a:spcPct val="80000"/>
              </a:lnSpc>
              <a:buFontTx/>
              <a:buNone/>
            </a:pPr>
            <a:r>
              <a:rPr lang="zh-CN" altLang="en-US" sz="2000" b="1"/>
              <a:t>（</a:t>
            </a:r>
            <a:r>
              <a:rPr lang="en-US" altLang="zh-CN" sz="2000" b="1"/>
              <a:t>1</a:t>
            </a:r>
            <a:r>
              <a:rPr lang="zh-CN" altLang="en-US" sz="2000" b="1"/>
              <a:t>）关键日期法</a:t>
            </a:r>
            <a:endParaRPr lang="zh-CN" altLang="en-US" sz="2000"/>
          </a:p>
          <a:p>
            <a:pPr>
              <a:lnSpc>
                <a:spcPct val="80000"/>
              </a:lnSpc>
              <a:buFontTx/>
              <a:buNone/>
            </a:pPr>
            <a:r>
              <a:rPr lang="zh-CN" altLang="en-US" sz="2000" b="1"/>
              <a:t>（</a:t>
            </a:r>
            <a:r>
              <a:rPr lang="en-US" altLang="zh-CN" sz="2000" b="1"/>
              <a:t>2</a:t>
            </a:r>
            <a:r>
              <a:rPr lang="zh-CN" altLang="en-US" sz="2000" b="1"/>
              <a:t>）甘特图法</a:t>
            </a:r>
          </a:p>
          <a:p>
            <a:pPr>
              <a:lnSpc>
                <a:spcPct val="80000"/>
              </a:lnSpc>
              <a:buFontTx/>
              <a:buNone/>
            </a:pPr>
            <a:r>
              <a:rPr lang="zh-CN" altLang="en-US" sz="2000" b="1"/>
              <a:t>（</a:t>
            </a:r>
            <a:r>
              <a:rPr lang="en-US" altLang="zh-CN" sz="2000" b="1"/>
              <a:t>3</a:t>
            </a:r>
            <a:r>
              <a:rPr lang="zh-CN" altLang="en-US" sz="2000" b="1"/>
              <a:t>）网络计划方法</a:t>
            </a:r>
            <a:endParaRPr lang="zh-CN" altLang="en-US" sz="2000"/>
          </a:p>
        </p:txBody>
      </p:sp>
    </p:spTree>
  </p:cSld>
  <p:clrMapOvr>
    <a:masterClrMapping/>
  </p:clrMapOvr>
  <p:transition spd="slow">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65A8B77-11C2-0601-8017-C0542E54EC5C}"/>
              </a:ext>
            </a:extLst>
          </p:cNvPr>
          <p:cNvSpPr>
            <a:spLocks noGrp="1"/>
          </p:cNvSpPr>
          <p:nvPr>
            <p:ph type="dt" sz="half" idx="10"/>
          </p:nvPr>
        </p:nvSpPr>
        <p:spPr/>
        <p:txBody>
          <a:bodyPr/>
          <a:lstStyle/>
          <a:p>
            <a:r>
              <a:rPr lang="zh-CN" altLang="en-US"/>
              <a:t>讲义制作：李丽，陈志祥审</a:t>
            </a:r>
            <a:endParaRPr lang="en-US" altLang="zh-CN"/>
          </a:p>
        </p:txBody>
      </p:sp>
      <p:sp>
        <p:nvSpPr>
          <p:cNvPr id="349186" name="标题 1">
            <a:extLst>
              <a:ext uri="{FF2B5EF4-FFF2-40B4-BE49-F238E27FC236}">
                <a16:creationId xmlns:a16="http://schemas.microsoft.com/office/drawing/2014/main" id="{B994990A-D292-0093-4062-1E67D50DFFE3}"/>
              </a:ext>
            </a:extLst>
          </p:cNvPr>
          <p:cNvSpPr>
            <a:spLocks noGrp="1"/>
          </p:cNvSpPr>
          <p:nvPr>
            <p:ph type="title" idx="4294967295"/>
          </p:nvPr>
        </p:nvSpPr>
        <p:spPr/>
        <p:txBody>
          <a:bodyPr/>
          <a:lstStyle/>
          <a:p>
            <a:pPr algn="l"/>
            <a:r>
              <a:rPr lang="zh-CN" altLang="en-US" sz="3200" b="1">
                <a:solidFill>
                  <a:schemeClr val="tx1"/>
                </a:solidFill>
              </a:rPr>
              <a:t>（二）网络计划的应用</a:t>
            </a:r>
            <a:endParaRPr lang="zh-CN" altLang="en-US" sz="3200">
              <a:solidFill>
                <a:schemeClr val="tx1"/>
              </a:solidFill>
            </a:endParaRPr>
          </a:p>
        </p:txBody>
      </p:sp>
      <p:sp>
        <p:nvSpPr>
          <p:cNvPr id="349187" name="内容占位符 2">
            <a:extLst>
              <a:ext uri="{FF2B5EF4-FFF2-40B4-BE49-F238E27FC236}">
                <a16:creationId xmlns:a16="http://schemas.microsoft.com/office/drawing/2014/main" id="{64C62098-4307-DF79-3C54-62BB4E4755A1}"/>
              </a:ext>
            </a:extLst>
          </p:cNvPr>
          <p:cNvSpPr>
            <a:spLocks noGrp="1"/>
          </p:cNvSpPr>
          <p:nvPr>
            <p:ph idx="4294967295"/>
          </p:nvPr>
        </p:nvSpPr>
        <p:spPr/>
        <p:txBody>
          <a:bodyPr/>
          <a:lstStyle/>
          <a:p>
            <a:pPr>
              <a:lnSpc>
                <a:spcPct val="90000"/>
              </a:lnSpc>
              <a:buFontTx/>
              <a:buNone/>
            </a:pP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1</a:t>
            </a:r>
            <a:r>
              <a:rPr lang="zh-CN" altLang="en-US" b="1">
                <a:solidFill>
                  <a:schemeClr val="tx2"/>
                </a:solidFill>
                <a:latin typeface="宋体" panose="02010600030101010101" pitchFamily="2" charset="-122"/>
              </a:rPr>
              <a:t>）工作分解结构</a:t>
            </a:r>
          </a:p>
          <a:p>
            <a:pPr>
              <a:lnSpc>
                <a:spcPct val="90000"/>
              </a:lnSpc>
              <a:buFontTx/>
              <a:buNone/>
            </a:pP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2</a:t>
            </a:r>
            <a:r>
              <a:rPr lang="zh-CN" altLang="en-US" b="1">
                <a:solidFill>
                  <a:schemeClr val="tx2"/>
                </a:solidFill>
                <a:latin typeface="宋体" panose="02010600030101010101" pitchFamily="2" charset="-122"/>
              </a:rPr>
              <a:t>）编制作业清单</a:t>
            </a:r>
          </a:p>
          <a:p>
            <a:pPr>
              <a:lnSpc>
                <a:spcPct val="90000"/>
              </a:lnSpc>
              <a:buFontTx/>
              <a:buNone/>
            </a:pP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3</a:t>
            </a:r>
            <a:r>
              <a:rPr lang="zh-CN" altLang="en-US" b="1">
                <a:solidFill>
                  <a:schemeClr val="tx2"/>
                </a:solidFill>
                <a:latin typeface="宋体" panose="02010600030101010101" pitchFamily="2" charset="-122"/>
              </a:rPr>
              <a:t>）绘制网络图</a:t>
            </a:r>
          </a:p>
          <a:p>
            <a:pPr>
              <a:lnSpc>
                <a:spcPct val="90000"/>
              </a:lnSpc>
              <a:buFontTx/>
              <a:buNone/>
            </a:pPr>
            <a:r>
              <a:rPr lang="zh-CN" altLang="en-US" b="1"/>
              <a:t>（</a:t>
            </a:r>
            <a:r>
              <a:rPr lang="en-US" altLang="zh-CN" b="1"/>
              <a:t>4</a:t>
            </a:r>
            <a:r>
              <a:rPr lang="zh-CN" altLang="en-US" b="1"/>
              <a:t>）计算网络时间参数，确定关键路线和工期</a:t>
            </a:r>
          </a:p>
          <a:p>
            <a:pPr>
              <a:lnSpc>
                <a:spcPct val="90000"/>
              </a:lnSpc>
              <a:buFontTx/>
              <a:buNone/>
            </a:pPr>
            <a:r>
              <a:rPr lang="zh-CN" altLang="en-US" b="1"/>
              <a:t>（</a:t>
            </a:r>
            <a:r>
              <a:rPr lang="en-US" altLang="zh-CN" b="1"/>
              <a:t>5</a:t>
            </a:r>
            <a:r>
              <a:rPr lang="zh-CN" altLang="en-US" b="1"/>
              <a:t>）网络计划的优化</a:t>
            </a:r>
          </a:p>
          <a:p>
            <a:pPr>
              <a:lnSpc>
                <a:spcPct val="90000"/>
              </a:lnSpc>
              <a:buFontTx/>
              <a:buNone/>
            </a:pPr>
            <a:r>
              <a:rPr lang="zh-CN" altLang="en-US" b="1"/>
              <a:t>（</a:t>
            </a:r>
            <a:r>
              <a:rPr lang="en-US" altLang="zh-CN" b="1"/>
              <a:t>6</a:t>
            </a:r>
            <a:r>
              <a:rPr lang="zh-CN" altLang="en-US" b="1"/>
              <a:t>）网络计划的控制</a:t>
            </a:r>
          </a:p>
        </p:txBody>
      </p:sp>
    </p:spTree>
  </p:cSld>
  <p:clrMapOvr>
    <a:masterClrMapping/>
  </p:clrMapOvr>
  <p:transition spd="slow">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1467FC4-B46F-80F3-2026-65960BFFCE17}"/>
              </a:ext>
            </a:extLst>
          </p:cNvPr>
          <p:cNvSpPr>
            <a:spLocks noGrp="1"/>
          </p:cNvSpPr>
          <p:nvPr>
            <p:ph type="dt" sz="half" idx="10"/>
          </p:nvPr>
        </p:nvSpPr>
        <p:spPr/>
        <p:txBody>
          <a:bodyPr/>
          <a:lstStyle/>
          <a:p>
            <a:r>
              <a:rPr lang="zh-CN" altLang="en-US"/>
              <a:t>讲义制作：李丽，陈志祥审</a:t>
            </a:r>
            <a:endParaRPr lang="en-US" altLang="zh-CN"/>
          </a:p>
        </p:txBody>
      </p:sp>
      <p:sp>
        <p:nvSpPr>
          <p:cNvPr id="315394" name="标题 1">
            <a:extLst>
              <a:ext uri="{FF2B5EF4-FFF2-40B4-BE49-F238E27FC236}">
                <a16:creationId xmlns:a16="http://schemas.microsoft.com/office/drawing/2014/main" id="{3D358B8A-CCD8-02C6-47CB-8DA1BB149ED1}"/>
              </a:ext>
            </a:extLst>
          </p:cNvPr>
          <p:cNvSpPr>
            <a:spLocks noGrp="1"/>
          </p:cNvSpPr>
          <p:nvPr>
            <p:ph type="title" idx="4294967295"/>
          </p:nvPr>
        </p:nvSpPr>
        <p:spPr/>
        <p:txBody>
          <a:bodyPr/>
          <a:lstStyle/>
          <a:p>
            <a:pPr algn="l"/>
            <a:r>
              <a:rPr lang="zh-CN" altLang="en-US" sz="4000" b="1">
                <a:latin typeface="Maiandra GD" panose="020E0502030308020204" pitchFamily="34" charset="0"/>
                <a:ea typeface="隶书" panose="02010509060101010101" pitchFamily="49" charset="-122"/>
              </a:rPr>
              <a:t>（</a:t>
            </a:r>
            <a:r>
              <a:rPr lang="en-US" altLang="zh-CN" sz="4000" b="1">
                <a:latin typeface="Maiandra GD" panose="020E0502030308020204" pitchFamily="34" charset="0"/>
                <a:ea typeface="隶书" panose="02010509060101010101" pitchFamily="49" charset="-122"/>
              </a:rPr>
              <a:t>1</a:t>
            </a:r>
            <a:r>
              <a:rPr lang="zh-CN" altLang="en-US" sz="4000" b="1">
                <a:latin typeface="Maiandra GD" panose="020E0502030308020204" pitchFamily="34" charset="0"/>
                <a:ea typeface="隶书" panose="02010509060101010101" pitchFamily="49" charset="-122"/>
              </a:rPr>
              <a:t>）工作分解结构</a:t>
            </a:r>
            <a:endParaRPr lang="zh-CN" altLang="en-US" sz="3200" b="1">
              <a:solidFill>
                <a:schemeClr val="tx1"/>
              </a:solidFill>
            </a:endParaRPr>
          </a:p>
        </p:txBody>
      </p:sp>
      <p:sp>
        <p:nvSpPr>
          <p:cNvPr id="315395" name="内容占位符 2">
            <a:extLst>
              <a:ext uri="{FF2B5EF4-FFF2-40B4-BE49-F238E27FC236}">
                <a16:creationId xmlns:a16="http://schemas.microsoft.com/office/drawing/2014/main" id="{568F36E2-0367-4779-DE6A-C39A6B49F001}"/>
              </a:ext>
            </a:extLst>
          </p:cNvPr>
          <p:cNvSpPr>
            <a:spLocks noGrp="1"/>
          </p:cNvSpPr>
          <p:nvPr>
            <p:ph idx="4294967295"/>
          </p:nvPr>
        </p:nvSpPr>
        <p:spPr/>
        <p:txBody>
          <a:bodyPr/>
          <a:lstStyle/>
          <a:p>
            <a:pPr>
              <a:lnSpc>
                <a:spcPct val="90000"/>
              </a:lnSpc>
              <a:buFontTx/>
              <a:buNone/>
            </a:pPr>
            <a:r>
              <a:rPr lang="zh-CN" altLang="en-US" sz="2700"/>
              <a:t>工作分解结构（</a:t>
            </a:r>
            <a:r>
              <a:rPr lang="en-US" altLang="zh-CN" sz="2700"/>
              <a:t>WBS, Work Breakdown Structure</a:t>
            </a:r>
            <a:r>
              <a:rPr lang="zh-CN" altLang="en-US" sz="2700"/>
              <a:t>）是项目计划的起点，正如</a:t>
            </a:r>
            <a:r>
              <a:rPr lang="en-US" altLang="zh-CN" sz="2700"/>
              <a:t>BOM</a:t>
            </a:r>
            <a:r>
              <a:rPr lang="zh-CN" altLang="en-US" sz="2700"/>
              <a:t>是</a:t>
            </a:r>
            <a:r>
              <a:rPr lang="en-US" altLang="zh-CN" sz="2700"/>
              <a:t>MRP</a:t>
            </a:r>
            <a:r>
              <a:rPr lang="zh-CN" altLang="en-US" sz="2700"/>
              <a:t>系统的核心文件一样，</a:t>
            </a:r>
            <a:r>
              <a:rPr lang="en-US" altLang="zh-CN" sz="2700"/>
              <a:t>WBS</a:t>
            </a:r>
            <a:r>
              <a:rPr lang="zh-CN" altLang="en-US" sz="2700"/>
              <a:t>是项目管理的核心文件。</a:t>
            </a:r>
          </a:p>
          <a:p>
            <a:pPr>
              <a:lnSpc>
                <a:spcPct val="90000"/>
              </a:lnSpc>
              <a:buFontTx/>
              <a:buNone/>
            </a:pPr>
            <a:r>
              <a:rPr lang="zh-CN" altLang="en-US" sz="2700"/>
              <a:t>它将项目分解为更小的活动单元，从上到下按规模大小一般分为以下几个层次：</a:t>
            </a:r>
          </a:p>
          <a:p>
            <a:pPr>
              <a:lnSpc>
                <a:spcPct val="90000"/>
              </a:lnSpc>
              <a:buFontTx/>
              <a:buNone/>
            </a:pPr>
            <a:r>
              <a:rPr lang="en-US" altLang="zh-CN" sz="2700"/>
              <a:t>——</a:t>
            </a:r>
            <a:r>
              <a:rPr lang="zh-CN" altLang="en-US" sz="2700"/>
              <a:t>项目</a:t>
            </a:r>
          </a:p>
          <a:p>
            <a:pPr>
              <a:lnSpc>
                <a:spcPct val="90000"/>
              </a:lnSpc>
              <a:buFontTx/>
              <a:buNone/>
            </a:pPr>
            <a:r>
              <a:rPr lang="en-US" altLang="zh-CN" sz="2700"/>
              <a:t>——</a:t>
            </a:r>
            <a:r>
              <a:rPr lang="zh-CN" altLang="en-US" sz="2700"/>
              <a:t>项目中的任务</a:t>
            </a:r>
          </a:p>
          <a:p>
            <a:pPr>
              <a:lnSpc>
                <a:spcPct val="90000"/>
              </a:lnSpc>
              <a:buFontTx/>
              <a:buNone/>
            </a:pPr>
            <a:r>
              <a:rPr lang="en-US" altLang="zh-CN" sz="2700"/>
              <a:t>——</a:t>
            </a:r>
            <a:r>
              <a:rPr lang="zh-CN" altLang="en-US" sz="2700"/>
              <a:t>任务中的子任务</a:t>
            </a:r>
          </a:p>
          <a:p>
            <a:pPr>
              <a:lnSpc>
                <a:spcPct val="90000"/>
              </a:lnSpc>
              <a:buFontTx/>
              <a:buNone/>
            </a:pPr>
            <a:r>
              <a:rPr lang="en-US" altLang="zh-CN" sz="2700"/>
              <a:t>——</a:t>
            </a:r>
            <a:r>
              <a:rPr lang="zh-CN" altLang="en-US" sz="2700"/>
              <a:t>子任务中的作业（工作包）</a:t>
            </a:r>
          </a:p>
        </p:txBody>
      </p:sp>
    </p:spTree>
  </p:cSld>
  <p:clrMapOvr>
    <a:masterClrMapping/>
  </p:clrMapOvr>
  <p:transition spd="slow">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8D9E17D-EB9A-7A6A-B9D1-CCF4FA68321C}"/>
              </a:ext>
            </a:extLst>
          </p:cNvPr>
          <p:cNvSpPr>
            <a:spLocks noGrp="1"/>
          </p:cNvSpPr>
          <p:nvPr>
            <p:ph type="dt" sz="half" idx="10"/>
          </p:nvPr>
        </p:nvSpPr>
        <p:spPr/>
        <p:txBody>
          <a:bodyPr/>
          <a:lstStyle/>
          <a:p>
            <a:r>
              <a:rPr lang="zh-CN" altLang="en-US"/>
              <a:t>讲义制作：李丽，陈志祥审</a:t>
            </a:r>
            <a:endParaRPr lang="en-US" altLang="zh-CN"/>
          </a:p>
        </p:txBody>
      </p:sp>
      <p:sp>
        <p:nvSpPr>
          <p:cNvPr id="316418" name="标题 1">
            <a:extLst>
              <a:ext uri="{FF2B5EF4-FFF2-40B4-BE49-F238E27FC236}">
                <a16:creationId xmlns:a16="http://schemas.microsoft.com/office/drawing/2014/main" id="{826AAF42-01D6-C7E3-78E9-16BE748E8437}"/>
              </a:ext>
            </a:extLst>
          </p:cNvPr>
          <p:cNvSpPr>
            <a:spLocks noGrp="1"/>
          </p:cNvSpPr>
          <p:nvPr>
            <p:ph type="title" idx="4294967295"/>
          </p:nvPr>
        </p:nvSpPr>
        <p:spPr>
          <a:xfrm>
            <a:off x="214313" y="274638"/>
            <a:ext cx="8643937" cy="654050"/>
          </a:xfrm>
        </p:spPr>
        <p:txBody>
          <a:bodyPr/>
          <a:lstStyle/>
          <a:p>
            <a:r>
              <a:rPr lang="zh-CN" altLang="en-US" sz="2400" b="1"/>
              <a:t>表</a:t>
            </a:r>
            <a:r>
              <a:rPr lang="en-US" altLang="zh-CN" sz="2400" b="1"/>
              <a:t>11</a:t>
            </a:r>
            <a:r>
              <a:rPr lang="zh-CN" altLang="en-US" sz="2400" b="1"/>
              <a:t>－</a:t>
            </a:r>
            <a:r>
              <a:rPr lang="en-US" altLang="zh-CN" sz="2400" b="1"/>
              <a:t>1</a:t>
            </a:r>
            <a:r>
              <a:rPr lang="zh-CN" altLang="en-US" sz="2400" b="1"/>
              <a:t>是以表格的方式表示的软件开发项目的工作分解结构。</a:t>
            </a:r>
            <a:endParaRPr lang="zh-CN" altLang="en-US" sz="4800" b="1"/>
          </a:p>
        </p:txBody>
      </p:sp>
      <p:graphicFrame>
        <p:nvGraphicFramePr>
          <p:cNvPr id="4" name="表格 3">
            <a:extLst>
              <a:ext uri="{FF2B5EF4-FFF2-40B4-BE49-F238E27FC236}">
                <a16:creationId xmlns:a16="http://schemas.microsoft.com/office/drawing/2014/main" id="{2B98BEC5-3393-C5E2-68E2-C3540AFFB31F}"/>
              </a:ext>
            </a:extLst>
          </p:cNvPr>
          <p:cNvGraphicFramePr>
            <a:graphicFrameLocks noGrp="1"/>
          </p:cNvGraphicFramePr>
          <p:nvPr/>
        </p:nvGraphicFramePr>
        <p:xfrm>
          <a:off x="785813" y="1143000"/>
          <a:ext cx="7429500" cy="4762500"/>
        </p:xfrm>
        <a:graphic>
          <a:graphicData uri="http://schemas.openxmlformats.org/drawingml/2006/table">
            <a:tbl>
              <a:tblPr/>
              <a:tblGrid>
                <a:gridCol w="1000125">
                  <a:extLst>
                    <a:ext uri="{9D8B030D-6E8A-4147-A177-3AD203B41FA5}">
                      <a16:colId xmlns:a16="http://schemas.microsoft.com/office/drawing/2014/main" val="1118028064"/>
                    </a:ext>
                  </a:extLst>
                </a:gridCol>
                <a:gridCol w="2841625">
                  <a:extLst>
                    <a:ext uri="{9D8B030D-6E8A-4147-A177-3AD203B41FA5}">
                      <a16:colId xmlns:a16="http://schemas.microsoft.com/office/drawing/2014/main" val="2468130711"/>
                    </a:ext>
                  </a:extLst>
                </a:gridCol>
                <a:gridCol w="1087437">
                  <a:extLst>
                    <a:ext uri="{9D8B030D-6E8A-4147-A177-3AD203B41FA5}">
                      <a16:colId xmlns:a16="http://schemas.microsoft.com/office/drawing/2014/main" val="1977203510"/>
                    </a:ext>
                  </a:extLst>
                </a:gridCol>
                <a:gridCol w="2500313">
                  <a:extLst>
                    <a:ext uri="{9D8B030D-6E8A-4147-A177-3AD203B41FA5}">
                      <a16:colId xmlns:a16="http://schemas.microsoft.com/office/drawing/2014/main" val="200486194"/>
                    </a:ext>
                  </a:extLst>
                </a:gridCol>
              </a:tblGrid>
              <a:tr h="571500">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0" lang="zh-CN"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立项</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硬件设备选择</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592905838"/>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提出建议书</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物理模型设计</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074808739"/>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可行性分析</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endParaRPr kumimoji="0" lang="zh-CN"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系统实施</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911505587"/>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评审</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4.1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程序设计</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777400131"/>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0" lang="zh-CN"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系统分析</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4.2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系统调试</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651878292"/>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详细调查</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4.3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文档编写</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04174853"/>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需求分析</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4.4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人员培训</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204125006"/>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逻辑模型设计</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endParaRPr kumimoji="0" lang="zh-CN"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 </a:t>
                      </a: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系统切换</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a:noFill/>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882451289"/>
                  </a:ext>
                </a:extLst>
              </a:tr>
              <a:tr h="5238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endParaRPr kumimoji="0" lang="zh-CN"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系统计划</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endParaRPr kumimoji="0" lang="zh-CN"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系统评价维护</a:t>
                      </a:r>
                      <a:endParaRPr kumimoji="0" lang="zh-CN" altLang="en-US"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737626109"/>
                  </a:ext>
                </a:extLst>
              </a:tr>
            </a:tbl>
          </a:graphicData>
        </a:graphic>
      </p:graphicFrame>
    </p:spTree>
  </p:cSld>
  <p:clrMapOvr>
    <a:masterClrMapping/>
  </p:clrMapOvr>
  <p:transition spd="slow">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C2FD70-B79B-AEFF-61E2-A7B354A17037}"/>
              </a:ext>
            </a:extLst>
          </p:cNvPr>
          <p:cNvSpPr>
            <a:spLocks noGrp="1"/>
          </p:cNvSpPr>
          <p:nvPr>
            <p:ph type="dt" sz="half" idx="10"/>
          </p:nvPr>
        </p:nvSpPr>
        <p:spPr/>
        <p:txBody>
          <a:bodyPr/>
          <a:lstStyle/>
          <a:p>
            <a:r>
              <a:rPr lang="zh-CN" altLang="en-US"/>
              <a:t>讲义制作：李丽，陈志祥审</a:t>
            </a:r>
            <a:endParaRPr lang="en-US" altLang="zh-CN"/>
          </a:p>
        </p:txBody>
      </p:sp>
      <p:sp>
        <p:nvSpPr>
          <p:cNvPr id="317442" name="标题 1">
            <a:extLst>
              <a:ext uri="{FF2B5EF4-FFF2-40B4-BE49-F238E27FC236}">
                <a16:creationId xmlns:a16="http://schemas.microsoft.com/office/drawing/2014/main" id="{DD2CBA3E-2CBF-639B-B63F-D3B870867F13}"/>
              </a:ext>
            </a:extLst>
          </p:cNvPr>
          <p:cNvSpPr>
            <a:spLocks noGrp="1"/>
          </p:cNvSpPr>
          <p:nvPr>
            <p:ph type="title" idx="4294967295"/>
          </p:nvPr>
        </p:nvSpPr>
        <p:spPr/>
        <p:txBody>
          <a:bodyPr/>
          <a:lstStyle/>
          <a:p>
            <a:pPr algn="l"/>
            <a:r>
              <a:rPr lang="zh-CN" altLang="en-US" sz="3200" b="1"/>
              <a:t>（</a:t>
            </a:r>
            <a:r>
              <a:rPr lang="en-US" altLang="zh-CN" sz="3200" b="1"/>
              <a:t>2</a:t>
            </a:r>
            <a:r>
              <a:rPr lang="zh-CN" altLang="en-US" sz="3200" b="1"/>
              <a:t>）编制作业清单</a:t>
            </a:r>
            <a:endParaRPr lang="zh-CN" altLang="en-US" sz="3200"/>
          </a:p>
        </p:txBody>
      </p:sp>
      <p:sp>
        <p:nvSpPr>
          <p:cNvPr id="317443" name="内容占位符 2">
            <a:extLst>
              <a:ext uri="{FF2B5EF4-FFF2-40B4-BE49-F238E27FC236}">
                <a16:creationId xmlns:a16="http://schemas.microsoft.com/office/drawing/2014/main" id="{50CDEDB3-E699-7BE3-AD08-813D71B8F520}"/>
              </a:ext>
            </a:extLst>
          </p:cNvPr>
          <p:cNvSpPr>
            <a:spLocks noGrp="1"/>
          </p:cNvSpPr>
          <p:nvPr>
            <p:ph idx="4294967295"/>
          </p:nvPr>
        </p:nvSpPr>
        <p:spPr>
          <a:xfrm>
            <a:off x="468313" y="1268413"/>
            <a:ext cx="8229600" cy="4495800"/>
          </a:xfrm>
        </p:spPr>
        <p:txBody>
          <a:bodyPr/>
          <a:lstStyle/>
          <a:p>
            <a:r>
              <a:rPr lang="zh-CN" altLang="en-US" sz="2400"/>
              <a:t>工作任务分解完后，要根据工作结构的关系列出作业清单，以便绘制网络图。作业清单一般包括作业的代号、作业名称、作业时间和作业关系。其中两项关键工作是估计作业时间和确定作业之间的关系。</a:t>
            </a:r>
          </a:p>
          <a:p>
            <a:pPr>
              <a:buFontTx/>
              <a:buNone/>
            </a:pPr>
            <a:r>
              <a:rPr lang="en-US" altLang="zh-CN" sz="2400"/>
              <a:t>1</a:t>
            </a:r>
            <a:r>
              <a:rPr lang="zh-CN" altLang="en-US" sz="2400"/>
              <a:t>）确定作业之间的关系</a:t>
            </a:r>
          </a:p>
          <a:p>
            <a:pPr>
              <a:buFontTx/>
              <a:buNone/>
            </a:pPr>
            <a:r>
              <a:rPr lang="en-US" altLang="zh-CN" sz="2400"/>
              <a:t>2</a:t>
            </a:r>
            <a:r>
              <a:rPr lang="zh-CN" altLang="en-US" sz="2400"/>
              <a:t>）作业时间估计</a:t>
            </a:r>
          </a:p>
          <a:p>
            <a:endParaRPr lang="zh-CN" altLang="en-US" sz="2400"/>
          </a:p>
          <a:p>
            <a:endParaRPr lang="en-US" altLang="zh-CN" sz="2400"/>
          </a:p>
        </p:txBody>
      </p:sp>
    </p:spTree>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82A9CB1-E618-D26C-1888-9CD2519E44CB}"/>
              </a:ext>
            </a:extLst>
          </p:cNvPr>
          <p:cNvSpPr>
            <a:spLocks noGrp="1"/>
          </p:cNvSpPr>
          <p:nvPr>
            <p:ph type="dt" sz="half" idx="10"/>
          </p:nvPr>
        </p:nvSpPr>
        <p:spPr/>
        <p:txBody>
          <a:bodyPr/>
          <a:lstStyle/>
          <a:p>
            <a:r>
              <a:rPr lang="zh-CN" altLang="en-US"/>
              <a:t>讲义制作：李丽，陈志祥审</a:t>
            </a:r>
            <a:endParaRPr lang="en-US" altLang="zh-CN"/>
          </a:p>
        </p:txBody>
      </p:sp>
      <p:sp>
        <p:nvSpPr>
          <p:cNvPr id="318466" name="标题 1">
            <a:extLst>
              <a:ext uri="{FF2B5EF4-FFF2-40B4-BE49-F238E27FC236}">
                <a16:creationId xmlns:a16="http://schemas.microsoft.com/office/drawing/2014/main" id="{9F26C91D-1DBD-CCEB-9569-06748542BA49}"/>
              </a:ext>
            </a:extLst>
          </p:cNvPr>
          <p:cNvSpPr>
            <a:spLocks noGrp="1"/>
          </p:cNvSpPr>
          <p:nvPr>
            <p:ph type="title" idx="4294967295"/>
          </p:nvPr>
        </p:nvSpPr>
        <p:spPr>
          <a:xfrm>
            <a:off x="457200" y="311150"/>
            <a:ext cx="8229600" cy="1000125"/>
          </a:xfrm>
        </p:spPr>
        <p:txBody>
          <a:bodyPr/>
          <a:lstStyle/>
          <a:p>
            <a:pPr algn="l"/>
            <a:r>
              <a:rPr lang="en-US" altLang="zh-CN" sz="3200" b="1"/>
              <a:t>1</a:t>
            </a:r>
            <a:r>
              <a:rPr lang="zh-CN" altLang="en-US" sz="3200" b="1"/>
              <a:t>）确定作业的关系</a:t>
            </a:r>
            <a:endParaRPr lang="zh-CN" altLang="en-US" sz="3200"/>
          </a:p>
        </p:txBody>
      </p:sp>
      <p:sp>
        <p:nvSpPr>
          <p:cNvPr id="318467" name="内容占位符 2">
            <a:extLst>
              <a:ext uri="{FF2B5EF4-FFF2-40B4-BE49-F238E27FC236}">
                <a16:creationId xmlns:a16="http://schemas.microsoft.com/office/drawing/2014/main" id="{F20DA81E-EC53-EBB2-30AB-1E829E285D71}"/>
              </a:ext>
            </a:extLst>
          </p:cNvPr>
          <p:cNvSpPr>
            <a:spLocks noGrp="1"/>
          </p:cNvSpPr>
          <p:nvPr>
            <p:ph idx="4294967295"/>
          </p:nvPr>
        </p:nvSpPr>
        <p:spPr/>
        <p:txBody>
          <a:bodyPr/>
          <a:lstStyle/>
          <a:p>
            <a:r>
              <a:rPr lang="zh-CN" altLang="en-US"/>
              <a:t>在项目活动中，作业之间的关系一般用紧前或紧后关系表示。为了压缩整个项目的工期，能平行进行的作业尽量使之平行进行。</a:t>
            </a:r>
          </a:p>
        </p:txBody>
      </p:sp>
    </p:spTree>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895657-321C-8E7A-E336-8B97116B239A}"/>
              </a:ext>
            </a:extLst>
          </p:cNvPr>
          <p:cNvSpPr>
            <a:spLocks noGrp="1"/>
          </p:cNvSpPr>
          <p:nvPr>
            <p:ph type="dt" sz="half" idx="10"/>
          </p:nvPr>
        </p:nvSpPr>
        <p:spPr/>
        <p:txBody>
          <a:bodyPr/>
          <a:lstStyle/>
          <a:p>
            <a:r>
              <a:rPr lang="zh-CN" altLang="en-US"/>
              <a:t>讲义制作：李丽，陈志祥审</a:t>
            </a:r>
            <a:endParaRPr lang="en-US" altLang="zh-CN"/>
          </a:p>
        </p:txBody>
      </p:sp>
      <p:sp>
        <p:nvSpPr>
          <p:cNvPr id="319490" name="标题 1">
            <a:extLst>
              <a:ext uri="{FF2B5EF4-FFF2-40B4-BE49-F238E27FC236}">
                <a16:creationId xmlns:a16="http://schemas.microsoft.com/office/drawing/2014/main" id="{681E0CAF-A4F2-8F8D-CCD9-05C33EBA8CC4}"/>
              </a:ext>
            </a:extLst>
          </p:cNvPr>
          <p:cNvSpPr>
            <a:spLocks noGrp="1"/>
          </p:cNvSpPr>
          <p:nvPr>
            <p:ph type="title" idx="4294967295"/>
          </p:nvPr>
        </p:nvSpPr>
        <p:spPr>
          <a:xfrm>
            <a:off x="100013" y="428625"/>
            <a:ext cx="9043987" cy="857250"/>
          </a:xfrm>
        </p:spPr>
        <p:txBody>
          <a:bodyPr/>
          <a:lstStyle/>
          <a:p>
            <a:r>
              <a:rPr lang="zh-CN" altLang="en-US" sz="2800"/>
              <a:t>表</a:t>
            </a:r>
            <a:r>
              <a:rPr lang="en-US" altLang="zh-CN" sz="2800"/>
              <a:t>11</a:t>
            </a:r>
            <a:r>
              <a:rPr lang="zh-CN" altLang="en-US" sz="2800"/>
              <a:t>－</a:t>
            </a:r>
            <a:r>
              <a:rPr lang="en-US" altLang="zh-CN" sz="2800"/>
              <a:t>2</a:t>
            </a:r>
            <a:r>
              <a:rPr lang="zh-CN" altLang="en-US" sz="2800"/>
              <a:t>为采用单一时间表示的</a:t>
            </a:r>
            <a:r>
              <a:rPr lang="en-US" altLang="zh-CN" sz="2800"/>
              <a:t>X</a:t>
            </a:r>
            <a:r>
              <a:rPr lang="zh-CN" altLang="en-US" sz="2800"/>
              <a:t>公司</a:t>
            </a:r>
            <a:br>
              <a:rPr lang="zh-CN" altLang="en-US" sz="2800"/>
            </a:br>
            <a:r>
              <a:rPr lang="zh-CN" altLang="en-US" sz="2800"/>
              <a:t>新产品生产项目的作业清单。</a:t>
            </a:r>
          </a:p>
        </p:txBody>
      </p:sp>
      <p:graphicFrame>
        <p:nvGraphicFramePr>
          <p:cNvPr id="29760" name="Group 64">
            <a:extLst>
              <a:ext uri="{FF2B5EF4-FFF2-40B4-BE49-F238E27FC236}">
                <a16:creationId xmlns:a16="http://schemas.microsoft.com/office/drawing/2014/main" id="{FDF70CA5-F9E8-CB25-F921-D50234266FE3}"/>
              </a:ext>
            </a:extLst>
          </p:cNvPr>
          <p:cNvGraphicFramePr>
            <a:graphicFrameLocks noGrp="1"/>
          </p:cNvGraphicFramePr>
          <p:nvPr/>
        </p:nvGraphicFramePr>
        <p:xfrm>
          <a:off x="857250" y="1643063"/>
          <a:ext cx="7643813" cy="4281487"/>
        </p:xfrm>
        <a:graphic>
          <a:graphicData uri="http://schemas.openxmlformats.org/drawingml/2006/table">
            <a:tbl>
              <a:tblPr/>
              <a:tblGrid>
                <a:gridCol w="1511300">
                  <a:extLst>
                    <a:ext uri="{9D8B030D-6E8A-4147-A177-3AD203B41FA5}">
                      <a16:colId xmlns:a16="http://schemas.microsoft.com/office/drawing/2014/main" val="5173609"/>
                    </a:ext>
                  </a:extLst>
                </a:gridCol>
                <a:gridCol w="1323975">
                  <a:extLst>
                    <a:ext uri="{9D8B030D-6E8A-4147-A177-3AD203B41FA5}">
                      <a16:colId xmlns:a16="http://schemas.microsoft.com/office/drawing/2014/main" val="2438131066"/>
                    </a:ext>
                  </a:extLst>
                </a:gridCol>
                <a:gridCol w="1322388">
                  <a:extLst>
                    <a:ext uri="{9D8B030D-6E8A-4147-A177-3AD203B41FA5}">
                      <a16:colId xmlns:a16="http://schemas.microsoft.com/office/drawing/2014/main" val="115191410"/>
                    </a:ext>
                  </a:extLst>
                </a:gridCol>
                <a:gridCol w="2178050">
                  <a:extLst>
                    <a:ext uri="{9D8B030D-6E8A-4147-A177-3AD203B41FA5}">
                      <a16:colId xmlns:a16="http://schemas.microsoft.com/office/drawing/2014/main" val="2982888051"/>
                    </a:ext>
                  </a:extLst>
                </a:gridCol>
                <a:gridCol w="1308100">
                  <a:extLst>
                    <a:ext uri="{9D8B030D-6E8A-4147-A177-3AD203B41FA5}">
                      <a16:colId xmlns:a16="http://schemas.microsoft.com/office/drawing/2014/main" val="524585430"/>
                    </a:ext>
                  </a:extLst>
                </a:gridCol>
              </a:tblGrid>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序号</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作业代号</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作业名称</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作业时间（天）</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紧前作业</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970638332"/>
                  </a:ext>
                </a:extLst>
              </a:tr>
              <a:tr h="668338">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产品设计</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20</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473899541"/>
                  </a:ext>
                </a:extLst>
              </a:tr>
              <a:tr h="7016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B</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编制工艺</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15</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823679030"/>
                  </a:ext>
                </a:extLst>
              </a:tr>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C</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外购原料</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20</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B</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235832022"/>
                  </a:ext>
                </a:extLst>
              </a:tr>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零件加工</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30</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B</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596186240"/>
                  </a:ext>
                </a:extLst>
              </a:tr>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E</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装配</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12</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C</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90559949"/>
                  </a:ext>
                </a:extLst>
              </a:tr>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验收</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E</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876781187"/>
                  </a:ext>
                </a:extLst>
              </a:tr>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7</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G</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入库</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4136506385"/>
                  </a:ext>
                </a:extLst>
              </a:tr>
              <a:tr h="4159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H</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发货</a:t>
                      </a:r>
                      <a:endParaRPr kumimoji="0"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G</a:t>
                      </a:r>
                      <a:endParaRPr kumimoji="0" lang="zh-CN"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366502098"/>
                  </a:ext>
                </a:extLst>
              </a:tr>
            </a:tbl>
          </a:graphicData>
        </a:graphic>
      </p:graphicFrame>
    </p:spTree>
  </p:cSld>
  <p:clrMapOvr>
    <a:masterClrMapping/>
  </p:clrMapOvr>
  <p:transition spd="slow">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42DF140-3BAB-FF20-6CD9-81B24FCCF869}"/>
              </a:ext>
            </a:extLst>
          </p:cNvPr>
          <p:cNvSpPr>
            <a:spLocks noGrp="1"/>
          </p:cNvSpPr>
          <p:nvPr>
            <p:ph type="dt" sz="half" idx="10"/>
          </p:nvPr>
        </p:nvSpPr>
        <p:spPr/>
        <p:txBody>
          <a:bodyPr/>
          <a:lstStyle/>
          <a:p>
            <a:r>
              <a:rPr lang="zh-CN" altLang="en-US"/>
              <a:t>讲义制作：李丽，陈志祥审</a:t>
            </a:r>
            <a:endParaRPr lang="en-US" altLang="zh-CN"/>
          </a:p>
        </p:txBody>
      </p:sp>
      <p:sp>
        <p:nvSpPr>
          <p:cNvPr id="320514" name="标题 1">
            <a:extLst>
              <a:ext uri="{FF2B5EF4-FFF2-40B4-BE49-F238E27FC236}">
                <a16:creationId xmlns:a16="http://schemas.microsoft.com/office/drawing/2014/main" id="{13BFEF8F-2CB4-7B7B-CD43-A79FF774BFC4}"/>
              </a:ext>
            </a:extLst>
          </p:cNvPr>
          <p:cNvSpPr>
            <a:spLocks noGrp="1"/>
          </p:cNvSpPr>
          <p:nvPr>
            <p:ph type="title" idx="4294967295"/>
          </p:nvPr>
        </p:nvSpPr>
        <p:spPr/>
        <p:txBody>
          <a:bodyPr/>
          <a:lstStyle/>
          <a:p>
            <a:pPr algn="l"/>
            <a:r>
              <a:rPr lang="en-US" altLang="zh-CN" sz="3200" b="1"/>
              <a:t>2</a:t>
            </a:r>
            <a:r>
              <a:rPr lang="zh-CN" altLang="en-US" sz="3200" b="1"/>
              <a:t>）作业时间估计</a:t>
            </a:r>
            <a:endParaRPr lang="zh-CN" altLang="en-US" sz="3200"/>
          </a:p>
        </p:txBody>
      </p:sp>
      <p:sp>
        <p:nvSpPr>
          <p:cNvPr id="320515" name="内容占位符 2">
            <a:extLst>
              <a:ext uri="{FF2B5EF4-FFF2-40B4-BE49-F238E27FC236}">
                <a16:creationId xmlns:a16="http://schemas.microsoft.com/office/drawing/2014/main" id="{D515856E-BA79-E93A-C09A-B7B1C559E0DC}"/>
              </a:ext>
            </a:extLst>
          </p:cNvPr>
          <p:cNvSpPr>
            <a:spLocks noGrp="1"/>
          </p:cNvSpPr>
          <p:nvPr>
            <p:ph idx="4294967295"/>
          </p:nvPr>
        </p:nvSpPr>
        <p:spPr>
          <a:xfrm>
            <a:off x="395288" y="1484313"/>
            <a:ext cx="8229600" cy="1368425"/>
          </a:xfrm>
        </p:spPr>
        <p:txBody>
          <a:bodyPr/>
          <a:lstStyle/>
          <a:p>
            <a:pPr>
              <a:lnSpc>
                <a:spcPct val="90000"/>
              </a:lnSpc>
              <a:buFontTx/>
              <a:buNone/>
            </a:pPr>
            <a:r>
              <a:rPr lang="zh-CN" altLang="en-US"/>
              <a:t>（</a:t>
            </a:r>
            <a:r>
              <a:rPr lang="en-US" altLang="zh-CN"/>
              <a:t>1</a:t>
            </a:r>
            <a:r>
              <a:rPr lang="zh-CN" altLang="en-US"/>
              <a:t>）单一时间估计法</a:t>
            </a:r>
          </a:p>
          <a:p>
            <a:pPr>
              <a:lnSpc>
                <a:spcPct val="90000"/>
              </a:lnSpc>
              <a:buFontTx/>
              <a:buNone/>
            </a:pPr>
            <a:r>
              <a:rPr lang="zh-CN" altLang="en-US"/>
              <a:t>（</a:t>
            </a:r>
            <a:r>
              <a:rPr lang="en-US" altLang="zh-CN"/>
              <a:t>2</a:t>
            </a:r>
            <a:r>
              <a:rPr lang="zh-CN" altLang="en-US"/>
              <a:t>）三种时间估计法</a:t>
            </a:r>
          </a:p>
          <a:p>
            <a:pPr>
              <a:lnSpc>
                <a:spcPct val="90000"/>
              </a:lnSpc>
              <a:buFontTx/>
              <a:buNone/>
            </a:pPr>
            <a:endParaRPr lang="zh-CN" altLang="en-US"/>
          </a:p>
          <a:p>
            <a:pPr>
              <a:lnSpc>
                <a:spcPct val="90000"/>
              </a:lnSpc>
              <a:buFontTx/>
              <a:buNone/>
            </a:pPr>
            <a:r>
              <a:rPr lang="zh-CN" altLang="en-US" sz="2800"/>
              <a:t>                                                               </a:t>
            </a:r>
          </a:p>
        </p:txBody>
      </p:sp>
      <p:graphicFrame>
        <p:nvGraphicFramePr>
          <p:cNvPr id="320516" name="Object 1">
            <a:extLst>
              <a:ext uri="{FF2B5EF4-FFF2-40B4-BE49-F238E27FC236}">
                <a16:creationId xmlns:a16="http://schemas.microsoft.com/office/drawing/2014/main" id="{864651AB-DF52-77E2-4B7D-1F54F6930715}"/>
              </a:ext>
            </a:extLst>
          </p:cNvPr>
          <p:cNvGraphicFramePr>
            <a:graphicFrameLocks noChangeAspect="1"/>
          </p:cNvGraphicFramePr>
          <p:nvPr/>
        </p:nvGraphicFramePr>
        <p:xfrm>
          <a:off x="2700338" y="3213100"/>
          <a:ext cx="1928812" cy="642938"/>
        </p:xfrm>
        <a:graphic>
          <a:graphicData uri="http://schemas.openxmlformats.org/presentationml/2006/ole">
            <mc:AlternateContent xmlns:mc="http://schemas.openxmlformats.org/markup-compatibility/2006">
              <mc:Choice xmlns:v="urn:schemas-microsoft-com:vml" Requires="v">
                <p:oleObj name="公式" r:id="rId2" imgW="888840" imgH="393480" progId="Equation.3">
                  <p:embed/>
                </p:oleObj>
              </mc:Choice>
              <mc:Fallback>
                <p:oleObj name="公式" r:id="rId2" imgW="888840" imgH="39348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3213100"/>
                        <a:ext cx="1928812" cy="642938"/>
                      </a:xfrm>
                      <a:prstGeom prst="rect">
                        <a:avLst/>
                      </a:prstGeom>
                      <a:solidFill>
                        <a:srgbClr val="FF9900"/>
                      </a:solidFill>
                    </p:spPr>
                  </p:pic>
                </p:oleObj>
              </mc:Fallback>
            </mc:AlternateContent>
          </a:graphicData>
        </a:graphic>
      </p:graphicFrame>
      <p:graphicFrame>
        <p:nvGraphicFramePr>
          <p:cNvPr id="320517" name="Object 3">
            <a:extLst>
              <a:ext uri="{FF2B5EF4-FFF2-40B4-BE49-F238E27FC236}">
                <a16:creationId xmlns:a16="http://schemas.microsoft.com/office/drawing/2014/main" id="{B2C776B5-DB0E-571D-1529-486C7FEE3822}"/>
              </a:ext>
            </a:extLst>
          </p:cNvPr>
          <p:cNvGraphicFramePr>
            <a:graphicFrameLocks noChangeAspect="1"/>
          </p:cNvGraphicFramePr>
          <p:nvPr/>
        </p:nvGraphicFramePr>
        <p:xfrm>
          <a:off x="2700338" y="4221163"/>
          <a:ext cx="1928812" cy="714375"/>
        </p:xfrm>
        <a:graphic>
          <a:graphicData uri="http://schemas.openxmlformats.org/presentationml/2006/ole">
            <mc:AlternateContent xmlns:mc="http://schemas.openxmlformats.org/markup-compatibility/2006">
              <mc:Choice xmlns:v="urn:schemas-microsoft-com:vml" Requires="v">
                <p:oleObj name="公式" r:id="rId4" imgW="875920" imgH="393529" progId="Equation.3">
                  <p:embed/>
                </p:oleObj>
              </mc:Choice>
              <mc:Fallback>
                <p:oleObj name="公式" r:id="rId4" imgW="875920" imgH="39352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4221163"/>
                        <a:ext cx="1928812" cy="714375"/>
                      </a:xfrm>
                      <a:prstGeom prst="rect">
                        <a:avLst/>
                      </a:prstGeom>
                      <a:solidFill>
                        <a:srgbClr val="FF9900"/>
                      </a:solidFill>
                    </p:spPr>
                  </p:pic>
                </p:oleObj>
              </mc:Fallback>
            </mc:AlternateContent>
          </a:graphicData>
        </a:graphic>
      </p:graphicFrame>
    </p:spTree>
  </p:cSld>
  <p:clrMapOvr>
    <a:masterClrMapping/>
  </p:clrMapOvr>
  <p:transition spd="slow">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6710C4-2459-48AA-ED2F-AAB173587D0E}"/>
              </a:ext>
            </a:extLst>
          </p:cNvPr>
          <p:cNvSpPr>
            <a:spLocks noGrp="1"/>
          </p:cNvSpPr>
          <p:nvPr>
            <p:ph type="dt" sz="half" idx="10"/>
          </p:nvPr>
        </p:nvSpPr>
        <p:spPr/>
        <p:txBody>
          <a:bodyPr/>
          <a:lstStyle/>
          <a:p>
            <a:r>
              <a:rPr lang="zh-CN" altLang="en-US"/>
              <a:t>讲义制作：李丽，陈志祥审</a:t>
            </a:r>
            <a:endParaRPr lang="en-US" altLang="zh-CN"/>
          </a:p>
        </p:txBody>
      </p:sp>
      <p:sp>
        <p:nvSpPr>
          <p:cNvPr id="323586" name="标题 1">
            <a:extLst>
              <a:ext uri="{FF2B5EF4-FFF2-40B4-BE49-F238E27FC236}">
                <a16:creationId xmlns:a16="http://schemas.microsoft.com/office/drawing/2014/main" id="{C917F794-1304-DEBD-1DA7-092A1B4F24D3}"/>
              </a:ext>
            </a:extLst>
          </p:cNvPr>
          <p:cNvSpPr>
            <a:spLocks noGrp="1"/>
          </p:cNvSpPr>
          <p:nvPr>
            <p:ph type="title" idx="4294967295"/>
          </p:nvPr>
        </p:nvSpPr>
        <p:spPr/>
        <p:txBody>
          <a:bodyPr/>
          <a:lstStyle/>
          <a:p>
            <a:r>
              <a:rPr lang="zh-CN" altLang="en-US" sz="4000" b="1"/>
              <a:t>（</a:t>
            </a:r>
            <a:r>
              <a:rPr lang="en-US" altLang="zh-CN" sz="4000" b="1"/>
              <a:t>3</a:t>
            </a:r>
            <a:r>
              <a:rPr lang="zh-CN" altLang="en-US" sz="4000" b="1"/>
              <a:t>）绘制网络图</a:t>
            </a:r>
            <a:br>
              <a:rPr lang="zh-CN" altLang="en-US" sz="4000"/>
            </a:br>
            <a:endParaRPr lang="zh-CN" altLang="en-US" sz="4000"/>
          </a:p>
        </p:txBody>
      </p:sp>
      <p:sp>
        <p:nvSpPr>
          <p:cNvPr id="323587" name="内容占位符 2">
            <a:extLst>
              <a:ext uri="{FF2B5EF4-FFF2-40B4-BE49-F238E27FC236}">
                <a16:creationId xmlns:a16="http://schemas.microsoft.com/office/drawing/2014/main" id="{19AB572E-2473-6F4B-A45C-77F317CDB995}"/>
              </a:ext>
            </a:extLst>
          </p:cNvPr>
          <p:cNvSpPr>
            <a:spLocks noGrp="1"/>
          </p:cNvSpPr>
          <p:nvPr>
            <p:ph idx="4294967295"/>
          </p:nvPr>
        </p:nvSpPr>
        <p:spPr>
          <a:xfrm>
            <a:off x="395288" y="1125538"/>
            <a:ext cx="8229600" cy="1992312"/>
          </a:xfrm>
        </p:spPr>
        <p:txBody>
          <a:bodyPr/>
          <a:lstStyle/>
          <a:p>
            <a:pPr>
              <a:buFontTx/>
              <a:buNone/>
            </a:pPr>
            <a:r>
              <a:rPr lang="en-US" altLang="zh-CN" sz="2800"/>
              <a:t>   </a:t>
            </a:r>
            <a:r>
              <a:rPr lang="en-US" altLang="zh-CN" sz="2400"/>
              <a:t>1</a:t>
            </a:r>
            <a:r>
              <a:rPr lang="zh-CN" altLang="en-US" sz="2400"/>
              <a:t>、节点型（</a:t>
            </a:r>
            <a:r>
              <a:rPr lang="en-US" altLang="zh-CN" sz="2400"/>
              <a:t>AON, Activity-on-nod</a:t>
            </a:r>
            <a:r>
              <a:rPr lang="zh-CN" altLang="en-US" sz="2400"/>
              <a:t>）</a:t>
            </a:r>
            <a:r>
              <a:rPr lang="en-US" altLang="zh-CN" sz="2400"/>
              <a:t>(</a:t>
            </a:r>
            <a:r>
              <a:rPr lang="zh-CN" altLang="en-US" sz="2400"/>
              <a:t>也叫单节点网络图</a:t>
            </a:r>
          </a:p>
          <a:p>
            <a:pPr>
              <a:buFontTx/>
              <a:buNone/>
            </a:pPr>
            <a:r>
              <a:rPr lang="zh-CN" altLang="en-US" sz="2400"/>
              <a:t>   </a:t>
            </a:r>
            <a:r>
              <a:rPr lang="en-US" altLang="zh-CN" sz="2400"/>
              <a:t>2</a:t>
            </a:r>
            <a:r>
              <a:rPr lang="zh-CN" altLang="en-US" sz="2400"/>
              <a:t>、箭线型（</a:t>
            </a:r>
            <a:r>
              <a:rPr lang="en-US" altLang="zh-CN" sz="2400"/>
              <a:t>AOA, Activity-on-arrow</a:t>
            </a:r>
            <a:r>
              <a:rPr lang="zh-CN" altLang="en-US" sz="2400"/>
              <a:t>）（也叫双节点网络图）</a:t>
            </a:r>
          </a:p>
          <a:p>
            <a:endParaRPr lang="en-US" altLang="zh-CN" sz="2400"/>
          </a:p>
        </p:txBody>
      </p:sp>
      <p:grpSp>
        <p:nvGrpSpPr>
          <p:cNvPr id="323588" name="Group 2">
            <a:extLst>
              <a:ext uri="{FF2B5EF4-FFF2-40B4-BE49-F238E27FC236}">
                <a16:creationId xmlns:a16="http://schemas.microsoft.com/office/drawing/2014/main" id="{B98FBD40-8632-667C-70CC-AD9C6FEB0183}"/>
              </a:ext>
            </a:extLst>
          </p:cNvPr>
          <p:cNvGrpSpPr>
            <a:grpSpLocks/>
          </p:cNvGrpSpPr>
          <p:nvPr/>
        </p:nvGrpSpPr>
        <p:grpSpPr bwMode="auto">
          <a:xfrm>
            <a:off x="1143000" y="2997200"/>
            <a:ext cx="6572250" cy="2143125"/>
            <a:chOff x="2580" y="9815"/>
            <a:chExt cx="6105" cy="1654"/>
          </a:xfrm>
        </p:grpSpPr>
        <p:grpSp>
          <p:nvGrpSpPr>
            <p:cNvPr id="323589" name="Group 3">
              <a:extLst>
                <a:ext uri="{FF2B5EF4-FFF2-40B4-BE49-F238E27FC236}">
                  <a16:creationId xmlns:a16="http://schemas.microsoft.com/office/drawing/2014/main" id="{2DD05547-C5EA-9C78-4DA5-4DA758C7111B}"/>
                </a:ext>
              </a:extLst>
            </p:cNvPr>
            <p:cNvGrpSpPr>
              <a:grpSpLocks/>
            </p:cNvGrpSpPr>
            <p:nvPr/>
          </p:nvGrpSpPr>
          <p:grpSpPr bwMode="auto">
            <a:xfrm>
              <a:off x="2580" y="9858"/>
              <a:ext cx="2325" cy="1611"/>
              <a:chOff x="2580" y="9858"/>
              <a:chExt cx="2325" cy="1611"/>
            </a:xfrm>
          </p:grpSpPr>
          <p:grpSp>
            <p:nvGrpSpPr>
              <p:cNvPr id="323590" name="Group 4">
                <a:extLst>
                  <a:ext uri="{FF2B5EF4-FFF2-40B4-BE49-F238E27FC236}">
                    <a16:creationId xmlns:a16="http://schemas.microsoft.com/office/drawing/2014/main" id="{EFCA643C-31C7-70FC-FB30-5259D5D20CDF}"/>
                  </a:ext>
                </a:extLst>
              </p:cNvPr>
              <p:cNvGrpSpPr>
                <a:grpSpLocks/>
              </p:cNvGrpSpPr>
              <p:nvPr/>
            </p:nvGrpSpPr>
            <p:grpSpPr bwMode="auto">
              <a:xfrm>
                <a:off x="2760" y="10410"/>
                <a:ext cx="567" cy="567"/>
                <a:chOff x="2760" y="10098"/>
                <a:chExt cx="567" cy="567"/>
              </a:xfrm>
            </p:grpSpPr>
            <p:sp>
              <p:nvSpPr>
                <p:cNvPr id="323591" name="Oval 5">
                  <a:extLst>
                    <a:ext uri="{FF2B5EF4-FFF2-40B4-BE49-F238E27FC236}">
                      <a16:creationId xmlns:a16="http://schemas.microsoft.com/office/drawing/2014/main" id="{B38E7E83-B9BA-C50A-8233-F9F823B41345}"/>
                    </a:ext>
                  </a:extLst>
                </p:cNvPr>
                <p:cNvSpPr>
                  <a:spLocks noChangeArrowheads="1"/>
                </p:cNvSpPr>
                <p:nvPr/>
              </p:nvSpPr>
              <p:spPr bwMode="auto">
                <a:xfrm>
                  <a:off x="2760" y="10098"/>
                  <a:ext cx="567" cy="567"/>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mbria" panose="02040503050406030204" pitchFamily="18" charset="0"/>
                    <a:ea typeface="华文楷体" panose="02010600040101010101" pitchFamily="2" charset="-122"/>
                  </a:endParaRPr>
                </a:p>
              </p:txBody>
            </p:sp>
            <p:sp>
              <p:nvSpPr>
                <p:cNvPr id="323592" name="Text Box 6">
                  <a:extLst>
                    <a:ext uri="{FF2B5EF4-FFF2-40B4-BE49-F238E27FC236}">
                      <a16:creationId xmlns:a16="http://schemas.microsoft.com/office/drawing/2014/main" id="{7AA1C0E3-A09E-DE3C-FDE7-FC3C46F41C82}"/>
                    </a:ext>
                  </a:extLst>
                </p:cNvPr>
                <p:cNvSpPr txBox="1">
                  <a:spLocks noChangeArrowheads="1"/>
                </p:cNvSpPr>
                <p:nvPr/>
              </p:nvSpPr>
              <p:spPr bwMode="auto">
                <a:xfrm>
                  <a:off x="2895" y="10250"/>
                  <a:ext cx="28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A</a:t>
                  </a:r>
                  <a:endParaRPr lang="zh-CN" altLang="zh-CN"/>
                </a:p>
              </p:txBody>
            </p:sp>
          </p:grpSp>
          <p:sp>
            <p:nvSpPr>
              <p:cNvPr id="323593" name="Line 7">
                <a:extLst>
                  <a:ext uri="{FF2B5EF4-FFF2-40B4-BE49-F238E27FC236}">
                    <a16:creationId xmlns:a16="http://schemas.microsoft.com/office/drawing/2014/main" id="{B20CFD9B-0516-4033-04A7-DAA6AC76B585}"/>
                  </a:ext>
                </a:extLst>
              </p:cNvPr>
              <p:cNvSpPr>
                <a:spLocks noChangeShapeType="1"/>
              </p:cNvSpPr>
              <p:nvPr/>
            </p:nvSpPr>
            <p:spPr bwMode="auto">
              <a:xfrm>
                <a:off x="3330" y="10674"/>
                <a:ext cx="8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23594" name="Group 8">
                <a:extLst>
                  <a:ext uri="{FF2B5EF4-FFF2-40B4-BE49-F238E27FC236}">
                    <a16:creationId xmlns:a16="http://schemas.microsoft.com/office/drawing/2014/main" id="{56B5E59B-3BE9-36C6-196C-560632A9BC96}"/>
                  </a:ext>
                </a:extLst>
              </p:cNvPr>
              <p:cNvGrpSpPr>
                <a:grpSpLocks/>
              </p:cNvGrpSpPr>
              <p:nvPr/>
            </p:nvGrpSpPr>
            <p:grpSpPr bwMode="auto">
              <a:xfrm>
                <a:off x="4173" y="10389"/>
                <a:ext cx="567" cy="567"/>
                <a:chOff x="2760" y="10098"/>
                <a:chExt cx="567" cy="567"/>
              </a:xfrm>
            </p:grpSpPr>
            <p:sp>
              <p:nvSpPr>
                <p:cNvPr id="323595" name="Oval 9">
                  <a:extLst>
                    <a:ext uri="{FF2B5EF4-FFF2-40B4-BE49-F238E27FC236}">
                      <a16:creationId xmlns:a16="http://schemas.microsoft.com/office/drawing/2014/main" id="{F391E15A-C96D-25D5-0F7C-0B9EF0D1C226}"/>
                    </a:ext>
                  </a:extLst>
                </p:cNvPr>
                <p:cNvSpPr>
                  <a:spLocks noChangeArrowheads="1"/>
                </p:cNvSpPr>
                <p:nvPr/>
              </p:nvSpPr>
              <p:spPr bwMode="auto">
                <a:xfrm>
                  <a:off x="2760" y="10098"/>
                  <a:ext cx="567" cy="567"/>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mbria" panose="02040503050406030204" pitchFamily="18" charset="0"/>
                    <a:ea typeface="华文楷体" panose="02010600040101010101" pitchFamily="2" charset="-122"/>
                  </a:endParaRPr>
                </a:p>
              </p:txBody>
            </p:sp>
            <p:sp>
              <p:nvSpPr>
                <p:cNvPr id="323596" name="Text Box 10">
                  <a:extLst>
                    <a:ext uri="{FF2B5EF4-FFF2-40B4-BE49-F238E27FC236}">
                      <a16:creationId xmlns:a16="http://schemas.microsoft.com/office/drawing/2014/main" id="{D9F6BB55-AC5A-AD0E-7567-101F8CEF54CD}"/>
                    </a:ext>
                  </a:extLst>
                </p:cNvPr>
                <p:cNvSpPr txBox="1">
                  <a:spLocks noChangeArrowheads="1"/>
                </p:cNvSpPr>
                <p:nvPr/>
              </p:nvSpPr>
              <p:spPr bwMode="auto">
                <a:xfrm>
                  <a:off x="2895" y="10250"/>
                  <a:ext cx="28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B</a:t>
                  </a:r>
                  <a:endParaRPr lang="zh-CN" altLang="zh-CN"/>
                </a:p>
              </p:txBody>
            </p:sp>
          </p:grpSp>
          <p:sp>
            <p:nvSpPr>
              <p:cNvPr id="323597" name="Text Box 11">
                <a:extLst>
                  <a:ext uri="{FF2B5EF4-FFF2-40B4-BE49-F238E27FC236}">
                    <a16:creationId xmlns:a16="http://schemas.microsoft.com/office/drawing/2014/main" id="{FCC7AE0A-C864-FB14-37D7-F7E76ACD770B}"/>
                  </a:ext>
                </a:extLst>
              </p:cNvPr>
              <p:cNvSpPr txBox="1">
                <a:spLocks noChangeArrowheads="1"/>
              </p:cNvSpPr>
              <p:nvPr/>
            </p:nvSpPr>
            <p:spPr bwMode="auto">
              <a:xfrm>
                <a:off x="2580" y="9860"/>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latin typeface="Calibri" panose="020F0502020204030204" pitchFamily="34" charset="0"/>
                  </a:rPr>
                  <a:t>作业</a:t>
                </a:r>
                <a:r>
                  <a:rPr lang="en-US" altLang="zh-CN" sz="1200">
                    <a:latin typeface="Calibri" panose="020F0502020204030204" pitchFamily="34" charset="0"/>
                  </a:rPr>
                  <a:t>A</a:t>
                </a:r>
                <a:endParaRPr lang="zh-CN" altLang="zh-CN" sz="1200"/>
              </a:p>
            </p:txBody>
          </p:sp>
          <p:sp>
            <p:nvSpPr>
              <p:cNvPr id="323598" name="Text Box 12">
                <a:extLst>
                  <a:ext uri="{FF2B5EF4-FFF2-40B4-BE49-F238E27FC236}">
                    <a16:creationId xmlns:a16="http://schemas.microsoft.com/office/drawing/2014/main" id="{8A900C25-1990-BE5D-170D-C7EEA5DDBCEB}"/>
                  </a:ext>
                </a:extLst>
              </p:cNvPr>
              <p:cNvSpPr txBox="1">
                <a:spLocks noChangeArrowheads="1"/>
              </p:cNvSpPr>
              <p:nvPr/>
            </p:nvSpPr>
            <p:spPr bwMode="auto">
              <a:xfrm>
                <a:off x="4005" y="9858"/>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latin typeface="Calibri" panose="020F0502020204030204" pitchFamily="34" charset="0"/>
                  </a:rPr>
                  <a:t>作业</a:t>
                </a:r>
                <a:r>
                  <a:rPr lang="en-US" altLang="zh-CN" sz="1200">
                    <a:latin typeface="Calibri" panose="020F0502020204030204" pitchFamily="34" charset="0"/>
                  </a:rPr>
                  <a:t>B</a:t>
                </a:r>
                <a:endParaRPr lang="zh-CN" altLang="zh-CN" sz="1200"/>
              </a:p>
            </p:txBody>
          </p:sp>
          <p:sp>
            <p:nvSpPr>
              <p:cNvPr id="323599" name="Text Box 13">
                <a:extLst>
                  <a:ext uri="{FF2B5EF4-FFF2-40B4-BE49-F238E27FC236}">
                    <a16:creationId xmlns:a16="http://schemas.microsoft.com/office/drawing/2014/main" id="{E0A4BA36-A3D9-B0E9-7EDC-C9D1AB216868}"/>
                  </a:ext>
                </a:extLst>
              </p:cNvPr>
              <p:cNvSpPr txBox="1">
                <a:spLocks noChangeArrowheads="1"/>
              </p:cNvSpPr>
              <p:nvPr/>
            </p:nvSpPr>
            <p:spPr bwMode="auto">
              <a:xfrm>
                <a:off x="2805" y="11001"/>
                <a:ext cx="19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latin typeface="Calibri" panose="020F0502020204030204" pitchFamily="34" charset="0"/>
                  </a:rPr>
                  <a:t>节点型网络图（</a:t>
                </a:r>
                <a:r>
                  <a:rPr lang="en-US" altLang="zh-CN" sz="1200">
                    <a:latin typeface="Calibri" panose="020F0502020204030204" pitchFamily="34" charset="0"/>
                  </a:rPr>
                  <a:t>AON</a:t>
                </a:r>
                <a:r>
                  <a:rPr lang="zh-CN" altLang="en-US" sz="1200">
                    <a:latin typeface="Calibri" panose="020F0502020204030204" pitchFamily="34" charset="0"/>
                  </a:rPr>
                  <a:t>）</a:t>
                </a:r>
                <a:endParaRPr lang="zh-CN" altLang="en-US" sz="1200"/>
              </a:p>
            </p:txBody>
          </p:sp>
        </p:grpSp>
        <p:grpSp>
          <p:nvGrpSpPr>
            <p:cNvPr id="323600" name="Group 14">
              <a:extLst>
                <a:ext uri="{FF2B5EF4-FFF2-40B4-BE49-F238E27FC236}">
                  <a16:creationId xmlns:a16="http://schemas.microsoft.com/office/drawing/2014/main" id="{72FD9CE9-827F-24F6-8DF9-06B2759C3DDB}"/>
                </a:ext>
              </a:extLst>
            </p:cNvPr>
            <p:cNvGrpSpPr>
              <a:grpSpLocks/>
            </p:cNvGrpSpPr>
            <p:nvPr/>
          </p:nvGrpSpPr>
          <p:grpSpPr bwMode="auto">
            <a:xfrm>
              <a:off x="6660" y="9815"/>
              <a:ext cx="2025" cy="1609"/>
              <a:chOff x="6660" y="9866"/>
              <a:chExt cx="2025" cy="1609"/>
            </a:xfrm>
          </p:grpSpPr>
          <p:grpSp>
            <p:nvGrpSpPr>
              <p:cNvPr id="323601" name="Group 15">
                <a:extLst>
                  <a:ext uri="{FF2B5EF4-FFF2-40B4-BE49-F238E27FC236}">
                    <a16:creationId xmlns:a16="http://schemas.microsoft.com/office/drawing/2014/main" id="{9116FA06-E7A3-07FB-44C5-FB964C85B8E0}"/>
                  </a:ext>
                </a:extLst>
              </p:cNvPr>
              <p:cNvGrpSpPr>
                <a:grpSpLocks/>
              </p:cNvGrpSpPr>
              <p:nvPr/>
            </p:nvGrpSpPr>
            <p:grpSpPr bwMode="auto">
              <a:xfrm>
                <a:off x="6660" y="10416"/>
                <a:ext cx="567" cy="567"/>
                <a:chOff x="2760" y="10098"/>
                <a:chExt cx="567" cy="567"/>
              </a:xfrm>
            </p:grpSpPr>
            <p:sp>
              <p:nvSpPr>
                <p:cNvPr id="323602" name="Oval 16">
                  <a:extLst>
                    <a:ext uri="{FF2B5EF4-FFF2-40B4-BE49-F238E27FC236}">
                      <a16:creationId xmlns:a16="http://schemas.microsoft.com/office/drawing/2014/main" id="{BFAE9D2E-AFA2-0607-A817-AA9454AF1263}"/>
                    </a:ext>
                  </a:extLst>
                </p:cNvPr>
                <p:cNvSpPr>
                  <a:spLocks noChangeArrowheads="1"/>
                </p:cNvSpPr>
                <p:nvPr/>
              </p:nvSpPr>
              <p:spPr bwMode="auto">
                <a:xfrm>
                  <a:off x="2760" y="10098"/>
                  <a:ext cx="567" cy="567"/>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mbria" panose="02040503050406030204" pitchFamily="18" charset="0"/>
                    <a:ea typeface="华文楷体" panose="02010600040101010101" pitchFamily="2" charset="-122"/>
                  </a:endParaRPr>
                </a:p>
              </p:txBody>
            </p:sp>
            <p:sp>
              <p:nvSpPr>
                <p:cNvPr id="323603" name="Text Box 17">
                  <a:extLst>
                    <a:ext uri="{FF2B5EF4-FFF2-40B4-BE49-F238E27FC236}">
                      <a16:creationId xmlns:a16="http://schemas.microsoft.com/office/drawing/2014/main" id="{0A614A8E-914F-612E-2806-6764AEB2545D}"/>
                    </a:ext>
                  </a:extLst>
                </p:cNvPr>
                <p:cNvSpPr txBox="1">
                  <a:spLocks noChangeArrowheads="1"/>
                </p:cNvSpPr>
                <p:nvPr/>
              </p:nvSpPr>
              <p:spPr bwMode="auto">
                <a:xfrm>
                  <a:off x="2895" y="10250"/>
                  <a:ext cx="28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1</a:t>
                  </a:r>
                  <a:endParaRPr lang="zh-CN" altLang="zh-CN"/>
                </a:p>
              </p:txBody>
            </p:sp>
          </p:grpSp>
          <p:sp>
            <p:nvSpPr>
              <p:cNvPr id="323604" name="Line 18">
                <a:extLst>
                  <a:ext uri="{FF2B5EF4-FFF2-40B4-BE49-F238E27FC236}">
                    <a16:creationId xmlns:a16="http://schemas.microsoft.com/office/drawing/2014/main" id="{485D3F1C-6F63-2511-9B42-3138FB7E8F3E}"/>
                  </a:ext>
                </a:extLst>
              </p:cNvPr>
              <p:cNvSpPr>
                <a:spLocks noChangeShapeType="1"/>
              </p:cNvSpPr>
              <p:nvPr/>
            </p:nvSpPr>
            <p:spPr bwMode="auto">
              <a:xfrm>
                <a:off x="7230" y="10680"/>
                <a:ext cx="8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23605" name="Group 19">
                <a:extLst>
                  <a:ext uri="{FF2B5EF4-FFF2-40B4-BE49-F238E27FC236}">
                    <a16:creationId xmlns:a16="http://schemas.microsoft.com/office/drawing/2014/main" id="{817F90E4-8163-B515-B6AD-9C2BF4FE0537}"/>
                  </a:ext>
                </a:extLst>
              </p:cNvPr>
              <p:cNvGrpSpPr>
                <a:grpSpLocks/>
              </p:cNvGrpSpPr>
              <p:nvPr/>
            </p:nvGrpSpPr>
            <p:grpSpPr bwMode="auto">
              <a:xfrm>
                <a:off x="8073" y="10395"/>
                <a:ext cx="567" cy="567"/>
                <a:chOff x="2760" y="10098"/>
                <a:chExt cx="567" cy="567"/>
              </a:xfrm>
            </p:grpSpPr>
            <p:sp>
              <p:nvSpPr>
                <p:cNvPr id="323606" name="Oval 20">
                  <a:extLst>
                    <a:ext uri="{FF2B5EF4-FFF2-40B4-BE49-F238E27FC236}">
                      <a16:creationId xmlns:a16="http://schemas.microsoft.com/office/drawing/2014/main" id="{CC65ACC5-2E03-5F58-C31A-0D2667F65553}"/>
                    </a:ext>
                  </a:extLst>
                </p:cNvPr>
                <p:cNvSpPr>
                  <a:spLocks noChangeArrowheads="1"/>
                </p:cNvSpPr>
                <p:nvPr/>
              </p:nvSpPr>
              <p:spPr bwMode="auto">
                <a:xfrm>
                  <a:off x="2760" y="10098"/>
                  <a:ext cx="567" cy="567"/>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mbria" panose="02040503050406030204" pitchFamily="18" charset="0"/>
                    <a:ea typeface="华文楷体" panose="02010600040101010101" pitchFamily="2" charset="-122"/>
                  </a:endParaRPr>
                </a:p>
              </p:txBody>
            </p:sp>
            <p:sp>
              <p:nvSpPr>
                <p:cNvPr id="323607" name="Text Box 21">
                  <a:extLst>
                    <a:ext uri="{FF2B5EF4-FFF2-40B4-BE49-F238E27FC236}">
                      <a16:creationId xmlns:a16="http://schemas.microsoft.com/office/drawing/2014/main" id="{8E8C310F-63AE-8F9E-1617-1656849500FB}"/>
                    </a:ext>
                  </a:extLst>
                </p:cNvPr>
                <p:cNvSpPr txBox="1">
                  <a:spLocks noChangeArrowheads="1"/>
                </p:cNvSpPr>
                <p:nvPr/>
              </p:nvSpPr>
              <p:spPr bwMode="auto">
                <a:xfrm>
                  <a:off x="2895" y="10250"/>
                  <a:ext cx="28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2</a:t>
                  </a:r>
                  <a:endParaRPr lang="zh-CN" altLang="zh-CN"/>
                </a:p>
              </p:txBody>
            </p:sp>
          </p:grpSp>
          <p:sp>
            <p:nvSpPr>
              <p:cNvPr id="323608" name="Text Box 22">
                <a:extLst>
                  <a:ext uri="{FF2B5EF4-FFF2-40B4-BE49-F238E27FC236}">
                    <a16:creationId xmlns:a16="http://schemas.microsoft.com/office/drawing/2014/main" id="{B0E2CD18-848D-798C-EF54-BA71A43F1B38}"/>
                  </a:ext>
                </a:extLst>
              </p:cNvPr>
              <p:cNvSpPr txBox="1">
                <a:spLocks noChangeArrowheads="1"/>
              </p:cNvSpPr>
              <p:nvPr/>
            </p:nvSpPr>
            <p:spPr bwMode="auto">
              <a:xfrm>
                <a:off x="7200" y="9866"/>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latin typeface="Calibri" panose="020F0502020204030204" pitchFamily="34" charset="0"/>
                  </a:rPr>
                  <a:t>作业</a:t>
                </a:r>
                <a:r>
                  <a:rPr lang="en-US" altLang="zh-CN" sz="1200">
                    <a:latin typeface="Calibri" panose="020F0502020204030204" pitchFamily="34" charset="0"/>
                  </a:rPr>
                  <a:t>A</a:t>
                </a:r>
                <a:endParaRPr lang="zh-CN" altLang="zh-CN" sz="1200"/>
              </a:p>
            </p:txBody>
          </p:sp>
          <p:sp>
            <p:nvSpPr>
              <p:cNvPr id="323609" name="Text Box 23">
                <a:extLst>
                  <a:ext uri="{FF2B5EF4-FFF2-40B4-BE49-F238E27FC236}">
                    <a16:creationId xmlns:a16="http://schemas.microsoft.com/office/drawing/2014/main" id="{FAC80FBD-5B2D-CA44-C98F-0EC3658A3E25}"/>
                  </a:ext>
                </a:extLst>
              </p:cNvPr>
              <p:cNvSpPr txBox="1">
                <a:spLocks noChangeArrowheads="1"/>
              </p:cNvSpPr>
              <p:nvPr/>
            </p:nvSpPr>
            <p:spPr bwMode="auto">
              <a:xfrm>
                <a:off x="6705" y="11007"/>
                <a:ext cx="19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200">
                    <a:latin typeface="Calibri" panose="020F0502020204030204" pitchFamily="34" charset="0"/>
                  </a:rPr>
                  <a:t>箭线型网络图（</a:t>
                </a:r>
                <a:r>
                  <a:rPr lang="en-US" altLang="zh-CN" sz="1200">
                    <a:latin typeface="Calibri" panose="020F0502020204030204" pitchFamily="34" charset="0"/>
                  </a:rPr>
                  <a:t>AOA</a:t>
                </a:r>
                <a:r>
                  <a:rPr lang="zh-CN" altLang="en-US" sz="1200">
                    <a:latin typeface="Calibri" panose="020F0502020204030204" pitchFamily="34" charset="0"/>
                  </a:rPr>
                  <a:t>）</a:t>
                </a:r>
                <a:endParaRPr lang="zh-CN" altLang="en-US" sz="1200"/>
              </a:p>
            </p:txBody>
          </p:sp>
        </p:grpSp>
      </p:grpSp>
    </p:spTree>
  </p:cSld>
  <p:clrMapOvr>
    <a:masterClrMapping/>
  </p:clrMapOvr>
  <p:transition spd="slow">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D16BA24-46F4-C9CE-7796-E1E26FE921E3}"/>
              </a:ext>
            </a:extLst>
          </p:cNvPr>
          <p:cNvSpPr>
            <a:spLocks noGrp="1"/>
          </p:cNvSpPr>
          <p:nvPr>
            <p:ph type="dt" sz="half" idx="10"/>
          </p:nvPr>
        </p:nvSpPr>
        <p:spPr/>
        <p:txBody>
          <a:bodyPr/>
          <a:lstStyle/>
          <a:p>
            <a:r>
              <a:rPr lang="zh-CN" altLang="en-US"/>
              <a:t>讲义制作：李丽，陈志祥审</a:t>
            </a:r>
            <a:endParaRPr lang="en-US" altLang="zh-CN"/>
          </a:p>
        </p:txBody>
      </p:sp>
      <p:sp>
        <p:nvSpPr>
          <p:cNvPr id="324610" name="Rectangle 2">
            <a:extLst>
              <a:ext uri="{FF2B5EF4-FFF2-40B4-BE49-F238E27FC236}">
                <a16:creationId xmlns:a16="http://schemas.microsoft.com/office/drawing/2014/main" id="{D6766B0D-B31C-72B7-B38A-DCC951869D2D}"/>
              </a:ext>
            </a:extLst>
          </p:cNvPr>
          <p:cNvSpPr>
            <a:spLocks noGrp="1"/>
          </p:cNvSpPr>
          <p:nvPr>
            <p:ph type="title" idx="4294967295"/>
          </p:nvPr>
        </p:nvSpPr>
        <p:spPr/>
        <p:txBody>
          <a:bodyPr/>
          <a:lstStyle/>
          <a:p>
            <a:r>
              <a:rPr lang="zh-CN" altLang="en-US" sz="2000" b="1"/>
              <a:t>应用范例</a:t>
            </a:r>
            <a:r>
              <a:rPr lang="en-US" altLang="zh-CN" sz="2000" b="1"/>
              <a:t>11-2</a:t>
            </a:r>
            <a:r>
              <a:rPr lang="zh-CN" altLang="en-US" sz="2000"/>
              <a:t>：</a:t>
            </a:r>
            <a:r>
              <a:rPr lang="en-US" altLang="zh-CN" sz="2000"/>
              <a:t>Z</a:t>
            </a:r>
            <a:r>
              <a:rPr lang="zh-CN" altLang="en-US" sz="2000"/>
              <a:t>装修公司办公楼项目的作业清单如表</a:t>
            </a:r>
            <a:r>
              <a:rPr lang="en-US" altLang="zh-CN" sz="2000"/>
              <a:t>11</a:t>
            </a:r>
            <a:r>
              <a:rPr lang="zh-CN" altLang="en-US" sz="2000"/>
              <a:t>－</a:t>
            </a:r>
            <a:r>
              <a:rPr lang="en-US" altLang="zh-CN" sz="2000"/>
              <a:t>4</a:t>
            </a:r>
            <a:r>
              <a:rPr lang="zh-CN" altLang="en-US" sz="2000"/>
              <a:t>所示，绘制该项目的节点型网络图。</a:t>
            </a:r>
          </a:p>
        </p:txBody>
      </p:sp>
      <p:graphicFrame>
        <p:nvGraphicFramePr>
          <p:cNvPr id="52518" name="Group 294">
            <a:extLst>
              <a:ext uri="{FF2B5EF4-FFF2-40B4-BE49-F238E27FC236}">
                <a16:creationId xmlns:a16="http://schemas.microsoft.com/office/drawing/2014/main" id="{69557AFC-BE26-B384-E6F8-345B882B2350}"/>
              </a:ext>
            </a:extLst>
          </p:cNvPr>
          <p:cNvGraphicFramePr>
            <a:graphicFrameLocks noGrp="1"/>
          </p:cNvGraphicFramePr>
          <p:nvPr>
            <p:ph idx="4294967295"/>
          </p:nvPr>
        </p:nvGraphicFramePr>
        <p:xfrm>
          <a:off x="323850" y="1341438"/>
          <a:ext cx="8229600" cy="4525962"/>
        </p:xfrm>
        <a:graphic>
          <a:graphicData uri="http://schemas.openxmlformats.org/drawingml/2006/table">
            <a:tbl>
              <a:tblPr/>
              <a:tblGrid>
                <a:gridCol w="1557338">
                  <a:extLst>
                    <a:ext uri="{9D8B030D-6E8A-4147-A177-3AD203B41FA5}">
                      <a16:colId xmlns:a16="http://schemas.microsoft.com/office/drawing/2014/main" val="2252233877"/>
                    </a:ext>
                  </a:extLst>
                </a:gridCol>
                <a:gridCol w="1654175">
                  <a:extLst>
                    <a:ext uri="{9D8B030D-6E8A-4147-A177-3AD203B41FA5}">
                      <a16:colId xmlns:a16="http://schemas.microsoft.com/office/drawing/2014/main" val="2412507986"/>
                    </a:ext>
                  </a:extLst>
                </a:gridCol>
                <a:gridCol w="1671637">
                  <a:extLst>
                    <a:ext uri="{9D8B030D-6E8A-4147-A177-3AD203B41FA5}">
                      <a16:colId xmlns:a16="http://schemas.microsoft.com/office/drawing/2014/main" val="990387197"/>
                    </a:ext>
                  </a:extLst>
                </a:gridCol>
                <a:gridCol w="1725613">
                  <a:extLst>
                    <a:ext uri="{9D8B030D-6E8A-4147-A177-3AD203B41FA5}">
                      <a16:colId xmlns:a16="http://schemas.microsoft.com/office/drawing/2014/main" val="4137561768"/>
                    </a:ext>
                  </a:extLst>
                </a:gridCol>
                <a:gridCol w="1620837">
                  <a:extLst>
                    <a:ext uri="{9D8B030D-6E8A-4147-A177-3AD203B41FA5}">
                      <a16:colId xmlns:a16="http://schemas.microsoft.com/office/drawing/2014/main" val="4129378268"/>
                    </a:ext>
                  </a:extLst>
                </a:gridCol>
              </a:tblGrid>
              <a:tr h="84296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作业代号</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作业描述</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紧前作业</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gridSpan="2">
                  <a:txBody>
                    <a:bodyPr/>
                    <a:lstStyle>
                      <a:lvl1pPr marL="342900" indent="-1143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114300" algn="l"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作业时间</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114300" algn="l"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期望值（天）       方差</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hMerge="1">
                  <a:txBody>
                    <a:bodyPr/>
                    <a:lstStyle/>
                    <a:p>
                      <a:endParaRPr lang="zh-CN" altLang="en-US"/>
                    </a:p>
                  </a:txBody>
                  <a:tcPr/>
                </a:tc>
                <a:extLst>
                  <a:ext uri="{0D108BD9-81ED-4DB2-BD59-A6C34878D82A}">
                    <a16:rowId xmlns:a16="http://schemas.microsoft.com/office/drawing/2014/main" val="3604807349"/>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修补办公楼</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455737288"/>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安装外部管道</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295262318"/>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C</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安装内部管道</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260649823"/>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粉刷外墙</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183324460"/>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E</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铺地板</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836721787"/>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F</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粉刷内墙</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C</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469345921"/>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G</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安装内部设备</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E</a:t>
                      </a: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F</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780321970"/>
                  </a:ext>
                </a:extLst>
              </a:tr>
              <a:tr h="460375">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H</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安装外部设备</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333022310"/>
                  </a:ext>
                </a:extLst>
              </a:tr>
            </a:tbl>
          </a:graphicData>
        </a:graphic>
      </p:graphicFrame>
    </p:spTree>
  </p:cSld>
  <p:clrMapOvr>
    <a:masterClrMapping/>
  </p:clrMapOvr>
  <p:transition spd="slow">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77649A2-BB72-C5E0-7812-C97F26794F5B}"/>
              </a:ext>
            </a:extLst>
          </p:cNvPr>
          <p:cNvSpPr>
            <a:spLocks noGrp="1"/>
          </p:cNvSpPr>
          <p:nvPr>
            <p:ph type="dt" sz="half" idx="10"/>
          </p:nvPr>
        </p:nvSpPr>
        <p:spPr/>
        <p:txBody>
          <a:bodyPr/>
          <a:lstStyle/>
          <a:p>
            <a:r>
              <a:rPr lang="zh-CN" altLang="en-US"/>
              <a:t>讲义制作：李丽，陈志祥审</a:t>
            </a:r>
            <a:endParaRPr lang="en-US" altLang="zh-CN"/>
          </a:p>
        </p:txBody>
      </p:sp>
      <p:sp>
        <p:nvSpPr>
          <p:cNvPr id="325634" name="Rectangle 2">
            <a:extLst>
              <a:ext uri="{FF2B5EF4-FFF2-40B4-BE49-F238E27FC236}">
                <a16:creationId xmlns:a16="http://schemas.microsoft.com/office/drawing/2014/main" id="{D7BEA1D4-1DB5-D650-B037-AFAA7085E585}"/>
              </a:ext>
            </a:extLst>
          </p:cNvPr>
          <p:cNvSpPr>
            <a:spLocks noGrp="1"/>
          </p:cNvSpPr>
          <p:nvPr>
            <p:ph type="title" idx="4294967295"/>
          </p:nvPr>
        </p:nvSpPr>
        <p:spPr/>
        <p:txBody>
          <a:bodyPr/>
          <a:lstStyle/>
          <a:p>
            <a:r>
              <a:rPr lang="zh-CN" altLang="en-US" sz="2000" b="1"/>
              <a:t>应用范例</a:t>
            </a:r>
            <a:r>
              <a:rPr lang="en-US" altLang="zh-CN" sz="2000" b="1"/>
              <a:t>11-2</a:t>
            </a:r>
            <a:r>
              <a:rPr lang="zh-CN" altLang="en-US" sz="2000"/>
              <a:t>：</a:t>
            </a:r>
            <a:r>
              <a:rPr lang="en-US" altLang="zh-CN" sz="2000"/>
              <a:t>Z</a:t>
            </a:r>
            <a:r>
              <a:rPr lang="zh-CN" altLang="en-US" sz="2000"/>
              <a:t>装修公司办公楼项目的作业清单如表</a:t>
            </a:r>
            <a:r>
              <a:rPr lang="en-US" altLang="zh-CN" sz="2000"/>
              <a:t>11</a:t>
            </a:r>
            <a:r>
              <a:rPr lang="zh-CN" altLang="en-US" sz="2000"/>
              <a:t>－</a:t>
            </a:r>
            <a:r>
              <a:rPr lang="en-US" altLang="zh-CN" sz="2000"/>
              <a:t>4</a:t>
            </a:r>
            <a:r>
              <a:rPr lang="zh-CN" altLang="en-US" sz="2000"/>
              <a:t>所示，绘制该项目的节点型网络图。</a:t>
            </a:r>
          </a:p>
        </p:txBody>
      </p:sp>
      <p:pic>
        <p:nvPicPr>
          <p:cNvPr id="325635" name="Picture 68">
            <a:extLst>
              <a:ext uri="{FF2B5EF4-FFF2-40B4-BE49-F238E27FC236}">
                <a16:creationId xmlns:a16="http://schemas.microsoft.com/office/drawing/2014/main" id="{C9E5FBAF-430A-7320-5B76-ACE57ABA2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205" t="34000" r="39766" b="33875"/>
          <a:stretch>
            <a:fillRect/>
          </a:stretch>
        </p:blipFill>
        <p:spPr bwMode="auto">
          <a:xfrm>
            <a:off x="1042988" y="1773238"/>
            <a:ext cx="6335712"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D6BDA31-E189-E891-F9CD-F56B4CD4E153}"/>
              </a:ext>
            </a:extLst>
          </p:cNvPr>
          <p:cNvSpPr>
            <a:spLocks noGrp="1"/>
          </p:cNvSpPr>
          <p:nvPr>
            <p:ph type="dt" sz="half" idx="10"/>
          </p:nvPr>
        </p:nvSpPr>
        <p:spPr/>
        <p:txBody>
          <a:bodyPr/>
          <a:lstStyle/>
          <a:p>
            <a:r>
              <a:rPr lang="zh-CN" altLang="en-US"/>
              <a:t>讲义制作：李丽，陈志祥审</a:t>
            </a:r>
            <a:endParaRPr lang="en-US" altLang="zh-CN"/>
          </a:p>
        </p:txBody>
      </p:sp>
      <p:sp>
        <p:nvSpPr>
          <p:cNvPr id="326660" name="Rectangle 4">
            <a:extLst>
              <a:ext uri="{FF2B5EF4-FFF2-40B4-BE49-F238E27FC236}">
                <a16:creationId xmlns:a16="http://schemas.microsoft.com/office/drawing/2014/main" id="{1D8D5029-8BDA-0622-2DC0-2ED37AE5AA67}"/>
              </a:ext>
            </a:extLst>
          </p:cNvPr>
          <p:cNvSpPr>
            <a:spLocks noChangeArrowheads="1"/>
          </p:cNvSpPr>
          <p:nvPr/>
        </p:nvSpPr>
        <p:spPr bwMode="auto">
          <a:xfrm>
            <a:off x="539750" y="835025"/>
            <a:ext cx="64817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chemeClr val="tx2"/>
                </a:solidFill>
                <a:effectLst>
                  <a:outerShdw blurRad="38100" dist="38100" dir="2700000" algn="tl">
                    <a:srgbClr val="000000"/>
                  </a:outerShdw>
                </a:effectLst>
              </a:rPr>
              <a:t>（</a:t>
            </a:r>
            <a:r>
              <a:rPr lang="en-US" altLang="zh-CN" sz="2400" b="1">
                <a:solidFill>
                  <a:schemeClr val="tx2"/>
                </a:solidFill>
                <a:effectLst>
                  <a:outerShdw blurRad="38100" dist="38100" dir="2700000" algn="tl">
                    <a:srgbClr val="000000"/>
                  </a:outerShdw>
                </a:effectLst>
              </a:rPr>
              <a:t>4</a:t>
            </a:r>
            <a:r>
              <a:rPr lang="zh-CN" altLang="en-US" sz="2400" b="1">
                <a:solidFill>
                  <a:schemeClr val="tx2"/>
                </a:solidFill>
                <a:effectLst>
                  <a:outerShdw blurRad="38100" dist="38100" dir="2700000" algn="tl">
                    <a:srgbClr val="000000"/>
                  </a:outerShdw>
                </a:effectLst>
              </a:rPr>
              <a:t>）计算网络时间参数，确定关键路线和工期</a:t>
            </a:r>
            <a:br>
              <a:rPr lang="zh-CN" altLang="en-US" sz="2400" b="1">
                <a:solidFill>
                  <a:schemeClr val="tx2"/>
                </a:solidFill>
                <a:effectLst>
                  <a:outerShdw blurRad="38100" dist="38100" dir="2700000" algn="tl">
                    <a:srgbClr val="000000"/>
                  </a:outerShdw>
                </a:effectLst>
              </a:rPr>
            </a:br>
            <a:endParaRPr lang="zh-CN" altLang="en-US" sz="2400" b="1">
              <a:solidFill>
                <a:schemeClr val="tx2"/>
              </a:solidFill>
              <a:effectLst>
                <a:outerShdw blurRad="38100" dist="38100" dir="2700000" algn="tl">
                  <a:srgbClr val="000000"/>
                </a:outerShdw>
              </a:effectLst>
            </a:endParaRPr>
          </a:p>
        </p:txBody>
      </p:sp>
      <p:sp>
        <p:nvSpPr>
          <p:cNvPr id="326661" name="Text Box 5">
            <a:extLst>
              <a:ext uri="{FF2B5EF4-FFF2-40B4-BE49-F238E27FC236}">
                <a16:creationId xmlns:a16="http://schemas.microsoft.com/office/drawing/2014/main" id="{DEFF4033-250C-5897-C2B2-B191C041D432}"/>
              </a:ext>
            </a:extLst>
          </p:cNvPr>
          <p:cNvSpPr txBox="1">
            <a:spLocks noChangeArrowheads="1"/>
          </p:cNvSpPr>
          <p:nvPr/>
        </p:nvSpPr>
        <p:spPr bwMode="auto">
          <a:xfrm>
            <a:off x="1042988" y="4889500"/>
            <a:ext cx="76327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a:t>网络计划制定以后，就需要下达网络计划，并对计划执行进行控制，包括严格监控资源、成本、质量和预算。控制也涉及不间断的信息反馈，从而对项目计划进行调整，将资源分配到最需要的地方</a:t>
            </a:r>
          </a:p>
        </p:txBody>
      </p:sp>
      <p:sp>
        <p:nvSpPr>
          <p:cNvPr id="326662" name="Rectangle 6">
            <a:extLst>
              <a:ext uri="{FF2B5EF4-FFF2-40B4-BE49-F238E27FC236}">
                <a16:creationId xmlns:a16="http://schemas.microsoft.com/office/drawing/2014/main" id="{B5BD6232-3781-9752-AEE9-50923B7609BF}"/>
              </a:ext>
            </a:extLst>
          </p:cNvPr>
          <p:cNvSpPr>
            <a:spLocks noChangeArrowheads="1"/>
          </p:cNvSpPr>
          <p:nvPr/>
        </p:nvSpPr>
        <p:spPr bwMode="auto">
          <a:xfrm>
            <a:off x="684213" y="4437063"/>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chemeClr val="tx2"/>
                </a:solidFill>
                <a:effectLst>
                  <a:outerShdw blurRad="38100" dist="38100" dir="2700000" algn="tl">
                    <a:srgbClr val="000000"/>
                  </a:outerShdw>
                </a:effectLst>
              </a:rPr>
              <a:t>（</a:t>
            </a:r>
            <a:r>
              <a:rPr lang="en-US" altLang="zh-CN" sz="2400" b="1">
                <a:solidFill>
                  <a:schemeClr val="tx2"/>
                </a:solidFill>
                <a:effectLst>
                  <a:outerShdw blurRad="38100" dist="38100" dir="2700000" algn="tl">
                    <a:srgbClr val="000000"/>
                  </a:outerShdw>
                </a:effectLst>
              </a:rPr>
              <a:t>6</a:t>
            </a:r>
            <a:r>
              <a:rPr lang="zh-CN" altLang="en-US" sz="2400" b="1">
                <a:solidFill>
                  <a:schemeClr val="tx2"/>
                </a:solidFill>
                <a:effectLst>
                  <a:outerShdw blurRad="38100" dist="38100" dir="2700000" algn="tl">
                    <a:srgbClr val="000000"/>
                  </a:outerShdw>
                </a:effectLst>
              </a:rPr>
              <a:t>）网络计划的控制</a:t>
            </a:r>
          </a:p>
        </p:txBody>
      </p:sp>
      <p:sp>
        <p:nvSpPr>
          <p:cNvPr id="326663" name="Rectangle 7">
            <a:extLst>
              <a:ext uri="{FF2B5EF4-FFF2-40B4-BE49-F238E27FC236}">
                <a16:creationId xmlns:a16="http://schemas.microsoft.com/office/drawing/2014/main" id="{C5BF5040-2D48-2A55-734B-07BBE9384969}"/>
              </a:ext>
            </a:extLst>
          </p:cNvPr>
          <p:cNvSpPr>
            <a:spLocks noChangeArrowheads="1"/>
          </p:cNvSpPr>
          <p:nvPr/>
        </p:nvSpPr>
        <p:spPr bwMode="auto">
          <a:xfrm>
            <a:off x="755650" y="2565400"/>
            <a:ext cx="31115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chemeClr val="tx2"/>
                </a:solidFill>
                <a:effectLst>
                  <a:outerShdw blurRad="38100" dist="38100" dir="2700000" algn="tl">
                    <a:srgbClr val="000000"/>
                  </a:outerShdw>
                </a:effectLst>
              </a:rPr>
              <a:t>（</a:t>
            </a:r>
            <a:r>
              <a:rPr lang="en-US" altLang="zh-CN" sz="2400" b="1">
                <a:solidFill>
                  <a:schemeClr val="tx2"/>
                </a:solidFill>
                <a:effectLst>
                  <a:outerShdw blurRad="38100" dist="38100" dir="2700000" algn="tl">
                    <a:srgbClr val="000000"/>
                  </a:outerShdw>
                </a:effectLst>
              </a:rPr>
              <a:t>5</a:t>
            </a:r>
            <a:r>
              <a:rPr lang="zh-CN" altLang="en-US" sz="2400" b="1">
                <a:solidFill>
                  <a:schemeClr val="tx2"/>
                </a:solidFill>
                <a:effectLst>
                  <a:outerShdw blurRad="38100" dist="38100" dir="2700000" algn="tl">
                    <a:srgbClr val="000000"/>
                  </a:outerShdw>
                </a:effectLst>
              </a:rPr>
              <a:t>）网络计划的优化</a:t>
            </a:r>
            <a:br>
              <a:rPr lang="zh-CN" altLang="en-US" sz="2400" b="1">
                <a:solidFill>
                  <a:schemeClr val="tx2"/>
                </a:solidFill>
                <a:effectLst>
                  <a:outerShdw blurRad="38100" dist="38100" dir="2700000" algn="tl">
                    <a:srgbClr val="000000"/>
                  </a:outerShdw>
                </a:effectLst>
              </a:rPr>
            </a:br>
            <a:endParaRPr lang="zh-CN" altLang="en-US" sz="2400" b="1">
              <a:solidFill>
                <a:schemeClr val="tx2"/>
              </a:solidFill>
              <a:effectLst>
                <a:outerShdw blurRad="38100" dist="38100" dir="2700000" algn="tl">
                  <a:srgbClr val="000000"/>
                </a:outerShdw>
              </a:effectLst>
            </a:endParaRPr>
          </a:p>
        </p:txBody>
      </p:sp>
      <p:sp>
        <p:nvSpPr>
          <p:cNvPr id="326665" name="Text Box 9">
            <a:extLst>
              <a:ext uri="{FF2B5EF4-FFF2-40B4-BE49-F238E27FC236}">
                <a16:creationId xmlns:a16="http://schemas.microsoft.com/office/drawing/2014/main" id="{5095DC99-A7ED-6FDA-B836-1FA219596B0E}"/>
              </a:ext>
            </a:extLst>
          </p:cNvPr>
          <p:cNvSpPr txBox="1">
            <a:spLocks noChangeArrowheads="1"/>
          </p:cNvSpPr>
          <p:nvPr/>
        </p:nvSpPr>
        <p:spPr bwMode="auto">
          <a:xfrm>
            <a:off x="900113" y="32131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2"/>
              </a:buClr>
            </a:pPr>
            <a:r>
              <a:rPr lang="en-US" altLang="zh-CN"/>
              <a:t>     </a:t>
            </a:r>
            <a:r>
              <a:rPr lang="zh-CN" altLang="en-US" sz="2000"/>
              <a:t>为了加快项目的进度、减少成本和平衡资源的利用率，常常需要对网络图进行优化，包括时间优化、时间－成本优化、时间－资源优化。</a:t>
            </a:r>
          </a:p>
        </p:txBody>
      </p:sp>
      <p:sp>
        <p:nvSpPr>
          <p:cNvPr id="326666" name="Text Box 10">
            <a:extLst>
              <a:ext uri="{FF2B5EF4-FFF2-40B4-BE49-F238E27FC236}">
                <a16:creationId xmlns:a16="http://schemas.microsoft.com/office/drawing/2014/main" id="{21ED3DFD-419D-F33C-C90D-C1054AA4F491}"/>
              </a:ext>
            </a:extLst>
          </p:cNvPr>
          <p:cNvSpPr txBox="1">
            <a:spLocks noChangeArrowheads="1"/>
          </p:cNvSpPr>
          <p:nvPr/>
        </p:nvSpPr>
        <p:spPr bwMode="auto">
          <a:xfrm>
            <a:off x="971550" y="1557338"/>
            <a:ext cx="71278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sz="2000"/>
              <a:t>计算四种时间参数：活动的最早开始，最晚开始，最早结束，最晚结束。找出时间最长的路线，确定工期。</a:t>
            </a:r>
          </a:p>
        </p:txBody>
      </p:sp>
    </p:spTree>
  </p:cSld>
  <p:clrMapOvr>
    <a:masterClrMapping/>
  </p:clrMapOvr>
  <p:transition spd="slow">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805F9D-BD1E-BEE0-82A9-919C0E151A5E}"/>
              </a:ext>
            </a:extLst>
          </p:cNvPr>
          <p:cNvSpPr>
            <a:spLocks noGrp="1"/>
          </p:cNvSpPr>
          <p:nvPr>
            <p:ph type="dt" sz="half" idx="10"/>
          </p:nvPr>
        </p:nvSpPr>
        <p:spPr/>
        <p:txBody>
          <a:bodyPr/>
          <a:lstStyle/>
          <a:p>
            <a:r>
              <a:rPr lang="zh-CN" altLang="en-US"/>
              <a:t>讲义制作：李丽，陈志祥审</a:t>
            </a:r>
            <a:endParaRPr lang="en-US" altLang="zh-CN"/>
          </a:p>
        </p:txBody>
      </p:sp>
      <p:sp>
        <p:nvSpPr>
          <p:cNvPr id="329730" name="标题 1">
            <a:extLst>
              <a:ext uri="{FF2B5EF4-FFF2-40B4-BE49-F238E27FC236}">
                <a16:creationId xmlns:a16="http://schemas.microsoft.com/office/drawing/2014/main" id="{B7D91C24-4766-F370-B93C-AE48FF2D565C}"/>
              </a:ext>
            </a:extLst>
          </p:cNvPr>
          <p:cNvSpPr>
            <a:spLocks noGrp="1"/>
          </p:cNvSpPr>
          <p:nvPr>
            <p:ph type="title" idx="4294967295"/>
          </p:nvPr>
        </p:nvSpPr>
        <p:spPr/>
        <p:txBody>
          <a:bodyPr/>
          <a:lstStyle/>
          <a:p>
            <a:r>
              <a:rPr lang="zh-CN" altLang="en-US" b="1"/>
              <a:t>三、 网络参数的计算与优化</a:t>
            </a:r>
            <a:endParaRPr lang="zh-CN" altLang="en-US"/>
          </a:p>
        </p:txBody>
      </p:sp>
      <p:sp>
        <p:nvSpPr>
          <p:cNvPr id="329731" name="内容占位符 2">
            <a:extLst>
              <a:ext uri="{FF2B5EF4-FFF2-40B4-BE49-F238E27FC236}">
                <a16:creationId xmlns:a16="http://schemas.microsoft.com/office/drawing/2014/main" id="{E61F6B42-0E6B-248C-06D2-7ED4B6534CA8}"/>
              </a:ext>
            </a:extLst>
          </p:cNvPr>
          <p:cNvSpPr>
            <a:spLocks noGrp="1"/>
          </p:cNvSpPr>
          <p:nvPr>
            <p:ph idx="4294967295"/>
          </p:nvPr>
        </p:nvSpPr>
        <p:spPr>
          <a:xfrm>
            <a:off x="457200" y="1600200"/>
            <a:ext cx="8229600" cy="1612900"/>
          </a:xfrm>
        </p:spPr>
        <p:txBody>
          <a:bodyPr/>
          <a:lstStyle/>
          <a:p>
            <a:pPr>
              <a:buFontTx/>
              <a:buNone/>
            </a:pPr>
            <a:r>
              <a:rPr lang="zh-CN" altLang="en-US"/>
              <a:t>（一）网络参数计算</a:t>
            </a:r>
          </a:p>
          <a:p>
            <a:pPr>
              <a:buFontTx/>
              <a:buNone/>
            </a:pPr>
            <a:r>
              <a:rPr lang="zh-CN" altLang="en-US"/>
              <a:t>（二）时间与费用优化</a:t>
            </a:r>
          </a:p>
          <a:p>
            <a:endParaRPr lang="en-US" altLang="zh-CN"/>
          </a:p>
        </p:txBody>
      </p:sp>
    </p:spTree>
  </p:cSld>
  <p:clrMapOvr>
    <a:masterClrMapping/>
  </p:clrMapOvr>
  <p:transition spd="slow">
    <p:strips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3FAD011-0371-60EF-FC7C-438A10B7C0A6}"/>
              </a:ext>
            </a:extLst>
          </p:cNvPr>
          <p:cNvSpPr>
            <a:spLocks noGrp="1"/>
          </p:cNvSpPr>
          <p:nvPr>
            <p:ph type="dt" sz="half" idx="10"/>
          </p:nvPr>
        </p:nvSpPr>
        <p:spPr/>
        <p:txBody>
          <a:bodyPr/>
          <a:lstStyle/>
          <a:p>
            <a:r>
              <a:rPr lang="zh-CN" altLang="en-US"/>
              <a:t>讲义制作：李丽，陈志祥审</a:t>
            </a:r>
            <a:endParaRPr lang="en-US" altLang="zh-CN"/>
          </a:p>
        </p:txBody>
      </p:sp>
      <p:sp>
        <p:nvSpPr>
          <p:cNvPr id="330754" name="标题 1">
            <a:extLst>
              <a:ext uri="{FF2B5EF4-FFF2-40B4-BE49-F238E27FC236}">
                <a16:creationId xmlns:a16="http://schemas.microsoft.com/office/drawing/2014/main" id="{404830BE-A651-F040-E1DD-DD4881A142E6}"/>
              </a:ext>
            </a:extLst>
          </p:cNvPr>
          <p:cNvSpPr>
            <a:spLocks noGrp="1"/>
          </p:cNvSpPr>
          <p:nvPr>
            <p:ph type="title" idx="4294967295"/>
          </p:nvPr>
        </p:nvSpPr>
        <p:spPr/>
        <p:txBody>
          <a:bodyPr/>
          <a:lstStyle/>
          <a:p>
            <a:r>
              <a:rPr lang="zh-CN" altLang="en-US" sz="4000" b="1"/>
              <a:t>（一）网络参数计算</a:t>
            </a:r>
            <a:br>
              <a:rPr lang="zh-CN" altLang="en-US" sz="4000"/>
            </a:br>
            <a:endParaRPr lang="zh-CN" altLang="en-US" sz="4000"/>
          </a:p>
        </p:txBody>
      </p:sp>
      <p:sp>
        <p:nvSpPr>
          <p:cNvPr id="330755" name="内容占位符 2">
            <a:extLst>
              <a:ext uri="{FF2B5EF4-FFF2-40B4-BE49-F238E27FC236}">
                <a16:creationId xmlns:a16="http://schemas.microsoft.com/office/drawing/2014/main" id="{F9A1A117-3C62-CEB8-DE45-03E8AF0FF918}"/>
              </a:ext>
            </a:extLst>
          </p:cNvPr>
          <p:cNvSpPr>
            <a:spLocks noGrp="1"/>
          </p:cNvSpPr>
          <p:nvPr>
            <p:ph idx="4294967295"/>
          </p:nvPr>
        </p:nvSpPr>
        <p:spPr>
          <a:xfrm>
            <a:off x="428625" y="1143000"/>
            <a:ext cx="8229600" cy="2000250"/>
          </a:xfrm>
        </p:spPr>
        <p:txBody>
          <a:bodyPr/>
          <a:lstStyle/>
          <a:p>
            <a:r>
              <a:rPr lang="zh-CN" altLang="en-US" sz="2400"/>
              <a:t>最早开始时间（</a:t>
            </a:r>
            <a:r>
              <a:rPr lang="en-US" altLang="zh-CN" sz="2400"/>
              <a:t>ES</a:t>
            </a:r>
            <a:r>
              <a:rPr lang="zh-CN" altLang="en-US" sz="2400"/>
              <a:t>）</a:t>
            </a:r>
          </a:p>
          <a:p>
            <a:r>
              <a:rPr lang="zh-CN" altLang="en-US" sz="2400"/>
              <a:t>最早结束时间（</a:t>
            </a:r>
            <a:r>
              <a:rPr lang="en-US" altLang="zh-CN" sz="2400"/>
              <a:t>EF</a:t>
            </a:r>
            <a:r>
              <a:rPr lang="zh-CN" altLang="en-US" sz="2400"/>
              <a:t>）</a:t>
            </a:r>
          </a:p>
          <a:p>
            <a:r>
              <a:rPr lang="zh-CN" altLang="en-US" sz="2400"/>
              <a:t>最迟开始时间（</a:t>
            </a:r>
            <a:r>
              <a:rPr lang="en-US" altLang="zh-CN" sz="2400"/>
              <a:t>LS</a:t>
            </a:r>
            <a:r>
              <a:rPr lang="zh-CN" altLang="en-US" sz="2400"/>
              <a:t>）</a:t>
            </a:r>
          </a:p>
          <a:p>
            <a:r>
              <a:rPr lang="zh-CN" altLang="en-US" sz="2400"/>
              <a:t>最迟结束时间（</a:t>
            </a:r>
            <a:r>
              <a:rPr lang="en-US" altLang="zh-CN" sz="2400"/>
              <a:t>LF</a:t>
            </a:r>
            <a:r>
              <a:rPr lang="zh-CN" altLang="en-US" sz="2400"/>
              <a:t>）</a:t>
            </a:r>
          </a:p>
        </p:txBody>
      </p:sp>
      <p:pic>
        <p:nvPicPr>
          <p:cNvPr id="330757" name="Picture 2" descr="运筹学-Modelxx">
            <a:extLst>
              <a:ext uri="{FF2B5EF4-FFF2-40B4-BE49-F238E27FC236}">
                <a16:creationId xmlns:a16="http://schemas.microsoft.com/office/drawing/2014/main" id="{52FBAC57-4904-0EBE-DE84-55A761C82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644900"/>
            <a:ext cx="5087937"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7B28488-7C34-28EE-F766-2B9861C5D536}"/>
              </a:ext>
            </a:extLst>
          </p:cNvPr>
          <p:cNvSpPr>
            <a:spLocks noGrp="1"/>
          </p:cNvSpPr>
          <p:nvPr>
            <p:ph type="dt" sz="half" idx="10"/>
          </p:nvPr>
        </p:nvSpPr>
        <p:spPr/>
        <p:txBody>
          <a:bodyPr/>
          <a:lstStyle/>
          <a:p>
            <a:r>
              <a:rPr lang="zh-CN" altLang="en-US"/>
              <a:t>讲义制作：李丽，陈志祥审</a:t>
            </a:r>
            <a:endParaRPr lang="en-US" altLang="zh-CN"/>
          </a:p>
        </p:txBody>
      </p:sp>
      <p:sp>
        <p:nvSpPr>
          <p:cNvPr id="331778" name="标题 1">
            <a:extLst>
              <a:ext uri="{FF2B5EF4-FFF2-40B4-BE49-F238E27FC236}">
                <a16:creationId xmlns:a16="http://schemas.microsoft.com/office/drawing/2014/main" id="{06117B1E-C519-668C-6837-0576F47E8621}"/>
              </a:ext>
            </a:extLst>
          </p:cNvPr>
          <p:cNvSpPr>
            <a:spLocks noGrp="1"/>
          </p:cNvSpPr>
          <p:nvPr>
            <p:ph type="title" idx="4294967295"/>
          </p:nvPr>
        </p:nvSpPr>
        <p:spPr>
          <a:xfrm>
            <a:off x="500063" y="214313"/>
            <a:ext cx="8229600" cy="785812"/>
          </a:xfrm>
        </p:spPr>
        <p:txBody>
          <a:bodyPr/>
          <a:lstStyle/>
          <a:p>
            <a:pPr algn="l"/>
            <a:r>
              <a:rPr lang="en-US" altLang="zh-CN" sz="3200" b="1"/>
              <a:t>1. ES</a:t>
            </a:r>
            <a:r>
              <a:rPr lang="zh-CN" altLang="en-US" sz="3200" b="1"/>
              <a:t>和</a:t>
            </a:r>
            <a:r>
              <a:rPr lang="en-US" altLang="zh-CN" sz="3200" b="1"/>
              <a:t>EF</a:t>
            </a:r>
            <a:endParaRPr lang="en-US" altLang="zh-CN" sz="3200"/>
          </a:p>
        </p:txBody>
      </p:sp>
      <p:sp>
        <p:nvSpPr>
          <p:cNvPr id="331779" name="内容占位符 2">
            <a:extLst>
              <a:ext uri="{FF2B5EF4-FFF2-40B4-BE49-F238E27FC236}">
                <a16:creationId xmlns:a16="http://schemas.microsoft.com/office/drawing/2014/main" id="{B6FD7ED5-8556-08DB-35E3-CE6DB5C16107}"/>
              </a:ext>
            </a:extLst>
          </p:cNvPr>
          <p:cNvSpPr>
            <a:spLocks noGrp="1"/>
          </p:cNvSpPr>
          <p:nvPr>
            <p:ph idx="4294967295"/>
          </p:nvPr>
        </p:nvSpPr>
        <p:spPr>
          <a:xfrm>
            <a:off x="571500" y="1000125"/>
            <a:ext cx="8229600" cy="5572125"/>
          </a:xfrm>
        </p:spPr>
        <p:txBody>
          <a:bodyPr/>
          <a:lstStyle/>
          <a:p>
            <a:pPr>
              <a:lnSpc>
                <a:spcPct val="80000"/>
              </a:lnSpc>
              <a:buFontTx/>
              <a:buNone/>
            </a:pPr>
            <a:r>
              <a:rPr lang="zh-CN" altLang="en-US" sz="2700"/>
              <a:t>（</a:t>
            </a:r>
            <a:r>
              <a:rPr lang="en-US" altLang="zh-CN" sz="2700"/>
              <a:t>1</a:t>
            </a:r>
            <a:r>
              <a:rPr lang="zh-CN" altLang="en-US" sz="2700"/>
              <a:t>）如果一项作业只有一个紧前作业，那么它的最早开始时间就是紧前作业的最早结束时间；</a:t>
            </a:r>
          </a:p>
          <a:p>
            <a:pPr>
              <a:lnSpc>
                <a:spcPct val="80000"/>
              </a:lnSpc>
              <a:buFontTx/>
              <a:buNone/>
            </a:pPr>
            <a:r>
              <a:rPr lang="zh-CN" altLang="en-US" sz="2700"/>
              <a:t>（</a:t>
            </a:r>
            <a:r>
              <a:rPr lang="en-US" altLang="zh-CN" sz="2700"/>
              <a:t>2</a:t>
            </a:r>
            <a:r>
              <a:rPr lang="zh-CN" altLang="en-US" sz="2700"/>
              <a:t>）如果一项作业有多个紧前作业，那么它的最早开始时间就是所有紧前作业的最早结束时间的最大值，即</a:t>
            </a:r>
          </a:p>
          <a:p>
            <a:pPr latinLnBrk="1">
              <a:lnSpc>
                <a:spcPct val="80000"/>
              </a:lnSpc>
              <a:buFontTx/>
              <a:buNone/>
            </a:pPr>
            <a:r>
              <a:rPr lang="zh-CN" altLang="en-US" sz="2700"/>
              <a:t>                                                                 （</a:t>
            </a:r>
            <a:r>
              <a:rPr lang="en-US" altLang="zh-CN" sz="2700"/>
              <a:t>11</a:t>
            </a:r>
            <a:r>
              <a:rPr lang="zh-CN" altLang="en-US" sz="2700"/>
              <a:t>－</a:t>
            </a:r>
            <a:r>
              <a:rPr lang="en-US" altLang="zh-CN" sz="2700"/>
              <a:t>3</a:t>
            </a:r>
            <a:r>
              <a:rPr lang="zh-CN" altLang="en-US" sz="2700"/>
              <a:t>）</a:t>
            </a:r>
          </a:p>
          <a:p>
            <a:pPr>
              <a:lnSpc>
                <a:spcPct val="80000"/>
              </a:lnSpc>
              <a:buFontTx/>
              <a:buNone/>
            </a:pPr>
            <a:r>
              <a:rPr lang="zh-CN" altLang="en-US" sz="2700"/>
              <a:t>           最早结束时间（</a:t>
            </a:r>
            <a:r>
              <a:rPr lang="en-US" altLang="zh-CN" sz="2700"/>
              <a:t>EF</a:t>
            </a:r>
            <a:r>
              <a:rPr lang="zh-CN" altLang="en-US" sz="2700"/>
              <a:t>）指作业最早可以完成的时间，是该作业的最早开始时间与该作业持续时间之和，即</a:t>
            </a:r>
          </a:p>
          <a:p>
            <a:pPr latinLnBrk="1">
              <a:lnSpc>
                <a:spcPct val="80000"/>
              </a:lnSpc>
              <a:buFontTx/>
              <a:buNone/>
            </a:pPr>
            <a:r>
              <a:rPr lang="zh-CN" altLang="en-US" sz="2700"/>
              <a:t>                                                                  （</a:t>
            </a:r>
            <a:r>
              <a:rPr lang="en-US" altLang="zh-CN" sz="2700"/>
              <a:t>11</a:t>
            </a:r>
            <a:r>
              <a:rPr lang="zh-CN" altLang="en-US" sz="2700"/>
              <a:t>－</a:t>
            </a:r>
            <a:r>
              <a:rPr lang="en-US" altLang="zh-CN" sz="2700"/>
              <a:t>4</a:t>
            </a:r>
            <a:r>
              <a:rPr lang="zh-CN" altLang="en-US" sz="2700"/>
              <a:t>）</a:t>
            </a:r>
          </a:p>
          <a:p>
            <a:pPr>
              <a:lnSpc>
                <a:spcPct val="80000"/>
              </a:lnSpc>
              <a:buFontTx/>
              <a:buNone/>
            </a:pPr>
            <a:endParaRPr lang="zh-CN" altLang="en-US" sz="2700"/>
          </a:p>
          <a:p>
            <a:pPr>
              <a:lnSpc>
                <a:spcPct val="80000"/>
              </a:lnSpc>
              <a:buFontTx/>
              <a:buNone/>
            </a:pPr>
            <a:r>
              <a:rPr lang="zh-CN" altLang="en-US" sz="2700"/>
              <a:t>          </a:t>
            </a:r>
          </a:p>
        </p:txBody>
      </p:sp>
      <p:sp>
        <p:nvSpPr>
          <p:cNvPr id="331780" name="Rectangle 2">
            <a:extLst>
              <a:ext uri="{FF2B5EF4-FFF2-40B4-BE49-F238E27FC236}">
                <a16:creationId xmlns:a16="http://schemas.microsoft.com/office/drawing/2014/main" id="{B17C0CF0-3EE4-E981-7BBF-B13D54C970F5}"/>
              </a:ext>
            </a:extLst>
          </p:cNvPr>
          <p:cNvSpPr>
            <a:spLocks noChangeArrowheads="1"/>
          </p:cNvSpPr>
          <p:nvPr/>
        </p:nvSpPr>
        <p:spPr bwMode="auto">
          <a:xfrm>
            <a:off x="0" y="-18256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mbria" panose="02040503050406030204" pitchFamily="18" charset="0"/>
              <a:ea typeface="华文楷体" panose="02010600040101010101" pitchFamily="2" charset="-122"/>
            </a:endParaRPr>
          </a:p>
        </p:txBody>
      </p:sp>
      <p:graphicFrame>
        <p:nvGraphicFramePr>
          <p:cNvPr id="331781" name="Object 1">
            <a:extLst>
              <a:ext uri="{FF2B5EF4-FFF2-40B4-BE49-F238E27FC236}">
                <a16:creationId xmlns:a16="http://schemas.microsoft.com/office/drawing/2014/main" id="{204A54BC-B246-3270-B539-B3A2DBA8BF22}"/>
              </a:ext>
            </a:extLst>
          </p:cNvPr>
          <p:cNvGraphicFramePr>
            <a:graphicFrameLocks noChangeAspect="1"/>
          </p:cNvGraphicFramePr>
          <p:nvPr/>
        </p:nvGraphicFramePr>
        <p:xfrm>
          <a:off x="2124075" y="2636838"/>
          <a:ext cx="4286250" cy="428625"/>
        </p:xfrm>
        <a:graphic>
          <a:graphicData uri="http://schemas.openxmlformats.org/presentationml/2006/ole">
            <mc:AlternateContent xmlns:mc="http://schemas.openxmlformats.org/markup-compatibility/2006">
              <mc:Choice xmlns:v="urn:schemas-microsoft-com:vml" Requires="v">
                <p:oleObj name="公式" r:id="rId2" imgW="2019300" imgH="215900" progId="Equation.3">
                  <p:embed/>
                </p:oleObj>
              </mc:Choice>
              <mc:Fallback>
                <p:oleObj name="公式" r:id="rId2" imgW="2019300" imgH="2159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2636838"/>
                        <a:ext cx="4286250" cy="428625"/>
                      </a:xfrm>
                      <a:prstGeom prst="rect">
                        <a:avLst/>
                      </a:prstGeom>
                      <a:solidFill>
                        <a:srgbClr val="FFCC00"/>
                      </a:solidFill>
                    </p:spPr>
                  </p:pic>
                </p:oleObj>
              </mc:Fallback>
            </mc:AlternateContent>
          </a:graphicData>
        </a:graphic>
      </p:graphicFrame>
      <p:sp>
        <p:nvSpPr>
          <p:cNvPr id="331782" name="Rectangle 4">
            <a:extLst>
              <a:ext uri="{FF2B5EF4-FFF2-40B4-BE49-F238E27FC236}">
                <a16:creationId xmlns:a16="http://schemas.microsoft.com/office/drawing/2014/main" id="{A4492182-D63F-B264-DB4C-4A764051887E}"/>
              </a:ext>
            </a:extLst>
          </p:cNvPr>
          <p:cNvSpPr>
            <a:spLocks noChangeArrowheads="1"/>
          </p:cNvSpPr>
          <p:nvPr/>
        </p:nvSpPr>
        <p:spPr bwMode="auto">
          <a:xfrm>
            <a:off x="0" y="-182563"/>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mbria" panose="02040503050406030204" pitchFamily="18" charset="0"/>
              <a:ea typeface="华文楷体" panose="02010600040101010101" pitchFamily="2" charset="-122"/>
            </a:endParaRPr>
          </a:p>
        </p:txBody>
      </p:sp>
      <p:graphicFrame>
        <p:nvGraphicFramePr>
          <p:cNvPr id="331783" name="Object 3">
            <a:extLst>
              <a:ext uri="{FF2B5EF4-FFF2-40B4-BE49-F238E27FC236}">
                <a16:creationId xmlns:a16="http://schemas.microsoft.com/office/drawing/2014/main" id="{0524A504-882E-8C93-F5DC-FB9C6AA635FC}"/>
              </a:ext>
            </a:extLst>
          </p:cNvPr>
          <p:cNvGraphicFramePr>
            <a:graphicFrameLocks noChangeAspect="1"/>
          </p:cNvGraphicFramePr>
          <p:nvPr/>
        </p:nvGraphicFramePr>
        <p:xfrm>
          <a:off x="2268538" y="4365625"/>
          <a:ext cx="4286250" cy="476250"/>
        </p:xfrm>
        <a:graphic>
          <a:graphicData uri="http://schemas.openxmlformats.org/presentationml/2006/ole">
            <mc:AlternateContent xmlns:mc="http://schemas.openxmlformats.org/markup-compatibility/2006">
              <mc:Choice xmlns:v="urn:schemas-microsoft-com:vml" Requires="v">
                <p:oleObj name="公式" r:id="rId4" imgW="1637589" imgH="203112" progId="Equation.3">
                  <p:embed/>
                </p:oleObj>
              </mc:Choice>
              <mc:Fallback>
                <p:oleObj name="公式" r:id="rId4" imgW="1637589" imgH="203112"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4365625"/>
                        <a:ext cx="4286250" cy="476250"/>
                      </a:xfrm>
                      <a:prstGeom prst="rect">
                        <a:avLst/>
                      </a:prstGeom>
                      <a:solidFill>
                        <a:srgbClr val="FFCC00"/>
                      </a:solidFill>
                    </p:spPr>
                  </p:pic>
                </p:oleObj>
              </mc:Fallback>
            </mc:AlternateContent>
          </a:graphicData>
        </a:graphic>
      </p:graphicFrame>
    </p:spTree>
  </p:cSld>
  <p:clrMapOvr>
    <a:masterClrMapping/>
  </p:clrMapOvr>
  <p:transition spd="slow">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BE261DA-D65B-AB6F-5D98-07B1CA33CD08}"/>
              </a:ext>
            </a:extLst>
          </p:cNvPr>
          <p:cNvSpPr>
            <a:spLocks noGrp="1"/>
          </p:cNvSpPr>
          <p:nvPr>
            <p:ph type="dt" sz="half" idx="10"/>
          </p:nvPr>
        </p:nvSpPr>
        <p:spPr/>
        <p:txBody>
          <a:bodyPr/>
          <a:lstStyle/>
          <a:p>
            <a:r>
              <a:rPr lang="zh-CN" altLang="en-US"/>
              <a:t>讲义制作：李丽，陈志祥审</a:t>
            </a:r>
            <a:endParaRPr lang="en-US" altLang="zh-CN"/>
          </a:p>
        </p:txBody>
      </p:sp>
      <p:sp>
        <p:nvSpPr>
          <p:cNvPr id="332802" name="Rectangle 2">
            <a:extLst>
              <a:ext uri="{FF2B5EF4-FFF2-40B4-BE49-F238E27FC236}">
                <a16:creationId xmlns:a16="http://schemas.microsoft.com/office/drawing/2014/main" id="{3D0282B5-6AB7-5661-BBC9-683D932751AE}"/>
              </a:ext>
            </a:extLst>
          </p:cNvPr>
          <p:cNvSpPr>
            <a:spLocks noGrp="1"/>
          </p:cNvSpPr>
          <p:nvPr>
            <p:ph type="title" idx="4294967295"/>
          </p:nvPr>
        </p:nvSpPr>
        <p:spPr/>
        <p:txBody>
          <a:bodyPr/>
          <a:lstStyle/>
          <a:p>
            <a:r>
              <a:rPr lang="zh-CN" altLang="en-US" sz="2000" b="1"/>
              <a:t>应用范例</a:t>
            </a:r>
            <a:r>
              <a:rPr lang="en-US" altLang="zh-CN" sz="2000" b="1"/>
              <a:t>11-3</a:t>
            </a:r>
            <a:r>
              <a:rPr lang="zh-CN" altLang="en-US" sz="2000"/>
              <a:t>：计算</a:t>
            </a:r>
            <a:r>
              <a:rPr lang="en-US" altLang="zh-CN" sz="2000"/>
              <a:t>Z</a:t>
            </a:r>
            <a:r>
              <a:rPr lang="zh-CN" altLang="en-US" sz="2000"/>
              <a:t>装修公司办公楼项目中各作业的最早开始时间和最早结束时间，表</a:t>
            </a:r>
            <a:r>
              <a:rPr lang="en-US" altLang="zh-CN" sz="2000"/>
              <a:t>11</a:t>
            </a:r>
            <a:r>
              <a:rPr lang="zh-CN" altLang="en-US" sz="2000"/>
              <a:t>－</a:t>
            </a:r>
            <a:r>
              <a:rPr lang="en-US" altLang="zh-CN" sz="2000"/>
              <a:t>4</a:t>
            </a:r>
            <a:r>
              <a:rPr lang="zh-CN" altLang="en-US" sz="2000"/>
              <a:t>列出了各作业的持续时间。</a:t>
            </a:r>
          </a:p>
        </p:txBody>
      </p:sp>
      <p:pic>
        <p:nvPicPr>
          <p:cNvPr id="332803" name="Picture 7">
            <a:extLst>
              <a:ext uri="{FF2B5EF4-FFF2-40B4-BE49-F238E27FC236}">
                <a16:creationId xmlns:a16="http://schemas.microsoft.com/office/drawing/2014/main" id="{91C63AC3-5E2E-551A-05B0-AAC33F188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823" t="26459" r="30612" b="23459"/>
          <a:stretch>
            <a:fillRect/>
          </a:stretch>
        </p:blipFill>
        <p:spPr bwMode="auto">
          <a:xfrm>
            <a:off x="1116013" y="1557338"/>
            <a:ext cx="6408737"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4C6FB12-0357-ABF8-AFFE-4564630E5481}"/>
              </a:ext>
            </a:extLst>
          </p:cNvPr>
          <p:cNvSpPr>
            <a:spLocks noGrp="1"/>
          </p:cNvSpPr>
          <p:nvPr>
            <p:ph type="dt" sz="half" idx="10"/>
          </p:nvPr>
        </p:nvSpPr>
        <p:spPr/>
        <p:txBody>
          <a:bodyPr/>
          <a:lstStyle/>
          <a:p>
            <a:r>
              <a:rPr lang="zh-CN" altLang="en-US"/>
              <a:t>讲义制作：李丽，陈志祥审</a:t>
            </a:r>
            <a:endParaRPr lang="en-US" altLang="zh-CN"/>
          </a:p>
        </p:txBody>
      </p:sp>
      <p:sp>
        <p:nvSpPr>
          <p:cNvPr id="333826" name="标题 1">
            <a:extLst>
              <a:ext uri="{FF2B5EF4-FFF2-40B4-BE49-F238E27FC236}">
                <a16:creationId xmlns:a16="http://schemas.microsoft.com/office/drawing/2014/main" id="{7AB87E8A-9F6F-44A6-AFCD-7245FED1BFBF}"/>
              </a:ext>
            </a:extLst>
          </p:cNvPr>
          <p:cNvSpPr>
            <a:spLocks noGrp="1"/>
          </p:cNvSpPr>
          <p:nvPr>
            <p:ph type="title" idx="4294967295"/>
          </p:nvPr>
        </p:nvSpPr>
        <p:spPr>
          <a:xfrm>
            <a:off x="457200" y="454025"/>
            <a:ext cx="8229600" cy="785813"/>
          </a:xfrm>
        </p:spPr>
        <p:txBody>
          <a:bodyPr/>
          <a:lstStyle/>
          <a:p>
            <a:pPr algn="l"/>
            <a:r>
              <a:rPr lang="en-US" altLang="zh-CN" sz="3200" b="1"/>
              <a:t>2. LS</a:t>
            </a:r>
            <a:r>
              <a:rPr lang="zh-CN" altLang="en-US" sz="3200" b="1"/>
              <a:t>和</a:t>
            </a:r>
            <a:r>
              <a:rPr lang="en-US" altLang="zh-CN" sz="3200" b="1"/>
              <a:t>LF</a:t>
            </a:r>
            <a:endParaRPr lang="en-US" altLang="zh-CN" sz="3200"/>
          </a:p>
        </p:txBody>
      </p:sp>
      <p:sp>
        <p:nvSpPr>
          <p:cNvPr id="333827" name="内容占位符 2">
            <a:extLst>
              <a:ext uri="{FF2B5EF4-FFF2-40B4-BE49-F238E27FC236}">
                <a16:creationId xmlns:a16="http://schemas.microsoft.com/office/drawing/2014/main" id="{34BE8A5E-C7FC-7630-01E5-A87257253C4F}"/>
              </a:ext>
            </a:extLst>
          </p:cNvPr>
          <p:cNvSpPr>
            <a:spLocks noGrp="1"/>
          </p:cNvSpPr>
          <p:nvPr>
            <p:ph idx="4294967295"/>
          </p:nvPr>
        </p:nvSpPr>
        <p:spPr>
          <a:xfrm>
            <a:off x="457200" y="1357313"/>
            <a:ext cx="8229600" cy="5143500"/>
          </a:xfrm>
        </p:spPr>
        <p:txBody>
          <a:bodyPr/>
          <a:lstStyle/>
          <a:p>
            <a:pPr>
              <a:lnSpc>
                <a:spcPct val="80000"/>
              </a:lnSpc>
              <a:buFontTx/>
              <a:buNone/>
            </a:pPr>
            <a:r>
              <a:rPr lang="en-US" altLang="zh-CN" sz="2200"/>
              <a:t>           </a:t>
            </a:r>
            <a:r>
              <a:rPr lang="zh-CN" altLang="en-US" sz="2200"/>
              <a:t>如果某项作业只有一个紧后作业，那么它的最迟结束时间就是后面这项作业的最迟开始时间；如果某项作业有多项紧后作业，那么它的最迟结束时间就是其所有紧后作业的最迟开始时间中的最小值，即</a:t>
            </a:r>
          </a:p>
          <a:p>
            <a:pPr latinLnBrk="1">
              <a:lnSpc>
                <a:spcPct val="80000"/>
              </a:lnSpc>
              <a:buFontTx/>
              <a:buNone/>
            </a:pPr>
            <a:r>
              <a:rPr lang="zh-CN" altLang="en-US" sz="2200"/>
              <a:t>                                                                            </a:t>
            </a:r>
          </a:p>
          <a:p>
            <a:pPr>
              <a:lnSpc>
                <a:spcPct val="80000"/>
              </a:lnSpc>
              <a:buFontTx/>
              <a:buNone/>
            </a:pPr>
            <a:endParaRPr lang="zh-CN" altLang="en-US" sz="2200"/>
          </a:p>
          <a:p>
            <a:pPr>
              <a:lnSpc>
                <a:spcPct val="80000"/>
              </a:lnSpc>
              <a:buFontTx/>
              <a:buNone/>
            </a:pPr>
            <a:endParaRPr lang="zh-CN" altLang="en-US" sz="2200"/>
          </a:p>
          <a:p>
            <a:pPr>
              <a:lnSpc>
                <a:spcPct val="80000"/>
              </a:lnSpc>
              <a:buFontTx/>
              <a:buNone/>
            </a:pPr>
            <a:r>
              <a:rPr lang="zh-CN" altLang="en-US" sz="2200"/>
              <a:t>           最迟开始时间（</a:t>
            </a:r>
            <a:r>
              <a:rPr lang="en-US" altLang="zh-CN" sz="2200"/>
              <a:t>LS</a:t>
            </a:r>
            <a:r>
              <a:rPr lang="zh-CN" altLang="en-US" sz="2200"/>
              <a:t>）指在不推迟整个项目工期的前提下作业最迟的开始时间，是其最迟结束时间与该作业持续时间之差，即</a:t>
            </a:r>
          </a:p>
          <a:p>
            <a:pPr latinLnBrk="1">
              <a:lnSpc>
                <a:spcPct val="80000"/>
              </a:lnSpc>
              <a:buFontTx/>
              <a:buNone/>
            </a:pPr>
            <a:r>
              <a:rPr lang="zh-CN" altLang="en-US" sz="2200"/>
              <a:t>                                              </a:t>
            </a:r>
          </a:p>
          <a:p>
            <a:pPr>
              <a:lnSpc>
                <a:spcPct val="80000"/>
              </a:lnSpc>
            </a:pPr>
            <a:endParaRPr lang="en-US" altLang="zh-CN" sz="2200"/>
          </a:p>
        </p:txBody>
      </p:sp>
      <p:sp>
        <p:nvSpPr>
          <p:cNvPr id="333828" name="Rectangle 4">
            <a:extLst>
              <a:ext uri="{FF2B5EF4-FFF2-40B4-BE49-F238E27FC236}">
                <a16:creationId xmlns:a16="http://schemas.microsoft.com/office/drawing/2014/main" id="{3774F4CD-D5EB-1893-98F6-F905AB3EAA74}"/>
              </a:ext>
            </a:extLst>
          </p:cNvPr>
          <p:cNvSpPr>
            <a:spLocks noChangeArrowheads="1"/>
          </p:cNvSpPr>
          <p:nvPr/>
        </p:nvSpPr>
        <p:spPr bwMode="auto">
          <a:xfrm>
            <a:off x="0" y="31464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ea typeface="华文楷体" panose="02010600040101010101" pitchFamily="2" charset="-122"/>
            </a:endParaRPr>
          </a:p>
        </p:txBody>
      </p:sp>
      <p:graphicFrame>
        <p:nvGraphicFramePr>
          <p:cNvPr id="333829" name="Object 3">
            <a:extLst>
              <a:ext uri="{FF2B5EF4-FFF2-40B4-BE49-F238E27FC236}">
                <a16:creationId xmlns:a16="http://schemas.microsoft.com/office/drawing/2014/main" id="{3FD00133-7681-AAC5-318F-DCB5BADB1012}"/>
              </a:ext>
            </a:extLst>
          </p:cNvPr>
          <p:cNvGraphicFramePr>
            <a:graphicFrameLocks noChangeAspect="1"/>
          </p:cNvGraphicFramePr>
          <p:nvPr/>
        </p:nvGraphicFramePr>
        <p:xfrm>
          <a:off x="2268538" y="2781300"/>
          <a:ext cx="3384550" cy="365125"/>
        </p:xfrm>
        <a:graphic>
          <a:graphicData uri="http://schemas.openxmlformats.org/presentationml/2006/ole">
            <mc:AlternateContent xmlns:mc="http://schemas.openxmlformats.org/markup-compatibility/2006">
              <mc:Choice xmlns:v="urn:schemas-microsoft-com:vml" Requires="v">
                <p:oleObj name="公式" r:id="rId2" imgW="1968500" imgH="215900" progId="Equation.3">
                  <p:embed/>
                </p:oleObj>
              </mc:Choice>
              <mc:Fallback>
                <p:oleObj name="公式" r:id="rId2" imgW="1968500" imgH="2159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2781300"/>
                        <a:ext cx="3384550" cy="365125"/>
                      </a:xfrm>
                      <a:prstGeom prst="rect">
                        <a:avLst/>
                      </a:prstGeom>
                      <a:solidFill>
                        <a:srgbClr val="FFCC00"/>
                      </a:solidFill>
                    </p:spPr>
                  </p:pic>
                </p:oleObj>
              </mc:Fallback>
            </mc:AlternateContent>
          </a:graphicData>
        </a:graphic>
      </p:graphicFrame>
      <p:graphicFrame>
        <p:nvGraphicFramePr>
          <p:cNvPr id="333831" name="Object 5">
            <a:extLst>
              <a:ext uri="{FF2B5EF4-FFF2-40B4-BE49-F238E27FC236}">
                <a16:creationId xmlns:a16="http://schemas.microsoft.com/office/drawing/2014/main" id="{C0F8ED0F-8DF5-A54A-10A2-C5C80C7E0B57}"/>
              </a:ext>
            </a:extLst>
          </p:cNvPr>
          <p:cNvGraphicFramePr>
            <a:graphicFrameLocks noChangeAspect="1"/>
          </p:cNvGraphicFramePr>
          <p:nvPr/>
        </p:nvGraphicFramePr>
        <p:xfrm>
          <a:off x="2339975" y="4508500"/>
          <a:ext cx="2808288" cy="349250"/>
        </p:xfrm>
        <a:graphic>
          <a:graphicData uri="http://schemas.openxmlformats.org/presentationml/2006/ole">
            <mc:AlternateContent xmlns:mc="http://schemas.openxmlformats.org/markup-compatibility/2006">
              <mc:Choice xmlns:v="urn:schemas-microsoft-com:vml" Requires="v">
                <p:oleObj name="公式" r:id="rId4" imgW="1625600" imgH="203200" progId="Equation.3">
                  <p:embed/>
                </p:oleObj>
              </mc:Choice>
              <mc:Fallback>
                <p:oleObj name="公式" r:id="rId4" imgW="1625600" imgH="203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4508500"/>
                        <a:ext cx="2808288" cy="349250"/>
                      </a:xfrm>
                      <a:prstGeom prst="rect">
                        <a:avLst/>
                      </a:prstGeom>
                      <a:solidFill>
                        <a:srgbClr val="FFCC00"/>
                      </a:solidFill>
                    </p:spPr>
                  </p:pic>
                </p:oleObj>
              </mc:Fallback>
            </mc:AlternateContent>
          </a:graphicData>
        </a:graphic>
      </p:graphicFrame>
    </p:spTree>
  </p:cSld>
  <p:clrMapOvr>
    <a:masterClrMapping/>
  </p:clrMapOvr>
  <p:transition spd="slow">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1CA29DA-E2A2-23DF-4AE5-5E43AFAE6733}"/>
              </a:ext>
            </a:extLst>
          </p:cNvPr>
          <p:cNvSpPr>
            <a:spLocks noGrp="1"/>
          </p:cNvSpPr>
          <p:nvPr>
            <p:ph type="dt" sz="half" idx="10"/>
          </p:nvPr>
        </p:nvSpPr>
        <p:spPr/>
        <p:txBody>
          <a:bodyPr/>
          <a:lstStyle/>
          <a:p>
            <a:r>
              <a:rPr lang="zh-CN" altLang="en-US"/>
              <a:t>讲义制作：李丽，陈志祥审</a:t>
            </a:r>
            <a:endParaRPr lang="en-US" altLang="zh-CN"/>
          </a:p>
        </p:txBody>
      </p:sp>
      <p:sp>
        <p:nvSpPr>
          <p:cNvPr id="334850" name="Rectangle 2">
            <a:extLst>
              <a:ext uri="{FF2B5EF4-FFF2-40B4-BE49-F238E27FC236}">
                <a16:creationId xmlns:a16="http://schemas.microsoft.com/office/drawing/2014/main" id="{A0026B79-98BA-7DF0-5AEB-8AA46A880097}"/>
              </a:ext>
            </a:extLst>
          </p:cNvPr>
          <p:cNvSpPr>
            <a:spLocks noGrp="1"/>
          </p:cNvSpPr>
          <p:nvPr>
            <p:ph type="title" idx="4294967295"/>
          </p:nvPr>
        </p:nvSpPr>
        <p:spPr/>
        <p:txBody>
          <a:bodyPr/>
          <a:lstStyle/>
          <a:p>
            <a:r>
              <a:rPr lang="zh-CN" altLang="en-US" sz="2000" b="1"/>
              <a:t>应用范例</a:t>
            </a:r>
            <a:r>
              <a:rPr lang="en-US" altLang="zh-CN" sz="2000" b="1"/>
              <a:t>11-4</a:t>
            </a:r>
            <a:r>
              <a:rPr lang="zh-CN" altLang="en-US" sz="2000"/>
              <a:t>：计算</a:t>
            </a:r>
            <a:r>
              <a:rPr lang="en-US" altLang="zh-CN" sz="2000"/>
              <a:t>Z</a:t>
            </a:r>
            <a:r>
              <a:rPr lang="zh-CN" altLang="en-US" sz="2000"/>
              <a:t>装修公司办公楼项目中各作业的最迟结束时间和最迟开始时间，表</a:t>
            </a:r>
            <a:r>
              <a:rPr lang="en-US" altLang="zh-CN" sz="2000"/>
              <a:t>11</a:t>
            </a:r>
            <a:r>
              <a:rPr lang="zh-CN" altLang="en-US" sz="2000"/>
              <a:t>－</a:t>
            </a:r>
            <a:r>
              <a:rPr lang="en-US" altLang="zh-CN" sz="2000"/>
              <a:t>4</a:t>
            </a:r>
            <a:r>
              <a:rPr lang="zh-CN" altLang="en-US" sz="2000"/>
              <a:t>列出了各作业的持续时间。</a:t>
            </a:r>
          </a:p>
        </p:txBody>
      </p:sp>
      <p:pic>
        <p:nvPicPr>
          <p:cNvPr id="334851" name="Picture 4">
            <a:extLst>
              <a:ext uri="{FF2B5EF4-FFF2-40B4-BE49-F238E27FC236}">
                <a16:creationId xmlns:a16="http://schemas.microsoft.com/office/drawing/2014/main" id="{FB15CE39-5D4C-ABD5-FF4A-B302F1A46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893" t="26459" r="33749" b="33667"/>
          <a:stretch>
            <a:fillRect/>
          </a:stretch>
        </p:blipFill>
        <p:spPr bwMode="auto">
          <a:xfrm>
            <a:off x="755650" y="1557338"/>
            <a:ext cx="7200900" cy="378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2489E6-E07D-4D65-5CBC-01317F32117D}"/>
              </a:ext>
            </a:extLst>
          </p:cNvPr>
          <p:cNvSpPr>
            <a:spLocks noGrp="1"/>
          </p:cNvSpPr>
          <p:nvPr>
            <p:ph type="dt" sz="half" idx="10"/>
          </p:nvPr>
        </p:nvSpPr>
        <p:spPr/>
        <p:txBody>
          <a:bodyPr/>
          <a:lstStyle/>
          <a:p>
            <a:r>
              <a:rPr lang="zh-CN" altLang="en-US"/>
              <a:t>讲义制作：李丽，陈志祥审</a:t>
            </a:r>
            <a:endParaRPr lang="en-US" altLang="zh-CN"/>
          </a:p>
        </p:txBody>
      </p:sp>
      <p:sp>
        <p:nvSpPr>
          <p:cNvPr id="335874" name="标题 1">
            <a:extLst>
              <a:ext uri="{FF2B5EF4-FFF2-40B4-BE49-F238E27FC236}">
                <a16:creationId xmlns:a16="http://schemas.microsoft.com/office/drawing/2014/main" id="{A4630AD1-2C2A-C016-0F6F-280BD269890C}"/>
              </a:ext>
            </a:extLst>
          </p:cNvPr>
          <p:cNvSpPr>
            <a:spLocks noGrp="1"/>
          </p:cNvSpPr>
          <p:nvPr>
            <p:ph type="title" idx="4294967295"/>
          </p:nvPr>
        </p:nvSpPr>
        <p:spPr>
          <a:xfrm>
            <a:off x="457200" y="382588"/>
            <a:ext cx="8229600" cy="928687"/>
          </a:xfrm>
        </p:spPr>
        <p:txBody>
          <a:bodyPr/>
          <a:lstStyle/>
          <a:p>
            <a:pPr algn="l"/>
            <a:r>
              <a:rPr lang="en-US" altLang="zh-CN" sz="3200" b="1"/>
              <a:t>3. </a:t>
            </a:r>
            <a:r>
              <a:rPr lang="zh-CN" altLang="en-US" sz="3200" b="1"/>
              <a:t>时差和关键路线</a:t>
            </a:r>
            <a:endParaRPr lang="zh-CN" altLang="en-US" sz="3200"/>
          </a:p>
        </p:txBody>
      </p:sp>
      <p:sp>
        <p:nvSpPr>
          <p:cNvPr id="335875" name="内容占位符 2">
            <a:extLst>
              <a:ext uri="{FF2B5EF4-FFF2-40B4-BE49-F238E27FC236}">
                <a16:creationId xmlns:a16="http://schemas.microsoft.com/office/drawing/2014/main" id="{D4FC4D8C-073C-F010-D495-6B20CD9D8AE4}"/>
              </a:ext>
            </a:extLst>
          </p:cNvPr>
          <p:cNvSpPr>
            <a:spLocks noGrp="1"/>
          </p:cNvSpPr>
          <p:nvPr>
            <p:ph idx="4294967295"/>
          </p:nvPr>
        </p:nvSpPr>
        <p:spPr/>
        <p:txBody>
          <a:bodyPr/>
          <a:lstStyle/>
          <a:p>
            <a:pPr>
              <a:lnSpc>
                <a:spcPct val="80000"/>
              </a:lnSpc>
            </a:pPr>
            <a:r>
              <a:rPr lang="zh-CN" altLang="en-US" sz="2700"/>
              <a:t>关键路线的定义与确定方法</a:t>
            </a:r>
          </a:p>
          <a:p>
            <a:pPr>
              <a:lnSpc>
                <a:spcPct val="80000"/>
              </a:lnSpc>
            </a:pPr>
            <a:r>
              <a:rPr lang="zh-CN" altLang="en-US" sz="2700"/>
              <a:t>时差的定义与计算方法：</a:t>
            </a:r>
          </a:p>
          <a:p>
            <a:pPr>
              <a:lnSpc>
                <a:spcPct val="80000"/>
              </a:lnSpc>
            </a:pPr>
            <a:endParaRPr lang="zh-CN" altLang="en-US" sz="2700"/>
          </a:p>
          <a:p>
            <a:pPr>
              <a:lnSpc>
                <a:spcPct val="80000"/>
              </a:lnSpc>
              <a:buFontTx/>
              <a:buNone/>
            </a:pPr>
            <a:r>
              <a:rPr lang="zh-CN" altLang="en-US" sz="2700"/>
              <a:t>         时差＝</a:t>
            </a:r>
            <a:r>
              <a:rPr lang="en-US" altLang="zh-CN" sz="2700"/>
              <a:t>LS</a:t>
            </a:r>
            <a:r>
              <a:rPr lang="zh-CN" altLang="en-US" sz="2700"/>
              <a:t>－</a:t>
            </a:r>
            <a:r>
              <a:rPr lang="en-US" altLang="zh-CN" sz="2700"/>
              <a:t>ES   </a:t>
            </a:r>
          </a:p>
          <a:p>
            <a:pPr>
              <a:lnSpc>
                <a:spcPct val="80000"/>
              </a:lnSpc>
              <a:buFontTx/>
              <a:buNone/>
            </a:pPr>
            <a:r>
              <a:rPr lang="zh-CN" altLang="en-US" sz="2700"/>
              <a:t>或 </a:t>
            </a:r>
          </a:p>
          <a:p>
            <a:pPr>
              <a:lnSpc>
                <a:spcPct val="80000"/>
              </a:lnSpc>
              <a:buFontTx/>
              <a:buNone/>
            </a:pPr>
            <a:r>
              <a:rPr lang="zh-CN" altLang="en-US" sz="2700"/>
              <a:t>         时差＝</a:t>
            </a:r>
            <a:r>
              <a:rPr lang="en-US" altLang="zh-CN" sz="2700"/>
              <a:t>LF</a:t>
            </a:r>
            <a:r>
              <a:rPr lang="zh-CN" altLang="en-US" sz="2700"/>
              <a:t>－</a:t>
            </a:r>
            <a:r>
              <a:rPr lang="en-US" altLang="zh-CN" sz="2700"/>
              <a:t>EF</a:t>
            </a:r>
          </a:p>
        </p:txBody>
      </p:sp>
    </p:spTree>
  </p:cSld>
  <p:clrMapOvr>
    <a:masterClrMapping/>
  </p:clrMapOvr>
  <p:transition spd="slow">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104BB19-8738-3A68-CC8E-17149E542FC1}"/>
              </a:ext>
            </a:extLst>
          </p:cNvPr>
          <p:cNvSpPr>
            <a:spLocks noGrp="1"/>
          </p:cNvSpPr>
          <p:nvPr>
            <p:ph type="dt" sz="half" idx="10"/>
          </p:nvPr>
        </p:nvSpPr>
        <p:spPr/>
        <p:txBody>
          <a:bodyPr/>
          <a:lstStyle/>
          <a:p>
            <a:r>
              <a:rPr lang="zh-CN" altLang="en-US"/>
              <a:t>讲义制作：李丽，陈志祥审</a:t>
            </a:r>
            <a:endParaRPr lang="en-US" altLang="zh-CN"/>
          </a:p>
        </p:txBody>
      </p:sp>
      <p:sp>
        <p:nvSpPr>
          <p:cNvPr id="336898" name="Rectangle 2">
            <a:extLst>
              <a:ext uri="{FF2B5EF4-FFF2-40B4-BE49-F238E27FC236}">
                <a16:creationId xmlns:a16="http://schemas.microsoft.com/office/drawing/2014/main" id="{09298C46-BCDD-A85A-03E0-27F5EC6515E7}"/>
              </a:ext>
            </a:extLst>
          </p:cNvPr>
          <p:cNvSpPr>
            <a:spLocks noGrp="1"/>
          </p:cNvSpPr>
          <p:nvPr>
            <p:ph type="title" idx="4294967295"/>
          </p:nvPr>
        </p:nvSpPr>
        <p:spPr/>
        <p:txBody>
          <a:bodyPr/>
          <a:lstStyle/>
          <a:p>
            <a:r>
              <a:rPr lang="zh-CN" altLang="en-US" sz="2000" b="1"/>
              <a:t>应用范例</a:t>
            </a:r>
            <a:r>
              <a:rPr lang="en-US" altLang="zh-CN" sz="2000" b="1"/>
              <a:t>11-5</a:t>
            </a:r>
            <a:r>
              <a:rPr lang="zh-CN" altLang="en-US" sz="2000"/>
              <a:t>：计算</a:t>
            </a:r>
            <a:r>
              <a:rPr lang="en-US" altLang="zh-CN" sz="2000"/>
              <a:t>Z</a:t>
            </a:r>
            <a:r>
              <a:rPr lang="zh-CN" altLang="en-US" sz="2000"/>
              <a:t>装修公司办公楼项目中各作业的时差并确定该项目的关键路线。</a:t>
            </a:r>
          </a:p>
        </p:txBody>
      </p:sp>
      <p:pic>
        <p:nvPicPr>
          <p:cNvPr id="336899" name="Picture 4">
            <a:extLst>
              <a:ext uri="{FF2B5EF4-FFF2-40B4-BE49-F238E27FC236}">
                <a16:creationId xmlns:a16="http://schemas.microsoft.com/office/drawing/2014/main" id="{A8668597-A97B-B96E-904C-C5EE48892C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136" t="39688" r="32669" b="13063"/>
          <a:stretch>
            <a:fillRect/>
          </a:stretch>
        </p:blipFill>
        <p:spPr bwMode="auto">
          <a:xfrm>
            <a:off x="1476375" y="1484313"/>
            <a:ext cx="6119813"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1009ACD-7DB6-BAF5-1D9E-949986708048}"/>
              </a:ext>
            </a:extLst>
          </p:cNvPr>
          <p:cNvSpPr>
            <a:spLocks noGrp="1"/>
          </p:cNvSpPr>
          <p:nvPr>
            <p:ph type="dt" sz="half" idx="10"/>
          </p:nvPr>
        </p:nvSpPr>
        <p:spPr/>
        <p:txBody>
          <a:bodyPr/>
          <a:lstStyle/>
          <a:p>
            <a:r>
              <a:rPr lang="zh-CN" altLang="en-US"/>
              <a:t>讲义制作：李丽，陈志祥审</a:t>
            </a:r>
            <a:endParaRPr lang="en-US" altLang="zh-CN"/>
          </a:p>
        </p:txBody>
      </p:sp>
      <p:sp>
        <p:nvSpPr>
          <p:cNvPr id="337922" name="Rectangle 2">
            <a:extLst>
              <a:ext uri="{FF2B5EF4-FFF2-40B4-BE49-F238E27FC236}">
                <a16:creationId xmlns:a16="http://schemas.microsoft.com/office/drawing/2014/main" id="{88DC2E05-001D-D7B9-2171-AE32164DDDBB}"/>
              </a:ext>
            </a:extLst>
          </p:cNvPr>
          <p:cNvSpPr>
            <a:spLocks noGrp="1"/>
          </p:cNvSpPr>
          <p:nvPr>
            <p:ph type="title" idx="4294967295"/>
          </p:nvPr>
        </p:nvSpPr>
        <p:spPr/>
        <p:txBody>
          <a:bodyPr/>
          <a:lstStyle/>
          <a:p>
            <a:r>
              <a:rPr lang="en-US" altLang="zh-CN" sz="4000"/>
              <a:t>4. </a:t>
            </a:r>
            <a:r>
              <a:rPr lang="zh-CN" altLang="en-US" sz="4000"/>
              <a:t>不确定性因素与项目完成的概率</a:t>
            </a:r>
          </a:p>
        </p:txBody>
      </p:sp>
      <p:pic>
        <p:nvPicPr>
          <p:cNvPr id="337923" name="Picture 4">
            <a:extLst>
              <a:ext uri="{FF2B5EF4-FFF2-40B4-BE49-F238E27FC236}">
                <a16:creationId xmlns:a16="http://schemas.microsoft.com/office/drawing/2014/main" id="{79DE6C78-A759-C2F9-A5DF-B9721D939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364" t="28334" r="28645" b="20645"/>
          <a:stretch>
            <a:fillRect/>
          </a:stretch>
        </p:blipFill>
        <p:spPr bwMode="auto">
          <a:xfrm>
            <a:off x="539750" y="1412875"/>
            <a:ext cx="7921625"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B06D91-88D7-B8E9-28FE-B70AC968E61D}"/>
              </a:ext>
            </a:extLst>
          </p:cNvPr>
          <p:cNvSpPr>
            <a:spLocks noGrp="1"/>
          </p:cNvSpPr>
          <p:nvPr>
            <p:ph type="dt" sz="half" idx="10"/>
          </p:nvPr>
        </p:nvSpPr>
        <p:spPr/>
        <p:txBody>
          <a:bodyPr/>
          <a:lstStyle/>
          <a:p>
            <a:r>
              <a:rPr lang="zh-CN" altLang="en-US"/>
              <a:t>讲义制作：李丽，陈志祥审</a:t>
            </a:r>
            <a:endParaRPr lang="en-US" altLang="zh-CN"/>
          </a:p>
        </p:txBody>
      </p:sp>
      <p:sp>
        <p:nvSpPr>
          <p:cNvPr id="338946" name="Rectangle 2">
            <a:extLst>
              <a:ext uri="{FF2B5EF4-FFF2-40B4-BE49-F238E27FC236}">
                <a16:creationId xmlns:a16="http://schemas.microsoft.com/office/drawing/2014/main" id="{E096452C-6CD4-B2B9-DF3E-E466A92C2A87}"/>
              </a:ext>
            </a:extLst>
          </p:cNvPr>
          <p:cNvSpPr>
            <a:spLocks noGrp="1"/>
          </p:cNvSpPr>
          <p:nvPr>
            <p:ph type="title" idx="4294967295"/>
          </p:nvPr>
        </p:nvSpPr>
        <p:spPr/>
        <p:txBody>
          <a:bodyPr/>
          <a:lstStyle/>
          <a:p>
            <a:pPr algn="l"/>
            <a:r>
              <a:rPr lang="zh-CN" altLang="en-US" sz="2000" b="1"/>
              <a:t>应用范例</a:t>
            </a:r>
            <a:r>
              <a:rPr lang="en-US" altLang="zh-CN" sz="2000" b="1"/>
              <a:t>11-6</a:t>
            </a:r>
            <a:r>
              <a:rPr lang="zh-CN" altLang="en-US" sz="2000"/>
              <a:t>：根据</a:t>
            </a:r>
            <a:r>
              <a:rPr lang="en-US" altLang="zh-CN" sz="2000"/>
              <a:t>Z</a:t>
            </a:r>
            <a:r>
              <a:rPr lang="zh-CN" altLang="en-US" sz="2000"/>
              <a:t>装修公司办公楼项目的作业清单（表</a:t>
            </a:r>
            <a:r>
              <a:rPr lang="en-US" altLang="zh-CN" sz="2000"/>
              <a:t>11</a:t>
            </a:r>
            <a:r>
              <a:rPr lang="zh-CN" altLang="en-US" sz="2000"/>
              <a:t>－</a:t>
            </a:r>
            <a:r>
              <a:rPr lang="en-US" altLang="zh-CN" sz="2000"/>
              <a:t>4</a:t>
            </a:r>
            <a:r>
              <a:rPr lang="zh-CN" altLang="en-US" sz="2000"/>
              <a:t>）和关键路线（图</a:t>
            </a:r>
            <a:r>
              <a:rPr lang="en-US" altLang="zh-CN" sz="2000"/>
              <a:t>11</a:t>
            </a:r>
            <a:r>
              <a:rPr lang="zh-CN" altLang="en-US" sz="2000"/>
              <a:t>－</a:t>
            </a:r>
            <a:r>
              <a:rPr lang="en-US" altLang="zh-CN" sz="2000"/>
              <a:t>11</a:t>
            </a:r>
            <a:r>
              <a:rPr lang="zh-CN" altLang="en-US" sz="2000"/>
              <a:t>），计算：</a:t>
            </a:r>
            <a:br>
              <a:rPr lang="zh-CN" altLang="en-US" sz="2000"/>
            </a:br>
            <a:r>
              <a:rPr lang="zh-CN" altLang="en-US" sz="2000"/>
              <a:t>（</a:t>
            </a:r>
            <a:r>
              <a:rPr lang="en-US" altLang="zh-CN" sz="2000"/>
              <a:t>1</a:t>
            </a:r>
            <a:r>
              <a:rPr lang="zh-CN" altLang="en-US" sz="2000"/>
              <a:t>）项目在</a:t>
            </a:r>
            <a:r>
              <a:rPr lang="en-US" altLang="zh-CN" sz="2000"/>
              <a:t>28</a:t>
            </a:r>
            <a:r>
              <a:rPr lang="zh-CN" altLang="en-US" sz="2000"/>
              <a:t>天内完成的概率是多少？</a:t>
            </a:r>
            <a:br>
              <a:rPr lang="zh-CN" altLang="en-US" sz="2000"/>
            </a:br>
            <a:r>
              <a:rPr lang="zh-CN" altLang="en-US" sz="2000"/>
              <a:t>（</a:t>
            </a:r>
            <a:r>
              <a:rPr lang="en-US" altLang="zh-CN" sz="2000"/>
              <a:t>2</a:t>
            </a:r>
            <a:r>
              <a:rPr lang="zh-CN" altLang="en-US" sz="2000"/>
              <a:t>）完成概率为</a:t>
            </a:r>
            <a:r>
              <a:rPr lang="en-US" altLang="zh-CN" sz="2000"/>
              <a:t>95%</a:t>
            </a:r>
            <a:r>
              <a:rPr lang="zh-CN" altLang="en-US" sz="2000"/>
              <a:t>的工期为多少？</a:t>
            </a:r>
          </a:p>
        </p:txBody>
      </p:sp>
      <p:pic>
        <p:nvPicPr>
          <p:cNvPr id="338947" name="Picture 4">
            <a:extLst>
              <a:ext uri="{FF2B5EF4-FFF2-40B4-BE49-F238E27FC236}">
                <a16:creationId xmlns:a16="http://schemas.microsoft.com/office/drawing/2014/main" id="{CAB7B605-34CC-5911-9291-72E9B79696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447" t="17000" r="26758" b="16855"/>
          <a:stretch>
            <a:fillRect/>
          </a:stretch>
        </p:blipFill>
        <p:spPr bwMode="auto">
          <a:xfrm>
            <a:off x="468313" y="1525588"/>
            <a:ext cx="7848600" cy="499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BED79C3-5F45-E959-3B79-0F5514A91C3F}"/>
              </a:ext>
            </a:extLst>
          </p:cNvPr>
          <p:cNvSpPr>
            <a:spLocks noGrp="1"/>
          </p:cNvSpPr>
          <p:nvPr>
            <p:ph type="dt" sz="half" idx="10"/>
          </p:nvPr>
        </p:nvSpPr>
        <p:spPr/>
        <p:txBody>
          <a:bodyPr/>
          <a:lstStyle/>
          <a:p>
            <a:r>
              <a:rPr lang="zh-CN" altLang="en-US"/>
              <a:t>讲义制作：李丽，陈志祥审</a:t>
            </a:r>
            <a:endParaRPr lang="en-US" altLang="zh-CN"/>
          </a:p>
        </p:txBody>
      </p:sp>
      <p:sp>
        <p:nvSpPr>
          <p:cNvPr id="339970" name="Rectangle 2">
            <a:extLst>
              <a:ext uri="{FF2B5EF4-FFF2-40B4-BE49-F238E27FC236}">
                <a16:creationId xmlns:a16="http://schemas.microsoft.com/office/drawing/2014/main" id="{271A6D4A-6AAC-0856-D17A-20DE668D9970}"/>
              </a:ext>
            </a:extLst>
          </p:cNvPr>
          <p:cNvSpPr>
            <a:spLocks noGrp="1"/>
          </p:cNvSpPr>
          <p:nvPr>
            <p:ph type="title" idx="4294967295"/>
          </p:nvPr>
        </p:nvSpPr>
        <p:spPr/>
        <p:txBody>
          <a:bodyPr/>
          <a:lstStyle/>
          <a:p>
            <a:r>
              <a:rPr lang="zh-CN" altLang="en-US"/>
              <a:t>（二）时间与费用优化</a:t>
            </a:r>
          </a:p>
        </p:txBody>
      </p:sp>
      <p:sp>
        <p:nvSpPr>
          <p:cNvPr id="339971" name="Rectangle 3">
            <a:extLst>
              <a:ext uri="{FF2B5EF4-FFF2-40B4-BE49-F238E27FC236}">
                <a16:creationId xmlns:a16="http://schemas.microsoft.com/office/drawing/2014/main" id="{AB0F3651-71F8-5B78-12C4-412491C1FCB6}"/>
              </a:ext>
            </a:extLst>
          </p:cNvPr>
          <p:cNvSpPr>
            <a:spLocks noGrp="1"/>
          </p:cNvSpPr>
          <p:nvPr>
            <p:ph type="body" idx="4294967295"/>
          </p:nvPr>
        </p:nvSpPr>
        <p:spPr>
          <a:xfrm>
            <a:off x="468313" y="1268413"/>
            <a:ext cx="8229600" cy="4525962"/>
          </a:xfrm>
        </p:spPr>
        <p:txBody>
          <a:bodyPr/>
          <a:lstStyle/>
          <a:p>
            <a:pPr>
              <a:lnSpc>
                <a:spcPct val="80000"/>
              </a:lnSpc>
              <a:buFontTx/>
              <a:buNone/>
            </a:pPr>
            <a:r>
              <a:rPr lang="en-US" altLang="zh-CN" sz="2000" b="1"/>
              <a:t>1. </a:t>
            </a:r>
            <a:r>
              <a:rPr lang="zh-CN" altLang="en-US" sz="2000" b="1"/>
              <a:t>直接费用</a:t>
            </a:r>
            <a:endParaRPr lang="zh-CN" altLang="en-US" sz="2000"/>
          </a:p>
          <a:p>
            <a:pPr>
              <a:lnSpc>
                <a:spcPct val="80000"/>
              </a:lnSpc>
              <a:buFontTx/>
              <a:buNone/>
            </a:pPr>
            <a:endParaRPr lang="zh-CN" altLang="en-US" sz="2000"/>
          </a:p>
          <a:p>
            <a:pPr>
              <a:lnSpc>
                <a:spcPct val="80000"/>
              </a:lnSpc>
              <a:buFontTx/>
              <a:buNone/>
            </a:pPr>
            <a:endParaRPr lang="zh-CN" altLang="en-US" sz="2000"/>
          </a:p>
          <a:p>
            <a:pPr>
              <a:lnSpc>
                <a:spcPct val="80000"/>
              </a:lnSpc>
              <a:buFontTx/>
              <a:buNone/>
            </a:pPr>
            <a:endParaRPr lang="zh-CN" altLang="en-US" sz="2000"/>
          </a:p>
          <a:p>
            <a:pPr>
              <a:lnSpc>
                <a:spcPct val="80000"/>
              </a:lnSpc>
              <a:buFontTx/>
              <a:buNone/>
            </a:pPr>
            <a:r>
              <a:rPr lang="en-US" altLang="zh-CN" sz="2000" b="1"/>
              <a:t>2. </a:t>
            </a:r>
            <a:r>
              <a:rPr lang="zh-CN" altLang="en-US" sz="2000" b="1"/>
              <a:t>间接费用</a:t>
            </a:r>
            <a:endParaRPr lang="zh-CN" altLang="en-US" sz="2000"/>
          </a:p>
        </p:txBody>
      </p:sp>
      <p:sp>
        <p:nvSpPr>
          <p:cNvPr id="339972" name="Rectangle 5">
            <a:extLst>
              <a:ext uri="{FF2B5EF4-FFF2-40B4-BE49-F238E27FC236}">
                <a16:creationId xmlns:a16="http://schemas.microsoft.com/office/drawing/2014/main" id="{9C2A4677-A8BE-6725-C37E-C4ADF6F9300E}"/>
              </a:ext>
            </a:extLst>
          </p:cNvPr>
          <p:cNvSpPr>
            <a:spLocks noChangeArrowheads="1"/>
          </p:cNvSpPr>
          <p:nvPr/>
        </p:nvSpPr>
        <p:spPr bwMode="auto">
          <a:xfrm>
            <a:off x="0" y="30511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ea typeface="华文楷体" panose="02010600040101010101" pitchFamily="2" charset="-122"/>
            </a:endParaRPr>
          </a:p>
        </p:txBody>
      </p:sp>
      <p:graphicFrame>
        <p:nvGraphicFramePr>
          <p:cNvPr id="339973" name="Object 4">
            <a:extLst>
              <a:ext uri="{FF2B5EF4-FFF2-40B4-BE49-F238E27FC236}">
                <a16:creationId xmlns:a16="http://schemas.microsoft.com/office/drawing/2014/main" id="{5731ABD8-0D73-50B5-9556-40834E54956B}"/>
              </a:ext>
            </a:extLst>
          </p:cNvPr>
          <p:cNvGraphicFramePr>
            <a:graphicFrameLocks noChangeAspect="1"/>
          </p:cNvGraphicFramePr>
          <p:nvPr/>
        </p:nvGraphicFramePr>
        <p:xfrm>
          <a:off x="1187450" y="1844675"/>
          <a:ext cx="4752975" cy="595313"/>
        </p:xfrm>
        <a:graphic>
          <a:graphicData uri="http://schemas.openxmlformats.org/presentationml/2006/ole">
            <mc:AlternateContent xmlns:mc="http://schemas.openxmlformats.org/markup-compatibility/2006">
              <mc:Choice xmlns:v="urn:schemas-microsoft-com:vml" Requires="v">
                <p:oleObj name="公式" r:id="rId2" imgW="3263900" imgH="419100" progId="Equation.3">
                  <p:embed/>
                </p:oleObj>
              </mc:Choice>
              <mc:Fallback>
                <p:oleObj name="公式" r:id="rId2" imgW="3263900" imgH="4191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844675"/>
                        <a:ext cx="4752975" cy="595313"/>
                      </a:xfrm>
                      <a:prstGeom prst="rect">
                        <a:avLst/>
                      </a:prstGeom>
                      <a:solidFill>
                        <a:srgbClr val="FFCC00"/>
                      </a:solidFill>
                    </p:spPr>
                  </p:pic>
                </p:oleObj>
              </mc:Fallback>
            </mc:AlternateContent>
          </a:graphicData>
        </a:graphic>
      </p:graphicFrame>
      <p:pic>
        <p:nvPicPr>
          <p:cNvPr id="339974" name="Picture 6" descr="费用时间-Model">
            <a:extLst>
              <a:ext uri="{FF2B5EF4-FFF2-40B4-BE49-F238E27FC236}">
                <a16:creationId xmlns:a16="http://schemas.microsoft.com/office/drawing/2014/main" id="{76BFA835-F301-0456-4129-73B7DCDEC7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3357563"/>
            <a:ext cx="3960812"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271F340-82D0-01BB-2C7E-74C3B655906A}"/>
              </a:ext>
            </a:extLst>
          </p:cNvPr>
          <p:cNvSpPr>
            <a:spLocks noGrp="1"/>
          </p:cNvSpPr>
          <p:nvPr>
            <p:ph type="dt" sz="half" idx="10"/>
          </p:nvPr>
        </p:nvSpPr>
        <p:spPr/>
        <p:txBody>
          <a:bodyPr/>
          <a:lstStyle/>
          <a:p>
            <a:r>
              <a:rPr lang="zh-CN" altLang="en-US"/>
              <a:t>讲义制作：李丽，陈志祥审</a:t>
            </a:r>
            <a:endParaRPr lang="en-US" altLang="zh-CN"/>
          </a:p>
        </p:txBody>
      </p:sp>
      <p:sp>
        <p:nvSpPr>
          <p:cNvPr id="340994" name="Rectangle 2">
            <a:extLst>
              <a:ext uri="{FF2B5EF4-FFF2-40B4-BE49-F238E27FC236}">
                <a16:creationId xmlns:a16="http://schemas.microsoft.com/office/drawing/2014/main" id="{AFD098DB-0688-393C-0E8B-0CDE1E62572A}"/>
              </a:ext>
            </a:extLst>
          </p:cNvPr>
          <p:cNvSpPr>
            <a:spLocks noGrp="1"/>
          </p:cNvSpPr>
          <p:nvPr>
            <p:ph type="title" idx="4294967295"/>
          </p:nvPr>
        </p:nvSpPr>
        <p:spPr/>
        <p:txBody>
          <a:bodyPr/>
          <a:lstStyle/>
          <a:p>
            <a:r>
              <a:rPr lang="zh-CN" altLang="en-US"/>
              <a:t>（二）时间与费用优化</a:t>
            </a:r>
          </a:p>
        </p:txBody>
      </p:sp>
      <p:sp>
        <p:nvSpPr>
          <p:cNvPr id="340995" name="Rectangle 3">
            <a:extLst>
              <a:ext uri="{FF2B5EF4-FFF2-40B4-BE49-F238E27FC236}">
                <a16:creationId xmlns:a16="http://schemas.microsoft.com/office/drawing/2014/main" id="{521D84FF-5810-4AA8-5199-2EC18A0E6788}"/>
              </a:ext>
            </a:extLst>
          </p:cNvPr>
          <p:cNvSpPr>
            <a:spLocks noGrp="1"/>
          </p:cNvSpPr>
          <p:nvPr>
            <p:ph type="body" idx="4294967295"/>
          </p:nvPr>
        </p:nvSpPr>
        <p:spPr>
          <a:xfrm>
            <a:off x="468313" y="1268413"/>
            <a:ext cx="8229600" cy="4525962"/>
          </a:xfrm>
        </p:spPr>
        <p:txBody>
          <a:bodyPr/>
          <a:lstStyle/>
          <a:p>
            <a:pPr>
              <a:lnSpc>
                <a:spcPct val="90000"/>
              </a:lnSpc>
              <a:buFontTx/>
              <a:buNone/>
            </a:pPr>
            <a:r>
              <a:rPr lang="en-US" altLang="zh-CN" sz="2400" b="1"/>
              <a:t>3. </a:t>
            </a:r>
            <a:r>
              <a:rPr lang="zh-CN" altLang="en-US" sz="2400" b="1"/>
              <a:t>时间－费用优化</a:t>
            </a:r>
            <a:endParaRPr lang="zh-CN" altLang="en-US" sz="2400"/>
          </a:p>
          <a:p>
            <a:pPr>
              <a:lnSpc>
                <a:spcPct val="90000"/>
              </a:lnSpc>
              <a:buFontTx/>
              <a:buNone/>
            </a:pPr>
            <a:endParaRPr lang="zh-CN" altLang="en-US" sz="2400"/>
          </a:p>
          <a:p>
            <a:pPr>
              <a:lnSpc>
                <a:spcPct val="90000"/>
              </a:lnSpc>
              <a:buFontTx/>
              <a:buNone/>
            </a:pPr>
            <a:r>
              <a:rPr lang="zh-CN" altLang="en-US" sz="2400"/>
              <a:t>    （</a:t>
            </a:r>
            <a:r>
              <a:rPr lang="en-US" altLang="zh-CN" sz="2400"/>
              <a:t>1</a:t>
            </a:r>
            <a:r>
              <a:rPr lang="zh-CN" altLang="en-US" sz="2400"/>
              <a:t>）计算每个作业的直接费用变化率；</a:t>
            </a:r>
          </a:p>
          <a:p>
            <a:pPr>
              <a:lnSpc>
                <a:spcPct val="90000"/>
              </a:lnSpc>
              <a:buFontTx/>
              <a:buNone/>
            </a:pPr>
            <a:r>
              <a:rPr lang="zh-CN" altLang="en-US" sz="2400"/>
              <a:t>    （</a:t>
            </a:r>
            <a:r>
              <a:rPr lang="en-US" altLang="zh-CN" sz="2400"/>
              <a:t>2</a:t>
            </a:r>
            <a:r>
              <a:rPr lang="zh-CN" altLang="en-US" sz="2400"/>
              <a:t>）利用现有参数找出网络中的关键路线，确定关键作业；</a:t>
            </a:r>
          </a:p>
          <a:p>
            <a:pPr>
              <a:lnSpc>
                <a:spcPct val="90000"/>
              </a:lnSpc>
              <a:buFontTx/>
              <a:buNone/>
            </a:pPr>
            <a:r>
              <a:rPr lang="zh-CN" altLang="en-US" sz="2400"/>
              <a:t>    （</a:t>
            </a:r>
            <a:r>
              <a:rPr lang="en-US" altLang="zh-CN" sz="2400"/>
              <a:t>3</a:t>
            </a:r>
            <a:r>
              <a:rPr lang="zh-CN" altLang="en-US" sz="2400"/>
              <a:t>）在关键路线上选择直接费用变化率最小并且可以赶工的关键作业，采用试探方法压缩其工期，并保证压缩后的作业仍然在关键路线上；</a:t>
            </a:r>
          </a:p>
          <a:p>
            <a:pPr>
              <a:lnSpc>
                <a:spcPct val="90000"/>
              </a:lnSpc>
              <a:buFontTx/>
              <a:buNone/>
            </a:pPr>
            <a:r>
              <a:rPr lang="zh-CN" altLang="en-US" sz="2400"/>
              <a:t>     （</a:t>
            </a:r>
            <a:r>
              <a:rPr lang="en-US" altLang="zh-CN" sz="2400"/>
              <a:t>4</a:t>
            </a:r>
            <a:r>
              <a:rPr lang="zh-CN" altLang="en-US" sz="2400"/>
              <a:t>）更新项目网络中每条路线上的工期，计算压缩后的直接费用、间接费用和总费用；如果得到满意的工期或者工期不能进一步缩短时，就停止；否则，回到第</a:t>
            </a:r>
            <a:r>
              <a:rPr lang="en-US" altLang="zh-CN" sz="2400"/>
              <a:t>2</a:t>
            </a:r>
            <a:r>
              <a:rPr lang="zh-CN" altLang="en-US" sz="2400"/>
              <a:t>步。</a:t>
            </a:r>
          </a:p>
        </p:txBody>
      </p:sp>
      <p:sp>
        <p:nvSpPr>
          <p:cNvPr id="340996" name="Rectangle 4">
            <a:extLst>
              <a:ext uri="{FF2B5EF4-FFF2-40B4-BE49-F238E27FC236}">
                <a16:creationId xmlns:a16="http://schemas.microsoft.com/office/drawing/2014/main" id="{855BB847-F8CF-FAB5-E2D7-8528E3C0BFE3}"/>
              </a:ext>
            </a:extLst>
          </p:cNvPr>
          <p:cNvSpPr>
            <a:spLocks noChangeArrowheads="1"/>
          </p:cNvSpPr>
          <p:nvPr/>
        </p:nvSpPr>
        <p:spPr bwMode="auto">
          <a:xfrm>
            <a:off x="0" y="30511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ea typeface="华文楷体" panose="02010600040101010101" pitchFamily="2" charset="-122"/>
            </a:endParaRPr>
          </a:p>
        </p:txBody>
      </p:sp>
    </p:spTree>
  </p:cSld>
  <p:clrMapOvr>
    <a:masterClrMapping/>
  </p:clrMapOvr>
  <p:transition spd="slow">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F1128FB-3A00-299A-25AB-8833699A8E95}"/>
              </a:ext>
            </a:extLst>
          </p:cNvPr>
          <p:cNvSpPr>
            <a:spLocks noGrp="1"/>
          </p:cNvSpPr>
          <p:nvPr>
            <p:ph type="dt" sz="half" idx="10"/>
          </p:nvPr>
        </p:nvSpPr>
        <p:spPr/>
        <p:txBody>
          <a:bodyPr/>
          <a:lstStyle/>
          <a:p>
            <a:r>
              <a:rPr lang="zh-CN" altLang="en-US"/>
              <a:t>讲义制作：李丽，陈志祥审</a:t>
            </a:r>
            <a:endParaRPr lang="en-US" altLang="zh-CN"/>
          </a:p>
        </p:txBody>
      </p:sp>
      <p:sp>
        <p:nvSpPr>
          <p:cNvPr id="342018" name="Rectangle 2">
            <a:extLst>
              <a:ext uri="{FF2B5EF4-FFF2-40B4-BE49-F238E27FC236}">
                <a16:creationId xmlns:a16="http://schemas.microsoft.com/office/drawing/2014/main" id="{5EF18D18-3BBF-193D-3560-DF8214644E23}"/>
              </a:ext>
            </a:extLst>
          </p:cNvPr>
          <p:cNvSpPr>
            <a:spLocks noGrp="1"/>
          </p:cNvSpPr>
          <p:nvPr>
            <p:ph type="title" idx="4294967295"/>
          </p:nvPr>
        </p:nvSpPr>
        <p:spPr/>
        <p:txBody>
          <a:bodyPr/>
          <a:lstStyle/>
          <a:p>
            <a:r>
              <a:rPr lang="zh-CN" altLang="en-US" sz="2000" b="1"/>
              <a:t>应用范例</a:t>
            </a:r>
            <a:r>
              <a:rPr lang="en-US" altLang="zh-CN" sz="2000" b="1"/>
              <a:t>11-7</a:t>
            </a:r>
            <a:r>
              <a:rPr lang="zh-CN" altLang="en-US" sz="2000"/>
              <a:t>：</a:t>
            </a:r>
            <a:r>
              <a:rPr lang="en-US" altLang="zh-CN" sz="2000"/>
              <a:t>Z</a:t>
            </a:r>
            <a:r>
              <a:rPr lang="zh-CN" altLang="en-US" sz="2000"/>
              <a:t>装修公司办公楼项目的各作业的正常时间、正常费用、赶工时间和赶工费用如表</a:t>
            </a:r>
            <a:r>
              <a:rPr lang="en-US" altLang="zh-CN" sz="2000"/>
              <a:t>11</a:t>
            </a:r>
            <a:r>
              <a:rPr lang="zh-CN" altLang="en-US" sz="2000"/>
              <a:t>－</a:t>
            </a:r>
            <a:r>
              <a:rPr lang="en-US" altLang="zh-CN" sz="2000"/>
              <a:t>6</a:t>
            </a:r>
            <a:r>
              <a:rPr lang="zh-CN" altLang="en-US" sz="2000"/>
              <a:t>所示，该项目每天的间接费用为</a:t>
            </a:r>
            <a:r>
              <a:rPr lang="en-US" altLang="zh-CN" sz="2000"/>
              <a:t>400</a:t>
            </a:r>
            <a:r>
              <a:rPr lang="zh-CN" altLang="en-US" sz="2000"/>
              <a:t>元。求最佳工期。</a:t>
            </a:r>
            <a:br>
              <a:rPr lang="zh-CN" altLang="en-US" sz="2000" b="1"/>
            </a:br>
            <a:r>
              <a:rPr lang="zh-CN" altLang="en-US" sz="2000" b="1"/>
              <a:t>表</a:t>
            </a:r>
            <a:r>
              <a:rPr lang="en-US" altLang="zh-CN" sz="2000" b="1"/>
              <a:t>11</a:t>
            </a:r>
            <a:r>
              <a:rPr lang="zh-CN" altLang="en-US" sz="2000" b="1"/>
              <a:t>－</a:t>
            </a:r>
            <a:r>
              <a:rPr lang="en-US" altLang="zh-CN" sz="2000" b="1"/>
              <a:t>6</a:t>
            </a:r>
            <a:r>
              <a:rPr lang="zh-CN" altLang="en-US" sz="2000" b="1"/>
              <a:t>　</a:t>
            </a:r>
            <a:r>
              <a:rPr lang="en-US" altLang="zh-CN" sz="2000"/>
              <a:t>Z</a:t>
            </a:r>
            <a:r>
              <a:rPr lang="zh-CN" altLang="en-US" sz="2000" b="1"/>
              <a:t>装修公司办公楼项目的费用统计表</a:t>
            </a:r>
          </a:p>
        </p:txBody>
      </p:sp>
      <p:graphicFrame>
        <p:nvGraphicFramePr>
          <p:cNvPr id="342096" name="Group 80">
            <a:extLst>
              <a:ext uri="{FF2B5EF4-FFF2-40B4-BE49-F238E27FC236}">
                <a16:creationId xmlns:a16="http://schemas.microsoft.com/office/drawing/2014/main" id="{6B223379-6DD5-25A0-13D2-BC0224D80BFA}"/>
              </a:ext>
            </a:extLst>
          </p:cNvPr>
          <p:cNvGraphicFramePr>
            <a:graphicFrameLocks noGrp="1"/>
          </p:cNvGraphicFramePr>
          <p:nvPr>
            <p:ph idx="4294967295"/>
          </p:nvPr>
        </p:nvGraphicFramePr>
        <p:xfrm>
          <a:off x="457200" y="1600200"/>
          <a:ext cx="8229600" cy="4525963"/>
        </p:xfrm>
        <a:graphic>
          <a:graphicData uri="http://schemas.openxmlformats.org/drawingml/2006/table">
            <a:tbl>
              <a:tblPr/>
              <a:tblGrid>
                <a:gridCol w="1335088">
                  <a:extLst>
                    <a:ext uri="{9D8B030D-6E8A-4147-A177-3AD203B41FA5}">
                      <a16:colId xmlns:a16="http://schemas.microsoft.com/office/drawing/2014/main" val="3825819644"/>
                    </a:ext>
                  </a:extLst>
                </a:gridCol>
                <a:gridCol w="1385887">
                  <a:extLst>
                    <a:ext uri="{9D8B030D-6E8A-4147-A177-3AD203B41FA5}">
                      <a16:colId xmlns:a16="http://schemas.microsoft.com/office/drawing/2014/main" val="874326783"/>
                    </a:ext>
                  </a:extLst>
                </a:gridCol>
                <a:gridCol w="1384300">
                  <a:extLst>
                    <a:ext uri="{9D8B030D-6E8A-4147-A177-3AD203B41FA5}">
                      <a16:colId xmlns:a16="http://schemas.microsoft.com/office/drawing/2014/main" val="2460318500"/>
                    </a:ext>
                  </a:extLst>
                </a:gridCol>
                <a:gridCol w="1385888">
                  <a:extLst>
                    <a:ext uri="{9D8B030D-6E8A-4147-A177-3AD203B41FA5}">
                      <a16:colId xmlns:a16="http://schemas.microsoft.com/office/drawing/2014/main" val="2888040599"/>
                    </a:ext>
                  </a:extLst>
                </a:gridCol>
                <a:gridCol w="1385887">
                  <a:extLst>
                    <a:ext uri="{9D8B030D-6E8A-4147-A177-3AD203B41FA5}">
                      <a16:colId xmlns:a16="http://schemas.microsoft.com/office/drawing/2014/main" val="2201946039"/>
                    </a:ext>
                  </a:extLst>
                </a:gridCol>
                <a:gridCol w="1352550">
                  <a:extLst>
                    <a:ext uri="{9D8B030D-6E8A-4147-A177-3AD203B41FA5}">
                      <a16:colId xmlns:a16="http://schemas.microsoft.com/office/drawing/2014/main" val="179748804"/>
                    </a:ext>
                  </a:extLst>
                </a:gridCol>
              </a:tblGrid>
              <a:tr h="765175">
                <a:tc rowSpan="2">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作业代号</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gridSpan="2">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作业时间（天）</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hMerge="1">
                  <a:txBody>
                    <a:bodyPr/>
                    <a:lstStyle/>
                    <a:p>
                      <a:endParaRPr lang="zh-CN" altLang="en-US"/>
                    </a:p>
                  </a:txBody>
                  <a:tcPr/>
                </a:tc>
                <a:tc gridSpan="2">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直接费用（元）</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hMerge="1">
                  <a:txBody>
                    <a:bodyPr/>
                    <a:lstStyle/>
                    <a:p>
                      <a:endParaRPr lang="zh-CN" altLang="en-US"/>
                    </a:p>
                  </a:txBody>
                  <a:tcPr/>
                </a:tc>
                <a:tc rowSpan="2">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直接费用</a:t>
                      </a:r>
                      <a:endPar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变化率</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984195650"/>
                  </a:ext>
                </a:extLst>
              </a:tr>
              <a:tr h="417513">
                <a:tc vMerge="1">
                  <a:txBody>
                    <a:bodyPr/>
                    <a:lstStyle/>
                    <a:p>
                      <a:endParaRPr lang="zh-CN" altLang="en-US"/>
                    </a:p>
                  </a:txBody>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正常时间</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赶工时间</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正常费用</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赶工费用</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vMerge="1">
                  <a:txBody>
                    <a:bodyPr/>
                    <a:lstStyle/>
                    <a:p>
                      <a:endParaRPr lang="zh-CN" altLang="en-US"/>
                    </a:p>
                  </a:txBody>
                  <a:tcPr/>
                </a:tc>
                <a:extLst>
                  <a:ext uri="{0D108BD9-81ED-4DB2-BD59-A6C34878D82A}">
                    <a16:rowId xmlns:a16="http://schemas.microsoft.com/office/drawing/2014/main" val="1233746018"/>
                  </a:ext>
                </a:extLst>
              </a:tr>
              <a:tr h="419100">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1500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494645082"/>
                  </a:ext>
                </a:extLst>
              </a:tr>
              <a:tr h="4175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1200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856099135"/>
                  </a:ext>
                </a:extLst>
              </a:tr>
              <a:tr h="4175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C</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1200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1400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492543799"/>
                  </a:ext>
                </a:extLst>
              </a:tr>
              <a:tr h="4175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3800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465591886"/>
                  </a:ext>
                </a:extLst>
              </a:tr>
              <a:tr h="4175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E</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1600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1900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228951800"/>
                  </a:ext>
                </a:extLst>
              </a:tr>
              <a:tr h="419100">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F</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1500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1800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150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641750560"/>
                  </a:ext>
                </a:extLst>
              </a:tr>
              <a:tr h="4175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G</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1200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372977930"/>
                  </a:ext>
                </a:extLst>
              </a:tr>
              <a:tr h="4175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H</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tx2"/>
                        </a:buClr>
                        <a:buSzTx/>
                        <a:buFontTx/>
                        <a:buNone/>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100</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820562299"/>
                  </a:ext>
                </a:extLst>
              </a:tr>
            </a:tbl>
          </a:graphicData>
        </a:graphic>
      </p:graphicFrame>
    </p:spTree>
  </p:cSld>
  <p:clrMapOvr>
    <a:masterClrMapping/>
  </p:clrMapOvr>
  <p:transition spd="slow">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81CFFC-4A8A-EA51-6419-940614D4EE7A}"/>
              </a:ext>
            </a:extLst>
          </p:cNvPr>
          <p:cNvSpPr>
            <a:spLocks noGrp="1"/>
          </p:cNvSpPr>
          <p:nvPr>
            <p:ph type="dt" sz="half" idx="10"/>
          </p:nvPr>
        </p:nvSpPr>
        <p:spPr/>
        <p:txBody>
          <a:bodyPr/>
          <a:lstStyle/>
          <a:p>
            <a:r>
              <a:rPr lang="zh-CN" altLang="en-US"/>
              <a:t>讲义制作：李丽，陈志祥审</a:t>
            </a:r>
            <a:endParaRPr lang="en-US" altLang="zh-CN"/>
          </a:p>
        </p:txBody>
      </p:sp>
      <p:sp>
        <p:nvSpPr>
          <p:cNvPr id="343042" name="Rectangle 2">
            <a:extLst>
              <a:ext uri="{FF2B5EF4-FFF2-40B4-BE49-F238E27FC236}">
                <a16:creationId xmlns:a16="http://schemas.microsoft.com/office/drawing/2014/main" id="{B39BCABC-AB20-1107-7B34-C801A7F3F6DE}"/>
              </a:ext>
            </a:extLst>
          </p:cNvPr>
          <p:cNvSpPr>
            <a:spLocks noGrp="1"/>
          </p:cNvSpPr>
          <p:nvPr>
            <p:ph type="title" idx="4294967295"/>
          </p:nvPr>
        </p:nvSpPr>
        <p:spPr>
          <a:xfrm>
            <a:off x="250825" y="836613"/>
            <a:ext cx="8893175" cy="1143000"/>
          </a:xfrm>
        </p:spPr>
        <p:txBody>
          <a:bodyPr/>
          <a:lstStyle/>
          <a:p>
            <a:pPr algn="l"/>
            <a:r>
              <a:rPr lang="zh-CN" altLang="en-US" sz="1800" b="1"/>
              <a:t>解答：</a:t>
            </a:r>
            <a:r>
              <a:rPr lang="zh-CN" altLang="en-US" sz="1800"/>
              <a:t>（</a:t>
            </a:r>
            <a:r>
              <a:rPr lang="en-US" altLang="zh-CN" sz="1800"/>
              <a:t>1</a:t>
            </a:r>
            <a:r>
              <a:rPr lang="zh-CN" altLang="en-US" sz="1800"/>
              <a:t>）根据公式</a:t>
            </a:r>
            <a:r>
              <a:rPr lang="en-US" altLang="zh-CN" sz="1800"/>
              <a:t>11</a:t>
            </a:r>
            <a:r>
              <a:rPr lang="zh-CN" altLang="en-US" sz="1800"/>
              <a:t>－</a:t>
            </a:r>
            <a:r>
              <a:rPr lang="en-US" altLang="zh-CN" sz="1800"/>
              <a:t>12</a:t>
            </a:r>
            <a:r>
              <a:rPr lang="zh-CN" altLang="en-US" sz="1800"/>
              <a:t>计算各作业的直接费用变化率，结果填入表</a:t>
            </a:r>
            <a:r>
              <a:rPr lang="en-US" altLang="zh-CN" sz="1800"/>
              <a:t>11</a:t>
            </a:r>
            <a:r>
              <a:rPr lang="zh-CN" altLang="en-US" sz="1800"/>
              <a:t>－</a:t>
            </a:r>
            <a:r>
              <a:rPr lang="en-US" altLang="zh-CN" sz="1800"/>
              <a:t>6</a:t>
            </a:r>
            <a:r>
              <a:rPr lang="zh-CN" altLang="en-US" sz="1800"/>
              <a:t>最后一列。</a:t>
            </a:r>
            <a:br>
              <a:rPr lang="zh-CN" altLang="en-US" sz="1800"/>
            </a:br>
            <a:r>
              <a:rPr lang="zh-CN" altLang="en-US" sz="1800"/>
              <a:t>（</a:t>
            </a:r>
            <a:r>
              <a:rPr lang="en-US" altLang="zh-CN" sz="1800"/>
              <a:t>2</a:t>
            </a:r>
            <a:r>
              <a:rPr lang="zh-CN" altLang="en-US" sz="1800"/>
              <a:t>）根据应用范例</a:t>
            </a:r>
            <a:r>
              <a:rPr lang="en-US" altLang="zh-CN" sz="1800"/>
              <a:t>11</a:t>
            </a:r>
            <a:r>
              <a:rPr lang="zh-CN" altLang="en-US" sz="1800"/>
              <a:t>－</a:t>
            </a:r>
            <a:r>
              <a:rPr lang="en-US" altLang="zh-CN" sz="1800"/>
              <a:t>5</a:t>
            </a:r>
            <a:r>
              <a:rPr lang="zh-CN" altLang="en-US" sz="1800"/>
              <a:t>可知，关键路线为</a:t>
            </a:r>
            <a:r>
              <a:rPr lang="en-US" altLang="zh-CN" sz="1800"/>
              <a:t>A</a:t>
            </a:r>
            <a:r>
              <a:rPr lang="zh-CN" altLang="en-US" sz="1800"/>
              <a:t>－</a:t>
            </a:r>
            <a:r>
              <a:rPr lang="en-US" altLang="zh-CN" sz="1800"/>
              <a:t>B</a:t>
            </a:r>
            <a:r>
              <a:rPr lang="zh-CN" altLang="en-US" sz="1800"/>
              <a:t>－</a:t>
            </a:r>
            <a:r>
              <a:rPr lang="en-US" altLang="zh-CN" sz="1800"/>
              <a:t>D</a:t>
            </a:r>
            <a:r>
              <a:rPr lang="zh-CN" altLang="en-US" sz="1800"/>
              <a:t>－</a:t>
            </a:r>
            <a:r>
              <a:rPr lang="en-US" altLang="zh-CN" sz="1800"/>
              <a:t>H</a:t>
            </a:r>
            <a:r>
              <a:rPr lang="zh-CN" altLang="en-US" sz="1800"/>
              <a:t>－终点，总工期为</a:t>
            </a:r>
            <a:r>
              <a:rPr lang="en-US" altLang="zh-CN" sz="1800"/>
              <a:t>26</a:t>
            </a:r>
            <a:r>
              <a:rPr lang="zh-CN" altLang="en-US" sz="1800"/>
              <a:t>天。</a:t>
            </a:r>
            <a:br>
              <a:rPr lang="zh-CN" altLang="en-US" sz="1800"/>
            </a:br>
            <a:r>
              <a:rPr lang="zh-CN" altLang="en-US" sz="1800"/>
              <a:t>直接费用＝</a:t>
            </a:r>
            <a:r>
              <a:rPr lang="en-US" altLang="zh-CN" sz="1800"/>
              <a:t>9400</a:t>
            </a:r>
            <a:r>
              <a:rPr lang="zh-CN" altLang="en-US" sz="1800"/>
              <a:t>元（表</a:t>
            </a:r>
            <a:r>
              <a:rPr lang="en-US" altLang="zh-CN" sz="1800"/>
              <a:t>11</a:t>
            </a:r>
            <a:r>
              <a:rPr lang="zh-CN" altLang="en-US" sz="1800"/>
              <a:t>－</a:t>
            </a:r>
            <a:r>
              <a:rPr lang="en-US" altLang="zh-CN" sz="1800"/>
              <a:t>6</a:t>
            </a:r>
            <a:r>
              <a:rPr lang="zh-CN" altLang="en-US" sz="1800"/>
              <a:t>第</a:t>
            </a:r>
            <a:r>
              <a:rPr lang="en-US" altLang="zh-CN" sz="1800"/>
              <a:t>4</a:t>
            </a:r>
            <a:r>
              <a:rPr lang="zh-CN" altLang="en-US" sz="1800"/>
              <a:t>列之和），间接费用＝</a:t>
            </a:r>
            <a:r>
              <a:rPr lang="en-US" altLang="zh-CN" sz="1800"/>
              <a:t>26×400</a:t>
            </a:r>
            <a:r>
              <a:rPr lang="zh-CN" altLang="en-US" sz="1800"/>
              <a:t>＝</a:t>
            </a:r>
            <a:r>
              <a:rPr lang="en-US" altLang="zh-CN" sz="1800"/>
              <a:t>10400</a:t>
            </a:r>
            <a:r>
              <a:rPr lang="zh-CN" altLang="en-US" sz="1800"/>
              <a:t>元，总费用＝</a:t>
            </a:r>
            <a:r>
              <a:rPr lang="en-US" altLang="zh-CN" sz="1800"/>
              <a:t>9400+10400</a:t>
            </a:r>
            <a:r>
              <a:rPr lang="zh-CN" altLang="en-US" sz="1800"/>
              <a:t>＝</a:t>
            </a:r>
            <a:r>
              <a:rPr lang="en-US" altLang="zh-CN" sz="1800"/>
              <a:t>19800</a:t>
            </a:r>
            <a:r>
              <a:rPr lang="zh-CN" altLang="en-US" sz="1800"/>
              <a:t>元。</a:t>
            </a:r>
            <a:br>
              <a:rPr lang="zh-CN" altLang="en-US" sz="1800"/>
            </a:br>
            <a:r>
              <a:rPr lang="zh-CN" altLang="en-US" sz="1800"/>
              <a:t>（</a:t>
            </a:r>
            <a:r>
              <a:rPr lang="en-US" altLang="zh-CN" sz="1800"/>
              <a:t>3</a:t>
            </a:r>
            <a:r>
              <a:rPr lang="zh-CN" altLang="en-US" sz="1800"/>
              <a:t>）从关键路线</a:t>
            </a:r>
            <a:r>
              <a:rPr lang="en-US" altLang="zh-CN" sz="1800"/>
              <a:t>A</a:t>
            </a:r>
            <a:r>
              <a:rPr lang="zh-CN" altLang="en-US" sz="1800"/>
              <a:t>－</a:t>
            </a:r>
            <a:r>
              <a:rPr lang="en-US" altLang="zh-CN" sz="1800"/>
              <a:t>B</a:t>
            </a:r>
            <a:r>
              <a:rPr lang="zh-CN" altLang="en-US" sz="1800"/>
              <a:t>－</a:t>
            </a:r>
            <a:r>
              <a:rPr lang="en-US" altLang="zh-CN" sz="1800"/>
              <a:t>D</a:t>
            </a:r>
            <a:r>
              <a:rPr lang="zh-CN" altLang="en-US" sz="1800"/>
              <a:t>－</a:t>
            </a:r>
            <a:r>
              <a:rPr lang="en-US" altLang="zh-CN" sz="1800"/>
              <a:t>H</a:t>
            </a:r>
            <a:r>
              <a:rPr lang="zh-CN" altLang="en-US" sz="1800"/>
              <a:t>－终点入手，作业</a:t>
            </a:r>
            <a:r>
              <a:rPr lang="en-US" altLang="zh-CN" sz="1800"/>
              <a:t>H</a:t>
            </a:r>
            <a:r>
              <a:rPr lang="zh-CN" altLang="en-US" sz="1800"/>
              <a:t>的直接费用变化率最小，将其压缩</a:t>
            </a:r>
            <a:r>
              <a:rPr lang="en-US" altLang="zh-CN" sz="1800"/>
              <a:t>4</a:t>
            </a:r>
            <a:r>
              <a:rPr lang="zh-CN" altLang="en-US" sz="1800"/>
              <a:t>天，更新后的网络见图</a:t>
            </a:r>
            <a:r>
              <a:rPr lang="en-US" altLang="zh-CN" sz="1800"/>
              <a:t>11</a:t>
            </a:r>
            <a:r>
              <a:rPr lang="zh-CN" altLang="en-US" sz="1800"/>
              <a:t>－</a:t>
            </a:r>
            <a:r>
              <a:rPr lang="en-US" altLang="zh-CN" sz="1800"/>
              <a:t>13</a:t>
            </a:r>
            <a:r>
              <a:rPr lang="zh-CN" altLang="en-US" sz="1800"/>
              <a:t>。作业</a:t>
            </a:r>
            <a:r>
              <a:rPr lang="en-US" altLang="zh-CN" sz="1800"/>
              <a:t>H</a:t>
            </a:r>
            <a:r>
              <a:rPr lang="zh-CN" altLang="en-US" sz="1800"/>
              <a:t>不能再赶工了。此时的直接费用＝</a:t>
            </a:r>
            <a:r>
              <a:rPr lang="en-US" altLang="zh-CN" sz="1800"/>
              <a:t>9400+400</a:t>
            </a:r>
            <a:r>
              <a:rPr lang="zh-CN" altLang="en-US" sz="1800"/>
              <a:t>＝</a:t>
            </a:r>
            <a:r>
              <a:rPr lang="en-US" altLang="zh-CN" sz="1800"/>
              <a:t>9800</a:t>
            </a:r>
            <a:r>
              <a:rPr lang="zh-CN" altLang="en-US" sz="1800"/>
              <a:t>元，间接费用＝</a:t>
            </a:r>
            <a:r>
              <a:rPr lang="en-US" altLang="zh-CN" sz="1800"/>
              <a:t>22×400</a:t>
            </a:r>
            <a:r>
              <a:rPr lang="zh-CN" altLang="en-US" sz="1800"/>
              <a:t>＝</a:t>
            </a:r>
            <a:r>
              <a:rPr lang="en-US" altLang="zh-CN" sz="1800"/>
              <a:t>8800</a:t>
            </a:r>
            <a:r>
              <a:rPr lang="zh-CN" altLang="en-US" sz="1800"/>
              <a:t>元，总费用＝</a:t>
            </a:r>
            <a:r>
              <a:rPr lang="en-US" altLang="zh-CN" sz="1800"/>
              <a:t>9800+8800</a:t>
            </a:r>
            <a:r>
              <a:rPr lang="zh-CN" altLang="en-US" sz="1800"/>
              <a:t>＝</a:t>
            </a:r>
            <a:r>
              <a:rPr lang="en-US" altLang="zh-CN" sz="1800"/>
              <a:t>18600</a:t>
            </a:r>
            <a:r>
              <a:rPr lang="zh-CN" altLang="en-US" sz="1800"/>
              <a:t>元。</a:t>
            </a:r>
          </a:p>
        </p:txBody>
      </p:sp>
      <p:pic>
        <p:nvPicPr>
          <p:cNvPr id="343043" name="Picture 4">
            <a:extLst>
              <a:ext uri="{FF2B5EF4-FFF2-40B4-BE49-F238E27FC236}">
                <a16:creationId xmlns:a16="http://schemas.microsoft.com/office/drawing/2014/main" id="{6009CF17-F905-F646-AB6A-DDCBC306B9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136" t="29292" r="33841" b="27390"/>
          <a:stretch>
            <a:fillRect/>
          </a:stretch>
        </p:blipFill>
        <p:spPr bwMode="auto">
          <a:xfrm>
            <a:off x="1331913" y="2636838"/>
            <a:ext cx="6408737"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3044" name="Text Box 5">
            <a:extLst>
              <a:ext uri="{FF2B5EF4-FFF2-40B4-BE49-F238E27FC236}">
                <a16:creationId xmlns:a16="http://schemas.microsoft.com/office/drawing/2014/main" id="{12B4C45A-2520-A8B2-A00E-B1F297F277A2}"/>
              </a:ext>
            </a:extLst>
          </p:cNvPr>
          <p:cNvSpPr txBox="1">
            <a:spLocks noChangeArrowheads="1"/>
          </p:cNvSpPr>
          <p:nvPr/>
        </p:nvSpPr>
        <p:spPr bwMode="auto">
          <a:xfrm>
            <a:off x="1908175" y="6165850"/>
            <a:ext cx="5400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a:ea typeface="华文楷体" panose="02010600040101010101" pitchFamily="2" charset="-122"/>
              </a:rPr>
              <a:t>图</a:t>
            </a:r>
            <a:r>
              <a:rPr lang="en-US" altLang="zh-CN">
                <a:ea typeface="华文楷体" panose="02010600040101010101" pitchFamily="2" charset="-122"/>
              </a:rPr>
              <a:t>11</a:t>
            </a:r>
            <a:r>
              <a:rPr lang="zh-CN" altLang="en-US">
                <a:ea typeface="华文楷体" panose="02010600040101010101" pitchFamily="2" charset="-122"/>
              </a:rPr>
              <a:t>－</a:t>
            </a:r>
            <a:r>
              <a:rPr lang="en-US" altLang="zh-CN">
                <a:ea typeface="华文楷体" panose="02010600040101010101" pitchFamily="2" charset="-122"/>
              </a:rPr>
              <a:t>13 </a:t>
            </a:r>
            <a:r>
              <a:rPr lang="zh-CN" altLang="en-US">
                <a:ea typeface="华文楷体" panose="02010600040101010101" pitchFamily="2" charset="-122"/>
              </a:rPr>
              <a:t>第一次压缩后的网络图</a:t>
            </a:r>
          </a:p>
        </p:txBody>
      </p:sp>
    </p:spTree>
  </p:cSld>
  <p:clrMapOvr>
    <a:masterClrMapping/>
  </p:clrMapOvr>
  <p:transition spd="slow">
    <p:strips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3C11A03-F6EE-7923-302F-50B8FEEA971F}"/>
              </a:ext>
            </a:extLst>
          </p:cNvPr>
          <p:cNvSpPr>
            <a:spLocks noGrp="1"/>
          </p:cNvSpPr>
          <p:nvPr>
            <p:ph type="dt" sz="half" idx="10"/>
          </p:nvPr>
        </p:nvSpPr>
        <p:spPr/>
        <p:txBody>
          <a:bodyPr/>
          <a:lstStyle/>
          <a:p>
            <a:r>
              <a:rPr lang="zh-CN" altLang="en-US"/>
              <a:t>讲义制作：李丽，陈志祥审</a:t>
            </a:r>
            <a:endParaRPr lang="en-US" altLang="zh-CN"/>
          </a:p>
        </p:txBody>
      </p:sp>
      <p:sp>
        <p:nvSpPr>
          <p:cNvPr id="344066" name="Rectangle 2">
            <a:extLst>
              <a:ext uri="{FF2B5EF4-FFF2-40B4-BE49-F238E27FC236}">
                <a16:creationId xmlns:a16="http://schemas.microsoft.com/office/drawing/2014/main" id="{A7AB39EA-D715-72F1-7C5A-4C6309B16F09}"/>
              </a:ext>
            </a:extLst>
          </p:cNvPr>
          <p:cNvSpPr>
            <a:spLocks noGrp="1"/>
          </p:cNvSpPr>
          <p:nvPr>
            <p:ph type="title" idx="4294967295"/>
          </p:nvPr>
        </p:nvSpPr>
        <p:spPr/>
        <p:txBody>
          <a:bodyPr/>
          <a:lstStyle/>
          <a:p>
            <a:r>
              <a:rPr lang="zh-CN" altLang="en-US" sz="1800"/>
              <a:t>（</a:t>
            </a:r>
            <a:r>
              <a:rPr lang="en-US" altLang="zh-CN" sz="1800"/>
              <a:t>4</a:t>
            </a:r>
            <a:r>
              <a:rPr lang="zh-CN" altLang="en-US" sz="1800"/>
              <a:t>）第一次压缩后的关键路线仍然是</a:t>
            </a:r>
            <a:r>
              <a:rPr lang="en-US" altLang="zh-CN" sz="1800"/>
              <a:t>A</a:t>
            </a:r>
            <a:r>
              <a:rPr lang="zh-CN" altLang="en-US" sz="1800"/>
              <a:t>－</a:t>
            </a:r>
            <a:r>
              <a:rPr lang="en-US" altLang="zh-CN" sz="1800"/>
              <a:t>B</a:t>
            </a:r>
            <a:r>
              <a:rPr lang="zh-CN" altLang="en-US" sz="1800"/>
              <a:t>－</a:t>
            </a:r>
            <a:r>
              <a:rPr lang="en-US" altLang="zh-CN" sz="1800"/>
              <a:t>D</a:t>
            </a:r>
            <a:r>
              <a:rPr lang="zh-CN" altLang="en-US" sz="1800"/>
              <a:t>－</a:t>
            </a:r>
            <a:r>
              <a:rPr lang="en-US" altLang="zh-CN" sz="1800"/>
              <a:t>H</a:t>
            </a:r>
            <a:r>
              <a:rPr lang="zh-CN" altLang="en-US" sz="1800"/>
              <a:t>－终点，作业</a:t>
            </a:r>
            <a:r>
              <a:rPr lang="en-US" altLang="zh-CN" sz="1800"/>
              <a:t>B</a:t>
            </a:r>
            <a:r>
              <a:rPr lang="zh-CN" altLang="en-US" sz="1800"/>
              <a:t>的直接费用变化率最小，将其压缩</a:t>
            </a:r>
            <a:r>
              <a:rPr lang="en-US" altLang="zh-CN" sz="1800"/>
              <a:t>2</a:t>
            </a:r>
            <a:r>
              <a:rPr lang="zh-CN" altLang="en-US" sz="1800"/>
              <a:t>天，更新后的网络见图</a:t>
            </a:r>
            <a:r>
              <a:rPr lang="en-US" altLang="zh-CN" sz="1800"/>
              <a:t>11</a:t>
            </a:r>
            <a:r>
              <a:rPr lang="zh-CN" altLang="en-US" sz="1800"/>
              <a:t>－</a:t>
            </a:r>
            <a:r>
              <a:rPr lang="en-US" altLang="zh-CN" sz="1800"/>
              <a:t>14</a:t>
            </a:r>
            <a:r>
              <a:rPr lang="zh-CN" altLang="en-US" sz="1800"/>
              <a:t>。作业</a:t>
            </a:r>
            <a:r>
              <a:rPr lang="en-US" altLang="zh-CN" sz="1800"/>
              <a:t>B</a:t>
            </a:r>
            <a:r>
              <a:rPr lang="zh-CN" altLang="en-US" sz="1800"/>
              <a:t>不能再赶工了。此时的直接费用＝</a:t>
            </a:r>
            <a:r>
              <a:rPr lang="en-US" altLang="zh-CN" sz="1800"/>
              <a:t>9800+400</a:t>
            </a:r>
            <a:r>
              <a:rPr lang="zh-CN" altLang="en-US" sz="1800"/>
              <a:t>＝</a:t>
            </a:r>
            <a:r>
              <a:rPr lang="en-US" altLang="zh-CN" sz="1800"/>
              <a:t>10200</a:t>
            </a:r>
            <a:r>
              <a:rPr lang="zh-CN" altLang="en-US" sz="1800"/>
              <a:t>元，间接费用＝</a:t>
            </a:r>
            <a:r>
              <a:rPr lang="en-US" altLang="zh-CN" sz="1800"/>
              <a:t>20×400</a:t>
            </a:r>
            <a:r>
              <a:rPr lang="zh-CN" altLang="en-US" sz="1800"/>
              <a:t>＝</a:t>
            </a:r>
            <a:r>
              <a:rPr lang="en-US" altLang="zh-CN" sz="1800"/>
              <a:t>8000</a:t>
            </a:r>
            <a:r>
              <a:rPr lang="zh-CN" altLang="en-US" sz="1800"/>
              <a:t>元，总费用＝</a:t>
            </a:r>
            <a:r>
              <a:rPr lang="en-US" altLang="zh-CN" sz="1800"/>
              <a:t>10200+8000</a:t>
            </a:r>
            <a:r>
              <a:rPr lang="zh-CN" altLang="en-US" sz="1800"/>
              <a:t>＝</a:t>
            </a:r>
            <a:r>
              <a:rPr lang="en-US" altLang="zh-CN" sz="1800"/>
              <a:t>18200</a:t>
            </a:r>
            <a:r>
              <a:rPr lang="zh-CN" altLang="en-US" sz="1800"/>
              <a:t>元。</a:t>
            </a:r>
          </a:p>
        </p:txBody>
      </p:sp>
      <p:pic>
        <p:nvPicPr>
          <p:cNvPr id="344067" name="Picture 4">
            <a:extLst>
              <a:ext uri="{FF2B5EF4-FFF2-40B4-BE49-F238E27FC236}">
                <a16:creationId xmlns:a16="http://schemas.microsoft.com/office/drawing/2014/main" id="{1BA4CE37-7D42-B069-73E7-EB8354415C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536" t="20770" r="33255" b="33855"/>
          <a:stretch>
            <a:fillRect/>
          </a:stretch>
        </p:blipFill>
        <p:spPr bwMode="auto">
          <a:xfrm>
            <a:off x="1258888" y="1628775"/>
            <a:ext cx="61214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4068" name="Text Box 5">
            <a:extLst>
              <a:ext uri="{FF2B5EF4-FFF2-40B4-BE49-F238E27FC236}">
                <a16:creationId xmlns:a16="http://schemas.microsoft.com/office/drawing/2014/main" id="{557B7F16-6C3C-C060-5E19-6D7F8CF70CB1}"/>
              </a:ext>
            </a:extLst>
          </p:cNvPr>
          <p:cNvSpPr txBox="1">
            <a:spLocks noChangeArrowheads="1"/>
          </p:cNvSpPr>
          <p:nvPr/>
        </p:nvSpPr>
        <p:spPr bwMode="auto">
          <a:xfrm>
            <a:off x="1835150" y="5300663"/>
            <a:ext cx="568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a:ea typeface="华文楷体" panose="02010600040101010101" pitchFamily="2" charset="-122"/>
              </a:rPr>
              <a:t>图</a:t>
            </a:r>
            <a:r>
              <a:rPr lang="en-US" altLang="zh-CN">
                <a:ea typeface="华文楷体" panose="02010600040101010101" pitchFamily="2" charset="-122"/>
              </a:rPr>
              <a:t>11</a:t>
            </a:r>
            <a:r>
              <a:rPr lang="zh-CN" altLang="en-US">
                <a:ea typeface="华文楷体" panose="02010600040101010101" pitchFamily="2" charset="-122"/>
              </a:rPr>
              <a:t>－</a:t>
            </a:r>
            <a:r>
              <a:rPr lang="en-US" altLang="zh-CN">
                <a:ea typeface="华文楷体" panose="02010600040101010101" pitchFamily="2" charset="-122"/>
              </a:rPr>
              <a:t>14 </a:t>
            </a:r>
            <a:r>
              <a:rPr lang="zh-CN" altLang="en-US">
                <a:ea typeface="华文楷体" panose="02010600040101010101" pitchFamily="2" charset="-122"/>
              </a:rPr>
              <a:t>第二次压缩后的网络图</a:t>
            </a:r>
          </a:p>
        </p:txBody>
      </p:sp>
    </p:spTree>
  </p:cSld>
  <p:clrMapOvr>
    <a:masterClrMapping/>
  </p:clrMapOvr>
  <p:transition spd="slow">
    <p:strips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68A6C39-2D53-2430-EF7B-BE4BB8D44DF9}"/>
              </a:ext>
            </a:extLst>
          </p:cNvPr>
          <p:cNvSpPr>
            <a:spLocks noGrp="1"/>
          </p:cNvSpPr>
          <p:nvPr>
            <p:ph type="dt" sz="half" idx="10"/>
          </p:nvPr>
        </p:nvSpPr>
        <p:spPr/>
        <p:txBody>
          <a:bodyPr/>
          <a:lstStyle/>
          <a:p>
            <a:r>
              <a:rPr lang="zh-CN" altLang="en-US"/>
              <a:t>讲义制作：李丽，陈志祥审</a:t>
            </a:r>
            <a:endParaRPr lang="en-US" altLang="zh-CN"/>
          </a:p>
        </p:txBody>
      </p:sp>
      <p:sp>
        <p:nvSpPr>
          <p:cNvPr id="345090" name="Rectangle 2">
            <a:extLst>
              <a:ext uri="{FF2B5EF4-FFF2-40B4-BE49-F238E27FC236}">
                <a16:creationId xmlns:a16="http://schemas.microsoft.com/office/drawing/2014/main" id="{CC237CA3-33FB-9B51-FD62-0E4D41C6E591}"/>
              </a:ext>
            </a:extLst>
          </p:cNvPr>
          <p:cNvSpPr>
            <a:spLocks noGrp="1"/>
          </p:cNvSpPr>
          <p:nvPr>
            <p:ph type="title" idx="4294967295"/>
          </p:nvPr>
        </p:nvSpPr>
        <p:spPr/>
        <p:txBody>
          <a:bodyPr/>
          <a:lstStyle/>
          <a:p>
            <a:r>
              <a:rPr lang="zh-CN" altLang="en-US" sz="1800"/>
              <a:t>（</a:t>
            </a:r>
            <a:r>
              <a:rPr lang="en-US" altLang="zh-CN" sz="1800"/>
              <a:t>5</a:t>
            </a:r>
            <a:r>
              <a:rPr lang="zh-CN" altLang="en-US" sz="1800"/>
              <a:t>）第二次压缩后的关键路线还是</a:t>
            </a:r>
            <a:r>
              <a:rPr lang="en-US" altLang="zh-CN" sz="1800"/>
              <a:t>A</a:t>
            </a:r>
            <a:r>
              <a:rPr lang="zh-CN" altLang="en-US" sz="1800"/>
              <a:t>－</a:t>
            </a:r>
            <a:r>
              <a:rPr lang="en-US" altLang="zh-CN" sz="1800"/>
              <a:t>B</a:t>
            </a:r>
            <a:r>
              <a:rPr lang="zh-CN" altLang="en-US" sz="1800"/>
              <a:t>－</a:t>
            </a:r>
            <a:r>
              <a:rPr lang="en-US" altLang="zh-CN" sz="1800"/>
              <a:t>D</a:t>
            </a:r>
            <a:r>
              <a:rPr lang="zh-CN" altLang="en-US" sz="1800"/>
              <a:t>－</a:t>
            </a:r>
            <a:r>
              <a:rPr lang="en-US" altLang="zh-CN" sz="1800"/>
              <a:t>H</a:t>
            </a:r>
            <a:r>
              <a:rPr lang="zh-CN" altLang="en-US" sz="1800"/>
              <a:t>－终点，作业</a:t>
            </a:r>
            <a:r>
              <a:rPr lang="en-US" altLang="zh-CN" sz="1800"/>
              <a:t>D</a:t>
            </a:r>
            <a:r>
              <a:rPr lang="zh-CN" altLang="en-US" sz="1800"/>
              <a:t>的直接费用变化率最小，为了保证压缩后</a:t>
            </a:r>
            <a:r>
              <a:rPr lang="en-US" altLang="zh-CN" sz="1800"/>
              <a:t>D</a:t>
            </a:r>
            <a:r>
              <a:rPr lang="zh-CN" altLang="en-US" sz="1800"/>
              <a:t>还在关键路线上，只能压缩</a:t>
            </a:r>
            <a:r>
              <a:rPr lang="en-US" altLang="zh-CN" sz="1800"/>
              <a:t>4</a:t>
            </a:r>
            <a:r>
              <a:rPr lang="zh-CN" altLang="en-US" sz="1800"/>
              <a:t>天，更新后的网络见图</a:t>
            </a:r>
            <a:r>
              <a:rPr lang="en-US" altLang="zh-CN" sz="1800"/>
              <a:t>11</a:t>
            </a:r>
            <a:r>
              <a:rPr lang="zh-CN" altLang="en-US" sz="1800"/>
              <a:t>－</a:t>
            </a:r>
            <a:r>
              <a:rPr lang="en-US" altLang="zh-CN" sz="1800"/>
              <a:t>15</a:t>
            </a:r>
            <a:r>
              <a:rPr lang="zh-CN" altLang="en-US" sz="1800"/>
              <a:t>。此时的直接费用＝</a:t>
            </a:r>
            <a:r>
              <a:rPr lang="en-US" altLang="zh-CN" sz="1800"/>
              <a:t>10200+4*300</a:t>
            </a:r>
            <a:r>
              <a:rPr lang="zh-CN" altLang="en-US" sz="1800"/>
              <a:t>＝</a:t>
            </a:r>
            <a:r>
              <a:rPr lang="en-US" altLang="zh-CN" sz="1800"/>
              <a:t>11400</a:t>
            </a:r>
            <a:r>
              <a:rPr lang="zh-CN" altLang="en-US" sz="1800"/>
              <a:t>元，间接费用＝</a:t>
            </a:r>
            <a:r>
              <a:rPr lang="en-US" altLang="zh-CN" sz="1800"/>
              <a:t>16×400</a:t>
            </a:r>
            <a:r>
              <a:rPr lang="zh-CN" altLang="en-US" sz="1800"/>
              <a:t>＝</a:t>
            </a:r>
            <a:r>
              <a:rPr lang="en-US" altLang="zh-CN" sz="1800"/>
              <a:t>6400</a:t>
            </a:r>
            <a:r>
              <a:rPr lang="zh-CN" altLang="en-US" sz="1800"/>
              <a:t>元，总费用＝</a:t>
            </a:r>
            <a:r>
              <a:rPr lang="en-US" altLang="zh-CN" sz="1800"/>
              <a:t>11400+6400</a:t>
            </a:r>
            <a:r>
              <a:rPr lang="zh-CN" altLang="en-US" sz="1800"/>
              <a:t>＝</a:t>
            </a:r>
            <a:r>
              <a:rPr lang="en-US" altLang="zh-CN" sz="1800"/>
              <a:t>17800</a:t>
            </a:r>
            <a:r>
              <a:rPr lang="zh-CN" altLang="en-US" sz="1800"/>
              <a:t>元。</a:t>
            </a:r>
          </a:p>
        </p:txBody>
      </p:sp>
      <p:pic>
        <p:nvPicPr>
          <p:cNvPr id="345091" name="Picture 4">
            <a:extLst>
              <a:ext uri="{FF2B5EF4-FFF2-40B4-BE49-F238E27FC236}">
                <a16:creationId xmlns:a16="http://schemas.microsoft.com/office/drawing/2014/main" id="{2110C7DB-C7DA-40F6-9EEF-F1B0253C8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479" t="37791" r="33855" b="23459"/>
          <a:stretch>
            <a:fillRect/>
          </a:stretch>
        </p:blipFill>
        <p:spPr bwMode="auto">
          <a:xfrm>
            <a:off x="1403350" y="1844675"/>
            <a:ext cx="568960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092" name="Text Box 5">
            <a:extLst>
              <a:ext uri="{FF2B5EF4-FFF2-40B4-BE49-F238E27FC236}">
                <a16:creationId xmlns:a16="http://schemas.microsoft.com/office/drawing/2014/main" id="{EE1433F1-7D0A-3AF2-0274-3B4850F66012}"/>
              </a:ext>
            </a:extLst>
          </p:cNvPr>
          <p:cNvSpPr txBox="1">
            <a:spLocks noChangeArrowheads="1"/>
          </p:cNvSpPr>
          <p:nvPr/>
        </p:nvSpPr>
        <p:spPr bwMode="auto">
          <a:xfrm>
            <a:off x="1403350" y="5445125"/>
            <a:ext cx="5184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a:ea typeface="华文楷体" panose="02010600040101010101" pitchFamily="2" charset="-122"/>
              </a:rPr>
              <a:t>图</a:t>
            </a:r>
            <a:r>
              <a:rPr lang="en-US" altLang="zh-CN">
                <a:ea typeface="华文楷体" panose="02010600040101010101" pitchFamily="2" charset="-122"/>
              </a:rPr>
              <a:t>11</a:t>
            </a:r>
            <a:r>
              <a:rPr lang="zh-CN" altLang="en-US">
                <a:ea typeface="华文楷体" panose="02010600040101010101" pitchFamily="2" charset="-122"/>
              </a:rPr>
              <a:t>－</a:t>
            </a:r>
            <a:r>
              <a:rPr lang="en-US" altLang="zh-CN">
                <a:ea typeface="华文楷体" panose="02010600040101010101" pitchFamily="2" charset="-122"/>
              </a:rPr>
              <a:t>15 </a:t>
            </a:r>
            <a:r>
              <a:rPr lang="zh-CN" altLang="en-US">
                <a:ea typeface="华文楷体" panose="02010600040101010101" pitchFamily="2" charset="-122"/>
              </a:rPr>
              <a:t>第三次压缩后的网络图</a:t>
            </a:r>
          </a:p>
        </p:txBody>
      </p:sp>
    </p:spTree>
  </p:cSld>
  <p:clrMapOvr>
    <a:masterClrMapping/>
  </p:clrMapOvr>
  <p:transition spd="slow">
    <p:strips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438040-0E4E-387F-6D79-2D8971607483}"/>
              </a:ext>
            </a:extLst>
          </p:cNvPr>
          <p:cNvSpPr>
            <a:spLocks noGrp="1"/>
          </p:cNvSpPr>
          <p:nvPr>
            <p:ph type="dt" sz="half" idx="10"/>
          </p:nvPr>
        </p:nvSpPr>
        <p:spPr/>
        <p:txBody>
          <a:bodyPr/>
          <a:lstStyle/>
          <a:p>
            <a:r>
              <a:rPr lang="zh-CN" altLang="en-US"/>
              <a:t>讲义制作：李丽，陈志祥审</a:t>
            </a:r>
            <a:endParaRPr lang="en-US" altLang="zh-CN"/>
          </a:p>
        </p:txBody>
      </p:sp>
      <p:sp>
        <p:nvSpPr>
          <p:cNvPr id="346114" name="Rectangle 2">
            <a:extLst>
              <a:ext uri="{FF2B5EF4-FFF2-40B4-BE49-F238E27FC236}">
                <a16:creationId xmlns:a16="http://schemas.microsoft.com/office/drawing/2014/main" id="{4FF07B27-D1FD-C6FF-C269-619739C1EC53}"/>
              </a:ext>
            </a:extLst>
          </p:cNvPr>
          <p:cNvSpPr>
            <a:spLocks noGrp="1"/>
          </p:cNvSpPr>
          <p:nvPr>
            <p:ph type="title" idx="4294967295"/>
          </p:nvPr>
        </p:nvSpPr>
        <p:spPr>
          <a:xfrm>
            <a:off x="395288" y="620713"/>
            <a:ext cx="8229600" cy="1143000"/>
          </a:xfrm>
        </p:spPr>
        <p:txBody>
          <a:bodyPr/>
          <a:lstStyle/>
          <a:p>
            <a:r>
              <a:rPr lang="zh-CN" altLang="en-US" sz="1600" b="1"/>
              <a:t>（</a:t>
            </a:r>
            <a:r>
              <a:rPr lang="en-US" altLang="zh-CN" sz="1600" b="1"/>
              <a:t>6</a:t>
            </a:r>
            <a:r>
              <a:rPr lang="zh-CN" altLang="en-US" sz="1600" b="1"/>
              <a:t>）第三次压缩后关键路线有两条：</a:t>
            </a:r>
            <a:r>
              <a:rPr lang="en-US" altLang="zh-CN" sz="1600" b="1"/>
              <a:t>A</a:t>
            </a:r>
            <a:r>
              <a:rPr lang="zh-CN" altLang="en-US" sz="1600" b="1"/>
              <a:t>－</a:t>
            </a:r>
            <a:r>
              <a:rPr lang="en-US" altLang="zh-CN" sz="1600" b="1"/>
              <a:t>B</a:t>
            </a:r>
            <a:r>
              <a:rPr lang="zh-CN" altLang="en-US" sz="1600" b="1"/>
              <a:t>－</a:t>
            </a:r>
            <a:r>
              <a:rPr lang="en-US" altLang="zh-CN" sz="1600" b="1"/>
              <a:t>D</a:t>
            </a:r>
            <a:r>
              <a:rPr lang="zh-CN" altLang="en-US" sz="1600" b="1"/>
              <a:t>－</a:t>
            </a:r>
            <a:r>
              <a:rPr lang="en-US" altLang="zh-CN" sz="1600" b="1"/>
              <a:t>H</a:t>
            </a:r>
            <a:r>
              <a:rPr lang="zh-CN" altLang="en-US" sz="1600" b="1"/>
              <a:t>－终点和</a:t>
            </a:r>
            <a:r>
              <a:rPr lang="en-US" altLang="zh-CN" sz="1600" b="1"/>
              <a:t>A</a:t>
            </a:r>
            <a:r>
              <a:rPr lang="zh-CN" altLang="en-US" sz="1600" b="1"/>
              <a:t>－</a:t>
            </a:r>
            <a:r>
              <a:rPr lang="en-US" altLang="zh-CN" sz="1600" b="1"/>
              <a:t>E</a:t>
            </a:r>
            <a:r>
              <a:rPr lang="zh-CN" altLang="en-US" sz="1600" b="1"/>
              <a:t>－</a:t>
            </a:r>
            <a:r>
              <a:rPr lang="en-US" altLang="zh-CN" sz="1600" b="1"/>
              <a:t>G</a:t>
            </a:r>
            <a:r>
              <a:rPr lang="zh-CN" altLang="en-US" sz="1600" b="1"/>
              <a:t>－终点。在</a:t>
            </a:r>
            <a:r>
              <a:rPr lang="en-US" altLang="zh-CN" sz="1600" b="1"/>
              <a:t>A</a:t>
            </a:r>
            <a:r>
              <a:rPr lang="zh-CN" altLang="en-US" sz="1600" b="1"/>
              <a:t>－</a:t>
            </a:r>
            <a:r>
              <a:rPr lang="en-US" altLang="zh-CN" sz="1600" b="1"/>
              <a:t>E</a:t>
            </a:r>
            <a:r>
              <a:rPr lang="zh-CN" altLang="en-US" sz="1600" b="1"/>
              <a:t>－</a:t>
            </a:r>
            <a:r>
              <a:rPr lang="en-US" altLang="zh-CN" sz="1600" b="1"/>
              <a:t>G</a:t>
            </a:r>
            <a:r>
              <a:rPr lang="zh-CN" altLang="en-US" sz="1600" b="1"/>
              <a:t>－终点中，作业</a:t>
            </a:r>
            <a:r>
              <a:rPr lang="en-US" altLang="zh-CN" sz="1600" b="1"/>
              <a:t>E</a:t>
            </a:r>
            <a:r>
              <a:rPr lang="zh-CN" altLang="en-US" sz="1600" b="1"/>
              <a:t>的直接费用变化率最小（</a:t>
            </a:r>
            <a:r>
              <a:rPr lang="en-US" altLang="zh-CN" sz="1600" b="1"/>
              <a:t>300</a:t>
            </a:r>
            <a:r>
              <a:rPr lang="zh-CN" altLang="en-US" sz="1600" b="1"/>
              <a:t>），将其压缩</a:t>
            </a:r>
            <a:r>
              <a:rPr lang="en-US" altLang="zh-CN" sz="1600" b="1"/>
              <a:t>1</a:t>
            </a:r>
            <a:r>
              <a:rPr lang="zh-CN" altLang="en-US" sz="1600" b="1"/>
              <a:t>天；在另一条关键路线上，作业</a:t>
            </a:r>
            <a:r>
              <a:rPr lang="en-US" altLang="zh-CN" sz="1600" b="1"/>
              <a:t>D</a:t>
            </a:r>
            <a:r>
              <a:rPr lang="zh-CN" altLang="en-US" sz="1600" b="1"/>
              <a:t>的直接费用变化率最小（</a:t>
            </a:r>
            <a:r>
              <a:rPr lang="en-US" altLang="zh-CN" sz="1600" b="1"/>
              <a:t>300</a:t>
            </a:r>
            <a:r>
              <a:rPr lang="zh-CN" altLang="en-US" sz="1600" b="1"/>
              <a:t>），因为作业</a:t>
            </a:r>
            <a:r>
              <a:rPr lang="en-US" altLang="zh-CN" sz="1600" b="1"/>
              <a:t>B</a:t>
            </a:r>
            <a:r>
              <a:rPr lang="zh-CN" altLang="en-US" sz="1600" b="1"/>
              <a:t>和</a:t>
            </a:r>
            <a:r>
              <a:rPr lang="en-US" altLang="zh-CN" sz="1600" b="1"/>
              <a:t>H</a:t>
            </a:r>
            <a:r>
              <a:rPr lang="zh-CN" altLang="en-US" sz="1600" b="1"/>
              <a:t>已经不能压缩了，将</a:t>
            </a:r>
            <a:r>
              <a:rPr lang="en-US" altLang="zh-CN" sz="1600" b="1"/>
              <a:t>D</a:t>
            </a:r>
            <a:r>
              <a:rPr lang="zh-CN" altLang="en-US" sz="1600" b="1"/>
              <a:t>的作业时间压缩</a:t>
            </a:r>
            <a:r>
              <a:rPr lang="en-US" altLang="zh-CN" sz="1600" b="1"/>
              <a:t>1</a:t>
            </a:r>
            <a:r>
              <a:rPr lang="zh-CN" altLang="en-US" sz="1600" b="1"/>
              <a:t>天。另外，值得注意的是，作业</a:t>
            </a:r>
            <a:r>
              <a:rPr lang="en-US" altLang="zh-CN" sz="1600" b="1"/>
              <a:t>A</a:t>
            </a:r>
            <a:r>
              <a:rPr lang="zh-CN" altLang="en-US" sz="1600" b="1"/>
              <a:t>同时在两条关键路线上，压缩</a:t>
            </a:r>
            <a:r>
              <a:rPr lang="en-US" altLang="zh-CN" sz="1600" b="1"/>
              <a:t>A</a:t>
            </a:r>
            <a:r>
              <a:rPr lang="zh-CN" altLang="en-US" sz="1600" b="1"/>
              <a:t>一天，直接费用变化为</a:t>
            </a:r>
            <a:r>
              <a:rPr lang="en-US" altLang="zh-CN" sz="1600" b="1"/>
              <a:t>500</a:t>
            </a:r>
            <a:r>
              <a:rPr lang="zh-CN" altLang="en-US" sz="1600" b="1"/>
              <a:t>元。因此，我们可以同时压缩</a:t>
            </a:r>
            <a:r>
              <a:rPr lang="en-US" altLang="zh-CN" sz="1600" b="1"/>
              <a:t>A</a:t>
            </a:r>
            <a:r>
              <a:rPr lang="zh-CN" altLang="en-US" sz="1600" b="1"/>
              <a:t>、</a:t>
            </a:r>
            <a:r>
              <a:rPr lang="en-US" altLang="zh-CN" sz="1600" b="1"/>
              <a:t>E</a:t>
            </a:r>
            <a:r>
              <a:rPr lang="zh-CN" altLang="en-US" sz="1600" b="1"/>
              <a:t>、</a:t>
            </a:r>
            <a:r>
              <a:rPr lang="en-US" altLang="zh-CN" sz="1600" b="1"/>
              <a:t>D</a:t>
            </a:r>
            <a:r>
              <a:rPr lang="zh-CN" altLang="en-US" sz="1600" b="1"/>
              <a:t>一天。作业</a:t>
            </a:r>
            <a:r>
              <a:rPr lang="en-US" altLang="zh-CN" sz="1600" b="1"/>
              <a:t>A</a:t>
            </a:r>
            <a:r>
              <a:rPr lang="zh-CN" altLang="en-US" sz="1600" b="1"/>
              <a:t>和</a:t>
            </a:r>
            <a:r>
              <a:rPr lang="en-US" altLang="zh-CN" sz="1600" b="1"/>
              <a:t>E</a:t>
            </a:r>
            <a:r>
              <a:rPr lang="zh-CN" altLang="en-US" sz="1600" b="1"/>
              <a:t>不能再赶工了。更新后的网络见图</a:t>
            </a:r>
            <a:r>
              <a:rPr lang="en-US" altLang="zh-CN" sz="1600" b="1"/>
              <a:t>11</a:t>
            </a:r>
            <a:r>
              <a:rPr lang="zh-CN" altLang="en-US" sz="1600" b="1"/>
              <a:t>－</a:t>
            </a:r>
            <a:r>
              <a:rPr lang="en-US" altLang="zh-CN" sz="1600" b="1"/>
              <a:t>16</a:t>
            </a:r>
            <a:r>
              <a:rPr lang="zh-CN" altLang="en-US" sz="1600" b="1"/>
              <a:t>。此时的直接费用＝</a:t>
            </a:r>
            <a:r>
              <a:rPr lang="en-US" altLang="zh-CN" sz="1600" b="1"/>
              <a:t>11400+500+300+300</a:t>
            </a:r>
            <a:r>
              <a:rPr lang="zh-CN" altLang="en-US" sz="1600" b="1"/>
              <a:t>＝</a:t>
            </a:r>
            <a:r>
              <a:rPr lang="en-US" altLang="zh-CN" sz="1600" b="1"/>
              <a:t>12500</a:t>
            </a:r>
            <a:r>
              <a:rPr lang="zh-CN" altLang="en-US" sz="1600" b="1"/>
              <a:t>元，间接费用＝</a:t>
            </a:r>
            <a:r>
              <a:rPr lang="en-US" altLang="zh-CN" sz="1600" b="1"/>
              <a:t>14×400</a:t>
            </a:r>
            <a:r>
              <a:rPr lang="zh-CN" altLang="en-US" sz="1600" b="1"/>
              <a:t>＝</a:t>
            </a:r>
            <a:r>
              <a:rPr lang="en-US" altLang="zh-CN" sz="1600" b="1"/>
              <a:t>5600</a:t>
            </a:r>
            <a:r>
              <a:rPr lang="zh-CN" altLang="en-US" sz="1600" b="1"/>
              <a:t>元，总费用＝</a:t>
            </a:r>
            <a:r>
              <a:rPr lang="en-US" altLang="zh-CN" sz="1600" b="1"/>
              <a:t>12500+5600</a:t>
            </a:r>
            <a:r>
              <a:rPr lang="zh-CN" altLang="en-US" sz="1600" b="1"/>
              <a:t>＝</a:t>
            </a:r>
            <a:r>
              <a:rPr lang="en-US" altLang="zh-CN" sz="1600" b="1"/>
              <a:t>18100</a:t>
            </a:r>
            <a:r>
              <a:rPr lang="zh-CN" altLang="en-US" sz="1600" b="1"/>
              <a:t>元。比第三次压缩后的总费用高。因此，最佳工期是</a:t>
            </a:r>
            <a:r>
              <a:rPr lang="en-US" altLang="zh-CN" sz="1600" b="1"/>
              <a:t>16</a:t>
            </a:r>
            <a:r>
              <a:rPr lang="zh-CN" altLang="en-US" sz="1600" b="1"/>
              <a:t>天。</a:t>
            </a:r>
          </a:p>
        </p:txBody>
      </p:sp>
      <p:pic>
        <p:nvPicPr>
          <p:cNvPr id="346115" name="Picture 4">
            <a:extLst>
              <a:ext uri="{FF2B5EF4-FFF2-40B4-BE49-F238E27FC236}">
                <a16:creationId xmlns:a16="http://schemas.microsoft.com/office/drawing/2014/main" id="{D8FE053E-FD87-5CFC-839D-091665C39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906" t="28354" r="35625" b="31958"/>
          <a:stretch>
            <a:fillRect/>
          </a:stretch>
        </p:blipFill>
        <p:spPr bwMode="auto">
          <a:xfrm>
            <a:off x="1042988" y="2205038"/>
            <a:ext cx="6192837"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6116" name="Text Box 5">
            <a:extLst>
              <a:ext uri="{FF2B5EF4-FFF2-40B4-BE49-F238E27FC236}">
                <a16:creationId xmlns:a16="http://schemas.microsoft.com/office/drawing/2014/main" id="{F2409D01-DA6E-7A13-1154-168167CB1223}"/>
              </a:ext>
            </a:extLst>
          </p:cNvPr>
          <p:cNvSpPr txBox="1">
            <a:spLocks noChangeArrowheads="1"/>
          </p:cNvSpPr>
          <p:nvPr/>
        </p:nvSpPr>
        <p:spPr bwMode="auto">
          <a:xfrm>
            <a:off x="2268538" y="5949950"/>
            <a:ext cx="4175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a:ea typeface="华文楷体" panose="02010600040101010101" pitchFamily="2" charset="-122"/>
              </a:rPr>
              <a:t>图</a:t>
            </a:r>
            <a:r>
              <a:rPr lang="en-US" altLang="zh-CN">
                <a:ea typeface="华文楷体" panose="02010600040101010101" pitchFamily="2" charset="-122"/>
              </a:rPr>
              <a:t>11</a:t>
            </a:r>
            <a:r>
              <a:rPr lang="zh-CN" altLang="en-US">
                <a:ea typeface="华文楷体" panose="02010600040101010101" pitchFamily="2" charset="-122"/>
              </a:rPr>
              <a:t>－</a:t>
            </a:r>
            <a:r>
              <a:rPr lang="en-US" altLang="zh-CN">
                <a:ea typeface="华文楷体" panose="02010600040101010101" pitchFamily="2" charset="-122"/>
              </a:rPr>
              <a:t>16 </a:t>
            </a:r>
            <a:r>
              <a:rPr lang="zh-CN" altLang="en-US">
                <a:ea typeface="华文楷体" panose="02010600040101010101" pitchFamily="2" charset="-122"/>
              </a:rPr>
              <a:t>第四次压缩后的网络图</a:t>
            </a:r>
          </a:p>
        </p:txBody>
      </p:sp>
    </p:spTree>
  </p:cSld>
  <p:clrMapOvr>
    <a:masterClrMapping/>
  </p:clrMapOvr>
  <p:transition spd="slow">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5995CCA-374D-4C7D-2F87-E7702A3ECBCD}"/>
              </a:ext>
            </a:extLst>
          </p:cNvPr>
          <p:cNvSpPr>
            <a:spLocks noGrp="1"/>
          </p:cNvSpPr>
          <p:nvPr>
            <p:ph type="dt" sz="half" idx="10"/>
          </p:nvPr>
        </p:nvSpPr>
        <p:spPr/>
        <p:txBody>
          <a:bodyPr/>
          <a:lstStyle/>
          <a:p>
            <a:r>
              <a:rPr lang="zh-CN" altLang="en-US"/>
              <a:t>讲义制作：李丽，陈志祥审</a:t>
            </a:r>
            <a:endParaRPr lang="en-US" altLang="zh-CN"/>
          </a:p>
        </p:txBody>
      </p:sp>
      <p:sp>
        <p:nvSpPr>
          <p:cNvPr id="350210" name="Rectangle 2">
            <a:extLst>
              <a:ext uri="{FF2B5EF4-FFF2-40B4-BE49-F238E27FC236}">
                <a16:creationId xmlns:a16="http://schemas.microsoft.com/office/drawing/2014/main" id="{B3CBDB05-01BB-0823-4DB2-3044774330DB}"/>
              </a:ext>
            </a:extLst>
          </p:cNvPr>
          <p:cNvSpPr>
            <a:spLocks noGrp="1" noChangeArrowheads="1"/>
          </p:cNvSpPr>
          <p:nvPr>
            <p:ph type="title"/>
          </p:nvPr>
        </p:nvSpPr>
        <p:spPr/>
        <p:txBody>
          <a:bodyPr/>
          <a:lstStyle/>
          <a:p>
            <a:r>
              <a:rPr lang="zh-CN" altLang="en-US"/>
              <a:t>本章小结</a:t>
            </a:r>
          </a:p>
        </p:txBody>
      </p:sp>
      <p:sp>
        <p:nvSpPr>
          <p:cNvPr id="350211" name="Rectangle 3">
            <a:extLst>
              <a:ext uri="{FF2B5EF4-FFF2-40B4-BE49-F238E27FC236}">
                <a16:creationId xmlns:a16="http://schemas.microsoft.com/office/drawing/2014/main" id="{93139B3A-2D3F-2CA6-DC7C-59373C91FFA8}"/>
              </a:ext>
            </a:extLst>
          </p:cNvPr>
          <p:cNvSpPr>
            <a:spLocks noGrp="1" noChangeArrowheads="1"/>
          </p:cNvSpPr>
          <p:nvPr>
            <p:ph type="body" idx="1"/>
          </p:nvPr>
        </p:nvSpPr>
        <p:spPr>
          <a:xfrm>
            <a:off x="457200" y="1600200"/>
            <a:ext cx="8229600" cy="2044700"/>
          </a:xfrm>
        </p:spPr>
        <p:txBody>
          <a:bodyPr/>
          <a:lstStyle/>
          <a:p>
            <a:pPr>
              <a:buFontTx/>
              <a:buNone/>
            </a:pPr>
            <a:r>
              <a:rPr lang="en-US" altLang="zh-CN"/>
              <a:t>       </a:t>
            </a:r>
            <a:r>
              <a:rPr lang="zh-CN" altLang="en-US" sz="2400"/>
              <a:t>本章讨论了项目管理问题。第一节介绍了项目管理和项目组织的特点；第二节重点介绍了网络计划方法及其应用；第三节重点讨论了网络参数的计算和网络图的时间费用优化。</a:t>
            </a:r>
          </a:p>
        </p:txBody>
      </p:sp>
    </p:spTree>
  </p:cSld>
  <p:clrMapOvr>
    <a:masterClrMapping/>
  </p:clrMapOvr>
  <p:transition spd="slow">
    <p:strips dir="rd"/>
  </p:transition>
</p:sld>
</file>

<file path=ppt/theme/theme1.xml><?xml version="1.0" encoding="utf-8"?>
<a:theme xmlns:a="http://schemas.openxmlformats.org/drawingml/2006/main" name="Mountain Top">
  <a:themeElements>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Mountain To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Mountain Top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Mountain Top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Mountain Top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Mountain Top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Mountain Top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Mountain Top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Mountain Top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Mountain Top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Mountain Top</Template>
  <TotalTime>3292</TotalTime>
  <Words>2954</Words>
  <Application>Microsoft Office PowerPoint</Application>
  <PresentationFormat>全屏显示(4:3)</PresentationFormat>
  <Paragraphs>363</Paragraphs>
  <Slides>40</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3" baseType="lpstr">
      <vt:lpstr>Arial</vt:lpstr>
      <vt:lpstr>宋体</vt:lpstr>
      <vt:lpstr>Wingdings</vt:lpstr>
      <vt:lpstr>黑体</vt:lpstr>
      <vt:lpstr>楷体_GB2312</vt:lpstr>
      <vt:lpstr>Maiandra GD</vt:lpstr>
      <vt:lpstr>隶书</vt:lpstr>
      <vt:lpstr>Times New Roman</vt:lpstr>
      <vt:lpstr>Cambria</vt:lpstr>
      <vt:lpstr>华文楷体</vt:lpstr>
      <vt:lpstr>Calibri</vt:lpstr>
      <vt:lpstr>Mountain Top</vt:lpstr>
      <vt:lpstr>公式</vt:lpstr>
      <vt:lpstr>《生产与运作管理》教辅材料参考讲义</vt:lpstr>
      <vt:lpstr>第11章：项目计划与控制</vt:lpstr>
      <vt:lpstr>引导案例：创新有效的项目管理将为企业注入新动力 </vt:lpstr>
      <vt:lpstr>一、 项目管理概述</vt:lpstr>
      <vt:lpstr>（一）项目与项目管理</vt:lpstr>
      <vt:lpstr>PowerPoint 演示文稿</vt:lpstr>
      <vt:lpstr>（1）职能式项目管理组织</vt:lpstr>
      <vt:lpstr>（2）纯项目式项目管理组织</vt:lpstr>
      <vt:lpstr>（3）矩阵式项目管理组织</vt:lpstr>
      <vt:lpstr>二、 网络计划方法</vt:lpstr>
      <vt:lpstr>（一）项目计划方法简介</vt:lpstr>
      <vt:lpstr>（二）网络计划的应用</vt:lpstr>
      <vt:lpstr>（1）工作分解结构</vt:lpstr>
      <vt:lpstr>表11－1是以表格的方式表示的软件开发项目的工作分解结构。</vt:lpstr>
      <vt:lpstr>（2）编制作业清单</vt:lpstr>
      <vt:lpstr>1）确定作业的关系</vt:lpstr>
      <vt:lpstr>表11－2为采用单一时间表示的X公司 新产品生产项目的作业清单。</vt:lpstr>
      <vt:lpstr>2）作业时间估计</vt:lpstr>
      <vt:lpstr>（3）绘制网络图 </vt:lpstr>
      <vt:lpstr>应用范例11-2：Z装修公司办公楼项目的作业清单如表11－4所示，绘制该项目的节点型网络图。</vt:lpstr>
      <vt:lpstr>应用范例11-2：Z装修公司办公楼项目的作业清单如表11－4所示，绘制该项目的节点型网络图。</vt:lpstr>
      <vt:lpstr>PowerPoint 演示文稿</vt:lpstr>
      <vt:lpstr>三、 网络参数的计算与优化</vt:lpstr>
      <vt:lpstr>（一）网络参数计算 </vt:lpstr>
      <vt:lpstr>1. ES和EF</vt:lpstr>
      <vt:lpstr>应用范例11-3：计算Z装修公司办公楼项目中各作业的最早开始时间和最早结束时间，表11－4列出了各作业的持续时间。</vt:lpstr>
      <vt:lpstr>2. LS和LF</vt:lpstr>
      <vt:lpstr>应用范例11-4：计算Z装修公司办公楼项目中各作业的最迟结束时间和最迟开始时间，表11－4列出了各作业的持续时间。</vt:lpstr>
      <vt:lpstr>3. 时差和关键路线</vt:lpstr>
      <vt:lpstr>应用范例11-5：计算Z装修公司办公楼项目中各作业的时差并确定该项目的关键路线。</vt:lpstr>
      <vt:lpstr>4. 不确定性因素与项目完成的概率</vt:lpstr>
      <vt:lpstr>应用范例11-6：根据Z装修公司办公楼项目的作业清单（表11－4）和关键路线（图11－11），计算： （1）项目在28天内完成的概率是多少？ （2）完成概率为95%的工期为多少？</vt:lpstr>
      <vt:lpstr>（二）时间与费用优化</vt:lpstr>
      <vt:lpstr>（二）时间与费用优化</vt:lpstr>
      <vt:lpstr>应用范例11-7：Z装修公司办公楼项目的各作业的正常时间、正常费用、赶工时间和赶工费用如表11－6所示，该项目每天的间接费用为400元。求最佳工期。 表11－6　Z装修公司办公楼项目的费用统计表</vt:lpstr>
      <vt:lpstr>解答：（1）根据公式11－12计算各作业的直接费用变化率，结果填入表11－6最后一列。 （2）根据应用范例11－5可知，关键路线为A－B－D－H－终点，总工期为26天。 直接费用＝9400元（表11－6第4列之和），间接费用＝26×400＝10400元，总费用＝9400+10400＝19800元。 （3）从关键路线A－B－D－H－终点入手，作业H的直接费用变化率最小，将其压缩4天，更新后的网络见图11－13。作业H不能再赶工了。此时的直接费用＝9400+400＝9800元，间接费用＝22×400＝8800元，总费用＝9800+8800＝18600元。</vt:lpstr>
      <vt:lpstr>（4）第一次压缩后的关键路线仍然是A－B－D－H－终点，作业B的直接费用变化率最小，将其压缩2天，更新后的网络见图11－14。作业B不能再赶工了。此时的直接费用＝9800+400＝10200元，间接费用＝20×400＝8000元，总费用＝10200+8000＝18200元。</vt:lpstr>
      <vt:lpstr>（5）第二次压缩后的关键路线还是A－B－D－H－终点，作业D的直接费用变化率最小，为了保证压缩后D还在关键路线上，只能压缩4天，更新后的网络见图11－15。此时的直接费用＝10200+4*300＝11400元，间接费用＝16×400＝6400元，总费用＝11400+6400＝17800元。</vt:lpstr>
      <vt:lpstr>（6）第三次压缩后关键路线有两条：A－B－D－H－终点和A－E－G－终点。在A－E－G－终点中，作业E的直接费用变化率最小（300），将其压缩1天；在另一条关键路线上，作业D的直接费用变化率最小（300），因为作业B和H已经不能压缩了，将D的作业时间压缩1天。另外，值得注意的是，作业A同时在两条关键路线上，压缩A一天，直接费用变化为500元。因此，我们可以同时压缩A、E、D一天。作业A和E不能再赶工了。更新后的网络见图11－16。此时的直接费用＝11400+500+300+300＝12500元，间接费用＝14×400＝5600元，总费用＝12500+5600＝18100元。比第三次压缩后的总费用高。因此，最佳工期是16天。</vt:lpstr>
      <vt:lpstr>本章小结</vt:lpstr>
    </vt:vector>
  </TitlesOfParts>
  <Company>mns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中山大学管理学院管理学院 高级经理EMBA培训班 《生产与运作管理》</dc:title>
  <dc:creator>a</dc:creator>
  <cp:lastModifiedBy>先生 刘</cp:lastModifiedBy>
  <cp:revision>216</cp:revision>
  <dcterms:created xsi:type="dcterms:W3CDTF">2004-02-09T09:24:44Z</dcterms:created>
  <dcterms:modified xsi:type="dcterms:W3CDTF">2023-10-23T06:16:39Z</dcterms:modified>
</cp:coreProperties>
</file>