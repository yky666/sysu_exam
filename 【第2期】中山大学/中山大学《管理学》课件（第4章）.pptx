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20"/>
  </p:notesMasterIdLst>
  <p:handoutMasterIdLst>
    <p:handoutMasterId r:id="rId21"/>
  </p:handoutMasterIdLst>
  <p:sldIdLst>
    <p:sldId id="324" r:id="rId2"/>
    <p:sldId id="257" r:id="rId3"/>
    <p:sldId id="329" r:id="rId4"/>
    <p:sldId id="325" r:id="rId5"/>
    <p:sldId id="327" r:id="rId6"/>
    <p:sldId id="328" r:id="rId7"/>
    <p:sldId id="330" r:id="rId8"/>
    <p:sldId id="333" r:id="rId9"/>
    <p:sldId id="335" r:id="rId10"/>
    <p:sldId id="334" r:id="rId11"/>
    <p:sldId id="337" r:id="rId12"/>
    <p:sldId id="338" r:id="rId13"/>
    <p:sldId id="339" r:id="rId14"/>
    <p:sldId id="341" r:id="rId15"/>
    <p:sldId id="342" r:id="rId16"/>
    <p:sldId id="344" r:id="rId17"/>
    <p:sldId id="345" r:id="rId18"/>
    <p:sldId id="346" r:id="rId1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6"/>
    </p:cViewPr>
  </p:sorterViewPr>
  <p:notesViewPr>
    <p:cSldViewPr>
      <p:cViewPr varScale="1">
        <p:scale>
          <a:sx n="40" d="100"/>
          <a:sy n="40" d="100"/>
        </p:scale>
        <p:origin x="-148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A1CDEBF-D6EE-985F-1D27-4662023B686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63491" name="Rectangle 3">
            <a:extLst>
              <a:ext uri="{FF2B5EF4-FFF2-40B4-BE49-F238E27FC236}">
                <a16:creationId xmlns:a16="http://schemas.microsoft.com/office/drawing/2014/main" id="{3872B514-65A8-246C-8F10-55FB46F1BF52}"/>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63492" name="Rectangle 4">
            <a:extLst>
              <a:ext uri="{FF2B5EF4-FFF2-40B4-BE49-F238E27FC236}">
                <a16:creationId xmlns:a16="http://schemas.microsoft.com/office/drawing/2014/main" id="{2631E328-0E7B-E20B-F7F0-8B4AD227FDC5}"/>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63493" name="Rectangle 5">
            <a:extLst>
              <a:ext uri="{FF2B5EF4-FFF2-40B4-BE49-F238E27FC236}">
                <a16:creationId xmlns:a16="http://schemas.microsoft.com/office/drawing/2014/main" id="{8FBB0DEC-18D5-D6BD-00AD-0F5ACF69441F}"/>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193A03DF-68E5-48F1-9090-7D05DBFEA847}"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6D1E89C-E9BE-1B1D-D279-2CB6171F326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65539" name="Rectangle 3">
            <a:extLst>
              <a:ext uri="{FF2B5EF4-FFF2-40B4-BE49-F238E27FC236}">
                <a16:creationId xmlns:a16="http://schemas.microsoft.com/office/drawing/2014/main" id="{0B991616-9CAD-09B5-09D1-234CC863E946}"/>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65540" name="Rectangle 4">
            <a:extLst>
              <a:ext uri="{FF2B5EF4-FFF2-40B4-BE49-F238E27FC236}">
                <a16:creationId xmlns:a16="http://schemas.microsoft.com/office/drawing/2014/main" id="{B656F97A-9364-1C48-8AF0-6165A6660C68}"/>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41" name="Rectangle 5">
            <a:extLst>
              <a:ext uri="{FF2B5EF4-FFF2-40B4-BE49-F238E27FC236}">
                <a16:creationId xmlns:a16="http://schemas.microsoft.com/office/drawing/2014/main" id="{E7B752B8-AA79-37DA-3A2D-AA4C0B8B134D}"/>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5542" name="Rectangle 6">
            <a:extLst>
              <a:ext uri="{FF2B5EF4-FFF2-40B4-BE49-F238E27FC236}">
                <a16:creationId xmlns:a16="http://schemas.microsoft.com/office/drawing/2014/main" id="{6718CC73-93D0-8534-46BB-0221079A8C14}"/>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65543" name="Rectangle 7">
            <a:extLst>
              <a:ext uri="{FF2B5EF4-FFF2-40B4-BE49-F238E27FC236}">
                <a16:creationId xmlns:a16="http://schemas.microsoft.com/office/drawing/2014/main" id="{96FED97A-A61F-06F5-7DFF-9C2B0EC721BF}"/>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64AC4BE-9676-4786-8B35-B13A4157CBD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C21CCC-8627-2E55-C3CF-F28D5386BD67}"/>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97B305F-2656-A701-AEEB-700F7262FEB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CDE677C-8CE1-8ADC-ADDD-083A75531E2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783FC3EB-8D23-A1C6-E5D7-57B5BECE0A4B}"/>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600150F8-47BD-B254-C0E1-97A592DE48F1}"/>
              </a:ext>
            </a:extLst>
          </p:cNvPr>
          <p:cNvSpPr>
            <a:spLocks noGrp="1"/>
          </p:cNvSpPr>
          <p:nvPr>
            <p:ph type="sldNum" sz="quarter" idx="12"/>
          </p:nvPr>
        </p:nvSpPr>
        <p:spPr/>
        <p:txBody>
          <a:bodyPr/>
          <a:lstStyle>
            <a:lvl1pPr>
              <a:defRPr/>
            </a:lvl1pPr>
          </a:lstStyle>
          <a:p>
            <a:fld id="{5F130A76-B92E-47E7-B1F8-4D88D2A07B6A}" type="slidenum">
              <a:rPr lang="en-US" altLang="zh-CN"/>
              <a:pPr/>
              <a:t>‹#›</a:t>
            </a:fld>
            <a:endParaRPr lang="en-US" altLang="zh-CN"/>
          </a:p>
        </p:txBody>
      </p:sp>
    </p:spTree>
    <p:extLst>
      <p:ext uri="{BB962C8B-B14F-4D97-AF65-F5344CB8AC3E}">
        <p14:creationId xmlns:p14="http://schemas.microsoft.com/office/powerpoint/2010/main" val="2556662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4B678-CBA0-E845-EA15-EF986E32A2D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D07630-9F69-C74B-CEF9-41627E5C2F4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2FCF24C-E29A-9076-D100-F405413D179E}"/>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31160C47-D512-F60D-F188-D6AB2EC72EAE}"/>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590CA0EB-FE81-613B-DD1A-8C3B7AF3B4D1}"/>
              </a:ext>
            </a:extLst>
          </p:cNvPr>
          <p:cNvSpPr>
            <a:spLocks noGrp="1"/>
          </p:cNvSpPr>
          <p:nvPr>
            <p:ph type="sldNum" sz="quarter" idx="12"/>
          </p:nvPr>
        </p:nvSpPr>
        <p:spPr/>
        <p:txBody>
          <a:bodyPr/>
          <a:lstStyle>
            <a:lvl1pPr>
              <a:defRPr/>
            </a:lvl1pPr>
          </a:lstStyle>
          <a:p>
            <a:fld id="{5FA5C628-2CA9-4429-9AD9-0FB5F6599496}" type="slidenum">
              <a:rPr lang="en-US" altLang="zh-CN"/>
              <a:pPr/>
              <a:t>‹#›</a:t>
            </a:fld>
            <a:endParaRPr lang="en-US" altLang="zh-CN"/>
          </a:p>
        </p:txBody>
      </p:sp>
    </p:spTree>
    <p:extLst>
      <p:ext uri="{BB962C8B-B14F-4D97-AF65-F5344CB8AC3E}">
        <p14:creationId xmlns:p14="http://schemas.microsoft.com/office/powerpoint/2010/main" val="2119596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94C54D-75F1-F836-FA18-72D0E65687C1}"/>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6EC37DC-C3B6-35E8-71E1-0D911E8DFAF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AC86CD0-AE35-6235-F4F7-9397756077FF}"/>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A069F2F9-64C2-BDB7-AF7C-B08A9CAFE30E}"/>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DC5A8E78-ABFC-7792-8F8C-27CAC884E83D}"/>
              </a:ext>
            </a:extLst>
          </p:cNvPr>
          <p:cNvSpPr>
            <a:spLocks noGrp="1"/>
          </p:cNvSpPr>
          <p:nvPr>
            <p:ph type="sldNum" sz="quarter" idx="12"/>
          </p:nvPr>
        </p:nvSpPr>
        <p:spPr/>
        <p:txBody>
          <a:bodyPr/>
          <a:lstStyle>
            <a:lvl1pPr>
              <a:defRPr/>
            </a:lvl1pPr>
          </a:lstStyle>
          <a:p>
            <a:fld id="{CECA4936-4011-4E57-B6D4-11CEFAB9AB23}" type="slidenum">
              <a:rPr lang="en-US" altLang="zh-CN"/>
              <a:pPr/>
              <a:t>‹#›</a:t>
            </a:fld>
            <a:endParaRPr lang="en-US" altLang="zh-CN"/>
          </a:p>
        </p:txBody>
      </p:sp>
    </p:spTree>
    <p:extLst>
      <p:ext uri="{BB962C8B-B14F-4D97-AF65-F5344CB8AC3E}">
        <p14:creationId xmlns:p14="http://schemas.microsoft.com/office/powerpoint/2010/main" val="290477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3E668-343C-FA39-50F6-C91D1FE9F14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9BEADF1-DB2B-068F-A6B5-3F8FEA15B741}"/>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64AD9F7-EF52-A1F7-C7F5-AEBDD6672EEF}"/>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6131058-880A-0198-2083-A3E1B4BF47CE}"/>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F36AEDF2-D0A1-1CEB-3D2C-226DD6FDC951}"/>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46396751-903C-F60C-3F3A-05269A67B213}"/>
              </a:ext>
            </a:extLst>
          </p:cNvPr>
          <p:cNvSpPr>
            <a:spLocks noGrp="1"/>
          </p:cNvSpPr>
          <p:nvPr>
            <p:ph type="sldNum" sz="quarter" idx="12"/>
          </p:nvPr>
        </p:nvSpPr>
        <p:spPr/>
        <p:txBody>
          <a:bodyPr/>
          <a:lstStyle>
            <a:lvl1pPr>
              <a:defRPr/>
            </a:lvl1pPr>
          </a:lstStyle>
          <a:p>
            <a:fld id="{D7660900-EB86-489D-8E37-35F871466CFF}" type="slidenum">
              <a:rPr lang="en-US" altLang="zh-CN"/>
              <a:pPr/>
              <a:t>‹#›</a:t>
            </a:fld>
            <a:endParaRPr lang="en-US" altLang="zh-CN"/>
          </a:p>
        </p:txBody>
      </p:sp>
    </p:spTree>
    <p:extLst>
      <p:ext uri="{BB962C8B-B14F-4D97-AF65-F5344CB8AC3E}">
        <p14:creationId xmlns:p14="http://schemas.microsoft.com/office/powerpoint/2010/main" val="3775228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426BE-525C-A6C2-4007-23BE3C25632D}"/>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EEED867-D6B4-93FE-E0F8-32383E65F2F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2D97656-BEFD-8E68-FBC6-29D915F32ED9}"/>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ED204BB-CBD0-C71E-7112-CDF0F925BEA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48A126-3847-77FE-6FD7-A66EB1CC212C}"/>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229BF0A-BBDC-DF4A-7DCB-E696D76D3B36}"/>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8" name="页脚占位符 7">
            <a:extLst>
              <a:ext uri="{FF2B5EF4-FFF2-40B4-BE49-F238E27FC236}">
                <a16:creationId xmlns:a16="http://schemas.microsoft.com/office/drawing/2014/main" id="{F2A486E5-5CC4-7EB2-FEFB-3F9DA4F3E486}"/>
              </a:ext>
            </a:extLst>
          </p:cNvPr>
          <p:cNvSpPr>
            <a:spLocks noGrp="1"/>
          </p:cNvSpPr>
          <p:nvPr>
            <p:ph type="ftr" sz="quarter" idx="11"/>
          </p:nvPr>
        </p:nvSpPr>
        <p:spPr/>
        <p:txBody>
          <a:bodyPr/>
          <a:lstStyle>
            <a:lvl1pPr>
              <a:defRPr/>
            </a:lvl1pPr>
          </a:lstStyle>
          <a:p>
            <a:r>
              <a:rPr lang="en-US" altLang="zh-CN"/>
              <a:t>管理学</a:t>
            </a:r>
          </a:p>
        </p:txBody>
      </p:sp>
      <p:sp>
        <p:nvSpPr>
          <p:cNvPr id="9" name="灯片编号占位符 8">
            <a:extLst>
              <a:ext uri="{FF2B5EF4-FFF2-40B4-BE49-F238E27FC236}">
                <a16:creationId xmlns:a16="http://schemas.microsoft.com/office/drawing/2014/main" id="{61C84BF4-8E34-5EEE-7144-01F2D4E4BBB6}"/>
              </a:ext>
            </a:extLst>
          </p:cNvPr>
          <p:cNvSpPr>
            <a:spLocks noGrp="1"/>
          </p:cNvSpPr>
          <p:nvPr>
            <p:ph type="sldNum" sz="quarter" idx="12"/>
          </p:nvPr>
        </p:nvSpPr>
        <p:spPr/>
        <p:txBody>
          <a:bodyPr/>
          <a:lstStyle>
            <a:lvl1pPr>
              <a:defRPr/>
            </a:lvl1pPr>
          </a:lstStyle>
          <a:p>
            <a:fld id="{9252D2EC-FEFB-4469-84DD-0A3FB469DA68}" type="slidenum">
              <a:rPr lang="en-US" altLang="zh-CN"/>
              <a:pPr/>
              <a:t>‹#›</a:t>
            </a:fld>
            <a:endParaRPr lang="en-US" altLang="zh-CN"/>
          </a:p>
        </p:txBody>
      </p:sp>
    </p:spTree>
    <p:extLst>
      <p:ext uri="{BB962C8B-B14F-4D97-AF65-F5344CB8AC3E}">
        <p14:creationId xmlns:p14="http://schemas.microsoft.com/office/powerpoint/2010/main" val="20239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3D5922-BFB0-BACB-7A1E-9A84B891531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667444D-E5E8-BE6B-B26F-CAF32BD5CAD9}"/>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A68DA949-D264-600B-4822-CD12D3485F6A}"/>
              </a:ext>
            </a:extLst>
          </p:cNvPr>
          <p:cNvSpPr>
            <a:spLocks noGrp="1"/>
          </p:cNvSpPr>
          <p:nvPr>
            <p:ph type="ftr" sz="quarter" idx="11"/>
          </p:nvPr>
        </p:nvSpPr>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59AF1C71-803E-B03C-B068-EC0364746605}"/>
              </a:ext>
            </a:extLst>
          </p:cNvPr>
          <p:cNvSpPr>
            <a:spLocks noGrp="1"/>
          </p:cNvSpPr>
          <p:nvPr>
            <p:ph type="sldNum" sz="quarter" idx="12"/>
          </p:nvPr>
        </p:nvSpPr>
        <p:spPr/>
        <p:txBody>
          <a:bodyPr/>
          <a:lstStyle>
            <a:lvl1pPr>
              <a:defRPr/>
            </a:lvl1pPr>
          </a:lstStyle>
          <a:p>
            <a:fld id="{B0BB02E8-8C11-4619-AA37-FA67E8109063}" type="slidenum">
              <a:rPr lang="en-US" altLang="zh-CN"/>
              <a:pPr/>
              <a:t>‹#›</a:t>
            </a:fld>
            <a:endParaRPr lang="en-US" altLang="zh-CN"/>
          </a:p>
        </p:txBody>
      </p:sp>
    </p:spTree>
    <p:extLst>
      <p:ext uri="{BB962C8B-B14F-4D97-AF65-F5344CB8AC3E}">
        <p14:creationId xmlns:p14="http://schemas.microsoft.com/office/powerpoint/2010/main" val="1382005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0A1858-93E2-0A26-80D2-64CFB9A89A6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3" name="页脚占位符 2">
            <a:extLst>
              <a:ext uri="{FF2B5EF4-FFF2-40B4-BE49-F238E27FC236}">
                <a16:creationId xmlns:a16="http://schemas.microsoft.com/office/drawing/2014/main" id="{0E7E08C6-38D6-C23A-5CC9-7E132389CA2E}"/>
              </a:ext>
            </a:extLst>
          </p:cNvPr>
          <p:cNvSpPr>
            <a:spLocks noGrp="1"/>
          </p:cNvSpPr>
          <p:nvPr>
            <p:ph type="ftr" sz="quarter" idx="11"/>
          </p:nvPr>
        </p:nvSpPr>
        <p:spPr/>
        <p:txBody>
          <a:bodyPr/>
          <a:lstStyle>
            <a:lvl1pPr>
              <a:defRPr/>
            </a:lvl1pPr>
          </a:lstStyle>
          <a:p>
            <a:r>
              <a:rPr lang="en-US" altLang="zh-CN"/>
              <a:t>管理学</a:t>
            </a:r>
          </a:p>
        </p:txBody>
      </p:sp>
      <p:sp>
        <p:nvSpPr>
          <p:cNvPr id="4" name="灯片编号占位符 3">
            <a:extLst>
              <a:ext uri="{FF2B5EF4-FFF2-40B4-BE49-F238E27FC236}">
                <a16:creationId xmlns:a16="http://schemas.microsoft.com/office/drawing/2014/main" id="{A8123735-F3AC-CC31-9DAB-ABEA3A6F5C26}"/>
              </a:ext>
            </a:extLst>
          </p:cNvPr>
          <p:cNvSpPr>
            <a:spLocks noGrp="1"/>
          </p:cNvSpPr>
          <p:nvPr>
            <p:ph type="sldNum" sz="quarter" idx="12"/>
          </p:nvPr>
        </p:nvSpPr>
        <p:spPr/>
        <p:txBody>
          <a:bodyPr/>
          <a:lstStyle>
            <a:lvl1pPr>
              <a:defRPr/>
            </a:lvl1pPr>
          </a:lstStyle>
          <a:p>
            <a:fld id="{CDC0EF22-60CF-4127-9DCF-A4C1C2097907}" type="slidenum">
              <a:rPr lang="en-US" altLang="zh-CN"/>
              <a:pPr/>
              <a:t>‹#›</a:t>
            </a:fld>
            <a:endParaRPr lang="en-US" altLang="zh-CN"/>
          </a:p>
        </p:txBody>
      </p:sp>
    </p:spTree>
    <p:extLst>
      <p:ext uri="{BB962C8B-B14F-4D97-AF65-F5344CB8AC3E}">
        <p14:creationId xmlns:p14="http://schemas.microsoft.com/office/powerpoint/2010/main" val="3180627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5FEACE-FA98-EF4C-58DB-7213B0E354FA}"/>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DE5432C-2621-F9C6-264A-7702AAA6C0F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011C1A0-1BEB-89A4-C4DB-4CE01B002E3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9C7691F-2A34-C2E9-8768-84E05CAB1FC0}"/>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1CFB49DB-5E04-0538-11DC-B05EDF665F97}"/>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20B9507A-BB56-499C-51AD-983FBCED279D}"/>
              </a:ext>
            </a:extLst>
          </p:cNvPr>
          <p:cNvSpPr>
            <a:spLocks noGrp="1"/>
          </p:cNvSpPr>
          <p:nvPr>
            <p:ph type="sldNum" sz="quarter" idx="12"/>
          </p:nvPr>
        </p:nvSpPr>
        <p:spPr/>
        <p:txBody>
          <a:bodyPr/>
          <a:lstStyle>
            <a:lvl1pPr>
              <a:defRPr/>
            </a:lvl1pPr>
          </a:lstStyle>
          <a:p>
            <a:fld id="{3B993E65-1C89-402C-AFA1-B7DFC7D2990C}" type="slidenum">
              <a:rPr lang="en-US" altLang="zh-CN"/>
              <a:pPr/>
              <a:t>‹#›</a:t>
            </a:fld>
            <a:endParaRPr lang="en-US" altLang="zh-CN"/>
          </a:p>
        </p:txBody>
      </p:sp>
    </p:spTree>
    <p:extLst>
      <p:ext uri="{BB962C8B-B14F-4D97-AF65-F5344CB8AC3E}">
        <p14:creationId xmlns:p14="http://schemas.microsoft.com/office/powerpoint/2010/main" val="543952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489057-80AE-DEA2-8808-C8D2E4F02D67}"/>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517A20-379B-927D-4D40-E2597353111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628BD46-0E81-0F02-BEB4-9B542D00178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C57CEB4-B7B3-0B4F-2C8E-2874AD810959}"/>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293BCA56-9943-9ED1-36F6-45A24A73AF7B}"/>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9C238CC0-C664-F5C6-B0BA-E4B9B41DA5EC}"/>
              </a:ext>
            </a:extLst>
          </p:cNvPr>
          <p:cNvSpPr>
            <a:spLocks noGrp="1"/>
          </p:cNvSpPr>
          <p:nvPr>
            <p:ph type="sldNum" sz="quarter" idx="12"/>
          </p:nvPr>
        </p:nvSpPr>
        <p:spPr/>
        <p:txBody>
          <a:bodyPr/>
          <a:lstStyle>
            <a:lvl1pPr>
              <a:defRPr/>
            </a:lvl1pPr>
          </a:lstStyle>
          <a:p>
            <a:fld id="{37DD5F9A-8E0A-4829-A199-1F6568F4F018}" type="slidenum">
              <a:rPr lang="en-US" altLang="zh-CN"/>
              <a:pPr/>
              <a:t>‹#›</a:t>
            </a:fld>
            <a:endParaRPr lang="en-US" altLang="zh-CN"/>
          </a:p>
        </p:txBody>
      </p:sp>
    </p:spTree>
    <p:extLst>
      <p:ext uri="{BB962C8B-B14F-4D97-AF65-F5344CB8AC3E}">
        <p14:creationId xmlns:p14="http://schemas.microsoft.com/office/powerpoint/2010/main" val="3057318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9C25E4-C670-ADC2-709E-1DAFAE96324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40AB07-9305-DF12-3A50-4CAC572D3E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6E42CF8-4D28-35EE-6066-52154B8EDCF8}"/>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8A196DB4-87D9-208F-1128-8EF792F4E0E8}"/>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8D3AE3BE-B6B8-41EA-AA5C-38859257C05C}"/>
              </a:ext>
            </a:extLst>
          </p:cNvPr>
          <p:cNvSpPr>
            <a:spLocks noGrp="1"/>
          </p:cNvSpPr>
          <p:nvPr>
            <p:ph type="sldNum" sz="quarter" idx="12"/>
          </p:nvPr>
        </p:nvSpPr>
        <p:spPr/>
        <p:txBody>
          <a:bodyPr/>
          <a:lstStyle>
            <a:lvl1pPr>
              <a:defRPr/>
            </a:lvl1pPr>
          </a:lstStyle>
          <a:p>
            <a:fld id="{8EAD5488-DD41-4133-966F-825E2489D977}" type="slidenum">
              <a:rPr lang="en-US" altLang="zh-CN"/>
              <a:pPr/>
              <a:t>‹#›</a:t>
            </a:fld>
            <a:endParaRPr lang="en-US" altLang="zh-CN"/>
          </a:p>
        </p:txBody>
      </p:sp>
    </p:spTree>
    <p:extLst>
      <p:ext uri="{BB962C8B-B14F-4D97-AF65-F5344CB8AC3E}">
        <p14:creationId xmlns:p14="http://schemas.microsoft.com/office/powerpoint/2010/main" val="651025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BF1BA3D-22F2-9DEE-B16D-1600F1F72942}"/>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4170A6C-48DA-CC2D-0CCC-FDC702530322}"/>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60654DC-F31B-0CB8-9AE2-0FBAA3198878}"/>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BDCEE239-3C8A-912B-9AC6-F9CD39F691DE}"/>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98BEBBC4-C402-74AD-854B-0D90615388B3}"/>
              </a:ext>
            </a:extLst>
          </p:cNvPr>
          <p:cNvSpPr>
            <a:spLocks noGrp="1"/>
          </p:cNvSpPr>
          <p:nvPr>
            <p:ph type="sldNum" sz="quarter" idx="12"/>
          </p:nvPr>
        </p:nvSpPr>
        <p:spPr/>
        <p:txBody>
          <a:bodyPr/>
          <a:lstStyle>
            <a:lvl1pPr>
              <a:defRPr/>
            </a:lvl1pPr>
          </a:lstStyle>
          <a:p>
            <a:fld id="{F28EE4B7-9FF4-4FCD-84AD-655F0E834D5D}" type="slidenum">
              <a:rPr lang="en-US" altLang="zh-CN"/>
              <a:pPr/>
              <a:t>‹#›</a:t>
            </a:fld>
            <a:endParaRPr lang="en-US" altLang="zh-CN"/>
          </a:p>
        </p:txBody>
      </p:sp>
    </p:spTree>
    <p:extLst>
      <p:ext uri="{BB962C8B-B14F-4D97-AF65-F5344CB8AC3E}">
        <p14:creationId xmlns:p14="http://schemas.microsoft.com/office/powerpoint/2010/main" val="2728390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435EC3-C42F-C41F-EC0E-7742DCEA16DF}"/>
              </a:ext>
            </a:extLst>
          </p:cNvPr>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05B56C02-2617-0325-AA20-CEFB39C97C23}"/>
              </a:ext>
            </a:extLst>
          </p:cNvPr>
          <p:cNvSpPr>
            <a:spLocks noGrp="1"/>
          </p:cNvSpPr>
          <p:nvPr>
            <p:ph type="dt" sz="half" idx="10"/>
          </p:nvPr>
        </p:nvSpPr>
        <p:spPr>
          <a:xfrm>
            <a:off x="457200" y="6245225"/>
            <a:ext cx="2133600" cy="476250"/>
          </a:xfrm>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BA7DA032-8B77-4260-7893-BF329CF486D7}"/>
              </a:ext>
            </a:extLst>
          </p:cNvPr>
          <p:cNvSpPr>
            <a:spLocks noGrp="1"/>
          </p:cNvSpPr>
          <p:nvPr>
            <p:ph type="ftr" sz="quarter" idx="11"/>
          </p:nvPr>
        </p:nvSpPr>
        <p:spPr>
          <a:xfrm>
            <a:off x="3124200" y="6245225"/>
            <a:ext cx="2895600" cy="476250"/>
          </a:xfrm>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6238377E-83DA-553B-4EBC-CEF00118046F}"/>
              </a:ext>
            </a:extLst>
          </p:cNvPr>
          <p:cNvSpPr>
            <a:spLocks noGrp="1"/>
          </p:cNvSpPr>
          <p:nvPr>
            <p:ph type="sldNum" sz="quarter" idx="12"/>
          </p:nvPr>
        </p:nvSpPr>
        <p:spPr>
          <a:xfrm>
            <a:off x="6553200" y="6245225"/>
            <a:ext cx="2133600" cy="476250"/>
          </a:xfrm>
        </p:spPr>
        <p:txBody>
          <a:bodyPr/>
          <a:lstStyle>
            <a:lvl1pPr>
              <a:defRPr/>
            </a:lvl1pPr>
          </a:lstStyle>
          <a:p>
            <a:fld id="{B723B98B-6A9E-4D87-99AD-77218DF43E88}" type="slidenum">
              <a:rPr lang="en-US" altLang="zh-CN"/>
              <a:pPr/>
              <a:t>‹#›</a:t>
            </a:fld>
            <a:endParaRPr lang="en-US" altLang="zh-CN"/>
          </a:p>
        </p:txBody>
      </p:sp>
    </p:spTree>
    <p:extLst>
      <p:ext uri="{BB962C8B-B14F-4D97-AF65-F5344CB8AC3E}">
        <p14:creationId xmlns:p14="http://schemas.microsoft.com/office/powerpoint/2010/main" val="375226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E21AF008-84AF-5D91-613F-C0FD27A40821}"/>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2163" name="Rectangle 3">
            <a:extLst>
              <a:ext uri="{FF2B5EF4-FFF2-40B4-BE49-F238E27FC236}">
                <a16:creationId xmlns:a16="http://schemas.microsoft.com/office/drawing/2014/main" id="{AA5F5A69-B64E-2BE4-CB19-D97296F63B97}"/>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2164" name="Rectangle 4">
            <a:extLst>
              <a:ext uri="{FF2B5EF4-FFF2-40B4-BE49-F238E27FC236}">
                <a16:creationId xmlns:a16="http://schemas.microsoft.com/office/drawing/2014/main" id="{E2BFA38F-50C1-F21C-970C-CF402E7CAD2D}"/>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zh-CN" altLang="en-US"/>
              <a:t>版本：2004</a:t>
            </a:r>
            <a:endParaRPr lang="en-US" altLang="zh-CN"/>
          </a:p>
        </p:txBody>
      </p:sp>
      <p:sp>
        <p:nvSpPr>
          <p:cNvPr id="92165" name="Rectangle 5">
            <a:extLst>
              <a:ext uri="{FF2B5EF4-FFF2-40B4-BE49-F238E27FC236}">
                <a16:creationId xmlns:a16="http://schemas.microsoft.com/office/drawing/2014/main" id="{AB6DF81F-4950-F61E-2AEA-C647E1C41CB2}"/>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zh-CN"/>
              <a:t>管理学</a:t>
            </a:r>
          </a:p>
        </p:txBody>
      </p:sp>
      <p:sp>
        <p:nvSpPr>
          <p:cNvPr id="92166" name="Rectangle 6">
            <a:extLst>
              <a:ext uri="{FF2B5EF4-FFF2-40B4-BE49-F238E27FC236}">
                <a16:creationId xmlns:a16="http://schemas.microsoft.com/office/drawing/2014/main" id="{0B7DACD7-C156-DA6F-50D6-5433DFDEA4BE}"/>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D691F36-C47D-46F9-AC21-9BF1D4447B7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4">
            <a:extLst>
              <a:ext uri="{FF2B5EF4-FFF2-40B4-BE49-F238E27FC236}">
                <a16:creationId xmlns:a16="http://schemas.microsoft.com/office/drawing/2014/main" id="{1A211D4C-5461-521B-D285-73A54D5102AA}"/>
              </a:ext>
            </a:extLst>
          </p:cNvPr>
          <p:cNvSpPr>
            <a:spLocks noGrp="1" noChangeArrowheads="1"/>
          </p:cNvSpPr>
          <p:nvPr>
            <p:ph type="ctrTitle"/>
          </p:nvPr>
        </p:nvSpPr>
        <p:spPr>
          <a:xfrm>
            <a:off x="685800" y="2130425"/>
            <a:ext cx="7772400" cy="1470025"/>
          </a:xfrm>
        </p:spPr>
        <p:txBody>
          <a:bodyPr anchor="ctr"/>
          <a:lstStyle/>
          <a:p>
            <a:r>
              <a:rPr lang="zh-CN" altLang="en-US" sz="4400">
                <a:latin typeface="华文行楷" panose="02010800040101010101" pitchFamily="2" charset="-122"/>
                <a:ea typeface="华文行楷" panose="02010800040101010101" pitchFamily="2" charset="-122"/>
              </a:rPr>
              <a:t>第</a:t>
            </a:r>
            <a:r>
              <a:rPr lang="en-US" altLang="zh-CN" sz="4400">
                <a:latin typeface="华文行楷" panose="02010800040101010101" pitchFamily="2" charset="-122"/>
                <a:ea typeface="华文行楷" panose="02010800040101010101" pitchFamily="2" charset="-122"/>
              </a:rPr>
              <a:t>4</a:t>
            </a:r>
            <a:r>
              <a:rPr lang="zh-CN" altLang="en-US" sz="4400">
                <a:latin typeface="华文行楷" panose="02010800040101010101" pitchFamily="2" charset="-122"/>
                <a:ea typeface="华文行楷" panose="02010800040101010101" pitchFamily="2" charset="-122"/>
              </a:rPr>
              <a:t>讲 计划工作与计划</a:t>
            </a:r>
          </a:p>
        </p:txBody>
      </p:sp>
      <p:sp>
        <p:nvSpPr>
          <p:cNvPr id="94213" name="Rectangle 5">
            <a:extLst>
              <a:ext uri="{FF2B5EF4-FFF2-40B4-BE49-F238E27FC236}">
                <a16:creationId xmlns:a16="http://schemas.microsoft.com/office/drawing/2014/main" id="{693FD640-55D3-65C3-F280-52B6CC82F006}"/>
              </a:ext>
            </a:extLst>
          </p:cNvPr>
          <p:cNvSpPr>
            <a:spLocks noGrp="1" noChangeArrowheads="1"/>
          </p:cNvSpPr>
          <p:nvPr>
            <p:ph type="subTitle" idx="1"/>
          </p:nvPr>
        </p:nvSpPr>
        <p:spPr>
          <a:xfrm>
            <a:off x="1371600" y="3886200"/>
            <a:ext cx="6400800" cy="1752600"/>
          </a:xfrm>
        </p:spPr>
        <p:txBody>
          <a:bodyPr/>
          <a:lstStyle/>
          <a:p>
            <a:r>
              <a:rPr lang="zh-CN" altLang="en-US" sz="3600">
                <a:latin typeface="华文行楷" panose="02010800040101010101" pitchFamily="2" charset="-122"/>
                <a:ea typeface="华文行楷" panose="02010800040101010101" pitchFamily="2" charset="-122"/>
              </a:rPr>
              <a:t>邵 冲</a:t>
            </a:r>
          </a:p>
          <a:p>
            <a:r>
              <a:rPr lang="zh-CN" altLang="en-US" sz="3600">
                <a:latin typeface="华文行楷" panose="02010800040101010101" pitchFamily="2" charset="-122"/>
                <a:ea typeface="华文行楷" panose="02010800040101010101" pitchFamily="2" charset="-122"/>
              </a:rPr>
              <a:t>中山大学管理学院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6" name="Text Box 4">
            <a:extLst>
              <a:ext uri="{FF2B5EF4-FFF2-40B4-BE49-F238E27FC236}">
                <a16:creationId xmlns:a16="http://schemas.microsoft.com/office/drawing/2014/main" id="{C7367DB3-5FFE-950D-C432-60611833DD4C}"/>
              </a:ext>
            </a:extLst>
          </p:cNvPr>
          <p:cNvSpPr txBox="1">
            <a:spLocks noChangeArrowheads="1"/>
          </p:cNvSpPr>
          <p:nvPr/>
        </p:nvSpPr>
        <p:spPr bwMode="auto">
          <a:xfrm>
            <a:off x="1600200" y="698500"/>
            <a:ext cx="11001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p>
        </p:txBody>
      </p:sp>
      <p:sp>
        <p:nvSpPr>
          <p:cNvPr id="3077" name="Text Box 5">
            <a:extLst>
              <a:ext uri="{FF2B5EF4-FFF2-40B4-BE49-F238E27FC236}">
                <a16:creationId xmlns:a16="http://schemas.microsoft.com/office/drawing/2014/main" id="{0662FD0F-F70D-5246-64DE-AB20799E51C9}"/>
              </a:ext>
            </a:extLst>
          </p:cNvPr>
          <p:cNvSpPr txBox="1">
            <a:spLocks noChangeArrowheads="1"/>
          </p:cNvSpPr>
          <p:nvPr/>
        </p:nvSpPr>
        <p:spPr bwMode="auto">
          <a:xfrm>
            <a:off x="1476375" y="981075"/>
            <a:ext cx="172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tx2"/>
                </a:solidFill>
              </a:rPr>
              <a:t>学习内容</a:t>
            </a:r>
          </a:p>
        </p:txBody>
      </p:sp>
      <p:sp>
        <p:nvSpPr>
          <p:cNvPr id="3078" name="Rectangle 6">
            <a:extLst>
              <a:ext uri="{FF2B5EF4-FFF2-40B4-BE49-F238E27FC236}">
                <a16:creationId xmlns:a16="http://schemas.microsoft.com/office/drawing/2014/main" id="{4A61614F-B43E-19AD-0B9E-C22F7F51C76B}"/>
              </a:ext>
            </a:extLst>
          </p:cNvPr>
          <p:cNvSpPr>
            <a:spLocks noChangeArrowheads="1"/>
          </p:cNvSpPr>
          <p:nvPr/>
        </p:nvSpPr>
        <p:spPr bwMode="auto">
          <a:xfrm>
            <a:off x="1116013" y="2060575"/>
            <a:ext cx="2519362"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计划工作的性质、</a:t>
            </a:r>
          </a:p>
          <a:p>
            <a:pPr algn="ctr"/>
            <a:r>
              <a:rPr lang="zh-CN" altLang="en-US"/>
              <a:t>结构与过程</a:t>
            </a:r>
          </a:p>
        </p:txBody>
      </p:sp>
      <p:sp>
        <p:nvSpPr>
          <p:cNvPr id="3083" name="Rectangle 11">
            <a:extLst>
              <a:ext uri="{FF2B5EF4-FFF2-40B4-BE49-F238E27FC236}">
                <a16:creationId xmlns:a16="http://schemas.microsoft.com/office/drawing/2014/main" id="{046EEE6D-3A17-654B-2D68-F637FC537E6A}"/>
              </a:ext>
            </a:extLst>
          </p:cNvPr>
          <p:cNvSpPr>
            <a:spLocks noChangeArrowheads="1"/>
          </p:cNvSpPr>
          <p:nvPr/>
        </p:nvSpPr>
        <p:spPr bwMode="auto">
          <a:xfrm>
            <a:off x="1116013" y="3500438"/>
            <a:ext cx="2519362" cy="10080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2.</a:t>
            </a:r>
            <a:r>
              <a:rPr lang="zh-CN" altLang="en-US"/>
              <a:t>战略计划</a:t>
            </a:r>
          </a:p>
          <a:p>
            <a:pPr algn="ctr"/>
            <a:endParaRPr lang="en-US" altLang="zh-CN"/>
          </a:p>
        </p:txBody>
      </p:sp>
      <p:sp>
        <p:nvSpPr>
          <p:cNvPr id="3084" name="Rectangle 12">
            <a:extLst>
              <a:ext uri="{FF2B5EF4-FFF2-40B4-BE49-F238E27FC236}">
                <a16:creationId xmlns:a16="http://schemas.microsoft.com/office/drawing/2014/main" id="{25B5099D-7388-46C8-AEF0-19810541EA43}"/>
              </a:ext>
            </a:extLst>
          </p:cNvPr>
          <p:cNvSpPr>
            <a:spLocks noChangeArrowheads="1"/>
          </p:cNvSpPr>
          <p:nvPr/>
        </p:nvSpPr>
        <p:spPr bwMode="auto">
          <a:xfrm>
            <a:off x="4787900" y="4076700"/>
            <a:ext cx="2519363"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r>
              <a:rPr lang="zh-CN" altLang="en-US"/>
              <a:t>项目计划</a:t>
            </a:r>
          </a:p>
        </p:txBody>
      </p:sp>
      <p:sp>
        <p:nvSpPr>
          <p:cNvPr id="3085" name="Rectangle 13">
            <a:extLst>
              <a:ext uri="{FF2B5EF4-FFF2-40B4-BE49-F238E27FC236}">
                <a16:creationId xmlns:a16="http://schemas.microsoft.com/office/drawing/2014/main" id="{7633A9DF-EFEC-C4D8-3968-EDF9F4F0857A}"/>
              </a:ext>
            </a:extLst>
          </p:cNvPr>
          <p:cNvSpPr>
            <a:spLocks noChangeArrowheads="1"/>
          </p:cNvSpPr>
          <p:nvPr/>
        </p:nvSpPr>
        <p:spPr bwMode="auto">
          <a:xfrm>
            <a:off x="4787900" y="2997200"/>
            <a:ext cx="2519363"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3.</a:t>
            </a:r>
            <a:r>
              <a:rPr lang="zh-CN" altLang="en-US"/>
              <a:t>准则计划</a:t>
            </a:r>
          </a:p>
          <a:p>
            <a:pPr algn="ctr"/>
            <a:endParaRPr lang="en-US" altLang="zh-CN"/>
          </a:p>
        </p:txBody>
      </p:sp>
      <p:sp>
        <p:nvSpPr>
          <p:cNvPr id="3086" name="Line 14">
            <a:extLst>
              <a:ext uri="{FF2B5EF4-FFF2-40B4-BE49-F238E27FC236}">
                <a16:creationId xmlns:a16="http://schemas.microsoft.com/office/drawing/2014/main" id="{B51AA4BC-7D4B-FCA9-3CD2-10DDAF2683BE}"/>
              </a:ext>
            </a:extLst>
          </p:cNvPr>
          <p:cNvSpPr>
            <a:spLocks noChangeShapeType="1"/>
          </p:cNvSpPr>
          <p:nvPr/>
        </p:nvSpPr>
        <p:spPr bwMode="auto">
          <a:xfrm>
            <a:off x="2339975" y="306863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7" name="Line 15">
            <a:extLst>
              <a:ext uri="{FF2B5EF4-FFF2-40B4-BE49-F238E27FC236}">
                <a16:creationId xmlns:a16="http://schemas.microsoft.com/office/drawing/2014/main" id="{FACF0464-0756-BFB0-A1B0-927B63C6EAC5}"/>
              </a:ext>
            </a:extLst>
          </p:cNvPr>
          <p:cNvSpPr>
            <a:spLocks noChangeShapeType="1"/>
          </p:cNvSpPr>
          <p:nvPr/>
        </p:nvSpPr>
        <p:spPr bwMode="auto">
          <a:xfrm>
            <a:off x="3635375" y="3716338"/>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8" name="Line 16">
            <a:extLst>
              <a:ext uri="{FF2B5EF4-FFF2-40B4-BE49-F238E27FC236}">
                <a16:creationId xmlns:a16="http://schemas.microsoft.com/office/drawing/2014/main" id="{D0C0964E-25DE-A376-55AF-4CF6327091BF}"/>
              </a:ext>
            </a:extLst>
          </p:cNvPr>
          <p:cNvSpPr>
            <a:spLocks noChangeShapeType="1"/>
          </p:cNvSpPr>
          <p:nvPr/>
        </p:nvSpPr>
        <p:spPr bwMode="auto">
          <a:xfrm>
            <a:off x="3635375" y="4292600"/>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9" name="Line 17">
            <a:extLst>
              <a:ext uri="{FF2B5EF4-FFF2-40B4-BE49-F238E27FC236}">
                <a16:creationId xmlns:a16="http://schemas.microsoft.com/office/drawing/2014/main" id="{482C6E71-D802-FAE7-E947-60A872B2EEB9}"/>
              </a:ext>
            </a:extLst>
          </p:cNvPr>
          <p:cNvSpPr>
            <a:spLocks noChangeShapeType="1"/>
          </p:cNvSpPr>
          <p:nvPr/>
        </p:nvSpPr>
        <p:spPr bwMode="auto">
          <a:xfrm>
            <a:off x="3635375" y="2565400"/>
            <a:ext cx="504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90" name="Line 18">
            <a:extLst>
              <a:ext uri="{FF2B5EF4-FFF2-40B4-BE49-F238E27FC236}">
                <a16:creationId xmlns:a16="http://schemas.microsoft.com/office/drawing/2014/main" id="{C0CEBE6B-C5C0-0F32-3501-841C6C13639A}"/>
              </a:ext>
            </a:extLst>
          </p:cNvPr>
          <p:cNvSpPr>
            <a:spLocks noChangeShapeType="1"/>
          </p:cNvSpPr>
          <p:nvPr/>
        </p:nvSpPr>
        <p:spPr bwMode="auto">
          <a:xfrm>
            <a:off x="4140200" y="2565400"/>
            <a:ext cx="0" cy="2087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91" name="Line 19">
            <a:extLst>
              <a:ext uri="{FF2B5EF4-FFF2-40B4-BE49-F238E27FC236}">
                <a16:creationId xmlns:a16="http://schemas.microsoft.com/office/drawing/2014/main" id="{D39303EF-B6F5-DD27-E860-3573912613A3}"/>
              </a:ext>
            </a:extLst>
          </p:cNvPr>
          <p:cNvSpPr>
            <a:spLocks noChangeShapeType="1"/>
          </p:cNvSpPr>
          <p:nvPr/>
        </p:nvSpPr>
        <p:spPr bwMode="auto">
          <a:xfrm>
            <a:off x="4140200" y="3357563"/>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92" name="Line 20">
            <a:extLst>
              <a:ext uri="{FF2B5EF4-FFF2-40B4-BE49-F238E27FC236}">
                <a16:creationId xmlns:a16="http://schemas.microsoft.com/office/drawing/2014/main" id="{234B0A31-D4E7-39E1-0347-9931082CDE5F}"/>
              </a:ext>
            </a:extLst>
          </p:cNvPr>
          <p:cNvSpPr>
            <a:spLocks noChangeShapeType="1"/>
          </p:cNvSpPr>
          <p:nvPr/>
        </p:nvSpPr>
        <p:spPr bwMode="auto">
          <a:xfrm>
            <a:off x="4140200" y="4652963"/>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check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46DEEFC9-8982-48EA-A829-B935BF5D2A34}"/>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0FFD0600-CBBC-BEAD-CB12-FA3A0A199683}"/>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33A2E7EA-9AD8-C422-4C23-C4A36E2D1987}"/>
              </a:ext>
            </a:extLst>
          </p:cNvPr>
          <p:cNvSpPr>
            <a:spLocks noGrp="1"/>
          </p:cNvSpPr>
          <p:nvPr>
            <p:ph type="sldNum" sz="quarter" idx="12"/>
          </p:nvPr>
        </p:nvSpPr>
        <p:spPr/>
        <p:txBody>
          <a:bodyPr/>
          <a:lstStyle/>
          <a:p>
            <a:fld id="{D21874F7-A361-49AD-9D10-DC4A79273844}" type="slidenum">
              <a:rPr lang="en-US" altLang="zh-CN"/>
              <a:pPr/>
              <a:t>3</a:t>
            </a:fld>
            <a:endParaRPr lang="en-US" altLang="zh-CN"/>
          </a:p>
        </p:txBody>
      </p:sp>
      <p:graphicFrame>
        <p:nvGraphicFramePr>
          <p:cNvPr id="100376" name="Group 24">
            <a:extLst>
              <a:ext uri="{FF2B5EF4-FFF2-40B4-BE49-F238E27FC236}">
                <a16:creationId xmlns:a16="http://schemas.microsoft.com/office/drawing/2014/main" id="{849E0E96-FFC1-201B-17C7-1ECC233F5459}"/>
              </a:ext>
            </a:extLst>
          </p:cNvPr>
          <p:cNvGraphicFramePr>
            <a:graphicFrameLocks noGrp="1"/>
          </p:cNvGraphicFramePr>
          <p:nvPr>
            <p:ph/>
          </p:nvPr>
        </p:nvGraphicFramePr>
        <p:xfrm>
          <a:off x="457200" y="1628775"/>
          <a:ext cx="8229600" cy="3494088"/>
        </p:xfrm>
        <a:graphic>
          <a:graphicData uri="http://schemas.openxmlformats.org/drawingml/2006/table">
            <a:tbl>
              <a:tblPr/>
              <a:tblGrid>
                <a:gridCol w="2243138">
                  <a:extLst>
                    <a:ext uri="{9D8B030D-6E8A-4147-A177-3AD203B41FA5}">
                      <a16:colId xmlns:a16="http://schemas.microsoft.com/office/drawing/2014/main" val="701342823"/>
                    </a:ext>
                  </a:extLst>
                </a:gridCol>
                <a:gridCol w="5986462">
                  <a:extLst>
                    <a:ext uri="{9D8B030D-6E8A-4147-A177-3AD203B41FA5}">
                      <a16:colId xmlns:a16="http://schemas.microsoft.com/office/drawing/2014/main" val="3180264670"/>
                    </a:ext>
                  </a:extLst>
                </a:gridCol>
              </a:tblGrid>
              <a:tr h="7921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计划工作的性质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计划工作是确定目标和选择实现目标的最佳计划的决策过程。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5727215"/>
                  </a:ext>
                </a:extLst>
              </a:tr>
              <a:tr h="7921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计划工作的效能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如果确定的目标和拟定的计划对实现企业</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上级的基本任务</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目标有贡献，该计划系统就是有效能的。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94344900"/>
                  </a:ext>
                </a:extLst>
              </a:tr>
              <a:tr h="7207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计划工作的效率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一个计划对实现目标和企业的基本任务有贡献，而且耗费的资源少，该计划系统就是有效率的。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1257723"/>
                  </a:ext>
                </a:extLst>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计划工作的结果</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计划工作的最后结果是制定出一系列的计划，以引导组织实现预期的目标。计划</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(plan)</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不仅包括未来的行动方案，也包括未来的行动方针。计划是组织为达到预期目标而拟定的行动方案和方针。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6226531"/>
                  </a:ext>
                </a:extLst>
              </a:tr>
            </a:tbl>
          </a:graphicData>
        </a:graphic>
      </p:graphicFrame>
      <p:sp>
        <p:nvSpPr>
          <p:cNvPr id="100368" name="Text Box 16">
            <a:extLst>
              <a:ext uri="{FF2B5EF4-FFF2-40B4-BE49-F238E27FC236}">
                <a16:creationId xmlns:a16="http://schemas.microsoft.com/office/drawing/2014/main" id="{D28F7582-1124-0BFA-528C-FF4966075EC0}"/>
              </a:ext>
            </a:extLst>
          </p:cNvPr>
          <p:cNvSpPr txBox="1">
            <a:spLocks noChangeArrowheads="1"/>
          </p:cNvSpPr>
          <p:nvPr/>
        </p:nvSpPr>
        <p:spPr bwMode="auto">
          <a:xfrm>
            <a:off x="3132138" y="1125538"/>
            <a:ext cx="3600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黑体" panose="02010609060101010101" pitchFamily="49" charset="-122"/>
                <a:ea typeface="黑体" panose="02010609060101010101" pitchFamily="49" charset="-122"/>
              </a:rPr>
              <a:t>计划工作的性质、效能和效率</a:t>
            </a:r>
          </a:p>
        </p:txBody>
      </p:sp>
      <p:sp>
        <p:nvSpPr>
          <p:cNvPr id="100369" name="Text Box 17">
            <a:extLst>
              <a:ext uri="{FF2B5EF4-FFF2-40B4-BE49-F238E27FC236}">
                <a16:creationId xmlns:a16="http://schemas.microsoft.com/office/drawing/2014/main" id="{8FD7FAED-8B20-2886-F87B-9F33F53C7D75}"/>
              </a:ext>
            </a:extLst>
          </p:cNvPr>
          <p:cNvSpPr txBox="1">
            <a:spLocks noChangeArrowheads="1"/>
          </p:cNvSpPr>
          <p:nvPr/>
        </p:nvSpPr>
        <p:spPr bwMode="auto">
          <a:xfrm>
            <a:off x="179388" y="188913"/>
            <a:ext cx="31686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4.1</a:t>
            </a:r>
            <a:r>
              <a:rPr lang="zh-CN" altLang="en-US" sz="1600"/>
              <a:t>计划工作的性质、结构与过程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E7B5A6D6-A61E-78B1-1B09-B4847DDE6E4C}"/>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90EDFD26-7506-20F7-9892-E278B14E6E7A}"/>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6519CCC0-989C-3E61-621A-6F0D938C0BFA}"/>
              </a:ext>
            </a:extLst>
          </p:cNvPr>
          <p:cNvSpPr>
            <a:spLocks noGrp="1"/>
          </p:cNvSpPr>
          <p:nvPr>
            <p:ph type="sldNum" sz="quarter" idx="12"/>
          </p:nvPr>
        </p:nvSpPr>
        <p:spPr/>
        <p:txBody>
          <a:bodyPr/>
          <a:lstStyle/>
          <a:p>
            <a:fld id="{80542006-60A3-45FE-AA61-C7ACA5E241E3}" type="slidenum">
              <a:rPr lang="en-US" altLang="zh-CN"/>
              <a:pPr/>
              <a:t>4</a:t>
            </a:fld>
            <a:endParaRPr lang="en-US" altLang="zh-CN"/>
          </a:p>
        </p:txBody>
      </p:sp>
      <p:graphicFrame>
        <p:nvGraphicFramePr>
          <p:cNvPr id="96258" name="Group 2">
            <a:extLst>
              <a:ext uri="{FF2B5EF4-FFF2-40B4-BE49-F238E27FC236}">
                <a16:creationId xmlns:a16="http://schemas.microsoft.com/office/drawing/2014/main" id="{65376B55-0873-8E1B-E506-E75A1E55B544}"/>
              </a:ext>
            </a:extLst>
          </p:cNvPr>
          <p:cNvGraphicFramePr>
            <a:graphicFrameLocks noGrp="1"/>
          </p:cNvGraphicFramePr>
          <p:nvPr>
            <p:ph/>
          </p:nvPr>
        </p:nvGraphicFramePr>
        <p:xfrm>
          <a:off x="468313" y="1196975"/>
          <a:ext cx="8229600" cy="4713288"/>
        </p:xfrm>
        <a:graphic>
          <a:graphicData uri="http://schemas.openxmlformats.org/drawingml/2006/table">
            <a:tbl>
              <a:tblPr/>
              <a:tblGrid>
                <a:gridCol w="1655762">
                  <a:extLst>
                    <a:ext uri="{9D8B030D-6E8A-4147-A177-3AD203B41FA5}">
                      <a16:colId xmlns:a16="http://schemas.microsoft.com/office/drawing/2014/main" val="3685369539"/>
                    </a:ext>
                  </a:extLst>
                </a:gridCol>
                <a:gridCol w="6573838">
                  <a:extLst>
                    <a:ext uri="{9D8B030D-6E8A-4147-A177-3AD203B41FA5}">
                      <a16:colId xmlns:a16="http://schemas.microsoft.com/office/drawing/2014/main" val="3222070468"/>
                    </a:ext>
                  </a:extLst>
                </a:gridCol>
              </a:tblGrid>
              <a:tr h="4603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对计划的认识</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5351952"/>
                  </a:ext>
                </a:extLst>
              </a:tr>
              <a:tr h="12112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计划赶不上变化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企业需要计划，并不是由环境的确定性引起的，而是由环境的不确定性引起的。</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在环境非常稳定或可预见的情况下，企业并不需要计划。在环境变动并且无法预知的情况下，企业要掌握自己的命运，才需要进行计划。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5628723"/>
                  </a:ext>
                </a:extLst>
              </a:tr>
              <a:tr h="1163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计划浪费时间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计划并不是浪费时间而是节约时间。</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许多经理感到工作繁忙，并不是因为工作有计划，而是因为无计划。</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如果经理想从繁忙的工作中解脱出来，就应该养成作计划的习惯。只有有计划的工作，才不会被紧急情况所支配。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0705226"/>
                  </a:ext>
                </a:extLst>
              </a:tr>
              <a:tr h="11795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不计划也能完成任务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对某些例常性工作，凭经验的确可以完成而不需要计划。</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对某些较为简单的工作，采用尝试错误法可能比计划的方法更有效。但对完成复杂的工作任务就一定需要作计划。</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管理不应该建立在经验的基础上，尝试错误的代价也很高。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53148161"/>
                  </a:ext>
                </a:extLst>
              </a:tr>
              <a:tr h="6953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计划越多越好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计划是有成本的。计划的成本低于计划的好处，计划才是经济的；计划的成本高于计划的好处，计划就不经济了。</a:t>
                      </a:r>
                      <a:endParaRPr kumimoji="1"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4867256"/>
                  </a:ext>
                </a:extLst>
              </a:tr>
            </a:tbl>
          </a:graphicData>
        </a:graphic>
      </p:graphicFrame>
      <p:sp>
        <p:nvSpPr>
          <p:cNvPr id="96279" name="Text Box 23">
            <a:extLst>
              <a:ext uri="{FF2B5EF4-FFF2-40B4-BE49-F238E27FC236}">
                <a16:creationId xmlns:a16="http://schemas.microsoft.com/office/drawing/2014/main" id="{DCD4A99D-CA60-1BD8-2037-ED6B5C262DA3}"/>
              </a:ext>
            </a:extLst>
          </p:cNvPr>
          <p:cNvSpPr txBox="1">
            <a:spLocks noChangeArrowheads="1"/>
          </p:cNvSpPr>
          <p:nvPr/>
        </p:nvSpPr>
        <p:spPr bwMode="auto">
          <a:xfrm>
            <a:off x="3419475" y="765175"/>
            <a:ext cx="2881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对计划工作的若干认识</a:t>
            </a:r>
          </a:p>
        </p:txBody>
      </p:sp>
      <p:sp>
        <p:nvSpPr>
          <p:cNvPr id="96280" name="Text Box 24">
            <a:extLst>
              <a:ext uri="{FF2B5EF4-FFF2-40B4-BE49-F238E27FC236}">
                <a16:creationId xmlns:a16="http://schemas.microsoft.com/office/drawing/2014/main" id="{D1B3E79B-EE2D-7129-A406-948E27F2A443}"/>
              </a:ext>
            </a:extLst>
          </p:cNvPr>
          <p:cNvSpPr txBox="1">
            <a:spLocks noChangeArrowheads="1"/>
          </p:cNvSpPr>
          <p:nvPr/>
        </p:nvSpPr>
        <p:spPr bwMode="auto">
          <a:xfrm>
            <a:off x="179388" y="188913"/>
            <a:ext cx="31686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4.1</a:t>
            </a:r>
            <a:r>
              <a:rPr lang="zh-CN" altLang="en-US" sz="1600"/>
              <a:t>计划工作的性质、结构与过程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E0BC8CD-7267-7A18-BB20-C184017A1D1D}"/>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7D7388F8-13D0-BB80-A342-9B103664777D}"/>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BB1E848C-8158-CB88-03BC-6E0FB89F2D09}"/>
              </a:ext>
            </a:extLst>
          </p:cNvPr>
          <p:cNvSpPr>
            <a:spLocks noGrp="1"/>
          </p:cNvSpPr>
          <p:nvPr>
            <p:ph type="sldNum" sz="quarter" idx="12"/>
          </p:nvPr>
        </p:nvSpPr>
        <p:spPr/>
        <p:txBody>
          <a:bodyPr/>
          <a:lstStyle/>
          <a:p>
            <a:fld id="{54A9DBDE-D00B-4458-8C3D-41B4BE6100EA}" type="slidenum">
              <a:rPr lang="en-US" altLang="zh-CN"/>
              <a:pPr/>
              <a:t>5</a:t>
            </a:fld>
            <a:endParaRPr lang="en-US" altLang="zh-CN"/>
          </a:p>
        </p:txBody>
      </p:sp>
      <p:sp>
        <p:nvSpPr>
          <p:cNvPr id="98307" name="Rectangle 3">
            <a:extLst>
              <a:ext uri="{FF2B5EF4-FFF2-40B4-BE49-F238E27FC236}">
                <a16:creationId xmlns:a16="http://schemas.microsoft.com/office/drawing/2014/main" id="{BCEFA5C9-550E-40A0-2B5F-5679F22E50F8}"/>
              </a:ext>
            </a:extLst>
          </p:cNvPr>
          <p:cNvSpPr>
            <a:spLocks noChangeArrowheads="1"/>
          </p:cNvSpPr>
          <p:nvPr/>
        </p:nvSpPr>
        <p:spPr bwMode="auto">
          <a:xfrm>
            <a:off x="539750" y="1412875"/>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1.</a:t>
            </a:r>
            <a:r>
              <a:rPr lang="zh-CN" altLang="en-US"/>
              <a:t>识别机会</a:t>
            </a:r>
          </a:p>
          <a:p>
            <a:pPr algn="ctr"/>
            <a:endParaRPr lang="en-US" altLang="zh-CN"/>
          </a:p>
        </p:txBody>
      </p:sp>
      <p:sp>
        <p:nvSpPr>
          <p:cNvPr id="98308" name="Rectangle 4">
            <a:extLst>
              <a:ext uri="{FF2B5EF4-FFF2-40B4-BE49-F238E27FC236}">
                <a16:creationId xmlns:a16="http://schemas.microsoft.com/office/drawing/2014/main" id="{B07DB29F-3FD6-0B32-7476-6D19E73F370D}"/>
              </a:ext>
            </a:extLst>
          </p:cNvPr>
          <p:cNvSpPr>
            <a:spLocks noChangeArrowheads="1"/>
          </p:cNvSpPr>
          <p:nvPr/>
        </p:nvSpPr>
        <p:spPr bwMode="auto">
          <a:xfrm>
            <a:off x="4859338" y="1412875"/>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3.</a:t>
            </a:r>
            <a:r>
              <a:rPr lang="zh-CN" altLang="en-US"/>
              <a:t>确立目标</a:t>
            </a:r>
            <a:endParaRPr lang="zh-CN" altLang="en-US">
              <a:effectLst>
                <a:outerShdw blurRad="38100" dist="38100" dir="2700000" algn="tl">
                  <a:srgbClr val="C0C0C0"/>
                </a:outerShdw>
              </a:effectLst>
            </a:endParaRPr>
          </a:p>
          <a:p>
            <a:pPr algn="ctr"/>
            <a:endParaRPr lang="en-US" altLang="zh-CN"/>
          </a:p>
        </p:txBody>
      </p:sp>
      <p:sp>
        <p:nvSpPr>
          <p:cNvPr id="98309" name="Rectangle 5">
            <a:extLst>
              <a:ext uri="{FF2B5EF4-FFF2-40B4-BE49-F238E27FC236}">
                <a16:creationId xmlns:a16="http://schemas.microsoft.com/office/drawing/2014/main" id="{52DFC966-4A13-BDC0-51BA-7938E3D09CAC}"/>
              </a:ext>
            </a:extLst>
          </p:cNvPr>
          <p:cNvSpPr>
            <a:spLocks noChangeArrowheads="1"/>
          </p:cNvSpPr>
          <p:nvPr/>
        </p:nvSpPr>
        <p:spPr bwMode="auto">
          <a:xfrm>
            <a:off x="2700338" y="1412875"/>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2.</a:t>
            </a:r>
            <a:r>
              <a:rPr lang="zh-CN" altLang="en-US"/>
              <a:t>拟定前提条件</a:t>
            </a:r>
            <a:endParaRPr lang="zh-CN" altLang="en-US">
              <a:effectLst>
                <a:outerShdw blurRad="38100" dist="38100" dir="2700000" algn="tl">
                  <a:srgbClr val="C0C0C0"/>
                </a:outerShdw>
              </a:effectLst>
            </a:endParaRPr>
          </a:p>
          <a:p>
            <a:pPr algn="ctr"/>
            <a:endParaRPr lang="en-US" altLang="zh-CN"/>
          </a:p>
        </p:txBody>
      </p:sp>
      <p:sp>
        <p:nvSpPr>
          <p:cNvPr id="98310" name="Rectangle 6">
            <a:extLst>
              <a:ext uri="{FF2B5EF4-FFF2-40B4-BE49-F238E27FC236}">
                <a16:creationId xmlns:a16="http://schemas.microsoft.com/office/drawing/2014/main" id="{943D494F-850B-7E19-4BED-27AD9C3D7C29}"/>
              </a:ext>
            </a:extLst>
          </p:cNvPr>
          <p:cNvSpPr>
            <a:spLocks noChangeArrowheads="1"/>
          </p:cNvSpPr>
          <p:nvPr/>
        </p:nvSpPr>
        <p:spPr bwMode="auto">
          <a:xfrm>
            <a:off x="7019925" y="1412875"/>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4.</a:t>
            </a:r>
            <a:r>
              <a:rPr lang="zh-CN" altLang="en-US"/>
              <a:t>制定备择方案</a:t>
            </a:r>
            <a:endParaRPr lang="zh-CN" altLang="en-US">
              <a:effectLst>
                <a:outerShdw blurRad="38100" dist="38100" dir="2700000" algn="tl">
                  <a:srgbClr val="C0C0C0"/>
                </a:outerShdw>
              </a:effectLst>
            </a:endParaRPr>
          </a:p>
          <a:p>
            <a:pPr algn="ctr"/>
            <a:endParaRPr lang="en-US" altLang="zh-CN"/>
          </a:p>
        </p:txBody>
      </p:sp>
      <p:sp>
        <p:nvSpPr>
          <p:cNvPr id="98311" name="Rectangle 7">
            <a:extLst>
              <a:ext uri="{FF2B5EF4-FFF2-40B4-BE49-F238E27FC236}">
                <a16:creationId xmlns:a16="http://schemas.microsoft.com/office/drawing/2014/main" id="{9CB97524-8F22-6544-A173-A528025F8455}"/>
              </a:ext>
            </a:extLst>
          </p:cNvPr>
          <p:cNvSpPr>
            <a:spLocks noChangeArrowheads="1"/>
          </p:cNvSpPr>
          <p:nvPr/>
        </p:nvSpPr>
        <p:spPr bwMode="auto">
          <a:xfrm>
            <a:off x="7019925" y="3357563"/>
            <a:ext cx="1728788"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5.</a:t>
            </a:r>
            <a:r>
              <a:rPr lang="zh-CN" altLang="en-US"/>
              <a:t>评价备择方案</a:t>
            </a:r>
            <a:endParaRPr lang="zh-CN" altLang="en-US">
              <a:effectLst>
                <a:outerShdw blurRad="38100" dist="38100" dir="2700000" algn="tl">
                  <a:srgbClr val="C0C0C0"/>
                </a:outerShdw>
              </a:effectLst>
            </a:endParaRPr>
          </a:p>
          <a:p>
            <a:pPr algn="ctr"/>
            <a:endParaRPr lang="en-US" altLang="zh-CN"/>
          </a:p>
        </p:txBody>
      </p:sp>
      <p:sp>
        <p:nvSpPr>
          <p:cNvPr id="98312" name="Rectangle 8">
            <a:extLst>
              <a:ext uri="{FF2B5EF4-FFF2-40B4-BE49-F238E27FC236}">
                <a16:creationId xmlns:a16="http://schemas.microsoft.com/office/drawing/2014/main" id="{459DDB4B-D40F-5317-5D84-FD93E7328A70}"/>
              </a:ext>
            </a:extLst>
          </p:cNvPr>
          <p:cNvSpPr>
            <a:spLocks noChangeArrowheads="1"/>
          </p:cNvSpPr>
          <p:nvPr/>
        </p:nvSpPr>
        <p:spPr bwMode="auto">
          <a:xfrm>
            <a:off x="4859338" y="3357563"/>
            <a:ext cx="1728787"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6.</a:t>
            </a:r>
            <a:r>
              <a:rPr lang="zh-CN" altLang="en-US"/>
              <a:t>挑选方案</a:t>
            </a:r>
            <a:endParaRPr lang="zh-CN" altLang="en-US">
              <a:effectLst>
                <a:outerShdw blurRad="38100" dist="38100" dir="2700000" algn="tl">
                  <a:srgbClr val="C0C0C0"/>
                </a:outerShdw>
              </a:effectLst>
            </a:endParaRPr>
          </a:p>
          <a:p>
            <a:pPr algn="ctr"/>
            <a:endParaRPr lang="en-US" altLang="zh-CN"/>
          </a:p>
        </p:txBody>
      </p:sp>
      <p:sp>
        <p:nvSpPr>
          <p:cNvPr id="98313" name="Rectangle 9">
            <a:extLst>
              <a:ext uri="{FF2B5EF4-FFF2-40B4-BE49-F238E27FC236}">
                <a16:creationId xmlns:a16="http://schemas.microsoft.com/office/drawing/2014/main" id="{CC93DEBA-2355-61A1-1E32-CAA067455CD6}"/>
              </a:ext>
            </a:extLst>
          </p:cNvPr>
          <p:cNvSpPr>
            <a:spLocks noChangeArrowheads="1"/>
          </p:cNvSpPr>
          <p:nvPr/>
        </p:nvSpPr>
        <p:spPr bwMode="auto">
          <a:xfrm>
            <a:off x="2700338" y="3357563"/>
            <a:ext cx="1728787"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7.</a:t>
            </a:r>
            <a:r>
              <a:rPr lang="zh-CN" altLang="en-US"/>
              <a:t>制定派生计划</a:t>
            </a:r>
          </a:p>
          <a:p>
            <a:pPr algn="ctr"/>
            <a:endParaRPr lang="en-US" altLang="zh-CN"/>
          </a:p>
        </p:txBody>
      </p:sp>
      <p:sp>
        <p:nvSpPr>
          <p:cNvPr id="98314" name="Rectangle 10">
            <a:extLst>
              <a:ext uri="{FF2B5EF4-FFF2-40B4-BE49-F238E27FC236}">
                <a16:creationId xmlns:a16="http://schemas.microsoft.com/office/drawing/2014/main" id="{939A4BA7-6E6F-FBC6-125F-75DDA57B2DEE}"/>
              </a:ext>
            </a:extLst>
          </p:cNvPr>
          <p:cNvSpPr>
            <a:spLocks noChangeArrowheads="1"/>
          </p:cNvSpPr>
          <p:nvPr/>
        </p:nvSpPr>
        <p:spPr bwMode="auto">
          <a:xfrm>
            <a:off x="539750" y="3357563"/>
            <a:ext cx="1728788"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p>
          <a:p>
            <a:pPr algn="ctr"/>
            <a:r>
              <a:rPr lang="en-US" altLang="zh-CN"/>
              <a:t>8.</a:t>
            </a:r>
            <a:r>
              <a:rPr lang="zh-CN" altLang="en-US"/>
              <a:t>编制预算</a:t>
            </a:r>
            <a:endParaRPr lang="zh-CN" altLang="en-US">
              <a:effectLst>
                <a:outerShdw blurRad="38100" dist="38100" dir="2700000" algn="tl">
                  <a:srgbClr val="C0C0C0"/>
                </a:outerShdw>
              </a:effectLst>
            </a:endParaRPr>
          </a:p>
          <a:p>
            <a:pPr algn="ctr"/>
            <a:endParaRPr lang="en-US" altLang="zh-CN"/>
          </a:p>
        </p:txBody>
      </p:sp>
      <p:sp>
        <p:nvSpPr>
          <p:cNvPr id="98315" name="Line 11">
            <a:extLst>
              <a:ext uri="{FF2B5EF4-FFF2-40B4-BE49-F238E27FC236}">
                <a16:creationId xmlns:a16="http://schemas.microsoft.com/office/drawing/2014/main" id="{C170615D-449F-8351-6C69-0E22824F33F5}"/>
              </a:ext>
            </a:extLst>
          </p:cNvPr>
          <p:cNvSpPr>
            <a:spLocks noChangeShapeType="1"/>
          </p:cNvSpPr>
          <p:nvPr/>
        </p:nvSpPr>
        <p:spPr bwMode="auto">
          <a:xfrm>
            <a:off x="2268538" y="1844675"/>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6" name="Line 12">
            <a:extLst>
              <a:ext uri="{FF2B5EF4-FFF2-40B4-BE49-F238E27FC236}">
                <a16:creationId xmlns:a16="http://schemas.microsoft.com/office/drawing/2014/main" id="{522E7837-EA60-969D-718C-160CFCE25555}"/>
              </a:ext>
            </a:extLst>
          </p:cNvPr>
          <p:cNvSpPr>
            <a:spLocks noChangeShapeType="1"/>
          </p:cNvSpPr>
          <p:nvPr/>
        </p:nvSpPr>
        <p:spPr bwMode="auto">
          <a:xfrm>
            <a:off x="4427538" y="1844675"/>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7" name="Line 13">
            <a:extLst>
              <a:ext uri="{FF2B5EF4-FFF2-40B4-BE49-F238E27FC236}">
                <a16:creationId xmlns:a16="http://schemas.microsoft.com/office/drawing/2014/main" id="{48A26E58-5844-05DC-18F8-DD33B35B2FB3}"/>
              </a:ext>
            </a:extLst>
          </p:cNvPr>
          <p:cNvSpPr>
            <a:spLocks noChangeShapeType="1"/>
          </p:cNvSpPr>
          <p:nvPr/>
        </p:nvSpPr>
        <p:spPr bwMode="auto">
          <a:xfrm>
            <a:off x="6588125" y="1844675"/>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8" name="Line 14">
            <a:extLst>
              <a:ext uri="{FF2B5EF4-FFF2-40B4-BE49-F238E27FC236}">
                <a16:creationId xmlns:a16="http://schemas.microsoft.com/office/drawing/2014/main" id="{29470B05-6344-6EF4-5475-684C3DB5A6D3}"/>
              </a:ext>
            </a:extLst>
          </p:cNvPr>
          <p:cNvSpPr>
            <a:spLocks noChangeShapeType="1"/>
          </p:cNvSpPr>
          <p:nvPr/>
        </p:nvSpPr>
        <p:spPr bwMode="auto">
          <a:xfrm>
            <a:off x="7885113" y="2349500"/>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9" name="Line 15">
            <a:extLst>
              <a:ext uri="{FF2B5EF4-FFF2-40B4-BE49-F238E27FC236}">
                <a16:creationId xmlns:a16="http://schemas.microsoft.com/office/drawing/2014/main" id="{FF3EB197-F528-D346-729B-A8BC3FE59AA3}"/>
              </a:ext>
            </a:extLst>
          </p:cNvPr>
          <p:cNvSpPr>
            <a:spLocks noChangeShapeType="1"/>
          </p:cNvSpPr>
          <p:nvPr/>
        </p:nvSpPr>
        <p:spPr bwMode="auto">
          <a:xfrm flipH="1">
            <a:off x="6588125" y="378936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20" name="Line 16">
            <a:extLst>
              <a:ext uri="{FF2B5EF4-FFF2-40B4-BE49-F238E27FC236}">
                <a16:creationId xmlns:a16="http://schemas.microsoft.com/office/drawing/2014/main" id="{0404FC3E-D7CC-77DE-472E-53E6185D9AB6}"/>
              </a:ext>
            </a:extLst>
          </p:cNvPr>
          <p:cNvSpPr>
            <a:spLocks noChangeShapeType="1"/>
          </p:cNvSpPr>
          <p:nvPr/>
        </p:nvSpPr>
        <p:spPr bwMode="auto">
          <a:xfrm flipH="1">
            <a:off x="2268538" y="378936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21" name="Line 17">
            <a:extLst>
              <a:ext uri="{FF2B5EF4-FFF2-40B4-BE49-F238E27FC236}">
                <a16:creationId xmlns:a16="http://schemas.microsoft.com/office/drawing/2014/main" id="{8C2B8BD3-C5B9-8E6D-8A91-FC940B7DD8C4}"/>
              </a:ext>
            </a:extLst>
          </p:cNvPr>
          <p:cNvSpPr>
            <a:spLocks noChangeShapeType="1"/>
          </p:cNvSpPr>
          <p:nvPr/>
        </p:nvSpPr>
        <p:spPr bwMode="auto">
          <a:xfrm flipH="1">
            <a:off x="4427538" y="378936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22" name="Line 18">
            <a:extLst>
              <a:ext uri="{FF2B5EF4-FFF2-40B4-BE49-F238E27FC236}">
                <a16:creationId xmlns:a16="http://schemas.microsoft.com/office/drawing/2014/main" id="{81CA40CA-F9E0-E824-DBAF-050372FC52BE}"/>
              </a:ext>
            </a:extLst>
          </p:cNvPr>
          <p:cNvSpPr>
            <a:spLocks noChangeShapeType="1"/>
          </p:cNvSpPr>
          <p:nvPr/>
        </p:nvSpPr>
        <p:spPr bwMode="auto">
          <a:xfrm flipV="1">
            <a:off x="1258888" y="2349500"/>
            <a:ext cx="0" cy="1008063"/>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23" name="Text Box 19">
            <a:extLst>
              <a:ext uri="{FF2B5EF4-FFF2-40B4-BE49-F238E27FC236}">
                <a16:creationId xmlns:a16="http://schemas.microsoft.com/office/drawing/2014/main" id="{E854F555-3B26-0E7A-6DBC-CE5EE05F764C}"/>
              </a:ext>
            </a:extLst>
          </p:cNvPr>
          <p:cNvSpPr txBox="1">
            <a:spLocks noChangeArrowheads="1"/>
          </p:cNvSpPr>
          <p:nvPr/>
        </p:nvSpPr>
        <p:spPr bwMode="auto">
          <a:xfrm>
            <a:off x="3779838" y="4652963"/>
            <a:ext cx="201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latin typeface="黑体" panose="02010609060101010101" pitchFamily="49" charset="-122"/>
                <a:ea typeface="黑体" panose="02010609060101010101" pitchFamily="49" charset="-122"/>
              </a:rPr>
              <a:t>计划工作的过程</a:t>
            </a:r>
          </a:p>
        </p:txBody>
      </p:sp>
      <p:sp>
        <p:nvSpPr>
          <p:cNvPr id="98324" name="Text Box 20">
            <a:extLst>
              <a:ext uri="{FF2B5EF4-FFF2-40B4-BE49-F238E27FC236}">
                <a16:creationId xmlns:a16="http://schemas.microsoft.com/office/drawing/2014/main" id="{7B7C3D2E-873B-47C6-B77D-6F04F9AA7645}"/>
              </a:ext>
            </a:extLst>
          </p:cNvPr>
          <p:cNvSpPr txBox="1">
            <a:spLocks noChangeArrowheads="1"/>
          </p:cNvSpPr>
          <p:nvPr/>
        </p:nvSpPr>
        <p:spPr bwMode="auto">
          <a:xfrm>
            <a:off x="179388" y="188913"/>
            <a:ext cx="31686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4.1</a:t>
            </a:r>
            <a:r>
              <a:rPr lang="zh-CN" altLang="en-US" sz="1600"/>
              <a:t>计划工作的性质、结构与过程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1349CB9-E808-5C6E-0331-9C940AD98D6D}"/>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85DE7B98-B64C-0EBC-BF36-B0F496365102}"/>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4719FF80-28AA-8D14-98BD-DAAC012247A5}"/>
              </a:ext>
            </a:extLst>
          </p:cNvPr>
          <p:cNvSpPr>
            <a:spLocks noGrp="1"/>
          </p:cNvSpPr>
          <p:nvPr>
            <p:ph type="sldNum" sz="quarter" idx="12"/>
          </p:nvPr>
        </p:nvSpPr>
        <p:spPr/>
        <p:txBody>
          <a:bodyPr/>
          <a:lstStyle/>
          <a:p>
            <a:fld id="{67D0EA42-4B20-42F6-811F-01B0C342FA37}" type="slidenum">
              <a:rPr lang="en-US" altLang="zh-CN"/>
              <a:pPr/>
              <a:t>6</a:t>
            </a:fld>
            <a:endParaRPr lang="en-US" altLang="zh-CN"/>
          </a:p>
        </p:txBody>
      </p:sp>
      <p:sp>
        <p:nvSpPr>
          <p:cNvPr id="99330" name="Line 2">
            <a:extLst>
              <a:ext uri="{FF2B5EF4-FFF2-40B4-BE49-F238E27FC236}">
                <a16:creationId xmlns:a16="http://schemas.microsoft.com/office/drawing/2014/main" id="{CA728FB3-112F-7CAD-FFC2-FA84F048B175}"/>
              </a:ext>
            </a:extLst>
          </p:cNvPr>
          <p:cNvSpPr>
            <a:spLocks noChangeShapeType="1"/>
          </p:cNvSpPr>
          <p:nvPr/>
        </p:nvSpPr>
        <p:spPr bwMode="auto">
          <a:xfrm flipV="1">
            <a:off x="1619250" y="1125538"/>
            <a:ext cx="0" cy="41036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1" name="Line 3">
            <a:extLst>
              <a:ext uri="{FF2B5EF4-FFF2-40B4-BE49-F238E27FC236}">
                <a16:creationId xmlns:a16="http://schemas.microsoft.com/office/drawing/2014/main" id="{4101010D-197D-55C3-CDCC-B119ED1A019D}"/>
              </a:ext>
            </a:extLst>
          </p:cNvPr>
          <p:cNvSpPr>
            <a:spLocks noChangeShapeType="1"/>
          </p:cNvSpPr>
          <p:nvPr/>
        </p:nvSpPr>
        <p:spPr bwMode="auto">
          <a:xfrm>
            <a:off x="3657600" y="2743200"/>
            <a:ext cx="457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2" name="Line 4">
            <a:extLst>
              <a:ext uri="{FF2B5EF4-FFF2-40B4-BE49-F238E27FC236}">
                <a16:creationId xmlns:a16="http://schemas.microsoft.com/office/drawing/2014/main" id="{7ABF6D1E-3181-DAED-96D6-67989ECE6CF5}"/>
              </a:ext>
            </a:extLst>
          </p:cNvPr>
          <p:cNvSpPr>
            <a:spLocks noChangeShapeType="1"/>
          </p:cNvSpPr>
          <p:nvPr/>
        </p:nvSpPr>
        <p:spPr bwMode="auto">
          <a:xfrm flipH="1" flipV="1">
            <a:off x="5148263" y="3068638"/>
            <a:ext cx="43180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3" name="Line 5">
            <a:extLst>
              <a:ext uri="{FF2B5EF4-FFF2-40B4-BE49-F238E27FC236}">
                <a16:creationId xmlns:a16="http://schemas.microsoft.com/office/drawing/2014/main" id="{03048575-2B50-FBDC-4954-92179A1E7AB7}"/>
              </a:ext>
            </a:extLst>
          </p:cNvPr>
          <p:cNvSpPr>
            <a:spLocks noChangeShapeType="1"/>
          </p:cNvSpPr>
          <p:nvPr/>
        </p:nvSpPr>
        <p:spPr bwMode="auto">
          <a:xfrm flipH="1">
            <a:off x="2124075" y="5084763"/>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4" name="Line 6">
            <a:extLst>
              <a:ext uri="{FF2B5EF4-FFF2-40B4-BE49-F238E27FC236}">
                <a16:creationId xmlns:a16="http://schemas.microsoft.com/office/drawing/2014/main" id="{1CA4C1E8-D83B-9126-06C5-8C6A8D6AFFE8}"/>
              </a:ext>
            </a:extLst>
          </p:cNvPr>
          <p:cNvSpPr>
            <a:spLocks noChangeShapeType="1"/>
          </p:cNvSpPr>
          <p:nvPr/>
        </p:nvSpPr>
        <p:spPr bwMode="auto">
          <a:xfrm>
            <a:off x="3563938" y="4149725"/>
            <a:ext cx="0" cy="1079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5" name="Line 7">
            <a:extLst>
              <a:ext uri="{FF2B5EF4-FFF2-40B4-BE49-F238E27FC236}">
                <a16:creationId xmlns:a16="http://schemas.microsoft.com/office/drawing/2014/main" id="{1BAF32A7-95CB-E23F-E7FA-499F034EF4B3}"/>
              </a:ext>
            </a:extLst>
          </p:cNvPr>
          <p:cNvSpPr>
            <a:spLocks noChangeShapeType="1"/>
          </p:cNvSpPr>
          <p:nvPr/>
        </p:nvSpPr>
        <p:spPr bwMode="auto">
          <a:xfrm>
            <a:off x="1619250" y="5229225"/>
            <a:ext cx="6248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6" name="Line 8">
            <a:extLst>
              <a:ext uri="{FF2B5EF4-FFF2-40B4-BE49-F238E27FC236}">
                <a16:creationId xmlns:a16="http://schemas.microsoft.com/office/drawing/2014/main" id="{57237E6B-FFF1-FC80-5F59-F870204556B8}"/>
              </a:ext>
            </a:extLst>
          </p:cNvPr>
          <p:cNvSpPr>
            <a:spLocks noChangeShapeType="1"/>
          </p:cNvSpPr>
          <p:nvPr/>
        </p:nvSpPr>
        <p:spPr bwMode="auto">
          <a:xfrm flipV="1">
            <a:off x="3708400" y="1341438"/>
            <a:ext cx="3600450" cy="2451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7" name="Line 9">
            <a:extLst>
              <a:ext uri="{FF2B5EF4-FFF2-40B4-BE49-F238E27FC236}">
                <a16:creationId xmlns:a16="http://schemas.microsoft.com/office/drawing/2014/main" id="{120F82A7-0D20-D0C0-F907-F6662A016C30}"/>
              </a:ext>
            </a:extLst>
          </p:cNvPr>
          <p:cNvSpPr>
            <a:spLocks noChangeShapeType="1"/>
          </p:cNvSpPr>
          <p:nvPr/>
        </p:nvSpPr>
        <p:spPr bwMode="auto">
          <a:xfrm flipV="1">
            <a:off x="7308850" y="1052513"/>
            <a:ext cx="0" cy="4176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8" name="Text Box 10">
            <a:extLst>
              <a:ext uri="{FF2B5EF4-FFF2-40B4-BE49-F238E27FC236}">
                <a16:creationId xmlns:a16="http://schemas.microsoft.com/office/drawing/2014/main" id="{0CC40321-1FE5-A5AB-00B7-AB33CA4CA9C7}"/>
              </a:ext>
            </a:extLst>
          </p:cNvPr>
          <p:cNvSpPr txBox="1">
            <a:spLocks noChangeArrowheads="1"/>
          </p:cNvSpPr>
          <p:nvPr/>
        </p:nvSpPr>
        <p:spPr bwMode="auto">
          <a:xfrm>
            <a:off x="5580063" y="3573463"/>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前提</a:t>
            </a:r>
            <a:r>
              <a:rPr lang="zh-CN" altLang="en-US" sz="2400"/>
              <a:t> </a:t>
            </a:r>
          </a:p>
        </p:txBody>
      </p:sp>
      <p:sp>
        <p:nvSpPr>
          <p:cNvPr id="99339" name="Text Box 11">
            <a:extLst>
              <a:ext uri="{FF2B5EF4-FFF2-40B4-BE49-F238E27FC236}">
                <a16:creationId xmlns:a16="http://schemas.microsoft.com/office/drawing/2014/main" id="{CB3B2460-5579-5080-18E6-29044E8F9C72}"/>
              </a:ext>
            </a:extLst>
          </p:cNvPr>
          <p:cNvSpPr txBox="1">
            <a:spLocks noChangeArrowheads="1"/>
          </p:cNvSpPr>
          <p:nvPr/>
        </p:nvSpPr>
        <p:spPr bwMode="auto">
          <a:xfrm>
            <a:off x="3492500" y="1628775"/>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前提</a:t>
            </a:r>
            <a:r>
              <a:rPr lang="zh-CN" altLang="en-US" sz="2400"/>
              <a:t> </a:t>
            </a:r>
          </a:p>
        </p:txBody>
      </p:sp>
      <p:sp>
        <p:nvSpPr>
          <p:cNvPr id="99340" name="Line 12">
            <a:extLst>
              <a:ext uri="{FF2B5EF4-FFF2-40B4-BE49-F238E27FC236}">
                <a16:creationId xmlns:a16="http://schemas.microsoft.com/office/drawing/2014/main" id="{3880AE15-F9A8-728F-8CA4-63F20103C243}"/>
              </a:ext>
            </a:extLst>
          </p:cNvPr>
          <p:cNvSpPr>
            <a:spLocks noChangeShapeType="1"/>
          </p:cNvSpPr>
          <p:nvPr/>
        </p:nvSpPr>
        <p:spPr bwMode="auto">
          <a:xfrm>
            <a:off x="4716463" y="2060575"/>
            <a:ext cx="457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41" name="Line 13">
            <a:extLst>
              <a:ext uri="{FF2B5EF4-FFF2-40B4-BE49-F238E27FC236}">
                <a16:creationId xmlns:a16="http://schemas.microsoft.com/office/drawing/2014/main" id="{CE600928-9F3C-6908-8365-235313E66749}"/>
              </a:ext>
            </a:extLst>
          </p:cNvPr>
          <p:cNvSpPr>
            <a:spLocks noChangeShapeType="1"/>
          </p:cNvSpPr>
          <p:nvPr/>
        </p:nvSpPr>
        <p:spPr bwMode="auto">
          <a:xfrm>
            <a:off x="4356100" y="2276475"/>
            <a:ext cx="457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42" name="Line 14">
            <a:extLst>
              <a:ext uri="{FF2B5EF4-FFF2-40B4-BE49-F238E27FC236}">
                <a16:creationId xmlns:a16="http://schemas.microsoft.com/office/drawing/2014/main" id="{7288B3B4-DB5B-C879-FE34-1B1681D6645B}"/>
              </a:ext>
            </a:extLst>
          </p:cNvPr>
          <p:cNvSpPr>
            <a:spLocks noChangeShapeType="1"/>
          </p:cNvSpPr>
          <p:nvPr/>
        </p:nvSpPr>
        <p:spPr bwMode="auto">
          <a:xfrm>
            <a:off x="3995738" y="2492375"/>
            <a:ext cx="457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43" name="Line 15">
            <a:extLst>
              <a:ext uri="{FF2B5EF4-FFF2-40B4-BE49-F238E27FC236}">
                <a16:creationId xmlns:a16="http://schemas.microsoft.com/office/drawing/2014/main" id="{C7A6FDFC-F0B2-8495-D7C0-DB492D380848}"/>
              </a:ext>
            </a:extLst>
          </p:cNvPr>
          <p:cNvSpPr>
            <a:spLocks noChangeShapeType="1"/>
          </p:cNvSpPr>
          <p:nvPr/>
        </p:nvSpPr>
        <p:spPr bwMode="auto">
          <a:xfrm>
            <a:off x="5076825" y="1844675"/>
            <a:ext cx="457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44" name="Text Box 16">
            <a:extLst>
              <a:ext uri="{FF2B5EF4-FFF2-40B4-BE49-F238E27FC236}">
                <a16:creationId xmlns:a16="http://schemas.microsoft.com/office/drawing/2014/main" id="{EBE22BEC-2FCD-892B-7474-0E5E53D9CA18}"/>
              </a:ext>
            </a:extLst>
          </p:cNvPr>
          <p:cNvSpPr txBox="1">
            <a:spLocks noChangeArrowheads="1"/>
          </p:cNvSpPr>
          <p:nvPr/>
        </p:nvSpPr>
        <p:spPr bwMode="auto">
          <a:xfrm>
            <a:off x="7380288" y="1052513"/>
            <a:ext cx="504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latin typeface="Arial Unicode MS" panose="020B0604020202020204" pitchFamily="34" charset="-122"/>
                <a:ea typeface="Arial Unicode MS" panose="020B0604020202020204" pitchFamily="34" charset="-122"/>
                <a:cs typeface="Arial Unicode MS" panose="020B0604020202020204" pitchFamily="34" charset="-122"/>
              </a:rPr>
              <a:t>Y</a:t>
            </a:r>
          </a:p>
        </p:txBody>
      </p:sp>
      <p:sp>
        <p:nvSpPr>
          <p:cNvPr id="99345" name="Text Box 17">
            <a:extLst>
              <a:ext uri="{FF2B5EF4-FFF2-40B4-BE49-F238E27FC236}">
                <a16:creationId xmlns:a16="http://schemas.microsoft.com/office/drawing/2014/main" id="{ED02EF5E-81A5-09CE-3C90-33A22E14EC47}"/>
              </a:ext>
            </a:extLst>
          </p:cNvPr>
          <p:cNvSpPr txBox="1">
            <a:spLocks noChangeArrowheads="1"/>
          </p:cNvSpPr>
          <p:nvPr/>
        </p:nvSpPr>
        <p:spPr bwMode="auto">
          <a:xfrm>
            <a:off x="3348038" y="3644900"/>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X</a:t>
            </a:r>
          </a:p>
        </p:txBody>
      </p:sp>
      <p:sp>
        <p:nvSpPr>
          <p:cNvPr id="99346" name="Text Box 18">
            <a:extLst>
              <a:ext uri="{FF2B5EF4-FFF2-40B4-BE49-F238E27FC236}">
                <a16:creationId xmlns:a16="http://schemas.microsoft.com/office/drawing/2014/main" id="{288847A9-0DDA-6E24-49A6-BEF26CAD79C9}"/>
              </a:ext>
            </a:extLst>
          </p:cNvPr>
          <p:cNvSpPr txBox="1">
            <a:spLocks noChangeArrowheads="1"/>
          </p:cNvSpPr>
          <p:nvPr/>
        </p:nvSpPr>
        <p:spPr bwMode="auto">
          <a:xfrm>
            <a:off x="1908175" y="465296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X</a:t>
            </a:r>
            <a:r>
              <a:rPr lang="en-US" altLang="zh-CN"/>
              <a:t>1</a:t>
            </a:r>
          </a:p>
        </p:txBody>
      </p:sp>
      <p:sp>
        <p:nvSpPr>
          <p:cNvPr id="99347" name="Text Box 19">
            <a:extLst>
              <a:ext uri="{FF2B5EF4-FFF2-40B4-BE49-F238E27FC236}">
                <a16:creationId xmlns:a16="http://schemas.microsoft.com/office/drawing/2014/main" id="{35FD8882-7D66-534C-EBC0-16DC1A88AE57}"/>
              </a:ext>
            </a:extLst>
          </p:cNvPr>
          <p:cNvSpPr txBox="1">
            <a:spLocks noChangeArrowheads="1"/>
          </p:cNvSpPr>
          <p:nvPr/>
        </p:nvSpPr>
        <p:spPr bwMode="auto">
          <a:xfrm>
            <a:off x="1908175" y="515778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t-n</a:t>
            </a:r>
          </a:p>
        </p:txBody>
      </p:sp>
      <p:sp>
        <p:nvSpPr>
          <p:cNvPr id="99348" name="Text Box 20">
            <a:extLst>
              <a:ext uri="{FF2B5EF4-FFF2-40B4-BE49-F238E27FC236}">
                <a16:creationId xmlns:a16="http://schemas.microsoft.com/office/drawing/2014/main" id="{62D1FF91-BD19-DDF8-FEAB-8FCBFD5592A8}"/>
              </a:ext>
            </a:extLst>
          </p:cNvPr>
          <p:cNvSpPr txBox="1">
            <a:spLocks noChangeArrowheads="1"/>
          </p:cNvSpPr>
          <p:nvPr/>
        </p:nvSpPr>
        <p:spPr bwMode="auto">
          <a:xfrm>
            <a:off x="3348038" y="5157788"/>
            <a:ext cx="504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t0</a:t>
            </a:r>
          </a:p>
        </p:txBody>
      </p:sp>
      <p:sp>
        <p:nvSpPr>
          <p:cNvPr id="99349" name="Text Box 21">
            <a:extLst>
              <a:ext uri="{FF2B5EF4-FFF2-40B4-BE49-F238E27FC236}">
                <a16:creationId xmlns:a16="http://schemas.microsoft.com/office/drawing/2014/main" id="{F1BCAA64-681D-4C89-4DE6-FEB39F717133}"/>
              </a:ext>
            </a:extLst>
          </p:cNvPr>
          <p:cNvSpPr txBox="1">
            <a:spLocks noChangeArrowheads="1"/>
          </p:cNvSpPr>
          <p:nvPr/>
        </p:nvSpPr>
        <p:spPr bwMode="auto">
          <a:xfrm>
            <a:off x="7092950" y="515778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tn</a:t>
            </a:r>
          </a:p>
        </p:txBody>
      </p:sp>
      <p:sp>
        <p:nvSpPr>
          <p:cNvPr id="99350" name="Text Box 22">
            <a:extLst>
              <a:ext uri="{FF2B5EF4-FFF2-40B4-BE49-F238E27FC236}">
                <a16:creationId xmlns:a16="http://schemas.microsoft.com/office/drawing/2014/main" id="{1F504FAF-CE14-B478-E80D-748330386EF7}"/>
              </a:ext>
            </a:extLst>
          </p:cNvPr>
          <p:cNvSpPr txBox="1">
            <a:spLocks noChangeArrowheads="1"/>
          </p:cNvSpPr>
          <p:nvPr/>
        </p:nvSpPr>
        <p:spPr bwMode="auto">
          <a:xfrm>
            <a:off x="7885113" y="5013325"/>
            <a:ext cx="790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时间</a:t>
            </a:r>
          </a:p>
        </p:txBody>
      </p:sp>
      <p:sp>
        <p:nvSpPr>
          <p:cNvPr id="99351" name="Text Box 23">
            <a:extLst>
              <a:ext uri="{FF2B5EF4-FFF2-40B4-BE49-F238E27FC236}">
                <a16:creationId xmlns:a16="http://schemas.microsoft.com/office/drawing/2014/main" id="{B9C81480-A357-4FF1-82E7-AEC109CE4B87}"/>
              </a:ext>
            </a:extLst>
          </p:cNvPr>
          <p:cNvSpPr txBox="1">
            <a:spLocks noChangeArrowheads="1"/>
          </p:cNvSpPr>
          <p:nvPr/>
        </p:nvSpPr>
        <p:spPr bwMode="auto">
          <a:xfrm>
            <a:off x="1258888" y="692150"/>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进程</a:t>
            </a:r>
          </a:p>
        </p:txBody>
      </p:sp>
      <p:sp>
        <p:nvSpPr>
          <p:cNvPr id="99352" name="Line 24">
            <a:extLst>
              <a:ext uri="{FF2B5EF4-FFF2-40B4-BE49-F238E27FC236}">
                <a16:creationId xmlns:a16="http://schemas.microsoft.com/office/drawing/2014/main" id="{4C5E2213-8C7F-5511-EEA8-123C7C4DD890}"/>
              </a:ext>
            </a:extLst>
          </p:cNvPr>
          <p:cNvSpPr>
            <a:spLocks noChangeShapeType="1"/>
          </p:cNvSpPr>
          <p:nvPr/>
        </p:nvSpPr>
        <p:spPr bwMode="auto">
          <a:xfrm flipH="1">
            <a:off x="2268538" y="4005263"/>
            <a:ext cx="1079500" cy="7191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53" name="Line 25">
            <a:extLst>
              <a:ext uri="{FF2B5EF4-FFF2-40B4-BE49-F238E27FC236}">
                <a16:creationId xmlns:a16="http://schemas.microsoft.com/office/drawing/2014/main" id="{4C5E7788-FDB7-C776-B509-5D8131976E6C}"/>
              </a:ext>
            </a:extLst>
          </p:cNvPr>
          <p:cNvSpPr>
            <a:spLocks noChangeShapeType="1"/>
          </p:cNvSpPr>
          <p:nvPr/>
        </p:nvSpPr>
        <p:spPr bwMode="auto">
          <a:xfrm flipH="1" flipV="1">
            <a:off x="4787900" y="3284538"/>
            <a:ext cx="43180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54" name="Line 26">
            <a:extLst>
              <a:ext uri="{FF2B5EF4-FFF2-40B4-BE49-F238E27FC236}">
                <a16:creationId xmlns:a16="http://schemas.microsoft.com/office/drawing/2014/main" id="{6B64098A-9B40-BC4C-A3EC-F5B818DCE63E}"/>
              </a:ext>
            </a:extLst>
          </p:cNvPr>
          <p:cNvSpPr>
            <a:spLocks noChangeShapeType="1"/>
          </p:cNvSpPr>
          <p:nvPr/>
        </p:nvSpPr>
        <p:spPr bwMode="auto">
          <a:xfrm flipH="1" flipV="1">
            <a:off x="4356100" y="3573463"/>
            <a:ext cx="43180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55" name="Line 27">
            <a:extLst>
              <a:ext uri="{FF2B5EF4-FFF2-40B4-BE49-F238E27FC236}">
                <a16:creationId xmlns:a16="http://schemas.microsoft.com/office/drawing/2014/main" id="{FECFA8CB-9ED8-8761-2F3C-31A92128093F}"/>
              </a:ext>
            </a:extLst>
          </p:cNvPr>
          <p:cNvSpPr>
            <a:spLocks noChangeShapeType="1"/>
          </p:cNvSpPr>
          <p:nvPr/>
        </p:nvSpPr>
        <p:spPr bwMode="auto">
          <a:xfrm flipH="1" flipV="1">
            <a:off x="5508625" y="2852738"/>
            <a:ext cx="43180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56" name="Line 28">
            <a:extLst>
              <a:ext uri="{FF2B5EF4-FFF2-40B4-BE49-F238E27FC236}">
                <a16:creationId xmlns:a16="http://schemas.microsoft.com/office/drawing/2014/main" id="{B57DFC81-EEA0-B4FF-982C-7F53DB6DB970}"/>
              </a:ext>
            </a:extLst>
          </p:cNvPr>
          <p:cNvSpPr>
            <a:spLocks noChangeShapeType="1"/>
          </p:cNvSpPr>
          <p:nvPr/>
        </p:nvSpPr>
        <p:spPr bwMode="auto">
          <a:xfrm flipH="1" flipV="1">
            <a:off x="5795963" y="2565400"/>
            <a:ext cx="43180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58" name="Text Box 30">
            <a:extLst>
              <a:ext uri="{FF2B5EF4-FFF2-40B4-BE49-F238E27FC236}">
                <a16:creationId xmlns:a16="http://schemas.microsoft.com/office/drawing/2014/main" id="{12016EAB-B53D-5DAF-944F-821295F792BB}"/>
              </a:ext>
            </a:extLst>
          </p:cNvPr>
          <p:cNvSpPr txBox="1">
            <a:spLocks noChangeArrowheads="1"/>
          </p:cNvSpPr>
          <p:nvPr/>
        </p:nvSpPr>
        <p:spPr bwMode="auto">
          <a:xfrm>
            <a:off x="3779838" y="5589588"/>
            <a:ext cx="201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latin typeface="黑体" panose="02010609060101010101" pitchFamily="49" charset="-122"/>
                <a:ea typeface="黑体" panose="02010609060101010101" pitchFamily="49" charset="-122"/>
              </a:rPr>
              <a:t>计划工作的过程</a:t>
            </a:r>
          </a:p>
        </p:txBody>
      </p:sp>
      <p:sp>
        <p:nvSpPr>
          <p:cNvPr id="99359" name="Text Box 31">
            <a:extLst>
              <a:ext uri="{FF2B5EF4-FFF2-40B4-BE49-F238E27FC236}">
                <a16:creationId xmlns:a16="http://schemas.microsoft.com/office/drawing/2014/main" id="{8E88BE62-B105-6399-34A3-E90E7355A7FA}"/>
              </a:ext>
            </a:extLst>
          </p:cNvPr>
          <p:cNvSpPr txBox="1">
            <a:spLocks noChangeArrowheads="1"/>
          </p:cNvSpPr>
          <p:nvPr/>
        </p:nvSpPr>
        <p:spPr bwMode="auto">
          <a:xfrm>
            <a:off x="179388" y="188913"/>
            <a:ext cx="31686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4.1</a:t>
            </a:r>
            <a:r>
              <a:rPr lang="zh-CN" altLang="en-US" sz="1600"/>
              <a:t>计划工作的性质、结构与过程</a:t>
            </a:r>
          </a:p>
        </p:txBody>
      </p:sp>
    </p:spTree>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64A63517-8FCC-42D7-7715-CDC7AF94F3D7}"/>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AAB733DF-B0D3-EC27-5239-3AF26A1BE706}"/>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F274A3FD-B6C7-CA4C-DF51-13FD8DF8D520}"/>
              </a:ext>
            </a:extLst>
          </p:cNvPr>
          <p:cNvSpPr>
            <a:spLocks noGrp="1"/>
          </p:cNvSpPr>
          <p:nvPr>
            <p:ph type="sldNum" sz="quarter" idx="12"/>
          </p:nvPr>
        </p:nvSpPr>
        <p:spPr/>
        <p:txBody>
          <a:bodyPr/>
          <a:lstStyle/>
          <a:p>
            <a:fld id="{F5CD899E-4782-42A5-8A14-105214FBA676}" type="slidenum">
              <a:rPr lang="en-US" altLang="zh-CN"/>
              <a:pPr/>
              <a:t>7</a:t>
            </a:fld>
            <a:endParaRPr lang="en-US" altLang="zh-CN"/>
          </a:p>
        </p:txBody>
      </p:sp>
      <p:graphicFrame>
        <p:nvGraphicFramePr>
          <p:cNvPr id="101378" name="Group 2">
            <a:extLst>
              <a:ext uri="{FF2B5EF4-FFF2-40B4-BE49-F238E27FC236}">
                <a16:creationId xmlns:a16="http://schemas.microsoft.com/office/drawing/2014/main" id="{0063ADBD-30F4-A29E-D653-FFEFE40C9E4F}"/>
              </a:ext>
            </a:extLst>
          </p:cNvPr>
          <p:cNvGraphicFramePr>
            <a:graphicFrameLocks noGrp="1"/>
          </p:cNvGraphicFramePr>
          <p:nvPr>
            <p:ph/>
          </p:nvPr>
        </p:nvGraphicFramePr>
        <p:xfrm>
          <a:off x="468313" y="1196975"/>
          <a:ext cx="8229600" cy="4559300"/>
        </p:xfrm>
        <a:graphic>
          <a:graphicData uri="http://schemas.openxmlformats.org/drawingml/2006/table">
            <a:tbl>
              <a:tblPr/>
              <a:tblGrid>
                <a:gridCol w="1162050">
                  <a:extLst>
                    <a:ext uri="{9D8B030D-6E8A-4147-A177-3AD203B41FA5}">
                      <a16:colId xmlns:a16="http://schemas.microsoft.com/office/drawing/2014/main" val="3534825392"/>
                    </a:ext>
                  </a:extLst>
                </a:gridCol>
                <a:gridCol w="1368425">
                  <a:extLst>
                    <a:ext uri="{9D8B030D-6E8A-4147-A177-3AD203B41FA5}">
                      <a16:colId xmlns:a16="http://schemas.microsoft.com/office/drawing/2014/main" val="2594138419"/>
                    </a:ext>
                  </a:extLst>
                </a:gridCol>
                <a:gridCol w="5699125">
                  <a:extLst>
                    <a:ext uri="{9D8B030D-6E8A-4147-A177-3AD203B41FA5}">
                      <a16:colId xmlns:a16="http://schemas.microsoft.com/office/drawing/2014/main" val="517118320"/>
                    </a:ext>
                  </a:extLst>
                </a:gridCol>
              </a:tblGrid>
              <a:tr h="431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维度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分类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625198895"/>
                  </a:ext>
                </a:extLst>
              </a:tr>
              <a:tr h="360363">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层次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战略计划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实现战略目标的构想，它是企业的基本计划，是制定其他计划的依据。</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43886195"/>
                  </a:ext>
                </a:extLst>
              </a:tr>
              <a:tr h="0">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作业计划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战略计划的实施计划，其作用是将战略构想转变为实际行动，是具体执行计划，是实际执行和现场控制的依据。</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0070455"/>
                  </a:ext>
                </a:extLst>
              </a:tr>
              <a:tr h="433388">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长期计划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有较大弹性，允许管理者从根本上调整组织的目的和手段，可以在不受固定承诺限制的假定下经营。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433555"/>
                  </a:ext>
                </a:extLst>
              </a:tr>
              <a:tr h="327025">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短期计划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缺乏弹性，组织结构和战略都是固定的，管理者仅能影响资源的调配和应用各种技术完成排定的各项事务。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4567530"/>
                  </a:ext>
                </a:extLst>
              </a:tr>
              <a:tr h="468313">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范围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整体计划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以整个企业为范围进行的全面计划。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90099745"/>
                  </a:ext>
                </a:extLst>
              </a:tr>
              <a:tr h="0">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职能计划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以某个部门的业务为范围进行的计划。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9900150"/>
                  </a:ext>
                </a:extLst>
              </a:tr>
              <a:tr h="396875">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指令</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指导</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指令性计划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具有明确规定的目标、不存在容易引起误解的问题的计划。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41182813"/>
                  </a:ext>
                </a:extLst>
              </a:tr>
              <a:tr h="0">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指导性计划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仅规定一般方针，指出重点但不把经理限定在具体目标或特定行动方案上的计划。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9828992"/>
                  </a:ext>
                </a:extLst>
              </a:tr>
            </a:tbl>
          </a:graphicData>
        </a:graphic>
      </p:graphicFrame>
      <p:sp>
        <p:nvSpPr>
          <p:cNvPr id="101415" name="Text Box 39">
            <a:extLst>
              <a:ext uri="{FF2B5EF4-FFF2-40B4-BE49-F238E27FC236}">
                <a16:creationId xmlns:a16="http://schemas.microsoft.com/office/drawing/2014/main" id="{CE44AB2C-547A-518A-874A-BBA1FFBAEAF7}"/>
              </a:ext>
            </a:extLst>
          </p:cNvPr>
          <p:cNvSpPr txBox="1">
            <a:spLocks noChangeArrowheads="1"/>
          </p:cNvSpPr>
          <p:nvPr/>
        </p:nvSpPr>
        <p:spPr bwMode="auto">
          <a:xfrm>
            <a:off x="3924300" y="765175"/>
            <a:ext cx="1584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计划的结构</a:t>
            </a:r>
          </a:p>
        </p:txBody>
      </p:sp>
      <p:sp>
        <p:nvSpPr>
          <p:cNvPr id="101417" name="Text Box 41">
            <a:extLst>
              <a:ext uri="{FF2B5EF4-FFF2-40B4-BE49-F238E27FC236}">
                <a16:creationId xmlns:a16="http://schemas.microsoft.com/office/drawing/2014/main" id="{227A38E6-5B9A-4417-2865-69786ACBADE6}"/>
              </a:ext>
            </a:extLst>
          </p:cNvPr>
          <p:cNvSpPr txBox="1">
            <a:spLocks noChangeArrowheads="1"/>
          </p:cNvSpPr>
          <p:nvPr/>
        </p:nvSpPr>
        <p:spPr bwMode="auto">
          <a:xfrm>
            <a:off x="179388" y="188913"/>
            <a:ext cx="31686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4.1</a:t>
            </a:r>
            <a:r>
              <a:rPr lang="zh-CN" altLang="en-US" sz="1600"/>
              <a:t>计划工作的性质、结构与过程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27DBED-34F2-A0CC-8B79-0B944BE39505}"/>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22170BED-B8FB-1808-9C79-99A7D431378E}"/>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37023A59-FD61-B53B-0E9B-A2F15FD6FB0C}"/>
              </a:ext>
            </a:extLst>
          </p:cNvPr>
          <p:cNvSpPr>
            <a:spLocks noGrp="1"/>
          </p:cNvSpPr>
          <p:nvPr>
            <p:ph type="sldNum" sz="quarter" idx="12"/>
          </p:nvPr>
        </p:nvSpPr>
        <p:spPr/>
        <p:txBody>
          <a:bodyPr/>
          <a:lstStyle/>
          <a:p>
            <a:fld id="{D5016A5A-92F4-4E52-8DA2-CEA68F13EC78}" type="slidenum">
              <a:rPr lang="en-US" altLang="zh-CN"/>
              <a:pPr/>
              <a:t>8</a:t>
            </a:fld>
            <a:endParaRPr lang="en-US" altLang="zh-CN"/>
          </a:p>
        </p:txBody>
      </p:sp>
      <p:sp>
        <p:nvSpPr>
          <p:cNvPr id="104450" name="Rectangle 2">
            <a:extLst>
              <a:ext uri="{FF2B5EF4-FFF2-40B4-BE49-F238E27FC236}">
                <a16:creationId xmlns:a16="http://schemas.microsoft.com/office/drawing/2014/main" id="{8A9867C5-4B11-A28A-0AB8-0B0347449E4D}"/>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sp>
        <p:nvSpPr>
          <p:cNvPr id="104451" name="Rectangle 3">
            <a:extLst>
              <a:ext uri="{FF2B5EF4-FFF2-40B4-BE49-F238E27FC236}">
                <a16:creationId xmlns:a16="http://schemas.microsoft.com/office/drawing/2014/main" id="{954C78CC-DDE9-F5E3-BC30-3C577597E535}"/>
              </a:ext>
            </a:extLst>
          </p:cNvPr>
          <p:cNvSpPr>
            <a:spLocks noChangeArrowheads="1"/>
          </p:cNvSpPr>
          <p:nvPr/>
        </p:nvSpPr>
        <p:spPr bwMode="auto">
          <a:xfrm>
            <a:off x="1835150" y="981075"/>
            <a:ext cx="1368425" cy="12239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   </a:t>
            </a:r>
            <a:r>
              <a:rPr lang="zh-CN" altLang="en-US"/>
              <a:t>环境分析</a:t>
            </a:r>
          </a:p>
          <a:p>
            <a:r>
              <a:rPr lang="zh-CN" altLang="en-US" sz="1400"/>
              <a:t>机会</a:t>
            </a:r>
          </a:p>
          <a:p>
            <a:r>
              <a:rPr lang="zh-CN" altLang="en-US" sz="1400"/>
              <a:t>威胁</a:t>
            </a:r>
          </a:p>
          <a:p>
            <a:r>
              <a:rPr lang="zh-CN" altLang="en-US" sz="1400"/>
              <a:t>不确定性</a:t>
            </a:r>
          </a:p>
          <a:p>
            <a:r>
              <a:rPr lang="zh-CN" altLang="en-US" sz="1400"/>
              <a:t>资源可获得性</a:t>
            </a:r>
          </a:p>
        </p:txBody>
      </p:sp>
      <p:sp>
        <p:nvSpPr>
          <p:cNvPr id="104452" name="Rectangle 4">
            <a:extLst>
              <a:ext uri="{FF2B5EF4-FFF2-40B4-BE49-F238E27FC236}">
                <a16:creationId xmlns:a16="http://schemas.microsoft.com/office/drawing/2014/main" id="{B32D1F4E-D6D3-BFCF-E0DC-2F81CB93826D}"/>
              </a:ext>
            </a:extLst>
          </p:cNvPr>
          <p:cNvSpPr>
            <a:spLocks noChangeArrowheads="1"/>
          </p:cNvSpPr>
          <p:nvPr/>
        </p:nvSpPr>
        <p:spPr bwMode="auto">
          <a:xfrm>
            <a:off x="1908175" y="3860800"/>
            <a:ext cx="1368425" cy="12239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  </a:t>
            </a:r>
            <a:r>
              <a:rPr lang="zh-CN" altLang="en-US"/>
              <a:t>资源分析</a:t>
            </a:r>
          </a:p>
          <a:p>
            <a:r>
              <a:rPr lang="zh-CN" altLang="en-US" sz="1400"/>
              <a:t>强势</a:t>
            </a:r>
          </a:p>
          <a:p>
            <a:r>
              <a:rPr lang="zh-CN" altLang="en-US" sz="1400"/>
              <a:t>弱势</a:t>
            </a:r>
          </a:p>
          <a:p>
            <a:r>
              <a:rPr lang="zh-CN" altLang="en-US" sz="1400"/>
              <a:t>核心能力</a:t>
            </a:r>
          </a:p>
        </p:txBody>
      </p:sp>
      <p:sp>
        <p:nvSpPr>
          <p:cNvPr id="104453" name="Rectangle 5">
            <a:extLst>
              <a:ext uri="{FF2B5EF4-FFF2-40B4-BE49-F238E27FC236}">
                <a16:creationId xmlns:a16="http://schemas.microsoft.com/office/drawing/2014/main" id="{2BD2409A-C937-4FA9-72ED-297423CB4D6D}"/>
              </a:ext>
            </a:extLst>
          </p:cNvPr>
          <p:cNvSpPr>
            <a:spLocks noChangeArrowheads="1"/>
          </p:cNvSpPr>
          <p:nvPr/>
        </p:nvSpPr>
        <p:spPr bwMode="auto">
          <a:xfrm>
            <a:off x="3563938" y="2492375"/>
            <a:ext cx="1368425" cy="1079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战略决策</a:t>
            </a:r>
          </a:p>
          <a:p>
            <a:pPr algn="ctr"/>
            <a:r>
              <a:rPr lang="zh-CN" altLang="en-US" sz="1400"/>
              <a:t>确定使命</a:t>
            </a:r>
          </a:p>
          <a:p>
            <a:pPr algn="ctr"/>
            <a:r>
              <a:rPr lang="zh-CN" altLang="en-US" sz="1400"/>
              <a:t>确定目标</a:t>
            </a:r>
          </a:p>
          <a:p>
            <a:pPr algn="ctr"/>
            <a:r>
              <a:rPr lang="zh-CN" altLang="en-US" sz="1400"/>
              <a:t>制定战略</a:t>
            </a:r>
          </a:p>
        </p:txBody>
      </p:sp>
      <p:sp>
        <p:nvSpPr>
          <p:cNvPr id="104454" name="Rectangle 6">
            <a:extLst>
              <a:ext uri="{FF2B5EF4-FFF2-40B4-BE49-F238E27FC236}">
                <a16:creationId xmlns:a16="http://schemas.microsoft.com/office/drawing/2014/main" id="{1FCD35D9-E040-D5E1-9B4F-AA09298FC1CA}"/>
              </a:ext>
            </a:extLst>
          </p:cNvPr>
          <p:cNvSpPr>
            <a:spLocks noChangeArrowheads="1"/>
          </p:cNvSpPr>
          <p:nvPr/>
        </p:nvSpPr>
        <p:spPr bwMode="auto">
          <a:xfrm>
            <a:off x="5292725" y="2276475"/>
            <a:ext cx="1728788" cy="15843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战略贯彻</a:t>
            </a:r>
          </a:p>
          <a:p>
            <a:pPr algn="ctr"/>
            <a:r>
              <a:rPr lang="zh-CN" altLang="en-US" sz="1400"/>
              <a:t>组织结构</a:t>
            </a:r>
          </a:p>
          <a:p>
            <a:pPr algn="ctr"/>
            <a:r>
              <a:rPr lang="zh-CN" altLang="en-US" sz="1400"/>
              <a:t>信息技术与控制系统</a:t>
            </a:r>
          </a:p>
          <a:p>
            <a:pPr algn="ctr"/>
            <a:r>
              <a:rPr lang="zh-CN" altLang="en-US" sz="1400"/>
              <a:t>生产技术</a:t>
            </a:r>
          </a:p>
          <a:p>
            <a:pPr algn="ctr"/>
            <a:r>
              <a:rPr lang="zh-CN" altLang="en-US" sz="1400"/>
              <a:t>人力资源政策</a:t>
            </a:r>
          </a:p>
          <a:p>
            <a:pPr algn="ctr"/>
            <a:r>
              <a:rPr lang="zh-CN" altLang="en-US" sz="1400"/>
              <a:t>组织文化</a:t>
            </a:r>
          </a:p>
        </p:txBody>
      </p:sp>
      <p:sp>
        <p:nvSpPr>
          <p:cNvPr id="104455" name="Rectangle 7">
            <a:extLst>
              <a:ext uri="{FF2B5EF4-FFF2-40B4-BE49-F238E27FC236}">
                <a16:creationId xmlns:a16="http://schemas.microsoft.com/office/drawing/2014/main" id="{F40B663B-D621-BE1D-B9A2-5F12A2FD29A2}"/>
              </a:ext>
            </a:extLst>
          </p:cNvPr>
          <p:cNvSpPr>
            <a:spLocks noChangeArrowheads="1"/>
          </p:cNvSpPr>
          <p:nvPr/>
        </p:nvSpPr>
        <p:spPr bwMode="auto">
          <a:xfrm>
            <a:off x="7380288" y="2349500"/>
            <a:ext cx="1368425" cy="12969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战略控制</a:t>
            </a:r>
          </a:p>
          <a:p>
            <a:pPr algn="ctr"/>
            <a:r>
              <a:rPr lang="zh-CN" altLang="en-US" sz="1400"/>
              <a:t>资源</a:t>
            </a:r>
          </a:p>
          <a:p>
            <a:pPr algn="ctr"/>
            <a:r>
              <a:rPr lang="zh-CN" altLang="en-US" sz="1400"/>
              <a:t>效率</a:t>
            </a:r>
          </a:p>
          <a:p>
            <a:pPr algn="ctr"/>
            <a:r>
              <a:rPr lang="zh-CN" altLang="en-US" sz="1400"/>
              <a:t>目标实现</a:t>
            </a:r>
          </a:p>
          <a:p>
            <a:pPr algn="ctr"/>
            <a:r>
              <a:rPr lang="zh-CN" altLang="en-US" sz="1400"/>
              <a:t>利益相关者</a:t>
            </a:r>
          </a:p>
        </p:txBody>
      </p:sp>
      <p:sp>
        <p:nvSpPr>
          <p:cNvPr id="104456" name="Oval 8">
            <a:extLst>
              <a:ext uri="{FF2B5EF4-FFF2-40B4-BE49-F238E27FC236}">
                <a16:creationId xmlns:a16="http://schemas.microsoft.com/office/drawing/2014/main" id="{DB5B87D8-9611-F589-F279-CCF69073FD3C}"/>
              </a:ext>
            </a:extLst>
          </p:cNvPr>
          <p:cNvSpPr>
            <a:spLocks noChangeArrowheads="1"/>
          </p:cNvSpPr>
          <p:nvPr/>
        </p:nvSpPr>
        <p:spPr bwMode="auto">
          <a:xfrm>
            <a:off x="1835150" y="2492375"/>
            <a:ext cx="1439863" cy="10810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差距分析</a:t>
            </a:r>
          </a:p>
        </p:txBody>
      </p:sp>
      <p:sp>
        <p:nvSpPr>
          <p:cNvPr id="104457" name="Line 9">
            <a:extLst>
              <a:ext uri="{FF2B5EF4-FFF2-40B4-BE49-F238E27FC236}">
                <a16:creationId xmlns:a16="http://schemas.microsoft.com/office/drawing/2014/main" id="{F9AEBF48-1AC9-2E82-6BF1-7932020949DB}"/>
              </a:ext>
            </a:extLst>
          </p:cNvPr>
          <p:cNvSpPr>
            <a:spLocks noChangeShapeType="1"/>
          </p:cNvSpPr>
          <p:nvPr/>
        </p:nvSpPr>
        <p:spPr bwMode="auto">
          <a:xfrm>
            <a:off x="2555875" y="2205038"/>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58" name="Line 10">
            <a:extLst>
              <a:ext uri="{FF2B5EF4-FFF2-40B4-BE49-F238E27FC236}">
                <a16:creationId xmlns:a16="http://schemas.microsoft.com/office/drawing/2014/main" id="{2B2EFFD9-067B-1FB8-BC97-651D9E7EF382}"/>
              </a:ext>
            </a:extLst>
          </p:cNvPr>
          <p:cNvSpPr>
            <a:spLocks noChangeShapeType="1"/>
          </p:cNvSpPr>
          <p:nvPr/>
        </p:nvSpPr>
        <p:spPr bwMode="auto">
          <a:xfrm flipV="1">
            <a:off x="2555875" y="3573463"/>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59" name="Line 11">
            <a:extLst>
              <a:ext uri="{FF2B5EF4-FFF2-40B4-BE49-F238E27FC236}">
                <a16:creationId xmlns:a16="http://schemas.microsoft.com/office/drawing/2014/main" id="{41C55F8E-3F54-4F13-D8EC-F5C97B595F35}"/>
              </a:ext>
            </a:extLst>
          </p:cNvPr>
          <p:cNvSpPr>
            <a:spLocks noChangeShapeType="1"/>
          </p:cNvSpPr>
          <p:nvPr/>
        </p:nvSpPr>
        <p:spPr bwMode="auto">
          <a:xfrm>
            <a:off x="3276600" y="3068638"/>
            <a:ext cx="288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0" name="Line 12">
            <a:extLst>
              <a:ext uri="{FF2B5EF4-FFF2-40B4-BE49-F238E27FC236}">
                <a16:creationId xmlns:a16="http://schemas.microsoft.com/office/drawing/2014/main" id="{526FC10A-2560-ECAA-D4F2-B9D4FFB69830}"/>
              </a:ext>
            </a:extLst>
          </p:cNvPr>
          <p:cNvSpPr>
            <a:spLocks noChangeShapeType="1"/>
          </p:cNvSpPr>
          <p:nvPr/>
        </p:nvSpPr>
        <p:spPr bwMode="auto">
          <a:xfrm>
            <a:off x="4932363" y="2924175"/>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1" name="Line 13">
            <a:extLst>
              <a:ext uri="{FF2B5EF4-FFF2-40B4-BE49-F238E27FC236}">
                <a16:creationId xmlns:a16="http://schemas.microsoft.com/office/drawing/2014/main" id="{EBBA1336-8FAE-E1FD-E45A-CD91FCDF330B}"/>
              </a:ext>
            </a:extLst>
          </p:cNvPr>
          <p:cNvSpPr>
            <a:spLocks noChangeShapeType="1"/>
          </p:cNvSpPr>
          <p:nvPr/>
        </p:nvSpPr>
        <p:spPr bwMode="auto">
          <a:xfrm>
            <a:off x="7019925" y="2997200"/>
            <a:ext cx="360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2" name="Line 14">
            <a:extLst>
              <a:ext uri="{FF2B5EF4-FFF2-40B4-BE49-F238E27FC236}">
                <a16:creationId xmlns:a16="http://schemas.microsoft.com/office/drawing/2014/main" id="{44DF8620-E349-93EA-047C-5115BA4B6422}"/>
              </a:ext>
            </a:extLst>
          </p:cNvPr>
          <p:cNvSpPr>
            <a:spLocks noChangeShapeType="1"/>
          </p:cNvSpPr>
          <p:nvPr/>
        </p:nvSpPr>
        <p:spPr bwMode="auto">
          <a:xfrm>
            <a:off x="8101013" y="3644900"/>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3" name="Line 15">
            <a:extLst>
              <a:ext uri="{FF2B5EF4-FFF2-40B4-BE49-F238E27FC236}">
                <a16:creationId xmlns:a16="http://schemas.microsoft.com/office/drawing/2014/main" id="{74B8C23A-D97E-898C-31A3-07B4630E57B7}"/>
              </a:ext>
            </a:extLst>
          </p:cNvPr>
          <p:cNvSpPr>
            <a:spLocks noChangeShapeType="1"/>
          </p:cNvSpPr>
          <p:nvPr/>
        </p:nvSpPr>
        <p:spPr bwMode="auto">
          <a:xfrm flipH="1">
            <a:off x="3276600" y="4508500"/>
            <a:ext cx="48244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4" name="Line 16">
            <a:extLst>
              <a:ext uri="{FF2B5EF4-FFF2-40B4-BE49-F238E27FC236}">
                <a16:creationId xmlns:a16="http://schemas.microsoft.com/office/drawing/2014/main" id="{9F15AA7F-50FF-5315-2F8E-17099D029048}"/>
              </a:ext>
            </a:extLst>
          </p:cNvPr>
          <p:cNvSpPr>
            <a:spLocks noChangeShapeType="1"/>
          </p:cNvSpPr>
          <p:nvPr/>
        </p:nvSpPr>
        <p:spPr bwMode="auto">
          <a:xfrm flipH="1">
            <a:off x="4932363" y="3213100"/>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5" name="Text Box 17">
            <a:extLst>
              <a:ext uri="{FF2B5EF4-FFF2-40B4-BE49-F238E27FC236}">
                <a16:creationId xmlns:a16="http://schemas.microsoft.com/office/drawing/2014/main" id="{5BA0E690-8A52-6C14-FD85-DB2A1FD5661C}"/>
              </a:ext>
            </a:extLst>
          </p:cNvPr>
          <p:cNvSpPr txBox="1">
            <a:spLocks noChangeArrowheads="1"/>
          </p:cNvSpPr>
          <p:nvPr/>
        </p:nvSpPr>
        <p:spPr bwMode="auto">
          <a:xfrm>
            <a:off x="3779838" y="5229225"/>
            <a:ext cx="2016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黑体" panose="02010609060101010101" pitchFamily="49" charset="-122"/>
              </a:rPr>
              <a:t>战略计划工作过程</a:t>
            </a:r>
          </a:p>
        </p:txBody>
      </p:sp>
      <p:sp>
        <p:nvSpPr>
          <p:cNvPr id="104466" name="Rectangle 18">
            <a:extLst>
              <a:ext uri="{FF2B5EF4-FFF2-40B4-BE49-F238E27FC236}">
                <a16:creationId xmlns:a16="http://schemas.microsoft.com/office/drawing/2014/main" id="{5FFC73B5-F8F9-0209-F765-9EAF3D26C492}"/>
              </a:ext>
            </a:extLst>
          </p:cNvPr>
          <p:cNvSpPr>
            <a:spLocks noChangeArrowheads="1"/>
          </p:cNvSpPr>
          <p:nvPr/>
        </p:nvSpPr>
        <p:spPr bwMode="auto">
          <a:xfrm>
            <a:off x="179388" y="2492375"/>
            <a:ext cx="1368425" cy="10810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考察组织使命</a:t>
            </a:r>
          </a:p>
          <a:p>
            <a:pPr algn="ctr"/>
            <a:r>
              <a:rPr lang="zh-CN" altLang="en-US"/>
              <a:t>与目标</a:t>
            </a:r>
          </a:p>
        </p:txBody>
      </p:sp>
      <p:sp>
        <p:nvSpPr>
          <p:cNvPr id="104468" name="Line 20">
            <a:extLst>
              <a:ext uri="{FF2B5EF4-FFF2-40B4-BE49-F238E27FC236}">
                <a16:creationId xmlns:a16="http://schemas.microsoft.com/office/drawing/2014/main" id="{81B43C95-12E0-8E07-DF0E-2334B4253B94}"/>
              </a:ext>
            </a:extLst>
          </p:cNvPr>
          <p:cNvSpPr>
            <a:spLocks noChangeShapeType="1"/>
          </p:cNvSpPr>
          <p:nvPr/>
        </p:nvSpPr>
        <p:spPr bwMode="auto">
          <a:xfrm>
            <a:off x="900113" y="1484313"/>
            <a:ext cx="0" cy="10080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9" name="Line 21">
            <a:extLst>
              <a:ext uri="{FF2B5EF4-FFF2-40B4-BE49-F238E27FC236}">
                <a16:creationId xmlns:a16="http://schemas.microsoft.com/office/drawing/2014/main" id="{F80CD3C6-795F-896B-A6CF-080A4E67DE07}"/>
              </a:ext>
            </a:extLst>
          </p:cNvPr>
          <p:cNvSpPr>
            <a:spLocks noChangeShapeType="1"/>
          </p:cNvSpPr>
          <p:nvPr/>
        </p:nvSpPr>
        <p:spPr bwMode="auto">
          <a:xfrm>
            <a:off x="900113" y="3573463"/>
            <a:ext cx="0" cy="935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0" name="Line 22">
            <a:extLst>
              <a:ext uri="{FF2B5EF4-FFF2-40B4-BE49-F238E27FC236}">
                <a16:creationId xmlns:a16="http://schemas.microsoft.com/office/drawing/2014/main" id="{422FDB6F-5D99-FC92-6D03-56A7BCE3C235}"/>
              </a:ext>
            </a:extLst>
          </p:cNvPr>
          <p:cNvSpPr>
            <a:spLocks noChangeShapeType="1"/>
          </p:cNvSpPr>
          <p:nvPr/>
        </p:nvSpPr>
        <p:spPr bwMode="auto">
          <a:xfrm>
            <a:off x="900113" y="4508500"/>
            <a:ext cx="10080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1" name="Line 23">
            <a:extLst>
              <a:ext uri="{FF2B5EF4-FFF2-40B4-BE49-F238E27FC236}">
                <a16:creationId xmlns:a16="http://schemas.microsoft.com/office/drawing/2014/main" id="{C2EF307F-9E81-F194-96C3-EF03A01A55A8}"/>
              </a:ext>
            </a:extLst>
          </p:cNvPr>
          <p:cNvSpPr>
            <a:spLocks noChangeShapeType="1"/>
          </p:cNvSpPr>
          <p:nvPr/>
        </p:nvSpPr>
        <p:spPr bwMode="auto">
          <a:xfrm>
            <a:off x="900113" y="1484313"/>
            <a:ext cx="935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4C8EC1-5792-B57D-F770-95AAE60A6AC1}"/>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543CE727-3620-E79D-99D0-5B476AF83AD7}"/>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34F4B2C4-9DC4-201D-785D-2709B58878B5}"/>
              </a:ext>
            </a:extLst>
          </p:cNvPr>
          <p:cNvSpPr>
            <a:spLocks noGrp="1"/>
          </p:cNvSpPr>
          <p:nvPr>
            <p:ph type="sldNum" sz="quarter" idx="12"/>
          </p:nvPr>
        </p:nvSpPr>
        <p:spPr/>
        <p:txBody>
          <a:bodyPr/>
          <a:lstStyle/>
          <a:p>
            <a:fld id="{A6BAA247-6701-483E-9D11-E97958655CAC}" type="slidenum">
              <a:rPr lang="en-US" altLang="zh-CN"/>
              <a:pPr/>
              <a:t>9</a:t>
            </a:fld>
            <a:endParaRPr lang="en-US" altLang="zh-CN"/>
          </a:p>
        </p:txBody>
      </p:sp>
      <p:sp>
        <p:nvSpPr>
          <p:cNvPr id="106498" name="Rectangle 2">
            <a:extLst>
              <a:ext uri="{FF2B5EF4-FFF2-40B4-BE49-F238E27FC236}">
                <a16:creationId xmlns:a16="http://schemas.microsoft.com/office/drawing/2014/main" id="{7CD2C504-7211-8B79-1374-2032967F2003}"/>
              </a:ext>
            </a:extLst>
          </p:cNvPr>
          <p:cNvSpPr>
            <a:spLocks noChangeArrowheads="1"/>
          </p:cNvSpPr>
          <p:nvPr/>
        </p:nvSpPr>
        <p:spPr bwMode="auto">
          <a:xfrm>
            <a:off x="1547813" y="4508500"/>
            <a:ext cx="6264275"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ea typeface="黑体" panose="02010609060101010101" pitchFamily="49" charset="-122"/>
              </a:rPr>
              <a:t>职能战略</a:t>
            </a:r>
          </a:p>
          <a:p>
            <a:pPr algn="ctr"/>
            <a:r>
              <a:rPr lang="zh-CN" altLang="en-US"/>
              <a:t>公司各种经营因素如何整合才能支持公司战略和事业战略？</a:t>
            </a:r>
          </a:p>
        </p:txBody>
      </p:sp>
      <p:sp>
        <p:nvSpPr>
          <p:cNvPr id="106499" name="Rectangle 3">
            <a:extLst>
              <a:ext uri="{FF2B5EF4-FFF2-40B4-BE49-F238E27FC236}">
                <a16:creationId xmlns:a16="http://schemas.microsoft.com/office/drawing/2014/main" id="{1764500A-08ED-4B75-FFAE-44174256367A}"/>
              </a:ext>
            </a:extLst>
          </p:cNvPr>
          <p:cNvSpPr>
            <a:spLocks noChangeArrowheads="1"/>
          </p:cNvSpPr>
          <p:nvPr/>
        </p:nvSpPr>
        <p:spPr bwMode="auto">
          <a:xfrm>
            <a:off x="1547813" y="2636838"/>
            <a:ext cx="6264275"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ea typeface="黑体" panose="02010609060101010101" pitchFamily="49" charset="-122"/>
              </a:rPr>
              <a:t>事业战略</a:t>
            </a:r>
          </a:p>
          <a:p>
            <a:pPr algn="ctr"/>
            <a:r>
              <a:rPr lang="zh-CN" altLang="en-US"/>
              <a:t>公司应该与谁竞争？在哪里竞争？如何竞争？</a:t>
            </a:r>
          </a:p>
        </p:txBody>
      </p:sp>
      <p:sp>
        <p:nvSpPr>
          <p:cNvPr id="106500" name="Rectangle 4">
            <a:extLst>
              <a:ext uri="{FF2B5EF4-FFF2-40B4-BE49-F238E27FC236}">
                <a16:creationId xmlns:a16="http://schemas.microsoft.com/office/drawing/2014/main" id="{C5B746D6-BA19-0C40-2A60-2ED53A422565}"/>
              </a:ext>
            </a:extLst>
          </p:cNvPr>
          <p:cNvSpPr>
            <a:spLocks noChangeArrowheads="1"/>
          </p:cNvSpPr>
          <p:nvPr/>
        </p:nvSpPr>
        <p:spPr bwMode="auto">
          <a:xfrm>
            <a:off x="1547813" y="836613"/>
            <a:ext cx="6264275"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ea typeface="黑体" panose="02010609060101010101" pitchFamily="49" charset="-122"/>
              </a:rPr>
              <a:t>公司战略</a:t>
            </a:r>
          </a:p>
          <a:p>
            <a:pPr algn="ctr"/>
            <a:r>
              <a:rPr lang="zh-CN" altLang="en-US"/>
              <a:t>公司应该进入或者退出哪个事业？</a:t>
            </a:r>
          </a:p>
        </p:txBody>
      </p:sp>
      <p:sp>
        <p:nvSpPr>
          <p:cNvPr id="106501" name="AutoShape 5">
            <a:extLst>
              <a:ext uri="{FF2B5EF4-FFF2-40B4-BE49-F238E27FC236}">
                <a16:creationId xmlns:a16="http://schemas.microsoft.com/office/drawing/2014/main" id="{427B5425-1FD2-1422-C392-CA34EF778AD8}"/>
              </a:ext>
            </a:extLst>
          </p:cNvPr>
          <p:cNvSpPr>
            <a:spLocks noChangeArrowheads="1"/>
          </p:cNvSpPr>
          <p:nvPr/>
        </p:nvSpPr>
        <p:spPr bwMode="auto">
          <a:xfrm>
            <a:off x="1908175" y="1844675"/>
            <a:ext cx="2376488" cy="720725"/>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zh-CN" altLang="en-US"/>
              <a:t>指导</a:t>
            </a:r>
          </a:p>
        </p:txBody>
      </p:sp>
      <p:sp>
        <p:nvSpPr>
          <p:cNvPr id="106502" name="AutoShape 6">
            <a:extLst>
              <a:ext uri="{FF2B5EF4-FFF2-40B4-BE49-F238E27FC236}">
                <a16:creationId xmlns:a16="http://schemas.microsoft.com/office/drawing/2014/main" id="{FEDD08B3-56B7-3B75-20C1-89C069985CC8}"/>
              </a:ext>
            </a:extLst>
          </p:cNvPr>
          <p:cNvSpPr>
            <a:spLocks noChangeArrowheads="1"/>
          </p:cNvSpPr>
          <p:nvPr/>
        </p:nvSpPr>
        <p:spPr bwMode="auto">
          <a:xfrm>
            <a:off x="1979613" y="3644900"/>
            <a:ext cx="2376487" cy="790575"/>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zh-CN" altLang="en-US"/>
              <a:t>指导</a:t>
            </a:r>
          </a:p>
        </p:txBody>
      </p:sp>
      <p:sp>
        <p:nvSpPr>
          <p:cNvPr id="106503" name="AutoShape 7">
            <a:extLst>
              <a:ext uri="{FF2B5EF4-FFF2-40B4-BE49-F238E27FC236}">
                <a16:creationId xmlns:a16="http://schemas.microsoft.com/office/drawing/2014/main" id="{3E58ACB0-89DE-17C1-6A03-DB7EE5F84F0B}"/>
              </a:ext>
            </a:extLst>
          </p:cNvPr>
          <p:cNvSpPr>
            <a:spLocks noChangeArrowheads="1"/>
          </p:cNvSpPr>
          <p:nvPr/>
        </p:nvSpPr>
        <p:spPr bwMode="auto">
          <a:xfrm>
            <a:off x="5076825" y="1844675"/>
            <a:ext cx="2232025" cy="720725"/>
          </a:xfrm>
          <a:prstGeom prst="upArrow">
            <a:avLst>
              <a:gd name="adj1" fmla="val 50000"/>
              <a:gd name="adj2" fmla="val 25000"/>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zh-CN" altLang="en-US"/>
              <a:t>支持</a:t>
            </a:r>
          </a:p>
        </p:txBody>
      </p:sp>
      <p:sp>
        <p:nvSpPr>
          <p:cNvPr id="106504" name="AutoShape 8">
            <a:extLst>
              <a:ext uri="{FF2B5EF4-FFF2-40B4-BE49-F238E27FC236}">
                <a16:creationId xmlns:a16="http://schemas.microsoft.com/office/drawing/2014/main" id="{48DFE0BC-2C7D-5560-28E6-1B01D1C7747C}"/>
              </a:ext>
            </a:extLst>
          </p:cNvPr>
          <p:cNvSpPr>
            <a:spLocks noChangeArrowheads="1"/>
          </p:cNvSpPr>
          <p:nvPr/>
        </p:nvSpPr>
        <p:spPr bwMode="auto">
          <a:xfrm>
            <a:off x="5148263" y="3644900"/>
            <a:ext cx="2232025" cy="790575"/>
          </a:xfrm>
          <a:prstGeom prst="upArrow">
            <a:avLst>
              <a:gd name="adj1" fmla="val 50000"/>
              <a:gd name="adj2" fmla="val 25000"/>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zh-CN" altLang="en-US"/>
              <a:t>支持</a:t>
            </a:r>
          </a:p>
        </p:txBody>
      </p:sp>
      <p:sp>
        <p:nvSpPr>
          <p:cNvPr id="106506" name="Rectangle 10">
            <a:extLst>
              <a:ext uri="{FF2B5EF4-FFF2-40B4-BE49-F238E27FC236}">
                <a16:creationId xmlns:a16="http://schemas.microsoft.com/office/drawing/2014/main" id="{9CCEDC14-2F2E-2325-9B06-8B72209B0808}"/>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sp>
        <p:nvSpPr>
          <p:cNvPr id="106507" name="Text Box 11">
            <a:extLst>
              <a:ext uri="{FF2B5EF4-FFF2-40B4-BE49-F238E27FC236}">
                <a16:creationId xmlns:a16="http://schemas.microsoft.com/office/drawing/2014/main" id="{3E5B437E-AFCF-11C9-5716-DAD3844DD217}"/>
              </a:ext>
            </a:extLst>
          </p:cNvPr>
          <p:cNvSpPr txBox="1">
            <a:spLocks noChangeArrowheads="1"/>
          </p:cNvSpPr>
          <p:nvPr/>
        </p:nvSpPr>
        <p:spPr bwMode="auto">
          <a:xfrm>
            <a:off x="3635375" y="5445125"/>
            <a:ext cx="20161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战略的三个层次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B2AA5BA-9E79-58B5-3DEF-DAC50AB0514C}"/>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99DE6ECD-3C10-A0BB-E4A2-E27E183A503C}"/>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B940CA15-D7C2-5638-5478-25A4AAA1F9B3}"/>
              </a:ext>
            </a:extLst>
          </p:cNvPr>
          <p:cNvSpPr>
            <a:spLocks noGrp="1"/>
          </p:cNvSpPr>
          <p:nvPr>
            <p:ph type="sldNum" sz="quarter" idx="12"/>
          </p:nvPr>
        </p:nvSpPr>
        <p:spPr/>
        <p:txBody>
          <a:bodyPr/>
          <a:lstStyle/>
          <a:p>
            <a:fld id="{DFD0870A-A269-43BB-9F98-11BC8A5D5625}" type="slidenum">
              <a:rPr lang="en-US" altLang="zh-CN"/>
              <a:pPr/>
              <a:t>10</a:t>
            </a:fld>
            <a:endParaRPr lang="en-US" altLang="zh-CN"/>
          </a:p>
        </p:txBody>
      </p:sp>
      <p:sp>
        <p:nvSpPr>
          <p:cNvPr id="105475" name="Rectangle 3">
            <a:extLst>
              <a:ext uri="{FF2B5EF4-FFF2-40B4-BE49-F238E27FC236}">
                <a16:creationId xmlns:a16="http://schemas.microsoft.com/office/drawing/2014/main" id="{894AD913-26D4-E9C0-871C-03463DEB59F1}"/>
              </a:ext>
            </a:extLst>
          </p:cNvPr>
          <p:cNvSpPr>
            <a:spLocks noChangeArrowheads="1"/>
          </p:cNvSpPr>
          <p:nvPr/>
        </p:nvSpPr>
        <p:spPr bwMode="auto">
          <a:xfrm>
            <a:off x="1908175" y="1268413"/>
            <a:ext cx="2663825" cy="18716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ea typeface="黑体" panose="02010609060101010101" pitchFamily="49" charset="-122"/>
              </a:rPr>
              <a:t>机会</a:t>
            </a:r>
          </a:p>
          <a:p>
            <a:pPr algn="ctr"/>
            <a:r>
              <a:rPr lang="zh-CN" altLang="en-US"/>
              <a:t>（</a:t>
            </a:r>
            <a:r>
              <a:rPr lang="en-US" altLang="zh-CN"/>
              <a:t>Opportunity</a:t>
            </a:r>
            <a:r>
              <a:rPr lang="zh-CN" altLang="en-US"/>
              <a:t>）</a:t>
            </a:r>
          </a:p>
        </p:txBody>
      </p:sp>
      <p:sp>
        <p:nvSpPr>
          <p:cNvPr id="105476" name="Rectangle 4">
            <a:extLst>
              <a:ext uri="{FF2B5EF4-FFF2-40B4-BE49-F238E27FC236}">
                <a16:creationId xmlns:a16="http://schemas.microsoft.com/office/drawing/2014/main" id="{0DBC5C1F-0CCD-0F14-2E98-612BE0478B64}"/>
              </a:ext>
            </a:extLst>
          </p:cNvPr>
          <p:cNvSpPr>
            <a:spLocks noChangeArrowheads="1"/>
          </p:cNvSpPr>
          <p:nvPr/>
        </p:nvSpPr>
        <p:spPr bwMode="auto">
          <a:xfrm>
            <a:off x="4572000" y="3141663"/>
            <a:ext cx="2663825" cy="18716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ea typeface="黑体" panose="02010609060101010101" pitchFamily="49" charset="-122"/>
              </a:rPr>
              <a:t>弱势</a:t>
            </a:r>
          </a:p>
          <a:p>
            <a:pPr algn="ctr"/>
            <a:r>
              <a:rPr lang="zh-CN" altLang="en-US"/>
              <a:t>（ </a:t>
            </a:r>
            <a:r>
              <a:rPr lang="en-US" altLang="zh-CN"/>
              <a:t>Weakness</a:t>
            </a:r>
            <a:r>
              <a:rPr lang="zh-CN" altLang="en-US"/>
              <a:t>）</a:t>
            </a:r>
          </a:p>
        </p:txBody>
      </p:sp>
      <p:sp>
        <p:nvSpPr>
          <p:cNvPr id="105477" name="Rectangle 5">
            <a:extLst>
              <a:ext uri="{FF2B5EF4-FFF2-40B4-BE49-F238E27FC236}">
                <a16:creationId xmlns:a16="http://schemas.microsoft.com/office/drawing/2014/main" id="{13DBD14B-1F92-39FD-2CA9-2D58CBE1C9CB}"/>
              </a:ext>
            </a:extLst>
          </p:cNvPr>
          <p:cNvSpPr>
            <a:spLocks noChangeArrowheads="1"/>
          </p:cNvSpPr>
          <p:nvPr/>
        </p:nvSpPr>
        <p:spPr bwMode="auto">
          <a:xfrm>
            <a:off x="1908175" y="3141663"/>
            <a:ext cx="2663825" cy="18716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ea typeface="黑体" panose="02010609060101010101" pitchFamily="49" charset="-122"/>
              </a:rPr>
              <a:t>威胁</a:t>
            </a:r>
          </a:p>
          <a:p>
            <a:pPr algn="ctr"/>
            <a:r>
              <a:rPr lang="zh-CN" altLang="en-US"/>
              <a:t>（</a:t>
            </a:r>
            <a:r>
              <a:rPr lang="en-US" altLang="zh-CN"/>
              <a:t>Threat</a:t>
            </a:r>
            <a:r>
              <a:rPr lang="zh-CN" altLang="en-US"/>
              <a:t>）</a:t>
            </a:r>
          </a:p>
        </p:txBody>
      </p:sp>
      <p:sp>
        <p:nvSpPr>
          <p:cNvPr id="105478" name="Rectangle 6">
            <a:extLst>
              <a:ext uri="{FF2B5EF4-FFF2-40B4-BE49-F238E27FC236}">
                <a16:creationId xmlns:a16="http://schemas.microsoft.com/office/drawing/2014/main" id="{1E0FA22D-DD2F-F254-D1BE-34C2981B6CAA}"/>
              </a:ext>
            </a:extLst>
          </p:cNvPr>
          <p:cNvSpPr>
            <a:spLocks noChangeArrowheads="1"/>
          </p:cNvSpPr>
          <p:nvPr/>
        </p:nvSpPr>
        <p:spPr bwMode="auto">
          <a:xfrm>
            <a:off x="4572000" y="1268413"/>
            <a:ext cx="2663825" cy="18716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ea typeface="黑体" panose="02010609060101010101" pitchFamily="49" charset="-122"/>
              </a:rPr>
              <a:t>强势</a:t>
            </a:r>
          </a:p>
          <a:p>
            <a:pPr algn="ctr"/>
            <a:r>
              <a:rPr lang="zh-CN" altLang="en-US"/>
              <a:t>（ </a:t>
            </a:r>
            <a:r>
              <a:rPr lang="en-US" altLang="zh-CN"/>
              <a:t>Strength</a:t>
            </a:r>
            <a:r>
              <a:rPr lang="zh-CN" altLang="en-US"/>
              <a:t>）</a:t>
            </a:r>
          </a:p>
        </p:txBody>
      </p:sp>
      <p:sp>
        <p:nvSpPr>
          <p:cNvPr id="105481" name="Text Box 9">
            <a:extLst>
              <a:ext uri="{FF2B5EF4-FFF2-40B4-BE49-F238E27FC236}">
                <a16:creationId xmlns:a16="http://schemas.microsoft.com/office/drawing/2014/main" id="{9F670C1D-BA02-D2DF-D9C6-CA42D4AAAE72}"/>
              </a:ext>
            </a:extLst>
          </p:cNvPr>
          <p:cNvSpPr txBox="1">
            <a:spLocks noChangeArrowheads="1"/>
          </p:cNvSpPr>
          <p:nvPr/>
        </p:nvSpPr>
        <p:spPr bwMode="auto">
          <a:xfrm>
            <a:off x="1331913" y="2349500"/>
            <a:ext cx="549275"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2400">
                <a:ea typeface="黑体" panose="02010609060101010101" pitchFamily="49" charset="-122"/>
              </a:rPr>
              <a:t>外部环境</a:t>
            </a:r>
          </a:p>
        </p:txBody>
      </p:sp>
      <p:sp>
        <p:nvSpPr>
          <p:cNvPr id="105482" name="Text Box 10">
            <a:extLst>
              <a:ext uri="{FF2B5EF4-FFF2-40B4-BE49-F238E27FC236}">
                <a16:creationId xmlns:a16="http://schemas.microsoft.com/office/drawing/2014/main" id="{5280ED21-7498-5299-1F93-942F66F92900}"/>
              </a:ext>
            </a:extLst>
          </p:cNvPr>
          <p:cNvSpPr txBox="1">
            <a:spLocks noChangeArrowheads="1"/>
          </p:cNvSpPr>
          <p:nvPr/>
        </p:nvSpPr>
        <p:spPr bwMode="auto">
          <a:xfrm>
            <a:off x="7308850" y="2420938"/>
            <a:ext cx="549275"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2400">
                <a:ea typeface="黑体" panose="02010609060101010101" pitchFamily="49" charset="-122"/>
              </a:rPr>
              <a:t>内部环境</a:t>
            </a:r>
          </a:p>
        </p:txBody>
      </p:sp>
      <p:sp>
        <p:nvSpPr>
          <p:cNvPr id="105483" name="Text Box 11">
            <a:extLst>
              <a:ext uri="{FF2B5EF4-FFF2-40B4-BE49-F238E27FC236}">
                <a16:creationId xmlns:a16="http://schemas.microsoft.com/office/drawing/2014/main" id="{C2D9FE60-D119-1C37-AF19-96A9BEAE0870}"/>
              </a:ext>
            </a:extLst>
          </p:cNvPr>
          <p:cNvSpPr txBox="1">
            <a:spLocks noChangeArrowheads="1"/>
          </p:cNvSpPr>
          <p:nvPr/>
        </p:nvSpPr>
        <p:spPr bwMode="auto">
          <a:xfrm>
            <a:off x="4067175" y="5084763"/>
            <a:ext cx="12255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chemeClr val="tx2"/>
                </a:solidFill>
                <a:latin typeface="黑体" panose="02010609060101010101" pitchFamily="49" charset="-122"/>
                <a:ea typeface="黑体" panose="02010609060101010101" pitchFamily="49" charset="-122"/>
              </a:rPr>
              <a:t>TOWS</a:t>
            </a:r>
            <a:r>
              <a:rPr lang="zh-CN" altLang="en-US" sz="2000">
                <a:solidFill>
                  <a:schemeClr val="tx2"/>
                </a:solidFill>
                <a:latin typeface="黑体" panose="02010609060101010101" pitchFamily="49" charset="-122"/>
                <a:ea typeface="黑体" panose="02010609060101010101" pitchFamily="49" charset="-122"/>
              </a:rPr>
              <a:t>矩阵</a:t>
            </a:r>
          </a:p>
        </p:txBody>
      </p:sp>
      <p:sp>
        <p:nvSpPr>
          <p:cNvPr id="105484" name="Rectangle 12">
            <a:extLst>
              <a:ext uri="{FF2B5EF4-FFF2-40B4-BE49-F238E27FC236}">
                <a16:creationId xmlns:a16="http://schemas.microsoft.com/office/drawing/2014/main" id="{C3D3F81F-778C-4466-BD6F-1E2DA2E5952F}"/>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spTree>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596DE88-BBE8-DBD7-F765-9A0A8FC3CF1E}"/>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7DD6C965-7F95-934D-D6C8-5EEB1433426F}"/>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93F2D163-DF57-A144-8142-F9D314E2169B}"/>
              </a:ext>
            </a:extLst>
          </p:cNvPr>
          <p:cNvSpPr>
            <a:spLocks noGrp="1"/>
          </p:cNvSpPr>
          <p:nvPr>
            <p:ph type="sldNum" sz="quarter" idx="12"/>
          </p:nvPr>
        </p:nvSpPr>
        <p:spPr/>
        <p:txBody>
          <a:bodyPr/>
          <a:lstStyle/>
          <a:p>
            <a:fld id="{C00F2E29-3CB4-4EBA-B2E3-16C3E1E0F86F}" type="slidenum">
              <a:rPr lang="en-US" altLang="zh-CN"/>
              <a:pPr/>
              <a:t>11</a:t>
            </a:fld>
            <a:endParaRPr lang="en-US" altLang="zh-CN"/>
          </a:p>
        </p:txBody>
      </p:sp>
      <p:sp>
        <p:nvSpPr>
          <p:cNvPr id="108546" name="Rectangle 2">
            <a:extLst>
              <a:ext uri="{FF2B5EF4-FFF2-40B4-BE49-F238E27FC236}">
                <a16:creationId xmlns:a16="http://schemas.microsoft.com/office/drawing/2014/main" id="{4A5AA90D-381D-D6EC-BCDC-F96C59D6508B}"/>
              </a:ext>
            </a:extLst>
          </p:cNvPr>
          <p:cNvSpPr>
            <a:spLocks noChangeArrowheads="1"/>
          </p:cNvSpPr>
          <p:nvPr/>
        </p:nvSpPr>
        <p:spPr bwMode="auto">
          <a:xfrm>
            <a:off x="4500563" y="3141663"/>
            <a:ext cx="2016125"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Times New Roman" panose="02020603050405020304" pitchFamily="18" charset="0"/>
              </a:rPr>
              <a:t>  </a:t>
            </a:r>
            <a:r>
              <a:rPr kumimoji="1" lang="zh-CN" altLang="en-US" sz="2000">
                <a:latin typeface="Times New Roman" panose="02020603050405020304" pitchFamily="18" charset="0"/>
                <a:ea typeface="黑体" panose="02010609060101010101" pitchFamily="49" charset="-122"/>
              </a:rPr>
              <a:t>成长战略</a:t>
            </a:r>
          </a:p>
        </p:txBody>
      </p:sp>
      <p:sp>
        <p:nvSpPr>
          <p:cNvPr id="108547" name="Rectangle 3">
            <a:extLst>
              <a:ext uri="{FF2B5EF4-FFF2-40B4-BE49-F238E27FC236}">
                <a16:creationId xmlns:a16="http://schemas.microsoft.com/office/drawing/2014/main" id="{8FD78666-2F22-E94A-4A69-DD681ACC65CB}"/>
              </a:ext>
            </a:extLst>
          </p:cNvPr>
          <p:cNvSpPr>
            <a:spLocks noChangeArrowheads="1"/>
          </p:cNvSpPr>
          <p:nvPr/>
        </p:nvSpPr>
        <p:spPr bwMode="auto">
          <a:xfrm>
            <a:off x="6516688" y="3141663"/>
            <a:ext cx="2017712"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latin typeface="Times New Roman" panose="02020603050405020304" pitchFamily="18" charset="0"/>
                <a:ea typeface="黑体" panose="02010609060101010101" pitchFamily="49" charset="-122"/>
              </a:rPr>
              <a:t>稳定战略</a:t>
            </a:r>
          </a:p>
        </p:txBody>
      </p:sp>
      <p:sp>
        <p:nvSpPr>
          <p:cNvPr id="108548" name="Rectangle 4">
            <a:extLst>
              <a:ext uri="{FF2B5EF4-FFF2-40B4-BE49-F238E27FC236}">
                <a16:creationId xmlns:a16="http://schemas.microsoft.com/office/drawing/2014/main" id="{476DDEC9-136D-22A5-3AEE-55FAC70B63C1}"/>
              </a:ext>
            </a:extLst>
          </p:cNvPr>
          <p:cNvSpPr>
            <a:spLocks noChangeArrowheads="1"/>
          </p:cNvSpPr>
          <p:nvPr/>
        </p:nvSpPr>
        <p:spPr bwMode="auto">
          <a:xfrm>
            <a:off x="4500563" y="4076700"/>
            <a:ext cx="2016125"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latin typeface="Times New Roman" panose="02020603050405020304" pitchFamily="18" charset="0"/>
                <a:ea typeface="黑体" panose="02010609060101010101" pitchFamily="49" charset="-122"/>
              </a:rPr>
              <a:t>稳定战略</a:t>
            </a:r>
          </a:p>
        </p:txBody>
      </p:sp>
      <p:sp>
        <p:nvSpPr>
          <p:cNvPr id="108549" name="Rectangle 5">
            <a:extLst>
              <a:ext uri="{FF2B5EF4-FFF2-40B4-BE49-F238E27FC236}">
                <a16:creationId xmlns:a16="http://schemas.microsoft.com/office/drawing/2014/main" id="{1CF43BDC-56D0-9F44-1883-514A24205B3F}"/>
              </a:ext>
            </a:extLst>
          </p:cNvPr>
          <p:cNvSpPr>
            <a:spLocks noChangeArrowheads="1"/>
          </p:cNvSpPr>
          <p:nvPr/>
        </p:nvSpPr>
        <p:spPr bwMode="auto">
          <a:xfrm>
            <a:off x="6516688" y="4076700"/>
            <a:ext cx="2016125"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latin typeface="Times New Roman" panose="02020603050405020304" pitchFamily="18" charset="0"/>
                <a:ea typeface="黑体" panose="02010609060101010101" pitchFamily="49" charset="-122"/>
              </a:rPr>
              <a:t>紧缩战略</a:t>
            </a:r>
          </a:p>
        </p:txBody>
      </p:sp>
      <p:sp>
        <p:nvSpPr>
          <p:cNvPr id="108552" name="Text Box 8">
            <a:extLst>
              <a:ext uri="{FF2B5EF4-FFF2-40B4-BE49-F238E27FC236}">
                <a16:creationId xmlns:a16="http://schemas.microsoft.com/office/drawing/2014/main" id="{28D13BC3-EA68-2B61-B7AD-F8FED6C5C135}"/>
              </a:ext>
            </a:extLst>
          </p:cNvPr>
          <p:cNvSpPr txBox="1">
            <a:spLocks noChangeArrowheads="1"/>
          </p:cNvSpPr>
          <p:nvPr/>
        </p:nvSpPr>
        <p:spPr bwMode="auto">
          <a:xfrm>
            <a:off x="4067175" y="3141663"/>
            <a:ext cx="428625"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kumimoji="1" lang="zh-CN" altLang="en-US" sz="1600">
                <a:latin typeface="Times New Roman" panose="02020603050405020304" pitchFamily="18" charset="0"/>
              </a:rPr>
              <a:t>强势</a:t>
            </a:r>
            <a:r>
              <a:rPr kumimoji="1" lang="zh-CN" altLang="en-US" sz="1600">
                <a:latin typeface="Times New Roman" panose="02020603050405020304" pitchFamily="18" charset="0"/>
                <a:ea typeface="黑体" panose="02010609060101010101" pitchFamily="49" charset="-122"/>
              </a:rPr>
              <a:t>   </a:t>
            </a:r>
            <a:r>
              <a:rPr kumimoji="1" lang="zh-CN" altLang="en-US" sz="1600"/>
              <a:t>公司状况  弱势</a:t>
            </a:r>
          </a:p>
        </p:txBody>
      </p:sp>
      <p:sp>
        <p:nvSpPr>
          <p:cNvPr id="108554" name="Text Box 10">
            <a:extLst>
              <a:ext uri="{FF2B5EF4-FFF2-40B4-BE49-F238E27FC236}">
                <a16:creationId xmlns:a16="http://schemas.microsoft.com/office/drawing/2014/main" id="{CA84D4C6-BB95-8674-5716-930EA475DA97}"/>
              </a:ext>
            </a:extLst>
          </p:cNvPr>
          <p:cNvSpPr txBox="1">
            <a:spLocks noChangeArrowheads="1"/>
          </p:cNvSpPr>
          <p:nvPr/>
        </p:nvSpPr>
        <p:spPr bwMode="auto">
          <a:xfrm>
            <a:off x="4787900" y="5013325"/>
            <a:ext cx="3529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600">
                <a:latin typeface="宋体" panose="02010600030101010101" pitchFamily="2" charset="-122"/>
              </a:rPr>
              <a:t>机会 </a:t>
            </a:r>
            <a:r>
              <a:rPr kumimoji="1" lang="zh-CN" altLang="en-US" sz="1600">
                <a:latin typeface="Times New Roman" panose="02020603050405020304" pitchFamily="18" charset="0"/>
                <a:ea typeface="黑体" panose="02010609060101010101" pitchFamily="49" charset="-122"/>
              </a:rPr>
              <a:t>            </a:t>
            </a:r>
            <a:r>
              <a:rPr kumimoji="1" lang="zh-CN" altLang="en-US" sz="1600"/>
              <a:t>环境状况             威胁</a:t>
            </a:r>
          </a:p>
        </p:txBody>
      </p:sp>
      <p:sp>
        <p:nvSpPr>
          <p:cNvPr id="108559" name="Text Box 15">
            <a:extLst>
              <a:ext uri="{FF2B5EF4-FFF2-40B4-BE49-F238E27FC236}">
                <a16:creationId xmlns:a16="http://schemas.microsoft.com/office/drawing/2014/main" id="{174FA382-A33F-4315-8C4A-A5E8BC357FA8}"/>
              </a:ext>
            </a:extLst>
          </p:cNvPr>
          <p:cNvSpPr txBox="1">
            <a:spLocks noChangeArrowheads="1"/>
          </p:cNvSpPr>
          <p:nvPr/>
        </p:nvSpPr>
        <p:spPr bwMode="auto">
          <a:xfrm>
            <a:off x="4716463" y="5516563"/>
            <a:ext cx="38163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a:latin typeface="黑体" panose="02010609060101010101" pitchFamily="49" charset="-122"/>
                <a:ea typeface="黑体" panose="02010609060101010101" pitchFamily="49" charset="-122"/>
              </a:rPr>
              <a:t>TOWS </a:t>
            </a:r>
            <a:r>
              <a:rPr kumimoji="1" lang="zh-CN" altLang="en-US" sz="2000">
                <a:latin typeface="黑体" panose="02010609060101010101" pitchFamily="49" charset="-122"/>
                <a:ea typeface="黑体" panose="02010609060101010101" pitchFamily="49" charset="-122"/>
              </a:rPr>
              <a:t>分析和公司战略选择矩阵</a:t>
            </a:r>
          </a:p>
        </p:txBody>
      </p:sp>
      <p:sp>
        <p:nvSpPr>
          <p:cNvPr id="108560" name="Rectangle 16">
            <a:extLst>
              <a:ext uri="{FF2B5EF4-FFF2-40B4-BE49-F238E27FC236}">
                <a16:creationId xmlns:a16="http://schemas.microsoft.com/office/drawing/2014/main" id="{94C5C0C0-080F-37E2-0860-2A2B1B759E3C}"/>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graphicFrame>
        <p:nvGraphicFramePr>
          <p:cNvPr id="108589" name="Group 45">
            <a:extLst>
              <a:ext uri="{FF2B5EF4-FFF2-40B4-BE49-F238E27FC236}">
                <a16:creationId xmlns:a16="http://schemas.microsoft.com/office/drawing/2014/main" id="{E58BBBCB-0616-C630-FC63-CBA1DD567A0B}"/>
              </a:ext>
            </a:extLst>
          </p:cNvPr>
          <p:cNvGraphicFramePr>
            <a:graphicFrameLocks noGrp="1"/>
          </p:cNvGraphicFramePr>
          <p:nvPr/>
        </p:nvGraphicFramePr>
        <p:xfrm>
          <a:off x="611188" y="1052513"/>
          <a:ext cx="7993062" cy="1800225"/>
        </p:xfrm>
        <a:graphic>
          <a:graphicData uri="http://schemas.openxmlformats.org/drawingml/2006/table">
            <a:tbl>
              <a:tblPr/>
              <a:tblGrid>
                <a:gridCol w="1223962">
                  <a:extLst>
                    <a:ext uri="{9D8B030D-6E8A-4147-A177-3AD203B41FA5}">
                      <a16:colId xmlns:a16="http://schemas.microsoft.com/office/drawing/2014/main" val="849713371"/>
                    </a:ext>
                  </a:extLst>
                </a:gridCol>
                <a:gridCol w="4281488">
                  <a:extLst>
                    <a:ext uri="{9D8B030D-6E8A-4147-A177-3AD203B41FA5}">
                      <a16:colId xmlns:a16="http://schemas.microsoft.com/office/drawing/2014/main" val="765151169"/>
                    </a:ext>
                  </a:extLst>
                </a:gridCol>
                <a:gridCol w="2487612">
                  <a:extLst>
                    <a:ext uri="{9D8B030D-6E8A-4147-A177-3AD203B41FA5}">
                      <a16:colId xmlns:a16="http://schemas.microsoft.com/office/drawing/2014/main" val="2791829624"/>
                    </a:ext>
                  </a:extLst>
                </a:gridCol>
              </a:tblGrid>
              <a:tr h="3603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稳定战略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指维持企业的经营现状。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01081028"/>
                  </a:ext>
                </a:extLst>
              </a:tr>
              <a:tr h="371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成长战略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指扩大企业的经营规模。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市场开发；产品开发；多元化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06012413"/>
                  </a:ext>
                </a:extLst>
              </a:tr>
              <a:tr h="8604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紧缩战略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放慢企业发展步伐、缩小企业规模、退出某些经营领域，或通过提高效率或降低生产成本改善绩效表现。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削减成本；削减人员；出售资产；关闭工厂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5298714"/>
                  </a:ext>
                </a:extLst>
              </a:tr>
            </a:tbl>
          </a:graphicData>
        </a:graphic>
      </p:graphicFrame>
      <p:sp>
        <p:nvSpPr>
          <p:cNvPr id="108590" name="Text Box 46">
            <a:extLst>
              <a:ext uri="{FF2B5EF4-FFF2-40B4-BE49-F238E27FC236}">
                <a16:creationId xmlns:a16="http://schemas.microsoft.com/office/drawing/2014/main" id="{B3EA9524-9D51-8F85-D18C-D3E5972BE0E6}"/>
              </a:ext>
            </a:extLst>
          </p:cNvPr>
          <p:cNvSpPr txBox="1">
            <a:spLocks noChangeArrowheads="1"/>
          </p:cNvSpPr>
          <p:nvPr/>
        </p:nvSpPr>
        <p:spPr bwMode="auto">
          <a:xfrm>
            <a:off x="3924300" y="620713"/>
            <a:ext cx="12239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公司战略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36783D7-FB1A-331D-589C-A050598E264B}"/>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B878600-A7EC-2368-6246-305ADE3743D5}"/>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D09CE5CE-40C8-93CD-A2F2-8A196932D1ED}"/>
              </a:ext>
            </a:extLst>
          </p:cNvPr>
          <p:cNvSpPr>
            <a:spLocks noGrp="1"/>
          </p:cNvSpPr>
          <p:nvPr>
            <p:ph type="sldNum" sz="quarter" idx="12"/>
          </p:nvPr>
        </p:nvSpPr>
        <p:spPr/>
        <p:txBody>
          <a:bodyPr/>
          <a:lstStyle/>
          <a:p>
            <a:fld id="{975DCD07-5B58-4C44-B73A-466B78BE148D}" type="slidenum">
              <a:rPr lang="en-US" altLang="zh-CN"/>
              <a:pPr/>
              <a:t>12</a:t>
            </a:fld>
            <a:endParaRPr lang="en-US" altLang="zh-CN"/>
          </a:p>
        </p:txBody>
      </p:sp>
      <p:sp>
        <p:nvSpPr>
          <p:cNvPr id="109570" name="Rectangle 2">
            <a:extLst>
              <a:ext uri="{FF2B5EF4-FFF2-40B4-BE49-F238E27FC236}">
                <a16:creationId xmlns:a16="http://schemas.microsoft.com/office/drawing/2014/main" id="{24155F11-FF99-F292-5694-0E24880921DA}"/>
              </a:ext>
            </a:extLst>
          </p:cNvPr>
          <p:cNvSpPr>
            <a:spLocks noChangeArrowheads="1"/>
          </p:cNvSpPr>
          <p:nvPr/>
        </p:nvSpPr>
        <p:spPr bwMode="auto">
          <a:xfrm>
            <a:off x="1692275" y="981075"/>
            <a:ext cx="6324600" cy="3886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3200"/>
          </a:p>
        </p:txBody>
      </p:sp>
      <p:sp>
        <p:nvSpPr>
          <p:cNvPr id="109571" name="Line 3">
            <a:extLst>
              <a:ext uri="{FF2B5EF4-FFF2-40B4-BE49-F238E27FC236}">
                <a16:creationId xmlns:a16="http://schemas.microsoft.com/office/drawing/2014/main" id="{F53F5DE2-1D85-EBA4-97E0-673410236328}"/>
              </a:ext>
            </a:extLst>
          </p:cNvPr>
          <p:cNvSpPr>
            <a:spLocks noChangeShapeType="1"/>
          </p:cNvSpPr>
          <p:nvPr/>
        </p:nvSpPr>
        <p:spPr bwMode="auto">
          <a:xfrm>
            <a:off x="1692275" y="2852738"/>
            <a:ext cx="6324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2" name="Line 4">
            <a:extLst>
              <a:ext uri="{FF2B5EF4-FFF2-40B4-BE49-F238E27FC236}">
                <a16:creationId xmlns:a16="http://schemas.microsoft.com/office/drawing/2014/main" id="{F6EC08C3-92E1-458B-5C51-29E8061B065C}"/>
              </a:ext>
            </a:extLst>
          </p:cNvPr>
          <p:cNvSpPr>
            <a:spLocks noChangeShapeType="1"/>
          </p:cNvSpPr>
          <p:nvPr/>
        </p:nvSpPr>
        <p:spPr bwMode="auto">
          <a:xfrm>
            <a:off x="4787900" y="981075"/>
            <a:ext cx="0" cy="388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73" name="Text Box 5">
            <a:extLst>
              <a:ext uri="{FF2B5EF4-FFF2-40B4-BE49-F238E27FC236}">
                <a16:creationId xmlns:a16="http://schemas.microsoft.com/office/drawing/2014/main" id="{B2A9AF45-809D-4AC6-8FF5-8EE4AA465588}"/>
              </a:ext>
            </a:extLst>
          </p:cNvPr>
          <p:cNvSpPr txBox="1">
            <a:spLocks noChangeArrowheads="1"/>
          </p:cNvSpPr>
          <p:nvPr/>
        </p:nvSpPr>
        <p:spPr bwMode="auto">
          <a:xfrm>
            <a:off x="1547813" y="5013325"/>
            <a:ext cx="433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强</a:t>
            </a:r>
          </a:p>
        </p:txBody>
      </p:sp>
      <p:sp>
        <p:nvSpPr>
          <p:cNvPr id="109574" name="Text Box 6">
            <a:extLst>
              <a:ext uri="{FF2B5EF4-FFF2-40B4-BE49-F238E27FC236}">
                <a16:creationId xmlns:a16="http://schemas.microsoft.com/office/drawing/2014/main" id="{86237B45-C219-BFE2-A285-D184F9EE4443}"/>
              </a:ext>
            </a:extLst>
          </p:cNvPr>
          <p:cNvSpPr txBox="1">
            <a:spLocks noChangeArrowheads="1"/>
          </p:cNvSpPr>
          <p:nvPr/>
        </p:nvSpPr>
        <p:spPr bwMode="auto">
          <a:xfrm>
            <a:off x="76676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弱</a:t>
            </a:r>
          </a:p>
        </p:txBody>
      </p:sp>
      <p:sp>
        <p:nvSpPr>
          <p:cNvPr id="109575" name="Text Box 7">
            <a:extLst>
              <a:ext uri="{FF2B5EF4-FFF2-40B4-BE49-F238E27FC236}">
                <a16:creationId xmlns:a16="http://schemas.microsoft.com/office/drawing/2014/main" id="{66237F8C-5930-F59D-B690-330D23E0EDFA}"/>
              </a:ext>
            </a:extLst>
          </p:cNvPr>
          <p:cNvSpPr txBox="1">
            <a:spLocks noChangeArrowheads="1"/>
          </p:cNvSpPr>
          <p:nvPr/>
        </p:nvSpPr>
        <p:spPr bwMode="auto">
          <a:xfrm>
            <a:off x="3708400" y="4868863"/>
            <a:ext cx="20875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相对竞争地位</a:t>
            </a:r>
            <a:r>
              <a:rPr lang="zh-CN" altLang="en-US" sz="3200"/>
              <a:t> </a:t>
            </a:r>
          </a:p>
        </p:txBody>
      </p:sp>
      <p:sp>
        <p:nvSpPr>
          <p:cNvPr id="109576" name="Text Box 8">
            <a:extLst>
              <a:ext uri="{FF2B5EF4-FFF2-40B4-BE49-F238E27FC236}">
                <a16:creationId xmlns:a16="http://schemas.microsoft.com/office/drawing/2014/main" id="{6FC72353-BB98-FD83-6E6E-F8D50430FBF9}"/>
              </a:ext>
            </a:extLst>
          </p:cNvPr>
          <p:cNvSpPr txBox="1">
            <a:spLocks noChangeArrowheads="1"/>
          </p:cNvSpPr>
          <p:nvPr/>
        </p:nvSpPr>
        <p:spPr bwMode="auto">
          <a:xfrm>
            <a:off x="1187450" y="98107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ea typeface="黑体" panose="02010609060101010101" pitchFamily="49" charset="-122"/>
              </a:rPr>
              <a:t>高</a:t>
            </a:r>
          </a:p>
        </p:txBody>
      </p:sp>
      <p:sp>
        <p:nvSpPr>
          <p:cNvPr id="109577" name="Text Box 9">
            <a:extLst>
              <a:ext uri="{FF2B5EF4-FFF2-40B4-BE49-F238E27FC236}">
                <a16:creationId xmlns:a16="http://schemas.microsoft.com/office/drawing/2014/main" id="{2B74A87C-3046-DA11-9A54-610C67A5D76F}"/>
              </a:ext>
            </a:extLst>
          </p:cNvPr>
          <p:cNvSpPr txBox="1">
            <a:spLocks noChangeArrowheads="1"/>
          </p:cNvSpPr>
          <p:nvPr/>
        </p:nvSpPr>
        <p:spPr bwMode="auto">
          <a:xfrm>
            <a:off x="1187450" y="4724400"/>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低</a:t>
            </a:r>
          </a:p>
        </p:txBody>
      </p:sp>
      <p:sp>
        <p:nvSpPr>
          <p:cNvPr id="109578" name="Text Box 10">
            <a:extLst>
              <a:ext uri="{FF2B5EF4-FFF2-40B4-BE49-F238E27FC236}">
                <a16:creationId xmlns:a16="http://schemas.microsoft.com/office/drawing/2014/main" id="{B234EB12-3DB3-CF2F-5C00-6931B8A6F256}"/>
              </a:ext>
            </a:extLst>
          </p:cNvPr>
          <p:cNvSpPr txBox="1">
            <a:spLocks noChangeArrowheads="1"/>
          </p:cNvSpPr>
          <p:nvPr/>
        </p:nvSpPr>
        <p:spPr bwMode="auto">
          <a:xfrm>
            <a:off x="1187450" y="2349500"/>
            <a:ext cx="431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行业增长</a:t>
            </a:r>
            <a:endParaRPr lang="zh-CN" altLang="en-US" sz="3200"/>
          </a:p>
        </p:txBody>
      </p:sp>
      <p:sp>
        <p:nvSpPr>
          <p:cNvPr id="109579" name="Text Box 11">
            <a:extLst>
              <a:ext uri="{FF2B5EF4-FFF2-40B4-BE49-F238E27FC236}">
                <a16:creationId xmlns:a16="http://schemas.microsoft.com/office/drawing/2014/main" id="{AB49548A-5AEB-C5FF-F8E2-62A141070C84}"/>
              </a:ext>
            </a:extLst>
          </p:cNvPr>
          <p:cNvSpPr txBox="1">
            <a:spLocks noChangeArrowheads="1"/>
          </p:cNvSpPr>
          <p:nvPr/>
        </p:nvSpPr>
        <p:spPr bwMode="auto">
          <a:xfrm>
            <a:off x="2987675" y="1628775"/>
            <a:ext cx="10080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a:t>明星 </a:t>
            </a:r>
          </a:p>
        </p:txBody>
      </p:sp>
      <p:sp>
        <p:nvSpPr>
          <p:cNvPr id="109580" name="Text Box 12">
            <a:extLst>
              <a:ext uri="{FF2B5EF4-FFF2-40B4-BE49-F238E27FC236}">
                <a16:creationId xmlns:a16="http://schemas.microsoft.com/office/drawing/2014/main" id="{EF528AD1-BEAF-2767-7F20-DC527A4D184E}"/>
              </a:ext>
            </a:extLst>
          </p:cNvPr>
          <p:cNvSpPr txBox="1">
            <a:spLocks noChangeArrowheads="1"/>
          </p:cNvSpPr>
          <p:nvPr/>
        </p:nvSpPr>
        <p:spPr bwMode="auto">
          <a:xfrm>
            <a:off x="2771775" y="3644900"/>
            <a:ext cx="107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a:t>金牛 </a:t>
            </a:r>
          </a:p>
        </p:txBody>
      </p:sp>
      <p:sp>
        <p:nvSpPr>
          <p:cNvPr id="109581" name="Text Box 13">
            <a:extLst>
              <a:ext uri="{FF2B5EF4-FFF2-40B4-BE49-F238E27FC236}">
                <a16:creationId xmlns:a16="http://schemas.microsoft.com/office/drawing/2014/main" id="{F59BFC4D-9868-FDD9-1ACF-6F110C8BF7EF}"/>
              </a:ext>
            </a:extLst>
          </p:cNvPr>
          <p:cNvSpPr txBox="1">
            <a:spLocks noChangeArrowheads="1"/>
          </p:cNvSpPr>
          <p:nvPr/>
        </p:nvSpPr>
        <p:spPr bwMode="auto">
          <a:xfrm>
            <a:off x="6084888" y="1628775"/>
            <a:ext cx="107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a:t>问号</a:t>
            </a:r>
          </a:p>
        </p:txBody>
      </p:sp>
      <p:sp>
        <p:nvSpPr>
          <p:cNvPr id="109582" name="Text Box 14">
            <a:extLst>
              <a:ext uri="{FF2B5EF4-FFF2-40B4-BE49-F238E27FC236}">
                <a16:creationId xmlns:a16="http://schemas.microsoft.com/office/drawing/2014/main" id="{32734FB7-658E-FBF1-4C87-8DF779C05EA8}"/>
              </a:ext>
            </a:extLst>
          </p:cNvPr>
          <p:cNvSpPr txBox="1">
            <a:spLocks noChangeArrowheads="1"/>
          </p:cNvSpPr>
          <p:nvPr/>
        </p:nvSpPr>
        <p:spPr bwMode="auto">
          <a:xfrm>
            <a:off x="6011863" y="3573463"/>
            <a:ext cx="10795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a:t>瘦狗 </a:t>
            </a:r>
          </a:p>
        </p:txBody>
      </p:sp>
      <p:sp>
        <p:nvSpPr>
          <p:cNvPr id="109583" name="Oval 15">
            <a:extLst>
              <a:ext uri="{FF2B5EF4-FFF2-40B4-BE49-F238E27FC236}">
                <a16:creationId xmlns:a16="http://schemas.microsoft.com/office/drawing/2014/main" id="{E89883FF-5460-13E8-01C7-CA2EEB5F723D}"/>
              </a:ext>
            </a:extLst>
          </p:cNvPr>
          <p:cNvSpPr>
            <a:spLocks noChangeArrowheads="1"/>
          </p:cNvSpPr>
          <p:nvPr/>
        </p:nvSpPr>
        <p:spPr bwMode="auto">
          <a:xfrm>
            <a:off x="1908175" y="1196975"/>
            <a:ext cx="1008063" cy="936625"/>
          </a:xfrm>
          <a:prstGeom prst="ellipse">
            <a:avLst/>
          </a:prstGeom>
          <a:solidFill>
            <a:srgbClr val="FFFFFF">
              <a:alpha val="28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4" name="Oval 16">
            <a:extLst>
              <a:ext uri="{FF2B5EF4-FFF2-40B4-BE49-F238E27FC236}">
                <a16:creationId xmlns:a16="http://schemas.microsoft.com/office/drawing/2014/main" id="{7DE3D8C4-06CB-37AF-B229-209646A17B55}"/>
              </a:ext>
            </a:extLst>
          </p:cNvPr>
          <p:cNvSpPr>
            <a:spLocks noChangeArrowheads="1"/>
          </p:cNvSpPr>
          <p:nvPr/>
        </p:nvSpPr>
        <p:spPr bwMode="auto">
          <a:xfrm>
            <a:off x="1979613" y="4076700"/>
            <a:ext cx="719137" cy="6477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5" name="Oval 17">
            <a:extLst>
              <a:ext uri="{FF2B5EF4-FFF2-40B4-BE49-F238E27FC236}">
                <a16:creationId xmlns:a16="http://schemas.microsoft.com/office/drawing/2014/main" id="{04C825C0-5781-88D8-2EF3-BE143345967D}"/>
              </a:ext>
            </a:extLst>
          </p:cNvPr>
          <p:cNvSpPr>
            <a:spLocks noChangeArrowheads="1"/>
          </p:cNvSpPr>
          <p:nvPr/>
        </p:nvSpPr>
        <p:spPr bwMode="auto">
          <a:xfrm>
            <a:off x="5508625" y="1700213"/>
            <a:ext cx="431800" cy="4318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6" name="Oval 18">
            <a:extLst>
              <a:ext uri="{FF2B5EF4-FFF2-40B4-BE49-F238E27FC236}">
                <a16:creationId xmlns:a16="http://schemas.microsoft.com/office/drawing/2014/main" id="{9D1AA203-6E40-9D5E-B4FE-EB6B682CB519}"/>
              </a:ext>
            </a:extLst>
          </p:cNvPr>
          <p:cNvSpPr>
            <a:spLocks noChangeArrowheads="1"/>
          </p:cNvSpPr>
          <p:nvPr/>
        </p:nvSpPr>
        <p:spPr bwMode="auto">
          <a:xfrm>
            <a:off x="6877050" y="2997200"/>
            <a:ext cx="287338" cy="28892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7" name="Oval 19">
            <a:extLst>
              <a:ext uri="{FF2B5EF4-FFF2-40B4-BE49-F238E27FC236}">
                <a16:creationId xmlns:a16="http://schemas.microsoft.com/office/drawing/2014/main" id="{BB38C872-95C3-A18A-9A24-7156F4B83F9F}"/>
              </a:ext>
            </a:extLst>
          </p:cNvPr>
          <p:cNvSpPr>
            <a:spLocks noChangeArrowheads="1"/>
          </p:cNvSpPr>
          <p:nvPr/>
        </p:nvSpPr>
        <p:spPr bwMode="auto">
          <a:xfrm>
            <a:off x="6948488" y="4365625"/>
            <a:ext cx="504825" cy="4318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8" name="Oval 20">
            <a:extLst>
              <a:ext uri="{FF2B5EF4-FFF2-40B4-BE49-F238E27FC236}">
                <a16:creationId xmlns:a16="http://schemas.microsoft.com/office/drawing/2014/main" id="{DAD136D1-A56A-AF0B-8BA6-9BC30D68DA27}"/>
              </a:ext>
            </a:extLst>
          </p:cNvPr>
          <p:cNvSpPr>
            <a:spLocks noChangeArrowheads="1"/>
          </p:cNvSpPr>
          <p:nvPr/>
        </p:nvSpPr>
        <p:spPr bwMode="auto">
          <a:xfrm>
            <a:off x="3635375" y="3933825"/>
            <a:ext cx="576263" cy="503238"/>
          </a:xfrm>
          <a:prstGeom prst="ellipse">
            <a:avLst/>
          </a:prstGeom>
          <a:solidFill>
            <a:srgbClr val="FFFFFF">
              <a:alpha val="27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9" name="AutoShape 21">
            <a:extLst>
              <a:ext uri="{FF2B5EF4-FFF2-40B4-BE49-F238E27FC236}">
                <a16:creationId xmlns:a16="http://schemas.microsoft.com/office/drawing/2014/main" id="{AABB765D-E3EA-6475-812F-8C5E0D9D6E6E}"/>
              </a:ext>
            </a:extLst>
          </p:cNvPr>
          <p:cNvSpPr>
            <a:spLocks noChangeArrowheads="1"/>
          </p:cNvSpPr>
          <p:nvPr/>
        </p:nvSpPr>
        <p:spPr bwMode="auto">
          <a:xfrm>
            <a:off x="4211638" y="1412875"/>
            <a:ext cx="1008062" cy="1296988"/>
          </a:xfrm>
          <a:prstGeom prst="leftArrow">
            <a:avLst>
              <a:gd name="adj1" fmla="val 50000"/>
              <a:gd name="adj2" fmla="val 25000"/>
            </a:avLst>
          </a:prstGeom>
          <a:solidFill>
            <a:schemeClr val="bg1">
              <a:alpha val="46001"/>
            </a:schemeClr>
          </a:solidFill>
          <a:ln w="9525">
            <a:solidFill>
              <a:schemeClr val="tx1"/>
            </a:solidFill>
            <a:prstDash val="lg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0" name="AutoShape 22">
            <a:extLst>
              <a:ext uri="{FF2B5EF4-FFF2-40B4-BE49-F238E27FC236}">
                <a16:creationId xmlns:a16="http://schemas.microsoft.com/office/drawing/2014/main" id="{1D6EDD11-8B6F-4D0B-4851-A73A023D2BCB}"/>
              </a:ext>
            </a:extLst>
          </p:cNvPr>
          <p:cNvSpPr>
            <a:spLocks noChangeArrowheads="1"/>
          </p:cNvSpPr>
          <p:nvPr/>
        </p:nvSpPr>
        <p:spPr bwMode="auto">
          <a:xfrm>
            <a:off x="2627313" y="2492375"/>
            <a:ext cx="1512887" cy="865188"/>
          </a:xfrm>
          <a:prstGeom prst="downArrow">
            <a:avLst>
              <a:gd name="adj1" fmla="val 50000"/>
              <a:gd name="adj2" fmla="val 25000"/>
            </a:avLst>
          </a:prstGeom>
          <a:solidFill>
            <a:schemeClr val="bg1">
              <a:alpha val="37000"/>
            </a:schemeClr>
          </a:solidFill>
          <a:ln w="9525">
            <a:solidFill>
              <a:schemeClr val="tx1"/>
            </a:solidFill>
            <a:prstDash val="lg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09591" name="AutoShape 23">
            <a:extLst>
              <a:ext uri="{FF2B5EF4-FFF2-40B4-BE49-F238E27FC236}">
                <a16:creationId xmlns:a16="http://schemas.microsoft.com/office/drawing/2014/main" id="{32D9C5B5-C266-15B9-FCBA-075B3B10DDF1}"/>
              </a:ext>
            </a:extLst>
          </p:cNvPr>
          <p:cNvSpPr>
            <a:spLocks noChangeArrowheads="1"/>
          </p:cNvSpPr>
          <p:nvPr/>
        </p:nvSpPr>
        <p:spPr bwMode="auto">
          <a:xfrm>
            <a:off x="4356100" y="3284538"/>
            <a:ext cx="1008063" cy="1296987"/>
          </a:xfrm>
          <a:prstGeom prst="rightArrow">
            <a:avLst>
              <a:gd name="adj1" fmla="val 50000"/>
              <a:gd name="adj2" fmla="val 25000"/>
            </a:avLst>
          </a:prstGeom>
          <a:solidFill>
            <a:schemeClr val="bg1">
              <a:alpha val="46001"/>
            </a:schemeClr>
          </a:solidFill>
          <a:ln w="9525">
            <a:solidFill>
              <a:schemeClr val="tx1"/>
            </a:solidFill>
            <a:prstDash val="lg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2" name="AutoShape 24">
            <a:extLst>
              <a:ext uri="{FF2B5EF4-FFF2-40B4-BE49-F238E27FC236}">
                <a16:creationId xmlns:a16="http://schemas.microsoft.com/office/drawing/2014/main" id="{B382A650-0303-8203-2DF2-A6183D8392D7}"/>
              </a:ext>
            </a:extLst>
          </p:cNvPr>
          <p:cNvSpPr>
            <a:spLocks noChangeArrowheads="1"/>
          </p:cNvSpPr>
          <p:nvPr/>
        </p:nvSpPr>
        <p:spPr bwMode="auto">
          <a:xfrm>
            <a:off x="7380288" y="3284538"/>
            <a:ext cx="1008062" cy="1296987"/>
          </a:xfrm>
          <a:prstGeom prst="rightArrow">
            <a:avLst>
              <a:gd name="adj1" fmla="val 50000"/>
              <a:gd name="adj2" fmla="val 25000"/>
            </a:avLst>
          </a:prstGeom>
          <a:solidFill>
            <a:schemeClr val="bg1">
              <a:alpha val="45000"/>
            </a:schemeClr>
          </a:solidFill>
          <a:ln w="9525">
            <a:solidFill>
              <a:schemeClr val="tx1"/>
            </a:solidFill>
            <a:prstDash val="lg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4" name="Text Box 26">
            <a:extLst>
              <a:ext uri="{FF2B5EF4-FFF2-40B4-BE49-F238E27FC236}">
                <a16:creationId xmlns:a16="http://schemas.microsoft.com/office/drawing/2014/main" id="{12868432-157E-9573-DC8A-7C8750CC3B5D}"/>
              </a:ext>
            </a:extLst>
          </p:cNvPr>
          <p:cNvSpPr txBox="1">
            <a:spLocks noChangeArrowheads="1"/>
          </p:cNvSpPr>
          <p:nvPr/>
        </p:nvSpPr>
        <p:spPr bwMode="auto">
          <a:xfrm>
            <a:off x="1763713" y="2420938"/>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黑体" panose="02010609060101010101" pitchFamily="49" charset="-122"/>
              </a:rPr>
              <a:t>扶持</a:t>
            </a:r>
          </a:p>
        </p:txBody>
      </p:sp>
      <p:sp>
        <p:nvSpPr>
          <p:cNvPr id="109595" name="Text Box 27">
            <a:extLst>
              <a:ext uri="{FF2B5EF4-FFF2-40B4-BE49-F238E27FC236}">
                <a16:creationId xmlns:a16="http://schemas.microsoft.com/office/drawing/2014/main" id="{C99481F2-41A3-5D70-AD17-70EE925F5ECD}"/>
              </a:ext>
            </a:extLst>
          </p:cNvPr>
          <p:cNvSpPr txBox="1">
            <a:spLocks noChangeArrowheads="1"/>
          </p:cNvSpPr>
          <p:nvPr/>
        </p:nvSpPr>
        <p:spPr bwMode="auto">
          <a:xfrm>
            <a:off x="1763713" y="29972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黑体" panose="02010609060101010101" pitchFamily="49" charset="-122"/>
              </a:rPr>
              <a:t>维持</a:t>
            </a:r>
          </a:p>
        </p:txBody>
      </p:sp>
      <p:sp>
        <p:nvSpPr>
          <p:cNvPr id="109596" name="Text Box 28">
            <a:extLst>
              <a:ext uri="{FF2B5EF4-FFF2-40B4-BE49-F238E27FC236}">
                <a16:creationId xmlns:a16="http://schemas.microsoft.com/office/drawing/2014/main" id="{8102C253-9499-A68D-0925-2862AB4B3C53}"/>
              </a:ext>
            </a:extLst>
          </p:cNvPr>
          <p:cNvSpPr txBox="1">
            <a:spLocks noChangeArrowheads="1"/>
          </p:cNvSpPr>
          <p:nvPr/>
        </p:nvSpPr>
        <p:spPr bwMode="auto">
          <a:xfrm>
            <a:off x="6948488" y="2349500"/>
            <a:ext cx="1152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黑体" panose="02010609060101010101" pitchFamily="49" charset="-122"/>
              </a:rPr>
              <a:t>区别对待</a:t>
            </a:r>
          </a:p>
        </p:txBody>
      </p:sp>
      <p:sp>
        <p:nvSpPr>
          <p:cNvPr id="109597" name="Text Box 29">
            <a:extLst>
              <a:ext uri="{FF2B5EF4-FFF2-40B4-BE49-F238E27FC236}">
                <a16:creationId xmlns:a16="http://schemas.microsoft.com/office/drawing/2014/main" id="{5A9595AB-DB19-318F-4DC3-092D19772304}"/>
              </a:ext>
            </a:extLst>
          </p:cNvPr>
          <p:cNvSpPr txBox="1">
            <a:spLocks noChangeArrowheads="1"/>
          </p:cNvSpPr>
          <p:nvPr/>
        </p:nvSpPr>
        <p:spPr bwMode="auto">
          <a:xfrm>
            <a:off x="7308850" y="29972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黑体" panose="02010609060101010101" pitchFamily="49" charset="-122"/>
              </a:rPr>
              <a:t>清算</a:t>
            </a:r>
          </a:p>
        </p:txBody>
      </p:sp>
      <p:sp>
        <p:nvSpPr>
          <p:cNvPr id="109598" name="Line 30">
            <a:extLst>
              <a:ext uri="{FF2B5EF4-FFF2-40B4-BE49-F238E27FC236}">
                <a16:creationId xmlns:a16="http://schemas.microsoft.com/office/drawing/2014/main" id="{96695FF8-842A-1835-256E-6F7EC47FE3DE}"/>
              </a:ext>
            </a:extLst>
          </p:cNvPr>
          <p:cNvSpPr>
            <a:spLocks noChangeShapeType="1"/>
          </p:cNvSpPr>
          <p:nvPr/>
        </p:nvSpPr>
        <p:spPr bwMode="auto">
          <a:xfrm>
            <a:off x="5435600" y="5229225"/>
            <a:ext cx="22320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99" name="Line 31">
            <a:extLst>
              <a:ext uri="{FF2B5EF4-FFF2-40B4-BE49-F238E27FC236}">
                <a16:creationId xmlns:a16="http://schemas.microsoft.com/office/drawing/2014/main" id="{45266617-0019-EFAD-506E-1B08338DF528}"/>
              </a:ext>
            </a:extLst>
          </p:cNvPr>
          <p:cNvSpPr>
            <a:spLocks noChangeShapeType="1"/>
          </p:cNvSpPr>
          <p:nvPr/>
        </p:nvSpPr>
        <p:spPr bwMode="auto">
          <a:xfrm flipH="1">
            <a:off x="1979613" y="5229225"/>
            <a:ext cx="18002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00" name="Line 32">
            <a:extLst>
              <a:ext uri="{FF2B5EF4-FFF2-40B4-BE49-F238E27FC236}">
                <a16:creationId xmlns:a16="http://schemas.microsoft.com/office/drawing/2014/main" id="{0554F8FD-0CDD-1DF6-8E6E-107A82DA6246}"/>
              </a:ext>
            </a:extLst>
          </p:cNvPr>
          <p:cNvSpPr>
            <a:spLocks noChangeShapeType="1"/>
          </p:cNvSpPr>
          <p:nvPr/>
        </p:nvSpPr>
        <p:spPr bwMode="auto">
          <a:xfrm flipV="1">
            <a:off x="1403350" y="1341438"/>
            <a:ext cx="0" cy="10080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01" name="Line 33">
            <a:extLst>
              <a:ext uri="{FF2B5EF4-FFF2-40B4-BE49-F238E27FC236}">
                <a16:creationId xmlns:a16="http://schemas.microsoft.com/office/drawing/2014/main" id="{D33C343D-0E22-46B7-8F9B-D05D173FB946}"/>
              </a:ext>
            </a:extLst>
          </p:cNvPr>
          <p:cNvSpPr>
            <a:spLocks noChangeShapeType="1"/>
          </p:cNvSpPr>
          <p:nvPr/>
        </p:nvSpPr>
        <p:spPr bwMode="auto">
          <a:xfrm>
            <a:off x="1403350" y="3644900"/>
            <a:ext cx="0" cy="1079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03" name="Text Box 35">
            <a:extLst>
              <a:ext uri="{FF2B5EF4-FFF2-40B4-BE49-F238E27FC236}">
                <a16:creationId xmlns:a16="http://schemas.microsoft.com/office/drawing/2014/main" id="{FE1D96C8-71DF-A2BA-2C2C-711EE6F5049E}"/>
              </a:ext>
            </a:extLst>
          </p:cNvPr>
          <p:cNvSpPr txBox="1">
            <a:spLocks noChangeArrowheads="1"/>
          </p:cNvSpPr>
          <p:nvPr/>
        </p:nvSpPr>
        <p:spPr bwMode="auto">
          <a:xfrm>
            <a:off x="3635375" y="5445125"/>
            <a:ext cx="22320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企业资产</a:t>
            </a:r>
            <a:r>
              <a:rPr lang="zh-CN" altLang="zh-CN" sz="2000">
                <a:solidFill>
                  <a:schemeClr val="tx2"/>
                </a:solidFill>
                <a:ea typeface="黑体" panose="02010609060101010101" pitchFamily="49" charset="-122"/>
              </a:rPr>
              <a:t>组合矩阵</a:t>
            </a:r>
            <a:endParaRPr lang="zh-CN" altLang="en-US" sz="2000">
              <a:solidFill>
                <a:schemeClr val="tx2"/>
              </a:solidFill>
              <a:ea typeface="黑体" panose="02010609060101010101" pitchFamily="49" charset="-122"/>
            </a:endParaRPr>
          </a:p>
        </p:txBody>
      </p:sp>
      <p:sp>
        <p:nvSpPr>
          <p:cNvPr id="109604" name="Rectangle 36">
            <a:extLst>
              <a:ext uri="{FF2B5EF4-FFF2-40B4-BE49-F238E27FC236}">
                <a16:creationId xmlns:a16="http://schemas.microsoft.com/office/drawing/2014/main" id="{7BDC6775-0D38-6D12-5FB1-7CADBF4ADECC}"/>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spTree>
  </p:cSld>
  <p:clrMapOvr>
    <a:masterClrMapping/>
  </p:clrMapOvr>
  <p:transition>
    <p:check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5FB4757-B621-BAFC-9BC3-C5BDEAEEF51B}"/>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E7BCDFA-5933-FE48-E1C0-C35E6E241014}"/>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DC6AC200-DC66-7D37-0C8E-C61ACFE4DC4A}"/>
              </a:ext>
            </a:extLst>
          </p:cNvPr>
          <p:cNvSpPr>
            <a:spLocks noGrp="1"/>
          </p:cNvSpPr>
          <p:nvPr>
            <p:ph type="sldNum" sz="quarter" idx="12"/>
          </p:nvPr>
        </p:nvSpPr>
        <p:spPr/>
        <p:txBody>
          <a:bodyPr/>
          <a:lstStyle/>
          <a:p>
            <a:fld id="{90F02034-0601-45E6-99E0-AF57B9E64FE8}" type="slidenum">
              <a:rPr lang="en-US" altLang="zh-CN"/>
              <a:pPr/>
              <a:t>13</a:t>
            </a:fld>
            <a:endParaRPr lang="en-US" altLang="zh-CN"/>
          </a:p>
        </p:txBody>
      </p:sp>
      <p:sp>
        <p:nvSpPr>
          <p:cNvPr id="110594" name="Rectangle 2">
            <a:extLst>
              <a:ext uri="{FF2B5EF4-FFF2-40B4-BE49-F238E27FC236}">
                <a16:creationId xmlns:a16="http://schemas.microsoft.com/office/drawing/2014/main" id="{BDC4E97B-004C-FB33-D48E-34383C566E8E}"/>
              </a:ext>
            </a:extLst>
          </p:cNvPr>
          <p:cNvSpPr>
            <a:spLocks noChangeArrowheads="1"/>
          </p:cNvSpPr>
          <p:nvPr/>
        </p:nvSpPr>
        <p:spPr bwMode="auto">
          <a:xfrm>
            <a:off x="2484438" y="1628775"/>
            <a:ext cx="2303462" cy="143986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200"/>
              <a:t>标新立异</a:t>
            </a:r>
          </a:p>
        </p:txBody>
      </p:sp>
      <p:sp>
        <p:nvSpPr>
          <p:cNvPr id="110595" name="Rectangle 3">
            <a:extLst>
              <a:ext uri="{FF2B5EF4-FFF2-40B4-BE49-F238E27FC236}">
                <a16:creationId xmlns:a16="http://schemas.microsoft.com/office/drawing/2014/main" id="{BF9F6C65-F1A8-4EC0-0AFD-79ADC42AD12F}"/>
              </a:ext>
            </a:extLst>
          </p:cNvPr>
          <p:cNvSpPr>
            <a:spLocks noChangeArrowheads="1"/>
          </p:cNvSpPr>
          <p:nvPr/>
        </p:nvSpPr>
        <p:spPr bwMode="auto">
          <a:xfrm>
            <a:off x="4787900" y="1628775"/>
            <a:ext cx="2303463" cy="143986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200"/>
              <a:t>成本挂帅</a:t>
            </a:r>
          </a:p>
        </p:txBody>
      </p:sp>
      <p:sp>
        <p:nvSpPr>
          <p:cNvPr id="110596" name="Rectangle 4">
            <a:extLst>
              <a:ext uri="{FF2B5EF4-FFF2-40B4-BE49-F238E27FC236}">
                <a16:creationId xmlns:a16="http://schemas.microsoft.com/office/drawing/2014/main" id="{B57E913A-5232-1B9B-C9ED-A4AF5B934CF0}"/>
              </a:ext>
            </a:extLst>
          </p:cNvPr>
          <p:cNvSpPr>
            <a:spLocks noChangeArrowheads="1"/>
          </p:cNvSpPr>
          <p:nvPr/>
        </p:nvSpPr>
        <p:spPr bwMode="auto">
          <a:xfrm>
            <a:off x="2484438" y="3068638"/>
            <a:ext cx="4608512" cy="14414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200"/>
              <a:t>目标集中</a:t>
            </a:r>
          </a:p>
        </p:txBody>
      </p:sp>
      <p:sp>
        <p:nvSpPr>
          <p:cNvPr id="110597" name="Line 5">
            <a:extLst>
              <a:ext uri="{FF2B5EF4-FFF2-40B4-BE49-F238E27FC236}">
                <a16:creationId xmlns:a16="http://schemas.microsoft.com/office/drawing/2014/main" id="{912733BA-55D7-CAF6-CBF4-E64C612C815F}"/>
              </a:ext>
            </a:extLst>
          </p:cNvPr>
          <p:cNvSpPr>
            <a:spLocks noChangeShapeType="1"/>
          </p:cNvSpPr>
          <p:nvPr/>
        </p:nvSpPr>
        <p:spPr bwMode="auto">
          <a:xfrm>
            <a:off x="4787900" y="3068638"/>
            <a:ext cx="0" cy="14398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598" name="Text Box 6">
            <a:extLst>
              <a:ext uri="{FF2B5EF4-FFF2-40B4-BE49-F238E27FC236}">
                <a16:creationId xmlns:a16="http://schemas.microsoft.com/office/drawing/2014/main" id="{34C30577-DD8D-43C4-CCBB-6E450AC42B22}"/>
              </a:ext>
            </a:extLst>
          </p:cNvPr>
          <p:cNvSpPr txBox="1">
            <a:spLocks noChangeArrowheads="1"/>
          </p:cNvSpPr>
          <p:nvPr/>
        </p:nvSpPr>
        <p:spPr bwMode="auto">
          <a:xfrm>
            <a:off x="3348038" y="1196975"/>
            <a:ext cx="37449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宋体" panose="02010600030101010101" pitchFamily="2" charset="-122"/>
              </a:rPr>
              <a:t>独特性 </a:t>
            </a:r>
            <a:r>
              <a:rPr lang="zh-CN" altLang="en-US">
                <a:ea typeface="黑体" panose="02010609060101010101" pitchFamily="49" charset="-122"/>
              </a:rPr>
              <a:t>                 </a:t>
            </a:r>
            <a:r>
              <a:rPr lang="zh-CN" altLang="en-US"/>
              <a:t>成本领先地位</a:t>
            </a:r>
          </a:p>
        </p:txBody>
      </p:sp>
      <p:sp>
        <p:nvSpPr>
          <p:cNvPr id="110600" name="Text Box 8">
            <a:extLst>
              <a:ext uri="{FF2B5EF4-FFF2-40B4-BE49-F238E27FC236}">
                <a16:creationId xmlns:a16="http://schemas.microsoft.com/office/drawing/2014/main" id="{FC971E66-A60D-2DF5-BF0C-14FD2E2740E3}"/>
              </a:ext>
            </a:extLst>
          </p:cNvPr>
          <p:cNvSpPr txBox="1">
            <a:spLocks noChangeArrowheads="1"/>
          </p:cNvSpPr>
          <p:nvPr/>
        </p:nvSpPr>
        <p:spPr bwMode="auto">
          <a:xfrm>
            <a:off x="2051050" y="1628775"/>
            <a:ext cx="431800" cy="284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整个业产</a:t>
            </a:r>
          </a:p>
          <a:p>
            <a:pPr>
              <a:spcBef>
                <a:spcPct val="50000"/>
              </a:spcBef>
            </a:pPr>
            <a:endParaRPr lang="zh-CN" altLang="en-US"/>
          </a:p>
          <a:p>
            <a:pPr>
              <a:spcBef>
                <a:spcPct val="50000"/>
              </a:spcBef>
            </a:pPr>
            <a:r>
              <a:rPr lang="zh-CN" altLang="en-US"/>
              <a:t>特定市场</a:t>
            </a:r>
          </a:p>
        </p:txBody>
      </p:sp>
      <p:sp>
        <p:nvSpPr>
          <p:cNvPr id="110605" name="Text Box 13">
            <a:extLst>
              <a:ext uri="{FF2B5EF4-FFF2-40B4-BE49-F238E27FC236}">
                <a16:creationId xmlns:a16="http://schemas.microsoft.com/office/drawing/2014/main" id="{43F19257-3196-04A4-8BD3-788BE3F05276}"/>
              </a:ext>
            </a:extLst>
          </p:cNvPr>
          <p:cNvSpPr txBox="1">
            <a:spLocks noChangeArrowheads="1"/>
          </p:cNvSpPr>
          <p:nvPr/>
        </p:nvSpPr>
        <p:spPr bwMode="auto">
          <a:xfrm>
            <a:off x="4140200" y="4652963"/>
            <a:ext cx="12255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竞争战略</a:t>
            </a:r>
          </a:p>
        </p:txBody>
      </p:sp>
      <p:sp>
        <p:nvSpPr>
          <p:cNvPr id="110606" name="Text Box 14">
            <a:extLst>
              <a:ext uri="{FF2B5EF4-FFF2-40B4-BE49-F238E27FC236}">
                <a16:creationId xmlns:a16="http://schemas.microsoft.com/office/drawing/2014/main" id="{5294A42B-EE8F-2A9F-8E61-9D2D40F6D979}"/>
              </a:ext>
            </a:extLst>
          </p:cNvPr>
          <p:cNvSpPr txBox="1">
            <a:spLocks noChangeArrowheads="1"/>
          </p:cNvSpPr>
          <p:nvPr/>
        </p:nvSpPr>
        <p:spPr bwMode="auto">
          <a:xfrm>
            <a:off x="1619250" y="2492375"/>
            <a:ext cx="431800" cy="1190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战略目标</a:t>
            </a:r>
          </a:p>
        </p:txBody>
      </p:sp>
      <p:sp>
        <p:nvSpPr>
          <p:cNvPr id="110607" name="Text Box 15">
            <a:extLst>
              <a:ext uri="{FF2B5EF4-FFF2-40B4-BE49-F238E27FC236}">
                <a16:creationId xmlns:a16="http://schemas.microsoft.com/office/drawing/2014/main" id="{FBE2B93E-CB8D-DA58-04D5-E62CE8EDA6AF}"/>
              </a:ext>
            </a:extLst>
          </p:cNvPr>
          <p:cNvSpPr txBox="1">
            <a:spLocks noChangeArrowheads="1"/>
          </p:cNvSpPr>
          <p:nvPr/>
        </p:nvSpPr>
        <p:spPr bwMode="auto">
          <a:xfrm>
            <a:off x="4211638" y="836613"/>
            <a:ext cx="11525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战略优势</a:t>
            </a:r>
          </a:p>
        </p:txBody>
      </p:sp>
      <p:sp>
        <p:nvSpPr>
          <p:cNvPr id="110608" name="Rectangle 16">
            <a:extLst>
              <a:ext uri="{FF2B5EF4-FFF2-40B4-BE49-F238E27FC236}">
                <a16:creationId xmlns:a16="http://schemas.microsoft.com/office/drawing/2014/main" id="{AC4D02FD-3793-DC02-4F40-5B9DFAA9BB83}"/>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A8F71404-8DC4-B7E9-434E-EF04DD3560F9}"/>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2E9C4963-1401-70C1-1A91-B9B9DBA8787C}"/>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B87EB90C-89B4-2A10-F1BC-E9B70600B243}"/>
              </a:ext>
            </a:extLst>
          </p:cNvPr>
          <p:cNvSpPr>
            <a:spLocks noGrp="1"/>
          </p:cNvSpPr>
          <p:nvPr>
            <p:ph type="sldNum" sz="quarter" idx="12"/>
          </p:nvPr>
        </p:nvSpPr>
        <p:spPr/>
        <p:txBody>
          <a:bodyPr/>
          <a:lstStyle/>
          <a:p>
            <a:fld id="{24BAFF18-A12A-463A-9D8A-56D7F84DE3B9}" type="slidenum">
              <a:rPr lang="en-US" altLang="zh-CN"/>
              <a:pPr/>
              <a:t>14</a:t>
            </a:fld>
            <a:endParaRPr lang="en-US" altLang="zh-CN"/>
          </a:p>
        </p:txBody>
      </p:sp>
      <p:graphicFrame>
        <p:nvGraphicFramePr>
          <p:cNvPr id="113666" name="Group 2">
            <a:extLst>
              <a:ext uri="{FF2B5EF4-FFF2-40B4-BE49-F238E27FC236}">
                <a16:creationId xmlns:a16="http://schemas.microsoft.com/office/drawing/2014/main" id="{22EBE0A5-74A8-D798-6D6E-7CCD773DFBC6}"/>
              </a:ext>
            </a:extLst>
          </p:cNvPr>
          <p:cNvGraphicFramePr>
            <a:graphicFrameLocks noGrp="1"/>
          </p:cNvGraphicFramePr>
          <p:nvPr>
            <p:ph/>
          </p:nvPr>
        </p:nvGraphicFramePr>
        <p:xfrm>
          <a:off x="468313" y="1412875"/>
          <a:ext cx="8229600" cy="4144963"/>
        </p:xfrm>
        <a:graphic>
          <a:graphicData uri="http://schemas.openxmlformats.org/drawingml/2006/table">
            <a:tbl>
              <a:tblPr/>
              <a:tblGrid>
                <a:gridCol w="1162050">
                  <a:extLst>
                    <a:ext uri="{9D8B030D-6E8A-4147-A177-3AD203B41FA5}">
                      <a16:colId xmlns:a16="http://schemas.microsoft.com/office/drawing/2014/main" val="2643160676"/>
                    </a:ext>
                  </a:extLst>
                </a:gridCol>
                <a:gridCol w="2592387">
                  <a:extLst>
                    <a:ext uri="{9D8B030D-6E8A-4147-A177-3AD203B41FA5}">
                      <a16:colId xmlns:a16="http://schemas.microsoft.com/office/drawing/2014/main" val="656422024"/>
                    </a:ext>
                  </a:extLst>
                </a:gridCol>
                <a:gridCol w="1296988">
                  <a:extLst>
                    <a:ext uri="{9D8B030D-6E8A-4147-A177-3AD203B41FA5}">
                      <a16:colId xmlns:a16="http://schemas.microsoft.com/office/drawing/2014/main" val="4264299960"/>
                    </a:ext>
                  </a:extLst>
                </a:gridCol>
                <a:gridCol w="3178175">
                  <a:extLst>
                    <a:ext uri="{9D8B030D-6E8A-4147-A177-3AD203B41FA5}">
                      <a16:colId xmlns:a16="http://schemas.microsoft.com/office/drawing/2014/main" val="2799479855"/>
                    </a:ext>
                  </a:extLst>
                </a:gridCol>
              </a:tblGrid>
              <a:tr h="431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战略类型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战略特点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环境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组织特征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7034592"/>
                  </a:ext>
                </a:extLst>
              </a:tr>
              <a:tr h="9271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勘探者</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革新；发现新市场机会；成长；冒险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动态的，发展的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创新性的，革新的，灵活的，分析的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45412025"/>
                  </a:ext>
                </a:extLst>
              </a:tr>
              <a:tr h="9302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防御者</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保护地盘；紧缩；占据现有市场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稳定的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严格的控制，集权的，生产效率，低管理费用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9617124"/>
                  </a:ext>
                </a:extLst>
              </a:tr>
              <a:tr h="9271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分析者</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维护现有市场加中等程度的革新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中等程度的变化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严格的控制和灵活性，高效率的生产，创造性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75759252"/>
                  </a:ext>
                </a:extLst>
              </a:tr>
              <a:tr h="9286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反应者</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缺乏明确的战略；对特点环境做出反应；放任自流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任何情况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缺乏明确的组织方法，依当前的需要而定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5049079"/>
                  </a:ext>
                </a:extLst>
              </a:tr>
            </a:tbl>
          </a:graphicData>
        </a:graphic>
      </p:graphicFrame>
      <p:sp>
        <p:nvSpPr>
          <p:cNvPr id="113698" name="Text Box 34">
            <a:extLst>
              <a:ext uri="{FF2B5EF4-FFF2-40B4-BE49-F238E27FC236}">
                <a16:creationId xmlns:a16="http://schemas.microsoft.com/office/drawing/2014/main" id="{075FE97F-38A4-4BE4-7039-A9E288D41D05}"/>
              </a:ext>
            </a:extLst>
          </p:cNvPr>
          <p:cNvSpPr txBox="1">
            <a:spLocks noChangeArrowheads="1"/>
          </p:cNvSpPr>
          <p:nvPr/>
        </p:nvSpPr>
        <p:spPr bwMode="auto">
          <a:xfrm>
            <a:off x="2627313" y="908050"/>
            <a:ext cx="38893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黑体" panose="02010609060101010101" pitchFamily="49" charset="-122"/>
              </a:rPr>
              <a:t>迈尔斯与斯诺的战略类型与组织特征</a:t>
            </a:r>
          </a:p>
        </p:txBody>
      </p:sp>
      <p:sp>
        <p:nvSpPr>
          <p:cNvPr id="113700" name="Rectangle 36">
            <a:extLst>
              <a:ext uri="{FF2B5EF4-FFF2-40B4-BE49-F238E27FC236}">
                <a16:creationId xmlns:a16="http://schemas.microsoft.com/office/drawing/2014/main" id="{A374A837-5E2A-1E1E-B003-1F9C90A1EB5B}"/>
              </a:ext>
            </a:extLst>
          </p:cNvPr>
          <p:cNvSpPr>
            <a:spLocks noChangeArrowheads="1"/>
          </p:cNvSpPr>
          <p:nvPr/>
        </p:nvSpPr>
        <p:spPr bwMode="auto">
          <a:xfrm>
            <a:off x="179388" y="188913"/>
            <a:ext cx="1416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4.2</a:t>
            </a:r>
            <a:r>
              <a:rPr lang="zh-CN" altLang="en-US"/>
              <a:t>战略计划</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2870B320-4514-2AC4-7683-7DBD54F54A20}"/>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07757F58-1718-6563-EF33-3204154C1404}"/>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62172D04-4432-F9BE-46A8-610A9E762A2E}"/>
              </a:ext>
            </a:extLst>
          </p:cNvPr>
          <p:cNvSpPr>
            <a:spLocks noGrp="1"/>
          </p:cNvSpPr>
          <p:nvPr>
            <p:ph type="sldNum" sz="quarter" idx="12"/>
          </p:nvPr>
        </p:nvSpPr>
        <p:spPr/>
        <p:txBody>
          <a:bodyPr/>
          <a:lstStyle/>
          <a:p>
            <a:fld id="{2513D43B-F5BA-4438-8963-A064C87B1EA4}" type="slidenum">
              <a:rPr lang="en-US" altLang="zh-CN"/>
              <a:pPr/>
              <a:t>15</a:t>
            </a:fld>
            <a:endParaRPr lang="en-US" altLang="zh-CN"/>
          </a:p>
        </p:txBody>
      </p:sp>
      <p:graphicFrame>
        <p:nvGraphicFramePr>
          <p:cNvPr id="114781" name="Group 93">
            <a:extLst>
              <a:ext uri="{FF2B5EF4-FFF2-40B4-BE49-F238E27FC236}">
                <a16:creationId xmlns:a16="http://schemas.microsoft.com/office/drawing/2014/main" id="{A20C64C4-FB28-83BE-BB34-CE9653B6D2E3}"/>
              </a:ext>
            </a:extLst>
          </p:cNvPr>
          <p:cNvGraphicFramePr>
            <a:graphicFrameLocks noGrp="1"/>
          </p:cNvGraphicFramePr>
          <p:nvPr>
            <p:ph/>
          </p:nvPr>
        </p:nvGraphicFramePr>
        <p:xfrm>
          <a:off x="468313" y="1196975"/>
          <a:ext cx="8258175" cy="3835400"/>
        </p:xfrm>
        <a:graphic>
          <a:graphicData uri="http://schemas.openxmlformats.org/drawingml/2006/table">
            <a:tbl>
              <a:tblPr/>
              <a:tblGrid>
                <a:gridCol w="503237">
                  <a:extLst>
                    <a:ext uri="{9D8B030D-6E8A-4147-A177-3AD203B41FA5}">
                      <a16:colId xmlns:a16="http://schemas.microsoft.com/office/drawing/2014/main" val="2453022880"/>
                    </a:ext>
                  </a:extLst>
                </a:gridCol>
                <a:gridCol w="874713">
                  <a:extLst>
                    <a:ext uri="{9D8B030D-6E8A-4147-A177-3AD203B41FA5}">
                      <a16:colId xmlns:a16="http://schemas.microsoft.com/office/drawing/2014/main" val="3321841724"/>
                    </a:ext>
                  </a:extLst>
                </a:gridCol>
                <a:gridCol w="4392612">
                  <a:extLst>
                    <a:ext uri="{9D8B030D-6E8A-4147-A177-3AD203B41FA5}">
                      <a16:colId xmlns:a16="http://schemas.microsoft.com/office/drawing/2014/main" val="910467001"/>
                    </a:ext>
                  </a:extLst>
                </a:gridCol>
                <a:gridCol w="2487613">
                  <a:extLst>
                    <a:ext uri="{9D8B030D-6E8A-4147-A177-3AD203B41FA5}">
                      <a16:colId xmlns:a16="http://schemas.microsoft.com/office/drawing/2014/main" val="2418071707"/>
                    </a:ext>
                  </a:extLst>
                </a:gridCol>
              </a:tblGrid>
              <a:tr h="358775">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举例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3390864"/>
                  </a:ext>
                </a:extLst>
              </a:tr>
              <a:tr h="176213">
                <a:tc row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准则计划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政策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指导组织成员决策的一般准则，主要用来规范组织成员决策时的思想和行动。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只招聘有工作经验的熟练员工。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6236119"/>
                  </a:ext>
                </a:extLst>
              </a:tr>
              <a:tr h="442913">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程序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指导组织成员按顺序、有步骤地处理具体事务的准则，其实质是对活动规定先后次序。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接到顾客投诉须在</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日内给予答复。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8220719"/>
                  </a:ext>
                </a:extLst>
              </a:tr>
              <a:tr h="549275">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规章</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指导组织成员在某种情况下是否采取行动的准则，其本质在于指导行动。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上班不许迟到。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4979914"/>
                  </a:ext>
                </a:extLst>
              </a:tr>
              <a:tr h="579438">
                <a:tc row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项目计划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规划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为实施既定的行动方针而设计的综合性计划方案，由目标、政策、程序、规章、任务委派、步骤、资源以及其他要素所构成。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五年发展规划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3928689"/>
                  </a:ext>
                </a:extLst>
              </a:tr>
              <a:tr h="285750">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方案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范围有限，对任务和时间有明确的规定的小型规划。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奖金分配方案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2637929"/>
                  </a:ext>
                </a:extLst>
              </a:tr>
              <a:tr h="333375">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预算</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用数字表示预期结果或资源分配的计划。</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现金预算</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4126601"/>
                  </a:ext>
                </a:extLst>
              </a:tr>
            </a:tbl>
          </a:graphicData>
        </a:graphic>
      </p:graphicFrame>
      <p:sp>
        <p:nvSpPr>
          <p:cNvPr id="114736" name="Text Box 48">
            <a:extLst>
              <a:ext uri="{FF2B5EF4-FFF2-40B4-BE49-F238E27FC236}">
                <a16:creationId xmlns:a16="http://schemas.microsoft.com/office/drawing/2014/main" id="{C583082D-5B89-7E03-7C10-4CE21CB64564}"/>
              </a:ext>
            </a:extLst>
          </p:cNvPr>
          <p:cNvSpPr txBox="1">
            <a:spLocks noChangeArrowheads="1"/>
          </p:cNvSpPr>
          <p:nvPr/>
        </p:nvSpPr>
        <p:spPr bwMode="auto">
          <a:xfrm>
            <a:off x="3419475" y="692150"/>
            <a:ext cx="2519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准则计划与项目计划</a:t>
            </a:r>
          </a:p>
        </p:txBody>
      </p:sp>
      <p:sp>
        <p:nvSpPr>
          <p:cNvPr id="114737" name="Text Box 49">
            <a:extLst>
              <a:ext uri="{FF2B5EF4-FFF2-40B4-BE49-F238E27FC236}">
                <a16:creationId xmlns:a16="http://schemas.microsoft.com/office/drawing/2014/main" id="{F56A5C51-B962-190A-D957-34F9275E8E31}"/>
              </a:ext>
            </a:extLst>
          </p:cNvPr>
          <p:cNvSpPr txBox="1">
            <a:spLocks noChangeArrowheads="1"/>
          </p:cNvSpPr>
          <p:nvPr/>
        </p:nvSpPr>
        <p:spPr bwMode="auto">
          <a:xfrm>
            <a:off x="179388" y="188913"/>
            <a:ext cx="237648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4.3</a:t>
            </a:r>
            <a:r>
              <a:rPr lang="zh-CN" altLang="en-US" sz="1600"/>
              <a:t>准则计划与项目计划</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8ED7344E-819A-7E36-3620-12123A7F00A0}"/>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5930C82E-1612-4D0B-4367-8D87D8FA7690}"/>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94EBB525-88B9-A60A-0E2A-107AB6AD8604}"/>
              </a:ext>
            </a:extLst>
          </p:cNvPr>
          <p:cNvSpPr>
            <a:spLocks noGrp="1"/>
          </p:cNvSpPr>
          <p:nvPr>
            <p:ph type="sldNum" sz="quarter" idx="12"/>
          </p:nvPr>
        </p:nvSpPr>
        <p:spPr/>
        <p:txBody>
          <a:bodyPr/>
          <a:lstStyle/>
          <a:p>
            <a:fld id="{9CC22246-9E57-4914-AED4-935BD93DA11E}" type="slidenum">
              <a:rPr lang="en-US" altLang="zh-CN"/>
              <a:pPr/>
              <a:t>16</a:t>
            </a:fld>
            <a:endParaRPr lang="en-US" altLang="zh-CN"/>
          </a:p>
        </p:txBody>
      </p:sp>
      <p:graphicFrame>
        <p:nvGraphicFramePr>
          <p:cNvPr id="116738" name="Group 2">
            <a:extLst>
              <a:ext uri="{FF2B5EF4-FFF2-40B4-BE49-F238E27FC236}">
                <a16:creationId xmlns:a16="http://schemas.microsoft.com/office/drawing/2014/main" id="{8F62193B-0970-1F60-824C-C4BF159DAEC5}"/>
              </a:ext>
            </a:extLst>
          </p:cNvPr>
          <p:cNvGraphicFramePr>
            <a:graphicFrameLocks noGrp="1"/>
          </p:cNvGraphicFramePr>
          <p:nvPr>
            <p:ph/>
          </p:nvPr>
        </p:nvGraphicFramePr>
        <p:xfrm>
          <a:off x="457200" y="981075"/>
          <a:ext cx="8229600" cy="4870450"/>
        </p:xfrm>
        <a:graphic>
          <a:graphicData uri="http://schemas.openxmlformats.org/drawingml/2006/table">
            <a:tbl>
              <a:tblPr/>
              <a:tblGrid>
                <a:gridCol w="1811338">
                  <a:extLst>
                    <a:ext uri="{9D8B030D-6E8A-4147-A177-3AD203B41FA5}">
                      <a16:colId xmlns:a16="http://schemas.microsoft.com/office/drawing/2014/main" val="2491809023"/>
                    </a:ext>
                  </a:extLst>
                </a:gridCol>
                <a:gridCol w="3675062">
                  <a:extLst>
                    <a:ext uri="{9D8B030D-6E8A-4147-A177-3AD203B41FA5}">
                      <a16:colId xmlns:a16="http://schemas.microsoft.com/office/drawing/2014/main" val="2556914735"/>
                    </a:ext>
                  </a:extLst>
                </a:gridCol>
                <a:gridCol w="2743200">
                  <a:extLst>
                    <a:ext uri="{9D8B030D-6E8A-4147-A177-3AD203B41FA5}">
                      <a16:colId xmlns:a16="http://schemas.microsoft.com/office/drawing/2014/main" val="4248853804"/>
                    </a:ext>
                  </a:extLst>
                </a:gridCol>
              </a:tblGrid>
              <a:tr h="431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计划形式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含义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特点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4595339"/>
                  </a:ext>
                </a:extLst>
              </a:tr>
              <a:tr h="13684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具有灵活性的计划</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灵活性是指当出现意外情况时，计划具有的改变方向的能力。</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要使计划具有灵活性就必须多花钱。在给计划增添灵活性时，必须权衡使计划具有灵活性所需的费用与将来在承诺任务中所包含的风险。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5272074"/>
                  </a:ext>
                </a:extLst>
              </a:tr>
              <a:tr h="14636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滚动计划</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先用近细远粗的方法制定出初始计划，在计划期的第一阶段结束时，根据该阶段计划实际执行情况和环境变化情况，对原计划进行修订，并使计划向前滚动一个阶段。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滚动计划变静态计划为动态计划，增加了计划的弹性，能更好地保证计划的指导作用，提高计划的质量。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3533098"/>
                  </a:ext>
                </a:extLst>
              </a:tr>
              <a:tr h="14620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备用计划</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编制计划时根据应变需要预先准备若干计划方案备用，并说明各备用计划的启用条件。当环境因素发生变化时，先对变化作出评价，然后决定是否需要启用备用计划。</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备用计划能够使企业对突然发生的环境变化做出迅速反应；可以促使经理在制定计划时认真思考未来发生各种变化的可能性，事先有所准备，提高适应变化的能力。</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418176"/>
                  </a:ext>
                </a:extLst>
              </a:tr>
            </a:tbl>
          </a:graphicData>
        </a:graphic>
      </p:graphicFrame>
      <p:sp>
        <p:nvSpPr>
          <p:cNvPr id="116760" name="Text Box 24">
            <a:extLst>
              <a:ext uri="{FF2B5EF4-FFF2-40B4-BE49-F238E27FC236}">
                <a16:creationId xmlns:a16="http://schemas.microsoft.com/office/drawing/2014/main" id="{F03D5DF0-323F-FEA4-A678-086BBE8C288F}"/>
              </a:ext>
            </a:extLst>
          </p:cNvPr>
          <p:cNvSpPr txBox="1">
            <a:spLocks noChangeArrowheads="1"/>
          </p:cNvSpPr>
          <p:nvPr/>
        </p:nvSpPr>
        <p:spPr bwMode="auto">
          <a:xfrm>
            <a:off x="3419475" y="549275"/>
            <a:ext cx="2520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计划的灵活性与弹性</a:t>
            </a:r>
          </a:p>
        </p:txBody>
      </p:sp>
      <p:sp>
        <p:nvSpPr>
          <p:cNvPr id="116762" name="Text Box 26">
            <a:extLst>
              <a:ext uri="{FF2B5EF4-FFF2-40B4-BE49-F238E27FC236}">
                <a16:creationId xmlns:a16="http://schemas.microsoft.com/office/drawing/2014/main" id="{69C29997-4B4D-C13D-CCC9-409A3C94806D}"/>
              </a:ext>
            </a:extLst>
          </p:cNvPr>
          <p:cNvSpPr txBox="1">
            <a:spLocks noChangeArrowheads="1"/>
          </p:cNvSpPr>
          <p:nvPr/>
        </p:nvSpPr>
        <p:spPr bwMode="auto">
          <a:xfrm>
            <a:off x="179388" y="188913"/>
            <a:ext cx="237648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4.3</a:t>
            </a:r>
            <a:r>
              <a:rPr lang="zh-CN" altLang="en-US" sz="1600"/>
              <a:t>准则计划与项目计划</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CA51AB6-4BAC-AE9B-DEEC-08C739420A49}"/>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7C0BA0FE-D61B-E780-45F8-DF2C1B3C69EB}"/>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D36C7931-4042-CBEE-F756-E19A94CE5393}"/>
              </a:ext>
            </a:extLst>
          </p:cNvPr>
          <p:cNvSpPr>
            <a:spLocks noGrp="1"/>
          </p:cNvSpPr>
          <p:nvPr>
            <p:ph type="sldNum" sz="quarter" idx="12"/>
          </p:nvPr>
        </p:nvSpPr>
        <p:spPr/>
        <p:txBody>
          <a:bodyPr/>
          <a:lstStyle/>
          <a:p>
            <a:fld id="{64511EF5-92CD-44F6-BADA-A046EED0C847}" type="slidenum">
              <a:rPr lang="en-US" altLang="zh-CN"/>
              <a:pPr/>
              <a:t>17</a:t>
            </a:fld>
            <a:endParaRPr lang="en-US" altLang="zh-CN"/>
          </a:p>
        </p:txBody>
      </p:sp>
      <p:sp>
        <p:nvSpPr>
          <p:cNvPr id="117762" name="AutoShape 2">
            <a:extLst>
              <a:ext uri="{FF2B5EF4-FFF2-40B4-BE49-F238E27FC236}">
                <a16:creationId xmlns:a16="http://schemas.microsoft.com/office/drawing/2014/main" id="{C37E3853-00BE-BBBF-A0E6-97B08074A1EB}"/>
              </a:ext>
            </a:extLst>
          </p:cNvPr>
          <p:cNvSpPr>
            <a:spLocks noChangeArrowheads="1"/>
          </p:cNvSpPr>
          <p:nvPr/>
        </p:nvSpPr>
        <p:spPr bwMode="auto">
          <a:xfrm>
            <a:off x="971550" y="1916113"/>
            <a:ext cx="841375" cy="360362"/>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7763" name="Rectangle 3">
            <a:extLst>
              <a:ext uri="{FF2B5EF4-FFF2-40B4-BE49-F238E27FC236}">
                <a16:creationId xmlns:a16="http://schemas.microsoft.com/office/drawing/2014/main" id="{A4F219FD-1C87-E22C-A5C9-B8C8DD686D67}"/>
              </a:ext>
            </a:extLst>
          </p:cNvPr>
          <p:cNvSpPr>
            <a:spLocks noChangeArrowheads="1"/>
          </p:cNvSpPr>
          <p:nvPr/>
        </p:nvSpPr>
        <p:spPr bwMode="auto">
          <a:xfrm>
            <a:off x="539750" y="2276475"/>
            <a:ext cx="19050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实际完成情况</a:t>
            </a:r>
          </a:p>
        </p:txBody>
      </p:sp>
      <p:sp>
        <p:nvSpPr>
          <p:cNvPr id="117764" name="Rectangle 4">
            <a:extLst>
              <a:ext uri="{FF2B5EF4-FFF2-40B4-BE49-F238E27FC236}">
                <a16:creationId xmlns:a16="http://schemas.microsoft.com/office/drawing/2014/main" id="{9A2F6BAF-AB1A-A2C5-A05D-7481A521BA5D}"/>
              </a:ext>
            </a:extLst>
          </p:cNvPr>
          <p:cNvSpPr>
            <a:spLocks noChangeArrowheads="1"/>
          </p:cNvSpPr>
          <p:nvPr/>
        </p:nvSpPr>
        <p:spPr bwMode="auto">
          <a:xfrm>
            <a:off x="611188" y="2997200"/>
            <a:ext cx="19050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计划与实际的差异</a:t>
            </a:r>
          </a:p>
        </p:txBody>
      </p:sp>
      <p:sp>
        <p:nvSpPr>
          <p:cNvPr id="117765" name="AutoShape 5">
            <a:extLst>
              <a:ext uri="{FF2B5EF4-FFF2-40B4-BE49-F238E27FC236}">
                <a16:creationId xmlns:a16="http://schemas.microsoft.com/office/drawing/2014/main" id="{4E0AD99E-8E89-0F25-8CD9-E2C325EE506E}"/>
              </a:ext>
            </a:extLst>
          </p:cNvPr>
          <p:cNvSpPr>
            <a:spLocks noChangeArrowheads="1"/>
          </p:cNvSpPr>
          <p:nvPr/>
        </p:nvSpPr>
        <p:spPr bwMode="auto">
          <a:xfrm>
            <a:off x="2555875" y="2852738"/>
            <a:ext cx="385763" cy="647700"/>
          </a:xfrm>
          <a:prstGeom prst="right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766" name="Rectangle 6">
            <a:extLst>
              <a:ext uri="{FF2B5EF4-FFF2-40B4-BE49-F238E27FC236}">
                <a16:creationId xmlns:a16="http://schemas.microsoft.com/office/drawing/2014/main" id="{4F7A54A5-0DD2-A84A-382C-E00F3C6E83CD}"/>
              </a:ext>
            </a:extLst>
          </p:cNvPr>
          <p:cNvSpPr>
            <a:spLocks noChangeArrowheads="1"/>
          </p:cNvSpPr>
          <p:nvPr/>
        </p:nvSpPr>
        <p:spPr bwMode="auto">
          <a:xfrm>
            <a:off x="2987675" y="2781300"/>
            <a:ext cx="496887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计划修正因素</a:t>
            </a:r>
          </a:p>
        </p:txBody>
      </p:sp>
      <p:sp>
        <p:nvSpPr>
          <p:cNvPr id="117767" name="Rectangle 7">
            <a:extLst>
              <a:ext uri="{FF2B5EF4-FFF2-40B4-BE49-F238E27FC236}">
                <a16:creationId xmlns:a16="http://schemas.microsoft.com/office/drawing/2014/main" id="{F3CE80E9-0CC2-1458-14CC-99DD4D4E7129}"/>
              </a:ext>
            </a:extLst>
          </p:cNvPr>
          <p:cNvSpPr>
            <a:spLocks noChangeArrowheads="1"/>
          </p:cNvSpPr>
          <p:nvPr/>
        </p:nvSpPr>
        <p:spPr bwMode="auto">
          <a:xfrm>
            <a:off x="4643438" y="4005263"/>
            <a:ext cx="1622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修改计划</a:t>
            </a:r>
          </a:p>
        </p:txBody>
      </p:sp>
      <p:graphicFrame>
        <p:nvGraphicFramePr>
          <p:cNvPr id="117768" name="Object 8">
            <a:extLst>
              <a:ext uri="{FF2B5EF4-FFF2-40B4-BE49-F238E27FC236}">
                <a16:creationId xmlns:a16="http://schemas.microsoft.com/office/drawing/2014/main" id="{A82972B9-C20C-63B6-18AD-81B519893C10}"/>
              </a:ext>
            </a:extLst>
          </p:cNvPr>
          <p:cNvGraphicFramePr>
            <a:graphicFrameLocks noChangeAspect="1"/>
          </p:cNvGraphicFramePr>
          <p:nvPr/>
        </p:nvGraphicFramePr>
        <p:xfrm>
          <a:off x="1524000" y="5397500"/>
          <a:ext cx="228600" cy="863600"/>
        </p:xfrm>
        <a:graphic>
          <a:graphicData uri="http://schemas.openxmlformats.org/presentationml/2006/ole">
            <mc:AlternateContent xmlns:mc="http://schemas.openxmlformats.org/markup-compatibility/2006">
              <mc:Choice xmlns:v="urn:schemas-microsoft-com:vml" Requires="v">
                <p:oleObj name="文档" r:id="rId2" imgW="230040" imgH="863640" progId="Word.Document.8">
                  <p:embed/>
                </p:oleObj>
              </mc:Choice>
              <mc:Fallback>
                <p:oleObj name="文档" r:id="rId2" imgW="230040" imgH="863640" progId="Word.Document.8">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397500"/>
                        <a:ext cx="228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69" name="Rectangle 9">
            <a:extLst>
              <a:ext uri="{FF2B5EF4-FFF2-40B4-BE49-F238E27FC236}">
                <a16:creationId xmlns:a16="http://schemas.microsoft.com/office/drawing/2014/main" id="{AE77DF1E-4604-A71B-C7D6-D1D7912BBE3A}"/>
              </a:ext>
            </a:extLst>
          </p:cNvPr>
          <p:cNvSpPr>
            <a:spLocks noChangeArrowheads="1"/>
          </p:cNvSpPr>
          <p:nvPr/>
        </p:nvSpPr>
        <p:spPr bwMode="auto">
          <a:xfrm>
            <a:off x="539750" y="549275"/>
            <a:ext cx="68405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初始计划</a:t>
            </a:r>
          </a:p>
        </p:txBody>
      </p:sp>
      <p:sp>
        <p:nvSpPr>
          <p:cNvPr id="117770" name="Rectangle 10">
            <a:extLst>
              <a:ext uri="{FF2B5EF4-FFF2-40B4-BE49-F238E27FC236}">
                <a16:creationId xmlns:a16="http://schemas.microsoft.com/office/drawing/2014/main" id="{BF6CF925-2BC0-676B-A5AA-598D859DF534}"/>
              </a:ext>
            </a:extLst>
          </p:cNvPr>
          <p:cNvSpPr>
            <a:spLocks noChangeArrowheads="1"/>
          </p:cNvSpPr>
          <p:nvPr/>
        </p:nvSpPr>
        <p:spPr bwMode="auto">
          <a:xfrm>
            <a:off x="539750" y="9810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1</a:t>
            </a:r>
            <a:r>
              <a:rPr lang="zh-CN" altLang="en-US"/>
              <a:t>阶段</a:t>
            </a:r>
          </a:p>
        </p:txBody>
      </p:sp>
      <p:sp>
        <p:nvSpPr>
          <p:cNvPr id="117771" name="Rectangle 11">
            <a:extLst>
              <a:ext uri="{FF2B5EF4-FFF2-40B4-BE49-F238E27FC236}">
                <a16:creationId xmlns:a16="http://schemas.microsoft.com/office/drawing/2014/main" id="{2F817FA6-7F29-54E4-2D76-EDD572B22CFF}"/>
              </a:ext>
            </a:extLst>
          </p:cNvPr>
          <p:cNvSpPr>
            <a:spLocks noChangeArrowheads="1"/>
          </p:cNvSpPr>
          <p:nvPr/>
        </p:nvSpPr>
        <p:spPr bwMode="auto">
          <a:xfrm>
            <a:off x="1908175" y="9810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2</a:t>
            </a:r>
            <a:r>
              <a:rPr lang="zh-CN" altLang="en-US"/>
              <a:t>阶段</a:t>
            </a:r>
          </a:p>
        </p:txBody>
      </p:sp>
      <p:sp>
        <p:nvSpPr>
          <p:cNvPr id="117772" name="Rectangle 12">
            <a:extLst>
              <a:ext uri="{FF2B5EF4-FFF2-40B4-BE49-F238E27FC236}">
                <a16:creationId xmlns:a16="http://schemas.microsoft.com/office/drawing/2014/main" id="{3AAA66D7-7AE2-1141-94A7-9394872E753B}"/>
              </a:ext>
            </a:extLst>
          </p:cNvPr>
          <p:cNvSpPr>
            <a:spLocks noChangeArrowheads="1"/>
          </p:cNvSpPr>
          <p:nvPr/>
        </p:nvSpPr>
        <p:spPr bwMode="auto">
          <a:xfrm>
            <a:off x="3276600" y="9810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3</a:t>
            </a:r>
            <a:r>
              <a:rPr lang="zh-CN" altLang="en-US"/>
              <a:t>阶段</a:t>
            </a:r>
          </a:p>
        </p:txBody>
      </p:sp>
      <p:sp>
        <p:nvSpPr>
          <p:cNvPr id="117773" name="Rectangle 13">
            <a:extLst>
              <a:ext uri="{FF2B5EF4-FFF2-40B4-BE49-F238E27FC236}">
                <a16:creationId xmlns:a16="http://schemas.microsoft.com/office/drawing/2014/main" id="{5C530DC4-4E66-EE87-FDC0-C1FE9E8D53FE}"/>
              </a:ext>
            </a:extLst>
          </p:cNvPr>
          <p:cNvSpPr>
            <a:spLocks noChangeArrowheads="1"/>
          </p:cNvSpPr>
          <p:nvPr/>
        </p:nvSpPr>
        <p:spPr bwMode="auto">
          <a:xfrm>
            <a:off x="4643438" y="9810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4</a:t>
            </a:r>
            <a:r>
              <a:rPr lang="zh-CN" altLang="en-US"/>
              <a:t>阶段</a:t>
            </a:r>
          </a:p>
        </p:txBody>
      </p:sp>
      <p:sp>
        <p:nvSpPr>
          <p:cNvPr id="117774" name="Rectangle 14">
            <a:extLst>
              <a:ext uri="{FF2B5EF4-FFF2-40B4-BE49-F238E27FC236}">
                <a16:creationId xmlns:a16="http://schemas.microsoft.com/office/drawing/2014/main" id="{E565DD86-A550-E78A-E0A3-CED24D0EA311}"/>
              </a:ext>
            </a:extLst>
          </p:cNvPr>
          <p:cNvSpPr>
            <a:spLocks noChangeArrowheads="1"/>
          </p:cNvSpPr>
          <p:nvPr/>
        </p:nvSpPr>
        <p:spPr bwMode="auto">
          <a:xfrm>
            <a:off x="6011863" y="9810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5</a:t>
            </a:r>
            <a:r>
              <a:rPr lang="zh-CN" altLang="en-US"/>
              <a:t>阶段</a:t>
            </a:r>
          </a:p>
        </p:txBody>
      </p:sp>
      <p:sp>
        <p:nvSpPr>
          <p:cNvPr id="117775" name="Rectangle 15">
            <a:extLst>
              <a:ext uri="{FF2B5EF4-FFF2-40B4-BE49-F238E27FC236}">
                <a16:creationId xmlns:a16="http://schemas.microsoft.com/office/drawing/2014/main" id="{78C1B224-6AFE-5C57-C703-5E302D500319}"/>
              </a:ext>
            </a:extLst>
          </p:cNvPr>
          <p:cNvSpPr>
            <a:spLocks noChangeArrowheads="1"/>
          </p:cNvSpPr>
          <p:nvPr/>
        </p:nvSpPr>
        <p:spPr bwMode="auto">
          <a:xfrm>
            <a:off x="539750" y="14128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详细</a:t>
            </a:r>
          </a:p>
        </p:txBody>
      </p:sp>
      <p:sp>
        <p:nvSpPr>
          <p:cNvPr id="117776" name="Rectangle 16">
            <a:extLst>
              <a:ext uri="{FF2B5EF4-FFF2-40B4-BE49-F238E27FC236}">
                <a16:creationId xmlns:a16="http://schemas.microsoft.com/office/drawing/2014/main" id="{AC9DE325-EF8F-EAD9-58FA-B2DFF861B0B7}"/>
              </a:ext>
            </a:extLst>
          </p:cNvPr>
          <p:cNvSpPr>
            <a:spLocks noChangeArrowheads="1"/>
          </p:cNvSpPr>
          <p:nvPr/>
        </p:nvSpPr>
        <p:spPr bwMode="auto">
          <a:xfrm>
            <a:off x="1908175" y="14128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较细</a:t>
            </a:r>
          </a:p>
        </p:txBody>
      </p:sp>
      <p:sp>
        <p:nvSpPr>
          <p:cNvPr id="117777" name="Rectangle 17">
            <a:extLst>
              <a:ext uri="{FF2B5EF4-FFF2-40B4-BE49-F238E27FC236}">
                <a16:creationId xmlns:a16="http://schemas.microsoft.com/office/drawing/2014/main" id="{699544A4-77B3-9F08-5EF1-2314F9A5058F}"/>
              </a:ext>
            </a:extLst>
          </p:cNvPr>
          <p:cNvSpPr>
            <a:spLocks noChangeArrowheads="1"/>
          </p:cNvSpPr>
          <p:nvPr/>
        </p:nvSpPr>
        <p:spPr bwMode="auto">
          <a:xfrm>
            <a:off x="3276600" y="14128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一般</a:t>
            </a:r>
          </a:p>
        </p:txBody>
      </p:sp>
      <p:sp>
        <p:nvSpPr>
          <p:cNvPr id="117778" name="Rectangle 18">
            <a:extLst>
              <a:ext uri="{FF2B5EF4-FFF2-40B4-BE49-F238E27FC236}">
                <a16:creationId xmlns:a16="http://schemas.microsoft.com/office/drawing/2014/main" id="{E4755C6E-11BE-A453-2B5D-CE5105F350AF}"/>
              </a:ext>
            </a:extLst>
          </p:cNvPr>
          <p:cNvSpPr>
            <a:spLocks noChangeArrowheads="1"/>
          </p:cNvSpPr>
          <p:nvPr/>
        </p:nvSpPr>
        <p:spPr bwMode="auto">
          <a:xfrm>
            <a:off x="4643438" y="14128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较粗</a:t>
            </a:r>
          </a:p>
        </p:txBody>
      </p:sp>
      <p:sp>
        <p:nvSpPr>
          <p:cNvPr id="117779" name="Rectangle 19">
            <a:extLst>
              <a:ext uri="{FF2B5EF4-FFF2-40B4-BE49-F238E27FC236}">
                <a16:creationId xmlns:a16="http://schemas.microsoft.com/office/drawing/2014/main" id="{02210E8A-E2FA-0B09-F4AA-2C1A8855538B}"/>
              </a:ext>
            </a:extLst>
          </p:cNvPr>
          <p:cNvSpPr>
            <a:spLocks noChangeArrowheads="1"/>
          </p:cNvSpPr>
          <p:nvPr/>
        </p:nvSpPr>
        <p:spPr bwMode="auto">
          <a:xfrm>
            <a:off x="6011863" y="14128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很粗</a:t>
            </a:r>
          </a:p>
        </p:txBody>
      </p:sp>
      <p:sp>
        <p:nvSpPr>
          <p:cNvPr id="117780" name="Rectangle 20">
            <a:extLst>
              <a:ext uri="{FF2B5EF4-FFF2-40B4-BE49-F238E27FC236}">
                <a16:creationId xmlns:a16="http://schemas.microsoft.com/office/drawing/2014/main" id="{3D3F42D1-C929-F007-A30A-F932F2EF9055}"/>
              </a:ext>
            </a:extLst>
          </p:cNvPr>
          <p:cNvSpPr>
            <a:spLocks noChangeArrowheads="1"/>
          </p:cNvSpPr>
          <p:nvPr/>
        </p:nvSpPr>
        <p:spPr bwMode="auto">
          <a:xfrm>
            <a:off x="2987675" y="3213100"/>
            <a:ext cx="165735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差异分析</a:t>
            </a:r>
          </a:p>
        </p:txBody>
      </p:sp>
      <p:sp>
        <p:nvSpPr>
          <p:cNvPr id="117781" name="Rectangle 21">
            <a:extLst>
              <a:ext uri="{FF2B5EF4-FFF2-40B4-BE49-F238E27FC236}">
                <a16:creationId xmlns:a16="http://schemas.microsoft.com/office/drawing/2014/main" id="{BBB1EA9A-F8B5-B977-6E49-E7252A3AB4BE}"/>
              </a:ext>
            </a:extLst>
          </p:cNvPr>
          <p:cNvSpPr>
            <a:spLocks noChangeArrowheads="1"/>
          </p:cNvSpPr>
          <p:nvPr/>
        </p:nvSpPr>
        <p:spPr bwMode="auto">
          <a:xfrm>
            <a:off x="4643438" y="3213100"/>
            <a:ext cx="165735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环境变化</a:t>
            </a:r>
          </a:p>
        </p:txBody>
      </p:sp>
      <p:sp>
        <p:nvSpPr>
          <p:cNvPr id="117782" name="Rectangle 22">
            <a:extLst>
              <a:ext uri="{FF2B5EF4-FFF2-40B4-BE49-F238E27FC236}">
                <a16:creationId xmlns:a16="http://schemas.microsoft.com/office/drawing/2014/main" id="{1D07C316-5C90-EAA7-C957-92685901A831}"/>
              </a:ext>
            </a:extLst>
          </p:cNvPr>
          <p:cNvSpPr>
            <a:spLocks noChangeArrowheads="1"/>
          </p:cNvSpPr>
          <p:nvPr/>
        </p:nvSpPr>
        <p:spPr bwMode="auto">
          <a:xfrm>
            <a:off x="6300788" y="3213100"/>
            <a:ext cx="165735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企业策略变化</a:t>
            </a:r>
          </a:p>
        </p:txBody>
      </p:sp>
      <p:sp>
        <p:nvSpPr>
          <p:cNvPr id="117783" name="Rectangle 23">
            <a:extLst>
              <a:ext uri="{FF2B5EF4-FFF2-40B4-BE49-F238E27FC236}">
                <a16:creationId xmlns:a16="http://schemas.microsoft.com/office/drawing/2014/main" id="{91D6E909-A9A2-A1B2-A60A-76B5D2764D21}"/>
              </a:ext>
            </a:extLst>
          </p:cNvPr>
          <p:cNvSpPr>
            <a:spLocks noChangeArrowheads="1"/>
          </p:cNvSpPr>
          <p:nvPr/>
        </p:nvSpPr>
        <p:spPr bwMode="auto">
          <a:xfrm>
            <a:off x="1908175" y="4797425"/>
            <a:ext cx="68405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修订后的计划</a:t>
            </a:r>
          </a:p>
        </p:txBody>
      </p:sp>
      <p:sp>
        <p:nvSpPr>
          <p:cNvPr id="117784" name="Rectangle 24">
            <a:extLst>
              <a:ext uri="{FF2B5EF4-FFF2-40B4-BE49-F238E27FC236}">
                <a16:creationId xmlns:a16="http://schemas.microsoft.com/office/drawing/2014/main" id="{5F62C721-419B-EB3C-AF1A-CF4FD4E6DE12}"/>
              </a:ext>
            </a:extLst>
          </p:cNvPr>
          <p:cNvSpPr>
            <a:spLocks noChangeArrowheads="1"/>
          </p:cNvSpPr>
          <p:nvPr/>
        </p:nvSpPr>
        <p:spPr bwMode="auto">
          <a:xfrm>
            <a:off x="1908175" y="52292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2</a:t>
            </a:r>
            <a:r>
              <a:rPr lang="zh-CN" altLang="en-US"/>
              <a:t>阶段</a:t>
            </a:r>
          </a:p>
        </p:txBody>
      </p:sp>
      <p:sp>
        <p:nvSpPr>
          <p:cNvPr id="117785" name="Rectangle 25">
            <a:extLst>
              <a:ext uri="{FF2B5EF4-FFF2-40B4-BE49-F238E27FC236}">
                <a16:creationId xmlns:a16="http://schemas.microsoft.com/office/drawing/2014/main" id="{BA83C646-1605-8279-E842-037F854628E4}"/>
              </a:ext>
            </a:extLst>
          </p:cNvPr>
          <p:cNvSpPr>
            <a:spLocks noChangeArrowheads="1"/>
          </p:cNvSpPr>
          <p:nvPr/>
        </p:nvSpPr>
        <p:spPr bwMode="auto">
          <a:xfrm>
            <a:off x="3276600" y="52292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3</a:t>
            </a:r>
            <a:r>
              <a:rPr lang="zh-CN" altLang="en-US"/>
              <a:t>阶段</a:t>
            </a:r>
          </a:p>
        </p:txBody>
      </p:sp>
      <p:sp>
        <p:nvSpPr>
          <p:cNvPr id="117786" name="Rectangle 26">
            <a:extLst>
              <a:ext uri="{FF2B5EF4-FFF2-40B4-BE49-F238E27FC236}">
                <a16:creationId xmlns:a16="http://schemas.microsoft.com/office/drawing/2014/main" id="{A78BD48B-BE35-8B93-2B15-238BB936D4AB}"/>
              </a:ext>
            </a:extLst>
          </p:cNvPr>
          <p:cNvSpPr>
            <a:spLocks noChangeArrowheads="1"/>
          </p:cNvSpPr>
          <p:nvPr/>
        </p:nvSpPr>
        <p:spPr bwMode="auto">
          <a:xfrm>
            <a:off x="4643438" y="52292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4</a:t>
            </a:r>
            <a:r>
              <a:rPr lang="zh-CN" altLang="en-US"/>
              <a:t>阶段</a:t>
            </a:r>
          </a:p>
        </p:txBody>
      </p:sp>
      <p:sp>
        <p:nvSpPr>
          <p:cNvPr id="117787" name="Rectangle 27">
            <a:extLst>
              <a:ext uri="{FF2B5EF4-FFF2-40B4-BE49-F238E27FC236}">
                <a16:creationId xmlns:a16="http://schemas.microsoft.com/office/drawing/2014/main" id="{26C6AAC1-1EAB-FE4D-7908-5E2E609CBD6D}"/>
              </a:ext>
            </a:extLst>
          </p:cNvPr>
          <p:cNvSpPr>
            <a:spLocks noChangeArrowheads="1"/>
          </p:cNvSpPr>
          <p:nvPr/>
        </p:nvSpPr>
        <p:spPr bwMode="auto">
          <a:xfrm>
            <a:off x="6011863" y="52292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5</a:t>
            </a:r>
            <a:r>
              <a:rPr lang="zh-CN" altLang="en-US"/>
              <a:t>阶段</a:t>
            </a:r>
          </a:p>
        </p:txBody>
      </p:sp>
      <p:sp>
        <p:nvSpPr>
          <p:cNvPr id="117788" name="Rectangle 28">
            <a:extLst>
              <a:ext uri="{FF2B5EF4-FFF2-40B4-BE49-F238E27FC236}">
                <a16:creationId xmlns:a16="http://schemas.microsoft.com/office/drawing/2014/main" id="{EAD103A8-211C-B8DC-9C7E-A9E4D0AC0CA3}"/>
              </a:ext>
            </a:extLst>
          </p:cNvPr>
          <p:cNvSpPr>
            <a:spLocks noChangeArrowheads="1"/>
          </p:cNvSpPr>
          <p:nvPr/>
        </p:nvSpPr>
        <p:spPr bwMode="auto">
          <a:xfrm>
            <a:off x="7380288" y="52292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第</a:t>
            </a:r>
            <a:r>
              <a:rPr lang="en-US" altLang="zh-CN"/>
              <a:t>6</a:t>
            </a:r>
            <a:r>
              <a:rPr lang="zh-CN" altLang="en-US"/>
              <a:t>阶段</a:t>
            </a:r>
          </a:p>
        </p:txBody>
      </p:sp>
      <p:sp>
        <p:nvSpPr>
          <p:cNvPr id="117789" name="Rectangle 29">
            <a:extLst>
              <a:ext uri="{FF2B5EF4-FFF2-40B4-BE49-F238E27FC236}">
                <a16:creationId xmlns:a16="http://schemas.microsoft.com/office/drawing/2014/main" id="{87AFC6F3-16B8-A6C4-D25C-5627A470B884}"/>
              </a:ext>
            </a:extLst>
          </p:cNvPr>
          <p:cNvSpPr>
            <a:spLocks noChangeArrowheads="1"/>
          </p:cNvSpPr>
          <p:nvPr/>
        </p:nvSpPr>
        <p:spPr bwMode="auto">
          <a:xfrm>
            <a:off x="1908175" y="56610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详细</a:t>
            </a:r>
          </a:p>
        </p:txBody>
      </p:sp>
      <p:sp>
        <p:nvSpPr>
          <p:cNvPr id="117790" name="Rectangle 30">
            <a:extLst>
              <a:ext uri="{FF2B5EF4-FFF2-40B4-BE49-F238E27FC236}">
                <a16:creationId xmlns:a16="http://schemas.microsoft.com/office/drawing/2014/main" id="{C23AA07D-7B2A-0931-17E7-62C5FA17271E}"/>
              </a:ext>
            </a:extLst>
          </p:cNvPr>
          <p:cNvSpPr>
            <a:spLocks noChangeArrowheads="1"/>
          </p:cNvSpPr>
          <p:nvPr/>
        </p:nvSpPr>
        <p:spPr bwMode="auto">
          <a:xfrm>
            <a:off x="3276600" y="56610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较细</a:t>
            </a:r>
          </a:p>
        </p:txBody>
      </p:sp>
      <p:sp>
        <p:nvSpPr>
          <p:cNvPr id="117791" name="Rectangle 31">
            <a:extLst>
              <a:ext uri="{FF2B5EF4-FFF2-40B4-BE49-F238E27FC236}">
                <a16:creationId xmlns:a16="http://schemas.microsoft.com/office/drawing/2014/main" id="{B7615A2C-8EE8-4958-4F10-B5AF5B15CDCE}"/>
              </a:ext>
            </a:extLst>
          </p:cNvPr>
          <p:cNvSpPr>
            <a:spLocks noChangeArrowheads="1"/>
          </p:cNvSpPr>
          <p:nvPr/>
        </p:nvSpPr>
        <p:spPr bwMode="auto">
          <a:xfrm>
            <a:off x="4643438" y="56610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一般</a:t>
            </a:r>
          </a:p>
        </p:txBody>
      </p:sp>
      <p:sp>
        <p:nvSpPr>
          <p:cNvPr id="117792" name="Rectangle 32">
            <a:extLst>
              <a:ext uri="{FF2B5EF4-FFF2-40B4-BE49-F238E27FC236}">
                <a16:creationId xmlns:a16="http://schemas.microsoft.com/office/drawing/2014/main" id="{7D6ADF10-AE86-B240-5B52-175C8407AC17}"/>
              </a:ext>
            </a:extLst>
          </p:cNvPr>
          <p:cNvSpPr>
            <a:spLocks noChangeArrowheads="1"/>
          </p:cNvSpPr>
          <p:nvPr/>
        </p:nvSpPr>
        <p:spPr bwMode="auto">
          <a:xfrm>
            <a:off x="6011863" y="56610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较粗</a:t>
            </a:r>
          </a:p>
        </p:txBody>
      </p:sp>
      <p:sp>
        <p:nvSpPr>
          <p:cNvPr id="117793" name="Rectangle 33">
            <a:extLst>
              <a:ext uri="{FF2B5EF4-FFF2-40B4-BE49-F238E27FC236}">
                <a16:creationId xmlns:a16="http://schemas.microsoft.com/office/drawing/2014/main" id="{D23C1702-96AF-47C4-E7E5-E3748F58F25A}"/>
              </a:ext>
            </a:extLst>
          </p:cNvPr>
          <p:cNvSpPr>
            <a:spLocks noChangeArrowheads="1"/>
          </p:cNvSpPr>
          <p:nvPr/>
        </p:nvSpPr>
        <p:spPr bwMode="auto">
          <a:xfrm>
            <a:off x="7380288" y="566102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很粗</a:t>
            </a:r>
          </a:p>
        </p:txBody>
      </p:sp>
      <p:sp>
        <p:nvSpPr>
          <p:cNvPr id="117795" name="AutoShape 35">
            <a:extLst>
              <a:ext uri="{FF2B5EF4-FFF2-40B4-BE49-F238E27FC236}">
                <a16:creationId xmlns:a16="http://schemas.microsoft.com/office/drawing/2014/main" id="{DFCAD1D0-A76F-FBD6-EC0E-95C03F442BF3}"/>
              </a:ext>
            </a:extLst>
          </p:cNvPr>
          <p:cNvSpPr>
            <a:spLocks noChangeArrowheads="1"/>
          </p:cNvSpPr>
          <p:nvPr/>
        </p:nvSpPr>
        <p:spPr bwMode="auto">
          <a:xfrm>
            <a:off x="971550" y="2708275"/>
            <a:ext cx="841375" cy="287338"/>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7796" name="AutoShape 36">
            <a:extLst>
              <a:ext uri="{FF2B5EF4-FFF2-40B4-BE49-F238E27FC236}">
                <a16:creationId xmlns:a16="http://schemas.microsoft.com/office/drawing/2014/main" id="{97A7371B-5BF4-FF99-302A-E56D8062E54A}"/>
              </a:ext>
            </a:extLst>
          </p:cNvPr>
          <p:cNvSpPr>
            <a:spLocks noChangeArrowheads="1"/>
          </p:cNvSpPr>
          <p:nvPr/>
        </p:nvSpPr>
        <p:spPr bwMode="auto">
          <a:xfrm>
            <a:off x="5003800" y="4508500"/>
            <a:ext cx="841375" cy="288925"/>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7797" name="AutoShape 37">
            <a:extLst>
              <a:ext uri="{FF2B5EF4-FFF2-40B4-BE49-F238E27FC236}">
                <a16:creationId xmlns:a16="http://schemas.microsoft.com/office/drawing/2014/main" id="{9AC07ED8-2790-5D63-6B93-7388336D1A76}"/>
              </a:ext>
            </a:extLst>
          </p:cNvPr>
          <p:cNvSpPr>
            <a:spLocks noChangeArrowheads="1"/>
          </p:cNvSpPr>
          <p:nvPr/>
        </p:nvSpPr>
        <p:spPr bwMode="auto">
          <a:xfrm>
            <a:off x="5003800" y="3716338"/>
            <a:ext cx="841375" cy="288925"/>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7798" name="Text Box 38">
            <a:extLst>
              <a:ext uri="{FF2B5EF4-FFF2-40B4-BE49-F238E27FC236}">
                <a16:creationId xmlns:a16="http://schemas.microsoft.com/office/drawing/2014/main" id="{26A6A86F-DABF-9EDE-A5EE-C49C06CB3C39}"/>
              </a:ext>
            </a:extLst>
          </p:cNvPr>
          <p:cNvSpPr txBox="1">
            <a:spLocks noChangeArrowheads="1"/>
          </p:cNvSpPr>
          <p:nvPr/>
        </p:nvSpPr>
        <p:spPr bwMode="auto">
          <a:xfrm>
            <a:off x="323850" y="4005263"/>
            <a:ext cx="2089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滚动计划示意图</a:t>
            </a:r>
          </a:p>
        </p:txBody>
      </p:sp>
      <p:sp>
        <p:nvSpPr>
          <p:cNvPr id="117799" name="Text Box 39">
            <a:extLst>
              <a:ext uri="{FF2B5EF4-FFF2-40B4-BE49-F238E27FC236}">
                <a16:creationId xmlns:a16="http://schemas.microsoft.com/office/drawing/2014/main" id="{C3DCB09C-0B2F-A538-D6D1-3A0393C9C00D}"/>
              </a:ext>
            </a:extLst>
          </p:cNvPr>
          <p:cNvSpPr txBox="1">
            <a:spLocks noChangeArrowheads="1"/>
          </p:cNvSpPr>
          <p:nvPr/>
        </p:nvSpPr>
        <p:spPr bwMode="auto">
          <a:xfrm>
            <a:off x="179388" y="188913"/>
            <a:ext cx="237648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4.3</a:t>
            </a:r>
            <a:r>
              <a:rPr lang="zh-CN" altLang="en-US" sz="1600"/>
              <a:t>准则计划与项目计划</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B0CD8BF-FDE9-B719-72C3-23C65C9F0560}"/>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26A9A6CE-6E92-3B45-4235-B8D7D0D81AA1}"/>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B1878452-E224-D137-7B82-72D842F47F1D}"/>
              </a:ext>
            </a:extLst>
          </p:cNvPr>
          <p:cNvSpPr>
            <a:spLocks noGrp="1"/>
          </p:cNvSpPr>
          <p:nvPr>
            <p:ph type="sldNum" sz="quarter" idx="12"/>
          </p:nvPr>
        </p:nvSpPr>
        <p:spPr/>
        <p:txBody>
          <a:bodyPr/>
          <a:lstStyle/>
          <a:p>
            <a:fld id="{3EF13368-E57A-4910-A8D8-91879CB33EC2}" type="slidenum">
              <a:rPr lang="en-US" altLang="zh-CN"/>
              <a:pPr/>
              <a:t>18</a:t>
            </a:fld>
            <a:endParaRPr lang="en-US" altLang="zh-CN"/>
          </a:p>
        </p:txBody>
      </p:sp>
      <p:sp>
        <p:nvSpPr>
          <p:cNvPr id="118786" name="Line 2">
            <a:extLst>
              <a:ext uri="{FF2B5EF4-FFF2-40B4-BE49-F238E27FC236}">
                <a16:creationId xmlns:a16="http://schemas.microsoft.com/office/drawing/2014/main" id="{ABD2DDFC-9F22-644D-BCFD-DD2E1BA57C8D}"/>
              </a:ext>
            </a:extLst>
          </p:cNvPr>
          <p:cNvSpPr>
            <a:spLocks noChangeShapeType="1"/>
          </p:cNvSpPr>
          <p:nvPr/>
        </p:nvSpPr>
        <p:spPr bwMode="auto">
          <a:xfrm>
            <a:off x="2555875" y="27813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87" name="Line 3">
            <a:extLst>
              <a:ext uri="{FF2B5EF4-FFF2-40B4-BE49-F238E27FC236}">
                <a16:creationId xmlns:a16="http://schemas.microsoft.com/office/drawing/2014/main" id="{EF740FDB-AD92-C78A-EFC2-3CD877599AE5}"/>
              </a:ext>
            </a:extLst>
          </p:cNvPr>
          <p:cNvSpPr>
            <a:spLocks noChangeShapeType="1"/>
          </p:cNvSpPr>
          <p:nvPr/>
        </p:nvSpPr>
        <p:spPr bwMode="auto">
          <a:xfrm flipV="1">
            <a:off x="5651500" y="1628775"/>
            <a:ext cx="720725" cy="1152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88" name="Line 4">
            <a:extLst>
              <a:ext uri="{FF2B5EF4-FFF2-40B4-BE49-F238E27FC236}">
                <a16:creationId xmlns:a16="http://schemas.microsoft.com/office/drawing/2014/main" id="{F774B208-CD8F-2B71-4A70-76D482BC6B7A}"/>
              </a:ext>
            </a:extLst>
          </p:cNvPr>
          <p:cNvSpPr>
            <a:spLocks noChangeShapeType="1"/>
          </p:cNvSpPr>
          <p:nvPr/>
        </p:nvSpPr>
        <p:spPr bwMode="auto">
          <a:xfrm>
            <a:off x="5651500" y="2781300"/>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89" name="Line 5">
            <a:extLst>
              <a:ext uri="{FF2B5EF4-FFF2-40B4-BE49-F238E27FC236}">
                <a16:creationId xmlns:a16="http://schemas.microsoft.com/office/drawing/2014/main" id="{29BAFED7-66C2-23F8-61CD-C9E7F82D8F54}"/>
              </a:ext>
            </a:extLst>
          </p:cNvPr>
          <p:cNvSpPr>
            <a:spLocks noChangeShapeType="1"/>
          </p:cNvSpPr>
          <p:nvPr/>
        </p:nvSpPr>
        <p:spPr bwMode="auto">
          <a:xfrm>
            <a:off x="5651500" y="2781300"/>
            <a:ext cx="720725" cy="1079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90" name="Text Box 6">
            <a:extLst>
              <a:ext uri="{FF2B5EF4-FFF2-40B4-BE49-F238E27FC236}">
                <a16:creationId xmlns:a16="http://schemas.microsoft.com/office/drawing/2014/main" id="{0CDEF789-FE53-D9EF-DACB-5D5484353607}"/>
              </a:ext>
            </a:extLst>
          </p:cNvPr>
          <p:cNvSpPr txBox="1">
            <a:spLocks noChangeArrowheads="1"/>
          </p:cNvSpPr>
          <p:nvPr/>
        </p:nvSpPr>
        <p:spPr bwMode="auto">
          <a:xfrm>
            <a:off x="539750" y="2133600"/>
            <a:ext cx="20161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制定初始计划（</a:t>
            </a:r>
            <a:r>
              <a:rPr lang="en-US" altLang="zh-CN"/>
              <a:t>A</a:t>
            </a:r>
            <a:r>
              <a:rPr lang="zh-CN" altLang="en-US"/>
              <a:t>）和备用计划（</a:t>
            </a:r>
            <a:r>
              <a:rPr lang="en-US" altLang="zh-CN"/>
              <a:t>B</a:t>
            </a:r>
            <a:r>
              <a:rPr lang="zh-CN" altLang="en-US"/>
              <a:t>、</a:t>
            </a:r>
            <a:r>
              <a:rPr lang="en-US" altLang="zh-CN"/>
              <a:t>C</a:t>
            </a:r>
            <a:r>
              <a:rPr lang="zh-CN" altLang="en-US"/>
              <a:t>），并说明偶然事件 </a:t>
            </a:r>
          </a:p>
        </p:txBody>
      </p:sp>
      <p:sp>
        <p:nvSpPr>
          <p:cNvPr id="118791" name="Text Box 7">
            <a:extLst>
              <a:ext uri="{FF2B5EF4-FFF2-40B4-BE49-F238E27FC236}">
                <a16:creationId xmlns:a16="http://schemas.microsoft.com/office/drawing/2014/main" id="{E7B4FEDF-E2C6-A59A-6D0E-18012C3D6A2D}"/>
              </a:ext>
            </a:extLst>
          </p:cNvPr>
          <p:cNvSpPr txBox="1">
            <a:spLocks noChangeArrowheads="1"/>
          </p:cNvSpPr>
          <p:nvPr/>
        </p:nvSpPr>
        <p:spPr bwMode="auto">
          <a:xfrm>
            <a:off x="3851275" y="2420938"/>
            <a:ext cx="1584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监控与评价偶然事件 </a:t>
            </a:r>
          </a:p>
        </p:txBody>
      </p:sp>
      <p:sp>
        <p:nvSpPr>
          <p:cNvPr id="118792" name="Text Box 8">
            <a:extLst>
              <a:ext uri="{FF2B5EF4-FFF2-40B4-BE49-F238E27FC236}">
                <a16:creationId xmlns:a16="http://schemas.microsoft.com/office/drawing/2014/main" id="{3FA652A0-FA66-1C34-4148-AF60A1BACC38}"/>
              </a:ext>
            </a:extLst>
          </p:cNvPr>
          <p:cNvSpPr txBox="1">
            <a:spLocks noChangeArrowheads="1"/>
          </p:cNvSpPr>
          <p:nvPr/>
        </p:nvSpPr>
        <p:spPr bwMode="auto">
          <a:xfrm>
            <a:off x="6516688" y="1341438"/>
            <a:ext cx="2232025" cy="284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采用备用计划（</a:t>
            </a:r>
            <a:r>
              <a:rPr lang="en-US" altLang="zh-CN"/>
              <a:t>B</a:t>
            </a:r>
            <a:r>
              <a:rPr lang="zh-CN" altLang="en-US"/>
              <a:t>）</a:t>
            </a:r>
          </a:p>
          <a:p>
            <a:pPr>
              <a:spcBef>
                <a:spcPct val="50000"/>
              </a:spcBef>
            </a:pPr>
            <a:endParaRPr lang="zh-CN" altLang="en-US"/>
          </a:p>
          <a:p>
            <a:pPr>
              <a:spcBef>
                <a:spcPct val="50000"/>
              </a:spcBef>
            </a:pPr>
            <a:endParaRPr lang="zh-CN" altLang="en-US"/>
          </a:p>
          <a:p>
            <a:pPr>
              <a:spcBef>
                <a:spcPct val="50000"/>
              </a:spcBef>
            </a:pPr>
            <a:r>
              <a:rPr lang="zh-CN" altLang="en-US"/>
              <a:t>采用备用计划（</a:t>
            </a:r>
            <a:r>
              <a:rPr lang="en-US" altLang="zh-CN"/>
              <a:t>A</a:t>
            </a:r>
            <a:r>
              <a:rPr lang="zh-CN" altLang="en-US"/>
              <a:t>）</a:t>
            </a:r>
          </a:p>
          <a:p>
            <a:pPr>
              <a:spcBef>
                <a:spcPct val="50000"/>
              </a:spcBef>
            </a:pPr>
            <a:endParaRPr lang="zh-CN" altLang="en-US"/>
          </a:p>
          <a:p>
            <a:pPr>
              <a:spcBef>
                <a:spcPct val="50000"/>
              </a:spcBef>
            </a:pPr>
            <a:endParaRPr lang="zh-CN" altLang="en-US"/>
          </a:p>
          <a:p>
            <a:pPr>
              <a:spcBef>
                <a:spcPct val="50000"/>
              </a:spcBef>
            </a:pPr>
            <a:r>
              <a:rPr lang="zh-CN" altLang="en-US"/>
              <a:t>采用备用计划（</a:t>
            </a:r>
            <a:r>
              <a:rPr lang="en-US" altLang="zh-CN"/>
              <a:t>C</a:t>
            </a:r>
            <a:r>
              <a:rPr lang="zh-CN" altLang="en-US"/>
              <a:t>） </a:t>
            </a:r>
          </a:p>
        </p:txBody>
      </p:sp>
      <p:sp>
        <p:nvSpPr>
          <p:cNvPr id="118794" name="Text Box 10">
            <a:extLst>
              <a:ext uri="{FF2B5EF4-FFF2-40B4-BE49-F238E27FC236}">
                <a16:creationId xmlns:a16="http://schemas.microsoft.com/office/drawing/2014/main" id="{E03B251A-92DF-DBC4-58B3-D0AF2D6AA4B3}"/>
              </a:ext>
            </a:extLst>
          </p:cNvPr>
          <p:cNvSpPr txBox="1">
            <a:spLocks noChangeArrowheads="1"/>
          </p:cNvSpPr>
          <p:nvPr/>
        </p:nvSpPr>
        <p:spPr bwMode="auto">
          <a:xfrm>
            <a:off x="2555875" y="4292600"/>
            <a:ext cx="424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黑体" panose="02010609060101010101" pitchFamily="49" charset="-122"/>
                <a:ea typeface="黑体" panose="02010609060101010101" pitchFamily="49" charset="-122"/>
              </a:rPr>
              <a:t>备用计划</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应变计划</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紧急计划</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预案</a:t>
            </a:r>
          </a:p>
        </p:txBody>
      </p:sp>
      <p:sp>
        <p:nvSpPr>
          <p:cNvPr id="118795" name="Text Box 11">
            <a:extLst>
              <a:ext uri="{FF2B5EF4-FFF2-40B4-BE49-F238E27FC236}">
                <a16:creationId xmlns:a16="http://schemas.microsoft.com/office/drawing/2014/main" id="{8E5CAB9B-FEF5-F48C-0A6A-1E78F768E46F}"/>
              </a:ext>
            </a:extLst>
          </p:cNvPr>
          <p:cNvSpPr txBox="1">
            <a:spLocks noChangeArrowheads="1"/>
          </p:cNvSpPr>
          <p:nvPr/>
        </p:nvSpPr>
        <p:spPr bwMode="auto">
          <a:xfrm>
            <a:off x="179388" y="188913"/>
            <a:ext cx="237648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t>4.3</a:t>
            </a:r>
            <a:r>
              <a:rPr lang="zh-CN" altLang="en-US" sz="1600"/>
              <a:t>准则计划与项目计划</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861</TotalTime>
  <Words>1762</Words>
  <Application>Microsoft Office PowerPoint</Application>
  <PresentationFormat>全屏显示(4:3)</PresentationFormat>
  <Paragraphs>343</Paragraphs>
  <Slides>18</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18</vt:i4>
      </vt:variant>
    </vt:vector>
  </HeadingPairs>
  <TitlesOfParts>
    <vt:vector size="26" baseType="lpstr">
      <vt:lpstr>Times New Roman</vt:lpstr>
      <vt:lpstr>宋体</vt:lpstr>
      <vt:lpstr>Arial</vt:lpstr>
      <vt:lpstr>华文行楷</vt:lpstr>
      <vt:lpstr>黑体</vt:lpstr>
      <vt:lpstr>Arial Unicode MS</vt:lpstr>
      <vt:lpstr>默认设计模板</vt:lpstr>
      <vt:lpstr>Microsoft Word 文档</vt:lpstr>
      <vt:lpstr>第4讲 计划工作与计划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TDR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计划工作与计划</dc:title>
  <dc:creator>sc</dc:creator>
  <cp:lastModifiedBy>先生 刘</cp:lastModifiedBy>
  <cp:revision>35</cp:revision>
  <cp:lastPrinted>2002-06-14T02:54:47Z</cp:lastPrinted>
  <dcterms:created xsi:type="dcterms:W3CDTF">2002-03-13T12:18:58Z</dcterms:created>
  <dcterms:modified xsi:type="dcterms:W3CDTF">2023-10-22T14:24:22Z</dcterms:modified>
</cp:coreProperties>
</file>