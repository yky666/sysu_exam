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341" r:id="rId4"/>
    <p:sldId id="350" r:id="rId5"/>
    <p:sldId id="342" r:id="rId6"/>
    <p:sldId id="352" r:id="rId7"/>
    <p:sldId id="343" r:id="rId8"/>
    <p:sldId id="344" r:id="rId9"/>
    <p:sldId id="354" r:id="rId10"/>
    <p:sldId id="346" r:id="rId11"/>
    <p:sldId id="347" r:id="rId12"/>
    <p:sldId id="338" r:id="rId13"/>
    <p:sldId id="353" r:id="rId14"/>
    <p:sldId id="318" r:id="rId15"/>
    <p:sldId id="317" r:id="rId16"/>
    <p:sldId id="339" r:id="rId17"/>
    <p:sldId id="323" r:id="rId18"/>
    <p:sldId id="340" r:id="rId1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2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4A6552AA-ACE3-16DF-E787-F20BF5C789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AEBFB13C-65CE-FD6A-1A64-9CA67DA008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C10E2213-A3F0-118F-8C5D-4A3F429DA19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53618727-FCE3-63BC-1F6E-504C8A28393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98D5D041-7B4A-5149-91BC-851EE05EA9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8FB36C08-8B86-FAC3-2CFB-2FCECA2859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860537-8FDB-4E1F-873D-54CACFC4BDD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5E9AD-8C49-5228-4E51-8BBD8CADB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E45852-0F8B-344A-162B-D7AA6BDCF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EBC5E1-89F9-813F-63DA-B3E75330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B540D4-B02C-7CCD-2312-CB6D8A26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C72CA-F271-F5C0-93CD-72EEC334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9CC5D7-A211-4DD7-AAE9-3E6D8FF46C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42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DA3A7-6FDC-B0A7-8F97-29435CE3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7D06AF-EB51-69DA-95EE-5FA9B39E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47CEA-E784-CE2F-E72E-45915B102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BBA59-BD69-922E-B149-DC1E4018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F8173-5A9B-21EB-4DA3-D3AE08C4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AA7AA9-0D46-469F-AD20-13F1B4FA48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8389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6DD59-DE18-AFEA-4E3F-29261358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4B7309-8B38-8DBD-B541-5ECF5E8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A642E3-1E9E-C878-684C-4E9F78AAA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D1016A-2020-B3EB-C672-BD07F61B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5DCB00-6069-F5F5-9095-A8C9670C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6E3007-8C48-420C-90AC-229016F337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98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CA26D-283A-E44B-F0C4-ABD691F4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A3895B-A41B-1AEE-7DA3-ACA163EED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35CCF3-72CC-08FD-B32C-A3A3BA66F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B662CE-562D-BAD0-2F5C-182C44FC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293AAA-8B83-2D88-5763-068A364E3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0D73B2-DBF9-60B9-354D-B7552B62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095BF-A61E-428E-AB68-B8C785FE5A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1063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D2212-7D97-2A5A-D4ED-B1BB6683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73C798-BE7B-FD54-9A00-4D060BF3B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1380B4-6D00-6BBB-2A6A-F169D7DFD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D3A13D-A4B1-F117-ECB7-6886C4172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F9A216-0CFE-86B3-7F55-40BB13282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993458-6322-4B11-4817-96E61F35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9841DBF-0607-D18E-1337-5E5B52EF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35478D-1C4B-9E9F-AF6D-22BACCCF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EADF35-95FE-4774-A0F3-D7313AFE9C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695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BA96A-5C7A-BF0D-A4F2-B934B373A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9384AA-CB17-0900-8856-CB52C017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CDF3FC-A2AA-2A76-B945-05CED43DE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F1DCEB-15EC-30C4-E845-762A27BA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D33827-D2EE-405F-81A7-E4E5A54369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108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14ED4B-0A67-1286-3CE2-52AD0B7F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79CE520-B746-42C4-163D-85FA14CC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6C145-5575-23CA-D0AF-0F57CA20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E18A9-3421-45A7-B5AE-EF35540E5C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9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0AA1E-F2D0-D06D-39F3-0431DE77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B18A14-8F57-4D50-4B9F-4CAB1724A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9B78C7-4AB3-2AB2-CACA-EC1720B50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6AB7B4-3B28-3DC8-2A63-6EB4F3A0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2A6603-0BA5-E867-FB0F-4F22E823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83BB72-B12E-160C-A9AE-D082FC9E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29A29A-01EE-4E2B-8546-355853651C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9755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686E5-A870-ED0B-7540-CD9A3718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02C610-FAF3-6654-B22D-8F3E2334C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97D2F5-7E3E-A705-7DDE-9BBD15B9B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74D9A8-2992-298D-07F2-57D6B7B3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B9E891-8F0F-9CFE-11CA-DE464DF2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9FA8BC-B16C-1BAD-BAA9-D894D0225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71D621-86F5-4D6B-BA3D-0429C33F4D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770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E3811-FCEF-0762-410C-2AAF6CAA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C8F6D9-A607-204E-1B66-5391F7C79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D80A73-509E-F3A0-9237-F00C53DFE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0CDAFD-8F98-617A-E6F5-000BBB3F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46AFFA-CDDD-C650-21BA-DA8D5BBB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3E597D-31BB-4A5C-91A0-37FB9E8339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2854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2ED8C7-E155-C808-0323-FBE0B976E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B4ABBB-A8C7-2AC7-08F7-06F47BAB0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23FC73-2E8C-D499-6A35-F81BAC0C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F3E657-1F8A-A06D-6F74-D6A1460B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A349D6-E038-BBE8-E1C3-FE1E2D1C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E222B0-EEB0-4ACC-8DF1-74D9C71A82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5385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6E53869-B3E7-85BB-BB66-B22BB6673C9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6AC787-7BCE-2A49-DF28-A62F09AC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662206-6FF2-46E4-A3DE-A1A05F8D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53B9FF-C568-970C-68B5-6B23B85A1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1D98D1D-D604-4D24-A27B-72C7F33263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86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E067C38-3BBA-7EA3-EEB6-DFD056EBC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BACAD61-5F87-9C05-13D4-6D7035DFC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7F4F79F-B38F-EF90-8507-390E45B528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59E5ADC-6008-F0C8-5E0C-6C6AA5D245B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zh-CN"/>
              <a:t>管理学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1550057-613B-C9D9-3F97-2B492BA0D3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C3F6C67-6112-4F53-8650-EC25BBE3953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1788347-0138-9FE4-4B84-487E4658B8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2205038"/>
            <a:ext cx="7772400" cy="1143000"/>
          </a:xfrm>
        </p:spPr>
        <p:txBody>
          <a:bodyPr anchor="ctr"/>
          <a:lstStyle/>
          <a:p>
            <a:r>
              <a:rPr lang="zh-CN" altLang="en-US" sz="4400">
                <a:latin typeface="华文行楷" panose="02010800040101010101" pitchFamily="2" charset="-122"/>
                <a:ea typeface="华文行楷" panose="02010800040101010101" pitchFamily="2" charset="-122"/>
              </a:rPr>
              <a:t>第</a:t>
            </a:r>
            <a:r>
              <a:rPr lang="en-US" altLang="zh-CN" sz="4400">
                <a:latin typeface="华文行楷" panose="02010800040101010101" pitchFamily="2" charset="-122"/>
                <a:ea typeface="华文行楷" panose="02010800040101010101" pitchFamily="2" charset="-122"/>
              </a:rPr>
              <a:t>9</a:t>
            </a:r>
            <a:r>
              <a:rPr lang="zh-CN" altLang="en-US" sz="4400">
                <a:latin typeface="华文行楷" panose="02010800040101010101" pitchFamily="2" charset="-122"/>
                <a:ea typeface="华文行楷" panose="02010800040101010101" pitchFamily="2" charset="-122"/>
              </a:rPr>
              <a:t>讲  组织设计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5DD0970-6569-EB51-D153-8E6A4F7852A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31913" y="3716338"/>
            <a:ext cx="6400800" cy="1752600"/>
          </a:xfrm>
        </p:spPr>
        <p:txBody>
          <a:bodyPr/>
          <a:lstStyle/>
          <a:p>
            <a:r>
              <a:rPr lang="zh-CN" altLang="en-US" sz="3600">
                <a:latin typeface="华文行楷" panose="02010800040101010101" pitchFamily="2" charset="-122"/>
                <a:ea typeface="华文行楷" panose="02010800040101010101" pitchFamily="2" charset="-122"/>
              </a:rPr>
              <a:t>邵  冲</a:t>
            </a:r>
          </a:p>
          <a:p>
            <a:r>
              <a:rPr lang="zh-CN" altLang="en-US" sz="3600">
                <a:latin typeface="华文行楷" panose="02010800040101010101" pitchFamily="2" charset="-122"/>
                <a:ea typeface="华文行楷" panose="02010800040101010101" pitchFamily="2" charset="-122"/>
              </a:rPr>
              <a:t>中山大学管理学院</a:t>
            </a:r>
          </a:p>
        </p:txBody>
      </p:sp>
    </p:spTree>
  </p:cSld>
  <p:clrMapOvr>
    <a:masterClrMapping/>
  </p:clrMapOvr>
  <p:transition>
    <p:blind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0A6DBE-5BB6-A315-0C25-8E2AFC98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C0A2A8-E4AD-D948-213D-85730380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AEC411-5C69-ED59-EA91-80EB77CC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8E54-C994-43ED-ADF0-C9886488BFBA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076" name="Text Box 4">
            <a:extLst>
              <a:ext uri="{FF2B5EF4-FFF2-40B4-BE49-F238E27FC236}">
                <a16:creationId xmlns:a16="http://schemas.microsoft.com/office/drawing/2014/main" id="{7820C103-0D0A-5DE5-3E40-8F086170E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052513"/>
            <a:ext cx="20177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tx2"/>
                </a:solidFill>
              </a:rPr>
              <a:t>学习内容</a:t>
            </a:r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B7210506-E01D-6853-D22F-D91F68137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49275"/>
            <a:ext cx="2881313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F82244FB-98F6-3B8A-47EE-6DFECC0CF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060575"/>
            <a:ext cx="2016125" cy="1150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800"/>
              <a:t>1.</a:t>
            </a:r>
            <a:r>
              <a:rPr lang="zh-CN" altLang="en-US" sz="1800"/>
              <a:t>组织结构设计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88E943A-5EFA-8D08-0678-6F6F32A44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060575"/>
            <a:ext cx="2016125" cy="1150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800"/>
              <a:t>2.</a:t>
            </a:r>
            <a:r>
              <a:rPr lang="zh-CN" altLang="en-US" sz="1800"/>
              <a:t>领导制度设计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052E8A6D-3D72-D252-D681-D6333E9BB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644900"/>
            <a:ext cx="2016125" cy="1150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800"/>
              <a:t>3.</a:t>
            </a:r>
            <a:r>
              <a:rPr lang="zh-CN" altLang="en-US" sz="1800"/>
              <a:t>委员会</a:t>
            </a:r>
          </a:p>
        </p:txBody>
      </p:sp>
      <p:sp>
        <p:nvSpPr>
          <p:cNvPr id="3082" name="Line 10">
            <a:extLst>
              <a:ext uri="{FF2B5EF4-FFF2-40B4-BE49-F238E27FC236}">
                <a16:creationId xmlns:a16="http://schemas.microsoft.com/office/drawing/2014/main" id="{76189AA0-682C-5A53-D96A-F6E84774C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636838"/>
            <a:ext cx="2160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3" name="Line 11">
            <a:extLst>
              <a:ext uri="{FF2B5EF4-FFF2-40B4-BE49-F238E27FC236}">
                <a16:creationId xmlns:a16="http://schemas.microsoft.com/office/drawing/2014/main" id="{89C04C01-CC92-685E-EB06-1B66E049B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4292600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4" name="Line 12">
            <a:extLst>
              <a:ext uri="{FF2B5EF4-FFF2-40B4-BE49-F238E27FC236}">
                <a16:creationId xmlns:a16="http://schemas.microsoft.com/office/drawing/2014/main" id="{E6B4C1B6-5D9C-DCF1-12A8-474FA6FD6F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6688" y="3213100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5" name="Line 13">
            <a:extLst>
              <a:ext uri="{FF2B5EF4-FFF2-40B4-BE49-F238E27FC236}">
                <a16:creationId xmlns:a16="http://schemas.microsoft.com/office/drawing/2014/main" id="{367E1249-7659-5023-0501-083BD650F0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8538" y="4292600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6" name="Line 14">
            <a:extLst>
              <a:ext uri="{FF2B5EF4-FFF2-40B4-BE49-F238E27FC236}">
                <a16:creationId xmlns:a16="http://schemas.microsoft.com/office/drawing/2014/main" id="{65BAB7CD-DA52-5B94-D29F-AD9B79A725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8538" y="3213100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0DA783-02A1-9369-78BA-9824A48EC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C93EC6-FFED-3A77-2057-D0CD6BB7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2FB46-16F7-AD66-5474-9EDB9BF9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2D30-E086-481D-AF18-98EB29BC6E4A}" type="slidenum">
              <a:rPr lang="en-US" altLang="zh-CN"/>
              <a:pPr/>
              <a:t>3</a:t>
            </a:fld>
            <a:endParaRPr lang="en-US" altLang="zh-CN"/>
          </a:p>
        </p:txBody>
      </p:sp>
      <p:graphicFrame>
        <p:nvGraphicFramePr>
          <p:cNvPr id="102443" name="Group 43">
            <a:extLst>
              <a:ext uri="{FF2B5EF4-FFF2-40B4-BE49-F238E27FC236}">
                <a16:creationId xmlns:a16="http://schemas.microsoft.com/office/drawing/2014/main" id="{5AE3E474-8108-090E-7782-88704737678A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611188" y="836613"/>
          <a:ext cx="8064500" cy="2012950"/>
        </p:xfrm>
        <a:graphic>
          <a:graphicData uri="http://schemas.openxmlformats.org/drawingml/2006/table">
            <a:tbl>
              <a:tblPr/>
              <a:tblGrid>
                <a:gridCol w="1844675">
                  <a:extLst>
                    <a:ext uri="{9D8B030D-6E8A-4147-A177-3AD203B41FA5}">
                      <a16:colId xmlns:a16="http://schemas.microsoft.com/office/drawing/2014/main" val="1703439346"/>
                    </a:ext>
                  </a:extLst>
                </a:gridCol>
                <a:gridCol w="6219825">
                  <a:extLst>
                    <a:ext uri="{9D8B030D-6E8A-4147-A177-3AD203B41FA5}">
                      <a16:colId xmlns:a16="http://schemas.microsoft.com/office/drawing/2014/main" val="2233155198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设计理论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基本观点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71688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普遍化设计理论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组织设计存在最佳的模式，这种最佳模式适合于任何组织、任何情况。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651144"/>
                  </a:ext>
                </a:extLst>
              </a:tr>
              <a:tr h="711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权变设计理论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不存在普遍适用的组织模式，不能用单一的模式解决所有组织设计问题，只能提出在特定情况下最有可能成功的设计方案。主张根据不同情况，在组织设计中灵活应用古典设计理论和行为设计理论的组织模式。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830522"/>
                  </a:ext>
                </a:extLst>
              </a:tr>
            </a:tbl>
          </a:graphicData>
        </a:graphic>
      </p:graphicFrame>
      <p:sp>
        <p:nvSpPr>
          <p:cNvPr id="102416" name="Text Box 16">
            <a:extLst>
              <a:ext uri="{FF2B5EF4-FFF2-40B4-BE49-F238E27FC236}">
                <a16:creationId xmlns:a16="http://schemas.microsoft.com/office/drawing/2014/main" id="{4C60D5FB-33E5-4934-9CE7-38EBE8FEE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AFE809FE-A117-469B-A5E2-9F8823920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476250"/>
            <a:ext cx="165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组织设计理论</a:t>
            </a:r>
          </a:p>
        </p:txBody>
      </p:sp>
      <p:sp>
        <p:nvSpPr>
          <p:cNvPr id="102418" name="Line 18">
            <a:extLst>
              <a:ext uri="{FF2B5EF4-FFF2-40B4-BE49-F238E27FC236}">
                <a16:creationId xmlns:a16="http://schemas.microsoft.com/office/drawing/2014/main" id="{2F7E18A5-A0E4-811A-CBA1-E80316FAFC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850" y="1557338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19" name="Line 19">
            <a:extLst>
              <a:ext uri="{FF2B5EF4-FFF2-40B4-BE49-F238E27FC236}">
                <a16:creationId xmlns:a16="http://schemas.microsoft.com/office/drawing/2014/main" id="{97932B3F-9E68-28BE-A293-C30030AF3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1557338"/>
            <a:ext cx="0" cy="42481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20" name="Line 20">
            <a:extLst>
              <a:ext uri="{FF2B5EF4-FFF2-40B4-BE49-F238E27FC236}">
                <a16:creationId xmlns:a16="http://schemas.microsoft.com/office/drawing/2014/main" id="{C67A17DF-77F7-8232-2F4B-64B2BFB1D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4221163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421" name="Group 21">
            <a:extLst>
              <a:ext uri="{FF2B5EF4-FFF2-40B4-BE49-F238E27FC236}">
                <a16:creationId xmlns:a16="http://schemas.microsoft.com/office/drawing/2014/main" id="{7B690CD3-B57F-326A-4551-933AE105B557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2852738"/>
          <a:ext cx="8064500" cy="338455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172560788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145385189"/>
                    </a:ext>
                  </a:extLst>
                </a:gridCol>
                <a:gridCol w="4537075">
                  <a:extLst>
                    <a:ext uri="{9D8B030D-6E8A-4147-A177-3AD203B41FA5}">
                      <a16:colId xmlns:a16="http://schemas.microsoft.com/office/drawing/2014/main" val="3160306542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设计理论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设计模式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基本观点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380757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古典设计理论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机械式模式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（以工作为中心、以职权为基础、强调工作效率的组织模式）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工作被分成分离的、专门化的部分；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工作被严格限定；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有严格的权力和控制等级，有许多规章；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知识和工作的控制集中于组织的高层；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沟通是纵向的。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37840"/>
                  </a:ext>
                </a:extLst>
              </a:tr>
              <a:tr h="608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行为设计理论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有机式模式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（以人为中心、以参与为基础、强调适应性的组织模式）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员工服务于部门的共同体；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工作通过员工的团队重新调整和划分；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较少的权力和控制的等级，规章较少；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知识和工作的控制存在于组织的任何地方；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沟通是横向的。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941262"/>
                  </a:ext>
                </a:extLst>
              </a:tr>
            </a:tbl>
          </a:graphicData>
        </a:graphic>
      </p:graphicFrame>
      <p:sp>
        <p:nvSpPr>
          <p:cNvPr id="102439" name="Line 39">
            <a:extLst>
              <a:ext uri="{FF2B5EF4-FFF2-40B4-BE49-F238E27FC236}">
                <a16:creationId xmlns:a16="http://schemas.microsoft.com/office/drawing/2014/main" id="{4B89DB3F-E8A0-387A-A9ED-1907BC0B5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5805488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E81224CD-3D90-BCDA-DB3D-81A62B72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16DE5441-8EB9-05BA-82E7-748449017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07B39BB0-48F6-56FC-621B-74C54D76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3626-579F-4D09-9FDB-1E84D74E12C1}" type="slidenum">
              <a:rPr lang="en-US" altLang="zh-CN"/>
              <a:pPr/>
              <a:t>4</a:t>
            </a:fld>
            <a:endParaRPr lang="en-US" altLang="zh-CN"/>
          </a:p>
        </p:txBody>
      </p:sp>
      <p:graphicFrame>
        <p:nvGraphicFramePr>
          <p:cNvPr id="111618" name="Group 2">
            <a:extLst>
              <a:ext uri="{FF2B5EF4-FFF2-40B4-BE49-F238E27FC236}">
                <a16:creationId xmlns:a16="http://schemas.microsoft.com/office/drawing/2014/main" id="{D8F03B60-00E6-4F97-F870-211BF14E685E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468313" y="1557338"/>
          <a:ext cx="8229600" cy="3167062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3628604355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4202639822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234325344"/>
                    </a:ext>
                  </a:extLst>
                </a:gridCol>
                <a:gridCol w="1677988">
                  <a:extLst>
                    <a:ext uri="{9D8B030D-6E8A-4147-A177-3AD203B41FA5}">
                      <a16:colId xmlns:a16="http://schemas.microsoft.com/office/drawing/2014/main" val="3557159806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组织要素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机械式设计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有机式设计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974427"/>
                  </a:ext>
                </a:extLst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职务设计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职务内容的广度和深度。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专业化，简化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扩大化，丰富化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530984"/>
                  </a:ext>
                </a:extLst>
              </a:tr>
              <a:tr h="600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管理层次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组织中的各级管理机构。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竖直化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扁平化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748643"/>
                  </a:ext>
                </a:extLst>
              </a:tr>
              <a:tr h="554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部门划分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将职务和人员组编成可以管理的单位。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职能结构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分部结构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426381"/>
                  </a:ext>
                </a:extLst>
              </a:tr>
              <a:tr h="512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职权关系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决策指挥权的集中或者分散。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集权化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分权化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126901"/>
                  </a:ext>
                </a:extLst>
              </a:tr>
              <a:tr h="476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协调配合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不同层次、部门、个人之间活动的协调。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正式化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非正式化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79369"/>
                  </a:ext>
                </a:extLst>
              </a:tr>
            </a:tbl>
          </a:graphicData>
        </a:graphic>
      </p:graphicFrame>
      <p:sp>
        <p:nvSpPr>
          <p:cNvPr id="111655" name="Text Box 39">
            <a:extLst>
              <a:ext uri="{FF2B5EF4-FFF2-40B4-BE49-F238E27FC236}">
                <a16:creationId xmlns:a16="http://schemas.microsoft.com/office/drawing/2014/main" id="{6FA0BB1E-3257-B635-6F78-580E9A8E2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1125538"/>
            <a:ext cx="3168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组织设计基本要素的归纳</a:t>
            </a:r>
          </a:p>
        </p:txBody>
      </p:sp>
      <p:sp>
        <p:nvSpPr>
          <p:cNvPr id="111657" name="Text Box 41">
            <a:extLst>
              <a:ext uri="{FF2B5EF4-FFF2-40B4-BE49-F238E27FC236}">
                <a16:creationId xmlns:a16="http://schemas.microsoft.com/office/drawing/2014/main" id="{7DC4A395-38A7-E042-A58E-B2A693701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D7966B-657F-0C5A-DF6F-5AFD37F5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A22CC5-15AE-1690-13B1-0DE939293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E3115D-F5AA-95B2-C13D-B67EC7B3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99D1E-FBCA-4389-A92B-76ECEFD1AD2A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03426" name="Oval 2">
            <a:extLst>
              <a:ext uri="{FF2B5EF4-FFF2-40B4-BE49-F238E27FC236}">
                <a16:creationId xmlns:a16="http://schemas.microsoft.com/office/drawing/2014/main" id="{9423FE98-1304-ECAD-B985-F05B2005C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04813"/>
            <a:ext cx="1439862" cy="863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1800">
                <a:latin typeface="Arial" panose="020B0604020202020204" pitchFamily="34" charset="0"/>
              </a:rPr>
              <a:t>1.</a:t>
            </a:r>
            <a:r>
              <a:rPr kumimoji="0" lang="zh-CN" altLang="en-US" sz="1800">
                <a:latin typeface="Arial" panose="020B0604020202020204" pitchFamily="34" charset="0"/>
              </a:rPr>
              <a:t>战略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C919CD4B-A676-C234-59C3-742045C1B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484313"/>
            <a:ext cx="1439862" cy="720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zh-CN" altLang="en-US" sz="1800">
                <a:latin typeface="Arial" panose="020B0604020202020204" pitchFamily="34" charset="0"/>
              </a:rPr>
              <a:t>组织结构</a:t>
            </a:r>
          </a:p>
        </p:txBody>
      </p:sp>
      <p:sp>
        <p:nvSpPr>
          <p:cNvPr id="103428" name="Line 4">
            <a:extLst>
              <a:ext uri="{FF2B5EF4-FFF2-40B4-BE49-F238E27FC236}">
                <a16:creationId xmlns:a16="http://schemas.microsoft.com/office/drawing/2014/main" id="{59E2FFF1-17DB-9CA3-6E2A-4918A9687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12684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29" name="Oval 5">
            <a:extLst>
              <a:ext uri="{FF2B5EF4-FFF2-40B4-BE49-F238E27FC236}">
                <a16:creationId xmlns:a16="http://schemas.microsoft.com/office/drawing/2014/main" id="{07F51726-167D-FBE0-3645-CFE395839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1412875"/>
            <a:ext cx="1439862" cy="863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1800">
                <a:latin typeface="Arial" panose="020B0604020202020204" pitchFamily="34" charset="0"/>
              </a:rPr>
              <a:t>3.</a:t>
            </a:r>
            <a:r>
              <a:rPr kumimoji="0" lang="zh-CN" altLang="en-US" sz="1800">
                <a:latin typeface="Arial" panose="020B0604020202020204" pitchFamily="34" charset="0"/>
              </a:rPr>
              <a:t>生产技术</a:t>
            </a:r>
          </a:p>
        </p:txBody>
      </p:sp>
      <p:sp>
        <p:nvSpPr>
          <p:cNvPr id="103430" name="Line 6">
            <a:extLst>
              <a:ext uri="{FF2B5EF4-FFF2-40B4-BE49-F238E27FC236}">
                <a16:creationId xmlns:a16="http://schemas.microsoft.com/office/drawing/2014/main" id="{C56BEACF-08CD-15D8-77AD-7789FE89A0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0425" y="1844675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1" name="Oval 7">
            <a:extLst>
              <a:ext uri="{FF2B5EF4-FFF2-40B4-BE49-F238E27FC236}">
                <a16:creationId xmlns:a16="http://schemas.microsoft.com/office/drawing/2014/main" id="{EF366E25-279B-0922-B09D-A0A5B56D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1412875"/>
            <a:ext cx="1439863" cy="863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1800">
                <a:latin typeface="Arial" panose="020B0604020202020204" pitchFamily="34" charset="0"/>
              </a:rPr>
              <a:t>2.</a:t>
            </a:r>
            <a:r>
              <a:rPr kumimoji="0" lang="zh-CN" altLang="en-US" sz="1800">
                <a:latin typeface="Arial" panose="020B0604020202020204" pitchFamily="34" charset="0"/>
              </a:rPr>
              <a:t>外部环境</a:t>
            </a:r>
          </a:p>
        </p:txBody>
      </p:sp>
      <p:sp>
        <p:nvSpPr>
          <p:cNvPr id="103432" name="Line 8">
            <a:extLst>
              <a:ext uri="{FF2B5EF4-FFF2-40B4-BE49-F238E27FC236}">
                <a16:creationId xmlns:a16="http://schemas.microsoft.com/office/drawing/2014/main" id="{26FF9BA3-E54D-21EB-FEE7-F63C5BB97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184467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3" name="Oval 9">
            <a:extLst>
              <a:ext uri="{FF2B5EF4-FFF2-40B4-BE49-F238E27FC236}">
                <a16:creationId xmlns:a16="http://schemas.microsoft.com/office/drawing/2014/main" id="{7BB99EC0-AFBF-6764-FB59-2D0232FC4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420938"/>
            <a:ext cx="1439862" cy="863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1800">
                <a:latin typeface="Arial" panose="020B0604020202020204" pitchFamily="34" charset="0"/>
              </a:rPr>
              <a:t>4.</a:t>
            </a:r>
            <a:r>
              <a:rPr kumimoji="0" lang="zh-CN" altLang="en-US" sz="1800">
                <a:latin typeface="Arial" panose="020B0604020202020204" pitchFamily="34" charset="0"/>
              </a:rPr>
              <a:t>规模</a:t>
            </a:r>
          </a:p>
        </p:txBody>
      </p:sp>
      <p:sp>
        <p:nvSpPr>
          <p:cNvPr id="103434" name="Line 10">
            <a:extLst>
              <a:ext uri="{FF2B5EF4-FFF2-40B4-BE49-F238E27FC236}">
                <a16:creationId xmlns:a16="http://schemas.microsoft.com/office/drawing/2014/main" id="{6DE72DCE-F9C7-F9A2-ED93-44BA3C2FB2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22050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6" name="Oval 12">
            <a:extLst>
              <a:ext uri="{FF2B5EF4-FFF2-40B4-BE49-F238E27FC236}">
                <a16:creationId xmlns:a16="http://schemas.microsoft.com/office/drawing/2014/main" id="{367B87DA-CA28-FF8C-5F17-EF1DA515B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60350"/>
            <a:ext cx="5184775" cy="3168650"/>
          </a:xfrm>
          <a:prstGeom prst="ellipse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0" lang="zh-CN" altLang="zh-CN" sz="1800">
              <a:latin typeface="Arial" panose="020B0604020202020204" pitchFamily="34" charset="0"/>
            </a:endParaRPr>
          </a:p>
        </p:txBody>
      </p:sp>
      <p:sp>
        <p:nvSpPr>
          <p:cNvPr id="103437" name="Text Box 13">
            <a:extLst>
              <a:ext uri="{FF2B5EF4-FFF2-40B4-BE49-F238E27FC236}">
                <a16:creationId xmlns:a16="http://schemas.microsoft.com/office/drawing/2014/main" id="{77A53A20-8A1A-E5E0-B468-7751666A1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2492375"/>
            <a:ext cx="936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5.</a:t>
            </a:r>
            <a:r>
              <a:rPr kumimoji="0" lang="zh-CN" altLang="en-US" sz="1800">
                <a:latin typeface="Arial" panose="020B0604020202020204" pitchFamily="34" charset="0"/>
              </a:rPr>
              <a:t>文化</a:t>
            </a:r>
          </a:p>
        </p:txBody>
      </p:sp>
      <p:graphicFrame>
        <p:nvGraphicFramePr>
          <p:cNvPr id="103468" name="Group 44">
            <a:extLst>
              <a:ext uri="{FF2B5EF4-FFF2-40B4-BE49-F238E27FC236}">
                <a16:creationId xmlns:a16="http://schemas.microsoft.com/office/drawing/2014/main" id="{7EB072E1-DF40-99E4-286E-FB9BBC856EB9}"/>
              </a:ext>
            </a:extLst>
          </p:cNvPr>
          <p:cNvGraphicFramePr>
            <a:graphicFrameLocks noGrp="1"/>
          </p:cNvGraphicFramePr>
          <p:nvPr/>
        </p:nvGraphicFramePr>
        <p:xfrm>
          <a:off x="684213" y="3573463"/>
          <a:ext cx="7843837" cy="2190750"/>
        </p:xfrm>
        <a:graphic>
          <a:graphicData uri="http://schemas.openxmlformats.org/drawingml/2006/table">
            <a:tbl>
              <a:tblPr/>
              <a:tblGrid>
                <a:gridCol w="1712912">
                  <a:extLst>
                    <a:ext uri="{9D8B030D-6E8A-4147-A177-3AD203B41FA5}">
                      <a16:colId xmlns:a16="http://schemas.microsoft.com/office/drawing/2014/main" val="3371568779"/>
                    </a:ext>
                  </a:extLst>
                </a:gridCol>
                <a:gridCol w="3741738">
                  <a:extLst>
                    <a:ext uri="{9D8B030D-6E8A-4147-A177-3AD203B41FA5}">
                      <a16:colId xmlns:a16="http://schemas.microsoft.com/office/drawing/2014/main" val="2687075986"/>
                    </a:ext>
                  </a:extLst>
                </a:gridCol>
                <a:gridCol w="2389187">
                  <a:extLst>
                    <a:ext uri="{9D8B030D-6E8A-4147-A177-3AD203B41FA5}">
                      <a16:colId xmlns:a16="http://schemas.microsoft.com/office/drawing/2014/main" val="147495866"/>
                    </a:ext>
                  </a:extLst>
                </a:gridCol>
              </a:tblGrid>
              <a:tr h="317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影响因素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举例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067992"/>
                  </a:ext>
                </a:extLst>
              </a:tr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规模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组织中的人数。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人，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10000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208670"/>
                  </a:ext>
                </a:extLst>
              </a:tr>
              <a:tr h="234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组织技术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将投入转换为产出的方式。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生产装配线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88595"/>
                  </a:ext>
                </a:extLst>
              </a:tr>
              <a:tr h="230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环境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所有组织边界之外的因素。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顾客，供应商，政府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89093"/>
                  </a:ext>
                </a:extLst>
              </a:tr>
              <a:tr h="296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目标与战略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区别于其他组织的目的和竞争技巧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长期计划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459385"/>
                  </a:ext>
                </a:extLst>
              </a:tr>
              <a:tr h="292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组织文化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组织成员共享的价值观、信念。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口号，礼仪，穿着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825273"/>
                  </a:ext>
                </a:extLst>
              </a:tr>
            </a:tbl>
          </a:graphicData>
        </a:graphic>
      </p:graphicFrame>
      <p:sp>
        <p:nvSpPr>
          <p:cNvPr id="103469" name="Text Box 45">
            <a:extLst>
              <a:ext uri="{FF2B5EF4-FFF2-40B4-BE49-F238E27FC236}">
                <a16:creationId xmlns:a16="http://schemas.microsoft.com/office/drawing/2014/main" id="{DC8B9046-BD59-A34B-A574-E341985B0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2228970B-6A9D-FEC3-4815-129145C04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9CE9A7D3-147E-C380-D99D-EC7F59CF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80E5408F-ED1E-0872-B5DB-A8EA5B45B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99F2-2370-42EC-8D96-14046B7263D7}" type="slidenum">
              <a:rPr lang="en-US" altLang="zh-CN"/>
              <a:pPr/>
              <a:t>6</a:t>
            </a:fld>
            <a:endParaRPr lang="en-US" altLang="zh-CN"/>
          </a:p>
        </p:txBody>
      </p:sp>
      <p:graphicFrame>
        <p:nvGraphicFramePr>
          <p:cNvPr id="114720" name="Group 32">
            <a:extLst>
              <a:ext uri="{FF2B5EF4-FFF2-40B4-BE49-F238E27FC236}">
                <a16:creationId xmlns:a16="http://schemas.microsoft.com/office/drawing/2014/main" id="{1000C698-B7E1-7E1E-4EE4-A2B66DD94F5F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468313" y="765175"/>
          <a:ext cx="8229600" cy="5392738"/>
        </p:xfrm>
        <a:graphic>
          <a:graphicData uri="http://schemas.openxmlformats.org/drawingml/2006/table">
            <a:tbl>
              <a:tblPr/>
              <a:tblGrid>
                <a:gridCol w="1150937">
                  <a:extLst>
                    <a:ext uri="{9D8B030D-6E8A-4147-A177-3AD203B41FA5}">
                      <a16:colId xmlns:a16="http://schemas.microsoft.com/office/drawing/2014/main" val="3133462431"/>
                    </a:ext>
                  </a:extLst>
                </a:gridCol>
                <a:gridCol w="5473700">
                  <a:extLst>
                    <a:ext uri="{9D8B030D-6E8A-4147-A177-3AD203B41FA5}">
                      <a16:colId xmlns:a16="http://schemas.microsoft.com/office/drawing/2014/main" val="2071450995"/>
                    </a:ext>
                  </a:extLst>
                </a:gridCol>
                <a:gridCol w="1604963">
                  <a:extLst>
                    <a:ext uri="{9D8B030D-6E8A-4147-A177-3AD203B41FA5}">
                      <a16:colId xmlns:a16="http://schemas.microsoft.com/office/drawing/2014/main" val="3567526892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战略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组织特点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设计模式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974287"/>
                  </a:ext>
                </a:extLst>
              </a:tr>
              <a:tr h="189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成本领先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较强的中心权力，严格的成本控制；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标准操作持续；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容易掌握的制造技术；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高效的或许和分销系统；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密切监视，有限的人员授权；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经常的、详细的控制报告。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机械式模式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753585"/>
                  </a:ext>
                </a:extLst>
              </a:tr>
              <a:tr h="1538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差别化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有机的、宽松方式的行动，部门间较强的协调性；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创造性强，思维开阔；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加强市场研究能力；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奖励员工的创新；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依靠质量和技术领先。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有机式模式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64031"/>
                  </a:ext>
                </a:extLst>
              </a:tr>
              <a:tr h="1123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集中化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高层指导性政策在特定战略目标上结合；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与员工亲密，奖励灵活性；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衡量提供服务的成本，保持对顾客的忠诚；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强化员工与顾客接触的授权。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机械式与有机式结合模式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690425"/>
                  </a:ext>
                </a:extLst>
              </a:tr>
            </a:tbl>
          </a:graphicData>
        </a:graphic>
      </p:graphicFrame>
      <p:sp>
        <p:nvSpPr>
          <p:cNvPr id="114713" name="Text Box 25">
            <a:extLst>
              <a:ext uri="{FF2B5EF4-FFF2-40B4-BE49-F238E27FC236}">
                <a16:creationId xmlns:a16="http://schemas.microsoft.com/office/drawing/2014/main" id="{D5068925-E215-8DD3-4CA1-7C63D0A61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404813"/>
            <a:ext cx="23034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竞争战略和组织特点</a:t>
            </a:r>
          </a:p>
        </p:txBody>
      </p:sp>
      <p:sp>
        <p:nvSpPr>
          <p:cNvPr id="114721" name="Text Box 33">
            <a:extLst>
              <a:ext uri="{FF2B5EF4-FFF2-40B4-BE49-F238E27FC236}">
                <a16:creationId xmlns:a16="http://schemas.microsoft.com/office/drawing/2014/main" id="{8BDD2AD0-F037-CF36-5DEA-D58F32186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F04AC3D7-4D96-0391-3C17-BBEBAECE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907683F7-08D6-0442-A998-DCB26808B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81201840-262A-5141-9BD7-0202125D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92572-76A9-4A33-B923-AEBFE56A2603}" type="slidenum">
              <a:rPr lang="en-US" altLang="zh-CN"/>
              <a:pPr/>
              <a:t>7</a:t>
            </a:fld>
            <a:endParaRPr lang="en-US" altLang="zh-CN"/>
          </a:p>
        </p:txBody>
      </p:sp>
      <p:graphicFrame>
        <p:nvGraphicFramePr>
          <p:cNvPr id="104450" name="Group 2">
            <a:extLst>
              <a:ext uri="{FF2B5EF4-FFF2-40B4-BE49-F238E27FC236}">
                <a16:creationId xmlns:a16="http://schemas.microsoft.com/office/drawing/2014/main" id="{A75C9B9A-76D3-E567-89F6-597249A4741D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1042988" y="1341438"/>
          <a:ext cx="7705725" cy="3667125"/>
        </p:xfrm>
        <a:graphic>
          <a:graphicData uri="http://schemas.openxmlformats.org/drawingml/2006/table">
            <a:tbl>
              <a:tblPr/>
              <a:tblGrid>
                <a:gridCol w="3890962">
                  <a:extLst>
                    <a:ext uri="{9D8B030D-6E8A-4147-A177-3AD203B41FA5}">
                      <a16:colId xmlns:a16="http://schemas.microsoft.com/office/drawing/2014/main" val="2154207910"/>
                    </a:ext>
                  </a:extLst>
                </a:gridCol>
                <a:gridCol w="3814763">
                  <a:extLst>
                    <a:ext uri="{9D8B030D-6E8A-4147-A177-3AD203B41FA5}">
                      <a16:colId xmlns:a16="http://schemas.microsoft.com/office/drawing/2014/main" val="1043153818"/>
                    </a:ext>
                  </a:extLst>
                </a:gridCol>
              </a:tblGrid>
              <a:tr h="172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低不确定性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机械性结构；规范、集权化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部门很少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无整合作用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很少模仿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当前经营导向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低－中度不确定性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机械性结构；规范、集权化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部门很多，某些跨越边界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很少整合作用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很少模仿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某些计划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804500"/>
                  </a:ext>
                </a:extLst>
              </a:tr>
              <a:tr h="172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中－高度不确定性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有机结构，团队；参与性，分权化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部门很少，边界跨度大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很少整合作用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模仿迅速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计划性导向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高不确定性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有机结构，团队；参与性，分权化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很多不同部门，广泛的边界跨越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很大的整合作用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广泛的模仿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广泛的计划、预测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482233"/>
                  </a:ext>
                </a:extLst>
              </a:tr>
            </a:tbl>
          </a:graphicData>
        </a:graphic>
      </p:graphicFrame>
      <p:sp>
        <p:nvSpPr>
          <p:cNvPr id="104461" name="Text Box 13">
            <a:extLst>
              <a:ext uri="{FF2B5EF4-FFF2-40B4-BE49-F238E27FC236}">
                <a16:creationId xmlns:a16="http://schemas.microsoft.com/office/drawing/2014/main" id="{ECE55298-CFF8-C551-0CAA-0A317BA82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908050"/>
            <a:ext cx="50403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</a:rPr>
              <a:t>简单                    </a:t>
            </a:r>
            <a:r>
              <a:rPr kumimoji="0"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环境的复杂性</a:t>
            </a:r>
            <a:r>
              <a:rPr kumimoji="0" lang="zh-CN" altLang="en-US" sz="1800">
                <a:latin typeface="Arial" panose="020B0604020202020204" pitchFamily="34" charset="0"/>
              </a:rPr>
              <a:t>                   复杂</a:t>
            </a:r>
          </a:p>
        </p:txBody>
      </p:sp>
      <p:sp>
        <p:nvSpPr>
          <p:cNvPr id="104462" name="Text Box 14">
            <a:extLst>
              <a:ext uri="{FF2B5EF4-FFF2-40B4-BE49-F238E27FC236}">
                <a16:creationId xmlns:a16="http://schemas.microsoft.com/office/drawing/2014/main" id="{39D21FCC-6FBB-6F2C-38B2-F18C49BAC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73238"/>
            <a:ext cx="431800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</a:rPr>
              <a:t>稳定</a:t>
            </a:r>
          </a:p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环境的动态性</a:t>
            </a:r>
          </a:p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</a:rPr>
              <a:t>变动</a:t>
            </a:r>
          </a:p>
        </p:txBody>
      </p:sp>
      <p:sp>
        <p:nvSpPr>
          <p:cNvPr id="104464" name="Text Box 16">
            <a:extLst>
              <a:ext uri="{FF2B5EF4-FFF2-40B4-BE49-F238E27FC236}">
                <a16:creationId xmlns:a16="http://schemas.microsoft.com/office/drawing/2014/main" id="{7B6DE59C-11EE-07FC-1F51-993BAEFF0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5157788"/>
            <a:ext cx="4032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环境不确定性与组织反应的权变框架</a:t>
            </a:r>
          </a:p>
        </p:txBody>
      </p:sp>
      <p:sp>
        <p:nvSpPr>
          <p:cNvPr id="104465" name="Line 17">
            <a:extLst>
              <a:ext uri="{FF2B5EF4-FFF2-40B4-BE49-F238E27FC236}">
                <a16:creationId xmlns:a16="http://schemas.microsoft.com/office/drawing/2014/main" id="{70E9B7F9-DAD5-123E-7CC7-1BB41898A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2997200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66" name="Text Box 18">
            <a:extLst>
              <a:ext uri="{FF2B5EF4-FFF2-40B4-BE49-F238E27FC236}">
                <a16:creationId xmlns:a16="http://schemas.microsoft.com/office/drawing/2014/main" id="{39E00A16-0534-BCF0-2750-1652900B9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FA3A66-9752-CC5D-A87E-3ABCC371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C9C5BE-C4E2-5365-0A27-AE5CEBE1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4DD792-8BED-E422-EB3D-1DA734F4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78CB-3C3D-45FA-B7E0-08E73714887C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05475" name="Text Box 3">
            <a:extLst>
              <a:ext uri="{FF2B5EF4-FFF2-40B4-BE49-F238E27FC236}">
                <a16:creationId xmlns:a16="http://schemas.microsoft.com/office/drawing/2014/main" id="{921D0405-C2EC-9396-CC03-CAE5A9FAF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908050"/>
            <a:ext cx="4105275" cy="449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1.</a:t>
            </a:r>
            <a:r>
              <a:rPr kumimoji="0" lang="zh-CN" altLang="en-US" sz="1800">
                <a:latin typeface="Arial" panose="020B0604020202020204" pitchFamily="34" charset="0"/>
              </a:rPr>
              <a:t>按顾客的订单分件生产</a:t>
            </a: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2.</a:t>
            </a:r>
            <a:r>
              <a:rPr kumimoji="0" lang="zh-CN" altLang="en-US" sz="1800">
                <a:latin typeface="Arial" panose="020B0604020202020204" pitchFamily="34" charset="0"/>
              </a:rPr>
              <a:t>技术复杂一件一件生产</a:t>
            </a: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3.</a:t>
            </a:r>
            <a:r>
              <a:rPr kumimoji="0" lang="zh-CN" altLang="en-US" sz="1800">
                <a:latin typeface="Arial" panose="020B0604020202020204" pitchFamily="34" charset="0"/>
              </a:rPr>
              <a:t>在每个阶段由大型设备组成</a:t>
            </a: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4.</a:t>
            </a:r>
            <a:r>
              <a:rPr kumimoji="0" lang="zh-CN" altLang="en-US" sz="1800">
                <a:latin typeface="Arial" panose="020B0604020202020204" pitchFamily="34" charset="0"/>
              </a:rPr>
              <a:t>小批量生产</a:t>
            </a: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5.</a:t>
            </a:r>
            <a:r>
              <a:rPr kumimoji="0" lang="zh-CN" altLang="en-US" sz="1800">
                <a:latin typeface="Arial" panose="020B0604020202020204" pitchFamily="34" charset="0"/>
              </a:rPr>
              <a:t>大批量的零部件生产，连续装配</a:t>
            </a: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6.</a:t>
            </a:r>
            <a:r>
              <a:rPr kumimoji="0" lang="zh-CN" altLang="en-US" sz="1800">
                <a:latin typeface="Arial" panose="020B0604020202020204" pitchFamily="34" charset="0"/>
              </a:rPr>
              <a:t>大批生产，装配线类型</a:t>
            </a: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7.</a:t>
            </a:r>
            <a:r>
              <a:rPr kumimoji="0" lang="zh-CN" altLang="en-US" sz="1800">
                <a:latin typeface="Arial" panose="020B0604020202020204" pitchFamily="34" charset="0"/>
              </a:rPr>
              <a:t>大量生产</a:t>
            </a: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8.</a:t>
            </a:r>
            <a:r>
              <a:rPr kumimoji="0" lang="zh-CN" altLang="en-US" sz="1800">
                <a:latin typeface="Arial" panose="020B0604020202020204" pitchFamily="34" charset="0"/>
              </a:rPr>
              <a:t>以大量与备货相结合的连续加工生产</a:t>
            </a: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9.</a:t>
            </a:r>
            <a:r>
              <a:rPr kumimoji="0" lang="zh-CN" altLang="en-US" sz="1800">
                <a:latin typeface="Arial" panose="020B0604020202020204" pitchFamily="34" charset="0"/>
              </a:rPr>
              <a:t>化学品的大批连续加工生产</a:t>
            </a: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10.</a:t>
            </a:r>
            <a:r>
              <a:rPr kumimoji="0" lang="zh-CN" altLang="en-US" sz="1800">
                <a:latin typeface="Arial" panose="020B0604020202020204" pitchFamily="34" charset="0"/>
              </a:rPr>
              <a:t>连续流动的液体、气体和固体形式</a:t>
            </a:r>
          </a:p>
        </p:txBody>
      </p:sp>
      <p:sp>
        <p:nvSpPr>
          <p:cNvPr id="105476" name="Text Box 4">
            <a:extLst>
              <a:ext uri="{FF2B5EF4-FFF2-40B4-BE49-F238E27FC236}">
                <a16:creationId xmlns:a16="http://schemas.microsoft.com/office/drawing/2014/main" id="{BACB86FD-504C-B12F-87E3-2EC6A6FA0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692150"/>
            <a:ext cx="1655762" cy="449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          </a:t>
            </a:r>
            <a:r>
              <a:rPr kumimoji="0" lang="zh-CN" altLang="en-US" sz="1800">
                <a:latin typeface="Arial" panose="020B0604020202020204" pitchFamily="34" charset="0"/>
              </a:rPr>
              <a:t>低</a:t>
            </a: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</a:rPr>
              <a:t>技术的复杂性</a:t>
            </a: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</a:rPr>
              <a:t>          高</a:t>
            </a:r>
          </a:p>
        </p:txBody>
      </p:sp>
      <p:sp>
        <p:nvSpPr>
          <p:cNvPr id="105477" name="Line 5">
            <a:extLst>
              <a:ext uri="{FF2B5EF4-FFF2-40B4-BE49-F238E27FC236}">
                <a16:creationId xmlns:a16="http://schemas.microsoft.com/office/drawing/2014/main" id="{7417361B-398D-7C96-02A0-D57C8322DD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6550" y="1052513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8" name="Line 6">
            <a:extLst>
              <a:ext uri="{FF2B5EF4-FFF2-40B4-BE49-F238E27FC236}">
                <a16:creationId xmlns:a16="http://schemas.microsoft.com/office/drawing/2014/main" id="{70FCCE59-F35B-AEF0-5506-96287D83B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6550" y="3141663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9" name="Text Box 7">
            <a:extLst>
              <a:ext uri="{FF2B5EF4-FFF2-40B4-BE49-F238E27FC236}">
                <a16:creationId xmlns:a16="http://schemas.microsoft.com/office/drawing/2014/main" id="{3139763A-512A-8D38-BE64-3F1F3479A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844675"/>
            <a:ext cx="1871662" cy="284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1.</a:t>
            </a:r>
            <a:r>
              <a:rPr kumimoji="0" lang="zh-CN" altLang="en-US" sz="1800">
                <a:latin typeface="Arial" panose="020B0604020202020204" pitchFamily="34" charset="0"/>
              </a:rPr>
              <a:t>单件小批生产</a:t>
            </a: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2.</a:t>
            </a:r>
            <a:r>
              <a:rPr kumimoji="0" lang="zh-CN" altLang="en-US" sz="1800">
                <a:latin typeface="Arial" panose="020B0604020202020204" pitchFamily="34" charset="0"/>
              </a:rPr>
              <a:t>大量大批生产</a:t>
            </a: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0" lang="zh-CN" altLang="en-US" sz="1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kumimoji="0" lang="en-US" altLang="zh-CN" sz="1800">
                <a:latin typeface="Arial" panose="020B0604020202020204" pitchFamily="34" charset="0"/>
              </a:rPr>
              <a:t>3.</a:t>
            </a:r>
            <a:r>
              <a:rPr kumimoji="0" lang="zh-CN" altLang="en-US" sz="1800">
                <a:latin typeface="Arial" panose="020B0604020202020204" pitchFamily="34" charset="0"/>
              </a:rPr>
              <a:t>连续加工生产</a:t>
            </a:r>
          </a:p>
        </p:txBody>
      </p:sp>
      <p:sp>
        <p:nvSpPr>
          <p:cNvPr id="105480" name="AutoShape 8">
            <a:extLst>
              <a:ext uri="{FF2B5EF4-FFF2-40B4-BE49-F238E27FC236}">
                <a16:creationId xmlns:a16="http://schemas.microsoft.com/office/drawing/2014/main" id="{0E015B83-5F41-74AC-6BA8-EAD6B13833E1}"/>
              </a:ext>
            </a:extLst>
          </p:cNvPr>
          <p:cNvSpPr>
            <a:spLocks/>
          </p:cNvSpPr>
          <p:nvPr/>
        </p:nvSpPr>
        <p:spPr bwMode="auto">
          <a:xfrm>
            <a:off x="2843213" y="1052513"/>
            <a:ext cx="73025" cy="2089150"/>
          </a:xfrm>
          <a:prstGeom prst="leftBracket">
            <a:avLst>
              <a:gd name="adj" fmla="val 23840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1" name="AutoShape 9">
            <a:extLst>
              <a:ext uri="{FF2B5EF4-FFF2-40B4-BE49-F238E27FC236}">
                <a16:creationId xmlns:a16="http://schemas.microsoft.com/office/drawing/2014/main" id="{1BB81D11-4A64-2814-F9A4-E942A8B4D557}"/>
              </a:ext>
            </a:extLst>
          </p:cNvPr>
          <p:cNvSpPr>
            <a:spLocks/>
          </p:cNvSpPr>
          <p:nvPr/>
        </p:nvSpPr>
        <p:spPr bwMode="auto">
          <a:xfrm>
            <a:off x="2627313" y="2708275"/>
            <a:ext cx="144462" cy="1657350"/>
          </a:xfrm>
          <a:prstGeom prst="leftBracket">
            <a:avLst>
              <a:gd name="adj" fmla="val 95605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2" name="AutoShape 10">
            <a:extLst>
              <a:ext uri="{FF2B5EF4-FFF2-40B4-BE49-F238E27FC236}">
                <a16:creationId xmlns:a16="http://schemas.microsoft.com/office/drawing/2014/main" id="{D649634E-3279-6CD7-7C47-19552CDF5EFE}"/>
              </a:ext>
            </a:extLst>
          </p:cNvPr>
          <p:cNvSpPr>
            <a:spLocks/>
          </p:cNvSpPr>
          <p:nvPr/>
        </p:nvSpPr>
        <p:spPr bwMode="auto">
          <a:xfrm>
            <a:off x="2843213" y="3933825"/>
            <a:ext cx="73025" cy="1295400"/>
          </a:xfrm>
          <a:prstGeom prst="leftBracket">
            <a:avLst>
              <a:gd name="adj" fmla="val 14782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3" name="Text Box 11">
            <a:extLst>
              <a:ext uri="{FF2B5EF4-FFF2-40B4-BE49-F238E27FC236}">
                <a16:creationId xmlns:a16="http://schemas.microsoft.com/office/drawing/2014/main" id="{AA0DC869-F881-E27C-45FC-2F7635CE3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5516563"/>
            <a:ext cx="16557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生产系统分类</a:t>
            </a:r>
          </a:p>
        </p:txBody>
      </p:sp>
      <p:sp>
        <p:nvSpPr>
          <p:cNvPr id="105484" name="Text Box 12">
            <a:extLst>
              <a:ext uri="{FF2B5EF4-FFF2-40B4-BE49-F238E27FC236}">
                <a16:creationId xmlns:a16="http://schemas.microsoft.com/office/drawing/2014/main" id="{D8FA9BB3-D8C0-D9D9-3A75-BD6091CE5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453A58C7-5E6C-297E-222C-820E52DA5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592CBA1F-82F3-487D-0EB5-AD1AFA59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47A1A39-C05F-EFD2-1D9D-B63830EB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8E2F8-873F-44CC-BB82-C0C1694D279C}" type="slidenum">
              <a:rPr lang="en-US" altLang="zh-CN"/>
              <a:pPr/>
              <a:t>9</a:t>
            </a:fld>
            <a:endParaRPr lang="en-US" altLang="zh-CN"/>
          </a:p>
        </p:txBody>
      </p:sp>
      <p:graphicFrame>
        <p:nvGraphicFramePr>
          <p:cNvPr id="117763" name="Group 3">
            <a:extLst>
              <a:ext uri="{FF2B5EF4-FFF2-40B4-BE49-F238E27FC236}">
                <a16:creationId xmlns:a16="http://schemas.microsoft.com/office/drawing/2014/main" id="{81618D9B-4A5E-3024-4FFE-29FEDD52EB90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468313" y="1341438"/>
          <a:ext cx="8229600" cy="4448175"/>
        </p:xfrm>
        <a:graphic>
          <a:graphicData uri="http://schemas.openxmlformats.org/drawingml/2006/table">
            <a:tbl>
              <a:tblPr/>
              <a:tblGrid>
                <a:gridCol w="2314575">
                  <a:extLst>
                    <a:ext uri="{9D8B030D-6E8A-4147-A177-3AD203B41FA5}">
                      <a16:colId xmlns:a16="http://schemas.microsoft.com/office/drawing/2014/main" val="3580413002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1657545049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747053265"/>
                    </a:ext>
                  </a:extLst>
                </a:gridCol>
                <a:gridCol w="1882775">
                  <a:extLst>
                    <a:ext uri="{9D8B030D-6E8A-4147-A177-3AD203B41FA5}">
                      <a16:colId xmlns:a16="http://schemas.microsoft.com/office/drawing/2014/main" val="1029390396"/>
                    </a:ext>
                  </a:extLst>
                </a:gridCol>
              </a:tblGrid>
              <a:tr h="360363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结构特点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技术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444584"/>
                  </a:ext>
                </a:extLst>
              </a:tr>
              <a:tr h="355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单件生产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大量生产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连续生产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288990"/>
                  </a:ext>
                </a:extLst>
              </a:tr>
              <a:tr h="277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管理层次的数量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541363"/>
                  </a:ext>
                </a:extLst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监督人员的管理跨度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768825"/>
                  </a:ext>
                </a:extLst>
              </a:tr>
              <a:tr h="268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直接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间接劳动比率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∶1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∶1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∶1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318288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管理人员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总人数比率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120166"/>
                  </a:ext>
                </a:extLst>
              </a:tr>
              <a:tr h="330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工人的技能水平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923093"/>
                  </a:ext>
                </a:extLst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规范化程序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976189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集权化程度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923455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口头沟通程度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712373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书面沟通程度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909681"/>
                  </a:ext>
                </a:extLst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总体结构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有机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机械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有机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539254"/>
                  </a:ext>
                </a:extLst>
              </a:tr>
            </a:tbl>
          </a:graphicData>
        </a:graphic>
      </p:graphicFrame>
      <p:sp>
        <p:nvSpPr>
          <p:cNvPr id="117827" name="Text Box 67">
            <a:extLst>
              <a:ext uri="{FF2B5EF4-FFF2-40B4-BE49-F238E27FC236}">
                <a16:creationId xmlns:a16="http://schemas.microsoft.com/office/drawing/2014/main" id="{E5A4CFC6-F160-AFD1-14BC-4110F5E64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908050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技术复杂性与结构特点之间的关系</a:t>
            </a:r>
          </a:p>
        </p:txBody>
      </p:sp>
      <p:sp>
        <p:nvSpPr>
          <p:cNvPr id="117828" name="Text Box 68">
            <a:extLst>
              <a:ext uri="{FF2B5EF4-FFF2-40B4-BE49-F238E27FC236}">
                <a16:creationId xmlns:a16="http://schemas.microsoft.com/office/drawing/2014/main" id="{0E2C4937-D321-111D-B9D5-B4042D00E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1826C9-983F-6EDA-3048-4D56585D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FBD4A5-3083-5084-AC54-AF14A59AE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B7578D-83D9-5AA2-4E57-E26E8DAF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5351E-C1BA-4C28-8CDC-F59B810A2EB1}" type="slidenum">
              <a:rPr lang="en-US" altLang="zh-CN"/>
              <a:pPr/>
              <a:t>10</a:t>
            </a:fld>
            <a:endParaRPr lang="en-US" altLang="zh-CN"/>
          </a:p>
        </p:txBody>
      </p:sp>
      <p:graphicFrame>
        <p:nvGraphicFramePr>
          <p:cNvPr id="107546" name="Group 26">
            <a:extLst>
              <a:ext uri="{FF2B5EF4-FFF2-40B4-BE49-F238E27FC236}">
                <a16:creationId xmlns:a16="http://schemas.microsoft.com/office/drawing/2014/main" id="{4A60CE78-B541-55C0-0108-9DEC9CDF0636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539750" y="908050"/>
          <a:ext cx="7993063" cy="1844675"/>
        </p:xfrm>
        <a:graphic>
          <a:graphicData uri="http://schemas.openxmlformats.org/drawingml/2006/table">
            <a:tbl>
              <a:tblPr/>
              <a:tblGrid>
                <a:gridCol w="3997325">
                  <a:extLst>
                    <a:ext uri="{9D8B030D-6E8A-4147-A177-3AD203B41FA5}">
                      <a16:colId xmlns:a16="http://schemas.microsoft.com/office/drawing/2014/main" val="4227434726"/>
                    </a:ext>
                  </a:extLst>
                </a:gridCol>
                <a:gridCol w="3995738">
                  <a:extLst>
                    <a:ext uri="{9D8B030D-6E8A-4147-A177-3AD203B41FA5}">
                      <a16:colId xmlns:a16="http://schemas.microsoft.com/office/drawing/2014/main" val="633889476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大规模企业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小规模企业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233961"/>
                  </a:ext>
                </a:extLst>
              </a:tr>
              <a:tr h="1249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全球性经济规模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纵向层级，机械性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复杂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稳定的市场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职业经理人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区域性反应与灵活性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扁平化结构，有机性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简单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寻找适当的位置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企业家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445818"/>
                  </a:ext>
                </a:extLst>
              </a:tr>
            </a:tbl>
          </a:graphicData>
        </a:graphic>
      </p:graphicFrame>
      <p:sp>
        <p:nvSpPr>
          <p:cNvPr id="107534" name="Text Box 14">
            <a:extLst>
              <a:ext uri="{FF2B5EF4-FFF2-40B4-BE49-F238E27FC236}">
                <a16:creationId xmlns:a16="http://schemas.microsoft.com/office/drawing/2014/main" id="{EFED1789-17FF-9CE8-C2B9-5732E303A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549275"/>
            <a:ext cx="2520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大企业与小企业的比较</a:t>
            </a:r>
          </a:p>
        </p:txBody>
      </p:sp>
      <p:graphicFrame>
        <p:nvGraphicFramePr>
          <p:cNvPr id="107535" name="Group 15">
            <a:extLst>
              <a:ext uri="{FF2B5EF4-FFF2-40B4-BE49-F238E27FC236}">
                <a16:creationId xmlns:a16="http://schemas.microsoft.com/office/drawing/2014/main" id="{0190DB00-FBC8-E012-16C2-FCE89FBD2AFF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539750" y="2781300"/>
          <a:ext cx="7993063" cy="3371850"/>
        </p:xfrm>
        <a:graphic>
          <a:graphicData uri="http://schemas.openxmlformats.org/drawingml/2006/table">
            <a:tbl>
              <a:tblPr/>
              <a:tblGrid>
                <a:gridCol w="7993063">
                  <a:extLst>
                    <a:ext uri="{9D8B030D-6E8A-4147-A177-3AD203B41FA5}">
                      <a16:colId xmlns:a16="http://schemas.microsoft.com/office/drawing/2014/main" val="4226611448"/>
                    </a:ext>
                  </a:extLst>
                </a:gridCol>
              </a:tblGrid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与大企业联系的组织特点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553576"/>
                  </a:ext>
                </a:extLst>
              </a:tr>
              <a:tr h="280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管理层级数量的增加（纵向复杂性）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较多的工种和部门数量（横向复杂性）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技能和功能专业化的提高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较高的规范化的提高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较高的分权化程度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较小的高层管理人员百分比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较高的技术和专亚人员百分比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较高的办事和维修人员百分比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较大量的书面沟通和文件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72844"/>
                  </a:ext>
                </a:extLst>
              </a:tr>
            </a:tbl>
          </a:graphicData>
        </a:graphic>
      </p:graphicFrame>
      <p:sp>
        <p:nvSpPr>
          <p:cNvPr id="107543" name="Text Box 23">
            <a:extLst>
              <a:ext uri="{FF2B5EF4-FFF2-40B4-BE49-F238E27FC236}">
                <a16:creationId xmlns:a16="http://schemas.microsoft.com/office/drawing/2014/main" id="{665DBE52-3E45-DF0E-2267-072E5052C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3EE962-1790-4F01-61D7-9BE2B2E17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A5D9D1-8E9E-F88E-0D76-B9F66F373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6242C-5F7E-CD1D-14F1-FC610E3E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53AC2-3F44-471C-B623-3C25E1ED55BA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40B4EA24-EC5F-2CA7-0617-90C1AD5B8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125538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095329F7-7162-37BD-71CF-FD372087F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628775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9" name="Rectangle 5">
            <a:extLst>
              <a:ext uri="{FF2B5EF4-FFF2-40B4-BE49-F238E27FC236}">
                <a16:creationId xmlns:a16="http://schemas.microsoft.com/office/drawing/2014/main" id="{F7940840-6DBE-92F0-F4FF-05BA3A0E2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1628775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0" name="Rectangle 6">
            <a:extLst>
              <a:ext uri="{FF2B5EF4-FFF2-40B4-BE49-F238E27FC236}">
                <a16:creationId xmlns:a16="http://schemas.microsoft.com/office/drawing/2014/main" id="{EE0301D5-4090-38E3-3590-25A701FAC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13360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1" name="Rectangle 7">
            <a:extLst>
              <a:ext uri="{FF2B5EF4-FFF2-40B4-BE49-F238E27FC236}">
                <a16:creationId xmlns:a16="http://schemas.microsoft.com/office/drawing/2014/main" id="{0BF73C9D-0BDD-45BD-4AF2-0221D229D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13360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2" name="Rectangle 8">
            <a:extLst>
              <a:ext uri="{FF2B5EF4-FFF2-40B4-BE49-F238E27FC236}">
                <a16:creationId xmlns:a16="http://schemas.microsoft.com/office/drawing/2014/main" id="{DE7A8BB7-F4C4-DEFE-DFFA-344282ED3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133600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3" name="Rectangle 9">
            <a:extLst>
              <a:ext uri="{FF2B5EF4-FFF2-40B4-BE49-F238E27FC236}">
                <a16:creationId xmlns:a16="http://schemas.microsoft.com/office/drawing/2014/main" id="{80E4AAD3-67D4-3EC7-1D15-8B3B52291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13360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4" name="Rectangle 10">
            <a:extLst>
              <a:ext uri="{FF2B5EF4-FFF2-40B4-BE49-F238E27FC236}">
                <a16:creationId xmlns:a16="http://schemas.microsoft.com/office/drawing/2014/main" id="{A403573E-EE17-9A01-32E8-9DF5F3A36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13360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5" name="Rectangle 11">
            <a:extLst>
              <a:ext uri="{FF2B5EF4-FFF2-40B4-BE49-F238E27FC236}">
                <a16:creationId xmlns:a16="http://schemas.microsoft.com/office/drawing/2014/main" id="{A374C165-46E8-9B80-3DA2-4BD26A8F9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213360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6" name="Line 12">
            <a:extLst>
              <a:ext uri="{FF2B5EF4-FFF2-40B4-BE49-F238E27FC236}">
                <a16:creationId xmlns:a16="http://schemas.microsoft.com/office/drawing/2014/main" id="{40042AD3-E508-67DF-5C9B-CCE6BFC35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1989138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7" name="Line 13">
            <a:extLst>
              <a:ext uri="{FF2B5EF4-FFF2-40B4-BE49-F238E27FC236}">
                <a16:creationId xmlns:a16="http://schemas.microsoft.com/office/drawing/2014/main" id="{AF2CD813-CCC1-2AFE-CF6B-92DF253E1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19891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8" name="Line 14">
            <a:extLst>
              <a:ext uri="{FF2B5EF4-FFF2-40B4-BE49-F238E27FC236}">
                <a16:creationId xmlns:a16="http://schemas.microsoft.com/office/drawing/2014/main" id="{CC09D7FF-AB07-4B79-9200-BA7CF0F263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148431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9" name="Line 15">
            <a:extLst>
              <a:ext uri="{FF2B5EF4-FFF2-40B4-BE49-F238E27FC236}">
                <a16:creationId xmlns:a16="http://schemas.microsoft.com/office/drawing/2014/main" id="{14E829A6-2D6C-90AC-D9C5-BAD2DE3EE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191611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0" name="Line 16">
            <a:extLst>
              <a:ext uri="{FF2B5EF4-FFF2-40B4-BE49-F238E27FC236}">
                <a16:creationId xmlns:a16="http://schemas.microsoft.com/office/drawing/2014/main" id="{D0CE9806-422B-3B75-559A-93EC5E280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19891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1" name="Line 17">
            <a:extLst>
              <a:ext uri="{FF2B5EF4-FFF2-40B4-BE49-F238E27FC236}">
                <a16:creationId xmlns:a16="http://schemas.microsoft.com/office/drawing/2014/main" id="{265C2FD4-741B-F026-506B-E9D8321F5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19891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2" name="Line 18">
            <a:extLst>
              <a:ext uri="{FF2B5EF4-FFF2-40B4-BE49-F238E27FC236}">
                <a16:creationId xmlns:a16="http://schemas.microsoft.com/office/drawing/2014/main" id="{0C563CB0-29C6-7A59-DC08-E85E9BE83E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191611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3" name="Line 19">
            <a:extLst>
              <a:ext uri="{FF2B5EF4-FFF2-40B4-BE49-F238E27FC236}">
                <a16:creationId xmlns:a16="http://schemas.microsoft.com/office/drawing/2014/main" id="{8C1BE850-F4A4-5574-DDC9-1DED90B27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175" y="19891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4" name="Line 20">
            <a:extLst>
              <a:ext uri="{FF2B5EF4-FFF2-40B4-BE49-F238E27FC236}">
                <a16:creationId xmlns:a16="http://schemas.microsoft.com/office/drawing/2014/main" id="{DACDE493-5F9A-E50F-CA53-62068FDF6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148431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5" name="Line 21">
            <a:extLst>
              <a:ext uri="{FF2B5EF4-FFF2-40B4-BE49-F238E27FC236}">
                <a16:creationId xmlns:a16="http://schemas.microsoft.com/office/drawing/2014/main" id="{5E32906E-6921-360A-8CFE-4A5812ED6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1484313"/>
            <a:ext cx="2087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6" name="Line 22">
            <a:extLst>
              <a:ext uri="{FF2B5EF4-FFF2-40B4-BE49-F238E27FC236}">
                <a16:creationId xmlns:a16="http://schemas.microsoft.com/office/drawing/2014/main" id="{BBFEEF51-3504-F112-C05E-1DBD7DE85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1989138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7" name="Line 23">
            <a:extLst>
              <a:ext uri="{FF2B5EF4-FFF2-40B4-BE49-F238E27FC236}">
                <a16:creationId xmlns:a16="http://schemas.microsoft.com/office/drawing/2014/main" id="{633E5B49-FE21-6E69-4C50-E1B0F1FF44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1412875"/>
            <a:ext cx="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8" name="AutoShape 24">
            <a:extLst>
              <a:ext uri="{FF2B5EF4-FFF2-40B4-BE49-F238E27FC236}">
                <a16:creationId xmlns:a16="http://schemas.microsoft.com/office/drawing/2014/main" id="{06BC9F1B-CF5A-0EA1-F752-AD28DF804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68413"/>
            <a:ext cx="4321175" cy="1008062"/>
          </a:xfrm>
          <a:prstGeom prst="roundRect">
            <a:avLst>
              <a:gd name="adj" fmla="val 16667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9" name="Text Box 25">
            <a:extLst>
              <a:ext uri="{FF2B5EF4-FFF2-40B4-BE49-F238E27FC236}">
                <a16:creationId xmlns:a16="http://schemas.microsoft.com/office/drawing/2014/main" id="{F9A41860-2A5A-9FA2-9D55-DA4DC7968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92150"/>
            <a:ext cx="8651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>
                <a:latin typeface="Arial" panose="020B0604020202020204" pitchFamily="34" charset="0"/>
              </a:rPr>
              <a:t>美国人</a:t>
            </a:r>
          </a:p>
        </p:txBody>
      </p:sp>
      <p:sp>
        <p:nvSpPr>
          <p:cNvPr id="108570" name="Rectangle 26">
            <a:extLst>
              <a:ext uri="{FF2B5EF4-FFF2-40B4-BE49-F238E27FC236}">
                <a16:creationId xmlns:a16="http://schemas.microsoft.com/office/drawing/2014/main" id="{1FEBCF0B-0516-CA4C-D4E2-125A7EA6B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125538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1" name="Rectangle 27">
            <a:extLst>
              <a:ext uri="{FF2B5EF4-FFF2-40B4-BE49-F238E27FC236}">
                <a16:creationId xmlns:a16="http://schemas.microsoft.com/office/drawing/2014/main" id="{C02BAE0E-0488-D2B0-1929-9DF042FBE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125538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2" name="Rectangle 28">
            <a:extLst>
              <a:ext uri="{FF2B5EF4-FFF2-40B4-BE49-F238E27FC236}">
                <a16:creationId xmlns:a16="http://schemas.microsoft.com/office/drawing/2014/main" id="{37DD654F-0707-00A0-15F0-A94F73137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125538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3" name="Rectangle 29">
            <a:extLst>
              <a:ext uri="{FF2B5EF4-FFF2-40B4-BE49-F238E27FC236}">
                <a16:creationId xmlns:a16="http://schemas.microsoft.com/office/drawing/2014/main" id="{DAD61B5E-5BCB-23F3-C4CE-9E3CFE78E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1125538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4" name="Rectangle 30">
            <a:extLst>
              <a:ext uri="{FF2B5EF4-FFF2-40B4-BE49-F238E27FC236}">
                <a16:creationId xmlns:a16="http://schemas.microsoft.com/office/drawing/2014/main" id="{54437367-33A7-D5EA-AE3F-8E28640CF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125538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5" name="Rectangle 31">
            <a:extLst>
              <a:ext uri="{FF2B5EF4-FFF2-40B4-BE49-F238E27FC236}">
                <a16:creationId xmlns:a16="http://schemas.microsoft.com/office/drawing/2014/main" id="{E14BC87E-1200-C209-9837-8FF1EDF2E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1125538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6" name="Rectangle 32">
            <a:extLst>
              <a:ext uri="{FF2B5EF4-FFF2-40B4-BE49-F238E27FC236}">
                <a16:creationId xmlns:a16="http://schemas.microsoft.com/office/drawing/2014/main" id="{15927C43-4129-054E-76FD-963694869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628775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7" name="Rectangle 33">
            <a:extLst>
              <a:ext uri="{FF2B5EF4-FFF2-40B4-BE49-F238E27FC236}">
                <a16:creationId xmlns:a16="http://schemas.microsoft.com/office/drawing/2014/main" id="{DA1880A3-0BE9-7F37-648A-12C3BB653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628775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8" name="Rectangle 34">
            <a:extLst>
              <a:ext uri="{FF2B5EF4-FFF2-40B4-BE49-F238E27FC236}">
                <a16:creationId xmlns:a16="http://schemas.microsoft.com/office/drawing/2014/main" id="{545FBF41-9386-00EE-1067-0B75D2FC3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2133600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9" name="Line 35">
            <a:extLst>
              <a:ext uri="{FF2B5EF4-FFF2-40B4-BE49-F238E27FC236}">
                <a16:creationId xmlns:a16="http://schemas.microsoft.com/office/drawing/2014/main" id="{B9CF5852-8B49-11A8-7A31-67F501EAC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2060575"/>
            <a:ext cx="2089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0" name="Line 36">
            <a:extLst>
              <a:ext uri="{FF2B5EF4-FFF2-40B4-BE49-F238E27FC236}">
                <a16:creationId xmlns:a16="http://schemas.microsoft.com/office/drawing/2014/main" id="{0318F8C2-CEF2-C488-B7CF-D200F4ACF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6825" y="1557338"/>
            <a:ext cx="1366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1" name="Line 37">
            <a:extLst>
              <a:ext uri="{FF2B5EF4-FFF2-40B4-BE49-F238E27FC236}">
                <a16:creationId xmlns:a16="http://schemas.microsoft.com/office/drawing/2014/main" id="{36DA606C-D83E-156F-85EF-F102BE982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5825" y="1557338"/>
            <a:ext cx="1366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2" name="Line 38">
            <a:extLst>
              <a:ext uri="{FF2B5EF4-FFF2-40B4-BE49-F238E27FC236}">
                <a16:creationId xmlns:a16="http://schemas.microsoft.com/office/drawing/2014/main" id="{C6FB8E27-5922-2E26-F0C8-C78E1ACEC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6825" y="14128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3" name="Line 39">
            <a:extLst>
              <a:ext uri="{FF2B5EF4-FFF2-40B4-BE49-F238E27FC236}">
                <a16:creationId xmlns:a16="http://schemas.microsoft.com/office/drawing/2014/main" id="{678F21AE-AA62-4833-EC92-0487146B4A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141287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4" name="Line 40">
            <a:extLst>
              <a:ext uri="{FF2B5EF4-FFF2-40B4-BE49-F238E27FC236}">
                <a16:creationId xmlns:a16="http://schemas.microsoft.com/office/drawing/2014/main" id="{9565556B-48F2-8417-B508-91CAC3D17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14128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5" name="Line 41">
            <a:extLst>
              <a:ext uri="{FF2B5EF4-FFF2-40B4-BE49-F238E27FC236}">
                <a16:creationId xmlns:a16="http://schemas.microsoft.com/office/drawing/2014/main" id="{6358B0C2-658F-D20A-7DA1-8E9D0D918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5825" y="14128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6" name="Line 42">
            <a:extLst>
              <a:ext uri="{FF2B5EF4-FFF2-40B4-BE49-F238E27FC236}">
                <a16:creationId xmlns:a16="http://schemas.microsoft.com/office/drawing/2014/main" id="{8C8F6DF2-759B-85C4-657B-69952C5D7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5113" y="141287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7" name="Line 43">
            <a:extLst>
              <a:ext uri="{FF2B5EF4-FFF2-40B4-BE49-F238E27FC236}">
                <a16:creationId xmlns:a16="http://schemas.microsoft.com/office/drawing/2014/main" id="{092976CA-055B-D55E-D2AE-6EF5B225D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4250" y="14128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8" name="Line 44">
            <a:extLst>
              <a:ext uri="{FF2B5EF4-FFF2-40B4-BE49-F238E27FC236}">
                <a16:creationId xmlns:a16="http://schemas.microsoft.com/office/drawing/2014/main" id="{5B64A5E5-9BAC-384D-43E8-348F18C6F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191611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89" name="Line 45">
            <a:extLst>
              <a:ext uri="{FF2B5EF4-FFF2-40B4-BE49-F238E27FC236}">
                <a16:creationId xmlns:a16="http://schemas.microsoft.com/office/drawing/2014/main" id="{B23A52F0-5DF6-FCB3-A21C-05AC11B97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5113" y="191611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90" name="Line 46">
            <a:extLst>
              <a:ext uri="{FF2B5EF4-FFF2-40B4-BE49-F238E27FC236}">
                <a16:creationId xmlns:a16="http://schemas.microsoft.com/office/drawing/2014/main" id="{7E8E0E38-3AE8-F47A-4527-3AF74F298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2060575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91" name="Text Box 47">
            <a:extLst>
              <a:ext uri="{FF2B5EF4-FFF2-40B4-BE49-F238E27FC236}">
                <a16:creationId xmlns:a16="http://schemas.microsoft.com/office/drawing/2014/main" id="{1927D548-5059-BF1E-1EC3-A9A8DBAD1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692150"/>
            <a:ext cx="1081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>
                <a:latin typeface="Arial" panose="020B0604020202020204" pitchFamily="34" charset="0"/>
              </a:rPr>
              <a:t>爱尔兰人</a:t>
            </a:r>
          </a:p>
        </p:txBody>
      </p:sp>
      <p:sp>
        <p:nvSpPr>
          <p:cNvPr id="108592" name="Rectangle 48">
            <a:extLst>
              <a:ext uri="{FF2B5EF4-FFF2-40B4-BE49-F238E27FC236}">
                <a16:creationId xmlns:a16="http://schemas.microsoft.com/office/drawing/2014/main" id="{B59DE442-94C9-F923-36CE-93811226B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924175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3" name="Rectangle 49">
            <a:extLst>
              <a:ext uri="{FF2B5EF4-FFF2-40B4-BE49-F238E27FC236}">
                <a16:creationId xmlns:a16="http://schemas.microsoft.com/office/drawing/2014/main" id="{74538C24-BEA7-E1C5-5BF7-2CCB3B436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42900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4" name="Rectangle 50">
            <a:extLst>
              <a:ext uri="{FF2B5EF4-FFF2-40B4-BE49-F238E27FC236}">
                <a16:creationId xmlns:a16="http://schemas.microsoft.com/office/drawing/2014/main" id="{F9A3F9A7-87FA-750D-362A-B67C68442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42900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5" name="Rectangle 51">
            <a:extLst>
              <a:ext uri="{FF2B5EF4-FFF2-40B4-BE49-F238E27FC236}">
                <a16:creationId xmlns:a16="http://schemas.microsoft.com/office/drawing/2014/main" id="{030D0759-8BBC-5A47-405C-919F59ABD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005263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6" name="Rectangle 52">
            <a:extLst>
              <a:ext uri="{FF2B5EF4-FFF2-40B4-BE49-F238E27FC236}">
                <a16:creationId xmlns:a16="http://schemas.microsoft.com/office/drawing/2014/main" id="{1A95590E-3B8E-AEEB-F01D-5C27EFC70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005263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7" name="Rectangle 53">
            <a:extLst>
              <a:ext uri="{FF2B5EF4-FFF2-40B4-BE49-F238E27FC236}">
                <a16:creationId xmlns:a16="http://schemas.microsoft.com/office/drawing/2014/main" id="{579AA22C-F701-23FB-8822-442DB3444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005263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8" name="Rectangle 54">
            <a:extLst>
              <a:ext uri="{FF2B5EF4-FFF2-40B4-BE49-F238E27FC236}">
                <a16:creationId xmlns:a16="http://schemas.microsoft.com/office/drawing/2014/main" id="{48EDA820-E026-DCCE-4796-D0FA5F585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005263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9" name="Rectangle 55">
            <a:extLst>
              <a:ext uri="{FF2B5EF4-FFF2-40B4-BE49-F238E27FC236}">
                <a16:creationId xmlns:a16="http://schemas.microsoft.com/office/drawing/2014/main" id="{3A15A6E1-2980-7FBB-BA4E-8F82D6489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005263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00" name="Rectangle 56">
            <a:extLst>
              <a:ext uri="{FF2B5EF4-FFF2-40B4-BE49-F238E27FC236}">
                <a16:creationId xmlns:a16="http://schemas.microsoft.com/office/drawing/2014/main" id="{31FDFBFD-32E3-1F7B-772A-C0771ABF7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005263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01" name="Line 57">
            <a:extLst>
              <a:ext uri="{FF2B5EF4-FFF2-40B4-BE49-F238E27FC236}">
                <a16:creationId xmlns:a16="http://schemas.microsoft.com/office/drawing/2014/main" id="{B772E4A2-66E0-A930-84EB-01EC91796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386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02" name="Line 58">
            <a:extLst>
              <a:ext uri="{FF2B5EF4-FFF2-40B4-BE49-F238E27FC236}">
                <a16:creationId xmlns:a16="http://schemas.microsoft.com/office/drawing/2014/main" id="{CD55D210-4AB4-3FBF-C8D3-BC669CB0B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386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03" name="Line 59">
            <a:extLst>
              <a:ext uri="{FF2B5EF4-FFF2-40B4-BE49-F238E27FC236}">
                <a16:creationId xmlns:a16="http://schemas.microsoft.com/office/drawing/2014/main" id="{661B4AA5-ADC7-D102-5528-3FE4B1322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3284538"/>
            <a:ext cx="2087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04" name="Line 60">
            <a:extLst>
              <a:ext uri="{FF2B5EF4-FFF2-40B4-BE49-F238E27FC236}">
                <a16:creationId xmlns:a16="http://schemas.microsoft.com/office/drawing/2014/main" id="{0A333661-8292-D0A8-B24D-845493F1E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38608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05" name="Line 61">
            <a:extLst>
              <a:ext uri="{FF2B5EF4-FFF2-40B4-BE49-F238E27FC236}">
                <a16:creationId xmlns:a16="http://schemas.microsoft.com/office/drawing/2014/main" id="{798F6CE2-DAAF-2F07-E5FA-28F1AA41E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371633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06" name="Line 62">
            <a:extLst>
              <a:ext uri="{FF2B5EF4-FFF2-40B4-BE49-F238E27FC236}">
                <a16:creationId xmlns:a16="http://schemas.microsoft.com/office/drawing/2014/main" id="{4F763760-E7AE-7051-3619-0F6F00CF8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38608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07" name="Line 63">
            <a:extLst>
              <a:ext uri="{FF2B5EF4-FFF2-40B4-BE49-F238E27FC236}">
                <a16:creationId xmlns:a16="http://schemas.microsoft.com/office/drawing/2014/main" id="{9D5B36AB-9F42-F063-C8B1-CE4937EDB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38608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08" name="Line 64">
            <a:extLst>
              <a:ext uri="{FF2B5EF4-FFF2-40B4-BE49-F238E27FC236}">
                <a16:creationId xmlns:a16="http://schemas.microsoft.com/office/drawing/2014/main" id="{B295043A-1A08-4176-0172-9FCB6FF7A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371633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09" name="Line 65">
            <a:extLst>
              <a:ext uri="{FF2B5EF4-FFF2-40B4-BE49-F238E27FC236}">
                <a16:creationId xmlns:a16="http://schemas.microsoft.com/office/drawing/2014/main" id="{8B5B8BE0-FEE4-6577-A59D-C6E604330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175" y="38608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10" name="Line 66">
            <a:extLst>
              <a:ext uri="{FF2B5EF4-FFF2-40B4-BE49-F238E27FC236}">
                <a16:creationId xmlns:a16="http://schemas.microsoft.com/office/drawing/2014/main" id="{BFB7C04D-04E3-18B0-0FD7-085CCC2D3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32845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11" name="Line 67">
            <a:extLst>
              <a:ext uri="{FF2B5EF4-FFF2-40B4-BE49-F238E27FC236}">
                <a16:creationId xmlns:a16="http://schemas.microsoft.com/office/drawing/2014/main" id="{643A150A-EB1F-41F4-A881-34E7380A0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32845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12" name="Line 68">
            <a:extLst>
              <a:ext uri="{FF2B5EF4-FFF2-40B4-BE49-F238E27FC236}">
                <a16:creationId xmlns:a16="http://schemas.microsoft.com/office/drawing/2014/main" id="{7ED88B4D-6467-54ED-327D-B4605720C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413" y="3213100"/>
            <a:ext cx="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13" name="Line 69">
            <a:extLst>
              <a:ext uri="{FF2B5EF4-FFF2-40B4-BE49-F238E27FC236}">
                <a16:creationId xmlns:a16="http://schemas.microsoft.com/office/drawing/2014/main" id="{906D25D2-56A1-4359-516E-D98B8E6F3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113" y="3357563"/>
            <a:ext cx="8636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14" name="Line 70">
            <a:extLst>
              <a:ext uri="{FF2B5EF4-FFF2-40B4-BE49-F238E27FC236}">
                <a16:creationId xmlns:a16="http://schemas.microsoft.com/office/drawing/2014/main" id="{AF89DFE3-D4AF-D7F0-736E-AF64BC1076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2924175"/>
            <a:ext cx="79375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15" name="Line 71">
            <a:extLst>
              <a:ext uri="{FF2B5EF4-FFF2-40B4-BE49-F238E27FC236}">
                <a16:creationId xmlns:a16="http://schemas.microsoft.com/office/drawing/2014/main" id="{DF33D6BF-736B-887E-EF49-3C3F968370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088" y="3357563"/>
            <a:ext cx="936625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16" name="Line 72">
            <a:extLst>
              <a:ext uri="{FF2B5EF4-FFF2-40B4-BE49-F238E27FC236}">
                <a16:creationId xmlns:a16="http://schemas.microsoft.com/office/drawing/2014/main" id="{DC0D64FA-8193-4C98-04B2-2AD2E214C9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79613" y="2852738"/>
            <a:ext cx="8636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17" name="Text Box 73">
            <a:extLst>
              <a:ext uri="{FF2B5EF4-FFF2-40B4-BE49-F238E27FC236}">
                <a16:creationId xmlns:a16="http://schemas.microsoft.com/office/drawing/2014/main" id="{B5F8207F-3282-06EA-3249-7EB34EECC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2492375"/>
            <a:ext cx="1296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>
                <a:latin typeface="Arial" panose="020B0604020202020204" pitchFamily="34" charset="0"/>
              </a:rPr>
              <a:t>拉丁美洲人</a:t>
            </a:r>
          </a:p>
        </p:txBody>
      </p:sp>
      <p:sp>
        <p:nvSpPr>
          <p:cNvPr id="108618" name="Rectangle 74">
            <a:extLst>
              <a:ext uri="{FF2B5EF4-FFF2-40B4-BE49-F238E27FC236}">
                <a16:creationId xmlns:a16="http://schemas.microsoft.com/office/drawing/2014/main" id="{CF9B79B6-C532-3B0A-DF43-1ACD4E8CA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2924175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19" name="Rectangle 75">
            <a:extLst>
              <a:ext uri="{FF2B5EF4-FFF2-40B4-BE49-F238E27FC236}">
                <a16:creationId xmlns:a16="http://schemas.microsoft.com/office/drawing/2014/main" id="{2739FAC2-1334-6D19-92D0-3BFA66024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429000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20" name="Rectangle 76">
            <a:extLst>
              <a:ext uri="{FF2B5EF4-FFF2-40B4-BE49-F238E27FC236}">
                <a16:creationId xmlns:a16="http://schemas.microsoft.com/office/drawing/2014/main" id="{14E86C19-C0FA-7F0F-E6FB-2F2BD9DCD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42900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21" name="Rectangle 77">
            <a:extLst>
              <a:ext uri="{FF2B5EF4-FFF2-40B4-BE49-F238E27FC236}">
                <a16:creationId xmlns:a16="http://schemas.microsoft.com/office/drawing/2014/main" id="{D94A837C-59BC-0F47-403F-C59A0A40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429000"/>
            <a:ext cx="576263" cy="2873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22" name="Rectangle 78">
            <a:extLst>
              <a:ext uri="{FF2B5EF4-FFF2-40B4-BE49-F238E27FC236}">
                <a16:creationId xmlns:a16="http://schemas.microsoft.com/office/drawing/2014/main" id="{21E4057A-CF0F-A6FD-BAC7-CCA799820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342900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23" name="Rectangle 79">
            <a:extLst>
              <a:ext uri="{FF2B5EF4-FFF2-40B4-BE49-F238E27FC236}">
                <a16:creationId xmlns:a16="http://schemas.microsoft.com/office/drawing/2014/main" id="{B7E05C49-1120-771D-5521-F9E11A537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005263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24" name="Rectangle 80">
            <a:extLst>
              <a:ext uri="{FF2B5EF4-FFF2-40B4-BE49-F238E27FC236}">
                <a16:creationId xmlns:a16="http://schemas.microsoft.com/office/drawing/2014/main" id="{079DFB2C-738B-1B62-4440-C3D44BB31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005263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25" name="Rectangle 81">
            <a:extLst>
              <a:ext uri="{FF2B5EF4-FFF2-40B4-BE49-F238E27FC236}">
                <a16:creationId xmlns:a16="http://schemas.microsoft.com/office/drawing/2014/main" id="{64F00679-456D-832B-90DF-7EF88620B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005263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26" name="Rectangle 82">
            <a:extLst>
              <a:ext uri="{FF2B5EF4-FFF2-40B4-BE49-F238E27FC236}">
                <a16:creationId xmlns:a16="http://schemas.microsoft.com/office/drawing/2014/main" id="{2E03B526-99DB-B7E7-0652-9636D40E2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4005263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27" name="Rectangle 83">
            <a:extLst>
              <a:ext uri="{FF2B5EF4-FFF2-40B4-BE49-F238E27FC236}">
                <a16:creationId xmlns:a16="http://schemas.microsoft.com/office/drawing/2014/main" id="{DC146C00-6689-FFEF-20C6-963F6189C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913" y="4005263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28" name="Line 84">
            <a:extLst>
              <a:ext uri="{FF2B5EF4-FFF2-40B4-BE49-F238E27FC236}">
                <a16:creationId xmlns:a16="http://schemas.microsoft.com/office/drawing/2014/main" id="{F48666A3-977A-8435-B0AF-7E29381E8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3284538"/>
            <a:ext cx="2736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29" name="Line 85">
            <a:extLst>
              <a:ext uri="{FF2B5EF4-FFF2-40B4-BE49-F238E27FC236}">
                <a16:creationId xmlns:a16="http://schemas.microsoft.com/office/drawing/2014/main" id="{214C5D74-51E0-91A1-2DD8-B4B56A6BE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32845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0" name="Line 86">
            <a:extLst>
              <a:ext uri="{FF2B5EF4-FFF2-40B4-BE49-F238E27FC236}">
                <a16:creationId xmlns:a16="http://schemas.microsoft.com/office/drawing/2014/main" id="{B40C83C9-DEBA-C9BA-D06A-257CD856E9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32845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1" name="Line 87">
            <a:extLst>
              <a:ext uri="{FF2B5EF4-FFF2-40B4-BE49-F238E27FC236}">
                <a16:creationId xmlns:a16="http://schemas.microsoft.com/office/drawing/2014/main" id="{2BCA3788-F8F1-242F-7DCE-B3D12B1D3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32845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2" name="Line 88">
            <a:extLst>
              <a:ext uri="{FF2B5EF4-FFF2-40B4-BE49-F238E27FC236}">
                <a16:creationId xmlns:a16="http://schemas.microsoft.com/office/drawing/2014/main" id="{4CA1E1EE-76F8-D790-86D6-8909B3573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32845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3" name="Line 89">
            <a:extLst>
              <a:ext uri="{FF2B5EF4-FFF2-40B4-BE49-F238E27FC236}">
                <a16:creationId xmlns:a16="http://schemas.microsoft.com/office/drawing/2014/main" id="{AD3F441A-26A0-59A8-877F-D30437615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35734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4" name="Line 90">
            <a:extLst>
              <a:ext uri="{FF2B5EF4-FFF2-40B4-BE49-F238E27FC236}">
                <a16:creationId xmlns:a16="http://schemas.microsoft.com/office/drawing/2014/main" id="{DA91471E-545A-148F-5E0C-2E6E3BA6D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3573463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5" name="Line 91">
            <a:extLst>
              <a:ext uri="{FF2B5EF4-FFF2-40B4-BE49-F238E27FC236}">
                <a16:creationId xmlns:a16="http://schemas.microsoft.com/office/drawing/2014/main" id="{D03702CD-43B2-2739-BE62-71792B995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35734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6" name="Line 92">
            <a:extLst>
              <a:ext uri="{FF2B5EF4-FFF2-40B4-BE49-F238E27FC236}">
                <a16:creationId xmlns:a16="http://schemas.microsoft.com/office/drawing/2014/main" id="{C4BF076B-DCB5-C896-3A49-8E9DAB2BAD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414972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7" name="Line 93">
            <a:extLst>
              <a:ext uri="{FF2B5EF4-FFF2-40B4-BE49-F238E27FC236}">
                <a16:creationId xmlns:a16="http://schemas.microsoft.com/office/drawing/2014/main" id="{80E370A0-3A0D-7578-CF57-F30922D54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4149725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8" name="Line 94">
            <a:extLst>
              <a:ext uri="{FF2B5EF4-FFF2-40B4-BE49-F238E27FC236}">
                <a16:creationId xmlns:a16="http://schemas.microsoft.com/office/drawing/2014/main" id="{8D8EA007-4C5C-FC0D-F55C-39820F06DB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4388" y="4149725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39" name="Line 95">
            <a:extLst>
              <a:ext uri="{FF2B5EF4-FFF2-40B4-BE49-F238E27FC236}">
                <a16:creationId xmlns:a16="http://schemas.microsoft.com/office/drawing/2014/main" id="{66F27CFB-856B-0B3B-68FA-4D6A92FDD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988" y="414972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40" name="Text Box 96">
            <a:extLst>
              <a:ext uri="{FF2B5EF4-FFF2-40B4-BE49-F238E27FC236}">
                <a16:creationId xmlns:a16="http://schemas.microsoft.com/office/drawing/2014/main" id="{C21BA5D6-BB7B-4CFC-842E-38C0B4E79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492375"/>
            <a:ext cx="8651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>
                <a:latin typeface="Arial" panose="020B0604020202020204" pitchFamily="34" charset="0"/>
              </a:rPr>
              <a:t>英国人</a:t>
            </a:r>
          </a:p>
        </p:txBody>
      </p:sp>
      <p:sp>
        <p:nvSpPr>
          <p:cNvPr id="108641" name="Line 97">
            <a:extLst>
              <a:ext uri="{FF2B5EF4-FFF2-40B4-BE49-F238E27FC236}">
                <a16:creationId xmlns:a16="http://schemas.microsoft.com/office/drawing/2014/main" id="{2BFB2F9C-00B7-E1B0-B927-9C564C480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3213100"/>
            <a:ext cx="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42" name="Rectangle 98">
            <a:extLst>
              <a:ext uri="{FF2B5EF4-FFF2-40B4-BE49-F238E27FC236}">
                <a16:creationId xmlns:a16="http://schemas.microsoft.com/office/drawing/2014/main" id="{8F7646CE-B959-2D16-6A4E-81968AB44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941888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43" name="Rectangle 99">
            <a:extLst>
              <a:ext uri="{FF2B5EF4-FFF2-40B4-BE49-F238E27FC236}">
                <a16:creationId xmlns:a16="http://schemas.microsoft.com/office/drawing/2014/main" id="{1AE7903A-493C-3428-BF8C-FF7F17129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5300663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44" name="Rectangle 100">
            <a:extLst>
              <a:ext uri="{FF2B5EF4-FFF2-40B4-BE49-F238E27FC236}">
                <a16:creationId xmlns:a16="http://schemas.microsoft.com/office/drawing/2014/main" id="{A27976A9-425B-AB6A-5C27-D9AE4760A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084763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45" name="Rectangle 101">
            <a:extLst>
              <a:ext uri="{FF2B5EF4-FFF2-40B4-BE49-F238E27FC236}">
                <a16:creationId xmlns:a16="http://schemas.microsoft.com/office/drawing/2014/main" id="{83D782BE-F93E-FA22-047E-C902061C9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373688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46" name="Rectangle 102">
            <a:extLst>
              <a:ext uri="{FF2B5EF4-FFF2-40B4-BE49-F238E27FC236}">
                <a16:creationId xmlns:a16="http://schemas.microsoft.com/office/drawing/2014/main" id="{7C106C3C-6E91-9153-A4CD-21790693F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73405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47" name="Rectangle 103">
            <a:extLst>
              <a:ext uri="{FF2B5EF4-FFF2-40B4-BE49-F238E27FC236}">
                <a16:creationId xmlns:a16="http://schemas.microsoft.com/office/drawing/2014/main" id="{84C9A5CB-8258-803A-716D-6D901A1A1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5734050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48" name="Rectangle 104">
            <a:extLst>
              <a:ext uri="{FF2B5EF4-FFF2-40B4-BE49-F238E27FC236}">
                <a16:creationId xmlns:a16="http://schemas.microsoft.com/office/drawing/2014/main" id="{E3528083-8380-9A74-78D0-03FBAC93B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661025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49" name="Text Box 105">
            <a:extLst>
              <a:ext uri="{FF2B5EF4-FFF2-40B4-BE49-F238E27FC236}">
                <a16:creationId xmlns:a16="http://schemas.microsoft.com/office/drawing/2014/main" id="{747EC43B-A782-AC1A-40E1-CD4C8C05D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4508500"/>
            <a:ext cx="1079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>
                <a:latin typeface="Arial" panose="020B0604020202020204" pitchFamily="34" charset="0"/>
              </a:rPr>
              <a:t>阿拉伯人</a:t>
            </a:r>
          </a:p>
        </p:txBody>
      </p:sp>
      <p:sp>
        <p:nvSpPr>
          <p:cNvPr id="108650" name="Rectangle 106">
            <a:extLst>
              <a:ext uri="{FF2B5EF4-FFF2-40B4-BE49-F238E27FC236}">
                <a16:creationId xmlns:a16="http://schemas.microsoft.com/office/drawing/2014/main" id="{8590F6B9-9185-456F-2147-E60612D29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941888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1" name="Rectangle 107">
            <a:extLst>
              <a:ext uri="{FF2B5EF4-FFF2-40B4-BE49-F238E27FC236}">
                <a16:creationId xmlns:a16="http://schemas.microsoft.com/office/drawing/2014/main" id="{13A9243F-7933-36EF-D629-5ACD58726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941888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2" name="Rectangle 108">
            <a:extLst>
              <a:ext uri="{FF2B5EF4-FFF2-40B4-BE49-F238E27FC236}">
                <a16:creationId xmlns:a16="http://schemas.microsoft.com/office/drawing/2014/main" id="{B6C3D8B3-98AD-41D4-8DCD-7241C20C9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941888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3" name="Rectangle 109">
            <a:extLst>
              <a:ext uri="{FF2B5EF4-FFF2-40B4-BE49-F238E27FC236}">
                <a16:creationId xmlns:a16="http://schemas.microsoft.com/office/drawing/2014/main" id="{DC37500A-C007-74BC-3B06-BF3879C77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913" y="4941888"/>
            <a:ext cx="5762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4" name="Rectangle 110">
            <a:extLst>
              <a:ext uri="{FF2B5EF4-FFF2-40B4-BE49-F238E27FC236}">
                <a16:creationId xmlns:a16="http://schemas.microsoft.com/office/drawing/2014/main" id="{EC4D2120-B843-2E39-2947-406AC3C5D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51656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5" name="Rectangle 111">
            <a:extLst>
              <a:ext uri="{FF2B5EF4-FFF2-40B4-BE49-F238E27FC236}">
                <a16:creationId xmlns:a16="http://schemas.microsoft.com/office/drawing/2014/main" id="{2D74673B-BD66-2893-CE24-0F34B64FE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51656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6" name="Rectangle 112">
            <a:extLst>
              <a:ext uri="{FF2B5EF4-FFF2-40B4-BE49-F238E27FC236}">
                <a16:creationId xmlns:a16="http://schemas.microsoft.com/office/drawing/2014/main" id="{90F3C3D0-FB8B-B702-7733-A6DB1B7C5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516563"/>
            <a:ext cx="287338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7" name="Rectangle 113">
            <a:extLst>
              <a:ext uri="{FF2B5EF4-FFF2-40B4-BE49-F238E27FC236}">
                <a16:creationId xmlns:a16="http://schemas.microsoft.com/office/drawing/2014/main" id="{8225F863-F5E6-624B-386F-E2EFCA6EE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551656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8" name="Rectangle 114">
            <a:extLst>
              <a:ext uri="{FF2B5EF4-FFF2-40B4-BE49-F238E27FC236}">
                <a16:creationId xmlns:a16="http://schemas.microsoft.com/office/drawing/2014/main" id="{A9B5419F-8502-E7EC-32EF-043FD46AA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4941888"/>
            <a:ext cx="576263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9" name="Rectangle 115">
            <a:extLst>
              <a:ext uri="{FF2B5EF4-FFF2-40B4-BE49-F238E27FC236}">
                <a16:creationId xmlns:a16="http://schemas.microsoft.com/office/drawing/2014/main" id="{E68D9AC6-2D83-0C20-C652-7B56A32DB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551656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60" name="Rectangle 116">
            <a:extLst>
              <a:ext uri="{FF2B5EF4-FFF2-40B4-BE49-F238E27FC236}">
                <a16:creationId xmlns:a16="http://schemas.microsoft.com/office/drawing/2014/main" id="{CC077CF4-FB01-1D4A-23EE-11BC50976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551656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61" name="Rectangle 117">
            <a:extLst>
              <a:ext uri="{FF2B5EF4-FFF2-40B4-BE49-F238E27FC236}">
                <a16:creationId xmlns:a16="http://schemas.microsoft.com/office/drawing/2014/main" id="{8E53D08B-4833-01A7-44CF-6D1C75DDB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551656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62" name="Rectangle 118">
            <a:extLst>
              <a:ext uri="{FF2B5EF4-FFF2-40B4-BE49-F238E27FC236}">
                <a16:creationId xmlns:a16="http://schemas.microsoft.com/office/drawing/2014/main" id="{DE382C66-CF14-8D5C-983D-0EA5E3B6B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551656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63" name="Rectangle 119">
            <a:extLst>
              <a:ext uri="{FF2B5EF4-FFF2-40B4-BE49-F238E27FC236}">
                <a16:creationId xmlns:a16="http://schemas.microsoft.com/office/drawing/2014/main" id="{54CCD915-D3A9-CCB4-E728-C4637622D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5688" y="551656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64" name="Rectangle 120">
            <a:extLst>
              <a:ext uri="{FF2B5EF4-FFF2-40B4-BE49-F238E27FC236}">
                <a16:creationId xmlns:a16="http://schemas.microsoft.com/office/drawing/2014/main" id="{076D0BDB-FC87-475F-A6D5-1BC75D064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5516563"/>
            <a:ext cx="287337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65" name="Line 121">
            <a:extLst>
              <a:ext uri="{FF2B5EF4-FFF2-40B4-BE49-F238E27FC236}">
                <a16:creationId xmlns:a16="http://schemas.microsoft.com/office/drawing/2014/main" id="{B9705588-6A41-BCEC-CEE3-E9EFDD155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537368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66" name="Line 122">
            <a:extLst>
              <a:ext uri="{FF2B5EF4-FFF2-40B4-BE49-F238E27FC236}">
                <a16:creationId xmlns:a16="http://schemas.microsoft.com/office/drawing/2014/main" id="{F185D23F-9531-1E85-E4A9-0A94C9DD1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537368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67" name="Line 123">
            <a:extLst>
              <a:ext uri="{FF2B5EF4-FFF2-40B4-BE49-F238E27FC236}">
                <a16:creationId xmlns:a16="http://schemas.microsoft.com/office/drawing/2014/main" id="{45ECB113-CE45-9444-AA07-1EFAF7027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5373688"/>
            <a:ext cx="43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68" name="Line 124">
            <a:extLst>
              <a:ext uri="{FF2B5EF4-FFF2-40B4-BE49-F238E27FC236}">
                <a16:creationId xmlns:a16="http://schemas.microsoft.com/office/drawing/2014/main" id="{6CAF8AA8-C3BE-C1CF-DBA2-0906AB2055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37368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69" name="Line 125">
            <a:extLst>
              <a:ext uri="{FF2B5EF4-FFF2-40B4-BE49-F238E27FC236}">
                <a16:creationId xmlns:a16="http://schemas.microsoft.com/office/drawing/2014/main" id="{B4F36A06-801A-D3AC-1896-32049F99B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6913" y="5373688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0" name="Line 126">
            <a:extLst>
              <a:ext uri="{FF2B5EF4-FFF2-40B4-BE49-F238E27FC236}">
                <a16:creationId xmlns:a16="http://schemas.microsoft.com/office/drawing/2014/main" id="{318A7473-D7AC-AB83-C491-A73F36CB15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1" name="Line 127">
            <a:extLst>
              <a:ext uri="{FF2B5EF4-FFF2-40B4-BE49-F238E27FC236}">
                <a16:creationId xmlns:a16="http://schemas.microsoft.com/office/drawing/2014/main" id="{2BEE94B2-8670-F5C6-4AA5-387AECDD3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2" name="Line 128">
            <a:extLst>
              <a:ext uri="{FF2B5EF4-FFF2-40B4-BE49-F238E27FC236}">
                <a16:creationId xmlns:a16="http://schemas.microsoft.com/office/drawing/2014/main" id="{FE093EA4-357E-35F3-D85B-0DB91055F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3" name="Line 129">
            <a:extLst>
              <a:ext uri="{FF2B5EF4-FFF2-40B4-BE49-F238E27FC236}">
                <a16:creationId xmlns:a16="http://schemas.microsoft.com/office/drawing/2014/main" id="{B15FBCBB-FEB8-8C69-946B-9330B8BF9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4" name="Line 130">
            <a:extLst>
              <a:ext uri="{FF2B5EF4-FFF2-40B4-BE49-F238E27FC236}">
                <a16:creationId xmlns:a16="http://schemas.microsoft.com/office/drawing/2014/main" id="{C5D4BC30-CAA4-96D2-6202-AB7D01BFCA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5" name="Line 131">
            <a:extLst>
              <a:ext uri="{FF2B5EF4-FFF2-40B4-BE49-F238E27FC236}">
                <a16:creationId xmlns:a16="http://schemas.microsoft.com/office/drawing/2014/main" id="{4FE01A8D-C8CD-0C5E-5E8E-D8F1F53269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6" name="Line 132">
            <a:extLst>
              <a:ext uri="{FF2B5EF4-FFF2-40B4-BE49-F238E27FC236}">
                <a16:creationId xmlns:a16="http://schemas.microsoft.com/office/drawing/2014/main" id="{9F939731-757A-47EC-30FE-6CF34BA3D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7" name="Line 133">
            <a:extLst>
              <a:ext uri="{FF2B5EF4-FFF2-40B4-BE49-F238E27FC236}">
                <a16:creationId xmlns:a16="http://schemas.microsoft.com/office/drawing/2014/main" id="{F1D117D3-D15C-4389-9CB7-7B640A87A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6550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8" name="Line 134">
            <a:extLst>
              <a:ext uri="{FF2B5EF4-FFF2-40B4-BE49-F238E27FC236}">
                <a16:creationId xmlns:a16="http://schemas.microsoft.com/office/drawing/2014/main" id="{3A6461F9-2169-5BAA-70C5-4D5B4560E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6913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79" name="Line 135">
            <a:extLst>
              <a:ext uri="{FF2B5EF4-FFF2-40B4-BE49-F238E27FC236}">
                <a16:creationId xmlns:a16="http://schemas.microsoft.com/office/drawing/2014/main" id="{29F881E0-43FF-6A12-ED2F-4E81AF3BC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0150" y="537368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80" name="Line 136">
            <a:extLst>
              <a:ext uri="{FF2B5EF4-FFF2-40B4-BE49-F238E27FC236}">
                <a16:creationId xmlns:a16="http://schemas.microsoft.com/office/drawing/2014/main" id="{A79379AE-3536-4295-0610-2D6E79298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52292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81" name="Line 137">
            <a:extLst>
              <a:ext uri="{FF2B5EF4-FFF2-40B4-BE49-F238E27FC236}">
                <a16:creationId xmlns:a16="http://schemas.microsoft.com/office/drawing/2014/main" id="{350801F6-014F-933B-5B3F-DD81B2593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52292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82" name="Line 138">
            <a:extLst>
              <a:ext uri="{FF2B5EF4-FFF2-40B4-BE49-F238E27FC236}">
                <a16:creationId xmlns:a16="http://schemas.microsoft.com/office/drawing/2014/main" id="{0EEED947-9CBE-BD6C-661E-C42F8E936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52292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83" name="Line 139">
            <a:extLst>
              <a:ext uri="{FF2B5EF4-FFF2-40B4-BE49-F238E27FC236}">
                <a16:creationId xmlns:a16="http://schemas.microsoft.com/office/drawing/2014/main" id="{3B249B10-B245-B875-D1B1-0552F58BD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0650" y="52292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84" name="Line 140">
            <a:extLst>
              <a:ext uri="{FF2B5EF4-FFF2-40B4-BE49-F238E27FC236}">
                <a16:creationId xmlns:a16="http://schemas.microsoft.com/office/drawing/2014/main" id="{7434CBE7-5D40-420D-3134-36F9B092F9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52292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685" name="Text Box 141">
            <a:extLst>
              <a:ext uri="{FF2B5EF4-FFF2-40B4-BE49-F238E27FC236}">
                <a16:creationId xmlns:a16="http://schemas.microsoft.com/office/drawing/2014/main" id="{E8EA1717-4363-F659-77F2-398A0B8BC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4508500"/>
            <a:ext cx="1079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>
                <a:latin typeface="Arial" panose="020B0604020202020204" pitchFamily="34" charset="0"/>
              </a:rPr>
              <a:t>意大利人</a:t>
            </a:r>
          </a:p>
        </p:txBody>
      </p:sp>
      <p:sp>
        <p:nvSpPr>
          <p:cNvPr id="108686" name="Text Box 142">
            <a:extLst>
              <a:ext uri="{FF2B5EF4-FFF2-40B4-BE49-F238E27FC236}">
                <a16:creationId xmlns:a16="http://schemas.microsoft.com/office/drawing/2014/main" id="{EE9FF435-2A28-653F-F145-3D43DB1CE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404813"/>
            <a:ext cx="1871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文化与组织结构</a:t>
            </a:r>
          </a:p>
        </p:txBody>
      </p:sp>
      <p:sp>
        <p:nvSpPr>
          <p:cNvPr id="108687" name="Text Box 143">
            <a:extLst>
              <a:ext uri="{FF2B5EF4-FFF2-40B4-BE49-F238E27FC236}">
                <a16:creationId xmlns:a16="http://schemas.microsoft.com/office/drawing/2014/main" id="{1EE24705-FF08-EEA9-3181-0D863455C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398A8EC7-8E3F-4C5D-F8B1-8FFBBFC8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082198BC-A02D-8BC8-50A2-34C01DE30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2981ADD4-7FA9-006C-F804-6AF41FD8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527ED-EA38-4E78-ABAC-D9C14311A3F6}" type="slidenum">
              <a:rPr lang="en-US" altLang="zh-CN"/>
              <a:pPr/>
              <a:t>12</a:t>
            </a:fld>
            <a:endParaRPr lang="en-US" altLang="zh-CN"/>
          </a:p>
        </p:txBody>
      </p:sp>
      <p:graphicFrame>
        <p:nvGraphicFramePr>
          <p:cNvPr id="93348" name="Group 164">
            <a:extLst>
              <a:ext uri="{FF2B5EF4-FFF2-40B4-BE49-F238E27FC236}">
                <a16:creationId xmlns:a16="http://schemas.microsoft.com/office/drawing/2014/main" id="{9517DD80-4DDE-9661-8402-772112747AB3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395288" y="836613"/>
          <a:ext cx="8424862" cy="5384800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3689279278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968799798"/>
                    </a:ext>
                  </a:extLst>
                </a:gridCol>
                <a:gridCol w="2449512">
                  <a:extLst>
                    <a:ext uri="{9D8B030D-6E8A-4147-A177-3AD203B41FA5}">
                      <a16:colId xmlns:a16="http://schemas.microsoft.com/office/drawing/2014/main" val="2991037881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743221811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408138004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组织类型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结构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特征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适用情况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935075"/>
                  </a:ext>
                </a:extLst>
              </a:tr>
              <a:tr h="1017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简单式结构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复杂程度低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正式程度低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集中成度高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很少分工、程序和规章，没有或很少参谋人员，没有或很少管理层次，非正式沟通。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简单而变动的环境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处于草创时期、规模较小的组织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095737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机械官僚式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复杂程度高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正式程度高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集中程度高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强调专业分工，工作程序标准化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简单和稳定的环境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竞争非常小和成熟的组织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922648"/>
                  </a:ext>
                </a:extLst>
              </a:tr>
              <a:tr h="946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专业官僚式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复杂程度高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正式程度高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集中程度低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工作标准内生化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权力下放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稳定而复杂的环境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主要工作由专业人员担任，以非常明确但又难以学习的工作程序为主要执行手段的组织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88650"/>
                  </a:ext>
                </a:extLst>
              </a:tr>
              <a:tr h="928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分部式结构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由若干准自主性单位与中央集中管理相结合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既不十分复杂，又不十分变动的环境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市场多样性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706645"/>
                  </a:ext>
                </a:extLst>
              </a:tr>
              <a:tr h="563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专案式结构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依赖集体努力解决、从未接触过的问题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复杂和变动的环境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项目任务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968852"/>
                  </a:ext>
                </a:extLst>
              </a:tr>
              <a:tr h="555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矩阵式结构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按职能划分部门和按产品划分部门的相结合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复杂和变动的环境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新产品开发，技术创新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738646"/>
                  </a:ext>
                </a:extLst>
              </a:tr>
            </a:tbl>
          </a:graphicData>
        </a:graphic>
      </p:graphicFrame>
      <p:sp>
        <p:nvSpPr>
          <p:cNvPr id="93340" name="Text Box 156">
            <a:extLst>
              <a:ext uri="{FF2B5EF4-FFF2-40B4-BE49-F238E27FC236}">
                <a16:creationId xmlns:a16="http://schemas.microsoft.com/office/drawing/2014/main" id="{97ADDA80-F04D-8CAD-CF3F-9DBC36203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  <p:sp>
        <p:nvSpPr>
          <p:cNvPr id="93349" name="Text Box 165">
            <a:extLst>
              <a:ext uri="{FF2B5EF4-FFF2-40B4-BE49-F238E27FC236}">
                <a16:creationId xmlns:a16="http://schemas.microsoft.com/office/drawing/2014/main" id="{FF28C6EB-3895-D69D-1005-BE46D0DC0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404813"/>
            <a:ext cx="2087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>
                <a:ea typeface="黑体" panose="02010609060101010101" pitchFamily="49" charset="-122"/>
              </a:rPr>
              <a:t>几种常见组织形式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F2C017DE-CB09-CEC8-A847-51228E61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209C4B8E-D702-E568-8EAF-38F21DAA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9CBD50F-A83D-EFC2-004E-B30CEACA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5047-C151-4510-BEB0-141D99C9CE01}" type="slidenum">
              <a:rPr lang="en-US" altLang="zh-CN"/>
              <a:pPr/>
              <a:t>13</a:t>
            </a:fld>
            <a:endParaRPr lang="en-US" altLang="zh-CN"/>
          </a:p>
        </p:txBody>
      </p:sp>
      <p:graphicFrame>
        <p:nvGraphicFramePr>
          <p:cNvPr id="115714" name="Group 2">
            <a:extLst>
              <a:ext uri="{FF2B5EF4-FFF2-40B4-BE49-F238E27FC236}">
                <a16:creationId xmlns:a16="http://schemas.microsoft.com/office/drawing/2014/main" id="{9C36C994-3B25-0D3C-7559-C7DB64D314C1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468313" y="1484313"/>
          <a:ext cx="8229600" cy="3959225"/>
        </p:xfrm>
        <a:graphic>
          <a:graphicData uri="http://schemas.openxmlformats.org/drawingml/2006/table">
            <a:tbl>
              <a:tblPr/>
              <a:tblGrid>
                <a:gridCol w="1811337">
                  <a:extLst>
                    <a:ext uri="{9D8B030D-6E8A-4147-A177-3AD203B41FA5}">
                      <a16:colId xmlns:a16="http://schemas.microsoft.com/office/drawing/2014/main" val="4134285515"/>
                    </a:ext>
                  </a:extLst>
                </a:gridCol>
                <a:gridCol w="6418263">
                  <a:extLst>
                    <a:ext uri="{9D8B030D-6E8A-4147-A177-3AD203B41FA5}">
                      <a16:colId xmlns:a16="http://schemas.microsoft.com/office/drawing/2014/main" val="734710616"/>
                    </a:ext>
                  </a:extLst>
                </a:gridCol>
              </a:tblGrid>
              <a:tr h="1079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网络组织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将企业内各项工作（包括生产、销售、会计等）通过承包合同交给不同的专门企业担当，公司只保留人数有限的雇员，主要工作是制定政策和协调与各承包商的关系。这种组织结构形式减轻管理成本，应变能力也很强。缺点是公司对个承包商的控制有限。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066167"/>
                  </a:ext>
                </a:extLst>
              </a:tr>
              <a:tr h="1554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簇群组织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将公司员工组编成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人至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的簇群，每个簇群包括不同专业的人才，大家紧密合作，通过团队全力负责一项业务计划或主要管理一项产品。在这种组织结构形式下，企业中废除了中层管理人员，采用集体领导、集体负责制。每个员工需要同时担任多项任务，通过集思广益，改善沟通和决策的质量。这种组织结构形式对员工的要求较高，成员的搭配与领导素质犹为重要。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495330"/>
                  </a:ext>
                </a:extLst>
              </a:tr>
              <a:tr h="1322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水平化组织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这种组织内，组织结构是根据工作流程或经营过程（而不是职能部门）来设计的，基本的组织单位是过程小组。小组之间环环相扣，各自承担特定的职责来完成整个经营过程。高层的管理工作主要是协调各小组的工作，加强他们之间的联系而非由上而下的发号施令。组织的最终目的是通过权力下放及合理安排工作，提高企业的总体效能。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85523"/>
                  </a:ext>
                </a:extLst>
              </a:tr>
            </a:tbl>
          </a:graphicData>
        </a:graphic>
      </p:graphicFrame>
      <p:sp>
        <p:nvSpPr>
          <p:cNvPr id="115728" name="Text Box 16">
            <a:extLst>
              <a:ext uri="{FF2B5EF4-FFF2-40B4-BE49-F238E27FC236}">
                <a16:creationId xmlns:a16="http://schemas.microsoft.com/office/drawing/2014/main" id="{3266B384-E24F-2962-CA18-2B1880962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981075"/>
            <a:ext cx="23034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组织设计的新形式</a:t>
            </a:r>
          </a:p>
        </p:txBody>
      </p:sp>
      <p:sp>
        <p:nvSpPr>
          <p:cNvPr id="115730" name="Text Box 18">
            <a:extLst>
              <a:ext uri="{FF2B5EF4-FFF2-40B4-BE49-F238E27FC236}">
                <a16:creationId xmlns:a16="http://schemas.microsoft.com/office/drawing/2014/main" id="{31B64CE9-1AAF-3B55-4FDE-A960D18E1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CN" sz="1600">
                <a:latin typeface="Arial" panose="020B0604020202020204" pitchFamily="34" charset="0"/>
              </a:rPr>
              <a:t>9.1</a:t>
            </a:r>
            <a:r>
              <a:rPr kumimoji="0" lang="zh-CN" altLang="en-US" sz="1600">
                <a:latin typeface="Arial" panose="020B0604020202020204" pitchFamily="34" charset="0"/>
              </a:rPr>
              <a:t>组织结构设计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61A0A7-56D3-E524-2EC8-9765991C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B1EBA4-E82C-5C5C-7ECB-6789DF50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CEC7B6-47A4-8BD2-47F3-5526124D1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6D19-F25F-471D-9ACB-BAF785211BAC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62735D53-EC81-1B25-C17B-A5DF7F1ED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tx2"/>
                </a:solidFill>
              </a:rPr>
              <a:t>9.2</a:t>
            </a:r>
            <a:r>
              <a:rPr lang="zh-CN" altLang="en-US" sz="1600">
                <a:solidFill>
                  <a:schemeClr val="tx2"/>
                </a:solidFill>
              </a:rPr>
              <a:t>领导制度设计</a:t>
            </a:r>
          </a:p>
        </p:txBody>
      </p:sp>
      <p:graphicFrame>
        <p:nvGraphicFramePr>
          <p:cNvPr id="69764" name="Group 132">
            <a:extLst>
              <a:ext uri="{FF2B5EF4-FFF2-40B4-BE49-F238E27FC236}">
                <a16:creationId xmlns:a16="http://schemas.microsoft.com/office/drawing/2014/main" id="{8140487A-FB5C-E42E-D42C-8DCB5D73EC4E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684213" y="4508500"/>
          <a:ext cx="7991475" cy="1095375"/>
        </p:xfrm>
        <a:graphic>
          <a:graphicData uri="http://schemas.openxmlformats.org/drawingml/2006/table">
            <a:tbl>
              <a:tblPr/>
              <a:tblGrid>
                <a:gridCol w="1258887">
                  <a:extLst>
                    <a:ext uri="{9D8B030D-6E8A-4147-A177-3AD203B41FA5}">
                      <a16:colId xmlns:a16="http://schemas.microsoft.com/office/drawing/2014/main" val="3317859349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620583820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4275509449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3680003466"/>
                    </a:ext>
                  </a:extLst>
                </a:gridCol>
                <a:gridCol w="1331913">
                  <a:extLst>
                    <a:ext uri="{9D8B030D-6E8A-4147-A177-3AD203B41FA5}">
                      <a16:colId xmlns:a16="http://schemas.microsoft.com/office/drawing/2014/main" val="1973013801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383167398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质量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创造性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风险偏好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接受性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速度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896567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集体决策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平均质量高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冒险与保守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容易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572002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个人决策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困难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367433"/>
                  </a:ext>
                </a:extLst>
              </a:tr>
            </a:tbl>
          </a:graphicData>
        </a:graphic>
      </p:graphicFrame>
      <p:graphicFrame>
        <p:nvGraphicFramePr>
          <p:cNvPr id="69756" name="Group 124">
            <a:extLst>
              <a:ext uri="{FF2B5EF4-FFF2-40B4-BE49-F238E27FC236}">
                <a16:creationId xmlns:a16="http://schemas.microsoft.com/office/drawing/2014/main" id="{88872AD5-4CDC-31A1-4C75-6E5BEDE8FB90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684213" y="908050"/>
          <a:ext cx="7993062" cy="3116263"/>
        </p:xfrm>
        <a:graphic>
          <a:graphicData uri="http://schemas.openxmlformats.org/drawingml/2006/table">
            <a:tbl>
              <a:tblPr/>
              <a:tblGrid>
                <a:gridCol w="1150937">
                  <a:extLst>
                    <a:ext uri="{9D8B030D-6E8A-4147-A177-3AD203B41FA5}">
                      <a16:colId xmlns:a16="http://schemas.microsoft.com/office/drawing/2014/main" val="2965844942"/>
                    </a:ext>
                  </a:extLst>
                </a:gridCol>
                <a:gridCol w="6842125">
                  <a:extLst>
                    <a:ext uri="{9D8B030D-6E8A-4147-A177-3AD203B41FA5}">
                      <a16:colId xmlns:a16="http://schemas.microsoft.com/office/drawing/2014/main" val="415515877"/>
                    </a:ext>
                  </a:extLst>
                </a:gridCol>
              </a:tblGrid>
              <a:tr h="560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有利因素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集体中存在较多的综合性知识和信息，在决策过程中可以集思广益，提高决策的质量；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集体决策允许大家参加并发挥作用，可从多种角度提出不同的方案，使得考虑周密全面：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集体的决策成为大家的决议，会使更多人感到对问题的解决负有更大的责任和信念；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让执行决策的人员参与决策的制定，可以使他们知道决策的背景和细节，有助于对决策的理解和执行。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922654"/>
                  </a:ext>
                </a:extLst>
              </a:tr>
              <a:tr h="874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不利因素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群体压力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个人操纵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非建设性争论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052087"/>
                  </a:ext>
                </a:extLst>
              </a:tr>
            </a:tbl>
          </a:graphicData>
        </a:graphic>
      </p:graphicFrame>
      <p:sp>
        <p:nvSpPr>
          <p:cNvPr id="69754" name="Text Box 122">
            <a:extLst>
              <a:ext uri="{FF2B5EF4-FFF2-40B4-BE49-F238E27FC236}">
                <a16:creationId xmlns:a16="http://schemas.microsoft.com/office/drawing/2014/main" id="{12C3770C-4D19-FD35-E99C-7105D093D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76250"/>
            <a:ext cx="3600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>
                <a:ea typeface="黑体" panose="02010609060101010101" pitchFamily="49" charset="-122"/>
              </a:rPr>
              <a:t>集体决策的有利因素与不利因素</a:t>
            </a:r>
          </a:p>
        </p:txBody>
      </p:sp>
      <p:sp>
        <p:nvSpPr>
          <p:cNvPr id="69761" name="Text Box 129">
            <a:extLst>
              <a:ext uri="{FF2B5EF4-FFF2-40B4-BE49-F238E27FC236}">
                <a16:creationId xmlns:a16="http://schemas.microsoft.com/office/drawing/2014/main" id="{8D86EB28-FA81-7D22-9F8D-93C581515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076700"/>
            <a:ext cx="29511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>
                <a:ea typeface="黑体" panose="02010609060101010101" pitchFamily="49" charset="-122"/>
              </a:rPr>
              <a:t>集体决策与个人决策的比较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347310E4-4751-706C-74BF-F8E50FBB5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FDE3EFCB-1938-3424-77F2-49CC63EF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F411E38A-D606-5215-F771-15D37EF0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EB5E6-7B15-4FEE-AE22-F699B20ACF24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68616" name="Text Box 8">
            <a:extLst>
              <a:ext uri="{FF2B5EF4-FFF2-40B4-BE49-F238E27FC236}">
                <a16:creationId xmlns:a16="http://schemas.microsoft.com/office/drawing/2014/main" id="{F715FBE8-B5FF-32FF-1A8F-955480ECE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tx2"/>
                </a:solidFill>
              </a:rPr>
              <a:t>9.2</a:t>
            </a:r>
            <a:r>
              <a:rPr lang="zh-CN" altLang="en-US" sz="1600">
                <a:solidFill>
                  <a:schemeClr val="tx2"/>
                </a:solidFill>
              </a:rPr>
              <a:t>领导制度设计</a:t>
            </a:r>
          </a:p>
        </p:txBody>
      </p:sp>
      <p:graphicFrame>
        <p:nvGraphicFramePr>
          <p:cNvPr id="68642" name="Group 34">
            <a:extLst>
              <a:ext uri="{FF2B5EF4-FFF2-40B4-BE49-F238E27FC236}">
                <a16:creationId xmlns:a16="http://schemas.microsoft.com/office/drawing/2014/main" id="{941D28EA-064F-533E-36CC-324733CA87E3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684213" y="1484313"/>
          <a:ext cx="7772400" cy="2360612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867352879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367866238"/>
                    </a:ext>
                  </a:extLst>
                </a:gridCol>
              </a:tblGrid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指挥的概念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管理者运用职权使下属人员履行职务的过程。指挥是统一行动的要求。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794043"/>
                  </a:ext>
                </a:extLst>
              </a:tr>
              <a:tr h="101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指挥的特点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直线指挥关系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强制性、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与企业目标一致性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984003"/>
                  </a:ext>
                </a:extLst>
              </a:tr>
              <a:tr h="638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指挥的方式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统一指挥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多头指挥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944046"/>
                  </a:ext>
                </a:extLst>
              </a:tr>
            </a:tbl>
          </a:graphicData>
        </a:graphic>
      </p:graphicFrame>
      <p:sp>
        <p:nvSpPr>
          <p:cNvPr id="68638" name="Text Box 30">
            <a:extLst>
              <a:ext uri="{FF2B5EF4-FFF2-40B4-BE49-F238E27FC236}">
                <a16:creationId xmlns:a16="http://schemas.microsoft.com/office/drawing/2014/main" id="{E93FB221-A679-963D-FCD5-4152EF52F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052513"/>
            <a:ext cx="287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>
                <a:ea typeface="黑体" panose="02010609060101010101" pitchFamily="49" charset="-122"/>
              </a:rPr>
              <a:t>指挥的概念、特点和方式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87DB1543-BBEC-6891-6F25-EEC1FD335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B4709E47-77F3-934F-1571-06C0570E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0B29BD56-3AA5-5B93-AD69-7E642062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1423-5ECB-4B9F-992C-80C6C7A00E2F}" type="slidenum">
              <a:rPr lang="en-US" altLang="zh-CN"/>
              <a:pPr/>
              <a:t>16</a:t>
            </a:fld>
            <a:endParaRPr lang="en-US" altLang="zh-CN"/>
          </a:p>
        </p:txBody>
      </p:sp>
      <p:graphicFrame>
        <p:nvGraphicFramePr>
          <p:cNvPr id="96281" name="Group 25">
            <a:extLst>
              <a:ext uri="{FF2B5EF4-FFF2-40B4-BE49-F238E27FC236}">
                <a16:creationId xmlns:a16="http://schemas.microsoft.com/office/drawing/2014/main" id="{C513FDA1-7196-7D88-E3CC-6BC3F9D1D4C5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2124075" y="1557338"/>
          <a:ext cx="6048375" cy="3384550"/>
        </p:xfrm>
        <a:graphic>
          <a:graphicData uri="http://schemas.openxmlformats.org/drawingml/2006/table">
            <a:tbl>
              <a:tblPr/>
              <a:tblGrid>
                <a:gridCol w="3024188">
                  <a:extLst>
                    <a:ext uri="{9D8B030D-6E8A-4147-A177-3AD203B41FA5}">
                      <a16:colId xmlns:a16="http://schemas.microsoft.com/office/drawing/2014/main" val="3313412301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1490360609"/>
                    </a:ext>
                  </a:extLst>
                </a:gridCol>
              </a:tblGrid>
              <a:tr h="171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个人决策统一指挥制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（首长制，将决策权和指挥权集中于一人，实行一元化管理）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集体决策统一指挥制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委员会领导下的首长负责制。决策权与指挥权是分离的，委员会司决策，首长司指挥）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58298"/>
                  </a:ext>
                </a:extLst>
              </a:tr>
              <a:tr h="1673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个人决策多头指挥制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委员会制集体领导制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（决策权和指挥权都集中于委员会）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386896"/>
                  </a:ext>
                </a:extLst>
              </a:tr>
            </a:tbl>
          </a:graphicData>
        </a:graphic>
      </p:graphicFrame>
      <p:sp>
        <p:nvSpPr>
          <p:cNvPr id="96277" name="Text Box 21">
            <a:extLst>
              <a:ext uri="{FF2B5EF4-FFF2-40B4-BE49-F238E27FC236}">
                <a16:creationId xmlns:a16="http://schemas.microsoft.com/office/drawing/2014/main" id="{9FA6FCC7-D263-FD0C-F302-24041B4BC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765175"/>
            <a:ext cx="1152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/>
              <a:t>决策方式</a:t>
            </a:r>
          </a:p>
        </p:txBody>
      </p:sp>
      <p:sp>
        <p:nvSpPr>
          <p:cNvPr id="96278" name="Text Box 22">
            <a:extLst>
              <a:ext uri="{FF2B5EF4-FFF2-40B4-BE49-F238E27FC236}">
                <a16:creationId xmlns:a16="http://schemas.microsoft.com/office/drawing/2014/main" id="{74C2F5C1-D639-5436-8528-730A18FBA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125538"/>
            <a:ext cx="3673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/>
              <a:t>个人决策                             集体决策</a:t>
            </a:r>
          </a:p>
        </p:txBody>
      </p:sp>
      <p:sp>
        <p:nvSpPr>
          <p:cNvPr id="96279" name="Text Box 23">
            <a:extLst>
              <a:ext uri="{FF2B5EF4-FFF2-40B4-BE49-F238E27FC236}">
                <a16:creationId xmlns:a16="http://schemas.microsoft.com/office/drawing/2014/main" id="{8C75D334-4A83-4AE3-B223-71451D7F8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916113"/>
            <a:ext cx="458788" cy="280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/>
              <a:t>统一指挥              多头指挥</a:t>
            </a:r>
          </a:p>
        </p:txBody>
      </p:sp>
      <p:sp>
        <p:nvSpPr>
          <p:cNvPr id="96282" name="Text Box 26">
            <a:extLst>
              <a:ext uri="{FF2B5EF4-FFF2-40B4-BE49-F238E27FC236}">
                <a16:creationId xmlns:a16="http://schemas.microsoft.com/office/drawing/2014/main" id="{17AFCE2E-FBD9-7B8F-3386-7A86FFE77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708275"/>
            <a:ext cx="458788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/>
              <a:t>指挥方式</a:t>
            </a:r>
          </a:p>
        </p:txBody>
      </p:sp>
      <p:sp>
        <p:nvSpPr>
          <p:cNvPr id="96287" name="Text Box 31">
            <a:extLst>
              <a:ext uri="{FF2B5EF4-FFF2-40B4-BE49-F238E27FC236}">
                <a16:creationId xmlns:a16="http://schemas.microsoft.com/office/drawing/2014/main" id="{36AC6D63-3992-FDB7-52AC-CE13D111F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5157788"/>
            <a:ext cx="1584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>
                <a:ea typeface="黑体" panose="02010609060101010101" pitchFamily="49" charset="-122"/>
              </a:rPr>
              <a:t>领导制度矩阵</a:t>
            </a:r>
          </a:p>
        </p:txBody>
      </p:sp>
      <p:sp>
        <p:nvSpPr>
          <p:cNvPr id="96288" name="Text Box 32">
            <a:extLst>
              <a:ext uri="{FF2B5EF4-FFF2-40B4-BE49-F238E27FC236}">
                <a16:creationId xmlns:a16="http://schemas.microsoft.com/office/drawing/2014/main" id="{ADCBA855-638A-A421-BC9F-91D14423A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728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tx2"/>
                </a:solidFill>
              </a:rPr>
              <a:t>9.2</a:t>
            </a:r>
            <a:r>
              <a:rPr lang="zh-CN" altLang="en-US" sz="1600">
                <a:solidFill>
                  <a:schemeClr val="tx2"/>
                </a:solidFill>
              </a:rPr>
              <a:t>领导制度设计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C8FFA4EA-5F6B-E0ED-3C54-8E1D97409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264FFE7D-B573-AF42-8AC2-B938A8A7F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5FC05A41-9A08-1452-73F6-53F72B48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5870-4652-4700-A044-1EE0B24620B2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74756" name="Text Box 4">
            <a:extLst>
              <a:ext uri="{FF2B5EF4-FFF2-40B4-BE49-F238E27FC236}">
                <a16:creationId xmlns:a16="http://schemas.microsoft.com/office/drawing/2014/main" id="{8BA5F13E-EA56-4E70-C564-3BB746377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152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/>
              <a:t>9.3</a:t>
            </a:r>
            <a:r>
              <a:rPr lang="zh-CN" altLang="en-US" sz="1600"/>
              <a:t>委员会</a:t>
            </a:r>
          </a:p>
        </p:txBody>
      </p:sp>
      <p:graphicFrame>
        <p:nvGraphicFramePr>
          <p:cNvPr id="74799" name="Group 47">
            <a:extLst>
              <a:ext uri="{FF2B5EF4-FFF2-40B4-BE49-F238E27FC236}">
                <a16:creationId xmlns:a16="http://schemas.microsoft.com/office/drawing/2014/main" id="{81E8051F-63CF-1794-DFFF-FE5612A8DB0B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755650" y="1125538"/>
          <a:ext cx="7772400" cy="4813300"/>
        </p:xfrm>
        <a:graphic>
          <a:graphicData uri="http://schemas.openxmlformats.org/drawingml/2006/table">
            <a:tbl>
              <a:tblPr/>
              <a:tblGrid>
                <a:gridCol w="1798638">
                  <a:extLst>
                    <a:ext uri="{9D8B030D-6E8A-4147-A177-3AD203B41FA5}">
                      <a16:colId xmlns:a16="http://schemas.microsoft.com/office/drawing/2014/main" val="503345330"/>
                    </a:ext>
                  </a:extLst>
                </a:gridCol>
                <a:gridCol w="5973762">
                  <a:extLst>
                    <a:ext uri="{9D8B030D-6E8A-4147-A177-3AD203B41FA5}">
                      <a16:colId xmlns:a16="http://schemas.microsoft.com/office/drawing/2014/main" val="399270357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委员会的概念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会议；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组织结构；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集体决策。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165528"/>
                  </a:ext>
                </a:extLst>
              </a:tr>
              <a:tr h="954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委员会的形式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委员会可以提供服务、协调、建议和对组织内部单位的控制，但不能直接创造价值，也不拥有指挥的权力，只起一种间接的、非指挥性的角色。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董事会、常设委员会和行政会议具有管理权力，与一般委员会不同。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027730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委员会的功能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交换信息；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提供建议；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形成观念；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决定政策。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14912"/>
                  </a:ext>
                </a:extLst>
              </a:tr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委员会的权力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裁决权；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立法权；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裁判权；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顾问权。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委员会也可能无任何权力。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309642"/>
                  </a:ext>
                </a:extLst>
              </a:tr>
            </a:tbl>
          </a:graphicData>
        </a:graphic>
      </p:graphicFrame>
      <p:sp>
        <p:nvSpPr>
          <p:cNvPr id="74800" name="Text Box 48">
            <a:extLst>
              <a:ext uri="{FF2B5EF4-FFF2-40B4-BE49-F238E27FC236}">
                <a16:creationId xmlns:a16="http://schemas.microsoft.com/office/drawing/2014/main" id="{7E5EDB9A-87A1-EF8E-79BE-A7A16A256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692150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>
                <a:ea typeface="黑体" panose="02010609060101010101" pitchFamily="49" charset="-122"/>
              </a:rPr>
              <a:t>委员会的概念、形式、功能和权力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B160B6A6-DB81-6FC2-2059-B79CF9FD3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版本：2004</a:t>
            </a:r>
            <a:endParaRPr lang="en-US" altLang="zh-CN"/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6C9026FD-85F5-78AD-A826-9559E815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管理学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09969F6-9E7E-BB7C-116D-7DDA8F39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01E-A7D5-4B9F-92F9-51C2E33356CB}" type="slidenum">
              <a:rPr lang="en-US" altLang="zh-CN"/>
              <a:pPr/>
              <a:t>18</a:t>
            </a:fld>
            <a:endParaRPr lang="en-US" altLang="zh-CN"/>
          </a:p>
        </p:txBody>
      </p:sp>
      <p:graphicFrame>
        <p:nvGraphicFramePr>
          <p:cNvPr id="98364" name="Group 60">
            <a:extLst>
              <a:ext uri="{FF2B5EF4-FFF2-40B4-BE49-F238E27FC236}">
                <a16:creationId xmlns:a16="http://schemas.microsoft.com/office/drawing/2014/main" id="{7B43DFEA-6EA6-CB43-F446-581DCDB803DA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611188" y="549275"/>
          <a:ext cx="7991475" cy="5703888"/>
        </p:xfrm>
        <a:graphic>
          <a:graphicData uri="http://schemas.openxmlformats.org/drawingml/2006/table">
            <a:tbl>
              <a:tblPr/>
              <a:tblGrid>
                <a:gridCol w="2087562">
                  <a:extLst>
                    <a:ext uri="{9D8B030D-6E8A-4147-A177-3AD203B41FA5}">
                      <a16:colId xmlns:a16="http://schemas.microsoft.com/office/drawing/2014/main" val="3919814732"/>
                    </a:ext>
                  </a:extLst>
                </a:gridCol>
                <a:gridCol w="5903913">
                  <a:extLst>
                    <a:ext uri="{9D8B030D-6E8A-4147-A177-3AD203B41FA5}">
                      <a16:colId xmlns:a16="http://schemas.microsoft.com/office/drawing/2014/main" val="843912780"/>
                    </a:ext>
                  </a:extLst>
                </a:gridCol>
              </a:tblGrid>
              <a:tr h="2016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委员会的优势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集体讨论和判断；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担心职权过分集中于个人；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利益集团的代表；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协调各个部门的活动、计划与政策；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信息传递和分享；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激发积极性；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避免采取行动。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564925"/>
                  </a:ext>
                </a:extLst>
              </a:tr>
              <a:tr h="171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委员会的缺点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花费时间和金钱；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妥协；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优柔寡断；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自我解体的趋势；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责任分散；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少数人的专制。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53709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委员会的运用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明确委员会的职权和议题范围；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委员会的规模要适宜；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挑选委员；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选择议题；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委员会主席的重要性；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成本效益。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245565"/>
                  </a:ext>
                </a:extLst>
              </a:tr>
            </a:tbl>
          </a:graphicData>
        </a:graphic>
      </p:graphicFrame>
      <p:sp>
        <p:nvSpPr>
          <p:cNvPr id="98339" name="Text Box 35">
            <a:extLst>
              <a:ext uri="{FF2B5EF4-FFF2-40B4-BE49-F238E27FC236}">
                <a16:creationId xmlns:a16="http://schemas.microsoft.com/office/drawing/2014/main" id="{DBDA3D8A-A931-50E3-D2F3-7841385D7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152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/>
              <a:t>9.3</a:t>
            </a:r>
            <a:r>
              <a:rPr lang="zh-CN" altLang="en-US" sz="1600"/>
              <a:t>委员会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2358</Words>
  <Application>Microsoft Office PowerPoint</Application>
  <PresentationFormat>全屏显示(4:3)</PresentationFormat>
  <Paragraphs>449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Times New Roman</vt:lpstr>
      <vt:lpstr>宋体</vt:lpstr>
      <vt:lpstr>华文行楷</vt:lpstr>
      <vt:lpstr>Arial</vt:lpstr>
      <vt:lpstr>黑体</vt:lpstr>
      <vt:lpstr>Courier New</vt:lpstr>
      <vt:lpstr>默认设计模板</vt:lpstr>
      <vt:lpstr>第9讲  组织设计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TDR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组织结构设计</dc:title>
  <dc:creator>sc</dc:creator>
  <cp:lastModifiedBy>先生 刘</cp:lastModifiedBy>
  <cp:revision>72</cp:revision>
  <dcterms:created xsi:type="dcterms:W3CDTF">2002-04-02T02:06:15Z</dcterms:created>
  <dcterms:modified xsi:type="dcterms:W3CDTF">2023-10-22T14:25:29Z</dcterms:modified>
</cp:coreProperties>
</file>