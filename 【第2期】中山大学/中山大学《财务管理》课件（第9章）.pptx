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246888" y="280416"/>
            <a:ext cx="1060704" cy="10546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511808" y="594364"/>
            <a:ext cx="3840455" cy="4693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362455" y="1100329"/>
            <a:ext cx="4142220" cy="1920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15823" y="112776"/>
            <a:ext cx="8891270" cy="6598920"/>
          </a:xfrm>
          <a:custGeom>
            <a:avLst/>
            <a:gdLst/>
            <a:ahLst/>
            <a:cxnLst/>
            <a:rect l="l" t="t" r="r" b="b"/>
            <a:pathLst>
              <a:path w="8891270" h="6598920">
                <a:moveTo>
                  <a:pt x="0" y="0"/>
                </a:moveTo>
                <a:lnTo>
                  <a:pt x="0" y="6598919"/>
                </a:lnTo>
                <a:lnTo>
                  <a:pt x="8891015" y="6598919"/>
                </a:lnTo>
                <a:lnTo>
                  <a:pt x="8891015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9704" y="36438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679704" y="36469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679704" y="36499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679704" y="36530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679704" y="36560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679704" y="36591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679704" y="36621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679704" y="36652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679704" y="36682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79704" y="36713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679704" y="36743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679704" y="36774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679704" y="36804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679704" y="36835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679704" y="36865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679704" y="36896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679704" y="36926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679704" y="36957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679704" y="36987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679704" y="37017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679704" y="37048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679704" y="37078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679704" y="371094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679704" y="371398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679704" y="371703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679704" y="372008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679704" y="372313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679704" y="372618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679704" y="372922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679704" y="373227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679704" y="373532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679704" y="373837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679704" y="374142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679704" y="374446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679704" y="374751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679704" y="375056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679704" y="3753611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679704" y="375666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679704" y="375970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679704" y="3762755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679704" y="376580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679704" y="376885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679704" y="3771900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679704" y="3774948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679704" y="3777996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bk object 66"/>
          <p:cNvSpPr/>
          <p:nvPr/>
        </p:nvSpPr>
        <p:spPr>
          <a:xfrm>
            <a:off x="679704" y="3781044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bk object 67"/>
          <p:cNvSpPr/>
          <p:nvPr/>
        </p:nvSpPr>
        <p:spPr>
          <a:xfrm>
            <a:off x="679704" y="3784092"/>
            <a:ext cx="7775575" cy="0"/>
          </a:xfrm>
          <a:custGeom>
            <a:avLst/>
            <a:gdLst/>
            <a:ahLst/>
            <a:cxnLst/>
            <a:rect l="l" t="t" r="r" b="b"/>
            <a:pathLst>
              <a:path w="7775575" h="0">
                <a:moveTo>
                  <a:pt x="0" y="0"/>
                </a:moveTo>
                <a:lnTo>
                  <a:pt x="7775448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3"/>
            <a:ext cx="9137902" cy="68518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3528" y="42672"/>
            <a:ext cx="2157984" cy="4328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40207" y="185928"/>
            <a:ext cx="8857615" cy="6553200"/>
          </a:xfrm>
          <a:custGeom>
            <a:avLst/>
            <a:gdLst/>
            <a:ahLst/>
            <a:cxnLst/>
            <a:rect l="l" t="t" r="r" b="b"/>
            <a:pathLst>
              <a:path w="8857615" h="6553200">
                <a:moveTo>
                  <a:pt x="0" y="0"/>
                </a:moveTo>
                <a:lnTo>
                  <a:pt x="0" y="6553199"/>
                </a:lnTo>
                <a:lnTo>
                  <a:pt x="8857487" y="6553199"/>
                </a:lnTo>
                <a:lnTo>
                  <a:pt x="8857487" y="0"/>
                </a:lnTo>
                <a:lnTo>
                  <a:pt x="0" y="0"/>
                </a:lnTo>
              </a:path>
            </a:pathLst>
          </a:custGeom>
          <a:ln w="18287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121920" y="14127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09090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121920" y="14157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2121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21920" y="14188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21920" y="14218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0202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21920" y="14249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525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121920" y="14279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2A2A2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21920" y="14310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131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21920" y="14340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6363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121920" y="14371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3C3C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121920" y="14401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141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121920" y="14432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949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121920" y="14462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4E4E4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21920" y="14493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45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121920" y="14523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21920" y="14554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1616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121920" y="14584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7676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bk object 35"/>
          <p:cNvSpPr/>
          <p:nvPr/>
        </p:nvSpPr>
        <p:spPr>
          <a:xfrm>
            <a:off x="121920" y="14615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6E6E6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bk object 36"/>
          <p:cNvSpPr/>
          <p:nvPr/>
        </p:nvSpPr>
        <p:spPr>
          <a:xfrm>
            <a:off x="121920" y="14645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3737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bk object 37"/>
          <p:cNvSpPr/>
          <p:nvPr/>
        </p:nvSpPr>
        <p:spPr>
          <a:xfrm>
            <a:off x="121920" y="14676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79797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bk object 38"/>
          <p:cNvSpPr/>
          <p:nvPr/>
        </p:nvSpPr>
        <p:spPr>
          <a:xfrm>
            <a:off x="121920" y="14706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bk object 39"/>
          <p:cNvSpPr/>
          <p:nvPr/>
        </p:nvSpPr>
        <p:spPr>
          <a:xfrm>
            <a:off x="121920" y="14737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6868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bk object 40"/>
          <p:cNvSpPr/>
          <p:nvPr/>
        </p:nvSpPr>
        <p:spPr>
          <a:xfrm>
            <a:off x="121920" y="14767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8C8C8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bk object 41"/>
          <p:cNvSpPr/>
          <p:nvPr/>
        </p:nvSpPr>
        <p:spPr>
          <a:xfrm>
            <a:off x="121920" y="147980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1919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bk object 42"/>
          <p:cNvSpPr/>
          <p:nvPr/>
        </p:nvSpPr>
        <p:spPr>
          <a:xfrm>
            <a:off x="121920" y="148285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8989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bk object 43"/>
          <p:cNvSpPr/>
          <p:nvPr/>
        </p:nvSpPr>
        <p:spPr>
          <a:xfrm>
            <a:off x="121920" y="148590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9D9D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bk object 44"/>
          <p:cNvSpPr/>
          <p:nvPr/>
        </p:nvSpPr>
        <p:spPr>
          <a:xfrm>
            <a:off x="121920" y="148894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2A2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bk object 45"/>
          <p:cNvSpPr/>
          <p:nvPr/>
        </p:nvSpPr>
        <p:spPr>
          <a:xfrm>
            <a:off x="121920" y="149199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bk object 46"/>
          <p:cNvSpPr/>
          <p:nvPr/>
        </p:nvSpPr>
        <p:spPr>
          <a:xfrm>
            <a:off x="121920" y="149504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bk object 47"/>
          <p:cNvSpPr/>
          <p:nvPr/>
        </p:nvSpPr>
        <p:spPr>
          <a:xfrm>
            <a:off x="121920" y="149809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0B0B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bk object 48"/>
          <p:cNvSpPr/>
          <p:nvPr/>
        </p:nvSpPr>
        <p:spPr>
          <a:xfrm>
            <a:off x="121920" y="150114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4B4B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bk object 49"/>
          <p:cNvSpPr/>
          <p:nvPr/>
        </p:nvSpPr>
        <p:spPr>
          <a:xfrm>
            <a:off x="121920" y="150418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8B8B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bk object 50"/>
          <p:cNvSpPr/>
          <p:nvPr/>
        </p:nvSpPr>
        <p:spPr>
          <a:xfrm>
            <a:off x="121920" y="150723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ABAB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bk object 51"/>
          <p:cNvSpPr/>
          <p:nvPr/>
        </p:nvSpPr>
        <p:spPr>
          <a:xfrm>
            <a:off x="121920" y="151028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bk object 52"/>
          <p:cNvSpPr/>
          <p:nvPr/>
        </p:nvSpPr>
        <p:spPr>
          <a:xfrm>
            <a:off x="121920" y="151333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2C2C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bk object 53"/>
          <p:cNvSpPr/>
          <p:nvPr/>
        </p:nvSpPr>
        <p:spPr>
          <a:xfrm>
            <a:off x="121920" y="151638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4C4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bk object 54"/>
          <p:cNvSpPr/>
          <p:nvPr/>
        </p:nvSpPr>
        <p:spPr>
          <a:xfrm>
            <a:off x="121920" y="151942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7C7C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bk object 55"/>
          <p:cNvSpPr/>
          <p:nvPr/>
        </p:nvSpPr>
        <p:spPr>
          <a:xfrm>
            <a:off x="121920" y="152247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ACAC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bk object 56"/>
          <p:cNvSpPr/>
          <p:nvPr/>
        </p:nvSpPr>
        <p:spPr>
          <a:xfrm>
            <a:off x="121920" y="152552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C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bk object 57"/>
          <p:cNvSpPr/>
          <p:nvPr/>
        </p:nvSpPr>
        <p:spPr>
          <a:xfrm>
            <a:off x="121920" y="152857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bk object 58"/>
          <p:cNvSpPr/>
          <p:nvPr/>
        </p:nvSpPr>
        <p:spPr>
          <a:xfrm>
            <a:off x="121920" y="153162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CFCF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bk object 59"/>
          <p:cNvSpPr/>
          <p:nvPr/>
        </p:nvSpPr>
        <p:spPr>
          <a:xfrm>
            <a:off x="121920" y="153466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0D0D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bk object 60"/>
          <p:cNvSpPr/>
          <p:nvPr/>
        </p:nvSpPr>
        <p:spPr>
          <a:xfrm>
            <a:off x="121920" y="153771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1D1D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bk object 61"/>
          <p:cNvSpPr/>
          <p:nvPr/>
        </p:nvSpPr>
        <p:spPr>
          <a:xfrm>
            <a:off x="121920" y="1540764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3D3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bk object 62"/>
          <p:cNvSpPr/>
          <p:nvPr/>
        </p:nvSpPr>
        <p:spPr>
          <a:xfrm>
            <a:off x="121920" y="1543812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4D4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bk object 63"/>
          <p:cNvSpPr/>
          <p:nvPr/>
        </p:nvSpPr>
        <p:spPr>
          <a:xfrm>
            <a:off x="121920" y="1546860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bk object 64"/>
          <p:cNvSpPr/>
          <p:nvPr/>
        </p:nvSpPr>
        <p:spPr>
          <a:xfrm>
            <a:off x="121920" y="1549908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5D5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bk object 65"/>
          <p:cNvSpPr/>
          <p:nvPr/>
        </p:nvSpPr>
        <p:spPr>
          <a:xfrm>
            <a:off x="121920" y="1552956"/>
            <a:ext cx="8854440" cy="0"/>
          </a:xfrm>
          <a:custGeom>
            <a:avLst/>
            <a:gdLst/>
            <a:ahLst/>
            <a:cxnLst/>
            <a:rect l="l" t="t" r="r" b="b"/>
            <a:pathLst>
              <a:path w="8854440" h="0">
                <a:moveTo>
                  <a:pt x="0" y="0"/>
                </a:moveTo>
                <a:lnTo>
                  <a:pt x="8854440" y="0"/>
                </a:lnTo>
              </a:path>
            </a:pathLst>
          </a:custGeom>
          <a:ln w="3175">
            <a:solidFill>
              <a:srgbClr val="D6D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45027" y="618236"/>
            <a:ext cx="285394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CC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9403" y="1718564"/>
            <a:ext cx="7505192" cy="2427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0651" y="2849372"/>
            <a:ext cx="581660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5665" algn="l"/>
              </a:tabLst>
            </a:pPr>
            <a:r>
              <a:rPr dirty="0" sz="4800"/>
              <a:t>第九章</a:t>
            </a:r>
            <a:r>
              <a:rPr dirty="0" sz="4800"/>
              <a:t>	</a:t>
            </a:r>
            <a:r>
              <a:rPr dirty="0" sz="4800"/>
              <a:t>财务报表分析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8220" y="639572"/>
            <a:ext cx="206184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本章要点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135883" y="1829511"/>
            <a:ext cx="2506980" cy="3101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9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概</a:t>
            </a:r>
            <a:r>
              <a:rPr dirty="0" sz="28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述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比较分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法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比率分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法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相对价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值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模</a:t>
            </a:r>
            <a:r>
              <a:rPr dirty="0" sz="28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型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经济利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润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模</a:t>
            </a:r>
            <a:r>
              <a:rPr dirty="0" sz="28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型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课堂案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例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讨</a:t>
            </a:r>
            <a:r>
              <a:rPr dirty="0" sz="2800" spc="-340" b="1">
                <a:solidFill>
                  <a:srgbClr val="FFFFFF"/>
                </a:solidFill>
                <a:latin typeface="Microsoft JhengHei"/>
                <a:cs typeface="Microsoft JhengHei"/>
              </a:rPr>
              <a:t>论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581660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财务分</a:t>
            </a:r>
            <a:r>
              <a:rPr dirty="0" sz="4000" spc="-20"/>
              <a:t>析</a:t>
            </a:r>
            <a:r>
              <a:rPr dirty="0" sz="4000" spc="5"/>
              <a:t>概述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5187" y="1523492"/>
            <a:ext cx="7837805" cy="435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6870" marR="5080" indent="-344805">
              <a:lnSpc>
                <a:spcPct val="100200"/>
              </a:lnSpc>
              <a:spcBef>
                <a:spcPts val="10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以财务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表和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其他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资料为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依</a:t>
            </a:r>
            <a:r>
              <a:rPr dirty="0" sz="2800" spc="-325">
                <a:solidFill>
                  <a:srgbClr val="FFFFFF"/>
                </a:solidFill>
                <a:latin typeface="宋体"/>
                <a:cs typeface="宋体"/>
              </a:rPr>
              <a:t>据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和起点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采用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专门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方法，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统分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评价企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 过去和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在的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成果、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况及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其变动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目 的是了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过去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价现在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预测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未来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，帮助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益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关系集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改善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决策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just" marL="356870" marR="5080" indent="-344805">
              <a:lnSpc>
                <a:spcPct val="100000"/>
              </a:lnSpc>
              <a:spcBef>
                <a:spcPts val="168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基本功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将大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量的报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325">
                <a:solidFill>
                  <a:srgbClr val="FFFFFF"/>
                </a:solidFill>
                <a:latin typeface="宋体"/>
                <a:cs typeface="宋体"/>
              </a:rPr>
              <a:t>数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据转换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定决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策有用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少决策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确定性。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是一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个过程。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91" y="1460703"/>
            <a:ext cx="7511415" cy="4448175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析者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与使用者</a:t>
            </a:r>
            <a:endParaRPr sz="2800">
              <a:latin typeface="宋体"/>
              <a:cs typeface="宋体"/>
            </a:endParaRPr>
          </a:p>
          <a:p>
            <a:pPr algn="just" marL="356870" marR="5080" indent="740410">
              <a:lnSpc>
                <a:spcPct val="102899"/>
              </a:lnSpc>
              <a:spcBef>
                <a:spcPts val="4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、债权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应商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、职工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工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会、政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、中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介机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构（审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师、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证券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分析师、 管理咨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者等）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的目的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况与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经营成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进行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解释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与评价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70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对企业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务状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况的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未来发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展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趋势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作出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判断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Arial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为企业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策提供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助与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持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251" y="581660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财务分</a:t>
            </a:r>
            <a:r>
              <a:rPr dirty="0" sz="4000" spc="-20"/>
              <a:t>析</a:t>
            </a:r>
            <a:r>
              <a:rPr dirty="0" sz="4000" spc="5"/>
              <a:t>概述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5187" y="1451559"/>
            <a:ext cx="7618095" cy="40614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般步骤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670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明确分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695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收集有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56285" marR="5080" indent="-287020">
              <a:lnSpc>
                <a:spcPts val="3190"/>
              </a:lnSpc>
              <a:spcBef>
                <a:spcPts val="1090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根据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分析目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把整体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各个部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分割开</a:t>
            </a:r>
            <a:r>
              <a:rPr dirty="0" sz="2800" spc="50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  予以适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当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安排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，使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之符合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需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要；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595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深入研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究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各部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分的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特殊本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675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进一步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究各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个部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分的联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840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解释结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，提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供对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决策有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助的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信息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2251" y="581660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财务分</a:t>
            </a:r>
            <a:r>
              <a:rPr dirty="0" sz="4000" spc="-20"/>
              <a:t>析</a:t>
            </a:r>
            <a:r>
              <a:rPr dirty="0" sz="4000" spc="5"/>
              <a:t>概述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639572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比较分</a:t>
            </a:r>
            <a:r>
              <a:rPr dirty="0" sz="4000" spc="-20"/>
              <a:t>析</a:t>
            </a:r>
            <a:r>
              <a:rPr dirty="0" sz="4000" spc="5"/>
              <a:t>法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416555" y="2256230"/>
            <a:ext cx="4640580" cy="2080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781810">
              <a:lnSpc>
                <a:spcPct val="120700"/>
              </a:lnSpc>
              <a:spcBef>
                <a:spcPts val="9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一般的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比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较分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析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趋势分析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结构分析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趋势分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与结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构分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析的比</a:t>
            </a:r>
            <a:r>
              <a:rPr dirty="0" sz="2800" spc="-245" b="1">
                <a:solidFill>
                  <a:srgbClr val="FFFFFF"/>
                </a:solidFill>
                <a:latin typeface="Microsoft JhengHei"/>
                <a:cs typeface="Microsoft JhengHei"/>
              </a:rPr>
              <a:t>较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581660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比较分</a:t>
            </a:r>
            <a:r>
              <a:rPr dirty="0" sz="4000" spc="-20"/>
              <a:t>析</a:t>
            </a:r>
            <a:r>
              <a:rPr dirty="0" sz="4000" spc="5"/>
              <a:t>法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15187" y="1308303"/>
            <a:ext cx="7697470" cy="3573145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一般的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较分析</a:t>
            </a:r>
            <a:endParaRPr sz="2800">
              <a:latin typeface="宋体"/>
              <a:cs typeface="宋体"/>
            </a:endParaRPr>
          </a:p>
          <a:p>
            <a:pPr marL="356870" marR="5080" indent="-344805">
              <a:lnSpc>
                <a:spcPct val="100000"/>
              </a:lnSpc>
              <a:spcBef>
                <a:spcPts val="1705"/>
              </a:spcBef>
              <a:buClr>
                <a:srgbClr val="FF6600"/>
              </a:buClr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选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取不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的比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准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：计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历</a:t>
            </a:r>
            <a:r>
              <a:rPr dirty="0" sz="2800" spc="100">
                <a:solidFill>
                  <a:srgbClr val="FFFFFF"/>
                </a:solidFill>
                <a:latin typeface="宋体"/>
                <a:cs typeface="宋体"/>
              </a:rPr>
              <a:t>史</a:t>
            </a:r>
            <a:r>
              <a:rPr dirty="0" sz="2800" spc="75">
                <a:solidFill>
                  <a:srgbClr val="FFFFFF"/>
                </a:solidFill>
                <a:latin typeface="宋体"/>
                <a:cs typeface="宋体"/>
              </a:rPr>
              <a:t>指标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行业平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水平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、国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内外先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水平等</a:t>
            </a:r>
            <a:endParaRPr sz="2800">
              <a:latin typeface="宋体"/>
              <a:cs typeface="宋体"/>
            </a:endParaRPr>
          </a:p>
          <a:p>
            <a:pPr marL="356870" indent="-344805">
              <a:lnSpc>
                <a:spcPct val="100000"/>
              </a:lnSpc>
              <a:spcBef>
                <a:spcPts val="1680"/>
              </a:spcBef>
              <a:buClr>
                <a:srgbClr val="FF6600"/>
              </a:buClr>
              <a:buFont typeface="Times New Roman"/>
              <a:buChar char="•"/>
              <a:tabLst>
                <a:tab pos="356870" algn="l"/>
                <a:tab pos="357505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计算差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额和差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异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（变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动）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endParaRPr sz="2800">
              <a:latin typeface="宋体"/>
              <a:cs typeface="宋体"/>
            </a:endParaRPr>
          </a:p>
          <a:p>
            <a:pPr marL="1036319">
              <a:lnSpc>
                <a:spcPct val="100000"/>
              </a:lnSpc>
              <a:spcBef>
                <a:spcPts val="2490"/>
              </a:spcBef>
            </a:pP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差异（变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）额</a:t>
            </a:r>
            <a:r>
              <a:rPr dirty="0" sz="23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3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分析指标 －</a:t>
            </a:r>
            <a:r>
              <a:rPr dirty="0" sz="23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准</a:t>
            </a:r>
            <a:endParaRPr sz="2300">
              <a:latin typeface="宋体"/>
              <a:cs typeface="宋体"/>
            </a:endParaRPr>
          </a:p>
          <a:p>
            <a:pPr marL="1036319">
              <a:lnSpc>
                <a:spcPct val="100000"/>
              </a:lnSpc>
              <a:spcBef>
                <a:spcPts val="1395"/>
              </a:spcBef>
            </a:pP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差异（变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）率</a:t>
            </a:r>
            <a:r>
              <a:rPr dirty="0" sz="2300" spc="-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3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差异（变动）额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2300" spc="-25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300">
                <a:solidFill>
                  <a:srgbClr val="FFFFFF"/>
                </a:solidFill>
                <a:latin typeface="宋体"/>
                <a:cs typeface="宋体"/>
              </a:rPr>
              <a:t>较标准</a:t>
            </a:r>
            <a:endParaRPr sz="2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1931" y="1439330"/>
            <a:ext cx="7264400" cy="446214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趋势分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（横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向分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析：不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同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较）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565"/>
              </a:spcBef>
            </a:pPr>
            <a:r>
              <a:rPr dirty="0" sz="2400" spc="231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分析对象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财务指标和财务比率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财务报表金额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财务报表结构</a:t>
            </a:r>
            <a:endParaRPr sz="24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dirty="0" sz="2400" spc="2310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具体分析方法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720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直接分析法：座标图、条形图等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基期（年）分析法（定比）：固定基期（年）</a:t>
            </a:r>
            <a:endParaRPr sz="2400">
              <a:latin typeface="宋体"/>
              <a:cs typeface="宋体"/>
            </a:endParaRPr>
          </a:p>
          <a:p>
            <a:pPr marL="1155700" indent="-22860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逐期（年）分析法（环比）：基期（年）变化</a:t>
            </a:r>
            <a:endParaRPr sz="2400">
              <a:latin typeface="宋体"/>
              <a:cs typeface="宋体"/>
            </a:endParaRPr>
          </a:p>
          <a:p>
            <a:pPr marL="1612900">
              <a:lnSpc>
                <a:spcPct val="100000"/>
              </a:lnSpc>
              <a:spcBef>
                <a:spcPts val="434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（趋势比率</a:t>
            </a:r>
            <a:r>
              <a:rPr dirty="0" sz="2400" spc="-6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分析期指标</a:t>
            </a:r>
            <a:r>
              <a:rPr dirty="0" sz="2400" spc="-6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基期指标）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5235" y="581660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比较分</a:t>
            </a:r>
            <a:r>
              <a:rPr dirty="0" sz="4000" spc="-20"/>
              <a:t>析</a:t>
            </a:r>
            <a:r>
              <a:rPr dirty="0" sz="4000" spc="5"/>
              <a:t>法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 marL="12065" marR="622935">
              <a:lnSpc>
                <a:spcPct val="100000"/>
              </a:lnSpc>
              <a:spcBef>
                <a:spcPts val="105"/>
              </a:spcBef>
            </a:pPr>
            <a:r>
              <a:rPr dirty="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pc="5"/>
              <a:t>结构分</a:t>
            </a:r>
            <a:r>
              <a:rPr dirty="0" spc="-20"/>
              <a:t>析</a:t>
            </a:r>
            <a:r>
              <a:rPr dirty="0" spc="5"/>
              <a:t>（纵</a:t>
            </a:r>
            <a:r>
              <a:rPr dirty="0" spc="-20"/>
              <a:t>向分</a:t>
            </a:r>
            <a:r>
              <a:rPr dirty="0" spc="700"/>
              <a:t>析</a:t>
            </a:r>
            <a:r>
              <a:rPr dirty="0" spc="5"/>
              <a:t>：结构</a:t>
            </a:r>
            <a:r>
              <a:rPr dirty="0" spc="-20"/>
              <a:t>百</a:t>
            </a:r>
            <a:r>
              <a:rPr dirty="0" spc="5"/>
              <a:t>分比</a:t>
            </a:r>
            <a:r>
              <a:rPr dirty="0" spc="-20"/>
              <a:t>分</a:t>
            </a:r>
            <a:r>
              <a:rPr dirty="0" spc="5"/>
              <a:t>析</a:t>
            </a:r>
            <a:r>
              <a:rPr dirty="0" spc="-130"/>
              <a:t>）</a:t>
            </a:r>
          </a:p>
          <a:p>
            <a:pPr algn="ctr" marL="12065" marR="580390">
              <a:lnSpc>
                <a:spcPct val="100000"/>
              </a:lnSpc>
              <a:spcBef>
                <a:spcPts val="2690"/>
              </a:spcBef>
            </a:pPr>
            <a:r>
              <a:rPr dirty="0" spc="5"/>
              <a:t>结构比</a:t>
            </a:r>
            <a:r>
              <a:rPr dirty="0" spc="700"/>
              <a:t>率</a:t>
            </a:r>
            <a:r>
              <a:rPr dirty="0">
                <a:latin typeface="Times New Roman"/>
                <a:cs typeface="Times New Roman"/>
              </a:rPr>
              <a:t>=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spc="5"/>
              <a:t>个体（</a:t>
            </a:r>
            <a:r>
              <a:rPr dirty="0" spc="-20"/>
              <a:t>部</a:t>
            </a:r>
            <a:r>
              <a:rPr dirty="0" spc="5"/>
              <a:t>分</a:t>
            </a:r>
            <a:r>
              <a:rPr dirty="0" spc="-5"/>
              <a:t>）</a:t>
            </a:r>
            <a:r>
              <a:rPr dirty="0" spc="-5">
                <a:latin typeface="Times New Roman"/>
                <a:cs typeface="Times New Roman"/>
              </a:rPr>
              <a:t>/</a:t>
            </a:r>
            <a:r>
              <a:rPr dirty="0" spc="5"/>
              <a:t>总体</a:t>
            </a:r>
          </a:p>
          <a:p>
            <a:pPr marL="12065">
              <a:lnSpc>
                <a:spcPct val="100000"/>
              </a:lnSpc>
              <a:spcBef>
                <a:spcPts val="10"/>
              </a:spcBef>
            </a:pPr>
            <a:endParaRPr sz="2400"/>
          </a:p>
          <a:p>
            <a:pPr marL="2179320">
              <a:lnSpc>
                <a:spcPct val="100000"/>
              </a:lnSpc>
            </a:pPr>
            <a:r>
              <a:rPr dirty="0" sz="2400"/>
              <a:t>注意：</a:t>
            </a:r>
            <a:r>
              <a:rPr dirty="0" sz="2400">
                <a:latin typeface="Times New Roman"/>
                <a:cs typeface="Times New Roman"/>
              </a:rPr>
              <a:t>1</a:t>
            </a:r>
            <a:r>
              <a:rPr dirty="0" sz="2400"/>
              <a:t>、</a:t>
            </a:r>
            <a:r>
              <a:rPr dirty="0" sz="2400" spc="20"/>
              <a:t>“</a:t>
            </a:r>
            <a:r>
              <a:rPr dirty="0" sz="2400"/>
              <a:t>总体”数值的选取；</a:t>
            </a:r>
            <a:endParaRPr sz="2400">
              <a:latin typeface="Times New Roman"/>
              <a:cs typeface="Times New Roman"/>
            </a:endParaRPr>
          </a:p>
          <a:p>
            <a:pPr marL="3072130">
              <a:lnSpc>
                <a:spcPct val="100000"/>
              </a:lnSpc>
              <a:spcBef>
                <a:spcPts val="650"/>
              </a:spcBef>
            </a:pPr>
            <a:r>
              <a:rPr dirty="0" sz="2400">
                <a:latin typeface="Times New Roman"/>
                <a:cs typeface="Times New Roman"/>
              </a:rPr>
              <a:t>2</a:t>
            </a:r>
            <a:r>
              <a:rPr dirty="0" sz="2400"/>
              <a:t>、结构比率也可以作趋势分析。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5235" y="581660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比较分</a:t>
            </a:r>
            <a:r>
              <a:rPr dirty="0" sz="4000" spc="-20"/>
              <a:t>析</a:t>
            </a:r>
            <a:r>
              <a:rPr dirty="0" sz="4000" spc="5"/>
              <a:t>法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091" y="1596644"/>
            <a:ext cx="7569200" cy="4283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-5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趋势分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与结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构分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析的比较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35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相同点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都利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用财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务报表</a:t>
            </a:r>
            <a:endParaRPr sz="28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68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不同点：</a:t>
            </a:r>
            <a:endParaRPr sz="2800">
              <a:latin typeface="宋体"/>
              <a:cs typeface="宋体"/>
            </a:endParaRPr>
          </a:p>
          <a:p>
            <a:pPr algn="just" marL="1155065" marR="5080" indent="-228600">
              <a:lnSpc>
                <a:spcPct val="100000"/>
              </a:lnSpc>
              <a:spcBef>
                <a:spcPts val="570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比较方法不同：趋势分析是不同时期的同一指标 的比较；单纯的结构分析是同一时期的个体与总 体的比较。</a:t>
            </a:r>
            <a:endParaRPr sz="2400">
              <a:latin typeface="宋体"/>
              <a:cs typeface="宋体"/>
            </a:endParaRPr>
          </a:p>
          <a:p>
            <a:pPr algn="just" marL="1155065" marR="5080" indent="-228600">
              <a:lnSpc>
                <a:spcPct val="100000"/>
              </a:lnSpc>
              <a:spcBef>
                <a:spcPts val="550"/>
              </a:spcBef>
              <a:buClr>
                <a:srgbClr val="FF6600"/>
              </a:buClr>
              <a:buFont typeface="Times New Roman"/>
              <a:buChar char="•"/>
              <a:tabLst>
                <a:tab pos="115570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作用不同：趋势分析在于分析增长速度与发展趋 势；结构分析在于分析结构（如资产结构、资本 结构、利润结构现金流量结构等）是否合理。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5235" y="581660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比较分</a:t>
            </a:r>
            <a:r>
              <a:rPr dirty="0" sz="4000" spc="-20"/>
              <a:t>析</a:t>
            </a:r>
            <a:r>
              <a:rPr dirty="0" sz="4000" spc="5"/>
              <a:t>法</a:t>
            </a:r>
            <a:endParaRPr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5235" y="569468"/>
            <a:ext cx="256794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比率分</a:t>
            </a:r>
            <a:r>
              <a:rPr dirty="0" sz="4000" spc="-20"/>
              <a:t>析</a:t>
            </a:r>
            <a:r>
              <a:rPr dirty="0" sz="4000" spc="5"/>
              <a:t>法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416555" y="1853894"/>
            <a:ext cx="4283710" cy="25888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9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财务比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的计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算与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说明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财务比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的具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体分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析方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法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比率分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析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中应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注意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的问</a:t>
            </a:r>
            <a:r>
              <a:rPr dirty="0" sz="2800" spc="-335" b="1">
                <a:solidFill>
                  <a:srgbClr val="FFFFFF"/>
                </a:solidFill>
                <a:latin typeface="Microsoft JhengHei"/>
                <a:cs typeface="Microsoft JhengHei"/>
              </a:rPr>
              <a:t>题 </a:t>
            </a: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财务比</a:t>
            </a:r>
            <a:r>
              <a:rPr dirty="0" sz="2800" spc="-20" b="1">
                <a:solidFill>
                  <a:srgbClr val="FFFFFF"/>
                </a:solidFill>
                <a:latin typeface="Microsoft JhengHei"/>
                <a:cs typeface="Microsoft JhengHei"/>
              </a:rPr>
              <a:t>率</a:t>
            </a:r>
            <a:r>
              <a:rPr dirty="0" sz="2800" spc="5" b="1">
                <a:solidFill>
                  <a:srgbClr val="FFFFFF"/>
                </a:solidFill>
                <a:latin typeface="Microsoft JhengHei"/>
                <a:cs typeface="Microsoft JhengHei"/>
              </a:rPr>
              <a:t>的应用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1491" y="1502156"/>
            <a:ext cx="7061834" cy="31877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45134" indent="-433070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Font typeface="Wingdings"/>
              <a:buChar char=""/>
              <a:tabLst>
                <a:tab pos="445770" algn="l"/>
              </a:tabLst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偿债能力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endParaRPr sz="2800">
              <a:latin typeface="宋体"/>
              <a:cs typeface="宋体"/>
            </a:endParaRPr>
          </a:p>
          <a:p>
            <a:pPr lvl="1" marL="1170940" indent="-243840">
              <a:lnSpc>
                <a:spcPct val="100000"/>
              </a:lnSpc>
              <a:spcBef>
                <a:spcPts val="1864"/>
              </a:spcBef>
              <a:buClr>
                <a:srgbClr val="FF6600"/>
              </a:buClr>
              <a:buSzPct val="95833"/>
              <a:buFont typeface="Wingdings"/>
              <a:buChar char="►"/>
              <a:tabLst>
                <a:tab pos="117094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短期偿债能力比率</a:t>
            </a:r>
            <a:endParaRPr sz="2400">
              <a:latin typeface="宋体"/>
              <a:cs typeface="宋体"/>
            </a:endParaRPr>
          </a:p>
          <a:p>
            <a:pPr lvl="2" marL="1612900" indent="-229235">
              <a:lnSpc>
                <a:spcPct val="100000"/>
              </a:lnSpc>
              <a:spcBef>
                <a:spcPts val="1495"/>
              </a:spcBef>
              <a:buClr>
                <a:srgbClr val="FF6600"/>
              </a:buClr>
              <a:buFont typeface="Times New Roman"/>
              <a:buChar char="•"/>
              <a:tabLst>
                <a:tab pos="1612265" algn="l"/>
                <a:tab pos="16129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流动比</a:t>
            </a:r>
            <a:r>
              <a:rPr dirty="0" sz="2200" spc="53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2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动资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1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动负债</a:t>
            </a:r>
            <a:endParaRPr sz="2200">
              <a:latin typeface="宋体"/>
              <a:cs typeface="宋体"/>
            </a:endParaRPr>
          </a:p>
          <a:p>
            <a:pPr lvl="2" marL="1612900" indent="-229235">
              <a:lnSpc>
                <a:spcPct val="100000"/>
              </a:lnSpc>
              <a:spcBef>
                <a:spcPts val="1730"/>
              </a:spcBef>
              <a:buClr>
                <a:srgbClr val="FF6600"/>
              </a:buClr>
              <a:buFont typeface="Times New Roman"/>
              <a:buChar char="•"/>
              <a:tabLst>
                <a:tab pos="1612265" algn="l"/>
                <a:tab pos="16129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速动比</a:t>
            </a:r>
            <a:r>
              <a:rPr dirty="0" sz="2200" spc="53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2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动资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1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动负债</a:t>
            </a:r>
            <a:endParaRPr sz="2200">
              <a:latin typeface="宋体"/>
              <a:cs typeface="宋体"/>
            </a:endParaRPr>
          </a:p>
          <a:p>
            <a:pPr marL="2606040">
              <a:lnSpc>
                <a:spcPct val="100000"/>
              </a:lnSpc>
              <a:spcBef>
                <a:spcPts val="1760"/>
              </a:spcBef>
            </a:pP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通常，速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0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=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流动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－ 存货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)</a:t>
            </a:r>
            <a:endParaRPr sz="2000">
              <a:latin typeface="宋体"/>
              <a:cs typeface="宋体"/>
            </a:endParaRPr>
          </a:p>
          <a:p>
            <a:pPr lvl="2" marL="1612900" indent="-229235">
              <a:lnSpc>
                <a:spcPct val="100000"/>
              </a:lnSpc>
              <a:spcBef>
                <a:spcPts val="1480"/>
              </a:spcBef>
              <a:buClr>
                <a:srgbClr val="FF6600"/>
              </a:buClr>
              <a:buFont typeface="Times New Roman"/>
              <a:buChar char="•"/>
              <a:tabLst>
                <a:tab pos="1612265" algn="l"/>
                <a:tab pos="161290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现金比</a:t>
            </a:r>
            <a:r>
              <a:rPr dirty="0" sz="2200" spc="53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2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金资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1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动负债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09092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财务比率的计算与说明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797812"/>
            <a:ext cx="7907020" cy="2983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9270" indent="-497205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►"/>
              <a:tabLst>
                <a:tab pos="509270" algn="l"/>
                <a:tab pos="50990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长期偿债能力比率</a:t>
            </a:r>
            <a:endParaRPr sz="24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1695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 spc="-509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1680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产权比率</a:t>
            </a:r>
            <a:r>
              <a:rPr dirty="0" sz="2000" spc="-5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者（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股东）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1680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利息保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障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倍数</a:t>
            </a:r>
            <a:r>
              <a:rPr dirty="0" sz="2000" spc="-5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前收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利息支出</a:t>
            </a:r>
            <a:endParaRPr sz="2000">
              <a:latin typeface="宋体"/>
              <a:cs typeface="宋体"/>
            </a:endParaRPr>
          </a:p>
          <a:p>
            <a:pPr lvl="1" marL="756285" indent="-287020">
              <a:lnSpc>
                <a:spcPct val="100000"/>
              </a:lnSpc>
              <a:spcBef>
                <a:spcPts val="1895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固定支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保障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数</a:t>
            </a:r>
            <a:endParaRPr sz="2000">
              <a:latin typeface="宋体"/>
              <a:cs typeface="宋体"/>
            </a:endParaRPr>
          </a:p>
          <a:p>
            <a:pPr marL="935990">
              <a:lnSpc>
                <a:spcPct val="100000"/>
              </a:lnSpc>
              <a:spcBef>
                <a:spcPts val="1465"/>
              </a:spcBef>
            </a:pP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息税前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/[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利息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到期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本金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+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股息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得税率）</a:t>
            </a:r>
            <a:r>
              <a:rPr dirty="0" sz="2000" spc="-1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09092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财务比率的计算与说明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740456"/>
            <a:ext cx="7834630" cy="377888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营运能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（资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用能力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比率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91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存货周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 spc="-48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-5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货成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200" spc="-15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平均存货</a:t>
            </a:r>
            <a:endParaRPr sz="22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03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存货周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期</a:t>
            </a:r>
            <a:r>
              <a:rPr dirty="0" sz="2200" spc="-48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-5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365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天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货周转率</a:t>
            </a:r>
            <a:endParaRPr sz="22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05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应收帐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周转率</a:t>
            </a:r>
            <a:r>
              <a:rPr dirty="0" sz="2200" spc="-5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-5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收入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均应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帐款</a:t>
            </a:r>
            <a:endParaRPr sz="22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  <a:spcBef>
                <a:spcPts val="111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常用：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销售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入”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替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“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赊销收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”。</a:t>
            </a:r>
            <a:endParaRPr sz="20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88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应收帐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款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周转期</a:t>
            </a:r>
            <a:r>
              <a:rPr dirty="0" sz="2200" spc="-5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-5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Arial"/>
                <a:cs typeface="Arial"/>
              </a:rPr>
              <a:t>365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天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帐款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转率</a:t>
            </a:r>
            <a:endParaRPr sz="22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05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总资产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周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转率</a:t>
            </a:r>
            <a:r>
              <a:rPr dirty="0" sz="2200" spc="-5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-5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销售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总资产</a:t>
            </a:r>
            <a:endParaRPr sz="22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  <a:spcBef>
                <a:spcPts val="994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注：周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 spc="-53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转次数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09092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财务比率的计算与说明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340" y="1517986"/>
            <a:ext cx="7072630" cy="4092575"/>
          </a:xfrm>
          <a:prstGeom prst="rect">
            <a:avLst/>
          </a:prstGeom>
        </p:spPr>
        <p:txBody>
          <a:bodyPr wrap="square" lIns="0" tIns="201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盈利能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力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比率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17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销售利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 spc="-48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-5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200" spc="-15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售收入</a:t>
            </a:r>
            <a:endParaRPr sz="2200">
              <a:latin typeface="宋体"/>
              <a:cs typeface="宋体"/>
            </a:endParaRPr>
          </a:p>
          <a:p>
            <a:pPr marL="1871980">
              <a:lnSpc>
                <a:spcPct val="100000"/>
              </a:lnSpc>
              <a:spcBef>
                <a:spcPts val="1320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200" spc="-5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-50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营业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销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售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收入</a:t>
            </a:r>
            <a:endParaRPr sz="22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29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营业利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率＝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税前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平均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endParaRPr sz="2200">
              <a:latin typeface="宋体"/>
              <a:cs typeface="宋体"/>
            </a:endParaRPr>
          </a:p>
          <a:p>
            <a:pPr algn="ctr" marL="255904">
              <a:lnSpc>
                <a:spcPct val="100000"/>
              </a:lnSpc>
              <a:spcBef>
                <a:spcPts val="1235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营业利润率可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反映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企业的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能力。</a:t>
            </a:r>
            <a:endParaRPr sz="20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285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资产利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酬率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）＝</a:t>
            </a:r>
            <a:r>
              <a:rPr dirty="0" sz="2200" spc="-5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净利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均资产</a:t>
            </a:r>
            <a:endParaRPr sz="22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30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净资产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酬率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净利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200" spc="-15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净资产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均余额</a:t>
            </a:r>
            <a:endParaRPr sz="22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320"/>
              </a:spcBef>
              <a:buClr>
                <a:srgbClr val="FF6600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股东权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利润率</a:t>
            </a:r>
            <a:r>
              <a:rPr dirty="0" sz="2200" spc="-5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200" spc="-5">
                <a:solidFill>
                  <a:srgbClr val="FFFFFF"/>
                </a:solidFill>
                <a:latin typeface="宋体"/>
                <a:cs typeface="宋体"/>
              </a:rPr>
              <a:t>＝（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200" spc="5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先股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200" spc="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200" spc="1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股东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权益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09092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财务比率的计算与说明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8947" y="1443640"/>
            <a:ext cx="8733155" cy="5024755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2800" spc="210">
                <a:solidFill>
                  <a:srgbClr val="FF6600"/>
                </a:solidFill>
                <a:latin typeface="Wingdings"/>
                <a:cs typeface="Wingdings"/>
              </a:rPr>
              <a:t>口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现金流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比率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505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支付能力</a:t>
            </a:r>
            <a:endParaRPr sz="22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325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现金与到期债务比率</a:t>
            </a:r>
            <a:r>
              <a:rPr dirty="0" sz="1800" spc="-43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1800" spc="-43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到期债务</a:t>
            </a:r>
            <a:endParaRPr sz="1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59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现金与流动负债比率</a:t>
            </a:r>
            <a:r>
              <a:rPr dirty="0" sz="1800" spc="-43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1800" spc="-434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流动负债</a:t>
            </a:r>
            <a:endParaRPr sz="1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3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现金与负债比率＝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负债总额</a:t>
            </a:r>
            <a:endParaRPr sz="1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3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现金股利保障倍数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每股净现金流量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每股现金股利</a:t>
            </a:r>
            <a:endParaRPr sz="1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59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现金流量充足率＝</a:t>
            </a:r>
            <a:r>
              <a:rPr dirty="0" sz="1800" spc="-4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（到期债务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资产购置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现金股利）</a:t>
            </a:r>
            <a:endParaRPr sz="1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605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获现能力</a:t>
            </a:r>
            <a:endParaRPr sz="22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355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销售现金比率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销售收入</a:t>
            </a:r>
            <a:endParaRPr sz="1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3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每股净现金流量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发行在外的普通股股数</a:t>
            </a:r>
            <a:endParaRPr sz="18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30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资产现金回收率</a:t>
            </a:r>
            <a:r>
              <a:rPr dirty="0" sz="1800" spc="-4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平均资产</a:t>
            </a:r>
            <a:endParaRPr sz="1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635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利润质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量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endParaRPr sz="2200">
              <a:latin typeface="宋体"/>
              <a:cs typeface="宋体"/>
            </a:endParaRPr>
          </a:p>
          <a:p>
            <a:pPr lvl="1" marL="1155700" indent="-228600">
              <a:lnSpc>
                <a:spcPct val="100000"/>
              </a:lnSpc>
              <a:spcBef>
                <a:spcPts val="445"/>
              </a:spcBef>
              <a:buClr>
                <a:srgbClr val="FF6600"/>
              </a:buClr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利润现金比率</a:t>
            </a:r>
            <a:endParaRPr sz="1800">
              <a:latin typeface="宋体"/>
              <a:cs typeface="宋体"/>
            </a:endParaRPr>
          </a:p>
          <a:p>
            <a:pPr marL="2362200">
              <a:lnSpc>
                <a:spcPct val="100000"/>
              </a:lnSpc>
              <a:spcBef>
                <a:spcPts val="34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经营活动净现金流量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[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经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（营业）利润×（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－所得税率）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]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67204" y="609092"/>
            <a:ext cx="45974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财务比率的计算与说明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5524" y="1468628"/>
            <a:ext cx="8935085" cy="472884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6870" marR="5080" indent="-344805">
              <a:lnSpc>
                <a:spcPct val="92100"/>
              </a:lnSpc>
              <a:spcBef>
                <a:spcPts val="37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较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分析法：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较标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准</a:t>
            </a:r>
            <a:r>
              <a:rPr dirty="0" sz="2800" spc="5">
                <a:solidFill>
                  <a:srgbClr val="FFFFFF"/>
                </a:solidFill>
                <a:latin typeface="Times New Roman"/>
                <a:cs typeface="Times New Roman"/>
              </a:rPr>
              <a:t>——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（如目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-2780">
                <a:solidFill>
                  <a:srgbClr val="FFFFFF"/>
                </a:solidFill>
                <a:latin typeface="宋体"/>
                <a:cs typeface="宋体"/>
              </a:rPr>
              <a:t>、 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定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、预算）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历史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准、行业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准（</a:t>
            </a:r>
            <a:r>
              <a:rPr dirty="0" sz="2800" spc="25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均水平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先 进水平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国际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领先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水平）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、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公认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标准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时间序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列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分析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法（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趋势分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综合分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280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综合比较分析法：将各财务比率综合起来进行分析</a:t>
            </a:r>
            <a:endParaRPr sz="24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45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杜邦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Du</a:t>
            </a:r>
            <a:r>
              <a:rPr dirty="0" sz="2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Pont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分析系统</a:t>
            </a:r>
            <a:endParaRPr sz="2400">
              <a:latin typeface="宋体"/>
              <a:cs typeface="宋体"/>
            </a:endParaRPr>
          </a:p>
          <a:p>
            <a:pPr marL="927100">
              <a:lnSpc>
                <a:spcPct val="100000"/>
              </a:lnSpc>
              <a:spcBef>
                <a:spcPts val="21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股东权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收益率</a:t>
            </a:r>
            <a:r>
              <a:rPr dirty="0" sz="2000" spc="-509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股东权益</a:t>
            </a:r>
            <a:endParaRPr sz="2000">
              <a:latin typeface="宋体"/>
              <a:cs typeface="宋体"/>
            </a:endParaRPr>
          </a:p>
          <a:p>
            <a:pPr marL="2795270">
              <a:lnSpc>
                <a:spcPct val="100000"/>
              </a:lnSpc>
              <a:spcBef>
                <a:spcPts val="240"/>
              </a:spcBef>
            </a:pP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总资产收益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×（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额</a:t>
            </a:r>
            <a:r>
              <a:rPr dirty="0" sz="2000" spc="-5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股东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益）</a:t>
            </a:r>
            <a:endParaRPr sz="2000">
              <a:latin typeface="宋体"/>
              <a:cs typeface="宋体"/>
            </a:endParaRPr>
          </a:p>
          <a:p>
            <a:pPr marL="2795270">
              <a:lnSpc>
                <a:spcPct val="100000"/>
              </a:lnSpc>
              <a:spcBef>
                <a:spcPts val="240"/>
              </a:spcBef>
            </a:pP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0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销售利润率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×总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资产周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率×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益乘数</a:t>
            </a:r>
            <a:endParaRPr sz="20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440"/>
              </a:spcBef>
              <a:buClr>
                <a:srgbClr val="FF6600"/>
              </a:buClr>
              <a:buFont typeface="Times New Roman"/>
              <a:buChar char="•"/>
              <a:tabLst>
                <a:tab pos="756285" algn="l"/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财务比率综合评分法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38604" y="609092"/>
            <a:ext cx="5054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财务比率的具体分析方法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381455"/>
            <a:ext cx="8096884" cy="4233545"/>
          </a:xfrm>
          <a:prstGeom prst="rect">
            <a:avLst/>
          </a:prstGeom>
        </p:spPr>
        <p:txBody>
          <a:bodyPr wrap="square" lIns="0" tIns="228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可比性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真实性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的经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济含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义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财务比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设计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的科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学与合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356870" marR="5080" indent="414020">
              <a:lnSpc>
                <a:spcPct val="101400"/>
              </a:lnSpc>
              <a:spcBef>
                <a:spcPts val="125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尽管会计信息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具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有内在的局限性，但财务报表分析能够 提供对企业的更深的观察。财务报表分析能帮助你构建你 考虑经营决策的框架，还能揭示对作出这些决策有用的信 息。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38604" y="609092"/>
            <a:ext cx="5054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比率分析中应注意的问题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432807"/>
            <a:ext cx="8267700" cy="4330065"/>
          </a:xfrm>
          <a:prstGeom prst="rect">
            <a:avLst/>
          </a:prstGeom>
        </p:spPr>
        <p:txBody>
          <a:bodyPr wrap="square" lIns="0" tIns="247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企业破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预测</a:t>
            </a:r>
            <a:endParaRPr sz="28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575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单一比率模型（单变量模型）</a:t>
            </a:r>
            <a:endParaRPr sz="2400">
              <a:latin typeface="宋体"/>
              <a:cs typeface="宋体"/>
            </a:endParaRPr>
          </a:p>
          <a:p>
            <a:pPr marL="756285" marR="5080" indent="-21590">
              <a:lnSpc>
                <a:spcPct val="105500"/>
              </a:lnSpc>
              <a:spcBef>
                <a:spcPts val="2140"/>
              </a:spcBef>
            </a:pPr>
            <a:r>
              <a:rPr dirty="0" sz="2200" spc="10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200" spc="10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息保</a:t>
            </a:r>
            <a:r>
              <a:rPr dirty="0" sz="2200" spc="100">
                <a:solidFill>
                  <a:srgbClr val="FFFFFF"/>
                </a:solidFill>
                <a:latin typeface="宋体"/>
                <a:cs typeface="宋体"/>
              </a:rPr>
              <a:t>障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倍数、固定支付保障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率、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产报酬率、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股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东 权益资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收益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及其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变化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率、资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负债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比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率、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流量</a:t>
            </a:r>
            <a:r>
              <a:rPr dirty="0" sz="2200" spc="10">
                <a:solidFill>
                  <a:srgbClr val="FFFFFF"/>
                </a:solidFill>
                <a:latin typeface="Times New Roman"/>
                <a:cs typeface="Times New Roman"/>
              </a:rPr>
              <a:t>/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endParaRPr sz="2200">
              <a:latin typeface="宋体"/>
              <a:cs typeface="宋体"/>
            </a:endParaRPr>
          </a:p>
          <a:p>
            <a:pPr marL="756285" indent="-287020">
              <a:lnSpc>
                <a:spcPct val="100000"/>
              </a:lnSpc>
              <a:spcBef>
                <a:spcPts val="1720"/>
              </a:spcBef>
              <a:buClr>
                <a:srgbClr val="FF6600"/>
              </a:buClr>
              <a:buFont typeface="Wingdings"/>
              <a:buChar char="►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多比率组合模型（多变量模型）</a:t>
            </a:r>
            <a:endParaRPr sz="2400">
              <a:latin typeface="宋体"/>
              <a:cs typeface="宋体"/>
            </a:endParaRPr>
          </a:p>
          <a:p>
            <a:pPr marL="1170940" marR="5080" indent="-521334">
              <a:lnSpc>
                <a:spcPct val="161800"/>
              </a:lnSpc>
              <a:spcBef>
                <a:spcPts val="755"/>
              </a:spcBef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200" spc="-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200" spc="-10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记分模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2200" spc="5">
                <a:solidFill>
                  <a:srgbClr val="FFFFFF"/>
                </a:solidFill>
                <a:latin typeface="Times New Roman"/>
                <a:cs typeface="Times New Roman"/>
              </a:rPr>
              <a:t>—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专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门用来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测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算公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司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破产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几率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的重要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工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具。 </a:t>
            </a:r>
            <a:r>
              <a:rPr dirty="0" sz="2200" spc="70">
                <a:solidFill>
                  <a:srgbClr val="FFFFFF"/>
                </a:solidFill>
                <a:latin typeface="宋体"/>
                <a:cs typeface="宋体"/>
              </a:rPr>
              <a:t>Z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2200" spc="100">
                <a:solidFill>
                  <a:srgbClr val="FFFFFF"/>
                </a:solidFill>
                <a:latin typeface="宋体"/>
                <a:cs typeface="宋体"/>
              </a:rPr>
              <a:t>某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些情</a:t>
            </a:r>
            <a:r>
              <a:rPr dirty="0" sz="2200" spc="100">
                <a:solidFill>
                  <a:srgbClr val="FFFFFF"/>
                </a:solidFill>
                <a:latin typeface="宋体"/>
                <a:cs typeface="宋体"/>
              </a:rPr>
              <a:t>况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解释为违约概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率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，在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另</a:t>
            </a:r>
            <a:r>
              <a:rPr dirty="0" sz="2200" spc="75">
                <a:solidFill>
                  <a:srgbClr val="FFFFFF"/>
                </a:solidFill>
                <a:latin typeface="宋体"/>
                <a:cs typeface="宋体"/>
              </a:rPr>
              <a:t>一些情况下</a:t>
            </a:r>
            <a:r>
              <a:rPr dirty="0" sz="2200" spc="5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endParaRPr sz="2200">
              <a:latin typeface="宋体"/>
              <a:cs typeface="宋体"/>
            </a:endParaRPr>
          </a:p>
          <a:p>
            <a:pPr marL="756285">
              <a:lnSpc>
                <a:spcPts val="2615"/>
              </a:lnSpc>
            </a:pP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为一种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类方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，把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考察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对象放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好的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组或</a:t>
            </a:r>
            <a:r>
              <a:rPr dirty="0" sz="2200" spc="-20">
                <a:solidFill>
                  <a:srgbClr val="FFFFFF"/>
                </a:solidFill>
                <a:latin typeface="宋体"/>
                <a:cs typeface="宋体"/>
              </a:rPr>
              <a:t>坏的</a:t>
            </a:r>
            <a:r>
              <a:rPr dirty="0" sz="2200" spc="5">
                <a:solidFill>
                  <a:srgbClr val="FFFFFF"/>
                </a:solidFill>
                <a:latin typeface="宋体"/>
                <a:cs typeface="宋体"/>
              </a:rPr>
              <a:t>一组。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3004" y="609092"/>
            <a:ext cx="3225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财务比率的应用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2835" y="642620"/>
            <a:ext cx="28695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“Z­score”</a:t>
            </a:r>
            <a:r>
              <a:rPr dirty="0"/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491" y="1560068"/>
            <a:ext cx="5870575" cy="2477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875"/>
              </a:lnSpc>
              <a:spcBef>
                <a:spcPts val="100"/>
              </a:spcBef>
            </a:pP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400" spc="-15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400" spc="-15">
                <a:solidFill>
                  <a:srgbClr val="FFFFFF"/>
                </a:solidFill>
                <a:latin typeface="宋体"/>
                <a:cs typeface="宋体"/>
              </a:rPr>
              <a:t>.</a:t>
            </a:r>
            <a:r>
              <a:rPr dirty="0" sz="2400" spc="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Altman</a:t>
            </a:r>
            <a:r>
              <a:rPr dirty="0" sz="2400" spc="-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400" spc="-5">
                <a:solidFill>
                  <a:srgbClr val="FFFFFF"/>
                </a:solidFill>
                <a:latin typeface="Times New Roman"/>
                <a:cs typeface="Times New Roman"/>
              </a:rPr>
              <a:t>“Z­score”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模型</a:t>
            </a:r>
            <a:r>
              <a:rPr dirty="0" sz="2400">
                <a:solidFill>
                  <a:srgbClr val="FFFFFF"/>
                </a:solidFill>
                <a:latin typeface="Times New Roman"/>
                <a:cs typeface="Times New Roman"/>
              </a:rPr>
              <a:t>——</a:t>
            </a:r>
            <a:endParaRPr sz="2400">
              <a:latin typeface="Times New Roman"/>
              <a:cs typeface="Times New Roman"/>
            </a:endParaRPr>
          </a:p>
          <a:p>
            <a:pPr marL="294005">
              <a:lnSpc>
                <a:spcPts val="2395"/>
              </a:lnSpc>
            </a:pPr>
            <a:r>
              <a:rPr dirty="0" sz="2000" spc="-5">
                <a:solidFill>
                  <a:srgbClr val="FFFFFF"/>
                </a:solidFill>
                <a:latin typeface="Times New Roman"/>
                <a:cs typeface="Times New Roman"/>
              </a:rPr>
              <a:t>Z =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0.012X</a:t>
            </a:r>
            <a:r>
              <a:rPr dirty="0" baseline="-21367" sz="1950" spc="-7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+0.014X</a:t>
            </a:r>
            <a:r>
              <a:rPr dirty="0" baseline="-21367" sz="1950" spc="-7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+0.033 X</a:t>
            </a:r>
            <a:r>
              <a:rPr dirty="0" baseline="-21367" sz="1950" spc="-7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+0.006 X</a:t>
            </a:r>
            <a:r>
              <a:rPr dirty="0" baseline="-21367" sz="1950" spc="-7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+0.999</a:t>
            </a:r>
            <a:r>
              <a:rPr dirty="0" sz="2000" spc="4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baseline="-21367" sz="1950">
                <a:solidFill>
                  <a:srgbClr val="FFFFFF"/>
                </a:solidFill>
                <a:latin typeface="宋体"/>
                <a:cs typeface="宋体"/>
              </a:rPr>
              <a:t>5</a:t>
            </a:r>
            <a:endParaRPr baseline="-21367" sz="1950">
              <a:latin typeface="宋体"/>
              <a:cs typeface="宋体"/>
            </a:endParaRPr>
          </a:p>
          <a:p>
            <a:pPr marL="38100">
              <a:lnSpc>
                <a:spcPts val="2385"/>
              </a:lnSpc>
              <a:spcBef>
                <a:spcPts val="12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式中，</a:t>
            </a:r>
            <a:endParaRPr sz="2000">
              <a:latin typeface="宋体"/>
              <a:cs typeface="宋体"/>
            </a:endParaRPr>
          </a:p>
          <a:p>
            <a:pPr marL="38100">
              <a:lnSpc>
                <a:spcPts val="1905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Z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——</a:t>
            </a:r>
            <a:r>
              <a:rPr dirty="0" sz="16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判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别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值；</a:t>
            </a:r>
            <a:endParaRPr sz="16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</a:pP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baseline="-20202" sz="1650" spc="7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baseline="-20202" sz="1650" spc="-7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——（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运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1600" spc="10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）·100；</a:t>
            </a:r>
            <a:endParaRPr sz="1600">
              <a:latin typeface="宋体"/>
              <a:cs typeface="宋体"/>
            </a:endParaRPr>
          </a:p>
          <a:p>
            <a:pPr marL="38100" marR="2532380">
              <a:lnSpc>
                <a:spcPct val="100000"/>
              </a:lnSpc>
              <a:spcBef>
                <a:spcPts val="20"/>
              </a:spcBef>
            </a:pP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baseline="-20202" sz="1650" spc="7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baseline="-20202" sz="1650" spc="-22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——（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留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收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益</a:t>
            </a:r>
            <a:r>
              <a:rPr dirty="0" sz="1600" spc="10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）·100；  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baseline="-20202" sz="1650" spc="7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baseline="-20202" sz="1650" spc="-52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——（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税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前利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1600" spc="10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）·100；</a:t>
            </a:r>
            <a:endParaRPr sz="1600">
              <a:latin typeface="宋体"/>
              <a:cs typeface="宋体"/>
            </a:endParaRPr>
          </a:p>
          <a:p>
            <a:pPr marL="38100" marR="499745">
              <a:lnSpc>
                <a:spcPct val="100000"/>
              </a:lnSpc>
            </a:pP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baseline="-20202" sz="1650" spc="7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baseline="-20202" sz="1650" spc="-7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——（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普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通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股和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优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先股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场价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1600" spc="10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账面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价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）·100；  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X</a:t>
            </a:r>
            <a:r>
              <a:rPr dirty="0" baseline="-20202" sz="1650" spc="7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baseline="-20202" sz="1650" spc="-7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——</a:t>
            </a:r>
            <a:r>
              <a:rPr dirty="0" sz="1600" spc="-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销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售收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1600" spc="10">
                <a:solidFill>
                  <a:srgbClr val="FFFFFF"/>
                </a:solidFill>
                <a:latin typeface="宋体"/>
                <a:cs typeface="宋体"/>
              </a:rPr>
              <a:t>/</a:t>
            </a:r>
            <a:r>
              <a:rPr dirty="0" sz="1600" spc="-2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1600" spc="5">
                <a:solidFill>
                  <a:srgbClr val="FFFFFF"/>
                </a:solidFill>
                <a:latin typeface="宋体"/>
                <a:cs typeface="宋体"/>
              </a:rPr>
              <a:t>产。</a:t>
            </a:r>
            <a:endParaRPr sz="16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48027" y="4131564"/>
          <a:ext cx="5442585" cy="1914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5560"/>
                <a:gridCol w="2825750"/>
              </a:tblGrid>
              <a:tr h="42671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Microsoft JhengHei"/>
                          <a:cs typeface="Microsoft JhengHei"/>
                        </a:rPr>
                        <a:t>破产的可能性</a:t>
                      </a:r>
                      <a:endParaRPr sz="1800">
                        <a:latin typeface="Microsoft JhengHei"/>
                        <a:cs typeface="Microsoft JhengHei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271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.80以下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很高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 spc="-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8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.80～2.70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3937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高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 spc="-5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2.81～2.99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可能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3.00以上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800">
                          <a:solidFill>
                            <a:srgbClr val="FFFFFF"/>
                          </a:solidFill>
                          <a:latin typeface="宋体"/>
                          <a:cs typeface="宋体"/>
                        </a:rPr>
                        <a:t>不可能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5083" y="1539853"/>
            <a:ext cx="7990205" cy="272796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2725">
                <a:solidFill>
                  <a:srgbClr val="FF6600"/>
                </a:solidFill>
                <a:latin typeface="Wingdings"/>
                <a:cs typeface="Wingdings"/>
              </a:rPr>
              <a:t>♦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财务估价</a:t>
            </a:r>
            <a:endParaRPr sz="2800">
              <a:latin typeface="宋体"/>
              <a:cs typeface="宋体"/>
            </a:endParaRPr>
          </a:p>
          <a:p>
            <a:pPr algn="just" marL="356870" marR="5080" indent="569595">
              <a:lnSpc>
                <a:spcPct val="100000"/>
              </a:lnSpc>
              <a:spcBef>
                <a:spcPts val="71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对企业经济价值度量的过程就是财务估价。以企业价 值为依据，科学地进行财务决策，实现企业价值最大化的 理财目标。</a:t>
            </a:r>
            <a:endParaRPr sz="2400">
              <a:latin typeface="宋体"/>
              <a:cs typeface="宋体"/>
            </a:endParaRPr>
          </a:p>
          <a:p>
            <a:pPr algn="just" marL="756285" indent="-287020">
              <a:lnSpc>
                <a:spcPct val="100000"/>
              </a:lnSpc>
              <a:spcBef>
                <a:spcPts val="430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相对估价法</a:t>
            </a:r>
            <a:endParaRPr sz="2400">
              <a:latin typeface="宋体"/>
              <a:cs typeface="宋体"/>
            </a:endParaRPr>
          </a:p>
          <a:p>
            <a:pPr algn="just" marL="756285" indent="-287020">
              <a:lnSpc>
                <a:spcPct val="100000"/>
              </a:lnSpc>
              <a:spcBef>
                <a:spcPts val="1540"/>
              </a:spcBef>
              <a:buClr>
                <a:srgbClr val="FF6600"/>
              </a:buClr>
              <a:buFont typeface="Arial"/>
              <a:buChar char="•"/>
              <a:tabLst>
                <a:tab pos="756920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剩余收益（经济利润）估价模型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53004" y="609092"/>
            <a:ext cx="3225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财务比率的应用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2627" y="609092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相对价</a:t>
            </a:r>
            <a:r>
              <a:rPr dirty="0" sz="4000" spc="-20"/>
              <a:t>值</a:t>
            </a:r>
            <a:r>
              <a:rPr dirty="0" sz="4000" spc="5"/>
              <a:t>模型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31596" y="1813052"/>
            <a:ext cx="6761480" cy="3166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市盈率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模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型：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代表</a:t>
            </a:r>
            <a:endParaRPr sz="2800">
              <a:latin typeface="宋体"/>
              <a:cs typeface="宋体"/>
            </a:endParaRPr>
          </a:p>
          <a:p>
            <a:pPr marL="704215">
              <a:lnSpc>
                <a:spcPct val="100000"/>
              </a:lnSpc>
              <a:spcBef>
                <a:spcPts val="2250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每股价值＝市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盈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率×目标企业每股盈利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400">
              <a:latin typeface="宋体"/>
              <a:cs typeface="宋体"/>
            </a:endParaRPr>
          </a:p>
          <a:p>
            <a:pPr marL="408305">
              <a:lnSpc>
                <a:spcPct val="100000"/>
              </a:lnSpc>
              <a:spcBef>
                <a:spcPts val="171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也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表达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000125">
              <a:lnSpc>
                <a:spcPct val="100000"/>
              </a:lnSpc>
              <a:spcBef>
                <a:spcPts val="695"/>
              </a:spcBef>
            </a:pP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目</a:t>
            </a: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标企</a:t>
            </a:r>
            <a:r>
              <a:rPr dirty="0" sz="2800" spc="-2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800" spc="5">
                <a:solidFill>
                  <a:srgbClr val="FF0000"/>
                </a:solidFill>
                <a:latin typeface="宋体"/>
                <a:cs typeface="宋体"/>
              </a:rPr>
              <a:t>每</a:t>
            </a:r>
            <a:r>
              <a:rPr dirty="0" sz="2800" spc="-20">
                <a:solidFill>
                  <a:srgbClr val="FF0000"/>
                </a:solidFill>
                <a:latin typeface="宋体"/>
                <a:cs typeface="宋体"/>
              </a:rPr>
              <a:t>股</a:t>
            </a:r>
            <a:r>
              <a:rPr dirty="0" sz="2800" spc="5">
                <a:solidFill>
                  <a:srgbClr val="FF0000"/>
                </a:solidFill>
                <a:latin typeface="宋体"/>
                <a:cs typeface="宋体"/>
              </a:rPr>
              <a:t>价值</a:t>
            </a:r>
            <a:endParaRPr sz="2800">
              <a:latin typeface="宋体"/>
              <a:cs typeface="宋体"/>
            </a:endParaRPr>
          </a:p>
          <a:p>
            <a:pPr marL="603885">
              <a:lnSpc>
                <a:spcPct val="100000"/>
              </a:lnSpc>
              <a:spcBef>
                <a:spcPts val="670"/>
              </a:spcBef>
            </a:pPr>
            <a:r>
              <a:rPr dirty="0" sz="2800" spc="5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400" spc="5">
                <a:solidFill>
                  <a:srgbClr val="FFFFFF"/>
                </a:solidFill>
                <a:latin typeface="宋体"/>
                <a:cs typeface="宋体"/>
              </a:rPr>
              <a:t>可比企业平均</a:t>
            </a:r>
            <a:r>
              <a:rPr dirty="0" sz="2400" spc="-25">
                <a:solidFill>
                  <a:srgbClr val="FFFFFF"/>
                </a:solidFill>
                <a:latin typeface="宋体"/>
                <a:cs typeface="宋体"/>
              </a:rPr>
              <a:t>市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盈率×目标企业的每股净利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8604" y="667004"/>
            <a:ext cx="5054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附录：市盈率模型的原理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1491" y="1377188"/>
            <a:ext cx="7493000" cy="5252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31900" marR="1681480" indent="-1219200">
              <a:lnSpc>
                <a:spcPct val="120000"/>
              </a:lnSpc>
              <a:spcBef>
                <a:spcPts val="100"/>
              </a:spcBef>
              <a:tabLst>
                <a:tab pos="1688464" algn="l"/>
                <a:tab pos="1993264" algn="l"/>
                <a:tab pos="24504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市盈率（P/E）＝股价（P）/每股收益(EPS) 即	P	＝	EPS×（P/E）</a:t>
            </a:r>
            <a:endParaRPr sz="2400">
              <a:latin typeface="宋体"/>
              <a:cs typeface="宋体"/>
            </a:endParaRPr>
          </a:p>
          <a:p>
            <a:pPr marL="927100" marR="1986280" indent="-914400">
              <a:lnSpc>
                <a:spcPct val="120000"/>
              </a:lnSpc>
              <a:spcBef>
                <a:spcPts val="86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EPS＝[(EBIT－I）（1－T）]/N  EBIT：息税前收益（息税前盈余）</a:t>
            </a:r>
            <a:endParaRPr sz="2400">
              <a:latin typeface="宋体"/>
              <a:cs typeface="宋体"/>
            </a:endParaRPr>
          </a:p>
          <a:p>
            <a:pPr algn="r" marR="2138680">
              <a:lnSpc>
                <a:spcPct val="100000"/>
              </a:lnSpc>
              <a:spcBef>
                <a:spcPts val="1989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企业股权价值（V）＝P×股票数量（N）</a:t>
            </a:r>
            <a:endParaRPr sz="2400">
              <a:latin typeface="宋体"/>
              <a:cs typeface="宋体"/>
            </a:endParaRPr>
          </a:p>
          <a:p>
            <a:pPr marL="2602865">
              <a:lnSpc>
                <a:spcPct val="100000"/>
              </a:lnSpc>
              <a:spcBef>
                <a:spcPts val="575"/>
              </a:spcBef>
              <a:tabLst>
                <a:tab pos="6108065" algn="l"/>
              </a:tabLst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＝[(EBIT－I）（1－T）]	×（P/E）</a:t>
            </a:r>
            <a:endParaRPr sz="2400">
              <a:latin typeface="宋体"/>
              <a:cs typeface="宋体"/>
            </a:endParaRPr>
          </a:p>
          <a:p>
            <a:pPr algn="r" marR="2138680">
              <a:lnSpc>
                <a:spcPct val="100000"/>
              </a:lnSpc>
              <a:spcBef>
                <a:spcPts val="57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＝税后收益×市盈率</a:t>
            </a:r>
            <a:endParaRPr sz="24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409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估价参数：</a:t>
            </a: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(EBIT－I）（1－T）；</a:t>
            </a:r>
            <a:r>
              <a:rPr dirty="0" sz="1800" spc="1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（P/E）</a:t>
            </a:r>
            <a:endParaRPr sz="1800">
              <a:latin typeface="宋体"/>
              <a:cs typeface="宋体"/>
            </a:endParaRPr>
          </a:p>
          <a:p>
            <a:pPr marL="469265">
              <a:lnSpc>
                <a:spcPct val="100000"/>
              </a:lnSpc>
              <a:spcBef>
                <a:spcPts val="43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其中， EBIT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1800" spc="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（长期负债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股东权益）×资本收益率</a:t>
            </a:r>
            <a:endParaRPr sz="1800">
              <a:latin typeface="宋体"/>
              <a:cs typeface="宋体"/>
            </a:endParaRPr>
          </a:p>
          <a:p>
            <a:pPr algn="ctr" marR="141605">
              <a:lnSpc>
                <a:spcPct val="100000"/>
              </a:lnSpc>
              <a:spcBef>
                <a:spcPts val="459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【资本收益率＝</a:t>
            </a:r>
            <a:r>
              <a:rPr dirty="0" sz="18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宋体"/>
                <a:cs typeface="宋体"/>
              </a:rPr>
              <a:t>EBIT/（</a:t>
            </a: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长期负债＋股东权益）】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请特别注意</a:t>
            </a:r>
            <a:r>
              <a:rPr dirty="0" sz="2400">
                <a:solidFill>
                  <a:srgbClr val="FF0000"/>
                </a:solidFill>
                <a:latin typeface="宋体"/>
                <a:cs typeface="宋体"/>
              </a:rPr>
              <a:t>市盈率</a:t>
            </a:r>
            <a:r>
              <a:rPr dirty="0" sz="2400">
                <a:solidFill>
                  <a:srgbClr val="FFFFFF"/>
                </a:solidFill>
                <a:latin typeface="宋体"/>
                <a:cs typeface="宋体"/>
              </a:rPr>
              <a:t>的选择问题！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2251" y="602996"/>
            <a:ext cx="30765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5"/>
              <a:t>经济利</a:t>
            </a:r>
            <a:r>
              <a:rPr dirty="0" sz="4000" spc="-20"/>
              <a:t>润</a:t>
            </a:r>
            <a:r>
              <a:rPr dirty="0" sz="4000" spc="5"/>
              <a:t>模型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55524" y="1797812"/>
            <a:ext cx="8368030" cy="44075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企业价值</a:t>
            </a:r>
            <a:r>
              <a:rPr dirty="0" sz="2600" spc="-60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600">
                <a:solidFill>
                  <a:srgbClr val="FFFFFF"/>
                </a:solidFill>
                <a:latin typeface="宋体"/>
                <a:cs typeface="宋体"/>
              </a:rPr>
              <a:t>＝（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期初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投资资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＋（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预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计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经济利</a:t>
            </a:r>
            <a:r>
              <a:rPr dirty="0" sz="2600" spc="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600" spc="-10">
                <a:solidFill>
                  <a:srgbClr val="FFFFFF"/>
                </a:solidFill>
                <a:latin typeface="宋体"/>
                <a:cs typeface="宋体"/>
              </a:rPr>
              <a:t>的现值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dirty="0" sz="2000" spc="-10">
                <a:solidFill>
                  <a:srgbClr val="009999"/>
                </a:solidFill>
                <a:latin typeface="宋体"/>
                <a:cs typeface="宋体"/>
              </a:rPr>
              <a:t>投资资</a:t>
            </a:r>
            <a:r>
              <a:rPr dirty="0" sz="2000" spc="10">
                <a:solidFill>
                  <a:srgbClr val="009999"/>
                </a:solidFill>
                <a:latin typeface="宋体"/>
                <a:cs typeface="宋体"/>
              </a:rPr>
              <a:t>本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＝总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产净额</a:t>
            </a:r>
            <a:endParaRPr sz="2000">
              <a:latin typeface="宋体"/>
              <a:cs typeface="宋体"/>
            </a:endParaRPr>
          </a:p>
          <a:p>
            <a:pPr marL="993775">
              <a:lnSpc>
                <a:spcPct val="100000"/>
              </a:lnSpc>
              <a:spcBef>
                <a:spcPts val="36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000" spc="-45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宋体"/>
                <a:cs typeface="宋体"/>
              </a:rPr>
              <a:t>所有者权益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＋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息债务</a:t>
            </a:r>
            <a:endParaRPr sz="2000">
              <a:latin typeface="宋体"/>
              <a:cs typeface="宋体"/>
            </a:endParaRPr>
          </a:p>
          <a:p>
            <a:pPr marL="993775">
              <a:lnSpc>
                <a:spcPct val="100000"/>
              </a:lnSpc>
              <a:spcBef>
                <a:spcPts val="455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000" spc="-46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（流动资产－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息流动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）＋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长期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值－无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长期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债</a:t>
            </a:r>
            <a:endParaRPr sz="200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550164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【</a:t>
            </a:r>
            <a:r>
              <a:rPr dirty="0" sz="2000" spc="-10">
                <a:solidFill>
                  <a:srgbClr val="009999"/>
                </a:solidFill>
                <a:latin typeface="宋体"/>
                <a:cs typeface="宋体"/>
              </a:rPr>
              <a:t>营业</a:t>
            </a:r>
            <a:r>
              <a:rPr dirty="0" sz="2000" spc="10">
                <a:solidFill>
                  <a:srgbClr val="009999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009999"/>
                </a:solidFill>
                <a:latin typeface="宋体"/>
                <a:cs typeface="宋体"/>
              </a:rPr>
              <a:t>动资</a:t>
            </a:r>
            <a:r>
              <a:rPr dirty="0" sz="2000" spc="10">
                <a:solidFill>
                  <a:srgbClr val="009999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009999"/>
                </a:solidFill>
                <a:latin typeface="宋体"/>
                <a:cs typeface="宋体"/>
              </a:rPr>
              <a:t>＝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－无息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动负债	】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经济利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＝经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增加值</a:t>
            </a:r>
            <a:endParaRPr sz="2000">
              <a:latin typeface="宋体"/>
              <a:cs typeface="宋体"/>
            </a:endParaRPr>
          </a:p>
          <a:p>
            <a:pPr marL="1064260">
              <a:lnSpc>
                <a:spcPct val="100000"/>
              </a:lnSpc>
              <a:spcBef>
                <a:spcPts val="36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＝附加经济价值</a:t>
            </a:r>
            <a:endParaRPr sz="2000">
              <a:latin typeface="宋体"/>
              <a:cs typeface="宋体"/>
            </a:endParaRPr>
          </a:p>
          <a:p>
            <a:pPr marL="1064260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＝剩余收益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经济利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＝息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前</a:t>
            </a:r>
            <a:r>
              <a:rPr dirty="0" sz="2000" spc="-10">
                <a:solidFill>
                  <a:srgbClr val="99CC00"/>
                </a:solidFill>
                <a:latin typeface="宋体"/>
                <a:cs typeface="宋体"/>
              </a:rPr>
              <a:t>税后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－（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全部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endParaRPr sz="2000">
              <a:latin typeface="宋体"/>
              <a:cs typeface="宋体"/>
            </a:endParaRPr>
          </a:p>
          <a:p>
            <a:pPr marL="1310640" marR="1287780" indent="-841375">
              <a:lnSpc>
                <a:spcPct val="113999"/>
              </a:lnSpc>
              <a:spcBef>
                <a:spcPts val="265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其中：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息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前税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后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（营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利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润＝投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×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投资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酬率 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资本费用＝投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本×加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权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平均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本成本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027" y="618236"/>
            <a:ext cx="27686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课堂案例讨论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524" y="1424737"/>
            <a:ext cx="8627110" cy="46736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ZD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集团业绩真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假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解读：</a:t>
            </a:r>
            <a:endParaRPr sz="2000">
              <a:latin typeface="宋体"/>
              <a:cs typeface="宋体"/>
            </a:endParaRPr>
          </a:p>
          <a:p>
            <a:pPr algn="just" marL="356870" marR="5080" indent="420370">
              <a:lnSpc>
                <a:spcPct val="97000"/>
              </a:lnSpc>
              <a:spcBef>
                <a:spcPts val="695"/>
              </a:spcBef>
            </a:pPr>
            <a:r>
              <a:rPr dirty="0" sz="2000" spc="25">
                <a:solidFill>
                  <a:srgbClr val="FFFFFF"/>
                </a:solidFill>
                <a:latin typeface="宋体"/>
                <a:cs typeface="宋体"/>
              </a:rPr>
              <a:t>ZD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集团连续三年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以来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一直业绩良好，各项指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均超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过行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平均</a:t>
            </a:r>
            <a:r>
              <a:rPr dirty="0" sz="2000" spc="60">
                <a:solidFill>
                  <a:srgbClr val="FFFFFF"/>
                </a:solidFill>
                <a:latin typeface="宋体"/>
                <a:cs typeface="宋体"/>
              </a:rPr>
              <a:t>水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，  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成为了万众注目的焦点。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然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而去年却因为资不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抵债而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陷入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律纠</a:t>
            </a:r>
            <a:r>
              <a:rPr dirty="0" sz="2000" spc="35">
                <a:solidFill>
                  <a:srgbClr val="FFFFFF"/>
                </a:solidFill>
                <a:latin typeface="宋体"/>
                <a:cs typeface="宋体"/>
              </a:rPr>
              <a:t>纷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引 起外界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其经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业绩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的怀疑。</a:t>
            </a:r>
            <a:endParaRPr sz="2000">
              <a:latin typeface="宋体"/>
              <a:cs typeface="宋体"/>
            </a:endParaRPr>
          </a:p>
          <a:p>
            <a:pPr algn="ctr" marR="1735455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ZD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集团业绩的质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疑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主要集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在以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几个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方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面：</a:t>
            </a:r>
            <a:endParaRPr sz="2000">
              <a:latin typeface="宋体"/>
              <a:cs typeface="宋体"/>
            </a:endParaRPr>
          </a:p>
          <a:p>
            <a:pPr marL="1561465" marR="1688464" indent="-1562735">
              <a:lnSpc>
                <a:spcPct val="100000"/>
              </a:lnSpc>
              <a:spcBef>
                <a:spcPts val="455"/>
              </a:spcBef>
              <a:buSzPct val="95000"/>
              <a:buAutoNum type="arabicPlain"/>
              <a:tabLst>
                <a:tab pos="15621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主营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业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务收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和利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总额是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真正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实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现?</a:t>
            </a:r>
            <a:endParaRPr sz="2000">
              <a:latin typeface="宋体"/>
              <a:cs typeface="宋体"/>
            </a:endParaRPr>
          </a:p>
          <a:p>
            <a:pPr marL="1561465" marR="1688464" indent="-1562735">
              <a:lnSpc>
                <a:spcPct val="100000"/>
              </a:lnSpc>
              <a:spcBef>
                <a:spcPts val="480"/>
              </a:spcBef>
              <a:buSzPct val="95000"/>
              <a:buAutoNum type="arabicPlain"/>
              <a:tabLst>
                <a:tab pos="15621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应收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帐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款、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货是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存在管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不善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问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题?</a:t>
            </a:r>
            <a:endParaRPr sz="2000">
              <a:latin typeface="宋体"/>
              <a:cs typeface="宋体"/>
            </a:endParaRPr>
          </a:p>
          <a:p>
            <a:pPr marL="1561465" marR="3721100" indent="-1562735">
              <a:lnSpc>
                <a:spcPct val="100000"/>
              </a:lnSpc>
              <a:spcBef>
                <a:spcPts val="480"/>
              </a:spcBef>
              <a:buSzPct val="95000"/>
              <a:buAutoNum type="arabicPlain"/>
              <a:tabLst>
                <a:tab pos="15621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缺乏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相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应的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金流入?</a:t>
            </a:r>
            <a:endParaRPr sz="2000">
              <a:latin typeface="宋体"/>
              <a:cs typeface="宋体"/>
            </a:endParaRPr>
          </a:p>
          <a:p>
            <a:pPr algn="ctr" marR="1991360">
              <a:lnSpc>
                <a:spcPct val="100000"/>
              </a:lnSpc>
              <a:spcBef>
                <a:spcPts val="480"/>
              </a:spcBef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讨论：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如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何运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所学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知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识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对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ZD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集团报告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业绩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进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行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评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价？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600">
              <a:latin typeface="宋体"/>
              <a:cs typeface="宋体"/>
            </a:endParaRPr>
          </a:p>
          <a:p>
            <a:pPr marL="82550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要点提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647065" indent="-635000">
              <a:lnSpc>
                <a:spcPct val="100000"/>
              </a:lnSpc>
              <a:spcBef>
                <a:spcPts val="455"/>
              </a:spcBef>
              <a:buSzPct val="95000"/>
              <a:buAutoNum type="arabicPlain"/>
              <a:tabLst>
                <a:tab pos="647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应收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账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款、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存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货对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金流有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什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么影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响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  <a:p>
            <a:pPr marL="647065" indent="-635000">
              <a:lnSpc>
                <a:spcPct val="100000"/>
              </a:lnSpc>
              <a:spcBef>
                <a:spcPts val="505"/>
              </a:spcBef>
              <a:buSzPct val="95000"/>
              <a:buAutoNum type="arabicPlain"/>
              <a:tabLst>
                <a:tab pos="647700" algn="l"/>
              </a:tabLst>
            </a:pP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现金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量重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要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吗？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现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金流量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利润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什么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关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系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又有什</a:t>
            </a:r>
            <a:r>
              <a:rPr dirty="0" sz="2000" spc="10">
                <a:solidFill>
                  <a:srgbClr val="FFFFFF"/>
                </a:solidFill>
                <a:latin typeface="宋体"/>
                <a:cs typeface="宋体"/>
              </a:rPr>
              <a:t>么</a:t>
            </a:r>
            <a:r>
              <a:rPr dirty="0" sz="2000" spc="-10">
                <a:solidFill>
                  <a:srgbClr val="FFFFFF"/>
                </a:solidFill>
                <a:latin typeface="宋体"/>
                <a:cs typeface="宋体"/>
              </a:rPr>
              <a:t>区别？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2023-10-22T13:38:38Z</dcterms:created>
  <dcterms:modified xsi:type="dcterms:W3CDTF">2023-10-22T13:38:38Z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2006-06-02T00:00:00Z</vt:filetime>
  </property>
  <property fmtid="{D5CDD505-2E9C-101B-9397-08002B2CF9AE}" pid="3" name="LastSaved">
    <vt:filetime>2006-06-02T00:00:00Z</vt:filetime>
  </property>
</Properties>
</file>