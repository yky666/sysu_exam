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74852" y="1558238"/>
            <a:ext cx="2326640" cy="4137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440171" y="1558238"/>
            <a:ext cx="2756534" cy="4137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46888" y="280416"/>
            <a:ext cx="1060704" cy="1054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511808" y="594364"/>
            <a:ext cx="3840455" cy="4693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362455" y="1100329"/>
            <a:ext cx="4142220" cy="192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15823" y="112776"/>
            <a:ext cx="8891270" cy="6598920"/>
          </a:xfrm>
          <a:custGeom>
            <a:avLst/>
            <a:gdLst/>
            <a:ahLst/>
            <a:cxnLst/>
            <a:rect l="l" t="t" r="r" b="b"/>
            <a:pathLst>
              <a:path w="8891270" h="6598920">
                <a:moveTo>
                  <a:pt x="0" y="0"/>
                </a:moveTo>
                <a:lnTo>
                  <a:pt x="0" y="6598919"/>
                </a:lnTo>
                <a:lnTo>
                  <a:pt x="8891015" y="6598919"/>
                </a:lnTo>
                <a:lnTo>
                  <a:pt x="8891015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679704" y="36438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679704" y="36469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679704" y="36499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679704" y="36530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679704" y="36560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679704" y="36591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679704" y="36621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679704" y="36652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679704" y="36682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79704" y="36713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679704" y="36743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679704" y="36774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679704" y="36804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679704" y="36835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679704" y="36865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679704" y="36896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679704" y="36926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679704" y="36957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679704" y="36987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679704" y="37017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679704" y="37048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679704" y="37078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679704" y="371094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679704" y="371398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679704" y="371703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679704" y="37200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679704" y="37231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679704" y="37261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679704" y="37292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679704" y="37322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679704" y="37353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679704" y="37383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679704" y="37414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679704" y="37444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679704" y="37475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679704" y="37505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679704" y="37536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679704" y="37566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679704" y="37597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679704" y="37627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679704" y="37658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679704" y="37688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679704" y="37719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679704" y="37749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679704" y="37779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bk object 66"/>
          <p:cNvSpPr/>
          <p:nvPr/>
        </p:nvSpPr>
        <p:spPr>
          <a:xfrm>
            <a:off x="679704" y="37810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bk object 67"/>
          <p:cNvSpPr/>
          <p:nvPr/>
        </p:nvSpPr>
        <p:spPr>
          <a:xfrm>
            <a:off x="679704" y="37840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21920" y="14127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21920" y="14157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21920" y="14188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21920" y="14218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21920" y="14249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121920" y="14279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21920" y="14310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21920" y="14340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121920" y="14371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121920" y="14401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121920" y="14432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121920" y="14462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21920" y="14493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121920" y="14523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121920" y="14554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121920" y="14584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121920" y="14615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121920" y="14645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121920" y="14676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121920" y="14706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121920" y="14737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121920" y="14767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121920" y="147980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121920" y="148285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121920" y="148590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121920" y="14889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121920" y="14919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121920" y="14950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121920" y="14980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121920" y="15011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121920" y="15041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121920" y="15072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121920" y="15102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121920" y="15133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121920" y="15163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121920" y="15194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121920" y="15224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121920" y="15255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121920" y="15285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121920" y="15316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121920" y="15346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121920" y="15377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121920" y="15407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121920" y="15438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121920" y="15468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121920" y="15499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121920" y="15529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38803" y="667004"/>
            <a:ext cx="1866392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17980" y="1581404"/>
            <a:ext cx="5359400" cy="4390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0651" y="2760980"/>
            <a:ext cx="58166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5665" algn="l"/>
              </a:tabLst>
            </a:pPr>
            <a:r>
              <a:rPr dirty="0" sz="4800"/>
              <a:t>第一章</a:t>
            </a:r>
            <a:r>
              <a:rPr dirty="0" sz="4800"/>
              <a:t>	</a:t>
            </a:r>
            <a:r>
              <a:rPr dirty="0" sz="4800"/>
              <a:t>财务管理总论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本章要点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776220" y="1998980"/>
            <a:ext cx="3570604" cy="28860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课程简介</a:t>
            </a:r>
            <a:endParaRPr sz="2800">
              <a:latin typeface="Microsoft JhengHei"/>
              <a:cs typeface="Microsoft JhengHei"/>
            </a:endParaRPr>
          </a:p>
          <a:p>
            <a:pPr algn="just" marL="12700" marR="5080">
              <a:lnSpc>
                <a:spcPct val="190000"/>
              </a:lnSpc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财务管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理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的研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究对</a:t>
            </a:r>
            <a:r>
              <a:rPr dirty="0" sz="2800" spc="-335" b="1">
                <a:solidFill>
                  <a:srgbClr val="FFFFFF"/>
                </a:solidFill>
                <a:latin typeface="Microsoft JhengHei"/>
                <a:cs typeface="Microsoft JhengHei"/>
              </a:rPr>
              <a:t>象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企业财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务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管理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的目</a:t>
            </a:r>
            <a:r>
              <a:rPr dirty="0" sz="2800" spc="-335" b="1">
                <a:solidFill>
                  <a:srgbClr val="FFFFFF"/>
                </a:solidFill>
                <a:latin typeface="Microsoft JhengHei"/>
                <a:cs typeface="Microsoft JhengHei"/>
              </a:rPr>
              <a:t>标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理财环境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1931" y="1572260"/>
            <a:ext cx="8477885" cy="438912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356870" marR="334010" indent="-344805">
              <a:lnSpc>
                <a:spcPct val="100200"/>
              </a:lnSpc>
              <a:spcBef>
                <a:spcPts val="85"/>
              </a:spcBef>
              <a:buClr>
                <a:srgbClr val="FF6600"/>
              </a:buClr>
              <a:buFont typeface="Wingdings"/>
              <a:buChar char=""/>
              <a:tabLst>
                <a:tab pos="357505" algn="l"/>
              </a:tabLst>
            </a:pP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财务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管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有关资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的筹集和有效使用</a:t>
            </a:r>
            <a:r>
              <a:rPr dirty="0" sz="2600" spc="3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管理。现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代 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财务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论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建立在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业价值最大化的目</a:t>
            </a:r>
            <a:r>
              <a:rPr dirty="0" sz="2600" spc="35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基础上，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重 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点探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讨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司特别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股份有限公司这种</a:t>
            </a:r>
            <a:r>
              <a:rPr dirty="0" sz="2600" spc="35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代企业制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度 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的主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形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下，如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何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对公司经营过程中</a:t>
            </a:r>
            <a:r>
              <a:rPr dirty="0" sz="2600" spc="35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资金运动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进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行预测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决策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  <a:p>
            <a:pPr marL="356870" indent="-357505">
              <a:lnSpc>
                <a:spcPct val="100000"/>
              </a:lnSpc>
              <a:buClr>
                <a:srgbClr val="FF6600"/>
              </a:buClr>
              <a:buFont typeface="Wingdings"/>
              <a:buChar char=""/>
              <a:tabLst>
                <a:tab pos="357505" algn="l"/>
              </a:tabLst>
            </a:pP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内容包括：财务管理基础知识、筹资管</a:t>
            </a:r>
            <a:r>
              <a:rPr dirty="0" sz="2600" spc="35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、投资管理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endParaRPr sz="2600">
              <a:latin typeface="宋体"/>
              <a:cs typeface="宋体"/>
            </a:endParaRPr>
          </a:p>
          <a:p>
            <a:pPr algn="ctr" marL="356870" marR="334010">
              <a:lnSpc>
                <a:spcPct val="100000"/>
              </a:lnSpc>
              <a:spcBef>
                <a:spcPts val="25"/>
              </a:spcBef>
            </a:pP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营运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管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理、股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理论与政策、财务</a:t>
            </a:r>
            <a:r>
              <a:rPr dirty="0" sz="2600" spc="35">
                <a:solidFill>
                  <a:srgbClr val="FFFFFF"/>
                </a:solidFill>
                <a:latin typeface="宋体"/>
                <a:cs typeface="宋体"/>
              </a:rPr>
              <a:t>报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表分析、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财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务预算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管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理、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购的财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管理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国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际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财务管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  <a:p>
            <a:pPr algn="just" marL="356870" marR="330835" indent="-344805">
              <a:lnSpc>
                <a:spcPct val="100000"/>
              </a:lnSpc>
              <a:buClr>
                <a:srgbClr val="FF6600"/>
              </a:buClr>
              <a:buFont typeface="Wingdings"/>
              <a:buChar char=""/>
              <a:tabLst>
                <a:tab pos="357505" algn="l"/>
              </a:tabLst>
            </a:pP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学习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财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管</a:t>
            </a:r>
            <a:r>
              <a:rPr dirty="0" sz="2600" spc="60">
                <a:solidFill>
                  <a:srgbClr val="FFFFFF"/>
                </a:solidFill>
                <a:latin typeface="宋体"/>
                <a:cs typeface="宋体"/>
              </a:rPr>
              <a:t>理需要</a:t>
            </a:r>
            <a:r>
              <a:rPr dirty="0" sz="2600" spc="85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600" spc="60" b="1">
                <a:solidFill>
                  <a:srgbClr val="FFFFFF"/>
                </a:solidFill>
                <a:latin typeface="Microsoft JhengHei"/>
                <a:cs typeface="Microsoft JhengHei"/>
              </a:rPr>
              <a:t>会计</a:t>
            </a:r>
            <a:r>
              <a:rPr dirty="0" sz="2600" spc="85" b="1">
                <a:solidFill>
                  <a:srgbClr val="FFFFFF"/>
                </a:solidFill>
                <a:latin typeface="Microsoft JhengHei"/>
                <a:cs typeface="Microsoft JhengHei"/>
              </a:rPr>
              <a:t>学</a:t>
            </a:r>
            <a:r>
              <a:rPr dirty="0" sz="2600" spc="35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600" spc="60" b="1">
                <a:solidFill>
                  <a:srgbClr val="FFFFFF"/>
                </a:solidFill>
                <a:latin typeface="Microsoft JhengHei"/>
                <a:cs typeface="Microsoft JhengHei"/>
              </a:rPr>
              <a:t>统计</a:t>
            </a:r>
            <a:r>
              <a:rPr dirty="0" sz="2600" spc="85" b="1">
                <a:solidFill>
                  <a:srgbClr val="FFFFFF"/>
                </a:solidFill>
                <a:latin typeface="Microsoft JhengHei"/>
                <a:cs typeface="Microsoft JhengHei"/>
              </a:rPr>
              <a:t>学</a:t>
            </a:r>
            <a:r>
              <a:rPr dirty="0" sz="2600" spc="35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600" spc="35" b="1">
                <a:solidFill>
                  <a:srgbClr val="FFFFFF"/>
                </a:solidFill>
                <a:latin typeface="Microsoft JhengHei"/>
                <a:cs typeface="Microsoft JhengHei"/>
              </a:rPr>
              <a:t>微</a:t>
            </a:r>
            <a:r>
              <a:rPr dirty="0" sz="2600" spc="60" b="1">
                <a:solidFill>
                  <a:srgbClr val="FFFFFF"/>
                </a:solidFill>
                <a:latin typeface="Microsoft JhengHei"/>
                <a:cs typeface="Microsoft JhengHei"/>
              </a:rPr>
              <a:t>观经济</a:t>
            </a:r>
            <a:r>
              <a:rPr dirty="0" sz="2600" spc="85" b="1">
                <a:solidFill>
                  <a:srgbClr val="FFFFFF"/>
                </a:solidFill>
                <a:latin typeface="Microsoft JhengHei"/>
                <a:cs typeface="Microsoft JhengHei"/>
              </a:rPr>
              <a:t>学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基础。</a:t>
            </a:r>
            <a:endParaRPr sz="26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"/>
              <a:tabLst>
                <a:tab pos="357505" algn="l"/>
              </a:tabLst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财务管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与财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政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会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计的联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与区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别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8220" y="542036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课程简介</a:t>
            </a:r>
            <a:endParaRPr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091" y="1453918"/>
            <a:ext cx="8130540" cy="514731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645"/>
              </a:spcBef>
              <a:buClr>
                <a:srgbClr val="FF6600"/>
              </a:buClr>
              <a:buFont typeface="Wingdings"/>
              <a:buChar char="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教材:</a:t>
            </a:r>
            <a:endParaRPr sz="2400">
              <a:latin typeface="宋体"/>
              <a:cs typeface="宋体"/>
            </a:endParaRPr>
          </a:p>
          <a:p>
            <a:pPr marL="356870" marR="5080" indent="-64135">
              <a:lnSpc>
                <a:spcPct val="100000"/>
              </a:lnSpc>
              <a:spcBef>
                <a:spcPts val="515"/>
              </a:spcBef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刘娥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平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编著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《现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代企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业财务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管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理》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第三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版）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，中山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学出版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社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，2004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9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月</a:t>
            </a:r>
            <a:endParaRPr sz="22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90"/>
              </a:spcBef>
              <a:buClr>
                <a:srgbClr val="FF6600"/>
              </a:buClr>
              <a:buFont typeface="Wingdings"/>
              <a:buChar char="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主要参考书目:</a:t>
            </a:r>
            <a:endParaRPr sz="2400">
              <a:latin typeface="宋体"/>
              <a:cs typeface="宋体"/>
            </a:endParaRPr>
          </a:p>
          <a:p>
            <a:pPr lvl="1" marL="756285" marR="99060" indent="-287020">
              <a:lnSpc>
                <a:spcPts val="2620"/>
              </a:lnSpc>
              <a:spcBef>
                <a:spcPts val="61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  <a:tab pos="4810125" algn="l"/>
              </a:tabLst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Richard A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.Brealey,</a:t>
            </a:r>
            <a:r>
              <a:rPr dirty="0" sz="2200" spc="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Stewart	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C .Myers, 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Principles</a:t>
            </a:r>
            <a:r>
              <a:rPr dirty="0" sz="2200" spc="-6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of  Corporate Finance, 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McGraw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Hill</a:t>
            </a:r>
            <a:r>
              <a:rPr dirty="0" sz="2200" spc="-4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Press,2004</a:t>
            </a:r>
            <a:endParaRPr sz="2200">
              <a:latin typeface="宋体"/>
              <a:cs typeface="宋体"/>
            </a:endParaRPr>
          </a:p>
          <a:p>
            <a:pPr lvl="1" marL="756285" marR="99060" indent="-287020">
              <a:lnSpc>
                <a:spcPct val="110000"/>
              </a:lnSpc>
              <a:spcBef>
                <a:spcPts val="41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Stephen A.Rose, 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Randolph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W. 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Westerfield, Jeffery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F.  Jaffe</a:t>
            </a:r>
            <a:r>
              <a:rPr dirty="0" sz="22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吴世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农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、沈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艺峰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等译，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《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财》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，机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械工业出 版社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，2003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endParaRPr sz="2200">
              <a:latin typeface="宋体"/>
              <a:cs typeface="宋体"/>
            </a:endParaRPr>
          </a:p>
          <a:p>
            <a:pPr lvl="1" marL="756285" marR="99060" indent="-287020">
              <a:lnSpc>
                <a:spcPct val="109100"/>
              </a:lnSpc>
              <a:spcBef>
                <a:spcPts val="55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齐寅峰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著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，《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司财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务学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》（第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版）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经济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科学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出版社， 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2000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9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月</a:t>
            </a:r>
            <a:endParaRPr sz="2200">
              <a:latin typeface="宋体"/>
              <a:cs typeface="宋体"/>
            </a:endParaRPr>
          </a:p>
          <a:p>
            <a:pPr lvl="1" marL="756285" marR="99060" indent="-287020">
              <a:lnSpc>
                <a:spcPct val="110000"/>
              </a:lnSpc>
              <a:spcBef>
                <a:spcPts val="52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刘力编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著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，《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财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务管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理学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》（第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版）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管理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出版社， 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2000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8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月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8220" y="542036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课程简介</a:t>
            </a:r>
            <a:endParaRPr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4" y="639572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财务管</a:t>
            </a:r>
            <a:r>
              <a:rPr dirty="0" sz="4000" spc="-20"/>
              <a:t>理</a:t>
            </a:r>
            <a:r>
              <a:rPr dirty="0" sz="4000" spc="5"/>
              <a:t>的</a:t>
            </a:r>
            <a:r>
              <a:rPr dirty="0" sz="4000" spc="-20"/>
              <a:t>研</a:t>
            </a:r>
            <a:r>
              <a:rPr dirty="0" sz="4000" spc="5"/>
              <a:t>究对象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105916" y="1889252"/>
            <a:ext cx="7399020" cy="3641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877569">
              <a:lnSpc>
                <a:spcPct val="100000"/>
              </a:lnSpc>
              <a:spcBef>
                <a:spcPts val="90"/>
              </a:spcBef>
            </a:pP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企业财务管理就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对企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的资金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运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动 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及其所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体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现的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财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务关系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管理。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350">
              <a:latin typeface="宋体"/>
              <a:cs typeface="宋体"/>
            </a:endParaRPr>
          </a:p>
          <a:p>
            <a:pPr marL="1496695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金运动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50">
              <a:latin typeface="宋体"/>
              <a:cs typeface="宋体"/>
            </a:endParaRPr>
          </a:p>
          <a:p>
            <a:pPr marL="1496695">
              <a:lnSpc>
                <a:spcPct val="100000"/>
              </a:lnSpc>
              <a:spcBef>
                <a:spcPts val="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财务关系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宋体"/>
              <a:cs typeface="宋体"/>
            </a:endParaRPr>
          </a:p>
          <a:p>
            <a:pPr marL="1496695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的作用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企业的</a:t>
            </a:r>
            <a:r>
              <a:rPr dirty="0" sz="4000" spc="-20"/>
              <a:t>资</a:t>
            </a:r>
            <a:r>
              <a:rPr dirty="0" sz="4000" spc="5"/>
              <a:t>金</a:t>
            </a:r>
            <a:r>
              <a:rPr dirty="0" sz="4000" spc="-20"/>
              <a:t>运</a:t>
            </a:r>
            <a:r>
              <a:rPr dirty="0" sz="4000" spc="5"/>
              <a:t>动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45083" y="1439367"/>
            <a:ext cx="6456680" cy="431419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7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资金的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所有者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endParaRPr sz="28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spcBef>
                <a:spcPts val="1490"/>
              </a:spcBef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投资者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入的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endParaRPr sz="2800">
              <a:latin typeface="宋体"/>
              <a:cs typeface="宋体"/>
            </a:endParaRPr>
          </a:p>
          <a:p>
            <a:pPr marL="1816735">
              <a:lnSpc>
                <a:spcPct val="100000"/>
              </a:lnSpc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实收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本），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本公积</a:t>
            </a:r>
            <a:endParaRPr sz="28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的资金</a:t>
            </a:r>
            <a:endParaRPr sz="2800">
              <a:latin typeface="宋体"/>
              <a:cs typeface="宋体"/>
            </a:endParaRPr>
          </a:p>
          <a:p>
            <a:pPr marL="1816735">
              <a:lnSpc>
                <a:spcPct val="100000"/>
              </a:lnSpc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盈余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积，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分配利润</a:t>
            </a:r>
            <a:endParaRPr sz="28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负债</a:t>
            </a:r>
            <a:endParaRPr sz="2800">
              <a:latin typeface="宋体"/>
              <a:cs typeface="宋体"/>
            </a:endParaRPr>
          </a:p>
          <a:p>
            <a:pPr lvl="2" marL="1155700" indent="-228600">
              <a:lnSpc>
                <a:spcPct val="100000"/>
              </a:lnSpc>
              <a:buClr>
                <a:srgbClr val="FF6600"/>
              </a:buClr>
              <a:buFont typeface="Wingdings"/>
              <a:buChar char=""/>
              <a:tabLst>
                <a:tab pos="115570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借入的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endParaRPr sz="2800">
              <a:latin typeface="宋体"/>
              <a:cs typeface="宋体"/>
            </a:endParaRPr>
          </a:p>
          <a:p>
            <a:pPr marL="1816735">
              <a:lnSpc>
                <a:spcPct val="100000"/>
              </a:lnSpc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流动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债，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期负债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1155" y="1640535"/>
            <a:ext cx="2195830" cy="3619500"/>
          </a:xfrm>
          <a:prstGeom prst="rect">
            <a:avLst/>
          </a:prstGeom>
        </p:spPr>
        <p:txBody>
          <a:bodyPr wrap="square" lIns="0" tIns="186055" rIns="0" bIns="0" rtlCol="0" vert="horz">
            <a:spAutoFit/>
          </a:bodyPr>
          <a:lstStyle/>
          <a:p>
            <a:pPr algn="r" marL="344805" marR="50800" indent="-344805">
              <a:lnSpc>
                <a:spcPct val="100000"/>
              </a:lnSpc>
              <a:spcBef>
                <a:spcPts val="1465"/>
              </a:spcBef>
              <a:buClr>
                <a:srgbClr val="FF6600"/>
              </a:buClr>
              <a:buFont typeface="Wingdings"/>
              <a:buChar char="►"/>
              <a:tabLst>
                <a:tab pos="3448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资金的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运</a:t>
            </a:r>
            <a:r>
              <a:rPr dirty="0" sz="2800" spc="-2165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endParaRPr sz="2800">
              <a:latin typeface="宋体"/>
              <a:cs typeface="宋体"/>
            </a:endParaRPr>
          </a:p>
          <a:p>
            <a:pPr algn="r" lvl="1" marL="286385" marR="5080" indent="-286385">
              <a:lnSpc>
                <a:spcPct val="100000"/>
              </a:lnSpc>
              <a:spcBef>
                <a:spcPts val="1370"/>
              </a:spcBef>
              <a:buClr>
                <a:srgbClr val="FF6600"/>
              </a:buClr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流动资产</a:t>
            </a:r>
            <a:endParaRPr sz="2800">
              <a:latin typeface="宋体"/>
              <a:cs typeface="宋体"/>
            </a:endParaRPr>
          </a:p>
          <a:p>
            <a:pPr algn="r" lvl="1" marL="286385" marR="5080" indent="-286385">
              <a:lnSpc>
                <a:spcPct val="100000"/>
              </a:lnSpc>
              <a:spcBef>
                <a:spcPts val="1340"/>
              </a:spcBef>
              <a:buClr>
                <a:srgbClr val="FF6600"/>
              </a:buClr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长期投资</a:t>
            </a:r>
            <a:endParaRPr sz="2800">
              <a:latin typeface="宋体"/>
              <a:cs typeface="宋体"/>
            </a:endParaRPr>
          </a:p>
          <a:p>
            <a:pPr algn="r" lvl="1" marL="286385" marR="5080" indent="-286385">
              <a:lnSpc>
                <a:spcPct val="100000"/>
              </a:lnSpc>
              <a:spcBef>
                <a:spcPts val="1345"/>
              </a:spcBef>
              <a:buClr>
                <a:srgbClr val="FF6600"/>
              </a:buClr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固定资产</a:t>
            </a:r>
            <a:endParaRPr sz="2800">
              <a:latin typeface="宋体"/>
              <a:cs typeface="宋体"/>
            </a:endParaRPr>
          </a:p>
          <a:p>
            <a:pPr algn="r" lvl="1" marL="286385" marR="5080" indent="-286385">
              <a:lnSpc>
                <a:spcPct val="100000"/>
              </a:lnSpc>
              <a:spcBef>
                <a:spcPts val="1370"/>
              </a:spcBef>
              <a:buClr>
                <a:srgbClr val="FF6600"/>
              </a:buClr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无形资产</a:t>
            </a:r>
            <a:endParaRPr sz="2800">
              <a:latin typeface="宋体"/>
              <a:cs typeface="宋体"/>
            </a:endParaRPr>
          </a:p>
          <a:p>
            <a:pPr algn="r" lvl="1" marL="286385" marR="5080" indent="-286385">
              <a:lnSpc>
                <a:spcPct val="100000"/>
              </a:lnSpc>
              <a:spcBef>
                <a:spcPts val="1345"/>
              </a:spcBef>
              <a:buClr>
                <a:srgbClr val="FF6600"/>
              </a:buClr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其他资产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企业的</a:t>
            </a:r>
            <a:r>
              <a:rPr dirty="0" sz="4000" spc="-20"/>
              <a:t>资</a:t>
            </a:r>
            <a:r>
              <a:rPr dirty="0" sz="4000" spc="5"/>
              <a:t>金</a:t>
            </a:r>
            <a:r>
              <a:rPr dirty="0" sz="4000" spc="-20"/>
              <a:t>运</a:t>
            </a:r>
            <a:r>
              <a:rPr dirty="0" sz="4000" spc="5"/>
              <a:t>动</a:t>
            </a:r>
            <a:endParaRPr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5076" y="1043127"/>
            <a:ext cx="5006340" cy="15621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356235">
              <a:lnSpc>
                <a:spcPct val="120000"/>
              </a:lnSpc>
              <a:spcBef>
                <a:spcPts val="95"/>
              </a:spcBef>
              <a:tabLst>
                <a:tab pos="2326005" algn="l"/>
              </a:tabLst>
            </a:pPr>
            <a:r>
              <a:rPr dirty="0" sz="2800" spc="5" b="0">
                <a:solidFill>
                  <a:srgbClr val="FFFFFF"/>
                </a:solidFill>
                <a:latin typeface="宋体"/>
                <a:cs typeface="宋体"/>
              </a:rPr>
              <a:t>资产</a:t>
            </a:r>
            <a:r>
              <a:rPr dirty="0" sz="2800" spc="-35" b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800" spc="5" b="0">
                <a:solidFill>
                  <a:srgbClr val="FFFFFF"/>
                </a:solidFill>
                <a:latin typeface="宋体"/>
                <a:cs typeface="宋体"/>
              </a:rPr>
              <a:t> 负	债</a:t>
            </a:r>
            <a:r>
              <a:rPr dirty="0" sz="2800" spc="-50" b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0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800" spc="-35" b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20" b="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800" spc="5" b="0">
                <a:solidFill>
                  <a:srgbClr val="FFFFFF"/>
                </a:solidFill>
                <a:latin typeface="宋体"/>
                <a:cs typeface="宋体"/>
              </a:rPr>
              <a:t>有者</a:t>
            </a:r>
            <a:r>
              <a:rPr dirty="0" sz="2800" spc="-20" b="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800" spc="5" b="0">
                <a:solidFill>
                  <a:srgbClr val="FFFFFF"/>
                </a:solidFill>
                <a:latin typeface="宋体"/>
                <a:cs typeface="宋体"/>
              </a:rPr>
              <a:t>益 </a:t>
            </a:r>
            <a:r>
              <a:rPr dirty="0" sz="2800" b="0">
                <a:solidFill>
                  <a:srgbClr val="FFFFFF"/>
                </a:solidFill>
                <a:latin typeface="宋体"/>
                <a:cs typeface="宋体"/>
              </a:rPr>
              <a:t>2292</a:t>
            </a:r>
            <a:r>
              <a:rPr dirty="0" sz="2800" spc="5" b="0">
                <a:solidFill>
                  <a:srgbClr val="FFFFFF"/>
                </a:solidFill>
                <a:latin typeface="宋体"/>
                <a:cs typeface="宋体"/>
              </a:rPr>
              <a:t>亿</a:t>
            </a:r>
            <a:r>
              <a:rPr dirty="0" sz="2800" spc="-45" b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800" spc="-5" b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0">
                <a:solidFill>
                  <a:srgbClr val="FFFFFF"/>
                </a:solidFill>
                <a:latin typeface="宋体"/>
                <a:cs typeface="宋体"/>
              </a:rPr>
              <a:t>2242</a:t>
            </a:r>
            <a:r>
              <a:rPr dirty="0" sz="2800" spc="5" b="0">
                <a:solidFill>
                  <a:srgbClr val="FFFFFF"/>
                </a:solidFill>
                <a:latin typeface="宋体"/>
                <a:cs typeface="宋体"/>
              </a:rPr>
              <a:t>亿</a:t>
            </a:r>
            <a:r>
              <a:rPr dirty="0" sz="2800" spc="-20" b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0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800" spc="-25" b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0">
                <a:solidFill>
                  <a:srgbClr val="FFFFFF"/>
                </a:solidFill>
                <a:latin typeface="宋体"/>
                <a:cs typeface="宋体"/>
              </a:rPr>
              <a:t>50</a:t>
            </a:r>
            <a:r>
              <a:rPr dirty="0" sz="2800" spc="5" b="0">
                <a:solidFill>
                  <a:srgbClr val="FFFFFF"/>
                </a:solidFill>
                <a:latin typeface="宋体"/>
                <a:cs typeface="宋体"/>
              </a:rPr>
              <a:t>亿</a:t>
            </a:r>
            <a:endParaRPr sz="2800">
              <a:latin typeface="宋体"/>
              <a:cs typeface="宋体"/>
            </a:endParaRPr>
          </a:p>
          <a:p>
            <a:pPr marL="189230">
              <a:lnSpc>
                <a:spcPct val="100000"/>
              </a:lnSpc>
              <a:spcBef>
                <a:spcPts val="675"/>
              </a:spcBef>
            </a:pPr>
            <a:r>
              <a:rPr dirty="0" sz="2800" spc="5" b="0">
                <a:solidFill>
                  <a:srgbClr val="FFFFFF"/>
                </a:solidFill>
                <a:latin typeface="宋体"/>
                <a:cs typeface="宋体"/>
              </a:rPr>
              <a:t>214亿</a:t>
            </a:r>
            <a:r>
              <a:rPr dirty="0" sz="2800" spc="-50" b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800" spc="-10" b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0">
                <a:solidFill>
                  <a:srgbClr val="FFFFFF"/>
                </a:solidFill>
                <a:latin typeface="宋体"/>
                <a:cs typeface="宋体"/>
              </a:rPr>
              <a:t>361</a:t>
            </a:r>
            <a:r>
              <a:rPr dirty="0" sz="2800" spc="-10" b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 b="0">
                <a:solidFill>
                  <a:srgbClr val="FFFFFF"/>
                </a:solidFill>
                <a:latin typeface="宋体"/>
                <a:cs typeface="宋体"/>
              </a:rPr>
              <a:t>亿</a:t>
            </a:r>
            <a:r>
              <a:rPr dirty="0" sz="2800" spc="-20" b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0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800" spc="-15" b="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宋体"/>
                <a:cs typeface="宋体"/>
              </a:rPr>
              <a:t>（-147</a:t>
            </a:r>
            <a:r>
              <a:rPr dirty="0" sz="2800" spc="-20" b="0">
                <a:solidFill>
                  <a:srgbClr val="FFFFFF"/>
                </a:solidFill>
                <a:latin typeface="宋体"/>
                <a:cs typeface="宋体"/>
              </a:rPr>
              <a:t>亿</a:t>
            </a:r>
            <a:r>
              <a:rPr dirty="0" sz="2800" spc="5" b="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92936" y="2834640"/>
          <a:ext cx="6285230" cy="3118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3090"/>
                <a:gridCol w="3133090"/>
              </a:tblGrid>
              <a:tr h="4571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资产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负债及</a:t>
                      </a: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所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有者</a:t>
                      </a: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权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益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4483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流动资产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algn="ctr" marL="1057275" marR="1056005">
                        <a:lnSpc>
                          <a:spcPct val="146000"/>
                        </a:lnSpc>
                        <a:spcBef>
                          <a:spcPts val="95"/>
                        </a:spcBef>
                      </a:pP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长期投资 固定资产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流动负债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algn="ctr" marL="929640" marR="927735">
                        <a:lnSpc>
                          <a:spcPct val="146000"/>
                        </a:lnSpc>
                        <a:spcBef>
                          <a:spcPts val="95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长期负债 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所有者</a:t>
                      </a:r>
                      <a:r>
                        <a:rPr dirty="0" sz="2000" spc="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权</a:t>
                      </a:r>
                      <a:r>
                        <a:rPr dirty="0" sz="20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益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  <a:tr h="7462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无形及</a:t>
                      </a: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其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它资产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1568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541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资产总计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负债及</a:t>
                      </a: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所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有者</a:t>
                      </a: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权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益总计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1596" y="1616150"/>
            <a:ext cx="4993640" cy="446976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10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资金的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配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01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补偿生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00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缴纳流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税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03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支付利息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00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缴纳所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税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01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弥补亏损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00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提取法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金和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任意公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03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向投资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分配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企业的</a:t>
            </a:r>
            <a:r>
              <a:rPr dirty="0" sz="4000" spc="-20"/>
              <a:t>资</a:t>
            </a:r>
            <a:r>
              <a:rPr dirty="0" sz="4000" spc="5"/>
              <a:t>金</a:t>
            </a:r>
            <a:r>
              <a:rPr dirty="0" sz="4000" spc="-20"/>
              <a:t>运</a:t>
            </a:r>
            <a:r>
              <a:rPr dirty="0" sz="4000" spc="5"/>
              <a:t>动</a:t>
            </a:r>
            <a:endParaRPr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523748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财务关系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105916" y="1869135"/>
            <a:ext cx="7505700" cy="37014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725170">
              <a:lnSpc>
                <a:spcPct val="130000"/>
              </a:lnSpc>
              <a:spcBef>
                <a:spcPts val="9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就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资金运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过程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中与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个有关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面发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生的经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利益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关系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。主要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411480" indent="-287020">
              <a:lnSpc>
                <a:spcPct val="100000"/>
              </a:lnSpc>
              <a:spcBef>
                <a:spcPts val="1680"/>
              </a:spcBef>
              <a:buClr>
                <a:srgbClr val="FF6600"/>
              </a:buClr>
              <a:buSzPct val="96428"/>
              <a:buFont typeface="Wingdings"/>
              <a:buChar char="►"/>
              <a:tabLst>
                <a:tab pos="41211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之间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的财务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endParaRPr sz="2800">
              <a:latin typeface="宋体"/>
              <a:cs typeface="宋体"/>
            </a:endParaRPr>
          </a:p>
          <a:p>
            <a:pPr marL="411480" indent="-287020">
              <a:lnSpc>
                <a:spcPct val="100000"/>
              </a:lnSpc>
              <a:spcBef>
                <a:spcPts val="1705"/>
              </a:spcBef>
              <a:buClr>
                <a:srgbClr val="FF6600"/>
              </a:buClr>
              <a:buSzPct val="96428"/>
              <a:buFont typeface="Wingdings"/>
              <a:buChar char="►"/>
              <a:tabLst>
                <a:tab pos="41211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之间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的财务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endParaRPr sz="2800">
              <a:latin typeface="宋体"/>
              <a:cs typeface="宋体"/>
            </a:endParaRPr>
          </a:p>
          <a:p>
            <a:pPr marL="411480" indent="-287020">
              <a:lnSpc>
                <a:spcPct val="100000"/>
              </a:lnSpc>
              <a:spcBef>
                <a:spcPts val="1680"/>
              </a:spcBef>
              <a:buClr>
                <a:srgbClr val="FF6600"/>
              </a:buClr>
              <a:buSzPct val="96428"/>
              <a:buFont typeface="Wingdings"/>
              <a:buChar char="►"/>
              <a:tabLst>
                <a:tab pos="41211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府之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间的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财务关系</a:t>
            </a:r>
            <a:endParaRPr sz="2800">
              <a:latin typeface="宋体"/>
              <a:cs typeface="宋体"/>
            </a:endParaRPr>
          </a:p>
          <a:p>
            <a:pPr marL="411480" indent="-287020">
              <a:lnSpc>
                <a:spcPct val="100000"/>
              </a:lnSpc>
              <a:spcBef>
                <a:spcPts val="1705"/>
              </a:spcBef>
              <a:buClr>
                <a:srgbClr val="FF6600"/>
              </a:buClr>
              <a:buSzPct val="96428"/>
              <a:buFont typeface="Wingdings"/>
              <a:buChar char="►"/>
              <a:tabLst>
                <a:tab pos="41211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工之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间的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财务关系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73879" y="1914144"/>
            <a:ext cx="1813560" cy="0"/>
          </a:xfrm>
          <a:custGeom>
            <a:avLst/>
            <a:gdLst/>
            <a:ahLst/>
            <a:cxnLst/>
            <a:rect l="l" t="t" r="r" b="b"/>
            <a:pathLst>
              <a:path w="1813560" h="0">
                <a:moveTo>
                  <a:pt x="1813559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282440" y="1865376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4" h="100964">
                <a:moveTo>
                  <a:pt x="100584" y="0"/>
                </a:moveTo>
                <a:lnTo>
                  <a:pt x="0" y="51816"/>
                </a:lnTo>
                <a:lnTo>
                  <a:pt x="100584" y="100584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68295" y="1917192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 h="0">
                <a:moveTo>
                  <a:pt x="1280159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76855" y="1868424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4" h="100964">
                <a:moveTo>
                  <a:pt x="100584" y="0"/>
                </a:moveTo>
                <a:lnTo>
                  <a:pt x="0" y="48768"/>
                </a:lnTo>
                <a:lnTo>
                  <a:pt x="100584" y="100584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37816" y="3496056"/>
            <a:ext cx="1277620" cy="0"/>
          </a:xfrm>
          <a:custGeom>
            <a:avLst/>
            <a:gdLst/>
            <a:ahLst/>
            <a:cxnLst/>
            <a:rect l="l" t="t" r="r" b="b"/>
            <a:pathLst>
              <a:path w="1277620" h="0">
                <a:moveTo>
                  <a:pt x="0" y="0"/>
                </a:moveTo>
                <a:lnTo>
                  <a:pt x="1277111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08832" y="3447288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4" h="100964">
                <a:moveTo>
                  <a:pt x="0" y="0"/>
                </a:moveTo>
                <a:lnTo>
                  <a:pt x="0" y="100584"/>
                </a:lnTo>
                <a:lnTo>
                  <a:pt x="100584" y="48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58055" y="3496056"/>
            <a:ext cx="1813560" cy="0"/>
          </a:xfrm>
          <a:custGeom>
            <a:avLst/>
            <a:gdLst/>
            <a:ahLst/>
            <a:cxnLst/>
            <a:rect l="l" t="t" r="r" b="b"/>
            <a:pathLst>
              <a:path w="1813560" h="0">
                <a:moveTo>
                  <a:pt x="0" y="0"/>
                </a:moveTo>
                <a:lnTo>
                  <a:pt x="1813559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65520" y="3447288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4" h="100964">
                <a:moveTo>
                  <a:pt x="0" y="0"/>
                </a:moveTo>
                <a:lnTo>
                  <a:pt x="0" y="100584"/>
                </a:lnTo>
                <a:lnTo>
                  <a:pt x="100584" y="487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52544" y="2999232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 h="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443983" y="2237232"/>
            <a:ext cx="1280160" cy="0"/>
          </a:xfrm>
          <a:custGeom>
            <a:avLst/>
            <a:gdLst/>
            <a:ahLst/>
            <a:cxnLst/>
            <a:rect l="l" t="t" r="r" b="b"/>
            <a:pathLst>
              <a:path w="1280160" h="0">
                <a:moveTo>
                  <a:pt x="1280159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55592" y="2188464"/>
            <a:ext cx="97790" cy="100965"/>
          </a:xfrm>
          <a:custGeom>
            <a:avLst/>
            <a:gdLst/>
            <a:ahLst/>
            <a:cxnLst/>
            <a:rect l="l" t="t" r="r" b="b"/>
            <a:pathLst>
              <a:path w="97789" h="100964">
                <a:moveTo>
                  <a:pt x="97536" y="0"/>
                </a:moveTo>
                <a:lnTo>
                  <a:pt x="0" y="51816"/>
                </a:lnTo>
                <a:lnTo>
                  <a:pt x="97536" y="100584"/>
                </a:lnTo>
                <a:lnTo>
                  <a:pt x="97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24144" y="2237232"/>
            <a:ext cx="0" cy="762000"/>
          </a:xfrm>
          <a:custGeom>
            <a:avLst/>
            <a:gdLst/>
            <a:ahLst/>
            <a:cxnLst/>
            <a:rect l="l" t="t" r="r" b="b"/>
            <a:pathLst>
              <a:path w="0" h="762000">
                <a:moveTo>
                  <a:pt x="0" y="761999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02079" y="1840992"/>
            <a:ext cx="881380" cy="1801495"/>
          </a:xfrm>
          <a:custGeom>
            <a:avLst/>
            <a:gdLst/>
            <a:ahLst/>
            <a:cxnLst/>
            <a:rect l="l" t="t" r="r" b="b"/>
            <a:pathLst>
              <a:path w="881380" h="1801495">
                <a:moveTo>
                  <a:pt x="0" y="0"/>
                </a:moveTo>
                <a:lnTo>
                  <a:pt x="0" y="1801367"/>
                </a:lnTo>
                <a:lnTo>
                  <a:pt x="880871" y="1801367"/>
                </a:lnTo>
                <a:lnTo>
                  <a:pt x="880871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913331" y="2044700"/>
            <a:ext cx="243204" cy="14300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914"/>
              </a:lnSpc>
            </a:pPr>
            <a:r>
              <a:rPr dirty="0" sz="1700">
                <a:solidFill>
                  <a:srgbClr val="FFFFFF"/>
                </a:solidFill>
                <a:latin typeface="宋体"/>
                <a:cs typeface="宋体"/>
              </a:rPr>
              <a:t>（实物资产）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01851" y="2273300"/>
            <a:ext cx="243204" cy="96202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914"/>
              </a:lnSpc>
            </a:pPr>
            <a:r>
              <a:rPr dirty="0" sz="1700">
                <a:solidFill>
                  <a:srgbClr val="FFFFFF"/>
                </a:solidFill>
                <a:latin typeface="宋体"/>
                <a:cs typeface="宋体"/>
              </a:rPr>
              <a:t>公司经营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742944" y="1840992"/>
            <a:ext cx="466725" cy="1801495"/>
          </a:xfrm>
          <a:custGeom>
            <a:avLst/>
            <a:gdLst/>
            <a:ahLst/>
            <a:cxnLst/>
            <a:rect l="l" t="t" r="r" b="b"/>
            <a:pathLst>
              <a:path w="466725" h="1801495">
                <a:moveTo>
                  <a:pt x="0" y="0"/>
                </a:moveTo>
                <a:lnTo>
                  <a:pt x="0" y="1801367"/>
                </a:lnTo>
                <a:lnTo>
                  <a:pt x="466343" y="1801367"/>
                </a:lnTo>
                <a:lnTo>
                  <a:pt x="466343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842715" y="2273300"/>
            <a:ext cx="243204" cy="96202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914"/>
              </a:lnSpc>
            </a:pPr>
            <a:r>
              <a:rPr dirty="0" sz="1700">
                <a:solidFill>
                  <a:srgbClr val="FFFFFF"/>
                </a:solidFill>
                <a:latin typeface="宋体"/>
                <a:cs typeface="宋体"/>
              </a:rPr>
              <a:t>财务经理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227063" y="1840992"/>
            <a:ext cx="1295400" cy="1801495"/>
          </a:xfrm>
          <a:custGeom>
            <a:avLst/>
            <a:gdLst/>
            <a:ahLst/>
            <a:cxnLst/>
            <a:rect l="l" t="t" r="r" b="b"/>
            <a:pathLst>
              <a:path w="1295400" h="1801495">
                <a:moveTo>
                  <a:pt x="0" y="0"/>
                </a:moveTo>
                <a:lnTo>
                  <a:pt x="0" y="1801367"/>
                </a:lnTo>
                <a:lnTo>
                  <a:pt x="1295399" y="1801367"/>
                </a:lnTo>
                <a:lnTo>
                  <a:pt x="1295399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152843" y="2160524"/>
            <a:ext cx="243204" cy="119634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914"/>
              </a:lnSpc>
            </a:pPr>
            <a:r>
              <a:rPr dirty="0" sz="1700">
                <a:solidFill>
                  <a:srgbClr val="FFFFFF"/>
                </a:solidFill>
                <a:latin typeface="宋体"/>
                <a:cs typeface="宋体"/>
              </a:rPr>
              <a:t>的投资者）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41362" y="1931924"/>
            <a:ext cx="243204" cy="166433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914"/>
              </a:lnSpc>
            </a:pPr>
            <a:r>
              <a:rPr dirty="0" sz="1700">
                <a:solidFill>
                  <a:srgbClr val="FFFFFF"/>
                </a:solidFill>
                <a:latin typeface="宋体"/>
                <a:cs typeface="宋体"/>
              </a:rPr>
              <a:t>（持有金融资产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26835" y="2273300"/>
            <a:ext cx="243204" cy="96202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914"/>
              </a:lnSpc>
            </a:pPr>
            <a:r>
              <a:rPr dirty="0" sz="1700">
                <a:solidFill>
                  <a:srgbClr val="FFFFFF"/>
                </a:solidFill>
                <a:latin typeface="宋体"/>
                <a:cs typeface="宋体"/>
              </a:rPr>
              <a:t>金融市场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R="330200">
              <a:lnSpc>
                <a:spcPct val="100000"/>
              </a:lnSpc>
              <a:spcBef>
                <a:spcPts val="100"/>
              </a:spcBef>
              <a:tabLst>
                <a:tab pos="2233930" algn="l"/>
              </a:tabLst>
            </a:pPr>
            <a:r>
              <a:rPr dirty="0" baseline="1543" sz="2700"/>
              <a:t>（</a:t>
            </a:r>
            <a:r>
              <a:rPr dirty="0" baseline="1543" sz="2700">
                <a:latin typeface="Arial"/>
                <a:cs typeface="Arial"/>
              </a:rPr>
              <a:t>2</a:t>
            </a:r>
            <a:r>
              <a:rPr dirty="0" baseline="1543" sz="2700"/>
              <a:t>）	</a:t>
            </a:r>
            <a:r>
              <a:rPr dirty="0" sz="1800"/>
              <a:t>（</a:t>
            </a:r>
            <a:r>
              <a:rPr dirty="0" sz="1800">
                <a:latin typeface="Arial"/>
                <a:cs typeface="Arial"/>
              </a:rPr>
              <a:t>1</a:t>
            </a:r>
            <a:r>
              <a:rPr dirty="0" sz="1800"/>
              <a:t>）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250"/>
          </a:p>
          <a:p>
            <a:pPr marL="3136265">
              <a:lnSpc>
                <a:spcPct val="100000"/>
              </a:lnSpc>
            </a:pPr>
            <a:r>
              <a:rPr dirty="0"/>
              <a:t>（</a:t>
            </a:r>
            <a:r>
              <a:rPr dirty="0">
                <a:latin typeface="Arial"/>
                <a:cs typeface="Arial"/>
              </a:rPr>
              <a:t>4a</a:t>
            </a:r>
            <a:r>
              <a:rPr dirty="0"/>
              <a:t>）</a:t>
            </a:r>
          </a:p>
          <a:p>
            <a:pPr>
              <a:lnSpc>
                <a:spcPct val="100000"/>
              </a:lnSpc>
            </a:pPr>
            <a:endParaRPr sz="2000"/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/>
          </a:p>
          <a:p>
            <a:pPr algn="ctr" marR="306070">
              <a:lnSpc>
                <a:spcPct val="100000"/>
              </a:lnSpc>
              <a:spcBef>
                <a:spcPts val="5"/>
              </a:spcBef>
              <a:tabLst>
                <a:tab pos="2130425" algn="l"/>
              </a:tabLst>
            </a:pPr>
            <a:r>
              <a:rPr dirty="0"/>
              <a:t>（</a:t>
            </a:r>
            <a:r>
              <a:rPr dirty="0">
                <a:latin typeface="Arial"/>
                <a:cs typeface="Arial"/>
              </a:rPr>
              <a:t>3</a:t>
            </a:r>
            <a:r>
              <a:rPr dirty="0"/>
              <a:t>）	（</a:t>
            </a:r>
            <a:r>
              <a:rPr dirty="0">
                <a:latin typeface="Arial"/>
                <a:cs typeface="Arial"/>
              </a:rPr>
              <a:t>4b</a:t>
            </a:r>
            <a:r>
              <a:rPr dirty="0"/>
              <a:t>）</a:t>
            </a: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350"/>
          </a:p>
          <a:p>
            <a:pPr marL="12700">
              <a:lnSpc>
                <a:spcPct val="100000"/>
              </a:lnSpc>
            </a:pPr>
            <a:r>
              <a:rPr dirty="0" sz="2400"/>
              <a:t>（1）向投资者出售金融资产筹集资金</a:t>
            </a:r>
            <a:endParaRPr sz="2400"/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/>
              <a:t>（2）现金投入公司经营和购买实物资产</a:t>
            </a:r>
            <a:endParaRPr sz="2400"/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/>
              <a:t>（3）通过公司经营产生现金</a:t>
            </a:r>
            <a:endParaRPr sz="2400"/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2400"/>
              <a:t>（4a）现金再投资</a:t>
            </a:r>
            <a:endParaRPr sz="2400"/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/>
              <a:t>（4b）现金返还给投资者</a:t>
            </a:r>
            <a:endParaRPr sz="2400"/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2776220" y="59385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财务经</a:t>
            </a:r>
            <a:r>
              <a:rPr dirty="0" sz="4000" spc="-20"/>
              <a:t>理</a:t>
            </a:r>
            <a:r>
              <a:rPr dirty="0" sz="4000" spc="5"/>
              <a:t>的</a:t>
            </a:r>
            <a:r>
              <a:rPr dirty="0" sz="4000" spc="-20"/>
              <a:t>作</a:t>
            </a:r>
            <a:r>
              <a:rPr dirty="0" sz="4000" spc="5"/>
              <a:t>用</a:t>
            </a:r>
            <a:endParaRPr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9716" y="1735023"/>
            <a:ext cx="7499350" cy="39147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45465">
              <a:lnSpc>
                <a:spcPct val="130200"/>
              </a:lnSpc>
              <a:spcBef>
                <a:spcPts val="90"/>
              </a:spcBef>
              <a:tabLst>
                <a:tab pos="196913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大公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最高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务主管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首席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财务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官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（Chief  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F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in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a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nc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i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a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l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O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f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fi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c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e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r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C</a:t>
            </a:r>
            <a:r>
              <a:rPr dirty="0" sz="2800" spc="-15">
                <a:solidFill>
                  <a:srgbClr val="FFFFFF"/>
                </a:solidFill>
                <a:latin typeface="宋体"/>
                <a:cs typeface="宋体"/>
              </a:rPr>
              <a:t>F</a:t>
            </a:r>
            <a:r>
              <a:rPr dirty="0" sz="2800" spc="10">
                <a:solidFill>
                  <a:srgbClr val="FFFFFF"/>
                </a:solidFill>
                <a:latin typeface="宋体"/>
                <a:cs typeface="宋体"/>
              </a:rPr>
              <a:t>O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持制定公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司财务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策和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计划，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长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(Treasurer)</a:t>
            </a:r>
            <a:r>
              <a:rPr dirty="0" sz="2800" spc="-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和 会计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长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(Controller)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责。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务长的职 责是负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管理、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与银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行、其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 融机构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关系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计长的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责是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负责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报 表的编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计和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税务。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14220" y="593852"/>
            <a:ext cx="5109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财务经</a:t>
            </a:r>
            <a:r>
              <a:rPr dirty="0" sz="4000" spc="-20"/>
              <a:t>理</a:t>
            </a:r>
            <a:r>
              <a:rPr dirty="0" sz="4000" spc="5"/>
              <a:t>的</a:t>
            </a:r>
            <a:r>
              <a:rPr dirty="0" sz="4000" spc="-20"/>
              <a:t>作</a:t>
            </a:r>
            <a:r>
              <a:rPr dirty="0" sz="4000" spc="5"/>
              <a:t>用（续）</a:t>
            </a:r>
            <a:endParaRPr sz="4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4804" y="700532"/>
            <a:ext cx="4902200" cy="5124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10"/>
              <a:t>财</a:t>
            </a:r>
            <a:r>
              <a:rPr dirty="0" sz="3200" spc="-10"/>
              <a:t>务长</a:t>
            </a:r>
            <a:r>
              <a:rPr dirty="0" sz="3200" spc="10"/>
              <a:t>和</a:t>
            </a:r>
            <a:r>
              <a:rPr dirty="0" sz="3200" spc="-10"/>
              <a:t>会计长</a:t>
            </a:r>
            <a:r>
              <a:rPr dirty="0" sz="3200" spc="10"/>
              <a:t>的</a:t>
            </a:r>
            <a:r>
              <a:rPr dirty="0" sz="3200" spc="-10"/>
              <a:t>主要</a:t>
            </a:r>
            <a:r>
              <a:rPr dirty="0" sz="3200" spc="10"/>
              <a:t>职</a:t>
            </a:r>
            <a:r>
              <a:rPr dirty="0" sz="3200" spc="-10"/>
              <a:t>责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pc="5"/>
              <a:t>财务长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pc="-650">
                <a:latin typeface="Symbol"/>
                <a:cs typeface="Symbol"/>
              </a:rPr>
              <a:t>．</a:t>
            </a:r>
            <a:r>
              <a:rPr dirty="0" spc="5"/>
              <a:t>与银</a:t>
            </a:r>
            <a:r>
              <a:rPr dirty="0" spc="-20"/>
              <a:t>行</a:t>
            </a:r>
            <a:r>
              <a:rPr dirty="0" spc="5"/>
              <a:t>的关</a:t>
            </a:r>
            <a:r>
              <a:rPr dirty="0" spc="-805"/>
              <a:t>系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pc="-650">
                <a:latin typeface="Symbol"/>
                <a:cs typeface="Symbol"/>
              </a:rPr>
              <a:t>．</a:t>
            </a:r>
            <a:r>
              <a:rPr dirty="0" spc="5"/>
              <a:t>现金</a:t>
            </a:r>
            <a:r>
              <a:rPr dirty="0" spc="-20"/>
              <a:t>管</a:t>
            </a:r>
            <a:r>
              <a:rPr dirty="0" spc="5"/>
              <a:t>理</a:t>
            </a: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pc="-650">
                <a:latin typeface="Symbol"/>
                <a:cs typeface="Symbol"/>
              </a:rPr>
              <a:t>．</a:t>
            </a:r>
            <a:r>
              <a:rPr dirty="0" spc="5"/>
              <a:t>融资</a:t>
            </a: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pc="-650">
                <a:latin typeface="Symbol"/>
                <a:cs typeface="Symbol"/>
              </a:rPr>
              <a:t>．</a:t>
            </a:r>
            <a:r>
              <a:rPr dirty="0" spc="5"/>
              <a:t>信贷</a:t>
            </a:r>
            <a:r>
              <a:rPr dirty="0" spc="-20"/>
              <a:t>管</a:t>
            </a:r>
            <a:r>
              <a:rPr dirty="0" spc="5"/>
              <a:t>理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pc="-650">
                <a:latin typeface="Symbol"/>
                <a:cs typeface="Symbol"/>
              </a:rPr>
              <a:t>．</a:t>
            </a:r>
            <a:r>
              <a:rPr dirty="0" spc="5"/>
              <a:t>股利</a:t>
            </a:r>
            <a:r>
              <a:rPr dirty="0" spc="-20"/>
              <a:t>支</a:t>
            </a:r>
            <a:r>
              <a:rPr dirty="0" spc="5"/>
              <a:t>付</a:t>
            </a: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pc="-650">
                <a:latin typeface="Symbol"/>
                <a:cs typeface="Symbol"/>
              </a:rPr>
              <a:t>．</a:t>
            </a:r>
            <a:r>
              <a:rPr dirty="0" spc="5"/>
              <a:t>保险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pc="-650">
                <a:latin typeface="Symbol"/>
                <a:cs typeface="Symbol"/>
              </a:rPr>
              <a:t>．</a:t>
            </a:r>
            <a:r>
              <a:rPr dirty="0" spc="5"/>
              <a:t>养老</a:t>
            </a:r>
            <a:r>
              <a:rPr dirty="0" spc="-20"/>
              <a:t>金</a:t>
            </a:r>
            <a:r>
              <a:rPr dirty="0" spc="5"/>
              <a:t>管理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0350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815"/>
              </a:spcBef>
            </a:pPr>
            <a:r>
              <a:rPr dirty="0" spc="5"/>
              <a:t>会</a:t>
            </a:r>
            <a:r>
              <a:rPr dirty="0" spc="-20"/>
              <a:t>计</a:t>
            </a:r>
            <a:r>
              <a:rPr dirty="0" spc="5"/>
              <a:t>长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pc="-670">
                <a:latin typeface="Symbol"/>
                <a:cs typeface="Symbol"/>
              </a:rPr>
              <a:t>．</a:t>
            </a:r>
            <a:r>
              <a:rPr dirty="0" spc="5"/>
              <a:t>会计</a:t>
            </a:r>
          </a:p>
          <a:p>
            <a:pPr marL="88900">
              <a:lnSpc>
                <a:spcPct val="100000"/>
              </a:lnSpc>
              <a:spcBef>
                <a:spcPts val="675"/>
              </a:spcBef>
            </a:pPr>
            <a:r>
              <a:rPr dirty="0" spc="-650">
                <a:latin typeface="Symbol"/>
                <a:cs typeface="Symbol"/>
              </a:rPr>
              <a:t>．</a:t>
            </a:r>
            <a:r>
              <a:rPr dirty="0" spc="-20"/>
              <a:t>准</a:t>
            </a:r>
            <a:r>
              <a:rPr dirty="0" spc="5"/>
              <a:t>备财</a:t>
            </a:r>
            <a:r>
              <a:rPr dirty="0" spc="-20"/>
              <a:t>务</a:t>
            </a:r>
            <a:r>
              <a:rPr dirty="0" spc="5"/>
              <a:t>报表</a:t>
            </a:r>
          </a:p>
          <a:p>
            <a:pPr marL="161925">
              <a:lnSpc>
                <a:spcPct val="100000"/>
              </a:lnSpc>
              <a:spcBef>
                <a:spcPts val="670"/>
              </a:spcBef>
            </a:pPr>
            <a:r>
              <a:rPr dirty="0" spc="-650">
                <a:latin typeface="Symbol"/>
                <a:cs typeface="Symbol"/>
              </a:rPr>
              <a:t>．</a:t>
            </a:r>
            <a:r>
              <a:rPr dirty="0" spc="5"/>
              <a:t>内</a:t>
            </a:r>
            <a:r>
              <a:rPr dirty="0" spc="-20"/>
              <a:t>部审</a:t>
            </a:r>
            <a:r>
              <a:rPr dirty="0" spc="5"/>
              <a:t>计</a:t>
            </a:r>
          </a:p>
          <a:p>
            <a:pPr marL="88900">
              <a:lnSpc>
                <a:spcPct val="100000"/>
              </a:lnSpc>
              <a:spcBef>
                <a:spcPts val="695"/>
              </a:spcBef>
            </a:pPr>
            <a:r>
              <a:rPr dirty="0" spc="-650">
                <a:latin typeface="Symbol"/>
                <a:cs typeface="Symbol"/>
              </a:rPr>
              <a:t>．</a:t>
            </a:r>
            <a:r>
              <a:rPr dirty="0" spc="-20"/>
              <a:t>工</a:t>
            </a:r>
            <a:r>
              <a:rPr dirty="0" spc="5"/>
              <a:t>资</a:t>
            </a:r>
          </a:p>
          <a:p>
            <a:pPr marL="88900">
              <a:lnSpc>
                <a:spcPct val="100000"/>
              </a:lnSpc>
              <a:spcBef>
                <a:spcPts val="675"/>
              </a:spcBef>
            </a:pPr>
            <a:r>
              <a:rPr dirty="0" spc="-650">
                <a:latin typeface="Symbol"/>
                <a:cs typeface="Symbol"/>
              </a:rPr>
              <a:t>．</a:t>
            </a:r>
            <a:r>
              <a:rPr dirty="0" spc="-20"/>
              <a:t>凭</a:t>
            </a:r>
            <a:r>
              <a:rPr dirty="0" spc="5"/>
              <a:t>证、</a:t>
            </a:r>
            <a:r>
              <a:rPr dirty="0" spc="-20"/>
              <a:t>帐</a:t>
            </a:r>
            <a:r>
              <a:rPr dirty="0" spc="5"/>
              <a:t>簿管</a:t>
            </a:r>
            <a:r>
              <a:rPr dirty="0" spc="-800"/>
              <a:t>理</a:t>
            </a:r>
          </a:p>
          <a:p>
            <a:pPr marL="161925">
              <a:lnSpc>
                <a:spcPct val="100000"/>
              </a:lnSpc>
              <a:spcBef>
                <a:spcPts val="670"/>
              </a:spcBef>
            </a:pPr>
            <a:r>
              <a:rPr dirty="0" spc="-650">
                <a:latin typeface="Symbol"/>
                <a:cs typeface="Symbol"/>
              </a:rPr>
              <a:t>．</a:t>
            </a:r>
            <a:r>
              <a:rPr dirty="0" spc="5"/>
              <a:t>预算</a:t>
            </a:r>
          </a:p>
          <a:p>
            <a:pPr marL="48895">
              <a:lnSpc>
                <a:spcPct val="100000"/>
              </a:lnSpc>
              <a:spcBef>
                <a:spcPts val="675"/>
              </a:spcBef>
            </a:pPr>
            <a:r>
              <a:rPr dirty="0" spc="-650">
                <a:latin typeface="Symbol"/>
                <a:cs typeface="Symbol"/>
              </a:rPr>
              <a:t>．</a:t>
            </a:r>
            <a:r>
              <a:rPr dirty="0" spc="-20"/>
              <a:t>税</a:t>
            </a:r>
            <a:r>
              <a:rPr dirty="0" spc="5"/>
              <a:t>务事项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4" y="639572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企业财</a:t>
            </a:r>
            <a:r>
              <a:rPr dirty="0" sz="4000" spc="-20"/>
              <a:t>务</a:t>
            </a:r>
            <a:r>
              <a:rPr dirty="0" sz="4000" spc="5"/>
              <a:t>管</a:t>
            </a:r>
            <a:r>
              <a:rPr dirty="0" sz="4000" spc="-20"/>
              <a:t>理</a:t>
            </a:r>
            <a:r>
              <a:rPr dirty="0" sz="4000" spc="5"/>
              <a:t>的目标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188211" y="2160524"/>
            <a:ext cx="7139940" cy="3190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就是企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管理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工作所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达到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终目的。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950">
              <a:latin typeface="宋体"/>
              <a:cs typeface="宋体"/>
            </a:endParaRPr>
          </a:p>
          <a:p>
            <a:pPr marL="956944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织形式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宋体"/>
              <a:cs typeface="宋体"/>
            </a:endParaRPr>
          </a:p>
          <a:p>
            <a:pPr marL="956944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务目标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50">
              <a:latin typeface="宋体"/>
              <a:cs typeface="宋体"/>
            </a:endParaRPr>
          </a:p>
          <a:p>
            <a:pPr marL="956944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股东与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权人的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冲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突与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协</a:t>
            </a:r>
            <a:r>
              <a:rPr dirty="0" sz="2800" spc="-1700">
                <a:solidFill>
                  <a:srgbClr val="FFFFFF"/>
                </a:solidFill>
                <a:latin typeface="宋体"/>
                <a:cs typeface="宋体"/>
              </a:rPr>
              <a:t>调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企业的</a:t>
            </a:r>
            <a:r>
              <a:rPr dirty="0" sz="4000" spc="-20"/>
              <a:t>组</a:t>
            </a:r>
            <a:r>
              <a:rPr dirty="0" sz="4000" spc="5"/>
              <a:t>织</a:t>
            </a:r>
            <a:r>
              <a:rPr dirty="0" sz="4000" spc="-20"/>
              <a:t>形</a:t>
            </a:r>
            <a:r>
              <a:rPr dirty="0" sz="4000" spc="5"/>
              <a:t>式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056892" y="2431796"/>
            <a:ext cx="5528945" cy="25901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独资企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(Sole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0">
                <a:solidFill>
                  <a:srgbClr val="FFFFFF"/>
                </a:solidFill>
                <a:latin typeface="宋体"/>
                <a:cs typeface="宋体"/>
              </a:rPr>
              <a:t>Proprietorship)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6600"/>
              </a:buClr>
              <a:buFont typeface="Wingdings"/>
              <a:buChar char="►"/>
            </a:pPr>
            <a:endParaRPr sz="39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合伙企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(Partnership)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6600"/>
              </a:buClr>
              <a:buFont typeface="Wingdings"/>
              <a:buChar char="►"/>
            </a:pPr>
            <a:endParaRPr sz="39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(Corporation)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企业的</a:t>
            </a:r>
            <a:r>
              <a:rPr dirty="0" sz="4000" spc="-20"/>
              <a:t>财</a:t>
            </a:r>
            <a:r>
              <a:rPr dirty="0" sz="4000" spc="5"/>
              <a:t>务</a:t>
            </a:r>
            <a:r>
              <a:rPr dirty="0" sz="4000" spc="-20"/>
              <a:t>目</a:t>
            </a:r>
            <a:r>
              <a:rPr dirty="0" sz="4000" spc="5"/>
              <a:t>标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21131" y="2212340"/>
            <a:ext cx="8244205" cy="31451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076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►"/>
              <a:tabLst>
                <a:tab pos="408305" algn="l"/>
                <a:tab pos="3403600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利润最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大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化</a:t>
            </a:r>
            <a:r>
              <a:rPr dirty="0" sz="2400" spc="155" b="1">
                <a:solidFill>
                  <a:srgbClr val="FFFFFF"/>
                </a:solidFill>
                <a:latin typeface="Microsoft JhengHei"/>
                <a:cs typeface="Microsoft JhengHei"/>
              </a:rPr>
              <a:t>(Profit	</a:t>
            </a:r>
            <a:r>
              <a:rPr dirty="0" sz="2400" spc="-80" b="1">
                <a:solidFill>
                  <a:srgbClr val="FFFFFF"/>
                </a:solidFill>
                <a:latin typeface="Microsoft JhengHei"/>
                <a:cs typeface="Microsoft JhengHei"/>
              </a:rPr>
              <a:t>Maximization)</a:t>
            </a:r>
            <a:endParaRPr sz="24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6600"/>
              </a:buClr>
              <a:buFont typeface="Wingdings"/>
              <a:buChar char="►"/>
            </a:pPr>
            <a:endParaRPr sz="2000">
              <a:latin typeface="Microsoft JhengHei"/>
              <a:cs typeface="Microsoft JhengHei"/>
            </a:endParaRPr>
          </a:p>
          <a:p>
            <a:pPr marL="4076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408305" algn="l"/>
                <a:tab pos="3659504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每股收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益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最大化</a:t>
            </a:r>
            <a:r>
              <a:rPr dirty="0" sz="2400" spc="-75" b="1">
                <a:solidFill>
                  <a:srgbClr val="FFFFFF"/>
                </a:solidFill>
                <a:latin typeface="Microsoft JhengHei"/>
                <a:cs typeface="Microsoft JhengHei"/>
              </a:rPr>
              <a:t>(EPS	</a:t>
            </a:r>
            <a:r>
              <a:rPr dirty="0" sz="2400" spc="-80" b="1">
                <a:solidFill>
                  <a:srgbClr val="FFFFFF"/>
                </a:solidFill>
                <a:latin typeface="Microsoft JhengHei"/>
                <a:cs typeface="Microsoft JhengHei"/>
              </a:rPr>
              <a:t>Maximization)</a:t>
            </a:r>
            <a:endParaRPr sz="24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6600"/>
              </a:buClr>
              <a:buFont typeface="Wingdings"/>
              <a:buChar char="►"/>
            </a:pPr>
            <a:endParaRPr sz="2000">
              <a:latin typeface="Microsoft JhengHei"/>
              <a:cs typeface="Microsoft JhengHei"/>
            </a:endParaRPr>
          </a:p>
          <a:p>
            <a:pPr marL="4076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408305" algn="l"/>
                <a:tab pos="5135245" algn="l"/>
                <a:tab pos="620204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股东财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富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最大化</a:t>
            </a:r>
            <a:r>
              <a:rPr dirty="0" sz="2400" spc="-10" b="1">
                <a:solidFill>
                  <a:srgbClr val="FFFFFF"/>
                </a:solidFill>
                <a:latin typeface="Microsoft JhengHei"/>
                <a:cs typeface="Microsoft JhengHei"/>
              </a:rPr>
              <a:t>(Shareholder</a:t>
            </a:r>
            <a:r>
              <a:rPr dirty="0" baseline="24305" sz="2400" spc="-15" b="1">
                <a:solidFill>
                  <a:srgbClr val="FFFFFF"/>
                </a:solidFill>
                <a:latin typeface="Microsoft JhengHei"/>
                <a:cs typeface="Microsoft JhengHei"/>
              </a:rPr>
              <a:t>,</a:t>
            </a:r>
            <a:r>
              <a:rPr dirty="0" sz="2400" spc="-10" b="1">
                <a:solidFill>
                  <a:srgbClr val="FFFFFF"/>
                </a:solidFill>
                <a:latin typeface="Microsoft JhengHei"/>
                <a:cs typeface="Microsoft JhengHei"/>
              </a:rPr>
              <a:t>s	</a:t>
            </a:r>
            <a:r>
              <a:rPr dirty="0" sz="2400" spc="-185" b="1">
                <a:solidFill>
                  <a:srgbClr val="FFFFFF"/>
                </a:solidFill>
                <a:latin typeface="Microsoft JhengHei"/>
                <a:cs typeface="Microsoft JhengHei"/>
              </a:rPr>
              <a:t>Wealth	</a:t>
            </a:r>
            <a:r>
              <a:rPr dirty="0" sz="2400" spc="-85" b="1">
                <a:solidFill>
                  <a:srgbClr val="FFFFFF"/>
                </a:solidFill>
                <a:latin typeface="Microsoft JhengHei"/>
                <a:cs typeface="Microsoft JhengHei"/>
              </a:rPr>
              <a:t>Maximization)</a:t>
            </a:r>
            <a:endParaRPr sz="24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6600"/>
              </a:buClr>
              <a:buFont typeface="Wingdings"/>
              <a:buChar char="►"/>
            </a:pPr>
            <a:endParaRPr sz="2000">
              <a:latin typeface="Microsoft JhengHei"/>
              <a:cs typeface="Microsoft JhengHei"/>
            </a:endParaRPr>
          </a:p>
          <a:p>
            <a:pPr marL="4076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408305" algn="l"/>
                <a:tab pos="4116704" algn="l"/>
                <a:tab pos="503110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企业价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值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最大化</a:t>
            </a:r>
            <a:r>
              <a:rPr dirty="0" sz="2400" spc="85" b="1">
                <a:solidFill>
                  <a:srgbClr val="FFFFFF"/>
                </a:solidFill>
                <a:latin typeface="Microsoft JhengHei"/>
                <a:cs typeface="Microsoft JhengHei"/>
              </a:rPr>
              <a:t>(Firm,s	</a:t>
            </a:r>
            <a:r>
              <a:rPr dirty="0" sz="2400" spc="-110" b="1">
                <a:solidFill>
                  <a:srgbClr val="FFFFFF"/>
                </a:solidFill>
                <a:latin typeface="Microsoft JhengHei"/>
                <a:cs typeface="Microsoft JhengHei"/>
              </a:rPr>
              <a:t>Value	</a:t>
            </a:r>
            <a:r>
              <a:rPr dirty="0" sz="2400" spc="-80" b="1">
                <a:solidFill>
                  <a:srgbClr val="FFFFFF"/>
                </a:solidFill>
                <a:latin typeface="Microsoft JhengHei"/>
                <a:cs typeface="Microsoft JhengHei"/>
              </a:rPr>
              <a:t>Maximization)</a:t>
            </a:r>
            <a:endParaRPr sz="24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639572"/>
            <a:ext cx="8157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股东与</a:t>
            </a:r>
            <a:r>
              <a:rPr dirty="0" sz="4000" spc="-20"/>
              <a:t>经</a:t>
            </a:r>
            <a:r>
              <a:rPr dirty="0" sz="4000" spc="5"/>
              <a:t>营</a:t>
            </a:r>
            <a:r>
              <a:rPr dirty="0" sz="4000" spc="-20"/>
              <a:t>者</a:t>
            </a:r>
            <a:r>
              <a:rPr dirty="0" sz="4000" spc="5"/>
              <a:t>、债权</a:t>
            </a:r>
            <a:r>
              <a:rPr dirty="0" sz="4000" spc="-20"/>
              <a:t>人</a:t>
            </a:r>
            <a:r>
              <a:rPr dirty="0" sz="4000" spc="5"/>
              <a:t>的</a:t>
            </a:r>
            <a:r>
              <a:rPr dirty="0" sz="4000" spc="-20"/>
              <a:t>冲</a:t>
            </a:r>
            <a:r>
              <a:rPr dirty="0" sz="4000" spc="5"/>
              <a:t>突与协调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056892" y="2181860"/>
            <a:ext cx="3570604" cy="2675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代理关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系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与代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理成</a:t>
            </a:r>
            <a:r>
              <a:rPr dirty="0" sz="2800" spc="-2175" b="1">
                <a:solidFill>
                  <a:srgbClr val="FFFFFF"/>
                </a:solidFill>
                <a:latin typeface="Microsoft JhengHei"/>
                <a:cs typeface="Microsoft JhengHei"/>
              </a:rPr>
              <a:t>本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FF6600"/>
              </a:buClr>
              <a:buFont typeface="Wingdings"/>
              <a:buChar char="►"/>
            </a:pPr>
            <a:endParaRPr sz="290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委托代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理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冲突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6600"/>
              </a:buClr>
              <a:buFont typeface="Wingdings"/>
              <a:buChar char="►"/>
            </a:pPr>
            <a:endParaRPr sz="290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委托代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理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关系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的协</a:t>
            </a:r>
            <a:r>
              <a:rPr dirty="0" sz="2800" spc="-2175" b="1">
                <a:solidFill>
                  <a:srgbClr val="FFFFFF"/>
                </a:solidFill>
                <a:latin typeface="Microsoft JhengHei"/>
                <a:cs typeface="Microsoft JhengHei"/>
              </a:rPr>
              <a:t>调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5804" y="667004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代理关系与代理成本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675" y="1448352"/>
            <a:ext cx="8752205" cy="4921250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19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代理关系</a:t>
            </a:r>
            <a:endParaRPr sz="2400">
              <a:latin typeface="宋体"/>
              <a:cs typeface="宋体"/>
            </a:endParaRPr>
          </a:p>
          <a:p>
            <a:pPr marL="356870" marR="5080" indent="636905">
              <a:lnSpc>
                <a:spcPct val="120000"/>
              </a:lnSpc>
              <a:spcBef>
                <a:spcPts val="484"/>
              </a:spcBef>
            </a:pP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Jensen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and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Meckling（1976）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定义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：“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代理关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是一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契 约，在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此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契约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个或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多个人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委托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）聘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用另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外的人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代理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）  代表他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去执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某些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工作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，包括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授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予代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人行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使一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些决策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。”其 中，行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委托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体称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为委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托人，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替委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托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人实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施行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为的主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体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称为代 理人。</a:t>
            </a:r>
            <a:endParaRPr sz="22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14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代理成本</a:t>
            </a:r>
            <a:endParaRPr sz="2400">
              <a:latin typeface="宋体"/>
              <a:cs typeface="宋体"/>
            </a:endParaRPr>
          </a:p>
          <a:p>
            <a:pPr lvl="1" marL="1171575" indent="-701675">
              <a:lnSpc>
                <a:spcPct val="100000"/>
              </a:lnSpc>
              <a:spcBef>
                <a:spcPts val="1040"/>
              </a:spcBef>
              <a:buSzPct val="95454"/>
              <a:buAutoNum type="arabicPlain"/>
              <a:tabLst>
                <a:tab pos="117157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委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托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人的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控支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200">
              <a:latin typeface="宋体"/>
              <a:cs typeface="宋体"/>
            </a:endParaRPr>
          </a:p>
          <a:p>
            <a:pPr lvl="1" marL="1171575" indent="-701675">
              <a:lnSpc>
                <a:spcPct val="100000"/>
              </a:lnSpc>
              <a:spcBef>
                <a:spcPts val="1055"/>
              </a:spcBef>
              <a:buSzPct val="95454"/>
              <a:buAutoNum type="arabicPlain"/>
              <a:tabLst>
                <a:tab pos="117157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人的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管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束支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200">
              <a:latin typeface="宋体"/>
              <a:cs typeface="宋体"/>
            </a:endParaRPr>
          </a:p>
          <a:p>
            <a:pPr lvl="1" marL="756285" marR="306705" indent="-287020">
              <a:lnSpc>
                <a:spcPct val="120000"/>
              </a:lnSpc>
              <a:spcBef>
                <a:spcPts val="505"/>
              </a:spcBef>
              <a:buSzPct val="95454"/>
              <a:buAutoNum type="arabicPlain"/>
              <a:tabLst>
                <a:tab pos="117157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剩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余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损失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由于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理人的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决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策与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最大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化委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托人福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的那些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决策之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间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会存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分歧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而导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致委托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福利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少的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部分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1604" y="667004"/>
            <a:ext cx="27686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委托代理冲突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5524" y="1290445"/>
            <a:ext cx="8752205" cy="5133975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10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股东与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营者</a:t>
            </a:r>
            <a:endParaRPr sz="2800">
              <a:latin typeface="宋体"/>
              <a:cs typeface="宋体"/>
            </a:endParaRPr>
          </a:p>
          <a:p>
            <a:pPr algn="just" marL="356870" marR="281940" indent="496570">
              <a:lnSpc>
                <a:spcPct val="109800"/>
              </a:lnSpc>
              <a:spcBef>
                <a:spcPts val="535"/>
              </a:spcBef>
            </a:pP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现代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型股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份公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司中，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由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于所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权与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权的分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离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，经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者 作为外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股东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代理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人，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由于很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或几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乎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不持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有公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司的股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份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，因而 其目标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股东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目标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肯定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会产生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差。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营者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往往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不按照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东利益 最大化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是按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者个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人效用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大化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事，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结果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引起经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者与股 东利益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冲突。</a:t>
            </a:r>
            <a:endParaRPr sz="2200">
              <a:latin typeface="宋体"/>
              <a:cs typeface="宋体"/>
            </a:endParaRPr>
          </a:p>
          <a:p>
            <a:pPr marL="356870" marR="5080" indent="511809">
              <a:lnSpc>
                <a:spcPct val="110800"/>
              </a:lnSpc>
              <a:spcBef>
                <a:spcPts val="365"/>
              </a:spcBef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作为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营者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家拥有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司主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常经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营决策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制权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经 营者拥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的这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控制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权比例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其拥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司股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份而产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的剩余 索取权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例的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严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重不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对称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，加上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东与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营者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之间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的信息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不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对称，  股东难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观察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监督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者行为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以及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约的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不完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备所导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致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的经营 者非金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钱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的效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和利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益事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前在契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中无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确认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、事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后也无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判断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  均会使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司经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者有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动机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从事满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足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自己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效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用而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背离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股东利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的各种 道德风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险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行为。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091" y="1646631"/>
            <a:ext cx="7170420" cy="3021965"/>
          </a:xfrm>
          <a:prstGeom prst="rect">
            <a:avLst/>
          </a:prstGeom>
        </p:spPr>
        <p:txBody>
          <a:bodyPr wrap="square" lIns="0" tIns="186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这些道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风险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包括：</a:t>
            </a:r>
            <a:endParaRPr sz="28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137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经营者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各种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非生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产性消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行为。</a:t>
            </a:r>
            <a:endParaRPr sz="28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134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经营者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避风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险而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产生的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足行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为。</a:t>
            </a:r>
            <a:endParaRPr sz="28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1345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经营者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人利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益驱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动下的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度投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为。</a:t>
            </a:r>
            <a:endParaRPr sz="2800">
              <a:latin typeface="宋体"/>
              <a:cs typeface="宋体"/>
            </a:endParaRPr>
          </a:p>
          <a:p>
            <a:pPr marL="756285" indent="-287655">
              <a:lnSpc>
                <a:spcPct val="100000"/>
              </a:lnSpc>
              <a:spcBef>
                <a:spcPts val="1370"/>
              </a:spcBef>
              <a:buClr>
                <a:srgbClr val="FF6600"/>
              </a:buClr>
              <a:buChar char="•"/>
              <a:tabLst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经营者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短视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83027" y="667004"/>
            <a:ext cx="43688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委托代理冲突（续</a:t>
            </a:r>
            <a:r>
              <a:rPr dirty="0" spc="-30"/>
              <a:t>1）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654556"/>
            <a:ext cx="7685405" cy="4039870"/>
          </a:xfrm>
          <a:prstGeom prst="rect">
            <a:avLst/>
          </a:prstGeom>
        </p:spPr>
        <p:txBody>
          <a:bodyPr wrap="square" lIns="0" tIns="192405" rIns="0" bIns="0" rtlCol="0" vert="horz">
            <a:spAutoFit/>
          </a:bodyPr>
          <a:lstStyle/>
          <a:p>
            <a:pPr algn="just" marL="356870" indent="-344805">
              <a:lnSpc>
                <a:spcPct val="100000"/>
              </a:lnSpc>
              <a:spcBef>
                <a:spcPts val="151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股东与债权人</a:t>
            </a:r>
            <a:endParaRPr sz="2400">
              <a:latin typeface="宋体"/>
              <a:cs typeface="宋体"/>
            </a:endParaRPr>
          </a:p>
          <a:p>
            <a:pPr algn="just" marL="356870" marR="5080" indent="569595">
              <a:lnSpc>
                <a:spcPct val="130000"/>
              </a:lnSpc>
              <a:spcBef>
                <a:spcPts val="55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债权人和股东之间的利益冲突主要表现为负债契约 签订后，股东有可能从事各种损害债权人利益的道德风 险行为。</a:t>
            </a:r>
            <a:endParaRPr sz="2400">
              <a:latin typeface="宋体"/>
              <a:cs typeface="宋体"/>
            </a:endParaRPr>
          </a:p>
          <a:p>
            <a:pPr algn="just" marL="356870" marR="5080" indent="569595">
              <a:lnSpc>
                <a:spcPct val="130000"/>
              </a:lnSpc>
              <a:spcBef>
                <a:spcPts val="55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股东道德风险行为产生的根本原因在于，股东存在 着将本属于债权人的权益转移到自己手中，以提高公司 股票市场价值的内在动因。而公司制的股东有限责任等 内在特征为股东从事道德风险行为提供了可能。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83027" y="667004"/>
            <a:ext cx="43688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委托代理冲突（续</a:t>
            </a:r>
            <a:r>
              <a:rPr dirty="0" spc="-30"/>
              <a:t>2）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742948"/>
            <a:ext cx="8255000" cy="423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股东道德风险行为主要表现在：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1、债权稀释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2、资产替代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3、投资不足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5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（1）被动放弃对股东有利的投资项目，出现投资不足。</a:t>
            </a:r>
            <a:endParaRPr sz="2400">
              <a:latin typeface="宋体"/>
              <a:cs typeface="宋体"/>
            </a:endParaRPr>
          </a:p>
          <a:p>
            <a:pPr marL="12700" marR="5080" indent="457200">
              <a:lnSpc>
                <a:spcPct val="175000"/>
              </a:lnSpc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（2）主动放弃对债权人有利的投资项目，出现投资不足。  4、股利政策操作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83027" y="667004"/>
            <a:ext cx="43688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委托代理冲突（续</a:t>
            </a:r>
            <a:r>
              <a:rPr dirty="0" spc="-30"/>
              <a:t>3）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5804" y="688340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委托代理关系的协调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948" y="1441196"/>
            <a:ext cx="8063230" cy="52939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417195">
              <a:lnSpc>
                <a:spcPct val="119800"/>
              </a:lnSpc>
              <a:spcBef>
                <a:spcPts val="10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委托人可以通过给代理人以适当的激励来约束代理人偏离 委托人利益的行为，并且通过付出监控成本来限制代理人的 越轨行为。另外在某些情况下，应付给代理人消费资源（管 束成本）以保证代理人不会做出某些对委托人有害的行为，  或者如果代理人采取这样的行动可以保证委托人得到补偿。</a:t>
            </a:r>
            <a:endParaRPr sz="2400">
              <a:latin typeface="宋体"/>
              <a:cs typeface="宋体"/>
            </a:endParaRPr>
          </a:p>
          <a:p>
            <a:pPr marL="411480" indent="-287020">
              <a:lnSpc>
                <a:spcPct val="100000"/>
              </a:lnSpc>
              <a:spcBef>
                <a:spcPts val="1040"/>
              </a:spcBef>
              <a:buClr>
                <a:srgbClr val="FF6600"/>
              </a:buClr>
              <a:buChar char="•"/>
              <a:tabLst>
                <a:tab pos="41211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经理股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期权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(Executive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Stock 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Option,ESO)</a:t>
            </a:r>
            <a:endParaRPr sz="2200">
              <a:latin typeface="宋体"/>
              <a:cs typeface="宋体"/>
            </a:endParaRPr>
          </a:p>
          <a:p>
            <a:pPr algn="just" marL="411480" marR="99060" indent="554355">
              <a:lnSpc>
                <a:spcPct val="119500"/>
              </a:lnSpc>
              <a:spcBef>
                <a:spcPts val="540"/>
              </a:spcBef>
            </a:pP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许管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人员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以约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定的价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格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在一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的时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期购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入本公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一定 数量股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的权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。即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管理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人员获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得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一份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本公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司股票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看 涨期权。</a:t>
            </a:r>
            <a:endParaRPr sz="2200">
              <a:latin typeface="宋体"/>
              <a:cs typeface="宋体"/>
            </a:endParaRPr>
          </a:p>
          <a:p>
            <a:pPr algn="just" marL="411480" indent="-287020">
              <a:lnSpc>
                <a:spcPct val="100000"/>
              </a:lnSpc>
              <a:spcBef>
                <a:spcPts val="1055"/>
              </a:spcBef>
              <a:buClr>
                <a:srgbClr val="FF6600"/>
              </a:buClr>
              <a:buChar char="•"/>
              <a:tabLst>
                <a:tab pos="412115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业绩股份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(Performance</a:t>
            </a:r>
            <a:r>
              <a:rPr dirty="0" sz="2200" spc="-2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>
                <a:solidFill>
                  <a:srgbClr val="FFFFFF"/>
                </a:solidFill>
                <a:latin typeface="宋体"/>
                <a:cs typeface="宋体"/>
              </a:rPr>
              <a:t>Shares)</a:t>
            </a:r>
            <a:endParaRPr sz="2200">
              <a:latin typeface="宋体"/>
              <a:cs typeface="宋体"/>
            </a:endParaRPr>
          </a:p>
          <a:p>
            <a:pPr marL="411480" marR="105410" indent="554355">
              <a:lnSpc>
                <a:spcPct val="119100"/>
              </a:lnSpc>
              <a:spcBef>
                <a:spcPts val="555"/>
              </a:spcBef>
            </a:pP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它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是基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公司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业绩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（以双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约定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指标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来衡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量）而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给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予经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营者的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份。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596900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理财环境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279140" y="2215388"/>
            <a:ext cx="2512695" cy="25901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法律环境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9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金融市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环</a:t>
            </a:r>
            <a:r>
              <a:rPr dirty="0" sz="2800" spc="-2715">
                <a:solidFill>
                  <a:srgbClr val="FFFFFF"/>
                </a:solidFill>
                <a:latin typeface="宋体"/>
                <a:cs typeface="宋体"/>
              </a:rPr>
              <a:t>境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9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经济环境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8803" y="624332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法律环境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80819" y="1728927"/>
            <a:ext cx="6542405" cy="3997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marR="5080" indent="-344805">
              <a:lnSpc>
                <a:spcPct val="120000"/>
              </a:lnSpc>
              <a:spcBef>
                <a:spcPts val="9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组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织法规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公司法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独资企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2800" spc="-2220">
                <a:solidFill>
                  <a:srgbClr val="FFFFFF"/>
                </a:solidFill>
                <a:latin typeface="宋体"/>
                <a:cs typeface="宋体"/>
              </a:rPr>
              <a:t>伙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破产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法等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6600"/>
              </a:buClr>
              <a:buFont typeface="Wingdings"/>
              <a:buChar char="►"/>
            </a:pPr>
            <a:endParaRPr sz="23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税务法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转税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、所得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等。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20000"/>
              </a:lnSpc>
              <a:spcBef>
                <a:spcPts val="235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财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会法规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会计法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企业会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准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-2220">
                <a:solidFill>
                  <a:srgbClr val="FFFFFF"/>
                </a:solidFill>
                <a:latin typeface="宋体"/>
                <a:cs typeface="宋体"/>
              </a:rPr>
              <a:t>企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业会计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度等。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6600"/>
              </a:buClr>
              <a:buFont typeface="Wingdings"/>
              <a:buChar char="►"/>
            </a:pPr>
            <a:endParaRPr sz="23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经济法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合同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法、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证券法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票据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法等</a:t>
            </a:r>
            <a:r>
              <a:rPr dirty="0" sz="2800" spc="-116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1604" y="554228"/>
            <a:ext cx="27686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金融市场环境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675" y="1523492"/>
            <a:ext cx="8416925" cy="45732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356870" marR="5080" indent="-344805">
              <a:lnSpc>
                <a:spcPct val="99600"/>
              </a:lnSpc>
              <a:spcBef>
                <a:spcPts val="11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金融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分类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市场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外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汇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市场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黄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市场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保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险</a:t>
            </a:r>
            <a:r>
              <a:rPr dirty="0" sz="2400" spc="-1860">
                <a:solidFill>
                  <a:srgbClr val="FFFFFF"/>
                </a:solidFill>
                <a:latin typeface="宋体"/>
                <a:cs typeface="宋体"/>
              </a:rPr>
              <a:t>市 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场、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融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衍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生市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其中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场又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货币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400" spc="45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400" spc="2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短 期资金市场）和资本市场（长期资金市场）。</a:t>
            </a:r>
            <a:endParaRPr sz="2400">
              <a:latin typeface="宋体"/>
              <a:cs typeface="宋体"/>
            </a:endParaRPr>
          </a:p>
          <a:p>
            <a:pPr algn="just" lvl="1" marL="1155700" indent="-228600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一级市场和二级市场</a:t>
            </a:r>
            <a:endParaRPr sz="2400">
              <a:latin typeface="宋体"/>
              <a:cs typeface="宋体"/>
            </a:endParaRPr>
          </a:p>
          <a:p>
            <a:pPr algn="just" lvl="1" marL="1155700" indent="-228600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场内交易市场和场外交易市场</a:t>
            </a:r>
            <a:endParaRPr sz="2400">
              <a:latin typeface="宋体"/>
              <a:cs typeface="宋体"/>
            </a:endParaRPr>
          </a:p>
          <a:p>
            <a:pPr algn="just" marL="356870" indent="-344805">
              <a:lnSpc>
                <a:spcPct val="100000"/>
              </a:lnSpc>
              <a:spcBef>
                <a:spcPts val="132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金融市场上利率的构成要素</a:t>
            </a:r>
            <a:endParaRPr sz="2400">
              <a:latin typeface="宋体"/>
              <a:cs typeface="宋体"/>
            </a:endParaRPr>
          </a:p>
          <a:p>
            <a:pPr algn="just" lvl="1" marL="1155700" marR="90170" indent="-228600">
              <a:lnSpc>
                <a:spcPct val="130000"/>
              </a:lnSpc>
              <a:spcBef>
                <a:spcPts val="555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利率</a:t>
            </a:r>
            <a:r>
              <a:rPr dirty="0" sz="24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4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纯粹利率</a:t>
            </a:r>
            <a:r>
              <a:rPr dirty="0" sz="24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4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通货膨胀附加率</a:t>
            </a:r>
            <a:r>
              <a:rPr dirty="0" sz="24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4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违约风险附加 率</a:t>
            </a:r>
            <a:r>
              <a:rPr dirty="0" sz="2400" spc="-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流动性附加率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+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到期风险附加率</a:t>
            </a:r>
            <a:endParaRPr sz="2400">
              <a:latin typeface="宋体"/>
              <a:cs typeface="宋体"/>
            </a:endParaRPr>
          </a:p>
          <a:p>
            <a:pPr algn="just" lvl="1" marL="1155700" indent="-228600">
              <a:lnSpc>
                <a:spcPct val="100000"/>
              </a:lnSpc>
              <a:spcBef>
                <a:spcPts val="1440"/>
              </a:spcBef>
              <a:buClr>
                <a:srgbClr val="FF6600"/>
              </a:buClr>
              <a:buChar char="•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interest rate = pure - interest rate + IP +</a:t>
            </a:r>
            <a:r>
              <a:rPr dirty="0" sz="2400" spc="-9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DRP</a:t>
            </a:r>
            <a:endParaRPr sz="2400">
              <a:latin typeface="宋体"/>
              <a:cs typeface="宋体"/>
            </a:endParaRPr>
          </a:p>
          <a:p>
            <a:pPr marL="1155700">
              <a:lnSpc>
                <a:spcPct val="100000"/>
              </a:lnSpc>
              <a:spcBef>
                <a:spcPts val="840"/>
              </a:spcBef>
              <a:tabLst>
                <a:tab pos="1459865" algn="l"/>
                <a:tab pos="1917064" algn="l"/>
                <a:tab pos="222186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+	LP	+	MRP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8803" y="667004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经济环境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09035" y="1928876"/>
            <a:ext cx="2506980" cy="36601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经济政策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F6600"/>
              </a:buClr>
              <a:buFont typeface="Wingdings"/>
              <a:buChar char="►"/>
            </a:pPr>
            <a:endParaRPr sz="39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经济发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2800" spc="-2175">
                <a:solidFill>
                  <a:srgbClr val="FFFFFF"/>
                </a:solidFill>
                <a:latin typeface="宋体"/>
                <a:cs typeface="宋体"/>
              </a:rPr>
              <a:t>况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6600"/>
              </a:buClr>
              <a:buFont typeface="Wingdings"/>
              <a:buChar char="►"/>
            </a:pPr>
            <a:endParaRPr sz="39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通货膨胀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buClr>
                <a:srgbClr val="FF6600"/>
              </a:buClr>
              <a:buFont typeface="Wingdings"/>
              <a:buChar char="►"/>
            </a:pPr>
            <a:endParaRPr sz="395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竞争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2023-10-22T13:34:47Z</dcterms:created>
  <dcterms:modified xsi:type="dcterms:W3CDTF">2023-10-22T13:34:47Z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2006-06-02T00:00:00Z</vt:filetime>
  </property>
  <property fmtid="{D5CDD505-2E9C-101B-9397-08002B2CF9AE}" pid="3" name="LastSaved">
    <vt:filetime>2006-06-02T00:00:00Z</vt:filetime>
  </property>
</Properties>
</file>