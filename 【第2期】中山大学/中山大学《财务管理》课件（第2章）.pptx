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05076" y="639572"/>
            <a:ext cx="5133847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2891" y="2931373"/>
            <a:ext cx="6414134" cy="2072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187" y="2965196"/>
            <a:ext cx="790448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92605" algn="l"/>
              </a:tabLst>
            </a:pPr>
            <a:r>
              <a:rPr dirty="0" spc="5"/>
              <a:t>第二章</a:t>
            </a:r>
            <a:r>
              <a:rPr dirty="0" spc="5"/>
              <a:t>	</a:t>
            </a:r>
            <a:r>
              <a:rPr dirty="0" spc="5"/>
              <a:t>资</a:t>
            </a:r>
            <a:r>
              <a:rPr dirty="0" spc="-20"/>
              <a:t>金</a:t>
            </a:r>
            <a:r>
              <a:rPr dirty="0" spc="5"/>
              <a:t>的时间</a:t>
            </a:r>
            <a:r>
              <a:rPr dirty="0" spc="-20"/>
              <a:t>价</a:t>
            </a:r>
            <a:r>
              <a:rPr dirty="0" spc="5"/>
              <a:t>值</a:t>
            </a:r>
            <a:r>
              <a:rPr dirty="0" spc="-20"/>
              <a:t>和</a:t>
            </a:r>
            <a:r>
              <a:rPr dirty="0" spc="5"/>
              <a:t>风险价值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3923" y="2005076"/>
            <a:ext cx="4972685" cy="2294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资金的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间价值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风险与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风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险报酬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定价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模型</a:t>
            </a:r>
            <a:r>
              <a:rPr dirty="0" sz="2800" spc="-415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800" spc="-415" b="1">
                <a:solidFill>
                  <a:srgbClr val="FFFFFF"/>
                </a:solidFill>
                <a:latin typeface="Arial"/>
                <a:cs typeface="Arial"/>
              </a:rPr>
              <a:t>CAPM</a:t>
            </a:r>
            <a:r>
              <a:rPr dirty="0" sz="2800" spc="-415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3957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资金时</a:t>
            </a:r>
            <a:r>
              <a:rPr dirty="0" spc="-20"/>
              <a:t>间</a:t>
            </a:r>
            <a:r>
              <a:rPr dirty="0" spc="5"/>
              <a:t>价值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0667" y="1788668"/>
            <a:ext cx="4646295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单利终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和现值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复利终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和现值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1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年金终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和现值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1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时间价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计量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中的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特殊问</a:t>
            </a:r>
            <a:r>
              <a:rPr dirty="0" sz="2800" spc="-2715" b="1">
                <a:solidFill>
                  <a:srgbClr val="FFFFFF"/>
                </a:solidFill>
                <a:latin typeface="Microsoft JhengHei"/>
                <a:cs typeface="Microsoft JhengHei"/>
              </a:rPr>
              <a:t>题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单利终</a:t>
            </a:r>
            <a:r>
              <a:rPr dirty="0" spc="-20"/>
              <a:t>值</a:t>
            </a:r>
            <a:r>
              <a:rPr dirty="0" spc="5"/>
              <a:t>和</a:t>
            </a:r>
            <a:r>
              <a:rPr dirty="0" spc="-20"/>
              <a:t>现</a:t>
            </a:r>
            <a:r>
              <a:rPr dirty="0" spc="5"/>
              <a:t>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502156"/>
            <a:ext cx="7493000" cy="227012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just" marL="12700" marR="5080" indent="642620">
              <a:lnSpc>
                <a:spcPct val="102499"/>
              </a:lnSpc>
              <a:spcBef>
                <a:spcPts val="2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息的一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利制下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只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对本金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所生利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本金重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算利息。</a:t>
            </a:r>
            <a:endParaRPr sz="2800">
              <a:latin typeface="宋体"/>
              <a:cs typeface="宋体"/>
            </a:endParaRPr>
          </a:p>
          <a:p>
            <a:pPr marL="12700" marR="74930" indent="642620">
              <a:lnSpc>
                <a:spcPct val="105000"/>
              </a:lnSpc>
              <a:spcBef>
                <a:spcPts val="359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括计算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单利终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单利现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5336" y="3858768"/>
            <a:ext cx="6120765" cy="2087880"/>
          </a:xfrm>
          <a:custGeom>
            <a:avLst/>
            <a:gdLst/>
            <a:ahLst/>
            <a:cxnLst/>
            <a:rect l="l" t="t" r="r" b="b"/>
            <a:pathLst>
              <a:path w="6120765" h="2087879">
                <a:moveTo>
                  <a:pt x="0" y="0"/>
                </a:moveTo>
                <a:lnTo>
                  <a:pt x="0" y="2087880"/>
                </a:lnTo>
                <a:lnTo>
                  <a:pt x="6120384" y="2087880"/>
                </a:lnTo>
                <a:lnTo>
                  <a:pt x="6120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45336" y="3858768"/>
            <a:ext cx="6120765" cy="2087880"/>
          </a:xfrm>
          <a:custGeom>
            <a:avLst/>
            <a:gdLst/>
            <a:ahLst/>
            <a:cxnLst/>
            <a:rect l="l" t="t" r="r" b="b"/>
            <a:pathLst>
              <a:path w="6120765" h="2087879">
                <a:moveTo>
                  <a:pt x="0" y="0"/>
                </a:moveTo>
                <a:lnTo>
                  <a:pt x="0" y="2087879"/>
                </a:lnTo>
                <a:lnTo>
                  <a:pt x="6120383" y="2087879"/>
                </a:lnTo>
                <a:lnTo>
                  <a:pt x="612038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36776" y="3694887"/>
            <a:ext cx="2349500" cy="1970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R="5080" indent="8890">
              <a:lnSpc>
                <a:spcPct val="151800"/>
              </a:lnSpc>
              <a:spcBef>
                <a:spcPts val="110"/>
              </a:spcBef>
            </a:pPr>
            <a:r>
              <a:rPr dirty="0" sz="2800" spc="5">
                <a:latin typeface="宋体"/>
                <a:cs typeface="宋体"/>
              </a:rPr>
              <a:t>单利利</a:t>
            </a:r>
            <a:r>
              <a:rPr dirty="0" sz="2800" spc="-20">
                <a:latin typeface="宋体"/>
                <a:cs typeface="宋体"/>
              </a:rPr>
              <a:t>息</a:t>
            </a:r>
            <a:r>
              <a:rPr dirty="0" sz="2800" spc="5">
                <a:latin typeface="宋体"/>
                <a:cs typeface="宋体"/>
              </a:rPr>
              <a:t>公式: </a:t>
            </a:r>
            <a:r>
              <a:rPr dirty="0" sz="2800" spc="5">
                <a:latin typeface="宋体"/>
                <a:cs typeface="宋体"/>
              </a:rPr>
              <a:t>单利终</a:t>
            </a:r>
            <a:r>
              <a:rPr dirty="0" sz="2800" spc="-20">
                <a:latin typeface="宋体"/>
                <a:cs typeface="宋体"/>
              </a:rPr>
              <a:t>值</a:t>
            </a:r>
            <a:r>
              <a:rPr dirty="0" sz="2800" spc="5">
                <a:latin typeface="宋体"/>
                <a:cs typeface="宋体"/>
              </a:rPr>
              <a:t>公式</a:t>
            </a:r>
            <a:r>
              <a:rPr dirty="0" sz="2800">
                <a:latin typeface="宋体"/>
                <a:cs typeface="宋体"/>
              </a:rPr>
              <a:t>:  </a:t>
            </a:r>
            <a:r>
              <a:rPr dirty="0" sz="2800" spc="5">
                <a:latin typeface="宋体"/>
                <a:cs typeface="宋体"/>
              </a:rPr>
              <a:t>单利现</a:t>
            </a:r>
            <a:r>
              <a:rPr dirty="0" sz="2800" spc="-20">
                <a:latin typeface="宋体"/>
                <a:cs typeface="宋体"/>
              </a:rPr>
              <a:t>值</a:t>
            </a:r>
            <a:r>
              <a:rPr dirty="0" sz="2800" spc="5">
                <a:latin typeface="宋体"/>
                <a:cs typeface="宋体"/>
              </a:rPr>
              <a:t>公式</a:t>
            </a:r>
            <a:r>
              <a:rPr dirty="0" sz="2800">
                <a:latin typeface="宋体"/>
                <a:cs typeface="宋体"/>
              </a:rPr>
              <a:t>: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77967" y="5327904"/>
            <a:ext cx="1152525" cy="0"/>
          </a:xfrm>
          <a:custGeom>
            <a:avLst/>
            <a:gdLst/>
            <a:ahLst/>
            <a:cxnLst/>
            <a:rect l="l" t="t" r="r" b="b"/>
            <a:pathLst>
              <a:path w="1152525" h="0">
                <a:moveTo>
                  <a:pt x="0" y="0"/>
                </a:moveTo>
                <a:lnTo>
                  <a:pt x="1152143" y="0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262628" y="3694887"/>
            <a:ext cx="3350260" cy="2112645"/>
          </a:xfrm>
          <a:prstGeom prst="rect">
            <a:avLst/>
          </a:prstGeom>
        </p:spPr>
        <p:txBody>
          <a:bodyPr wrap="square" lIns="0" tIns="2197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30"/>
              </a:spcBef>
            </a:pPr>
            <a:r>
              <a:rPr dirty="0" sz="2800">
                <a:latin typeface="宋体"/>
                <a:cs typeface="宋体"/>
              </a:rPr>
              <a:t>I=P </a:t>
            </a:r>
            <a:r>
              <a:rPr dirty="0" sz="2000" spc="-10">
                <a:latin typeface="宋体"/>
                <a:cs typeface="宋体"/>
              </a:rPr>
              <a:t>× </a:t>
            </a:r>
            <a:r>
              <a:rPr dirty="0" sz="2800">
                <a:latin typeface="宋体"/>
                <a:cs typeface="宋体"/>
              </a:rPr>
              <a:t>i </a:t>
            </a:r>
            <a:r>
              <a:rPr dirty="0" sz="2000" spc="-10">
                <a:latin typeface="宋体"/>
                <a:cs typeface="宋体"/>
              </a:rPr>
              <a:t>×</a:t>
            </a:r>
            <a:r>
              <a:rPr dirty="0" sz="2000" spc="-409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n</a:t>
            </a:r>
            <a:endParaRPr sz="2800">
              <a:latin typeface="宋体"/>
              <a:cs typeface="宋体"/>
            </a:endParaRPr>
          </a:p>
          <a:p>
            <a:pPr marL="59055">
              <a:lnSpc>
                <a:spcPts val="3030"/>
              </a:lnSpc>
              <a:spcBef>
                <a:spcPts val="1630"/>
              </a:spcBef>
            </a:pPr>
            <a:r>
              <a:rPr dirty="0" sz="2800">
                <a:latin typeface="宋体"/>
                <a:cs typeface="宋体"/>
              </a:rPr>
              <a:t>F=P </a:t>
            </a:r>
            <a:r>
              <a:rPr dirty="0" sz="2000" spc="-10">
                <a:latin typeface="宋体"/>
                <a:cs typeface="宋体"/>
              </a:rPr>
              <a:t>× </a:t>
            </a:r>
            <a:r>
              <a:rPr dirty="0" sz="2800" spc="5">
                <a:latin typeface="宋体"/>
                <a:cs typeface="宋体"/>
              </a:rPr>
              <a:t>（1+ </a:t>
            </a:r>
            <a:r>
              <a:rPr dirty="0" sz="2800">
                <a:latin typeface="宋体"/>
                <a:cs typeface="宋体"/>
              </a:rPr>
              <a:t>i </a:t>
            </a:r>
            <a:r>
              <a:rPr dirty="0" sz="2000" spc="-10">
                <a:latin typeface="宋体"/>
                <a:cs typeface="宋体"/>
              </a:rPr>
              <a:t>×</a:t>
            </a:r>
            <a:r>
              <a:rPr dirty="0" sz="2000" spc="-95">
                <a:latin typeface="宋体"/>
                <a:cs typeface="宋体"/>
              </a:rPr>
              <a:t> </a:t>
            </a:r>
            <a:r>
              <a:rPr dirty="0" sz="2800" spc="-5">
                <a:latin typeface="宋体"/>
                <a:cs typeface="宋体"/>
              </a:rPr>
              <a:t>n）</a:t>
            </a:r>
            <a:endParaRPr sz="2800">
              <a:latin typeface="宋体"/>
              <a:cs typeface="宋体"/>
            </a:endParaRPr>
          </a:p>
          <a:p>
            <a:pPr algn="ctr" marR="546735">
              <a:lnSpc>
                <a:spcPts val="2245"/>
              </a:lnSpc>
            </a:pPr>
            <a:r>
              <a:rPr dirty="0" sz="2600" spc="-55">
                <a:latin typeface="宋体"/>
                <a:cs typeface="宋体"/>
              </a:rPr>
              <a:t>F</a:t>
            </a:r>
            <a:endParaRPr sz="2600">
              <a:latin typeface="宋体"/>
              <a:cs typeface="宋体"/>
            </a:endParaRPr>
          </a:p>
          <a:p>
            <a:pPr marL="38100">
              <a:lnSpc>
                <a:spcPts val="2110"/>
              </a:lnSpc>
            </a:pPr>
            <a:r>
              <a:rPr dirty="0" sz="2800" spc="5">
                <a:latin typeface="宋体"/>
                <a:cs typeface="宋体"/>
              </a:rPr>
              <a:t>P=</a:t>
            </a:r>
            <a:endParaRPr sz="2800">
              <a:latin typeface="宋体"/>
              <a:cs typeface="宋体"/>
            </a:endParaRPr>
          </a:p>
          <a:p>
            <a:pPr algn="ctr" marR="558800">
              <a:lnSpc>
                <a:spcPts val="2415"/>
              </a:lnSpc>
            </a:pPr>
            <a:r>
              <a:rPr dirty="0" sz="2500" spc="-5">
                <a:latin typeface="宋体"/>
                <a:cs typeface="宋体"/>
              </a:rPr>
              <a:t>1 </a:t>
            </a:r>
            <a:r>
              <a:rPr dirty="0" baseline="10000" sz="3750" spc="-7">
                <a:latin typeface="宋体"/>
                <a:cs typeface="宋体"/>
              </a:rPr>
              <a:t>+ </a:t>
            </a:r>
            <a:r>
              <a:rPr dirty="0" sz="2600" spc="-55">
                <a:latin typeface="宋体"/>
                <a:cs typeface="宋体"/>
              </a:rPr>
              <a:t>i</a:t>
            </a:r>
            <a:r>
              <a:rPr dirty="0" sz="2600" spc="-900">
                <a:latin typeface="宋体"/>
                <a:cs typeface="宋体"/>
              </a:rPr>
              <a:t> </a:t>
            </a:r>
            <a:r>
              <a:rPr dirty="0" baseline="10416" sz="3600">
                <a:latin typeface="Arial"/>
                <a:cs typeface="Arial"/>
              </a:rPr>
              <a:t>∙ </a:t>
            </a:r>
            <a:r>
              <a:rPr dirty="0" sz="2600" spc="-55">
                <a:latin typeface="宋体"/>
                <a:cs typeface="宋体"/>
              </a:rPr>
              <a:t>n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116" y="1450340"/>
            <a:ext cx="8090534" cy="229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384" indent="4203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复利是计算利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的另一种方法，是指每经过一个计算期， 将所生利息计入本金重复计算利息，逐期累计，俗称“利滚 利”。</a:t>
            </a:r>
            <a:endParaRPr sz="2400">
              <a:latin typeface="宋体"/>
              <a:cs typeface="宋体"/>
            </a:endParaRPr>
          </a:p>
          <a:p>
            <a:pPr marL="582295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复利的计算包括:</a:t>
            </a:r>
            <a:endParaRPr sz="2400">
              <a:latin typeface="宋体"/>
              <a:cs typeface="宋体"/>
            </a:endParaRPr>
          </a:p>
          <a:p>
            <a:pPr marL="810895" marR="5080" indent="-228600">
              <a:lnSpc>
                <a:spcPts val="2620"/>
              </a:lnSpc>
              <a:spcBef>
                <a:spcPts val="615"/>
              </a:spcBef>
              <a:buClr>
                <a:srgbClr val="FF6600"/>
              </a:buClr>
              <a:buChar char="•"/>
              <a:tabLst>
                <a:tab pos="81153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：复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终值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是按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方式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若干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个计息期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后包括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息在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内的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未来价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091" y="4245356"/>
            <a:ext cx="766064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2413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复利现值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: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值是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未来一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时期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按复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利计算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在价值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终值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运算，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叫贴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091" y="5421884"/>
            <a:ext cx="766064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2413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复利利息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: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息是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复利计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方式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所产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资金时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价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值，即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与复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值的差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复利终</a:t>
            </a:r>
            <a:r>
              <a:rPr dirty="0" spc="-20"/>
              <a:t>值</a:t>
            </a:r>
            <a:r>
              <a:rPr dirty="0" spc="5"/>
              <a:t>和</a:t>
            </a:r>
            <a:r>
              <a:rPr dirty="0" spc="-20"/>
              <a:t>现</a:t>
            </a:r>
            <a:r>
              <a:rPr dirty="0" spc="5"/>
              <a:t>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1744" y="3712464"/>
            <a:ext cx="5544820" cy="506095"/>
          </a:xfrm>
          <a:prstGeom prst="rect">
            <a:avLst/>
          </a:prstGeom>
          <a:solidFill>
            <a:srgbClr val="BADFE3"/>
          </a:solidFill>
          <a:ln w="9143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340"/>
              </a:spcBef>
              <a:tabLst>
                <a:tab pos="2907665" algn="l"/>
              </a:tabLst>
            </a:pPr>
            <a:r>
              <a:rPr dirty="0" sz="2800" spc="5">
                <a:latin typeface="宋体"/>
                <a:cs typeface="宋体"/>
              </a:rPr>
              <a:t>复利终</a:t>
            </a:r>
            <a:r>
              <a:rPr dirty="0" sz="2800" spc="-20">
                <a:latin typeface="宋体"/>
                <a:cs typeface="宋体"/>
              </a:rPr>
              <a:t>值</a:t>
            </a:r>
            <a:r>
              <a:rPr dirty="0" sz="2800" spc="5">
                <a:latin typeface="宋体"/>
                <a:cs typeface="宋体"/>
              </a:rPr>
              <a:t>公式</a:t>
            </a:r>
            <a:r>
              <a:rPr dirty="0" sz="2800">
                <a:latin typeface="宋体"/>
                <a:cs typeface="宋体"/>
              </a:rPr>
              <a:t>:	F=P </a:t>
            </a:r>
            <a:r>
              <a:rPr dirty="0" sz="2800" spc="5">
                <a:latin typeface="宋体"/>
                <a:cs typeface="宋体"/>
              </a:rPr>
              <a:t>×</a:t>
            </a:r>
            <a:r>
              <a:rPr dirty="0" sz="2800" spc="-110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（1+i）</a:t>
            </a:r>
            <a:r>
              <a:rPr dirty="0" baseline="23391" sz="2850">
                <a:latin typeface="宋体"/>
                <a:cs typeface="宋体"/>
              </a:rPr>
              <a:t>n</a:t>
            </a:r>
            <a:endParaRPr baseline="23391" sz="28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1744" y="4937760"/>
            <a:ext cx="6047740" cy="506095"/>
          </a:xfrm>
          <a:prstGeom prst="rect">
            <a:avLst/>
          </a:prstGeom>
          <a:solidFill>
            <a:srgbClr val="BADFE3"/>
          </a:solidFill>
          <a:ln w="914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610">
              <a:lnSpc>
                <a:spcPts val="3735"/>
              </a:lnSpc>
              <a:tabLst>
                <a:tab pos="2980690" algn="l"/>
              </a:tabLst>
            </a:pPr>
            <a:r>
              <a:rPr dirty="0" baseline="-2976" sz="4200" spc="7">
                <a:latin typeface="宋体"/>
                <a:cs typeface="宋体"/>
              </a:rPr>
              <a:t>复利现</a:t>
            </a:r>
            <a:r>
              <a:rPr dirty="0" baseline="-2976" sz="4200" spc="-30">
                <a:latin typeface="宋体"/>
                <a:cs typeface="宋体"/>
              </a:rPr>
              <a:t>值</a:t>
            </a:r>
            <a:r>
              <a:rPr dirty="0" baseline="-2976" sz="4200" spc="7">
                <a:latin typeface="宋体"/>
                <a:cs typeface="宋体"/>
              </a:rPr>
              <a:t>公式</a:t>
            </a:r>
            <a:r>
              <a:rPr dirty="0" baseline="-2976" sz="4200">
                <a:latin typeface="宋体"/>
                <a:cs typeface="宋体"/>
              </a:rPr>
              <a:t>:	</a:t>
            </a:r>
            <a:r>
              <a:rPr dirty="0" sz="3200" spc="-5">
                <a:latin typeface="宋体"/>
                <a:cs typeface="宋体"/>
              </a:rPr>
              <a:t>P </a:t>
            </a:r>
            <a:r>
              <a:rPr dirty="0" sz="3200">
                <a:latin typeface="宋体"/>
                <a:cs typeface="宋体"/>
              </a:rPr>
              <a:t>=F </a:t>
            </a:r>
            <a:r>
              <a:rPr dirty="0" sz="1800">
                <a:latin typeface="宋体"/>
                <a:cs typeface="宋体"/>
              </a:rPr>
              <a:t>×</a:t>
            </a:r>
            <a:r>
              <a:rPr dirty="0" sz="1800" spc="-80">
                <a:latin typeface="宋体"/>
                <a:cs typeface="宋体"/>
              </a:rPr>
              <a:t> </a:t>
            </a:r>
            <a:r>
              <a:rPr dirty="0" sz="3200">
                <a:latin typeface="宋体"/>
                <a:cs typeface="宋体"/>
              </a:rPr>
              <a:t>（1+i）</a:t>
            </a:r>
            <a:r>
              <a:rPr dirty="0" baseline="26455" sz="3150">
                <a:latin typeface="宋体"/>
                <a:cs typeface="宋体"/>
              </a:rPr>
              <a:t>-n</a:t>
            </a:r>
            <a:endParaRPr baseline="26455" sz="31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591" y="6089904"/>
            <a:ext cx="4392295" cy="506095"/>
          </a:xfrm>
          <a:prstGeom prst="rect">
            <a:avLst/>
          </a:prstGeom>
          <a:solidFill>
            <a:srgbClr val="BADFE3"/>
          </a:solidFill>
          <a:ln w="9143">
            <a:solidFill>
              <a:srgbClr val="00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234315">
              <a:lnSpc>
                <a:spcPts val="3729"/>
              </a:lnSpc>
              <a:spcBef>
                <a:spcPts val="254"/>
              </a:spcBef>
              <a:tabLst>
                <a:tab pos="3141980" algn="l"/>
              </a:tabLst>
            </a:pPr>
            <a:r>
              <a:rPr dirty="0" sz="2800" spc="5">
                <a:latin typeface="宋体"/>
                <a:cs typeface="宋体"/>
              </a:rPr>
              <a:t>复利利</a:t>
            </a:r>
            <a:r>
              <a:rPr dirty="0" sz="2800" spc="-20">
                <a:latin typeface="宋体"/>
                <a:cs typeface="宋体"/>
              </a:rPr>
              <a:t>息</a:t>
            </a:r>
            <a:r>
              <a:rPr dirty="0" sz="2800" spc="5">
                <a:latin typeface="宋体"/>
                <a:cs typeface="宋体"/>
              </a:rPr>
              <a:t>公式</a:t>
            </a:r>
            <a:r>
              <a:rPr dirty="0" sz="2800">
                <a:latin typeface="宋体"/>
                <a:cs typeface="宋体"/>
              </a:rPr>
              <a:t>:	</a:t>
            </a:r>
            <a:r>
              <a:rPr dirty="0" sz="3200">
                <a:latin typeface="宋体"/>
                <a:cs typeface="宋体"/>
              </a:rPr>
              <a:t>I=F－P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年金终</a:t>
            </a:r>
            <a:r>
              <a:rPr dirty="0" spc="-20"/>
              <a:t>值</a:t>
            </a:r>
            <a:r>
              <a:rPr dirty="0" spc="5"/>
              <a:t>和</a:t>
            </a:r>
            <a:r>
              <a:rPr dirty="0" spc="-20"/>
              <a:t>现</a:t>
            </a:r>
            <a:r>
              <a:rPr dirty="0" spc="5"/>
              <a:t>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639316"/>
            <a:ext cx="7505700" cy="38735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7251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指一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定时期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期的系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收付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款项。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、养老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款赊购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 期偿还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款等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都采取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形式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37870">
              <a:lnSpc>
                <a:spcPct val="100000"/>
              </a:lnSpc>
              <a:spcBef>
                <a:spcPts val="6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的时点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:</a:t>
            </a:r>
            <a:endParaRPr sz="2800">
              <a:latin typeface="宋体"/>
              <a:cs typeface="宋体"/>
            </a:endParaRPr>
          </a:p>
          <a:p>
            <a:pPr marL="1268095" indent="-22923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126873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普通年金</a:t>
            </a:r>
            <a:endParaRPr sz="2800">
              <a:latin typeface="宋体"/>
              <a:cs typeface="宋体"/>
            </a:endParaRPr>
          </a:p>
          <a:p>
            <a:pPr marL="1268095" indent="-22923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126873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预付年金</a:t>
            </a:r>
            <a:endParaRPr sz="2800">
              <a:latin typeface="宋体"/>
              <a:cs typeface="宋体"/>
            </a:endParaRPr>
          </a:p>
          <a:p>
            <a:pPr marL="1268095" indent="-22923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126873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递延年金</a:t>
            </a:r>
            <a:endParaRPr sz="2800">
              <a:latin typeface="宋体"/>
              <a:cs typeface="宋体"/>
            </a:endParaRPr>
          </a:p>
          <a:p>
            <a:pPr marL="1268095" indent="-22923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126873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永续年金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116" y="1160780"/>
            <a:ext cx="8343900" cy="1099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96570">
              <a:lnSpc>
                <a:spcPct val="100000"/>
              </a:lnSpc>
              <a:spcBef>
                <a:spcPts val="105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通年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又称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后付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年金，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指发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在每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末的等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项，  其计算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括终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和现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值计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算。</a:t>
            </a:r>
            <a:endParaRPr sz="22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普通年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终值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普通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年金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终值是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每期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付款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项复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利终值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和。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3980180"/>
            <a:ext cx="813625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普通年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普通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年金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现值是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每期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末等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额系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列收付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项的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现值之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38803" y="526796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普通年金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463295" y="2273808"/>
            <a:ext cx="8354695" cy="1658620"/>
          </a:xfrm>
          <a:custGeom>
            <a:avLst/>
            <a:gdLst/>
            <a:ahLst/>
            <a:cxnLst/>
            <a:rect l="l" t="t" r="r" b="b"/>
            <a:pathLst>
              <a:path w="8354695" h="1658620">
                <a:moveTo>
                  <a:pt x="0" y="0"/>
                </a:moveTo>
                <a:lnTo>
                  <a:pt x="0" y="1658112"/>
                </a:lnTo>
                <a:lnTo>
                  <a:pt x="8354568" y="1658112"/>
                </a:lnTo>
                <a:lnTo>
                  <a:pt x="83545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3295" y="2273808"/>
            <a:ext cx="8354695" cy="1658620"/>
          </a:xfrm>
          <a:custGeom>
            <a:avLst/>
            <a:gdLst/>
            <a:ahLst/>
            <a:cxnLst/>
            <a:rect l="l" t="t" r="r" b="b"/>
            <a:pathLst>
              <a:path w="8354695" h="1658620">
                <a:moveTo>
                  <a:pt x="0" y="0"/>
                </a:moveTo>
                <a:lnTo>
                  <a:pt x="0" y="1658111"/>
                </a:lnTo>
                <a:lnTo>
                  <a:pt x="8354567" y="1658111"/>
                </a:lnTo>
                <a:lnTo>
                  <a:pt x="835456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27903" y="2633472"/>
            <a:ext cx="1463040" cy="3175"/>
          </a:xfrm>
          <a:custGeom>
            <a:avLst/>
            <a:gdLst/>
            <a:ahLst/>
            <a:cxnLst/>
            <a:rect l="l" t="t" r="r" b="b"/>
            <a:pathLst>
              <a:path w="1463040" h="3175">
                <a:moveTo>
                  <a:pt x="0" y="0"/>
                </a:moveTo>
                <a:lnTo>
                  <a:pt x="1463039" y="3047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01511" y="2596388"/>
            <a:ext cx="8318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5" i="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4192" y="2404364"/>
            <a:ext cx="4740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615565" algn="l"/>
              </a:tabLst>
            </a:pPr>
            <a:r>
              <a:rPr dirty="0" sz="2400">
                <a:latin typeface="宋体"/>
                <a:cs typeface="宋体"/>
              </a:rPr>
              <a:t>普通年金终值公式	:</a:t>
            </a:r>
            <a:r>
              <a:rPr dirty="0" sz="2400" spc="-790">
                <a:latin typeface="宋体"/>
                <a:cs typeface="宋体"/>
              </a:rPr>
              <a:t> </a:t>
            </a:r>
            <a:r>
              <a:rPr dirty="0" baseline="2777" sz="3000" spc="44">
                <a:latin typeface="Times New Roman"/>
                <a:cs typeface="Times New Roman"/>
              </a:rPr>
              <a:t>F=A</a:t>
            </a:r>
            <a:r>
              <a:rPr dirty="0" baseline="34722" sz="3000" spc="44">
                <a:latin typeface="Times New Roman"/>
                <a:cs typeface="Times New Roman"/>
              </a:rPr>
              <a:t>(1 </a:t>
            </a:r>
            <a:r>
              <a:rPr dirty="0" baseline="43055" sz="3000" spc="-7">
                <a:latin typeface="Symbol"/>
                <a:cs typeface="Symbol"/>
              </a:rPr>
              <a:t></a:t>
            </a:r>
            <a:r>
              <a:rPr dirty="0" baseline="43055" sz="3000" spc="-7">
                <a:latin typeface="Times New Roman"/>
                <a:cs typeface="Times New Roman"/>
              </a:rPr>
              <a:t> </a:t>
            </a:r>
            <a:r>
              <a:rPr dirty="0" baseline="34722" sz="3000" spc="-7" i="1">
                <a:latin typeface="Times New Roman"/>
                <a:cs typeface="Times New Roman"/>
              </a:rPr>
              <a:t>i </a:t>
            </a:r>
            <a:r>
              <a:rPr dirty="0" baseline="34722" sz="3000" spc="-7">
                <a:latin typeface="Times New Roman"/>
                <a:cs typeface="Times New Roman"/>
              </a:rPr>
              <a:t>) </a:t>
            </a:r>
            <a:r>
              <a:rPr dirty="0" baseline="64236" sz="2400" i="1">
                <a:latin typeface="Times New Roman"/>
                <a:cs typeface="Times New Roman"/>
              </a:rPr>
              <a:t>n </a:t>
            </a:r>
            <a:r>
              <a:rPr dirty="0" baseline="43055" sz="3000" spc="-1364">
                <a:latin typeface="Symbol"/>
                <a:cs typeface="Symbol"/>
              </a:rPr>
              <a:t></a:t>
            </a:r>
            <a:r>
              <a:rPr dirty="0" baseline="43055" sz="3000" spc="292">
                <a:latin typeface="Times New Roman"/>
                <a:cs typeface="Times New Roman"/>
              </a:rPr>
              <a:t> </a:t>
            </a:r>
            <a:r>
              <a:rPr dirty="0" baseline="34722" sz="3000" spc="-7">
                <a:latin typeface="Times New Roman"/>
                <a:cs typeface="Times New Roman"/>
              </a:rPr>
              <a:t>1</a:t>
            </a:r>
            <a:endParaRPr baseline="34722"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0920" y="2879852"/>
            <a:ext cx="5158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称为普通年金终值系数或</a:t>
            </a:r>
            <a:r>
              <a:rPr dirty="0" sz="1800" spc="10">
                <a:latin typeface="宋体"/>
                <a:cs typeface="宋体"/>
              </a:rPr>
              <a:t>1</a:t>
            </a:r>
            <a:r>
              <a:rPr dirty="0" sz="1800">
                <a:latin typeface="宋体"/>
                <a:cs typeface="宋体"/>
              </a:rPr>
              <a:t>元年金终值，它反映的是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47672" y="3069336"/>
            <a:ext cx="1460500" cy="3175"/>
          </a:xfrm>
          <a:custGeom>
            <a:avLst/>
            <a:gdLst/>
            <a:ahLst/>
            <a:cxnLst/>
            <a:rect l="l" t="t" r="r" b="b"/>
            <a:pathLst>
              <a:path w="1460500" h="3175">
                <a:moveTo>
                  <a:pt x="0" y="0"/>
                </a:moveTo>
                <a:lnTo>
                  <a:pt x="1459991" y="3047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1904" y="3041396"/>
            <a:ext cx="783907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30480">
              <a:lnSpc>
                <a:spcPct val="148900"/>
              </a:lnSpc>
              <a:spcBef>
                <a:spcPts val="100"/>
              </a:spcBef>
            </a:pPr>
            <a:r>
              <a:rPr dirty="0" sz="1800" spc="10">
                <a:latin typeface="宋体"/>
                <a:cs typeface="宋体"/>
              </a:rPr>
              <a:t>1</a:t>
            </a:r>
            <a:r>
              <a:rPr dirty="0" sz="1800">
                <a:latin typeface="宋体"/>
                <a:cs typeface="宋体"/>
              </a:rPr>
              <a:t>元年金在利率为</a:t>
            </a:r>
            <a:r>
              <a:rPr dirty="0" sz="1800" spc="10">
                <a:latin typeface="宋体"/>
                <a:cs typeface="宋体"/>
              </a:rPr>
              <a:t>i</a:t>
            </a:r>
            <a:r>
              <a:rPr dirty="0" sz="1800">
                <a:latin typeface="宋体"/>
                <a:cs typeface="宋体"/>
              </a:rPr>
              <a:t>时</a:t>
            </a:r>
            <a:r>
              <a:rPr dirty="0" sz="1800" spc="-315">
                <a:latin typeface="宋体"/>
                <a:cs typeface="宋体"/>
              </a:rPr>
              <a:t>，</a:t>
            </a:r>
            <a:r>
              <a:rPr dirty="0" baseline="30864" sz="2700" spc="-472" i="1">
                <a:latin typeface="Times New Roman"/>
                <a:cs typeface="Times New Roman"/>
              </a:rPr>
              <a:t>i</a:t>
            </a:r>
            <a:r>
              <a:rPr dirty="0" baseline="30864" sz="2700" spc="-607" i="1">
                <a:latin typeface="Times New Roman"/>
                <a:cs typeface="Times New Roman"/>
              </a:rPr>
              <a:t> </a:t>
            </a:r>
            <a:r>
              <a:rPr dirty="0" sz="1800">
                <a:latin typeface="宋体"/>
                <a:cs typeface="宋体"/>
              </a:rPr>
              <a:t>经过</a:t>
            </a:r>
            <a:r>
              <a:rPr dirty="0" sz="1800" spc="10">
                <a:latin typeface="宋体"/>
                <a:cs typeface="宋体"/>
              </a:rPr>
              <a:t>n</a:t>
            </a:r>
            <a:r>
              <a:rPr dirty="0" sz="1800" spc="-25">
                <a:latin typeface="宋体"/>
                <a:cs typeface="宋体"/>
              </a:rPr>
              <a:t>期</a:t>
            </a:r>
            <a:r>
              <a:rPr dirty="0" sz="1800">
                <a:latin typeface="宋体"/>
                <a:cs typeface="宋体"/>
              </a:rPr>
              <a:t>的复利终值，用符号（F/A，i，n）表示，可查 “年金终值系数表”得知其数值。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2088" y="2639060"/>
            <a:ext cx="217741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323340" algn="l"/>
              </a:tabLst>
            </a:pPr>
            <a:r>
              <a:rPr dirty="0" baseline="-17857" sz="4200" spc="7">
                <a:latin typeface="宋体"/>
                <a:cs typeface="宋体"/>
              </a:rPr>
              <a:t>注</a:t>
            </a:r>
            <a:r>
              <a:rPr dirty="0" baseline="-17857" sz="4200" spc="89">
                <a:latin typeface="宋体"/>
                <a:cs typeface="宋体"/>
              </a:rPr>
              <a:t>：</a:t>
            </a:r>
            <a:r>
              <a:rPr dirty="0" sz="1800" spc="60">
                <a:latin typeface="Times New Roman"/>
                <a:cs typeface="Times New Roman"/>
              </a:rPr>
              <a:t>(</a:t>
            </a:r>
            <a:r>
              <a:rPr dirty="0" sz="1800" spc="-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Symbol"/>
                <a:cs typeface="Symbol"/>
              </a:rPr>
              <a:t>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i </a:t>
            </a:r>
            <a:r>
              <a:rPr dirty="0" sz="1800">
                <a:latin typeface="Times New Roman"/>
                <a:cs typeface="Times New Roman"/>
              </a:rPr>
              <a:t>) </a:t>
            </a:r>
            <a:r>
              <a:rPr dirty="0" baseline="8680" sz="2400" i="1">
                <a:latin typeface="Times New Roman"/>
                <a:cs typeface="Times New Roman"/>
              </a:rPr>
              <a:t>n</a:t>
            </a:r>
            <a:r>
              <a:rPr dirty="0" baseline="8680" sz="2400" spc="112" i="1">
                <a:latin typeface="Times New Roman"/>
                <a:cs typeface="Times New Roman"/>
              </a:rPr>
              <a:t> </a:t>
            </a:r>
            <a:r>
              <a:rPr dirty="0" sz="1800" spc="-815">
                <a:latin typeface="Symbol"/>
                <a:cs typeface="Symbol"/>
              </a:rPr>
              <a:t>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631" y="4696968"/>
            <a:ext cx="8430895" cy="1941830"/>
          </a:xfrm>
          <a:custGeom>
            <a:avLst/>
            <a:gdLst/>
            <a:ahLst/>
            <a:cxnLst/>
            <a:rect l="l" t="t" r="r" b="b"/>
            <a:pathLst>
              <a:path w="8430895" h="1941829">
                <a:moveTo>
                  <a:pt x="0" y="0"/>
                </a:moveTo>
                <a:lnTo>
                  <a:pt x="0" y="1941576"/>
                </a:lnTo>
                <a:lnTo>
                  <a:pt x="8430768" y="1941576"/>
                </a:lnTo>
                <a:lnTo>
                  <a:pt x="84307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3631" y="4696968"/>
            <a:ext cx="8430895" cy="1941830"/>
          </a:xfrm>
          <a:custGeom>
            <a:avLst/>
            <a:gdLst/>
            <a:ahLst/>
            <a:cxnLst/>
            <a:rect l="l" t="t" r="r" b="b"/>
            <a:pathLst>
              <a:path w="8430895" h="1941829">
                <a:moveTo>
                  <a:pt x="0" y="0"/>
                </a:moveTo>
                <a:lnTo>
                  <a:pt x="0" y="1941575"/>
                </a:lnTo>
                <a:lnTo>
                  <a:pt x="8430767" y="1941575"/>
                </a:lnTo>
                <a:lnTo>
                  <a:pt x="843076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05839" y="5440172"/>
            <a:ext cx="7264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latin typeface="宋体"/>
                <a:cs typeface="宋体"/>
              </a:rPr>
              <a:t>注：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9456" y="5772404"/>
            <a:ext cx="8129905" cy="80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411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年金在利率为</a:t>
            </a:r>
            <a:r>
              <a:rPr dirty="0" sz="1800" spc="10">
                <a:latin typeface="宋体"/>
                <a:cs typeface="宋体"/>
              </a:rPr>
              <a:t>i</a:t>
            </a:r>
            <a:r>
              <a:rPr dirty="0" sz="1800">
                <a:latin typeface="宋体"/>
                <a:cs typeface="宋体"/>
              </a:rPr>
              <a:t>时，经过</a:t>
            </a:r>
            <a:r>
              <a:rPr dirty="0" sz="1800" spc="10">
                <a:latin typeface="宋体"/>
                <a:cs typeface="宋体"/>
              </a:rPr>
              <a:t>n</a:t>
            </a:r>
            <a:r>
              <a:rPr dirty="0" sz="1800">
                <a:latin typeface="宋体"/>
                <a:cs typeface="宋体"/>
              </a:rPr>
              <a:t>期</a:t>
            </a:r>
            <a:r>
              <a:rPr dirty="0" sz="1800" spc="-25">
                <a:latin typeface="宋体"/>
                <a:cs typeface="宋体"/>
              </a:rPr>
              <a:t>复</a:t>
            </a:r>
            <a:r>
              <a:rPr dirty="0" sz="1800">
                <a:latin typeface="宋体"/>
                <a:cs typeface="宋体"/>
              </a:rPr>
              <a:t>利的现值，记为（</a:t>
            </a:r>
            <a:r>
              <a:rPr dirty="0" sz="1800" spc="10">
                <a:latin typeface="宋体"/>
                <a:cs typeface="宋体"/>
              </a:rPr>
              <a:t>P/A</a:t>
            </a:r>
            <a:r>
              <a:rPr dirty="0" sz="1800" spc="-25">
                <a:latin typeface="宋体"/>
                <a:cs typeface="宋体"/>
              </a:rPr>
              <a:t>，</a:t>
            </a:r>
            <a:r>
              <a:rPr dirty="0" sz="1800" spc="10">
                <a:latin typeface="宋体"/>
                <a:cs typeface="宋体"/>
              </a:rPr>
              <a:t>i</a:t>
            </a:r>
            <a:r>
              <a:rPr dirty="0" sz="1800">
                <a:latin typeface="宋体"/>
                <a:cs typeface="宋体"/>
              </a:rPr>
              <a:t>，</a:t>
            </a:r>
            <a:r>
              <a:rPr dirty="0" sz="1800" spc="10">
                <a:latin typeface="宋体"/>
                <a:cs typeface="宋体"/>
              </a:rPr>
              <a:t>n</a:t>
            </a:r>
            <a:r>
              <a:rPr dirty="0" sz="1800" spc="-2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，可通过“普通年金 现值系数表”查得其数值。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44039" y="5660136"/>
            <a:ext cx="1750060" cy="3175"/>
          </a:xfrm>
          <a:custGeom>
            <a:avLst/>
            <a:gdLst/>
            <a:ahLst/>
            <a:cxnLst/>
            <a:rect l="l" t="t" r="r" b="b"/>
            <a:pathLst>
              <a:path w="1750060" h="3175">
                <a:moveTo>
                  <a:pt x="0" y="0"/>
                </a:moveTo>
                <a:lnTo>
                  <a:pt x="1749551" y="304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54807" y="5711444"/>
            <a:ext cx="76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24607" y="5312156"/>
            <a:ext cx="1203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49605" algn="l"/>
              </a:tabLst>
            </a:pP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 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baseline="10802" sz="2700">
                <a:latin typeface="Symbol"/>
                <a:cs typeface="Symbol"/>
              </a:rPr>
              <a:t></a:t>
            </a:r>
            <a:r>
              <a:rPr dirty="0" baseline="10802" sz="2700">
                <a:latin typeface="Times New Roman"/>
                <a:cs typeface="Times New Roman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i 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baseline="38461" sz="1950" spc="-885">
                <a:latin typeface="Symbol"/>
                <a:cs typeface="Symbol"/>
              </a:rPr>
              <a:t></a:t>
            </a:r>
            <a:r>
              <a:rPr dirty="0" baseline="38461" sz="1950" spc="172">
                <a:latin typeface="Times New Roman"/>
                <a:cs typeface="Times New Roman"/>
              </a:rPr>
              <a:t> </a:t>
            </a:r>
            <a:r>
              <a:rPr dirty="0" baseline="32051" sz="1950" spc="-7" i="1">
                <a:latin typeface="Times New Roman"/>
                <a:cs typeface="Times New Roman"/>
              </a:rPr>
              <a:t>n</a:t>
            </a:r>
            <a:endParaRPr baseline="32051"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00351" y="5266436"/>
            <a:ext cx="426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10802" sz="2700">
                <a:latin typeface="Times New Roman"/>
                <a:cs typeface="Times New Roman"/>
              </a:rPr>
              <a:t>1</a:t>
            </a:r>
            <a:r>
              <a:rPr dirty="0" baseline="-10802" sz="2700" spc="667">
                <a:latin typeface="Times New Roman"/>
                <a:cs typeface="Times New Roman"/>
              </a:rPr>
              <a:t> </a:t>
            </a:r>
            <a:r>
              <a:rPr dirty="0" sz="1800" spc="-815">
                <a:latin typeface="Symbol"/>
                <a:cs typeface="Symbol"/>
              </a:rPr>
              <a:t>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67071" y="5126736"/>
            <a:ext cx="1750060" cy="0"/>
          </a:xfrm>
          <a:custGeom>
            <a:avLst/>
            <a:gdLst/>
            <a:ahLst/>
            <a:cxnLst/>
            <a:rect l="l" t="t" r="r" b="b"/>
            <a:pathLst>
              <a:path w="1750059" h="0">
                <a:moveTo>
                  <a:pt x="0" y="0"/>
                </a:moveTo>
                <a:lnTo>
                  <a:pt x="174955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760215" y="4680001"/>
            <a:ext cx="4635500" cy="118808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ctr" marR="989330">
              <a:lnSpc>
                <a:spcPct val="100000"/>
              </a:lnSpc>
              <a:spcBef>
                <a:spcPts val="509"/>
              </a:spcBef>
              <a:tabLst>
                <a:tab pos="523875" algn="l"/>
                <a:tab pos="1151890" algn="l"/>
              </a:tabLst>
            </a:pP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baseline="9722" sz="3000" spc="-1364">
                <a:latin typeface="Symbol"/>
                <a:cs typeface="Symbol"/>
              </a:rPr>
              <a:t></a:t>
            </a:r>
            <a:r>
              <a:rPr dirty="0" baseline="9722" sz="3000" spc="-1364">
                <a:latin typeface="Times New Roman"/>
                <a:cs typeface="Times New Roman"/>
              </a:rPr>
              <a:t>	</a:t>
            </a:r>
            <a:r>
              <a:rPr dirty="0" sz="2000" spc="-5">
                <a:latin typeface="Times New Roman"/>
                <a:cs typeface="Times New Roman"/>
              </a:rPr>
              <a:t>(</a:t>
            </a:r>
            <a:r>
              <a:rPr dirty="0" sz="2000" spc="-35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baseline="9722" sz="3000" spc="-7">
                <a:latin typeface="Symbol"/>
                <a:cs typeface="Symbol"/>
              </a:rPr>
              <a:t></a:t>
            </a:r>
            <a:r>
              <a:rPr dirty="0" baseline="9722" sz="3000" spc="-7">
                <a:latin typeface="Times New Roman"/>
                <a:cs typeface="Times New Roman"/>
              </a:rPr>
              <a:t>	</a:t>
            </a:r>
            <a:r>
              <a:rPr dirty="0" sz="2000" spc="-5" i="1">
                <a:latin typeface="Times New Roman"/>
                <a:cs typeface="Times New Roman"/>
              </a:rPr>
              <a:t>i </a:t>
            </a:r>
            <a:r>
              <a:rPr dirty="0" sz="2000" spc="-5">
                <a:latin typeface="Times New Roman"/>
                <a:cs typeface="Times New Roman"/>
              </a:rPr>
              <a:t>)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baseline="47008" sz="1950" spc="-885">
                <a:latin typeface="Symbol"/>
                <a:cs typeface="Symbol"/>
              </a:rPr>
              <a:t></a:t>
            </a:r>
            <a:r>
              <a:rPr dirty="0" baseline="47008" sz="1950" spc="195">
                <a:latin typeface="Times New Roman"/>
                <a:cs typeface="Times New Roman"/>
              </a:rPr>
              <a:t> </a:t>
            </a:r>
            <a:r>
              <a:rPr dirty="0" baseline="38461" sz="1950" spc="-7" i="1">
                <a:latin typeface="Times New Roman"/>
                <a:cs typeface="Times New Roman"/>
              </a:rPr>
              <a:t>n</a:t>
            </a:r>
            <a:endParaRPr baseline="38461" sz="1950">
              <a:latin typeface="Times New Roman"/>
              <a:cs typeface="Times New Roman"/>
            </a:endParaRPr>
          </a:p>
          <a:p>
            <a:pPr algn="ctr" marR="922019">
              <a:lnSpc>
                <a:spcPct val="100000"/>
              </a:lnSpc>
              <a:spcBef>
                <a:spcPts val="405"/>
              </a:spcBef>
            </a:pPr>
            <a:r>
              <a:rPr dirty="0" sz="2000" spc="-5" i="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375"/>
              </a:spcBef>
            </a:pPr>
            <a:r>
              <a:rPr dirty="0" sz="1800">
                <a:latin typeface="宋体"/>
                <a:cs typeface="宋体"/>
              </a:rPr>
              <a:t>称为年金现值系数或</a:t>
            </a:r>
            <a:r>
              <a:rPr dirty="0" sz="1800" spc="10">
                <a:latin typeface="宋体"/>
                <a:cs typeface="宋体"/>
              </a:rPr>
              <a:t>1</a:t>
            </a:r>
            <a:r>
              <a:rPr dirty="0" sz="1800" spc="-25">
                <a:latin typeface="宋体"/>
                <a:cs typeface="宋体"/>
              </a:rPr>
              <a:t>元</a:t>
            </a:r>
            <a:r>
              <a:rPr dirty="0" sz="1800">
                <a:latin typeface="宋体"/>
                <a:cs typeface="宋体"/>
              </a:rPr>
              <a:t>年金现值，它表示</a:t>
            </a:r>
            <a:r>
              <a:rPr dirty="0" sz="1800" spc="10">
                <a:latin typeface="宋体"/>
                <a:cs typeface="宋体"/>
              </a:rPr>
              <a:t>1</a:t>
            </a:r>
            <a:r>
              <a:rPr dirty="0" sz="1800">
                <a:latin typeface="宋体"/>
                <a:cs typeface="宋体"/>
              </a:rPr>
              <a:t>元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9455" y="4934204"/>
            <a:ext cx="3254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615565" algn="l"/>
              </a:tabLst>
            </a:pPr>
            <a:r>
              <a:rPr dirty="0" sz="2400">
                <a:latin typeface="宋体"/>
                <a:cs typeface="宋体"/>
              </a:rPr>
              <a:t>普通年金现值公式	</a:t>
            </a:r>
            <a:r>
              <a:rPr dirty="0" sz="2400" spc="-45">
                <a:latin typeface="宋体"/>
                <a:cs typeface="宋体"/>
              </a:rPr>
              <a:t>:</a:t>
            </a:r>
            <a:r>
              <a:rPr dirty="0" baseline="11111" sz="3000" spc="-67">
                <a:latin typeface="Times New Roman"/>
                <a:cs typeface="Times New Roman"/>
              </a:rPr>
              <a:t>P=A</a:t>
            </a:r>
            <a:endParaRPr baseline="11111"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7005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预付年金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6691" y="1639316"/>
            <a:ext cx="8215630" cy="1193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6959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预付年金又称先付年金或即付年金，是指发生在每期期初 的等额收付款项。</a:t>
            </a:r>
            <a:endParaRPr sz="24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Wingdings"/>
              <a:buChar char="►"/>
              <a:tabLst>
                <a:tab pos="41211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预付年金终值:指每期期初等额收付款项的复利终值之和</a:t>
            </a:r>
            <a:r>
              <a:rPr dirty="0" sz="2400" spc="-17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9140" y="3023108"/>
            <a:ext cx="60198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172" y="3062732"/>
            <a:ext cx="42481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F=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2583" y="3337560"/>
            <a:ext cx="2407920" cy="0"/>
          </a:xfrm>
          <a:custGeom>
            <a:avLst/>
            <a:gdLst/>
            <a:ahLst/>
            <a:cxnLst/>
            <a:rect l="l" t="t" r="r" b="b"/>
            <a:pathLst>
              <a:path w="2407920" h="0">
                <a:moveTo>
                  <a:pt x="0" y="0"/>
                </a:moveTo>
                <a:lnTo>
                  <a:pt x="240791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70203" y="2848762"/>
            <a:ext cx="2440940" cy="915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9760" marR="30480" indent="-582295">
              <a:lnSpc>
                <a:spcPct val="116799"/>
              </a:lnSpc>
              <a:spcBef>
                <a:spcPts val="100"/>
              </a:spcBef>
            </a:pPr>
            <a:r>
              <a:rPr dirty="0" sz="2500" spc="-9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500" spc="-95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50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555" sz="3750" spc="-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4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500" spc="-45">
                <a:solidFill>
                  <a:srgbClr val="FFFFFF"/>
                </a:solidFill>
                <a:latin typeface="Times New Roman"/>
                <a:cs typeface="Times New Roman"/>
              </a:rPr>
              <a:t>)[1</a:t>
            </a:r>
            <a:r>
              <a:rPr dirty="0" sz="250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1702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555" sz="3750" spc="-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10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50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555" sz="3750" spc="-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4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500" spc="4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500" spc="-4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4444" sz="2250" spc="7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44444" sz="2250" spc="-6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5">
                <a:solidFill>
                  <a:srgbClr val="FFFFFF"/>
                </a:solidFill>
                <a:latin typeface="Times New Roman"/>
                <a:cs typeface="Times New Roman"/>
              </a:rPr>
              <a:t>]  1</a:t>
            </a:r>
            <a:r>
              <a:rPr dirty="0" sz="2500" spc="-3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1702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555" sz="3750" spc="-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20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500" spc="-3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555" sz="3750" spc="-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3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37432" y="3282696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0">
                <a:moveTo>
                  <a:pt x="0" y="0"/>
                </a:moveTo>
                <a:lnTo>
                  <a:pt x="1822703" y="0"/>
                </a:lnTo>
              </a:path>
            </a:pathLst>
          </a:custGeom>
          <a:ln w="1523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78171" y="3300476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0667" y="2870708"/>
            <a:ext cx="1313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(1 </a:t>
            </a:r>
            <a:r>
              <a:rPr dirty="0" baseline="4629" sz="360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4629" sz="36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5634" sz="2100" spc="-7" i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baseline="51587" sz="210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1587" sz="2100" spc="-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7619" sz="2100" spc="-7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47619"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29147" y="3023108"/>
            <a:ext cx="960119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-1</a:t>
            </a:r>
            <a:r>
              <a:rPr dirty="0" sz="2800" spc="-495">
                <a:solidFill>
                  <a:srgbClr val="FFFFFF"/>
                </a:solidFill>
                <a:latin typeface="宋体"/>
                <a:cs typeface="宋体"/>
              </a:rPr>
              <a:t>]</a:t>
            </a:r>
            <a:r>
              <a:rPr dirty="0" sz="2800" spc="5">
                <a:solidFill>
                  <a:srgbClr val="FFFFFF"/>
                </a:solidFill>
                <a:latin typeface="Times New Roman"/>
                <a:cs typeface="Times New Roman"/>
              </a:rPr>
              <a:t>=A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5588" y="3017012"/>
            <a:ext cx="12204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1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1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28816" y="3270504"/>
            <a:ext cx="1249680" cy="3175"/>
          </a:xfrm>
          <a:custGeom>
            <a:avLst/>
            <a:gdLst/>
            <a:ahLst/>
            <a:cxnLst/>
            <a:rect l="l" t="t" r="r" b="b"/>
            <a:pathLst>
              <a:path w="1249679" h="3175">
                <a:moveTo>
                  <a:pt x="0" y="0"/>
                </a:moveTo>
                <a:lnTo>
                  <a:pt x="1249679" y="30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092188" y="3291332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0715" y="2843276"/>
            <a:ext cx="2583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1865" algn="l"/>
              </a:tabLst>
            </a:pPr>
            <a:r>
              <a:rPr dirty="0" sz="2400" spc="-1085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4629" sz="3600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baseline="1157" sz="3600" spc="-1627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1157" sz="3600" spc="-6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3472" sz="36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3472"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5956" y="2861564"/>
            <a:ext cx="871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00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400" spc="-3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629" sz="360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4629" sz="3600" spc="-30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spc="5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43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7619" sz="2100" spc="-7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47619"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7316" y="4281932"/>
            <a:ext cx="12509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[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30779" y="4382516"/>
            <a:ext cx="625792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5873" sz="4200" spc="-15">
                <a:solidFill>
                  <a:srgbClr val="FFFFFF"/>
                </a:solidFill>
                <a:latin typeface="Arial"/>
                <a:cs typeface="Arial"/>
              </a:rPr>
              <a:t>­1]</a:t>
            </a:r>
            <a:r>
              <a:rPr dirty="0" baseline="15873" sz="4200" spc="-33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是预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年金终值系数，记为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F/A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n+1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­1]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与普通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85087" y="4535424"/>
            <a:ext cx="1289685" cy="0"/>
          </a:xfrm>
          <a:custGeom>
            <a:avLst/>
            <a:gdLst/>
            <a:ahLst/>
            <a:cxnLst/>
            <a:rect l="l" t="t" r="r" b="b"/>
            <a:pathLst>
              <a:path w="1289685" h="0">
                <a:moveTo>
                  <a:pt x="0" y="0"/>
                </a:moveTo>
                <a:lnTo>
                  <a:pt x="1289303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691132" y="4595876"/>
            <a:ext cx="857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46732" y="4123436"/>
            <a:ext cx="36449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804" indent="-180340">
              <a:lnSpc>
                <a:spcPct val="100000"/>
              </a:lnSpc>
              <a:spcBef>
                <a:spcPts val="100"/>
              </a:spcBef>
              <a:buFont typeface="Symbol"/>
              <a:buChar char=""/>
              <a:tabLst>
                <a:tab pos="218440" algn="l"/>
              </a:tabLst>
            </a:pPr>
            <a:r>
              <a:rPr dirty="0" baseline="-8169" sz="25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8169" sz="2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2708" y="4156964"/>
            <a:ext cx="93599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267" sz="2550" spc="-104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1700" spc="-70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baseline="8169" sz="255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8169" sz="25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1700" spc="-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0000" sz="1500" i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baseline="58333" sz="150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8333" sz="15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0000" sz="15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50000"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72639" y="5023104"/>
            <a:ext cx="1460500" cy="3175"/>
          </a:xfrm>
          <a:custGeom>
            <a:avLst/>
            <a:gdLst/>
            <a:ahLst/>
            <a:cxnLst/>
            <a:rect l="l" t="t" r="r" b="b"/>
            <a:pathLst>
              <a:path w="1460500" h="3175">
                <a:moveTo>
                  <a:pt x="0" y="0"/>
                </a:moveTo>
                <a:lnTo>
                  <a:pt x="1459991" y="3047"/>
                </a:lnTo>
              </a:path>
            </a:pathLst>
          </a:custGeom>
          <a:ln w="1523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852420" y="5001260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2355" y="4827524"/>
            <a:ext cx="5806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9804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年金终值系数</a:t>
            </a:r>
            <a:r>
              <a:rPr dirty="0" sz="1800" spc="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26234" sz="27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26234" sz="2700" spc="-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6234" sz="27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26234" sz="2700" spc="49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6234" sz="270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26234" sz="27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26234" sz="27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6234" sz="2700" spc="-44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6234" sz="27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6234" sz="2700" spc="9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38194" sz="240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38194" sz="2400" spc="82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6234" sz="2700" spc="-1222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26234" sz="2700" spc="472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6234" sz="27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26234" sz="2700" spc="292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相比，期数加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，系数减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0908" y="5955284"/>
            <a:ext cx="3082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通年金终值系数的（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）倍。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60119" y="5672328"/>
            <a:ext cx="1112520" cy="0"/>
          </a:xfrm>
          <a:custGeom>
            <a:avLst/>
            <a:gdLst/>
            <a:ahLst/>
            <a:cxnLst/>
            <a:rect l="l" t="t" r="r" b="b"/>
            <a:pathLst>
              <a:path w="1112520" h="0">
                <a:moveTo>
                  <a:pt x="0" y="0"/>
                </a:moveTo>
                <a:lnTo>
                  <a:pt x="111251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462532" y="5690108"/>
            <a:ext cx="10033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35835" y="5278628"/>
            <a:ext cx="38735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100" spc="-944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sz="2100" spc="-3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5291" sz="3150" spc="7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5291" sz="3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7260" y="5306060"/>
            <a:ext cx="7804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100" spc="-85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100" spc="-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291" sz="3150" spc="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291" sz="3150" spc="-20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100" spc="4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100" spc="4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10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8611" sz="180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48611"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88820" y="5610860"/>
            <a:ext cx="6593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0864" sz="270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baseline="30864" sz="2700">
                <a:solidFill>
                  <a:srgbClr val="FFFFFF"/>
                </a:solidFill>
                <a:latin typeface="Arial"/>
                <a:cs typeface="Arial"/>
              </a:rPr>
              <a:t>1+i</a:t>
            </a:r>
            <a:r>
              <a:rPr dirty="0" baseline="30864" sz="27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baseline="30864" sz="2700" spc="-187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是预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年金终值系数，记作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F/A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）（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1+i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是普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0908" y="3730244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注：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7005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预付年金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1639316"/>
            <a:ext cx="8295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预付年金现值：指每期期初等额收付款项的复利现值之和</a:t>
            </a:r>
            <a:r>
              <a:rPr dirty="0" sz="2400" spc="-186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723" y="2370836"/>
            <a:ext cx="285877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31720" algn="l"/>
              </a:tabLst>
            </a:pPr>
            <a:r>
              <a:rPr dirty="0" sz="2000" spc="15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∙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35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∙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[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5879" y="2566416"/>
            <a:ext cx="1624965" cy="0"/>
          </a:xfrm>
          <a:custGeom>
            <a:avLst/>
            <a:gdLst/>
            <a:ahLst/>
            <a:cxnLst/>
            <a:rect l="l" t="t" r="r" b="b"/>
            <a:pathLst>
              <a:path w="1624964" h="0">
                <a:moveTo>
                  <a:pt x="0" y="0"/>
                </a:moveTo>
                <a:lnTo>
                  <a:pt x="1624583" y="0"/>
                </a:lnTo>
              </a:path>
            </a:pathLst>
          </a:custGeom>
          <a:ln w="1523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54300" y="2556764"/>
            <a:ext cx="2374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885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-3267" sz="25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3267" sz="2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4827" y="2562860"/>
            <a:ext cx="807085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91820" indent="-579120">
              <a:lnSpc>
                <a:spcPct val="100000"/>
              </a:lnSpc>
              <a:spcBef>
                <a:spcPts val="105"/>
              </a:spcBef>
              <a:buChar char=""/>
              <a:tabLst>
                <a:tab pos="591185" algn="l"/>
                <a:tab pos="591820" algn="l"/>
              </a:tabLst>
            </a:pPr>
            <a:r>
              <a:rPr dirty="0" sz="290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5372" y="2599436"/>
            <a:ext cx="1325245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97205" algn="l"/>
                <a:tab pos="1076325" algn="l"/>
              </a:tabLst>
            </a:pP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900" spc="-25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900" spc="8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588" y="2078228"/>
            <a:ext cx="1644650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900" spc="-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747" sz="4350" spc="-1964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747" sz="435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00" spc="-125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900" spc="-4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747" sz="435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747" sz="435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00" spc="4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900" spc="4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900" spc="-5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0653" sz="2550" spc="-1147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0653" sz="2550" spc="-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5751" sz="255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45751"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63695" y="2508504"/>
            <a:ext cx="1798320" cy="3175"/>
          </a:xfrm>
          <a:custGeom>
            <a:avLst/>
            <a:gdLst/>
            <a:ahLst/>
            <a:cxnLst/>
            <a:rect l="l" t="t" r="r" b="b"/>
            <a:pathLst>
              <a:path w="1798320" h="3175">
                <a:moveTo>
                  <a:pt x="0" y="0"/>
                </a:moveTo>
                <a:lnTo>
                  <a:pt x="1798319" y="3047"/>
                </a:lnTo>
              </a:path>
            </a:pathLst>
          </a:custGeom>
          <a:ln w="1523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98340" y="2535428"/>
            <a:ext cx="12509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3403" y="2029460"/>
            <a:ext cx="183388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800" spc="-5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5952" sz="4200" spc="-825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952" sz="4200" spc="-8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baseline="5952" sz="4200" spc="-6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952" sz="4200" spc="-5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1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21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47385" sz="2550" spc="-315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44117" sz="2550" spc="-31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42483" sz="2550" spc="-315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47385" sz="2550" spc="-315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44117" sz="2550" spc="-315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endParaRPr baseline="44117"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5328" y="2337308"/>
            <a:ext cx="305625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425065" algn="l"/>
              </a:tabLst>
            </a:pPr>
            <a:r>
              <a:rPr dirty="0" baseline="-6944" sz="3000" spc="-89">
                <a:solidFill>
                  <a:srgbClr val="FFFFFF"/>
                </a:solidFill>
                <a:latin typeface="宋体"/>
                <a:cs typeface="宋体"/>
              </a:rPr>
              <a:t>+1]</a:t>
            </a:r>
            <a:r>
              <a:rPr dirty="0" sz="2000" spc="-6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000" spc="-6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-60" b="1">
                <a:solidFill>
                  <a:srgbClr val="FFFFFF"/>
                </a:solidFill>
                <a:latin typeface="Arial"/>
                <a:cs typeface="Arial"/>
              </a:rPr>
              <a:t>∙	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1+i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)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5288" y="2599944"/>
            <a:ext cx="1472565" cy="0"/>
          </a:xfrm>
          <a:custGeom>
            <a:avLst/>
            <a:gdLst/>
            <a:ahLst/>
            <a:cxnLst/>
            <a:rect l="l" t="t" r="r" b="b"/>
            <a:pathLst>
              <a:path w="1472565" h="0">
                <a:moveTo>
                  <a:pt x="0" y="0"/>
                </a:moveTo>
                <a:lnTo>
                  <a:pt x="1472183" y="0"/>
                </a:lnTo>
              </a:path>
            </a:pathLst>
          </a:custGeom>
          <a:ln w="1523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165340" y="2620772"/>
            <a:ext cx="121285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4996" y="2133092"/>
            <a:ext cx="150749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700" spc="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700" spc="-48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144" sz="4050" spc="-1822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144" sz="4050" spc="-43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114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700" spc="-48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144" sz="4050" spc="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144" sz="4050" spc="-42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17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700" spc="-17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48611" sz="2400" spc="-254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48611" sz="2400" spc="-42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3402" sz="240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43402"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187" y="3108452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注：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596" y="3977132"/>
            <a:ext cx="7645400" cy="148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系数，分别记作[（P/A，i，n-1）+1]和（P/A，i，n）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99600"/>
              </a:lnSpc>
              <a:spcBef>
                <a:spcPts val="1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（1+i），与普通年金现值系数的关系可表述为：预付年 金现值系数是普通年金现值系数期数减1，系数加1；或预 付年金现值系数是普通年金现值系数的（1+i）倍。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0819" y="3593084"/>
            <a:ext cx="2272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035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[	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]</a:t>
            </a:r>
            <a:r>
              <a:rPr dirty="0" baseline="-3472" sz="36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endParaRPr baseline="-3472" sz="36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24583" y="3831336"/>
            <a:ext cx="1292860" cy="3175"/>
          </a:xfrm>
          <a:custGeom>
            <a:avLst/>
            <a:gdLst/>
            <a:ahLst/>
            <a:cxnLst/>
            <a:rect l="l" t="t" r="r" b="b"/>
            <a:pathLst>
              <a:path w="1292860" h="3175">
                <a:moveTo>
                  <a:pt x="0" y="0"/>
                </a:moveTo>
                <a:lnTo>
                  <a:pt x="1292351" y="3047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221483" y="3843020"/>
            <a:ext cx="927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7339" y="3391916"/>
            <a:ext cx="13360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6315" sz="2850" spc="-7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6315" sz="2850" spc="-45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1929" sz="2850" spc="-1289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-21929" sz="2850" spc="-24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315" sz="2850" spc="-142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baseline="-26315" sz="2850" spc="-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1929" sz="285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-21929" sz="2850" spc="-24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315" sz="2850" spc="3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6315" sz="2850" spc="3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-26315" sz="2850" spc="-51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525" sz="1650" spc="-345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sz="1100" spc="-229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1100" spc="-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 spc="-14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25" sz="1650" spc="-209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sz="1100" spc="-140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59351" y="3803904"/>
            <a:ext cx="1127760" cy="3175"/>
          </a:xfrm>
          <a:custGeom>
            <a:avLst/>
            <a:gdLst/>
            <a:ahLst/>
            <a:cxnLst/>
            <a:rect l="l" t="t" r="r" b="b"/>
            <a:pathLst>
              <a:path w="1127760" h="3175">
                <a:moveTo>
                  <a:pt x="0" y="0"/>
                </a:moveTo>
                <a:lnTo>
                  <a:pt x="1127759" y="30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70908" y="3818636"/>
            <a:ext cx="9588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12108" y="3462020"/>
            <a:ext cx="117094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000" spc="-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166" sz="3000" spc="-1364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4166" sz="3000" spc="-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000" spc="-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166" sz="300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4166" sz="3000" spc="-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3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000" spc="3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000" spc="-3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6296" sz="1800" spc="-817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46296" sz="1800" spc="-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3981" sz="180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43981"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27091" y="3611372"/>
            <a:ext cx="3423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2731" sz="3600" spc="-284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baseline="12731" sz="3600" spc="-284">
                <a:solidFill>
                  <a:srgbClr val="FFFFFF"/>
                </a:solidFill>
                <a:latin typeface="Arial"/>
                <a:cs typeface="Arial"/>
              </a:rPr>
              <a:t>1+i</a:t>
            </a:r>
            <a:r>
              <a:rPr dirty="0" baseline="12731" sz="3600" spc="-284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都是预付年金现值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7005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递延年金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28675" y="1596644"/>
            <a:ext cx="820674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5080" indent="7251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递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延年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等额系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款项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发生在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一期以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后的年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最初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若干期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付款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项。没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收付 款项的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干期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递延期。</a:t>
            </a:r>
            <a:endParaRPr sz="28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7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递延年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终值</a:t>
            </a:r>
            <a:endParaRPr sz="2800">
              <a:latin typeface="宋体"/>
              <a:cs typeface="宋体"/>
            </a:endParaRPr>
          </a:p>
          <a:p>
            <a:pPr marL="356870" marR="5080" indent="725170">
              <a:lnSpc>
                <a:spcPct val="100000"/>
              </a:lnSpc>
              <a:spcBef>
                <a:spcPts val="67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递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延年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值的计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与递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延期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无关，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递延年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金终值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虑递延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递延年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现值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876" y="4842764"/>
            <a:ext cx="1244600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公式一： 公式二：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9876" y="4842764"/>
            <a:ext cx="5207000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2602865" algn="l"/>
                <a:tab pos="30600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P=A（P/A，i，n）	×	（P/F，i，m）  P=A[（P/A，i，m+n）-（P/A，i，m）]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7005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永续年金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99948" y="1523492"/>
            <a:ext cx="7861934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251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续年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指无限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支付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的年金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如优先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通过普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公式推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3692" y="2846324"/>
            <a:ext cx="80772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A∙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11167" y="3072384"/>
            <a:ext cx="1411605" cy="0"/>
          </a:xfrm>
          <a:custGeom>
            <a:avLst/>
            <a:gdLst/>
            <a:ahLst/>
            <a:cxnLst/>
            <a:rect l="l" t="t" r="r" b="b"/>
            <a:pathLst>
              <a:path w="1411604" h="0">
                <a:moveTo>
                  <a:pt x="0" y="0"/>
                </a:moveTo>
                <a:lnTo>
                  <a:pt x="1411223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53788" y="3093212"/>
            <a:ext cx="113664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0876" y="2648204"/>
            <a:ext cx="144335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500" spc="-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1702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5555" sz="3750" spc="-292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110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dirty="0" sz="2500" spc="-3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555" sz="3750" spc="-7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dirty="0" baseline="5555" sz="3750" spc="-292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3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500" spc="3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500" spc="-4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8148" sz="2250" spc="-442">
                <a:solidFill>
                  <a:srgbClr val="FFFFFF"/>
                </a:solidFill>
                <a:latin typeface="Symbol"/>
                <a:cs typeface="Symbol"/>
              </a:rPr>
              <a:t></a:t>
            </a:r>
            <a:r>
              <a:rPr dirty="0" baseline="44444" sz="2250" spc="-442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44444"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391" y="3434010"/>
            <a:ext cx="4674870" cy="183642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96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n→∞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，（1+i）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极限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零</a:t>
            </a:r>
            <a:endParaRPr sz="2800">
              <a:latin typeface="宋体"/>
              <a:cs typeface="宋体"/>
            </a:endParaRPr>
          </a:p>
          <a:p>
            <a:pPr algn="r" marR="764540">
              <a:lnSpc>
                <a:spcPts val="3300"/>
              </a:lnSpc>
              <a:spcBef>
                <a:spcPts val="2435"/>
              </a:spcBef>
            </a:pPr>
            <a:r>
              <a:rPr dirty="0" u="heavy" sz="3700" spc="-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1</a:t>
            </a:r>
            <a:endParaRPr sz="3700">
              <a:latin typeface="Times New Roman"/>
              <a:cs typeface="Times New Roman"/>
            </a:endParaRPr>
          </a:p>
          <a:p>
            <a:pPr marL="2783840">
              <a:lnSpc>
                <a:spcPts val="3300"/>
              </a:lnSpc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P=A∙</a:t>
            </a:r>
            <a:r>
              <a:rPr dirty="0" sz="28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-34534" sz="5550" spc="-7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baseline="-34534" sz="5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83991" y="4956048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83991" y="5108448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17391" y="4879848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0" y="0"/>
                </a:moveTo>
                <a:lnTo>
                  <a:pt x="380999" y="1523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17391" y="5032248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0" y="152399"/>
                </a:moveTo>
                <a:lnTo>
                  <a:pt x="3809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8252" y="639572"/>
            <a:ext cx="6124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时间价</a:t>
            </a:r>
            <a:r>
              <a:rPr dirty="0" spc="-20"/>
              <a:t>值</a:t>
            </a:r>
            <a:r>
              <a:rPr dirty="0" spc="5"/>
              <a:t>计</a:t>
            </a:r>
            <a:r>
              <a:rPr dirty="0" spc="-20"/>
              <a:t>量</a:t>
            </a:r>
            <a:r>
              <a:rPr dirty="0" spc="5"/>
              <a:t>中的特</a:t>
            </a:r>
            <a:r>
              <a:rPr dirty="0" spc="-20"/>
              <a:t>殊</a:t>
            </a:r>
            <a:r>
              <a:rPr dirty="0" spc="5"/>
              <a:t>问题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763" y="1889252"/>
            <a:ext cx="7861934" cy="2163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年时时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endParaRPr sz="2800">
              <a:latin typeface="宋体"/>
              <a:cs typeface="宋体"/>
            </a:endParaRPr>
          </a:p>
          <a:p>
            <a:pPr marL="12700" marR="17145">
              <a:lnSpc>
                <a:spcPct val="200000"/>
              </a:lnSpc>
              <a:spcBef>
                <a:spcPts val="2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若干次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际利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率高于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义利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二者之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的换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算关系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8884" y="4733036"/>
            <a:ext cx="29972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-10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2260" y="4452620"/>
            <a:ext cx="29235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414145" algn="l"/>
                <a:tab pos="1872614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1+	</a:t>
            </a:r>
            <a:r>
              <a:rPr dirty="0" u="heavy" baseline="31746" sz="4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baseline="34188" sz="3900" spc="-7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baseline="34188" sz="3900" spc="-7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28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baseline="35024" sz="3450" spc="-419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28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800" spc="-28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风险与</a:t>
            </a:r>
            <a:r>
              <a:rPr dirty="0" spc="-20"/>
              <a:t>风</a:t>
            </a:r>
            <a:r>
              <a:rPr dirty="0" spc="5"/>
              <a:t>险</a:t>
            </a:r>
            <a:r>
              <a:rPr dirty="0" spc="-20"/>
              <a:t>报</a:t>
            </a:r>
            <a:r>
              <a:rPr dirty="0" spc="5"/>
              <a:t>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1107" y="2078228"/>
            <a:ext cx="4290060" cy="2760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风险与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回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报率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量表</a:t>
            </a:r>
            <a:r>
              <a:rPr dirty="0" sz="2800" spc="-2715" b="1">
                <a:solidFill>
                  <a:srgbClr val="FFFFFF"/>
                </a:solidFill>
                <a:latin typeface="Microsoft JhengHei"/>
                <a:cs typeface="Microsoft JhengHei"/>
              </a:rPr>
              <a:t>示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组合的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风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险和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回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报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分散化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投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资组合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风险与</a:t>
            </a:r>
            <a:r>
              <a:rPr dirty="0" spc="-20"/>
              <a:t>回</a:t>
            </a:r>
            <a:r>
              <a:rPr dirty="0" spc="5"/>
              <a:t>报</a:t>
            </a:r>
            <a:r>
              <a:rPr dirty="0" spc="-20"/>
              <a:t>率</a:t>
            </a:r>
            <a:r>
              <a:rPr dirty="0" spc="5"/>
              <a:t>的定量</a:t>
            </a:r>
            <a:r>
              <a:rPr dirty="0" spc="-20"/>
              <a:t>表</a:t>
            </a:r>
            <a:r>
              <a:rPr dirty="0" spc="5"/>
              <a:t>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491" y="1555155"/>
            <a:ext cx="4173220" cy="14141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822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829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单一变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endParaRPr sz="2800">
              <a:latin typeface="宋体"/>
              <a:cs typeface="宋体"/>
            </a:endParaRPr>
          </a:p>
          <a:p>
            <a:pPr lvl="1" marL="781685" indent="-28765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Char char="•"/>
              <a:tabLst>
                <a:tab pos="782320" algn="l"/>
                <a:tab pos="36772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我们假设各观察值为	r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i</a:t>
            </a:r>
            <a:endParaRPr baseline="-20833" sz="2400">
              <a:latin typeface="宋体"/>
              <a:cs typeface="宋体"/>
            </a:endParaRPr>
          </a:p>
          <a:p>
            <a:pPr lvl="1" marL="781685" indent="-28765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样本的均值可以表示为：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891" y="3387521"/>
            <a:ext cx="3570604" cy="96901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4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均值离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情况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的衡</a:t>
            </a:r>
            <a:r>
              <a:rPr dirty="0" sz="2800" spc="-2175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4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我们将方差定义为：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091" y="4736084"/>
            <a:ext cx="3360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Char char="•"/>
              <a:tabLst>
                <a:tab pos="2997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我们将标准差定义为：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55464" y="2057400"/>
            <a:ext cx="2362200" cy="765175"/>
          </a:xfrm>
          <a:custGeom>
            <a:avLst/>
            <a:gdLst/>
            <a:ahLst/>
            <a:cxnLst/>
            <a:rect l="l" t="t" r="r" b="b"/>
            <a:pathLst>
              <a:path w="2362200" h="765175">
                <a:moveTo>
                  <a:pt x="0" y="0"/>
                </a:moveTo>
                <a:lnTo>
                  <a:pt x="0" y="765048"/>
                </a:lnTo>
                <a:lnTo>
                  <a:pt x="2362200" y="765048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10327" y="2249424"/>
            <a:ext cx="128270" cy="0"/>
          </a:xfrm>
          <a:custGeom>
            <a:avLst/>
            <a:gdLst/>
            <a:ahLst/>
            <a:cxnLst/>
            <a:rect l="l" t="t" r="r" b="b"/>
            <a:pathLst>
              <a:path w="128270" h="0">
                <a:moveTo>
                  <a:pt x="0" y="0"/>
                </a:moveTo>
                <a:lnTo>
                  <a:pt x="12801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82767" y="2453640"/>
            <a:ext cx="1780539" cy="0"/>
          </a:xfrm>
          <a:custGeom>
            <a:avLst/>
            <a:gdLst/>
            <a:ahLst/>
            <a:cxnLst/>
            <a:rect l="l" t="t" r="r" b="b"/>
            <a:pathLst>
              <a:path w="1780540" h="0">
                <a:moveTo>
                  <a:pt x="0" y="0"/>
                </a:moveTo>
                <a:lnTo>
                  <a:pt x="178003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30064" y="1963623"/>
            <a:ext cx="2413000" cy="86677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645"/>
              </a:spcBef>
            </a:pPr>
            <a:r>
              <a:rPr dirty="0" baseline="-36231" sz="3450" spc="15" i="1">
                <a:latin typeface="Times New Roman"/>
                <a:cs typeface="Times New Roman"/>
              </a:rPr>
              <a:t>r </a:t>
            </a:r>
            <a:r>
              <a:rPr dirty="0" baseline="-36231" sz="3450" spc="22">
                <a:latin typeface="Symbol"/>
                <a:cs typeface="Symbol"/>
              </a:rPr>
              <a:t></a:t>
            </a:r>
            <a:r>
              <a:rPr dirty="0" baseline="-36231" sz="3450" spc="22">
                <a:latin typeface="Times New Roman"/>
                <a:cs typeface="Times New Roman"/>
              </a:rPr>
              <a:t> </a:t>
            </a:r>
            <a:r>
              <a:rPr dirty="0" sz="2300" spc="-130" i="1">
                <a:latin typeface="Times New Roman"/>
                <a:cs typeface="Times New Roman"/>
              </a:rPr>
              <a:t>r</a:t>
            </a:r>
            <a:r>
              <a:rPr dirty="0" baseline="-24691" sz="2025" spc="-195">
                <a:latin typeface="Times New Roman"/>
                <a:cs typeface="Times New Roman"/>
              </a:rPr>
              <a:t>1 </a:t>
            </a:r>
            <a:r>
              <a:rPr dirty="0" sz="2300" spc="15">
                <a:latin typeface="Symbol"/>
                <a:cs typeface="Symbol"/>
              </a:rPr>
              <a:t></a:t>
            </a:r>
            <a:r>
              <a:rPr dirty="0" sz="2300" spc="15">
                <a:latin typeface="Times New Roman"/>
                <a:cs typeface="Times New Roman"/>
              </a:rPr>
              <a:t> </a:t>
            </a:r>
            <a:r>
              <a:rPr dirty="0" sz="2300" spc="-55" i="1">
                <a:latin typeface="Times New Roman"/>
                <a:cs typeface="Times New Roman"/>
              </a:rPr>
              <a:t>r</a:t>
            </a:r>
            <a:r>
              <a:rPr dirty="0" baseline="-24691" sz="2025" spc="-82">
                <a:latin typeface="Times New Roman"/>
                <a:cs typeface="Times New Roman"/>
              </a:rPr>
              <a:t>2 </a:t>
            </a:r>
            <a:r>
              <a:rPr dirty="0" sz="2300" spc="15">
                <a:latin typeface="Symbol"/>
                <a:cs typeface="Symbol"/>
              </a:rPr>
              <a:t></a:t>
            </a:r>
            <a:r>
              <a:rPr dirty="0" sz="2300" spc="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... </a:t>
            </a:r>
            <a:r>
              <a:rPr dirty="0" sz="2300" spc="15">
                <a:latin typeface="Symbol"/>
                <a:cs typeface="Symbol"/>
              </a:rPr>
              <a:t></a:t>
            </a:r>
            <a:r>
              <a:rPr dirty="0" sz="2300" spc="-370">
                <a:latin typeface="Times New Roman"/>
                <a:cs typeface="Times New Roman"/>
              </a:rPr>
              <a:t> </a:t>
            </a:r>
            <a:r>
              <a:rPr dirty="0" sz="2300" spc="-55" i="1">
                <a:latin typeface="Times New Roman"/>
                <a:cs typeface="Times New Roman"/>
              </a:rPr>
              <a:t>r</a:t>
            </a:r>
            <a:r>
              <a:rPr dirty="0" baseline="-24691" sz="2025" spc="-82" i="1">
                <a:latin typeface="Times New Roman"/>
                <a:cs typeface="Times New Roman"/>
              </a:rPr>
              <a:t>n</a:t>
            </a:r>
            <a:endParaRPr baseline="-24691" sz="2025">
              <a:latin typeface="Times New Roman"/>
              <a:cs typeface="Times New Roman"/>
            </a:endParaRPr>
          </a:p>
          <a:p>
            <a:pPr algn="ctr" marL="461645">
              <a:lnSpc>
                <a:spcPct val="100000"/>
              </a:lnSpc>
              <a:spcBef>
                <a:spcPts val="550"/>
              </a:spcBef>
            </a:pPr>
            <a:r>
              <a:rPr dirty="0" sz="2300" spc="10" i="1">
                <a:latin typeface="Times New Roman"/>
                <a:cs typeface="Times New Roman"/>
              </a:rPr>
              <a:t>n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36136" y="3858768"/>
            <a:ext cx="4267200" cy="722630"/>
          </a:xfrm>
          <a:custGeom>
            <a:avLst/>
            <a:gdLst/>
            <a:ahLst/>
            <a:cxnLst/>
            <a:rect l="l" t="t" r="r" b="b"/>
            <a:pathLst>
              <a:path w="4267200" h="722629">
                <a:moveTo>
                  <a:pt x="0" y="0"/>
                </a:moveTo>
                <a:lnTo>
                  <a:pt x="0" y="722376"/>
                </a:lnTo>
                <a:lnTo>
                  <a:pt x="4267200" y="722376"/>
                </a:lnTo>
                <a:lnTo>
                  <a:pt x="426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89576" y="3956304"/>
            <a:ext cx="82550" cy="0"/>
          </a:xfrm>
          <a:custGeom>
            <a:avLst/>
            <a:gdLst/>
            <a:ahLst/>
            <a:cxnLst/>
            <a:rect l="l" t="t" r="r" b="b"/>
            <a:pathLst>
              <a:path w="82550" h="0">
                <a:moveTo>
                  <a:pt x="0" y="0"/>
                </a:moveTo>
                <a:lnTo>
                  <a:pt x="8229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94247" y="3956304"/>
            <a:ext cx="82550" cy="0"/>
          </a:xfrm>
          <a:custGeom>
            <a:avLst/>
            <a:gdLst/>
            <a:ahLst/>
            <a:cxnLst/>
            <a:rect l="l" t="t" r="r" b="b"/>
            <a:pathLst>
              <a:path w="82550" h="0">
                <a:moveTo>
                  <a:pt x="0" y="0"/>
                </a:moveTo>
                <a:lnTo>
                  <a:pt x="8229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22007" y="3956304"/>
            <a:ext cx="82550" cy="0"/>
          </a:xfrm>
          <a:custGeom>
            <a:avLst/>
            <a:gdLst/>
            <a:ahLst/>
            <a:cxnLst/>
            <a:rect l="l" t="t" r="r" b="b"/>
            <a:pathLst>
              <a:path w="82550" h="0">
                <a:moveTo>
                  <a:pt x="0" y="0"/>
                </a:moveTo>
                <a:lnTo>
                  <a:pt x="8229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11623" y="4248912"/>
            <a:ext cx="2554605" cy="0"/>
          </a:xfrm>
          <a:custGeom>
            <a:avLst/>
            <a:gdLst/>
            <a:ahLst/>
            <a:cxnLst/>
            <a:rect l="l" t="t" r="r" b="b"/>
            <a:pathLst>
              <a:path w="2554604" h="0">
                <a:moveTo>
                  <a:pt x="0" y="0"/>
                </a:moveTo>
                <a:lnTo>
                  <a:pt x="2554223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59495" y="4096512"/>
            <a:ext cx="82550" cy="0"/>
          </a:xfrm>
          <a:custGeom>
            <a:avLst/>
            <a:gdLst/>
            <a:ahLst/>
            <a:cxnLst/>
            <a:rect l="l" t="t" r="r" b="b"/>
            <a:pathLst>
              <a:path w="82550" h="0">
                <a:moveTo>
                  <a:pt x="0" y="0"/>
                </a:moveTo>
                <a:lnTo>
                  <a:pt x="8229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221980" y="3637430"/>
            <a:ext cx="189230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38888" sz="4500" spc="-930">
                <a:latin typeface="Symbol"/>
                <a:cs typeface="Symbol"/>
              </a:rPr>
              <a:t></a:t>
            </a:r>
            <a:r>
              <a:rPr dirty="0" sz="100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58659" y="3864356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30900" y="3864356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3323" y="4077716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26228" y="3864356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4747" y="4077716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82916" y="4376420"/>
            <a:ext cx="1962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Times New Roman"/>
                <a:cs typeface="Times New Roman"/>
              </a:rPr>
              <a:t>j</a:t>
            </a:r>
            <a:r>
              <a:rPr dirty="0" sz="1000" spc="-215" i="1">
                <a:latin typeface="Times New Roman"/>
                <a:cs typeface="Times New Roman"/>
              </a:rPr>
              <a:t> </a:t>
            </a:r>
            <a:r>
              <a:rPr dirty="0" sz="1000" spc="-35">
                <a:latin typeface="Symbol"/>
                <a:cs typeface="Symbol"/>
              </a:rPr>
              <a:t></a:t>
            </a:r>
            <a:r>
              <a:rPr dirty="0" sz="1000" spc="-35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99907" y="4217924"/>
            <a:ext cx="6159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38035" y="4077716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91076" y="4217924"/>
            <a:ext cx="755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Times New Roman"/>
                <a:cs typeface="Times New Roman"/>
              </a:rPr>
              <a:t>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08011" y="3908702"/>
            <a:ext cx="1047115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91185" algn="l"/>
              </a:tabLst>
            </a:pPr>
            <a:r>
              <a:rPr dirty="0" sz="1700" spc="15">
                <a:latin typeface="Symbol"/>
                <a:cs typeface="Symbol"/>
              </a:rPr>
              <a:t></a:t>
            </a:r>
            <a:r>
              <a:rPr dirty="0" sz="1700" spc="15">
                <a:latin typeface="Times New Roman"/>
                <a:cs typeface="Times New Roman"/>
              </a:rPr>
              <a:t>	</a:t>
            </a:r>
            <a:r>
              <a:rPr dirty="0" sz="3000" spc="-295">
                <a:latin typeface="Symbol"/>
                <a:cs typeface="Symbol"/>
              </a:rPr>
              <a:t></a:t>
            </a:r>
            <a:r>
              <a:rPr dirty="0" sz="1700" spc="-295" i="1">
                <a:latin typeface="Times New Roman"/>
                <a:cs typeface="Times New Roman"/>
              </a:rPr>
              <a:t>r</a:t>
            </a:r>
            <a:r>
              <a:rPr dirty="0" sz="1700" spc="-190" i="1">
                <a:latin typeface="Times New Roman"/>
                <a:cs typeface="Times New Roman"/>
              </a:rPr>
              <a:t> </a:t>
            </a:r>
            <a:r>
              <a:rPr dirty="0" sz="1700" spc="-755">
                <a:latin typeface="Symbol"/>
                <a:cs typeface="Symbol"/>
              </a:rPr>
              <a:t></a:t>
            </a:r>
            <a:r>
              <a:rPr dirty="0" sz="1700" spc="-225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87843" y="4245355"/>
            <a:ext cx="13525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0" i="1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24220" y="4245355"/>
            <a:ext cx="13525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0" i="1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08167" y="3768494"/>
            <a:ext cx="2442210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991995" algn="l"/>
              </a:tabLst>
            </a:pP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spc="10" i="1">
                <a:latin typeface="Times New Roman"/>
                <a:cs typeface="Times New Roman"/>
              </a:rPr>
              <a:t> </a:t>
            </a:r>
            <a:r>
              <a:rPr dirty="0" sz="1700" spc="-85" i="1">
                <a:latin typeface="Times New Roman"/>
                <a:cs typeface="Times New Roman"/>
              </a:rPr>
              <a:t> </a:t>
            </a:r>
            <a:r>
              <a:rPr dirty="0" sz="1700" spc="-755">
                <a:latin typeface="Symbol"/>
                <a:cs typeface="Symbol"/>
              </a:rPr>
              <a:t></a:t>
            </a:r>
            <a:r>
              <a:rPr dirty="0" sz="1700" spc="-200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spc="-310" i="1">
                <a:latin typeface="Times New Roman"/>
                <a:cs typeface="Times New Roman"/>
              </a:rPr>
              <a:t> </a:t>
            </a:r>
            <a:r>
              <a:rPr dirty="0" sz="3000" spc="-465">
                <a:latin typeface="Symbol"/>
                <a:cs typeface="Symbol"/>
              </a:rPr>
              <a:t>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1700" spc="15">
                <a:latin typeface="Symbol"/>
                <a:cs typeface="Symbol"/>
              </a:rPr>
              <a:t></a:t>
            </a:r>
            <a:r>
              <a:rPr dirty="0" sz="1700" spc="-270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...</a:t>
            </a:r>
            <a:r>
              <a:rPr dirty="0" sz="1700" spc="-305">
                <a:latin typeface="Times New Roman"/>
                <a:cs typeface="Times New Roman"/>
              </a:rPr>
              <a:t> </a:t>
            </a:r>
            <a:r>
              <a:rPr dirty="0" sz="1700" spc="15">
                <a:latin typeface="Symbol"/>
                <a:cs typeface="Symbol"/>
              </a:rPr>
              <a:t></a:t>
            </a:r>
            <a:r>
              <a:rPr dirty="0" sz="1700" spc="-200">
                <a:latin typeface="Times New Roman"/>
                <a:cs typeface="Times New Roman"/>
              </a:rPr>
              <a:t> </a:t>
            </a:r>
            <a:r>
              <a:rPr dirty="0" sz="3000" spc="-570">
                <a:latin typeface="Symbol"/>
                <a:cs typeface="Symbol"/>
              </a:rPr>
              <a:t>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-85" i="1">
                <a:latin typeface="Times New Roman"/>
                <a:cs typeface="Times New Roman"/>
              </a:rPr>
              <a:t> </a:t>
            </a:r>
            <a:r>
              <a:rPr dirty="0" sz="1700" spc="-755">
                <a:latin typeface="Symbol"/>
                <a:cs typeface="Symbol"/>
              </a:rPr>
              <a:t></a:t>
            </a:r>
            <a:r>
              <a:rPr dirty="0" sz="1700" spc="-200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spc="-310" i="1">
                <a:latin typeface="Times New Roman"/>
                <a:cs typeface="Times New Roman"/>
              </a:rPr>
              <a:t> </a:t>
            </a:r>
            <a:r>
              <a:rPr dirty="0" sz="3000" spc="-465">
                <a:latin typeface="Symbol"/>
                <a:cs typeface="Symbol"/>
              </a:rPr>
              <a:t>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u="sng" sz="17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1700" spc="-114">
                <a:latin typeface="Times New Roman"/>
                <a:cs typeface="Times New Roman"/>
              </a:rPr>
              <a:t> </a:t>
            </a:r>
            <a:r>
              <a:rPr dirty="0" baseline="-32051" sz="3900" spc="-1710">
                <a:latin typeface="Symbol"/>
                <a:cs typeface="Symbol"/>
              </a:rPr>
              <a:t></a:t>
            </a:r>
            <a:r>
              <a:rPr dirty="0" baseline="36111" sz="1500" i="1">
                <a:latin typeface="Times New Roman"/>
                <a:cs typeface="Times New Roman"/>
              </a:rPr>
              <a:t>n</a:t>
            </a:r>
            <a:endParaRPr baseline="36111" sz="15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11115" y="3768494"/>
            <a:ext cx="864235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spc="-280">
                <a:latin typeface="Symbol"/>
                <a:cs typeface="Symbol"/>
              </a:rPr>
              <a:t></a:t>
            </a:r>
            <a:r>
              <a:rPr dirty="0" sz="1700" spc="-280" i="1">
                <a:latin typeface="Times New Roman"/>
                <a:cs typeface="Times New Roman"/>
              </a:rPr>
              <a:t>r </a:t>
            </a:r>
            <a:r>
              <a:rPr dirty="0" sz="1700" spc="-755">
                <a:latin typeface="Symbol"/>
                <a:cs typeface="Symbol"/>
              </a:rPr>
              <a:t></a:t>
            </a:r>
            <a:r>
              <a:rPr dirty="0" sz="1700" spc="-210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 </a:t>
            </a:r>
            <a:r>
              <a:rPr dirty="0" sz="3000" spc="-465">
                <a:latin typeface="Symbol"/>
                <a:cs typeface="Symbol"/>
              </a:rPr>
              <a:t></a:t>
            </a:r>
            <a:r>
              <a:rPr dirty="0" sz="3000" spc="-465">
                <a:latin typeface="Times New Roman"/>
                <a:cs typeface="Times New Roman"/>
              </a:rPr>
              <a:t> </a:t>
            </a:r>
            <a:r>
              <a:rPr dirty="0" sz="1700" spc="15">
                <a:latin typeface="Symbol"/>
                <a:cs typeface="Symbol"/>
              </a:rPr>
              <a:t></a:t>
            </a:r>
            <a:r>
              <a:rPr dirty="0" sz="1700" spc="-220">
                <a:latin typeface="Times New Roman"/>
                <a:cs typeface="Times New Roman"/>
              </a:rPr>
              <a:t> </a:t>
            </a:r>
            <a:r>
              <a:rPr dirty="0" sz="3000" spc="-595">
                <a:latin typeface="Symbol"/>
                <a:cs typeface="Symbol"/>
              </a:rPr>
              <a:t>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22420" y="4071620"/>
            <a:ext cx="483234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700" spc="15" i="1">
                <a:latin typeface="Arial"/>
                <a:cs typeface="Arial"/>
              </a:rPr>
              <a:t>σ </a:t>
            </a:r>
            <a:r>
              <a:rPr dirty="0" baseline="44444" sz="1500">
                <a:latin typeface="Times New Roman"/>
                <a:cs typeface="Times New Roman"/>
              </a:rPr>
              <a:t>2</a:t>
            </a:r>
            <a:r>
              <a:rPr dirty="0" baseline="44444" sz="1500" spc="-157">
                <a:latin typeface="Times New Roman"/>
                <a:cs typeface="Times New Roman"/>
              </a:rPr>
              <a:t> </a:t>
            </a:r>
            <a:r>
              <a:rPr dirty="0" sz="1700" spc="15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39055" y="4721352"/>
            <a:ext cx="2286000" cy="521334"/>
          </a:xfrm>
          <a:custGeom>
            <a:avLst/>
            <a:gdLst/>
            <a:ahLst/>
            <a:cxnLst/>
            <a:rect l="l" t="t" r="r" b="b"/>
            <a:pathLst>
              <a:path w="2286000" h="521335">
                <a:moveTo>
                  <a:pt x="0" y="0"/>
                </a:moveTo>
                <a:lnTo>
                  <a:pt x="0" y="521208"/>
                </a:lnTo>
                <a:lnTo>
                  <a:pt x="2286000" y="521208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68111" y="5001768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279135" y="5038344"/>
            <a:ext cx="36830" cy="9525"/>
          </a:xfrm>
          <a:custGeom>
            <a:avLst/>
            <a:gdLst/>
            <a:ahLst/>
            <a:cxnLst/>
            <a:rect l="l" t="t" r="r" b="b"/>
            <a:pathLst>
              <a:path w="36829" h="9525">
                <a:moveTo>
                  <a:pt x="0" y="9143"/>
                </a:moveTo>
                <a:lnTo>
                  <a:pt x="3657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315711" y="5041392"/>
            <a:ext cx="55244" cy="170815"/>
          </a:xfrm>
          <a:custGeom>
            <a:avLst/>
            <a:gdLst/>
            <a:ahLst/>
            <a:cxnLst/>
            <a:rect l="l" t="t" r="r" b="b"/>
            <a:pathLst>
              <a:path w="55245" h="170814">
                <a:moveTo>
                  <a:pt x="0" y="0"/>
                </a:moveTo>
                <a:lnTo>
                  <a:pt x="54863" y="170687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376671" y="4757928"/>
            <a:ext cx="70485" cy="454659"/>
          </a:xfrm>
          <a:custGeom>
            <a:avLst/>
            <a:gdLst/>
            <a:ahLst/>
            <a:cxnLst/>
            <a:rect l="l" t="t" r="r" b="b"/>
            <a:pathLst>
              <a:path w="70485" h="454660">
                <a:moveTo>
                  <a:pt x="0" y="454151"/>
                </a:moveTo>
                <a:lnTo>
                  <a:pt x="701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46776" y="4757928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5" h="0">
                <a:moveTo>
                  <a:pt x="0" y="0"/>
                </a:moveTo>
                <a:lnTo>
                  <a:pt x="142646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806440" y="4781804"/>
            <a:ext cx="571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5" i="1">
                <a:latin typeface="Times New Roman"/>
                <a:cs typeface="Times New Roman"/>
              </a:rPr>
              <a:t>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12559" y="4751324"/>
            <a:ext cx="3149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u="sng" baseline="-19841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-19841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 </a:t>
            </a:r>
            <a:r>
              <a:rPr dirty="0" u="sng" baseline="-19841" sz="105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baseline="-19841" sz="1050">
                <a:latin typeface="Times New Roman"/>
                <a:cs typeface="Times New Roman"/>
              </a:rPr>
              <a:t>  </a:t>
            </a:r>
            <a:r>
              <a:rPr dirty="0" baseline="-19841" sz="1050" spc="75">
                <a:latin typeface="Times New Roman"/>
                <a:cs typeface="Times New Roman"/>
              </a:rPr>
              <a:t> </a:t>
            </a:r>
            <a:r>
              <a:rPr dirty="0" sz="700" spc="-5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70703" y="4976876"/>
            <a:ext cx="476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5" i="1">
                <a:latin typeface="Times New Roman"/>
                <a:cs typeface="Times New Roman"/>
              </a:rPr>
              <a:t>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71311" y="4762406"/>
            <a:ext cx="1136650" cy="4527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69570" algn="l"/>
              </a:tabLst>
            </a:pPr>
            <a:r>
              <a:rPr dirty="0" baseline="-9259" sz="2700" spc="67">
                <a:latin typeface="Symbol"/>
                <a:cs typeface="Symbol"/>
              </a:rPr>
              <a:t></a:t>
            </a:r>
            <a:r>
              <a:rPr dirty="0" baseline="-9259" sz="2700" spc="67">
                <a:latin typeface="Times New Roman"/>
                <a:cs typeface="Times New Roman"/>
              </a:rPr>
              <a:t>	</a:t>
            </a:r>
            <a:r>
              <a:rPr dirty="0" sz="2050" spc="-70">
                <a:latin typeface="Symbol"/>
                <a:cs typeface="Symbol"/>
              </a:rPr>
              <a:t></a:t>
            </a:r>
            <a:r>
              <a:rPr dirty="0" sz="1200" spc="-70" i="1">
                <a:latin typeface="Times New Roman"/>
                <a:cs typeface="Times New Roman"/>
              </a:rPr>
              <a:t>r </a:t>
            </a:r>
            <a:r>
              <a:rPr dirty="0" baseline="-23809" sz="1050" spc="-7" i="1">
                <a:latin typeface="Times New Roman"/>
                <a:cs typeface="Times New Roman"/>
              </a:rPr>
              <a:t>i </a:t>
            </a:r>
            <a:r>
              <a:rPr dirty="0" sz="1200" spc="-545">
                <a:latin typeface="Symbol"/>
                <a:cs typeface="Symbol"/>
              </a:rPr>
              <a:t></a:t>
            </a:r>
            <a:r>
              <a:rPr dirty="0" sz="1200" spc="64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</a:t>
            </a:r>
            <a:r>
              <a:rPr dirty="0" sz="1200" spc="245" i="1">
                <a:latin typeface="Times New Roman"/>
                <a:cs typeface="Times New Roman"/>
              </a:rPr>
              <a:t> </a:t>
            </a:r>
            <a:r>
              <a:rPr dirty="0" sz="2050" spc="60">
                <a:latin typeface="Symbol"/>
                <a:cs typeface="Symbol"/>
              </a:rPr>
              <a:t></a:t>
            </a:r>
            <a:endParaRPr sz="2050">
              <a:latin typeface="Symbol"/>
              <a:cs typeface="Symbol"/>
            </a:endParaRPr>
          </a:p>
          <a:p>
            <a:pPr marL="85725">
              <a:lnSpc>
                <a:spcPct val="100000"/>
              </a:lnSpc>
              <a:spcBef>
                <a:spcPts val="40"/>
              </a:spcBef>
            </a:pPr>
            <a:r>
              <a:rPr dirty="0" sz="700" spc="-5" i="1">
                <a:latin typeface="Times New Roman"/>
                <a:cs typeface="Times New Roman"/>
              </a:rPr>
              <a:t>j </a:t>
            </a:r>
            <a:r>
              <a:rPr dirty="0" sz="700" spc="-5">
                <a:latin typeface="Symbol"/>
                <a:cs typeface="Symbol"/>
              </a:rPr>
              <a:t></a:t>
            </a:r>
            <a:r>
              <a:rPr dirty="0" sz="700" spc="50">
                <a:latin typeface="Times New Roman"/>
                <a:cs typeface="Times New Roman"/>
              </a:rPr>
              <a:t> </a:t>
            </a:r>
            <a:r>
              <a:rPr dirty="0" sz="700" spc="-5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86400" y="4748276"/>
            <a:ext cx="92075" cy="45212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2540">
              <a:lnSpc>
                <a:spcPct val="100000"/>
              </a:lnSpc>
              <a:spcBef>
                <a:spcPts val="240"/>
              </a:spcBef>
            </a:pPr>
            <a:r>
              <a:rPr dirty="0" sz="120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72584" y="4873244"/>
            <a:ext cx="468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71475" algn="l"/>
              </a:tabLst>
            </a:pPr>
            <a:r>
              <a:rPr dirty="0" sz="1200" i="1">
                <a:latin typeface="Arial"/>
                <a:cs typeface="Arial"/>
              </a:rPr>
              <a:t>σ	</a:t>
            </a:r>
            <a:r>
              <a:rPr dirty="0" sz="120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53912" y="5513832"/>
            <a:ext cx="2286000" cy="457200"/>
          </a:xfrm>
          <a:custGeom>
            <a:avLst/>
            <a:gdLst/>
            <a:ahLst/>
            <a:cxnLst/>
            <a:rect l="l" t="t" r="r" b="b"/>
            <a:pathLst>
              <a:path w="2286000" h="457200">
                <a:moveTo>
                  <a:pt x="0" y="0"/>
                </a:moveTo>
                <a:lnTo>
                  <a:pt x="0" y="457200"/>
                </a:lnTo>
                <a:lnTo>
                  <a:pt x="2286000" y="45720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991347" y="5516372"/>
            <a:ext cx="316865" cy="427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20"/>
              </a:spcBef>
            </a:pPr>
            <a:r>
              <a:rPr dirty="0" sz="1300" spc="1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300" spc="5" i="1">
                <a:latin typeface="Times New Roman"/>
                <a:cs typeface="Times New Roman"/>
              </a:rPr>
              <a:t>m</a:t>
            </a:r>
            <a:r>
              <a:rPr dirty="0" sz="1300" spc="25" i="1">
                <a:latin typeface="Times New Roman"/>
                <a:cs typeface="Times New Roman"/>
              </a:rPr>
              <a:t>o</a:t>
            </a:r>
            <a:r>
              <a:rPr dirty="0" sz="1300" spc="10" i="1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30771" y="5516372"/>
            <a:ext cx="280035" cy="427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20"/>
              </a:spcBef>
            </a:pPr>
            <a:r>
              <a:rPr dirty="0" sz="1300" spc="1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300" spc="20" i="1">
                <a:latin typeface="Times New Roman"/>
                <a:cs typeface="Times New Roman"/>
              </a:rPr>
              <a:t>an</a:t>
            </a:r>
            <a:r>
              <a:rPr dirty="0" sz="1300" spc="10" i="1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64691" y="5610860"/>
            <a:ext cx="5427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对于月度观察值来说，年度方差为</a:t>
            </a:r>
            <a:r>
              <a:rPr dirty="0" sz="2400" spc="15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baseline="18912" sz="3525" spc="225">
                <a:latin typeface="Symbol"/>
                <a:cs typeface="Symbol"/>
              </a:rPr>
              <a:t></a:t>
            </a:r>
            <a:endParaRPr baseline="18912" sz="3525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69683" y="5512057"/>
            <a:ext cx="1054735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50">
                <a:latin typeface="Symbol"/>
                <a:cs typeface="Symbol"/>
              </a:rPr>
              <a:t></a:t>
            </a:r>
            <a:r>
              <a:rPr dirty="0" sz="2250">
                <a:latin typeface="Times New Roman"/>
                <a:cs typeface="Times New Roman"/>
              </a:rPr>
              <a:t> </a:t>
            </a:r>
            <a:r>
              <a:rPr dirty="0" sz="2250" spc="10">
                <a:latin typeface="Times New Roman"/>
                <a:cs typeface="Times New Roman"/>
              </a:rPr>
              <a:t>12 </a:t>
            </a:r>
            <a:r>
              <a:rPr dirty="0" sz="2250" spc="125">
                <a:latin typeface="Symbol"/>
                <a:cs typeface="Symbol"/>
              </a:rPr>
              <a:t></a:t>
            </a:r>
            <a:r>
              <a:rPr dirty="0" sz="2250" spc="-375">
                <a:latin typeface="Times New Roman"/>
                <a:cs typeface="Times New Roman"/>
              </a:rPr>
              <a:t> </a:t>
            </a:r>
            <a:r>
              <a:rPr dirty="0" sz="2350" spc="185">
                <a:latin typeface="Symbol"/>
                <a:cs typeface="Symbol"/>
              </a:rPr>
              <a:t></a:t>
            </a:r>
            <a:endParaRPr sz="2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092" y="639572"/>
            <a:ext cx="563118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风</a:t>
            </a:r>
            <a:r>
              <a:rPr dirty="0" spc="25"/>
              <a:t>险</a:t>
            </a:r>
            <a:r>
              <a:rPr dirty="0" spc="5"/>
              <a:t>与回报率的</a:t>
            </a:r>
            <a:r>
              <a:rPr dirty="0" spc="25"/>
              <a:t>定</a:t>
            </a:r>
            <a:r>
              <a:rPr dirty="0" spc="5"/>
              <a:t>量表示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491" y="1639316"/>
            <a:ext cx="777875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22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829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协方差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个变量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（r</a:t>
            </a:r>
            <a:r>
              <a:rPr dirty="0" baseline="23391" sz="2850" spc="-7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r</a:t>
            </a:r>
            <a:r>
              <a:rPr dirty="0" baseline="23391" sz="2850">
                <a:solidFill>
                  <a:srgbClr val="FFFFFF"/>
                </a:solidFill>
                <a:latin typeface="宋体"/>
                <a:cs typeface="宋体"/>
              </a:rPr>
              <a:t>y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间的相</a:t>
            </a:r>
            <a:r>
              <a:rPr dirty="0" sz="2800" spc="-1960">
                <a:solidFill>
                  <a:srgbClr val="FFFFFF"/>
                </a:solidFill>
                <a:latin typeface="宋体"/>
                <a:cs typeface="宋体"/>
              </a:rPr>
              <a:t>互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316" y="2066036"/>
            <a:ext cx="7391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091" y="2565908"/>
            <a:ext cx="2750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"/>
              <a:tabLst>
                <a:tab pos="2997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协方差定义如下：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756285" indent="-28765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/>
              <a:t>协方差可以</a:t>
            </a:r>
          </a:p>
          <a:p>
            <a:pPr lvl="1" marL="1155700" indent="-228600">
              <a:lnSpc>
                <a:spcPct val="100000"/>
              </a:lnSpc>
              <a:spcBef>
                <a:spcPts val="4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大或小</a:t>
            </a:r>
            <a:endParaRPr sz="20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正、负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者为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/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/>
              <a:t>相关系</a:t>
            </a:r>
            <a:r>
              <a:rPr dirty="0" sz="2800" spc="-20"/>
              <a:t>数</a:t>
            </a:r>
            <a:r>
              <a:rPr dirty="0" sz="2800" spc="5"/>
              <a:t>将两</a:t>
            </a:r>
            <a:r>
              <a:rPr dirty="0" sz="2800" spc="-20"/>
              <a:t>个变</a:t>
            </a:r>
            <a:r>
              <a:rPr dirty="0" sz="2800" spc="5"/>
              <a:t>量之间</a:t>
            </a:r>
            <a:r>
              <a:rPr dirty="0" sz="2800" spc="-20"/>
              <a:t>的</a:t>
            </a:r>
            <a:r>
              <a:rPr dirty="0" sz="2800" spc="5"/>
              <a:t>关系</a:t>
            </a:r>
            <a:r>
              <a:rPr dirty="0" sz="2800" spc="-20"/>
              <a:t>标准</a:t>
            </a:r>
            <a:r>
              <a:rPr dirty="0" sz="2800" spc="-2170"/>
              <a:t>化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990091" y="5050028"/>
            <a:ext cx="3360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"/>
              <a:tabLst>
                <a:tab pos="299720" algn="l"/>
                <a:tab pos="16706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相关系数	r定义如下：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091" y="5927852"/>
            <a:ext cx="4884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"/>
              <a:tabLst>
                <a:tab pos="299720" algn="l"/>
                <a:tab pos="3194685" algn="l"/>
                <a:tab pos="3651885" algn="l"/>
                <a:tab pos="3956685" algn="l"/>
                <a:tab pos="4261485" algn="l"/>
                <a:tab pos="45662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相关系数的范围为：	-1	</a:t>
            </a:r>
            <a:r>
              <a:rPr dirty="0" u="heavy" sz="2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&lt;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	r	</a:t>
            </a:r>
            <a:r>
              <a:rPr dirty="0" u="heavy" sz="2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&lt;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	+1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06367" y="2417064"/>
            <a:ext cx="2435860" cy="646430"/>
          </a:xfrm>
          <a:custGeom>
            <a:avLst/>
            <a:gdLst/>
            <a:ahLst/>
            <a:cxnLst/>
            <a:rect l="l" t="t" r="r" b="b"/>
            <a:pathLst>
              <a:path w="2435860" h="646430">
                <a:moveTo>
                  <a:pt x="0" y="0"/>
                </a:moveTo>
                <a:lnTo>
                  <a:pt x="0" y="646176"/>
                </a:lnTo>
                <a:lnTo>
                  <a:pt x="2435352" y="646176"/>
                </a:lnTo>
                <a:lnTo>
                  <a:pt x="2435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45023" y="2551176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 h="0">
                <a:moveTo>
                  <a:pt x="0" y="0"/>
                </a:moveTo>
                <a:lnTo>
                  <a:pt x="1859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46063" y="2551176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 h="0">
                <a:moveTo>
                  <a:pt x="0" y="0"/>
                </a:moveTo>
                <a:lnTo>
                  <a:pt x="19507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23459" y="2232540"/>
            <a:ext cx="1371600" cy="557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31165" algn="l"/>
                <a:tab pos="738505" algn="l"/>
                <a:tab pos="1141095" algn="l"/>
              </a:tabLst>
            </a:pPr>
            <a:r>
              <a:rPr dirty="0" sz="1000" i="1">
                <a:latin typeface="Times New Roman"/>
                <a:cs typeface="Times New Roman"/>
              </a:rPr>
              <a:t>x	x	y	y</a:t>
            </a:r>
            <a:r>
              <a:rPr dirty="0" sz="1000" spc="10" i="1">
                <a:latin typeface="Times New Roman"/>
                <a:cs typeface="Times New Roman"/>
              </a:rPr>
              <a:t> </a:t>
            </a:r>
            <a:r>
              <a:rPr dirty="0" baseline="-12077" sz="5175" spc="-877">
                <a:latin typeface="Symbol"/>
                <a:cs typeface="Symbol"/>
              </a:rPr>
              <a:t></a:t>
            </a:r>
            <a:endParaRPr baseline="-12077" sz="5175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6547" y="2700020"/>
            <a:ext cx="1403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 i="1">
                <a:latin typeface="Times New Roman"/>
                <a:cs typeface="Times New Roman"/>
              </a:rPr>
              <a:t>x</a:t>
            </a:r>
            <a:r>
              <a:rPr dirty="0" sz="1000" i="1">
                <a:latin typeface="Times New Roman"/>
                <a:cs typeface="Times New Roman"/>
              </a:rPr>
              <a:t>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60596" y="2727452"/>
            <a:ext cx="13525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0" i="1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07228" y="2770124"/>
            <a:ext cx="508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5" i="1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15332" y="2770124"/>
            <a:ext cx="508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5" i="1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27979" y="2553716"/>
            <a:ext cx="51371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5904" algn="l"/>
              </a:tabLst>
            </a:pPr>
            <a:r>
              <a:rPr dirty="0" sz="1700" spc="10" i="1">
                <a:latin typeface="Times New Roman"/>
                <a:cs typeface="Times New Roman"/>
              </a:rPr>
              <a:t>r	</a:t>
            </a:r>
            <a:r>
              <a:rPr dirty="0" sz="1700" spc="-755">
                <a:latin typeface="Symbol"/>
                <a:cs typeface="Symbol"/>
              </a:rPr>
              <a:t></a:t>
            </a:r>
            <a:r>
              <a:rPr dirty="0" sz="1700" spc="-200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4267" y="2330076"/>
            <a:ext cx="792480" cy="557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9085" algn="l"/>
              </a:tabLst>
            </a:pPr>
            <a:r>
              <a:rPr dirty="0" sz="3450" spc="-745">
                <a:latin typeface="Symbol"/>
                <a:cs typeface="Symbol"/>
              </a:rPr>
              <a:t>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i="1">
                <a:latin typeface="Times New Roman"/>
                <a:cs typeface="Times New Roman"/>
              </a:rPr>
              <a:t>	</a:t>
            </a:r>
            <a:r>
              <a:rPr dirty="0" sz="1700" spc="-755">
                <a:latin typeface="Symbol"/>
                <a:cs typeface="Symbol"/>
              </a:rPr>
              <a:t></a:t>
            </a:r>
            <a:r>
              <a:rPr dirty="0" sz="1700" spc="-130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05" i="1">
                <a:latin typeface="Times New Roman"/>
                <a:cs typeface="Times New Roman"/>
              </a:rPr>
              <a:t> </a:t>
            </a:r>
            <a:r>
              <a:rPr dirty="0" sz="3450" spc="-819">
                <a:latin typeface="Symbol"/>
                <a:cs typeface="Symbol"/>
              </a:rPr>
              <a:t></a:t>
            </a:r>
            <a:r>
              <a:rPr dirty="0" sz="3450" spc="-585">
                <a:latin typeface="Symbol"/>
                <a:cs typeface="Symbol"/>
              </a:rPr>
              <a:t></a:t>
            </a:r>
            <a:endParaRPr sz="34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7859" y="2858516"/>
            <a:ext cx="2025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Times New Roman"/>
                <a:cs typeface="Times New Roman"/>
              </a:rPr>
              <a:t>j</a:t>
            </a:r>
            <a:r>
              <a:rPr dirty="0" sz="1000" spc="-195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Symbol"/>
                <a:cs typeface="Symbol"/>
              </a:rPr>
              <a:t></a:t>
            </a:r>
            <a:r>
              <a:rPr dirty="0" sz="1000" spc="-25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46220" y="2300732"/>
            <a:ext cx="648335" cy="42418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Times New Roman"/>
              <a:cs typeface="Times New Roman"/>
            </a:endParaRPr>
          </a:p>
          <a:p>
            <a:pPr algn="r" marR="104775">
              <a:lnSpc>
                <a:spcPts val="135"/>
              </a:lnSpc>
              <a:spcBef>
                <a:spcPts val="5"/>
              </a:spcBef>
            </a:pPr>
            <a:r>
              <a:rPr dirty="0" sz="1000" i="1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ts val="2055"/>
              </a:lnSpc>
            </a:pPr>
            <a:r>
              <a:rPr dirty="0" baseline="-35947" sz="2550" spc="22">
                <a:latin typeface="Symbol"/>
                <a:cs typeface="Symbol"/>
              </a:rPr>
              <a:t></a:t>
            </a:r>
            <a:r>
              <a:rPr dirty="0" baseline="-35947" sz="2550" spc="22">
                <a:latin typeface="Times New Roman"/>
                <a:cs typeface="Times New Roman"/>
              </a:rPr>
              <a:t> </a:t>
            </a:r>
            <a:r>
              <a:rPr dirty="0" u="sng" sz="17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baseline="-32051" sz="3900" spc="-1672">
                <a:latin typeface="Symbol"/>
                <a:cs typeface="Symbol"/>
              </a:rPr>
              <a:t></a:t>
            </a:r>
            <a:endParaRPr baseline="-32051" sz="3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1100" y="2553716"/>
            <a:ext cx="15811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5" i="1">
                <a:latin typeface="Arial"/>
                <a:cs typeface="Arial"/>
              </a:rPr>
              <a:t>σ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98848" y="5010912"/>
            <a:ext cx="1243965" cy="640080"/>
          </a:xfrm>
          <a:custGeom>
            <a:avLst/>
            <a:gdLst/>
            <a:ahLst/>
            <a:cxnLst/>
            <a:rect l="l" t="t" r="r" b="b"/>
            <a:pathLst>
              <a:path w="1243964" h="640079">
                <a:moveTo>
                  <a:pt x="0" y="0"/>
                </a:moveTo>
                <a:lnTo>
                  <a:pt x="0" y="640080"/>
                </a:lnTo>
                <a:lnTo>
                  <a:pt x="1243584" y="640080"/>
                </a:lnTo>
                <a:lnTo>
                  <a:pt x="12435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67655" y="532180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199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73448" y="4929937"/>
            <a:ext cx="1294765" cy="65976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70"/>
              </a:spcBef>
            </a:pPr>
            <a:r>
              <a:rPr dirty="0" baseline="-41666" sz="2400" spc="22" i="1">
                <a:latin typeface="Arial"/>
                <a:cs typeface="Arial"/>
              </a:rPr>
              <a:t>ρ </a:t>
            </a:r>
            <a:r>
              <a:rPr dirty="0" baseline="-41666" sz="2400" spc="22">
                <a:latin typeface="Symbol"/>
                <a:cs typeface="Symbol"/>
              </a:rPr>
              <a:t></a:t>
            </a:r>
            <a:r>
              <a:rPr dirty="0" baseline="-41666" sz="2400" spc="22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cov(</a:t>
            </a:r>
            <a:r>
              <a:rPr dirty="0" sz="1600" i="1">
                <a:latin typeface="Times New Roman"/>
                <a:cs typeface="Times New Roman"/>
              </a:rPr>
              <a:t>r</a:t>
            </a:r>
            <a:r>
              <a:rPr dirty="0" baseline="-24691" sz="1350" i="1">
                <a:latin typeface="Times New Roman"/>
                <a:cs typeface="Times New Roman"/>
              </a:rPr>
              <a:t>x </a:t>
            </a:r>
            <a:r>
              <a:rPr dirty="0" sz="1600" spc="5">
                <a:latin typeface="Times New Roman"/>
                <a:cs typeface="Times New Roman"/>
              </a:rPr>
              <a:t>,</a:t>
            </a:r>
            <a:r>
              <a:rPr dirty="0" sz="1600" spc="-320">
                <a:latin typeface="Times New Roman"/>
                <a:cs typeface="Times New Roman"/>
              </a:rPr>
              <a:t> </a:t>
            </a:r>
            <a:r>
              <a:rPr dirty="0" sz="1600" spc="-10" i="1">
                <a:latin typeface="Times New Roman"/>
                <a:cs typeface="Times New Roman"/>
              </a:rPr>
              <a:t>r</a:t>
            </a:r>
            <a:r>
              <a:rPr dirty="0" baseline="-24691" sz="1350" spc="-15" i="1">
                <a:latin typeface="Times New Roman"/>
                <a:cs typeface="Times New Roman"/>
              </a:rPr>
              <a:t>y </a:t>
            </a:r>
            <a:r>
              <a:rPr dirty="0" sz="1600" spc="1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91820">
              <a:lnSpc>
                <a:spcPct val="100000"/>
              </a:lnSpc>
              <a:spcBef>
                <a:spcPts val="575"/>
              </a:spcBef>
            </a:pPr>
            <a:r>
              <a:rPr dirty="0" sz="1600" spc="15" i="1">
                <a:latin typeface="Arial"/>
                <a:cs typeface="Arial"/>
              </a:rPr>
              <a:t>σ</a:t>
            </a:r>
            <a:r>
              <a:rPr dirty="0" sz="1600" spc="-290" i="1">
                <a:latin typeface="Arial"/>
                <a:cs typeface="Arial"/>
              </a:rPr>
              <a:t> </a:t>
            </a:r>
            <a:r>
              <a:rPr dirty="0" baseline="-24691" sz="1350" spc="67" i="1">
                <a:latin typeface="Times New Roman"/>
                <a:cs typeface="Times New Roman"/>
              </a:rPr>
              <a:t>x</a:t>
            </a:r>
            <a:r>
              <a:rPr dirty="0" sz="1600" spc="45" i="1">
                <a:latin typeface="Arial"/>
                <a:cs typeface="Arial"/>
              </a:rPr>
              <a:t>σ</a:t>
            </a:r>
            <a:r>
              <a:rPr dirty="0" sz="1600" spc="-235" i="1">
                <a:latin typeface="Arial"/>
                <a:cs typeface="Arial"/>
              </a:rPr>
              <a:t> </a:t>
            </a:r>
            <a:r>
              <a:rPr dirty="0" baseline="-24691" sz="1350" spc="22" i="1">
                <a:latin typeface="Times New Roman"/>
                <a:cs typeface="Times New Roman"/>
              </a:rPr>
              <a:t>y</a:t>
            </a:r>
            <a:endParaRPr baseline="-24691"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7139" y="639572"/>
            <a:ext cx="4100829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组</a:t>
            </a:r>
            <a:r>
              <a:rPr dirty="0" spc="25"/>
              <a:t>合</a:t>
            </a:r>
            <a:r>
              <a:rPr dirty="0" spc="5"/>
              <a:t>的风险和回报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491" y="1566164"/>
            <a:ext cx="7431405" cy="13392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822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►"/>
              <a:tabLst>
                <a:tab pos="3829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风险资产的组合回报需将下述变量结合起来加以计</a:t>
            </a:r>
            <a:r>
              <a:rPr dirty="0" sz="2400" spc="-166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2400">
              <a:latin typeface="宋体"/>
              <a:cs typeface="宋体"/>
            </a:endParaRPr>
          </a:p>
          <a:p>
            <a:pPr lvl="1" marL="781685" indent="-28765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782320" algn="l"/>
                <a:tab pos="33724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单项资产的回报率	r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j</a:t>
            </a:r>
            <a:endParaRPr baseline="-20833" sz="2400">
              <a:latin typeface="宋体"/>
              <a:cs typeface="宋体"/>
            </a:endParaRPr>
          </a:p>
          <a:p>
            <a:pPr lvl="1" marL="781685" indent="-287655">
              <a:lnSpc>
                <a:spcPct val="100000"/>
              </a:lnSpc>
              <a:spcBef>
                <a:spcPts val="555"/>
              </a:spcBef>
              <a:buClr>
                <a:srgbClr val="FF6600"/>
              </a:buClr>
              <a:buChar char="•"/>
              <a:tabLst>
                <a:tab pos="782320" algn="l"/>
                <a:tab pos="24580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相应的权重	w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j</a:t>
            </a:r>
            <a:endParaRPr baseline="-20833"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891" y="3248660"/>
            <a:ext cx="1894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期望回报</a:t>
            </a:r>
            <a:r>
              <a:rPr dirty="0" sz="2400" spc="-186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4016" y="3304222"/>
            <a:ext cx="30480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891" y="4123436"/>
            <a:ext cx="5247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组合风险定义为期望回报的波动水</a:t>
            </a:r>
            <a:r>
              <a:rPr dirty="0" sz="2400" spc="-186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091" y="4562348"/>
            <a:ext cx="1531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Char char="•"/>
              <a:tabLst>
                <a:tab pos="2997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方差是：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24327" y="3212592"/>
            <a:ext cx="4087495" cy="500380"/>
          </a:xfrm>
          <a:custGeom>
            <a:avLst/>
            <a:gdLst/>
            <a:ahLst/>
            <a:cxnLst/>
            <a:rect l="l" t="t" r="r" b="b"/>
            <a:pathLst>
              <a:path w="4087495" h="500379">
                <a:moveTo>
                  <a:pt x="0" y="0"/>
                </a:moveTo>
                <a:lnTo>
                  <a:pt x="0" y="499872"/>
                </a:lnTo>
                <a:lnTo>
                  <a:pt x="4087368" y="499872"/>
                </a:lnTo>
                <a:lnTo>
                  <a:pt x="4087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24988" y="3119559"/>
            <a:ext cx="384175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560" algn="l"/>
              </a:tabLst>
            </a:pPr>
            <a:r>
              <a:rPr dirty="0" sz="3050" spc="-380">
                <a:latin typeface="Symbol"/>
                <a:cs typeface="Symbol"/>
              </a:rPr>
              <a:t></a:t>
            </a:r>
            <a:r>
              <a:rPr dirty="0" sz="3050" spc="-380">
                <a:latin typeface="Times New Roman"/>
                <a:cs typeface="Times New Roman"/>
              </a:rPr>
              <a:t>	</a:t>
            </a:r>
            <a:r>
              <a:rPr dirty="0" sz="3050" spc="-380">
                <a:latin typeface="Symbol"/>
                <a:cs typeface="Symbol"/>
              </a:rPr>
              <a:t>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6915" y="3263900"/>
            <a:ext cx="163195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5"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0123" y="3431540"/>
            <a:ext cx="654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5" i="1">
                <a:latin typeface="Times New Roman"/>
                <a:cs typeface="Times New Roman"/>
              </a:rPr>
              <a:t>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5220" y="3431540"/>
            <a:ext cx="654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5" i="1">
                <a:latin typeface="Times New Roman"/>
                <a:cs typeface="Times New Roman"/>
              </a:rPr>
              <a:t>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3515" y="3199892"/>
            <a:ext cx="102171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  <a:tab pos="741045" algn="l"/>
              </a:tabLst>
            </a:pP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10" i="1">
                <a:latin typeface="Times New Roman"/>
                <a:cs typeface="Times New Roman"/>
              </a:rPr>
              <a:t>	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10" i="1">
                <a:latin typeface="Times New Roman"/>
                <a:cs typeface="Times New Roman"/>
              </a:rPr>
              <a:t>	</a:t>
            </a:r>
            <a:r>
              <a:rPr dirty="0" sz="2950" spc="80">
                <a:latin typeface="Symbol"/>
                <a:cs typeface="Symbol"/>
              </a:rPr>
              <a:t>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19291" y="3263900"/>
            <a:ext cx="580390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10" i="1">
                <a:latin typeface="Times New Roman"/>
                <a:cs typeface="Times New Roman"/>
              </a:rPr>
              <a:t>w </a:t>
            </a:r>
            <a:r>
              <a:rPr dirty="0" sz="1950" spc="114">
                <a:latin typeface="Symbol"/>
                <a:cs typeface="Symbol"/>
              </a:rPr>
              <a:t></a:t>
            </a:r>
            <a:r>
              <a:rPr dirty="0" sz="1950" spc="-365">
                <a:latin typeface="Times New Roman"/>
                <a:cs typeface="Times New Roman"/>
              </a:rPr>
              <a:t> </a:t>
            </a:r>
            <a:r>
              <a:rPr dirty="0" sz="1950" spc="5" i="1">
                <a:latin typeface="Times New Roman"/>
                <a:cs typeface="Times New Roman"/>
              </a:rPr>
              <a:t>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90691" y="3121863"/>
            <a:ext cx="240665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6400"/>
              </a:lnSpc>
              <a:spcBef>
                <a:spcPts val="90"/>
              </a:spcBef>
            </a:pPr>
            <a:r>
              <a:rPr dirty="0" sz="1100" spc="5" i="1">
                <a:latin typeface="Times New Roman"/>
                <a:cs typeface="Times New Roman"/>
              </a:rPr>
              <a:t>j</a:t>
            </a:r>
            <a:r>
              <a:rPr dirty="0" sz="1100" spc="-215" i="1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Symbol"/>
                <a:cs typeface="Symbol"/>
              </a:rPr>
              <a:t></a:t>
            </a:r>
            <a:r>
              <a:rPr dirty="0" sz="1100" spc="-229">
                <a:latin typeface="Times New Roman"/>
                <a:cs typeface="Times New Roman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 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j</a:t>
            </a:r>
            <a:r>
              <a:rPr dirty="0" sz="1100" spc="-200" i="1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Symbol"/>
                <a:cs typeface="Symbol"/>
              </a:rPr>
              <a:t></a:t>
            </a:r>
            <a:r>
              <a:rPr dirty="0" sz="1100" spc="-2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89579" y="3431540"/>
            <a:ext cx="10115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  <a:tab pos="926465" algn="l"/>
              </a:tabLst>
            </a:pPr>
            <a:r>
              <a:rPr dirty="0" sz="1100" spc="10" i="1">
                <a:latin typeface="Times New Roman"/>
                <a:cs typeface="Times New Roman"/>
              </a:rPr>
              <a:t>p</a:t>
            </a:r>
            <a:r>
              <a:rPr dirty="0" sz="1100" spc="10" i="1">
                <a:latin typeface="Times New Roman"/>
                <a:cs typeface="Times New Roman"/>
              </a:rPr>
              <a:t>	</a:t>
            </a:r>
            <a:r>
              <a:rPr dirty="0" sz="1100" spc="10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Times New Roman"/>
                <a:cs typeface="Times New Roman"/>
              </a:rPr>
              <a:t>	</a:t>
            </a:r>
            <a:r>
              <a:rPr dirty="0" sz="1100" spc="1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7348" y="3263900"/>
            <a:ext cx="2527935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70230" algn="l"/>
              </a:tabLst>
            </a:pPr>
            <a:r>
              <a:rPr dirty="0" sz="1950" spc="10" i="1">
                <a:latin typeface="Times New Roman"/>
                <a:cs typeface="Times New Roman"/>
              </a:rPr>
              <a:t>E</a:t>
            </a:r>
            <a:r>
              <a:rPr dirty="0" sz="1950" spc="180" i="1">
                <a:latin typeface="Times New Roman"/>
                <a:cs typeface="Times New Roman"/>
              </a:rPr>
              <a:t> </a:t>
            </a:r>
            <a:r>
              <a:rPr dirty="0" sz="1950" spc="5" i="1">
                <a:latin typeface="Times New Roman"/>
                <a:cs typeface="Times New Roman"/>
              </a:rPr>
              <a:t>r	</a:t>
            </a:r>
            <a:r>
              <a:rPr dirty="0" sz="1950" spc="5">
                <a:latin typeface="Symbol"/>
                <a:cs typeface="Symbol"/>
              </a:rPr>
              <a:t>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 spc="10" i="1">
                <a:latin typeface="Times New Roman"/>
                <a:cs typeface="Times New Roman"/>
              </a:rPr>
              <a:t>w </a:t>
            </a:r>
            <a:r>
              <a:rPr dirty="0" sz="1950" spc="114">
                <a:latin typeface="Symbol"/>
                <a:cs typeface="Symbol"/>
              </a:rPr>
              <a:t></a:t>
            </a:r>
            <a:r>
              <a:rPr dirty="0" sz="1950" spc="114">
                <a:latin typeface="Times New Roman"/>
                <a:cs typeface="Times New Roman"/>
              </a:rPr>
              <a:t> </a:t>
            </a:r>
            <a:r>
              <a:rPr dirty="0" sz="1950" spc="5" i="1">
                <a:latin typeface="Times New Roman"/>
                <a:cs typeface="Times New Roman"/>
              </a:rPr>
              <a:t>r </a:t>
            </a:r>
            <a:r>
              <a:rPr dirty="0" sz="1950" spc="5">
                <a:latin typeface="Symbol"/>
                <a:cs typeface="Symbol"/>
              </a:rPr>
              <a:t>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 spc="10">
                <a:latin typeface="Times New Roman"/>
                <a:cs typeface="Times New Roman"/>
              </a:rPr>
              <a:t>... </a:t>
            </a:r>
            <a:r>
              <a:rPr dirty="0" sz="1950" spc="5">
                <a:latin typeface="Symbol"/>
                <a:cs typeface="Symbol"/>
              </a:rPr>
              <a:t>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 spc="10" i="1">
                <a:latin typeface="Times New Roman"/>
                <a:cs typeface="Times New Roman"/>
              </a:rPr>
              <a:t>w </a:t>
            </a:r>
            <a:r>
              <a:rPr dirty="0" sz="1950" spc="114">
                <a:latin typeface="Symbol"/>
                <a:cs typeface="Symbol"/>
              </a:rPr>
              <a:t></a:t>
            </a:r>
            <a:r>
              <a:rPr dirty="0" sz="1950" spc="-385">
                <a:latin typeface="Times New Roman"/>
                <a:cs typeface="Times New Roman"/>
              </a:rPr>
              <a:t> </a:t>
            </a:r>
            <a:r>
              <a:rPr dirty="0" sz="1950" spc="5" i="1">
                <a:latin typeface="Times New Roman"/>
                <a:cs typeface="Times New Roman"/>
              </a:rPr>
              <a:t>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67584" y="5513832"/>
            <a:ext cx="1530350" cy="466725"/>
          </a:xfrm>
          <a:custGeom>
            <a:avLst/>
            <a:gdLst/>
            <a:ahLst/>
            <a:cxnLst/>
            <a:rect l="l" t="t" r="r" b="b"/>
            <a:pathLst>
              <a:path w="1530350" h="466725">
                <a:moveTo>
                  <a:pt x="0" y="0"/>
                </a:moveTo>
                <a:lnTo>
                  <a:pt x="0" y="466344"/>
                </a:lnTo>
                <a:lnTo>
                  <a:pt x="1530096" y="466344"/>
                </a:lnTo>
                <a:lnTo>
                  <a:pt x="1530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61944" y="5788152"/>
            <a:ext cx="33655" cy="21590"/>
          </a:xfrm>
          <a:custGeom>
            <a:avLst/>
            <a:gdLst/>
            <a:ahLst/>
            <a:cxnLst/>
            <a:rect l="l" t="t" r="r" b="b"/>
            <a:pathLst>
              <a:path w="33654" h="21589">
                <a:moveTo>
                  <a:pt x="0" y="21335"/>
                </a:moveTo>
                <a:lnTo>
                  <a:pt x="33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5471" y="5794248"/>
            <a:ext cx="45720" cy="121920"/>
          </a:xfrm>
          <a:custGeom>
            <a:avLst/>
            <a:gdLst/>
            <a:ahLst/>
            <a:cxnLst/>
            <a:rect l="l" t="t" r="r" b="b"/>
            <a:pathLst>
              <a:path w="45720" h="121920">
                <a:moveTo>
                  <a:pt x="0" y="0"/>
                </a:moveTo>
                <a:lnTo>
                  <a:pt x="45719" y="121919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47288" y="5568696"/>
            <a:ext cx="60960" cy="347980"/>
          </a:xfrm>
          <a:custGeom>
            <a:avLst/>
            <a:gdLst/>
            <a:ahLst/>
            <a:cxnLst/>
            <a:rect l="l" t="t" r="r" b="b"/>
            <a:pathLst>
              <a:path w="60960" h="347979">
                <a:moveTo>
                  <a:pt x="0" y="347471"/>
                </a:moveTo>
                <a:lnTo>
                  <a:pt x="6095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08247" y="5568696"/>
            <a:ext cx="741045" cy="0"/>
          </a:xfrm>
          <a:custGeom>
            <a:avLst/>
            <a:gdLst/>
            <a:ahLst/>
            <a:cxnLst/>
            <a:rect l="l" t="t" r="r" b="b"/>
            <a:pathLst>
              <a:path w="741045" h="0">
                <a:moveTo>
                  <a:pt x="0" y="0"/>
                </a:moveTo>
                <a:lnTo>
                  <a:pt x="74066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41979" y="5400039"/>
            <a:ext cx="1136015" cy="515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085"/>
              </a:lnSpc>
              <a:spcBef>
                <a:spcPts val="125"/>
              </a:spcBef>
              <a:tabLst>
                <a:tab pos="360045" algn="l"/>
              </a:tabLst>
            </a:pPr>
            <a:r>
              <a:rPr dirty="0" sz="2000" spc="-5">
                <a:latin typeface="Symbol"/>
                <a:cs typeface="Symbol"/>
              </a:rPr>
              <a:t></a:t>
            </a:r>
            <a:r>
              <a:rPr dirty="0" sz="2000" spc="-5">
                <a:latin typeface="Times New Roman"/>
                <a:cs typeface="Times New Roman"/>
              </a:rPr>
              <a:t>	</a:t>
            </a:r>
            <a:r>
              <a:rPr dirty="0" sz="2000" i="1">
                <a:latin typeface="Times New Roman"/>
                <a:cs typeface="Times New Roman"/>
              </a:rPr>
              <a:t>Var </a:t>
            </a:r>
            <a:r>
              <a:rPr dirty="0" sz="3100" spc="-254">
                <a:latin typeface="Symbol"/>
                <a:cs typeface="Symbol"/>
              </a:rPr>
              <a:t></a:t>
            </a:r>
            <a:r>
              <a:rPr dirty="0" sz="2000" spc="-254" i="1">
                <a:latin typeface="Times New Roman"/>
                <a:cs typeface="Times New Roman"/>
              </a:rPr>
              <a:t>r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3100" spc="-380">
                <a:latin typeface="Symbol"/>
                <a:cs typeface="Symbol"/>
              </a:rPr>
              <a:t></a:t>
            </a:r>
            <a:endParaRPr sz="3100">
              <a:latin typeface="Symbol"/>
              <a:cs typeface="Symbol"/>
            </a:endParaRPr>
          </a:p>
          <a:p>
            <a:pPr algn="r" marR="130810">
              <a:lnSpc>
                <a:spcPts val="745"/>
              </a:lnSpc>
            </a:pPr>
            <a:r>
              <a:rPr dirty="0" sz="1150" i="1">
                <a:latin typeface="Times New Roman"/>
                <a:cs typeface="Times New Roman"/>
              </a:rPr>
              <a:t>p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4691" y="5437124"/>
            <a:ext cx="2136775" cy="47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indent="-287020">
              <a:lnSpc>
                <a:spcPts val="2535"/>
              </a:lnSpc>
              <a:spcBef>
                <a:spcPts val="10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标准差是</a:t>
            </a:r>
            <a:r>
              <a:rPr dirty="0" sz="2400" spc="-3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baseline="-11904" sz="3150" spc="-52">
                <a:latin typeface="Symbol"/>
                <a:cs typeface="Symbol"/>
              </a:rPr>
              <a:t></a:t>
            </a:r>
            <a:endParaRPr baseline="-11904" sz="3150">
              <a:latin typeface="Symbol"/>
              <a:cs typeface="Symbol"/>
            </a:endParaRPr>
          </a:p>
          <a:p>
            <a:pPr algn="r" marR="30480">
              <a:lnSpc>
                <a:spcPts val="1035"/>
              </a:lnSpc>
            </a:pPr>
            <a:r>
              <a:rPr dirty="0" sz="1150" i="1">
                <a:latin typeface="Times New Roman"/>
                <a:cs typeface="Times New Roman"/>
              </a:rPr>
              <a:t>p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40152" y="4492752"/>
            <a:ext cx="4883150" cy="878205"/>
          </a:xfrm>
          <a:custGeom>
            <a:avLst/>
            <a:gdLst/>
            <a:ahLst/>
            <a:cxnLst/>
            <a:rect l="l" t="t" r="r" b="b"/>
            <a:pathLst>
              <a:path w="4883150" h="878204">
                <a:moveTo>
                  <a:pt x="0" y="0"/>
                </a:moveTo>
                <a:lnTo>
                  <a:pt x="0" y="877824"/>
                </a:lnTo>
                <a:lnTo>
                  <a:pt x="4882896" y="877824"/>
                </a:lnTo>
                <a:lnTo>
                  <a:pt x="488289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84975" y="4675632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 h="0">
                <a:moveTo>
                  <a:pt x="0" y="0"/>
                </a:moveTo>
                <a:lnTo>
                  <a:pt x="25298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35952" y="4675632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862828" y="4239894"/>
            <a:ext cx="1821814" cy="753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70865" algn="l"/>
                <a:tab pos="985519" algn="l"/>
                <a:tab pos="1530985" algn="l"/>
              </a:tabLst>
            </a:pPr>
            <a:r>
              <a:rPr dirty="0" sz="1350" spc="5" i="1">
                <a:latin typeface="Times New Roman"/>
                <a:cs typeface="Times New Roman"/>
              </a:rPr>
              <a:t>x	x	y	y</a:t>
            </a:r>
            <a:r>
              <a:rPr dirty="0" sz="1350" spc="15" i="1">
                <a:latin typeface="Times New Roman"/>
                <a:cs typeface="Times New Roman"/>
              </a:rPr>
              <a:t> </a:t>
            </a:r>
            <a:r>
              <a:rPr dirty="0" baseline="-12280" sz="7125" spc="-1214">
                <a:latin typeface="Symbol"/>
                <a:cs typeface="Symbol"/>
              </a:rPr>
              <a:t></a:t>
            </a:r>
            <a:endParaRPr baseline="-12280" sz="7125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1292" y="4976876"/>
            <a:ext cx="603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" i="1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42508" y="4976876"/>
            <a:ext cx="603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" i="1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74611" y="4684268"/>
            <a:ext cx="68770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1630" algn="l"/>
              </a:tabLst>
            </a:pPr>
            <a:r>
              <a:rPr dirty="0" sz="2350" i="1">
                <a:latin typeface="Times New Roman"/>
                <a:cs typeface="Times New Roman"/>
              </a:rPr>
              <a:t>r	</a:t>
            </a:r>
            <a:r>
              <a:rPr dirty="0" sz="2350" spc="-1060">
                <a:latin typeface="Symbol"/>
                <a:cs typeface="Symbol"/>
              </a:rPr>
              <a:t></a:t>
            </a:r>
            <a:r>
              <a:rPr dirty="0" sz="2350" spc="-254">
                <a:latin typeface="Times New Roman"/>
                <a:cs typeface="Times New Roman"/>
              </a:rPr>
              <a:t> </a:t>
            </a:r>
            <a:r>
              <a:rPr dirty="0" sz="2350" i="1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65723" y="4377054"/>
            <a:ext cx="1066165" cy="753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6240" algn="l"/>
                <a:tab pos="893444" algn="l"/>
              </a:tabLst>
            </a:pPr>
            <a:r>
              <a:rPr dirty="0" sz="4750" spc="-1060">
                <a:latin typeface="Symbol"/>
                <a:cs typeface="Symbol"/>
              </a:rPr>
              <a:t></a:t>
            </a:r>
            <a:r>
              <a:rPr dirty="0" sz="2350" i="1">
                <a:latin typeface="Times New Roman"/>
                <a:cs typeface="Times New Roman"/>
              </a:rPr>
              <a:t>r</a:t>
            </a:r>
            <a:r>
              <a:rPr dirty="0" sz="2350" i="1">
                <a:latin typeface="Times New Roman"/>
                <a:cs typeface="Times New Roman"/>
              </a:rPr>
              <a:t>	</a:t>
            </a:r>
            <a:r>
              <a:rPr dirty="0" sz="2350" spc="-1060">
                <a:latin typeface="Symbol"/>
                <a:cs typeface="Symbol"/>
              </a:rPr>
              <a:t></a:t>
            </a:r>
            <a:r>
              <a:rPr dirty="0" sz="2350" spc="-175">
                <a:latin typeface="Times New Roman"/>
                <a:cs typeface="Times New Roman"/>
              </a:rPr>
              <a:t> </a:t>
            </a:r>
            <a:r>
              <a:rPr dirty="0" sz="2350" i="1">
                <a:latin typeface="Times New Roman"/>
                <a:cs typeface="Times New Roman"/>
              </a:rPr>
              <a:t>r</a:t>
            </a:r>
            <a:r>
              <a:rPr dirty="0" sz="2350" i="1">
                <a:latin typeface="Times New Roman"/>
                <a:cs typeface="Times New Roman"/>
              </a:rPr>
              <a:t>	</a:t>
            </a:r>
            <a:r>
              <a:rPr dirty="0" sz="4750" spc="-1110">
                <a:latin typeface="Symbol"/>
                <a:cs typeface="Symbol"/>
              </a:rPr>
              <a:t></a:t>
            </a:r>
            <a:r>
              <a:rPr dirty="0" sz="4750" spc="-810">
                <a:latin typeface="Symbol"/>
                <a:cs typeface="Symbol"/>
              </a:rPr>
              <a:t></a:t>
            </a:r>
            <a:endParaRPr sz="475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00527" y="4501388"/>
            <a:ext cx="2982595" cy="8286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035810">
              <a:lnSpc>
                <a:spcPts val="1210"/>
              </a:lnSpc>
              <a:spcBef>
                <a:spcPts val="114"/>
              </a:spcBef>
              <a:tabLst>
                <a:tab pos="2395220" algn="l"/>
              </a:tabLst>
            </a:pPr>
            <a:r>
              <a:rPr dirty="0" sz="1350" spc="5" i="1">
                <a:latin typeface="Times New Roman"/>
                <a:cs typeface="Times New Roman"/>
              </a:rPr>
              <a:t>n	n</a:t>
            </a:r>
            <a:endParaRPr sz="1350">
              <a:latin typeface="Times New Roman"/>
              <a:cs typeface="Times New Roman"/>
            </a:endParaRPr>
          </a:p>
          <a:p>
            <a:pPr marL="301625">
              <a:lnSpc>
                <a:spcPts val="1645"/>
              </a:lnSpc>
              <a:tabLst>
                <a:tab pos="1392555" algn="l"/>
                <a:tab pos="1919605" algn="l"/>
                <a:tab pos="2834005" algn="l"/>
              </a:tabLst>
            </a:pPr>
            <a:r>
              <a:rPr dirty="0" sz="1350" spc="5" i="1">
                <a:latin typeface="Times New Roman"/>
                <a:cs typeface="Times New Roman"/>
              </a:rPr>
              <a:t>p	p	</a:t>
            </a:r>
            <a:r>
              <a:rPr dirty="0" sz="3550" spc="240">
                <a:latin typeface="Symbol"/>
                <a:cs typeface="Symbol"/>
              </a:rPr>
              <a:t></a:t>
            </a:r>
            <a:r>
              <a:rPr dirty="0" sz="3550" spc="240">
                <a:latin typeface="Times New Roman"/>
                <a:cs typeface="Times New Roman"/>
              </a:rPr>
              <a:t>	</a:t>
            </a:r>
            <a:r>
              <a:rPr dirty="0" sz="1350" spc="5" i="1">
                <a:latin typeface="Times New Roman"/>
                <a:cs typeface="Times New Roman"/>
              </a:rPr>
              <a:t>ij</a:t>
            </a:r>
            <a:endParaRPr sz="1350">
              <a:latin typeface="Times New Roman"/>
              <a:cs typeface="Times New Roman"/>
            </a:endParaRPr>
          </a:p>
          <a:p>
            <a:pPr marL="76200">
              <a:lnSpc>
                <a:spcPts val="1385"/>
              </a:lnSpc>
              <a:tabLst>
                <a:tab pos="2645410" algn="l"/>
              </a:tabLst>
            </a:pPr>
            <a:r>
              <a:rPr dirty="0" sz="2350" i="1">
                <a:latin typeface="Arial"/>
                <a:cs typeface="Arial"/>
              </a:rPr>
              <a:t>σ </a:t>
            </a:r>
            <a:r>
              <a:rPr dirty="0" baseline="45267" sz="2025" spc="7">
                <a:latin typeface="Times New Roman"/>
                <a:cs typeface="Times New Roman"/>
              </a:rPr>
              <a:t>2  </a:t>
            </a:r>
            <a:r>
              <a:rPr dirty="0" sz="2350">
                <a:latin typeface="Symbol"/>
                <a:cs typeface="Symbol"/>
              </a:rPr>
              <a:t></a:t>
            </a:r>
            <a:r>
              <a:rPr dirty="0" sz="2350">
                <a:latin typeface="Times New Roman"/>
                <a:cs typeface="Times New Roman"/>
              </a:rPr>
              <a:t> </a:t>
            </a:r>
            <a:r>
              <a:rPr dirty="0" sz="2350" spc="45" i="1">
                <a:latin typeface="Times New Roman"/>
                <a:cs typeface="Times New Roman"/>
              </a:rPr>
              <a:t>Var</a:t>
            </a:r>
            <a:r>
              <a:rPr dirty="0" sz="2350" spc="45">
                <a:latin typeface="Times New Roman"/>
                <a:cs typeface="Times New Roman"/>
              </a:rPr>
              <a:t>(</a:t>
            </a:r>
            <a:r>
              <a:rPr dirty="0" sz="2350" spc="45" i="1">
                <a:latin typeface="Times New Roman"/>
                <a:cs typeface="Times New Roman"/>
              </a:rPr>
              <a:t>r</a:t>
            </a:r>
            <a:r>
              <a:rPr dirty="0" sz="2350" i="1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)</a:t>
            </a:r>
            <a:r>
              <a:rPr dirty="0" sz="2350" spc="-50">
                <a:latin typeface="Times New Roman"/>
                <a:cs typeface="Times New Roman"/>
              </a:rPr>
              <a:t> </a:t>
            </a:r>
            <a:r>
              <a:rPr dirty="0" sz="2350">
                <a:latin typeface="Symbol"/>
                <a:cs typeface="Symbol"/>
              </a:rPr>
              <a:t>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i="1">
                <a:latin typeface="Times New Roman"/>
                <a:cs typeface="Times New Roman"/>
              </a:rPr>
              <a:t>w</a:t>
            </a:r>
            <a:endParaRPr sz="2350">
              <a:latin typeface="Times New Roman"/>
              <a:cs typeface="Times New Roman"/>
            </a:endParaRPr>
          </a:p>
          <a:p>
            <a:pPr marL="1968500">
              <a:lnSpc>
                <a:spcPct val="100000"/>
              </a:lnSpc>
              <a:spcBef>
                <a:spcPts val="439"/>
              </a:spcBef>
              <a:tabLst>
                <a:tab pos="2343785" algn="l"/>
              </a:tabLst>
            </a:pPr>
            <a:r>
              <a:rPr dirty="0" sz="1350" spc="5" i="1">
                <a:latin typeface="Times New Roman"/>
                <a:cs typeface="Times New Roman"/>
              </a:rPr>
              <a:t>i</a:t>
            </a:r>
            <a:r>
              <a:rPr dirty="0" sz="1350" spc="-240" i="1">
                <a:latin typeface="Times New Roman"/>
                <a:cs typeface="Times New Roman"/>
              </a:rPr>
              <a:t> </a:t>
            </a:r>
            <a:r>
              <a:rPr dirty="0" sz="1350" spc="-20">
                <a:latin typeface="Symbol"/>
                <a:cs typeface="Symbol"/>
              </a:rPr>
              <a:t></a:t>
            </a:r>
            <a:r>
              <a:rPr dirty="0" sz="1350" spc="-20">
                <a:latin typeface="Times New Roman"/>
                <a:cs typeface="Times New Roman"/>
              </a:rPr>
              <a:t>1	</a:t>
            </a:r>
            <a:r>
              <a:rPr dirty="0" sz="1350" spc="5" i="1">
                <a:latin typeface="Times New Roman"/>
                <a:cs typeface="Times New Roman"/>
              </a:rPr>
              <a:t>j</a:t>
            </a:r>
            <a:r>
              <a:rPr dirty="0" sz="1350" spc="-195" i="1">
                <a:latin typeface="Times New Roman"/>
                <a:cs typeface="Times New Roman"/>
              </a:rPr>
              <a:t> </a:t>
            </a:r>
            <a:r>
              <a:rPr dirty="0" sz="1350" spc="-35">
                <a:latin typeface="Symbol"/>
                <a:cs typeface="Symbol"/>
              </a:rPr>
              <a:t></a:t>
            </a:r>
            <a:r>
              <a:rPr dirty="0" sz="1350" spc="-3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707" y="670052"/>
            <a:ext cx="41554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股票</a:t>
            </a:r>
            <a:r>
              <a:rPr dirty="0" sz="3600"/>
              <a:t>组</a:t>
            </a:r>
            <a:r>
              <a:rPr dirty="0" sz="3600" spc="20"/>
              <a:t>合</a:t>
            </a:r>
            <a:r>
              <a:rPr dirty="0" sz="3600"/>
              <a:t>的两</a:t>
            </a:r>
            <a:r>
              <a:rPr dirty="0" sz="3600" spc="20"/>
              <a:t>种风</a:t>
            </a:r>
            <a:r>
              <a:rPr dirty="0" sz="3600"/>
              <a:t>险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2891" y="1555191"/>
            <a:ext cx="8063230" cy="40430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可分散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非系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统性风险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独公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司特有的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又叫剩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司特有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F6600"/>
              </a:buClr>
              <a:buFont typeface=""/>
              <a:buChar char="•"/>
            </a:pPr>
            <a:endParaRPr sz="36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不可分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统性风险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又叫市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endParaRPr sz="28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这是风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低水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的随机选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择的股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个分散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合来确定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0123" y="639572"/>
            <a:ext cx="359156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分</a:t>
            </a:r>
            <a:r>
              <a:rPr dirty="0" spc="25"/>
              <a:t>散</a:t>
            </a:r>
            <a:r>
              <a:rPr dirty="0" spc="5"/>
              <a:t>化投资组合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7837805" cy="3187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除非两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报率完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则，影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响</a:t>
            </a:r>
            <a:r>
              <a:rPr dirty="0" sz="2800" spc="-2525">
                <a:solidFill>
                  <a:srgbClr val="FFFFFF"/>
                </a:solidFill>
                <a:latin typeface="宋体"/>
                <a:cs typeface="宋体"/>
              </a:rPr>
              <a:t>一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只给定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报率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的因素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影响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的因素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完全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9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当许多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在一起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票之间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2525">
                <a:solidFill>
                  <a:srgbClr val="FFFFFF"/>
                </a:solidFill>
                <a:latin typeface="宋体"/>
                <a:cs typeface="宋体"/>
              </a:rPr>
              <a:t>相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互影响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报率波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抵消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协方差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只风险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程度上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协</a:t>
            </a:r>
            <a:r>
              <a:rPr dirty="0" sz="2800" spc="-2525">
                <a:solidFill>
                  <a:srgbClr val="FFFFFF"/>
                </a:solidFill>
                <a:latin typeface="宋体"/>
                <a:cs typeface="宋体"/>
              </a:rPr>
              <a:t>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波动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1027" y="639572"/>
            <a:ext cx="589153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43400" algn="l"/>
              </a:tabLst>
            </a:pPr>
            <a:r>
              <a:rPr dirty="0" spc="5"/>
              <a:t>资</a:t>
            </a:r>
            <a:r>
              <a:rPr dirty="0" spc="25"/>
              <a:t>本</a:t>
            </a:r>
            <a:r>
              <a:rPr dirty="0" spc="5"/>
              <a:t>资产定价模型</a:t>
            </a:r>
            <a:r>
              <a:rPr dirty="0" spc="5"/>
              <a:t>	</a:t>
            </a:r>
            <a:r>
              <a:rPr dirty="0" spc="-465"/>
              <a:t>(CAPM)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6995" y="1861820"/>
            <a:ext cx="4665980" cy="35261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-465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800" spc="-600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P</a:t>
            </a:r>
            <a:r>
              <a:rPr dirty="0" sz="2800" spc="-1365" b="1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的导出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-465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800" spc="-600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P</a:t>
            </a:r>
            <a:r>
              <a:rPr dirty="0" sz="2800" spc="-1365" b="1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的特征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在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投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资组合选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择</a:t>
            </a:r>
            <a:r>
              <a:rPr dirty="0" sz="2800" spc="-125" b="1">
                <a:solidFill>
                  <a:srgbClr val="FFFFFF"/>
                </a:solidFill>
                <a:latin typeface="Microsoft JhengHei"/>
                <a:cs typeface="Microsoft JhengHei"/>
              </a:rPr>
              <a:t>中运用</a:t>
            </a:r>
            <a:r>
              <a:rPr dirty="0" sz="2800" spc="-755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800" spc="-1280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-1019" b="1">
                <a:solidFill>
                  <a:srgbClr val="FFFFFF"/>
                </a:solidFill>
                <a:latin typeface="Microsoft JhengHei"/>
                <a:cs typeface="Microsoft JhengHei"/>
              </a:rPr>
              <a:t>P</a:t>
            </a:r>
            <a:r>
              <a:rPr dirty="0" sz="2800" spc="-2055" b="1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-395" b="1">
                <a:solidFill>
                  <a:srgbClr val="FFFFFF"/>
                </a:solidFill>
                <a:latin typeface="Microsoft JhengHei"/>
                <a:cs typeface="Microsoft JhengHei"/>
              </a:rPr>
              <a:t>B</a:t>
            </a:r>
            <a:r>
              <a:rPr dirty="0" sz="2800" spc="-190" b="1">
                <a:solidFill>
                  <a:srgbClr val="FFFFFF"/>
                </a:solidFill>
                <a:latin typeface="Microsoft JhengHei"/>
                <a:cs typeface="Microsoft JhengHei"/>
              </a:rPr>
              <a:t>e</a:t>
            </a:r>
            <a:r>
              <a:rPr dirty="0" sz="2800" spc="335" b="1">
                <a:solidFill>
                  <a:srgbClr val="FFFFFF"/>
                </a:solidFill>
                <a:latin typeface="Microsoft JhengHei"/>
                <a:cs typeface="Microsoft JhengHei"/>
              </a:rPr>
              <a:t>t</a:t>
            </a:r>
            <a:r>
              <a:rPr dirty="0" sz="2800" spc="-160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值的基本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决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定因素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-465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800" spc="-600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P</a:t>
            </a:r>
            <a:r>
              <a:rPr dirty="0" sz="2800" spc="-1365" b="1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的修正与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替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代模型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140" y="639572"/>
            <a:ext cx="257683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70"/>
              <a:t>C</a:t>
            </a:r>
            <a:r>
              <a:rPr dirty="0" spc="-865"/>
              <a:t>A</a:t>
            </a:r>
            <a:r>
              <a:rPr dirty="0" spc="-490"/>
              <a:t>P</a:t>
            </a:r>
            <a:r>
              <a:rPr dirty="0" spc="-1955"/>
              <a:t>M</a:t>
            </a:r>
            <a:r>
              <a:rPr dirty="0" spc="5"/>
              <a:t>的导出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91"/>
            <a:ext cx="7837805" cy="3869054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假设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699"/>
              </a:lnSpc>
              <a:spcBef>
                <a:spcPts val="645"/>
              </a:spcBef>
              <a:buClr>
                <a:srgbClr val="FF6600"/>
              </a:buClr>
              <a:buFont typeface="Symbol"/>
              <a:buChar char="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在单期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资者以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望收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和标准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坏的标准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Symbol"/>
              <a:buChar char="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的期望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差和协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差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有相同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预期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Symbol"/>
              <a:buChar char="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恶和非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足的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Symbol"/>
              <a:buChar char="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完美的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无税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收，无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易成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分，借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相等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免费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获取信息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140" y="639572"/>
            <a:ext cx="257683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70"/>
              <a:t>C</a:t>
            </a:r>
            <a:r>
              <a:rPr dirty="0" spc="-865"/>
              <a:t>A</a:t>
            </a:r>
            <a:r>
              <a:rPr dirty="0" spc="-490"/>
              <a:t>P</a:t>
            </a:r>
            <a:r>
              <a:rPr dirty="0" spc="-1955"/>
              <a:t>M</a:t>
            </a:r>
            <a:r>
              <a:rPr dirty="0" spc="5"/>
              <a:t>的导出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28727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1848" y="2200656"/>
            <a:ext cx="5114925" cy="4032885"/>
          </a:xfrm>
          <a:custGeom>
            <a:avLst/>
            <a:gdLst/>
            <a:ahLst/>
            <a:cxnLst/>
            <a:rect l="l" t="t" r="r" b="b"/>
            <a:pathLst>
              <a:path w="5114925" h="4032885">
                <a:moveTo>
                  <a:pt x="0" y="0"/>
                </a:moveTo>
                <a:lnTo>
                  <a:pt x="0" y="4032504"/>
                </a:lnTo>
                <a:lnTo>
                  <a:pt x="5114544" y="4032504"/>
                </a:lnTo>
                <a:lnTo>
                  <a:pt x="51145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31847" y="2200656"/>
            <a:ext cx="5114925" cy="403288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4130">
              <a:lnSpc>
                <a:spcPts val="3490"/>
              </a:lnSpc>
            </a:pPr>
            <a:r>
              <a:rPr dirty="0" sz="3300" spc="-180" i="1">
                <a:latin typeface="Times New Roman"/>
                <a:cs typeface="Times New Roman"/>
              </a:rPr>
              <a:t>r</a:t>
            </a:r>
            <a:r>
              <a:rPr dirty="0" baseline="-23035" sz="3075" spc="-270" i="1">
                <a:latin typeface="Times New Roman"/>
                <a:cs typeface="Times New Roman"/>
              </a:rPr>
              <a:t>P</a:t>
            </a:r>
            <a:endParaRPr baseline="-23035" sz="30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900">
              <a:latin typeface="Times New Roman"/>
              <a:cs typeface="Times New Roman"/>
            </a:endParaRPr>
          </a:p>
          <a:p>
            <a:pPr algn="r" marR="7620">
              <a:lnSpc>
                <a:spcPct val="100000"/>
              </a:lnSpc>
            </a:pPr>
            <a:r>
              <a:rPr dirty="0" sz="2550" spc="200">
                <a:latin typeface="Symbol"/>
                <a:cs typeface="Symbol"/>
              </a:rPr>
              <a:t></a:t>
            </a:r>
            <a:r>
              <a:rPr dirty="0" sz="2550" spc="-509">
                <a:latin typeface="Times New Roman"/>
                <a:cs typeface="Times New Roman"/>
              </a:rPr>
              <a:t> </a:t>
            </a:r>
            <a:r>
              <a:rPr dirty="0" baseline="-22988" sz="2175" spc="30" i="1">
                <a:latin typeface="Times New Roman"/>
                <a:cs typeface="Times New Roman"/>
              </a:rPr>
              <a:t>P</a:t>
            </a:r>
            <a:endParaRPr baseline="-22988" sz="217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1944" y="3413760"/>
            <a:ext cx="2270760" cy="2115820"/>
          </a:xfrm>
          <a:custGeom>
            <a:avLst/>
            <a:gdLst/>
            <a:ahLst/>
            <a:cxnLst/>
            <a:rect l="l" t="t" r="r" b="b"/>
            <a:pathLst>
              <a:path w="2270760" h="2115820">
                <a:moveTo>
                  <a:pt x="2270760" y="0"/>
                </a:moveTo>
                <a:lnTo>
                  <a:pt x="2157984" y="27432"/>
                </a:lnTo>
                <a:lnTo>
                  <a:pt x="1941576" y="82296"/>
                </a:lnTo>
                <a:lnTo>
                  <a:pt x="1831848" y="112776"/>
                </a:lnTo>
                <a:lnTo>
                  <a:pt x="1725168" y="140208"/>
                </a:lnTo>
                <a:lnTo>
                  <a:pt x="1618488" y="173736"/>
                </a:lnTo>
                <a:lnTo>
                  <a:pt x="1566672" y="188976"/>
                </a:lnTo>
                <a:lnTo>
                  <a:pt x="1517904" y="204216"/>
                </a:lnTo>
                <a:lnTo>
                  <a:pt x="1466088" y="219456"/>
                </a:lnTo>
                <a:lnTo>
                  <a:pt x="1414272" y="237744"/>
                </a:lnTo>
                <a:lnTo>
                  <a:pt x="1365504" y="252984"/>
                </a:lnTo>
                <a:lnTo>
                  <a:pt x="1267968" y="289560"/>
                </a:lnTo>
                <a:lnTo>
                  <a:pt x="1222248" y="304800"/>
                </a:lnTo>
                <a:lnTo>
                  <a:pt x="1173480" y="323088"/>
                </a:lnTo>
                <a:lnTo>
                  <a:pt x="1127760" y="341376"/>
                </a:lnTo>
                <a:lnTo>
                  <a:pt x="1082040" y="362712"/>
                </a:lnTo>
                <a:lnTo>
                  <a:pt x="1039368" y="381000"/>
                </a:lnTo>
                <a:lnTo>
                  <a:pt x="993648" y="402336"/>
                </a:lnTo>
                <a:lnTo>
                  <a:pt x="950976" y="420624"/>
                </a:lnTo>
                <a:lnTo>
                  <a:pt x="908304" y="441960"/>
                </a:lnTo>
                <a:lnTo>
                  <a:pt x="829056" y="484632"/>
                </a:lnTo>
                <a:lnTo>
                  <a:pt x="792480" y="509016"/>
                </a:lnTo>
                <a:lnTo>
                  <a:pt x="752856" y="530352"/>
                </a:lnTo>
                <a:lnTo>
                  <a:pt x="716280" y="554736"/>
                </a:lnTo>
                <a:lnTo>
                  <a:pt x="682752" y="576072"/>
                </a:lnTo>
                <a:lnTo>
                  <a:pt x="609600" y="624840"/>
                </a:lnTo>
                <a:lnTo>
                  <a:pt x="576072" y="649224"/>
                </a:lnTo>
                <a:lnTo>
                  <a:pt x="539496" y="673608"/>
                </a:lnTo>
                <a:lnTo>
                  <a:pt x="505968" y="697992"/>
                </a:lnTo>
                <a:lnTo>
                  <a:pt x="469392" y="725424"/>
                </a:lnTo>
                <a:lnTo>
                  <a:pt x="435864" y="749808"/>
                </a:lnTo>
                <a:lnTo>
                  <a:pt x="335280" y="832104"/>
                </a:lnTo>
                <a:lnTo>
                  <a:pt x="274320" y="886968"/>
                </a:lnTo>
                <a:lnTo>
                  <a:pt x="188976" y="972312"/>
                </a:lnTo>
                <a:lnTo>
                  <a:pt x="140208" y="1030224"/>
                </a:lnTo>
                <a:lnTo>
                  <a:pt x="97536" y="1088136"/>
                </a:lnTo>
                <a:lnTo>
                  <a:pt x="76200" y="1115568"/>
                </a:lnTo>
                <a:lnTo>
                  <a:pt x="60960" y="1143000"/>
                </a:lnTo>
                <a:lnTo>
                  <a:pt x="51816" y="1158240"/>
                </a:lnTo>
                <a:lnTo>
                  <a:pt x="45720" y="1173480"/>
                </a:lnTo>
                <a:lnTo>
                  <a:pt x="39624" y="1185672"/>
                </a:lnTo>
                <a:lnTo>
                  <a:pt x="30480" y="1200912"/>
                </a:lnTo>
                <a:lnTo>
                  <a:pt x="27432" y="1213104"/>
                </a:lnTo>
                <a:lnTo>
                  <a:pt x="15240" y="1243584"/>
                </a:lnTo>
                <a:lnTo>
                  <a:pt x="12192" y="1255776"/>
                </a:lnTo>
                <a:lnTo>
                  <a:pt x="9144" y="1271016"/>
                </a:lnTo>
                <a:lnTo>
                  <a:pt x="6096" y="1283208"/>
                </a:lnTo>
                <a:lnTo>
                  <a:pt x="3048" y="1298448"/>
                </a:lnTo>
                <a:lnTo>
                  <a:pt x="3048" y="1310640"/>
                </a:lnTo>
                <a:lnTo>
                  <a:pt x="0" y="1322832"/>
                </a:lnTo>
                <a:lnTo>
                  <a:pt x="0" y="1350264"/>
                </a:lnTo>
                <a:lnTo>
                  <a:pt x="3048" y="1362456"/>
                </a:lnTo>
                <a:lnTo>
                  <a:pt x="3048" y="1377696"/>
                </a:lnTo>
                <a:lnTo>
                  <a:pt x="12192" y="1414272"/>
                </a:lnTo>
                <a:lnTo>
                  <a:pt x="30480" y="1450848"/>
                </a:lnTo>
                <a:lnTo>
                  <a:pt x="48768" y="1475232"/>
                </a:lnTo>
                <a:lnTo>
                  <a:pt x="57912" y="1490472"/>
                </a:lnTo>
                <a:lnTo>
                  <a:pt x="109728" y="1542288"/>
                </a:lnTo>
                <a:lnTo>
                  <a:pt x="155448" y="1578864"/>
                </a:lnTo>
                <a:lnTo>
                  <a:pt x="173736" y="1594104"/>
                </a:lnTo>
                <a:lnTo>
                  <a:pt x="210312" y="1618488"/>
                </a:lnTo>
                <a:lnTo>
                  <a:pt x="231648" y="1630680"/>
                </a:lnTo>
                <a:lnTo>
                  <a:pt x="249936" y="1645920"/>
                </a:lnTo>
                <a:lnTo>
                  <a:pt x="313944" y="1682496"/>
                </a:lnTo>
                <a:lnTo>
                  <a:pt x="335280" y="1697736"/>
                </a:lnTo>
                <a:lnTo>
                  <a:pt x="384048" y="1722120"/>
                </a:lnTo>
                <a:lnTo>
                  <a:pt x="429768" y="1746504"/>
                </a:lnTo>
                <a:lnTo>
                  <a:pt x="478536" y="1770888"/>
                </a:lnTo>
                <a:lnTo>
                  <a:pt x="527304" y="1798320"/>
                </a:lnTo>
                <a:lnTo>
                  <a:pt x="579120" y="1822704"/>
                </a:lnTo>
                <a:lnTo>
                  <a:pt x="679704" y="1871472"/>
                </a:lnTo>
                <a:lnTo>
                  <a:pt x="874776" y="1956816"/>
                </a:lnTo>
                <a:lnTo>
                  <a:pt x="920496" y="1978152"/>
                </a:lnTo>
                <a:lnTo>
                  <a:pt x="966216" y="1996440"/>
                </a:lnTo>
                <a:lnTo>
                  <a:pt x="1030224" y="2023872"/>
                </a:lnTo>
                <a:lnTo>
                  <a:pt x="1085088" y="2051304"/>
                </a:lnTo>
                <a:lnTo>
                  <a:pt x="1103376" y="2057400"/>
                </a:lnTo>
                <a:lnTo>
                  <a:pt x="1121664" y="2066544"/>
                </a:lnTo>
                <a:lnTo>
                  <a:pt x="1136904" y="2072640"/>
                </a:lnTo>
                <a:lnTo>
                  <a:pt x="1152144" y="2081784"/>
                </a:lnTo>
                <a:lnTo>
                  <a:pt x="1167384" y="2087880"/>
                </a:lnTo>
                <a:lnTo>
                  <a:pt x="1216152" y="2112264"/>
                </a:lnTo>
                <a:lnTo>
                  <a:pt x="1225296" y="2115312"/>
                </a:lnTo>
                <a:lnTo>
                  <a:pt x="1216152" y="2090928"/>
                </a:lnTo>
                <a:lnTo>
                  <a:pt x="1210056" y="2063496"/>
                </a:lnTo>
                <a:lnTo>
                  <a:pt x="1203960" y="2033016"/>
                </a:lnTo>
                <a:lnTo>
                  <a:pt x="1200912" y="2005584"/>
                </a:lnTo>
                <a:lnTo>
                  <a:pt x="1194816" y="1981200"/>
                </a:lnTo>
                <a:lnTo>
                  <a:pt x="1194816" y="1871472"/>
                </a:lnTo>
                <a:lnTo>
                  <a:pt x="1200912" y="1816608"/>
                </a:lnTo>
                <a:lnTo>
                  <a:pt x="1207008" y="1792224"/>
                </a:lnTo>
                <a:lnTo>
                  <a:pt x="1213104" y="1764792"/>
                </a:lnTo>
                <a:lnTo>
                  <a:pt x="1228344" y="1712976"/>
                </a:lnTo>
                <a:lnTo>
                  <a:pt x="1246632" y="1664208"/>
                </a:lnTo>
                <a:lnTo>
                  <a:pt x="1271016" y="1618488"/>
                </a:lnTo>
                <a:lnTo>
                  <a:pt x="1283208" y="1594104"/>
                </a:lnTo>
                <a:lnTo>
                  <a:pt x="1328928" y="1530096"/>
                </a:lnTo>
                <a:lnTo>
                  <a:pt x="1380744" y="1475232"/>
                </a:lnTo>
                <a:lnTo>
                  <a:pt x="1466088" y="1411224"/>
                </a:lnTo>
                <a:lnTo>
                  <a:pt x="1511808" y="1386840"/>
                </a:lnTo>
                <a:lnTo>
                  <a:pt x="2084832" y="1072896"/>
                </a:lnTo>
                <a:lnTo>
                  <a:pt x="2078736" y="1069848"/>
                </a:lnTo>
                <a:lnTo>
                  <a:pt x="2069592" y="1063752"/>
                </a:lnTo>
                <a:lnTo>
                  <a:pt x="2051304" y="1054608"/>
                </a:lnTo>
                <a:lnTo>
                  <a:pt x="2036064" y="1045464"/>
                </a:lnTo>
                <a:lnTo>
                  <a:pt x="2005584" y="1021080"/>
                </a:lnTo>
                <a:lnTo>
                  <a:pt x="1993392" y="1008888"/>
                </a:lnTo>
                <a:lnTo>
                  <a:pt x="1978152" y="996696"/>
                </a:lnTo>
                <a:lnTo>
                  <a:pt x="1965960" y="984504"/>
                </a:lnTo>
                <a:lnTo>
                  <a:pt x="1953768" y="969264"/>
                </a:lnTo>
                <a:lnTo>
                  <a:pt x="1944624" y="954024"/>
                </a:lnTo>
                <a:lnTo>
                  <a:pt x="1932432" y="938784"/>
                </a:lnTo>
                <a:lnTo>
                  <a:pt x="1923288" y="923544"/>
                </a:lnTo>
                <a:lnTo>
                  <a:pt x="1914144" y="905256"/>
                </a:lnTo>
                <a:lnTo>
                  <a:pt x="1905000" y="890016"/>
                </a:lnTo>
                <a:lnTo>
                  <a:pt x="1892808" y="853440"/>
                </a:lnTo>
                <a:lnTo>
                  <a:pt x="1886712" y="847344"/>
                </a:lnTo>
                <a:lnTo>
                  <a:pt x="1886712" y="838200"/>
                </a:lnTo>
                <a:lnTo>
                  <a:pt x="1874520" y="801624"/>
                </a:lnTo>
                <a:lnTo>
                  <a:pt x="1874520" y="792480"/>
                </a:lnTo>
                <a:lnTo>
                  <a:pt x="1871472" y="783336"/>
                </a:lnTo>
                <a:lnTo>
                  <a:pt x="1871472" y="771144"/>
                </a:lnTo>
                <a:lnTo>
                  <a:pt x="1868424" y="762000"/>
                </a:lnTo>
                <a:lnTo>
                  <a:pt x="1868424" y="752856"/>
                </a:lnTo>
                <a:lnTo>
                  <a:pt x="1865376" y="743712"/>
                </a:lnTo>
                <a:lnTo>
                  <a:pt x="1865376" y="676656"/>
                </a:lnTo>
                <a:lnTo>
                  <a:pt x="1868424" y="667512"/>
                </a:lnTo>
                <a:lnTo>
                  <a:pt x="1868424" y="646176"/>
                </a:lnTo>
                <a:lnTo>
                  <a:pt x="1871472" y="637032"/>
                </a:lnTo>
                <a:lnTo>
                  <a:pt x="1871472" y="627888"/>
                </a:lnTo>
                <a:lnTo>
                  <a:pt x="1877568" y="609600"/>
                </a:lnTo>
                <a:lnTo>
                  <a:pt x="1880616" y="597408"/>
                </a:lnTo>
                <a:lnTo>
                  <a:pt x="1880616" y="588264"/>
                </a:lnTo>
                <a:lnTo>
                  <a:pt x="1889760" y="560832"/>
                </a:lnTo>
                <a:lnTo>
                  <a:pt x="1895856" y="551688"/>
                </a:lnTo>
                <a:lnTo>
                  <a:pt x="1941576" y="481584"/>
                </a:lnTo>
                <a:lnTo>
                  <a:pt x="2039112" y="347472"/>
                </a:lnTo>
                <a:lnTo>
                  <a:pt x="2084832" y="277368"/>
                </a:lnTo>
                <a:lnTo>
                  <a:pt x="2133600" y="210312"/>
                </a:lnTo>
                <a:lnTo>
                  <a:pt x="227076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61944" y="3413760"/>
            <a:ext cx="2270760" cy="2115820"/>
          </a:xfrm>
          <a:custGeom>
            <a:avLst/>
            <a:gdLst/>
            <a:ahLst/>
            <a:cxnLst/>
            <a:rect l="l" t="t" r="r" b="b"/>
            <a:pathLst>
              <a:path w="2270760" h="2115820">
                <a:moveTo>
                  <a:pt x="1225295" y="2115311"/>
                </a:moveTo>
                <a:lnTo>
                  <a:pt x="1216151" y="2090927"/>
                </a:lnTo>
                <a:lnTo>
                  <a:pt x="1210055" y="2063495"/>
                </a:lnTo>
                <a:lnTo>
                  <a:pt x="1203959" y="2033015"/>
                </a:lnTo>
                <a:lnTo>
                  <a:pt x="1200911" y="2005583"/>
                </a:lnTo>
                <a:lnTo>
                  <a:pt x="1194815" y="1981199"/>
                </a:lnTo>
                <a:lnTo>
                  <a:pt x="1194815" y="1953767"/>
                </a:lnTo>
                <a:lnTo>
                  <a:pt x="1194815" y="1926335"/>
                </a:lnTo>
                <a:lnTo>
                  <a:pt x="1194815" y="1898903"/>
                </a:lnTo>
                <a:lnTo>
                  <a:pt x="1194815" y="1871471"/>
                </a:lnTo>
                <a:lnTo>
                  <a:pt x="1197863" y="1844039"/>
                </a:lnTo>
                <a:lnTo>
                  <a:pt x="1200911" y="1816607"/>
                </a:lnTo>
                <a:lnTo>
                  <a:pt x="1207007" y="1792223"/>
                </a:lnTo>
                <a:lnTo>
                  <a:pt x="1213103" y="1764791"/>
                </a:lnTo>
                <a:lnTo>
                  <a:pt x="1219199" y="1740407"/>
                </a:lnTo>
                <a:lnTo>
                  <a:pt x="1228343" y="1712975"/>
                </a:lnTo>
                <a:lnTo>
                  <a:pt x="1237487" y="1688591"/>
                </a:lnTo>
                <a:lnTo>
                  <a:pt x="1246631" y="1664207"/>
                </a:lnTo>
                <a:lnTo>
                  <a:pt x="1258823" y="1639823"/>
                </a:lnTo>
                <a:lnTo>
                  <a:pt x="1271015" y="1618487"/>
                </a:lnTo>
                <a:lnTo>
                  <a:pt x="1283207" y="1594103"/>
                </a:lnTo>
                <a:lnTo>
                  <a:pt x="1298447" y="1572767"/>
                </a:lnTo>
                <a:lnTo>
                  <a:pt x="1313687" y="1551431"/>
                </a:lnTo>
                <a:lnTo>
                  <a:pt x="1328927" y="1530095"/>
                </a:lnTo>
                <a:lnTo>
                  <a:pt x="1344167" y="1511807"/>
                </a:lnTo>
                <a:lnTo>
                  <a:pt x="1362455" y="1493519"/>
                </a:lnTo>
                <a:lnTo>
                  <a:pt x="1380743" y="1475231"/>
                </a:lnTo>
                <a:lnTo>
                  <a:pt x="1402079" y="1456943"/>
                </a:lnTo>
                <a:lnTo>
                  <a:pt x="1423415" y="1441703"/>
                </a:lnTo>
                <a:lnTo>
                  <a:pt x="1444751" y="1426463"/>
                </a:lnTo>
                <a:lnTo>
                  <a:pt x="1466087" y="1411223"/>
                </a:lnTo>
                <a:lnTo>
                  <a:pt x="1487423" y="1399031"/>
                </a:lnTo>
                <a:lnTo>
                  <a:pt x="1511807" y="1386839"/>
                </a:lnTo>
                <a:lnTo>
                  <a:pt x="2084831" y="1072895"/>
                </a:lnTo>
                <a:lnTo>
                  <a:pt x="2078735" y="1069847"/>
                </a:lnTo>
                <a:lnTo>
                  <a:pt x="2069591" y="1063751"/>
                </a:lnTo>
                <a:lnTo>
                  <a:pt x="2051303" y="1054607"/>
                </a:lnTo>
                <a:lnTo>
                  <a:pt x="2036063" y="1045463"/>
                </a:lnTo>
                <a:lnTo>
                  <a:pt x="2020823" y="1033271"/>
                </a:lnTo>
                <a:lnTo>
                  <a:pt x="2005583" y="1021079"/>
                </a:lnTo>
                <a:lnTo>
                  <a:pt x="1993391" y="1008887"/>
                </a:lnTo>
                <a:lnTo>
                  <a:pt x="1978151" y="996695"/>
                </a:lnTo>
                <a:lnTo>
                  <a:pt x="1965959" y="984503"/>
                </a:lnTo>
                <a:lnTo>
                  <a:pt x="1953767" y="969263"/>
                </a:lnTo>
                <a:lnTo>
                  <a:pt x="1944623" y="954023"/>
                </a:lnTo>
                <a:lnTo>
                  <a:pt x="1932431" y="938783"/>
                </a:lnTo>
                <a:lnTo>
                  <a:pt x="1923287" y="923543"/>
                </a:lnTo>
                <a:lnTo>
                  <a:pt x="1914143" y="905255"/>
                </a:lnTo>
                <a:lnTo>
                  <a:pt x="1904999" y="890015"/>
                </a:lnTo>
                <a:lnTo>
                  <a:pt x="1898903" y="871727"/>
                </a:lnTo>
                <a:lnTo>
                  <a:pt x="1895855" y="862583"/>
                </a:lnTo>
                <a:lnTo>
                  <a:pt x="1892807" y="853439"/>
                </a:lnTo>
                <a:lnTo>
                  <a:pt x="1886711" y="847343"/>
                </a:lnTo>
                <a:lnTo>
                  <a:pt x="1886711" y="838199"/>
                </a:lnTo>
                <a:lnTo>
                  <a:pt x="1883663" y="829055"/>
                </a:lnTo>
                <a:lnTo>
                  <a:pt x="1880615" y="819911"/>
                </a:lnTo>
                <a:lnTo>
                  <a:pt x="1877567" y="810767"/>
                </a:lnTo>
                <a:lnTo>
                  <a:pt x="1874519" y="801623"/>
                </a:lnTo>
                <a:lnTo>
                  <a:pt x="1874519" y="792479"/>
                </a:lnTo>
                <a:lnTo>
                  <a:pt x="1871471" y="783335"/>
                </a:lnTo>
                <a:lnTo>
                  <a:pt x="1871471" y="771143"/>
                </a:lnTo>
                <a:lnTo>
                  <a:pt x="1868423" y="761999"/>
                </a:lnTo>
                <a:lnTo>
                  <a:pt x="1868423" y="752855"/>
                </a:lnTo>
                <a:lnTo>
                  <a:pt x="1865375" y="743711"/>
                </a:lnTo>
                <a:lnTo>
                  <a:pt x="1865375" y="734567"/>
                </a:lnTo>
                <a:lnTo>
                  <a:pt x="1865375" y="676655"/>
                </a:lnTo>
                <a:lnTo>
                  <a:pt x="1868423" y="667511"/>
                </a:lnTo>
                <a:lnTo>
                  <a:pt x="1868423" y="655319"/>
                </a:lnTo>
                <a:lnTo>
                  <a:pt x="1868423" y="646175"/>
                </a:lnTo>
                <a:lnTo>
                  <a:pt x="1871471" y="637031"/>
                </a:lnTo>
                <a:lnTo>
                  <a:pt x="1871471" y="627887"/>
                </a:lnTo>
                <a:lnTo>
                  <a:pt x="1874519" y="618743"/>
                </a:lnTo>
                <a:lnTo>
                  <a:pt x="1877567" y="609599"/>
                </a:lnTo>
                <a:lnTo>
                  <a:pt x="1880615" y="597407"/>
                </a:lnTo>
                <a:lnTo>
                  <a:pt x="1880615" y="588263"/>
                </a:lnTo>
                <a:lnTo>
                  <a:pt x="1883663" y="579119"/>
                </a:lnTo>
                <a:lnTo>
                  <a:pt x="1886711" y="569975"/>
                </a:lnTo>
                <a:lnTo>
                  <a:pt x="1889759" y="560831"/>
                </a:lnTo>
                <a:lnTo>
                  <a:pt x="1895855" y="551687"/>
                </a:lnTo>
                <a:lnTo>
                  <a:pt x="1941575" y="481583"/>
                </a:lnTo>
                <a:lnTo>
                  <a:pt x="1990343" y="414527"/>
                </a:lnTo>
                <a:lnTo>
                  <a:pt x="2039111" y="347471"/>
                </a:lnTo>
                <a:lnTo>
                  <a:pt x="2084831" y="277367"/>
                </a:lnTo>
                <a:lnTo>
                  <a:pt x="2133599" y="210311"/>
                </a:lnTo>
                <a:lnTo>
                  <a:pt x="2179319" y="140207"/>
                </a:lnTo>
                <a:lnTo>
                  <a:pt x="2225039" y="70103"/>
                </a:lnTo>
                <a:lnTo>
                  <a:pt x="2270759" y="0"/>
                </a:lnTo>
                <a:lnTo>
                  <a:pt x="2157983" y="27431"/>
                </a:lnTo>
                <a:lnTo>
                  <a:pt x="2048255" y="54863"/>
                </a:lnTo>
                <a:lnTo>
                  <a:pt x="1941575" y="82295"/>
                </a:lnTo>
                <a:lnTo>
                  <a:pt x="1831847" y="112775"/>
                </a:lnTo>
                <a:lnTo>
                  <a:pt x="1725167" y="140207"/>
                </a:lnTo>
                <a:lnTo>
                  <a:pt x="1618487" y="173735"/>
                </a:lnTo>
                <a:lnTo>
                  <a:pt x="1566671" y="188975"/>
                </a:lnTo>
                <a:lnTo>
                  <a:pt x="1517903" y="204215"/>
                </a:lnTo>
                <a:lnTo>
                  <a:pt x="1466087" y="219455"/>
                </a:lnTo>
                <a:lnTo>
                  <a:pt x="1414271" y="237743"/>
                </a:lnTo>
                <a:lnTo>
                  <a:pt x="1365503" y="252983"/>
                </a:lnTo>
                <a:lnTo>
                  <a:pt x="1316735" y="271271"/>
                </a:lnTo>
                <a:lnTo>
                  <a:pt x="1267967" y="289559"/>
                </a:lnTo>
                <a:lnTo>
                  <a:pt x="1222247" y="304799"/>
                </a:lnTo>
                <a:lnTo>
                  <a:pt x="1173479" y="323087"/>
                </a:lnTo>
                <a:lnTo>
                  <a:pt x="1127759" y="341375"/>
                </a:lnTo>
                <a:lnTo>
                  <a:pt x="1082039" y="362711"/>
                </a:lnTo>
                <a:lnTo>
                  <a:pt x="1039367" y="380999"/>
                </a:lnTo>
                <a:lnTo>
                  <a:pt x="993647" y="402335"/>
                </a:lnTo>
                <a:lnTo>
                  <a:pt x="950975" y="420623"/>
                </a:lnTo>
                <a:lnTo>
                  <a:pt x="908303" y="441959"/>
                </a:lnTo>
                <a:lnTo>
                  <a:pt x="868679" y="463295"/>
                </a:lnTo>
                <a:lnTo>
                  <a:pt x="829055" y="484631"/>
                </a:lnTo>
                <a:lnTo>
                  <a:pt x="792479" y="509015"/>
                </a:lnTo>
                <a:lnTo>
                  <a:pt x="752855" y="530351"/>
                </a:lnTo>
                <a:lnTo>
                  <a:pt x="716279" y="554735"/>
                </a:lnTo>
                <a:lnTo>
                  <a:pt x="682751" y="576071"/>
                </a:lnTo>
                <a:lnTo>
                  <a:pt x="646175" y="600455"/>
                </a:lnTo>
                <a:lnTo>
                  <a:pt x="609599" y="624839"/>
                </a:lnTo>
                <a:lnTo>
                  <a:pt x="576071" y="649223"/>
                </a:lnTo>
                <a:lnTo>
                  <a:pt x="539495" y="673607"/>
                </a:lnTo>
                <a:lnTo>
                  <a:pt x="505967" y="697991"/>
                </a:lnTo>
                <a:lnTo>
                  <a:pt x="469391" y="725423"/>
                </a:lnTo>
                <a:lnTo>
                  <a:pt x="435863" y="749807"/>
                </a:lnTo>
                <a:lnTo>
                  <a:pt x="402335" y="777239"/>
                </a:lnTo>
                <a:lnTo>
                  <a:pt x="368807" y="804671"/>
                </a:lnTo>
                <a:lnTo>
                  <a:pt x="335279" y="832103"/>
                </a:lnTo>
                <a:lnTo>
                  <a:pt x="304799" y="859535"/>
                </a:lnTo>
                <a:lnTo>
                  <a:pt x="274319" y="886967"/>
                </a:lnTo>
                <a:lnTo>
                  <a:pt x="246887" y="914399"/>
                </a:lnTo>
                <a:lnTo>
                  <a:pt x="216407" y="944879"/>
                </a:lnTo>
                <a:lnTo>
                  <a:pt x="188975" y="972311"/>
                </a:lnTo>
                <a:lnTo>
                  <a:pt x="140207" y="1030223"/>
                </a:lnTo>
                <a:lnTo>
                  <a:pt x="97535" y="1088135"/>
                </a:lnTo>
                <a:lnTo>
                  <a:pt x="76199" y="1115567"/>
                </a:lnTo>
                <a:lnTo>
                  <a:pt x="60959" y="1142999"/>
                </a:lnTo>
                <a:lnTo>
                  <a:pt x="51815" y="1158239"/>
                </a:lnTo>
                <a:lnTo>
                  <a:pt x="45719" y="1173479"/>
                </a:lnTo>
                <a:lnTo>
                  <a:pt x="39623" y="1185671"/>
                </a:lnTo>
                <a:lnTo>
                  <a:pt x="30479" y="1200911"/>
                </a:lnTo>
                <a:lnTo>
                  <a:pt x="27431" y="1213103"/>
                </a:lnTo>
                <a:lnTo>
                  <a:pt x="21335" y="1228343"/>
                </a:lnTo>
                <a:lnTo>
                  <a:pt x="15239" y="1243583"/>
                </a:lnTo>
                <a:lnTo>
                  <a:pt x="12191" y="1255775"/>
                </a:lnTo>
                <a:lnTo>
                  <a:pt x="9143" y="1271015"/>
                </a:lnTo>
                <a:lnTo>
                  <a:pt x="6095" y="1283207"/>
                </a:lnTo>
                <a:lnTo>
                  <a:pt x="3047" y="1298447"/>
                </a:lnTo>
                <a:lnTo>
                  <a:pt x="3047" y="1310639"/>
                </a:lnTo>
                <a:lnTo>
                  <a:pt x="0" y="1322831"/>
                </a:lnTo>
                <a:lnTo>
                  <a:pt x="0" y="1338071"/>
                </a:lnTo>
                <a:lnTo>
                  <a:pt x="0" y="1350263"/>
                </a:lnTo>
                <a:lnTo>
                  <a:pt x="3047" y="1362455"/>
                </a:lnTo>
                <a:lnTo>
                  <a:pt x="3047" y="1377695"/>
                </a:lnTo>
                <a:lnTo>
                  <a:pt x="6095" y="1389887"/>
                </a:lnTo>
                <a:lnTo>
                  <a:pt x="9143" y="1402079"/>
                </a:lnTo>
                <a:lnTo>
                  <a:pt x="12191" y="1414271"/>
                </a:lnTo>
                <a:lnTo>
                  <a:pt x="18287" y="1426463"/>
                </a:lnTo>
                <a:lnTo>
                  <a:pt x="24383" y="1438655"/>
                </a:lnTo>
                <a:lnTo>
                  <a:pt x="30479" y="1450847"/>
                </a:lnTo>
                <a:lnTo>
                  <a:pt x="39623" y="1463039"/>
                </a:lnTo>
                <a:lnTo>
                  <a:pt x="48767" y="1475231"/>
                </a:lnTo>
                <a:lnTo>
                  <a:pt x="57911" y="1490471"/>
                </a:lnTo>
                <a:lnTo>
                  <a:pt x="70103" y="1502663"/>
                </a:lnTo>
                <a:lnTo>
                  <a:pt x="82295" y="1514855"/>
                </a:lnTo>
                <a:lnTo>
                  <a:pt x="94487" y="1527047"/>
                </a:lnTo>
                <a:lnTo>
                  <a:pt x="109727" y="1542287"/>
                </a:lnTo>
                <a:lnTo>
                  <a:pt x="124967" y="1554479"/>
                </a:lnTo>
                <a:lnTo>
                  <a:pt x="140207" y="1566671"/>
                </a:lnTo>
                <a:lnTo>
                  <a:pt x="155447" y="1578863"/>
                </a:lnTo>
                <a:lnTo>
                  <a:pt x="173735" y="1594103"/>
                </a:lnTo>
                <a:lnTo>
                  <a:pt x="192023" y="1606295"/>
                </a:lnTo>
                <a:lnTo>
                  <a:pt x="210311" y="1618487"/>
                </a:lnTo>
                <a:lnTo>
                  <a:pt x="231647" y="1630679"/>
                </a:lnTo>
                <a:lnTo>
                  <a:pt x="249935" y="1645919"/>
                </a:lnTo>
                <a:lnTo>
                  <a:pt x="271271" y="1658111"/>
                </a:lnTo>
                <a:lnTo>
                  <a:pt x="292607" y="1670303"/>
                </a:lnTo>
                <a:lnTo>
                  <a:pt x="313943" y="1682495"/>
                </a:lnTo>
                <a:lnTo>
                  <a:pt x="335279" y="1697735"/>
                </a:lnTo>
                <a:lnTo>
                  <a:pt x="384047" y="1722119"/>
                </a:lnTo>
                <a:lnTo>
                  <a:pt x="429767" y="1746503"/>
                </a:lnTo>
                <a:lnTo>
                  <a:pt x="478535" y="1770887"/>
                </a:lnTo>
                <a:lnTo>
                  <a:pt x="527303" y="1798319"/>
                </a:lnTo>
                <a:lnTo>
                  <a:pt x="579119" y="1822703"/>
                </a:lnTo>
                <a:lnTo>
                  <a:pt x="679703" y="1871471"/>
                </a:lnTo>
                <a:lnTo>
                  <a:pt x="728471" y="1892807"/>
                </a:lnTo>
                <a:lnTo>
                  <a:pt x="777239" y="1914143"/>
                </a:lnTo>
                <a:lnTo>
                  <a:pt x="826007" y="1935479"/>
                </a:lnTo>
                <a:lnTo>
                  <a:pt x="874775" y="1956815"/>
                </a:lnTo>
                <a:lnTo>
                  <a:pt x="920495" y="1978151"/>
                </a:lnTo>
                <a:lnTo>
                  <a:pt x="966215" y="1996439"/>
                </a:lnTo>
                <a:lnTo>
                  <a:pt x="987551" y="2005583"/>
                </a:lnTo>
                <a:lnTo>
                  <a:pt x="1008887" y="2014727"/>
                </a:lnTo>
                <a:lnTo>
                  <a:pt x="1030223" y="2023871"/>
                </a:lnTo>
                <a:lnTo>
                  <a:pt x="1048511" y="2033015"/>
                </a:lnTo>
                <a:lnTo>
                  <a:pt x="1066799" y="2042159"/>
                </a:lnTo>
                <a:lnTo>
                  <a:pt x="1085087" y="2051303"/>
                </a:lnTo>
                <a:lnTo>
                  <a:pt x="1103375" y="2057399"/>
                </a:lnTo>
                <a:lnTo>
                  <a:pt x="1121663" y="2066543"/>
                </a:lnTo>
                <a:lnTo>
                  <a:pt x="1136903" y="2072639"/>
                </a:lnTo>
                <a:lnTo>
                  <a:pt x="1152143" y="2081783"/>
                </a:lnTo>
                <a:lnTo>
                  <a:pt x="1167383" y="2087879"/>
                </a:lnTo>
                <a:lnTo>
                  <a:pt x="1179575" y="2093975"/>
                </a:lnTo>
                <a:lnTo>
                  <a:pt x="1191767" y="2100071"/>
                </a:lnTo>
                <a:lnTo>
                  <a:pt x="1203959" y="2106167"/>
                </a:lnTo>
                <a:lnTo>
                  <a:pt x="1216151" y="2112263"/>
                </a:lnTo>
                <a:lnTo>
                  <a:pt x="1225295" y="2115311"/>
                </a:lnTo>
              </a:path>
            </a:pathLst>
          </a:custGeom>
          <a:ln w="2133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43655" y="3413760"/>
            <a:ext cx="2270760" cy="2146300"/>
          </a:xfrm>
          <a:custGeom>
            <a:avLst/>
            <a:gdLst/>
            <a:ahLst/>
            <a:cxnLst/>
            <a:rect l="l" t="t" r="r" b="b"/>
            <a:pathLst>
              <a:path w="2270760" h="2146300">
                <a:moveTo>
                  <a:pt x="2270759" y="0"/>
                </a:moveTo>
                <a:lnTo>
                  <a:pt x="2157983" y="30479"/>
                </a:lnTo>
                <a:lnTo>
                  <a:pt x="2048255" y="60959"/>
                </a:lnTo>
                <a:lnTo>
                  <a:pt x="1941575" y="94487"/>
                </a:lnTo>
                <a:lnTo>
                  <a:pt x="1831847" y="124967"/>
                </a:lnTo>
                <a:lnTo>
                  <a:pt x="1725167" y="158495"/>
                </a:lnTo>
                <a:lnTo>
                  <a:pt x="1621535" y="192023"/>
                </a:lnTo>
                <a:lnTo>
                  <a:pt x="1569719" y="207263"/>
                </a:lnTo>
                <a:lnTo>
                  <a:pt x="1517903" y="225551"/>
                </a:lnTo>
                <a:lnTo>
                  <a:pt x="1466087" y="243839"/>
                </a:lnTo>
                <a:lnTo>
                  <a:pt x="1414271" y="259079"/>
                </a:lnTo>
                <a:lnTo>
                  <a:pt x="1365503" y="277367"/>
                </a:lnTo>
                <a:lnTo>
                  <a:pt x="1316735" y="295655"/>
                </a:lnTo>
                <a:lnTo>
                  <a:pt x="1267967" y="313943"/>
                </a:lnTo>
                <a:lnTo>
                  <a:pt x="1222247" y="332231"/>
                </a:lnTo>
                <a:lnTo>
                  <a:pt x="1173479" y="350519"/>
                </a:lnTo>
                <a:lnTo>
                  <a:pt x="1127759" y="368807"/>
                </a:lnTo>
                <a:lnTo>
                  <a:pt x="1082039" y="387095"/>
                </a:lnTo>
                <a:lnTo>
                  <a:pt x="1039367" y="408431"/>
                </a:lnTo>
                <a:lnTo>
                  <a:pt x="993647" y="426719"/>
                </a:lnTo>
                <a:lnTo>
                  <a:pt x="950975" y="448055"/>
                </a:lnTo>
                <a:lnTo>
                  <a:pt x="911351" y="466343"/>
                </a:lnTo>
                <a:lnTo>
                  <a:pt x="868679" y="487679"/>
                </a:lnTo>
                <a:lnTo>
                  <a:pt x="829055" y="509015"/>
                </a:lnTo>
                <a:lnTo>
                  <a:pt x="789431" y="530351"/>
                </a:lnTo>
                <a:lnTo>
                  <a:pt x="752855" y="554735"/>
                </a:lnTo>
                <a:lnTo>
                  <a:pt x="716279" y="576071"/>
                </a:lnTo>
                <a:lnTo>
                  <a:pt x="682751" y="597407"/>
                </a:lnTo>
                <a:lnTo>
                  <a:pt x="646175" y="621791"/>
                </a:lnTo>
                <a:lnTo>
                  <a:pt x="612647" y="646175"/>
                </a:lnTo>
                <a:lnTo>
                  <a:pt x="576071" y="670559"/>
                </a:lnTo>
                <a:lnTo>
                  <a:pt x="539495" y="694943"/>
                </a:lnTo>
                <a:lnTo>
                  <a:pt x="505967" y="719327"/>
                </a:lnTo>
                <a:lnTo>
                  <a:pt x="469391" y="746759"/>
                </a:lnTo>
                <a:lnTo>
                  <a:pt x="435863" y="771143"/>
                </a:lnTo>
                <a:lnTo>
                  <a:pt x="402335" y="798575"/>
                </a:lnTo>
                <a:lnTo>
                  <a:pt x="368807" y="826007"/>
                </a:lnTo>
                <a:lnTo>
                  <a:pt x="338327" y="853439"/>
                </a:lnTo>
                <a:lnTo>
                  <a:pt x="304799" y="880871"/>
                </a:lnTo>
                <a:lnTo>
                  <a:pt x="274319" y="908303"/>
                </a:lnTo>
                <a:lnTo>
                  <a:pt x="246887" y="935735"/>
                </a:lnTo>
                <a:lnTo>
                  <a:pt x="216407" y="966215"/>
                </a:lnTo>
                <a:lnTo>
                  <a:pt x="192023" y="993647"/>
                </a:lnTo>
                <a:lnTo>
                  <a:pt x="164591" y="1021079"/>
                </a:lnTo>
                <a:lnTo>
                  <a:pt x="140207" y="1051559"/>
                </a:lnTo>
                <a:lnTo>
                  <a:pt x="118871" y="1078991"/>
                </a:lnTo>
                <a:lnTo>
                  <a:pt x="97535" y="1106423"/>
                </a:lnTo>
                <a:lnTo>
                  <a:pt x="79247" y="1136903"/>
                </a:lnTo>
                <a:lnTo>
                  <a:pt x="60959" y="1164335"/>
                </a:lnTo>
                <a:lnTo>
                  <a:pt x="51815" y="1179575"/>
                </a:lnTo>
                <a:lnTo>
                  <a:pt x="45719" y="1194815"/>
                </a:lnTo>
                <a:lnTo>
                  <a:pt x="39623" y="1207007"/>
                </a:lnTo>
                <a:lnTo>
                  <a:pt x="33527" y="1222247"/>
                </a:lnTo>
                <a:lnTo>
                  <a:pt x="27431" y="1234439"/>
                </a:lnTo>
                <a:lnTo>
                  <a:pt x="21335" y="1249679"/>
                </a:lnTo>
                <a:lnTo>
                  <a:pt x="15239" y="1264919"/>
                </a:lnTo>
                <a:lnTo>
                  <a:pt x="12191" y="1277111"/>
                </a:lnTo>
                <a:lnTo>
                  <a:pt x="9143" y="1292351"/>
                </a:lnTo>
                <a:lnTo>
                  <a:pt x="6095" y="1304543"/>
                </a:lnTo>
                <a:lnTo>
                  <a:pt x="3047" y="1316735"/>
                </a:lnTo>
                <a:lnTo>
                  <a:pt x="3047" y="1331975"/>
                </a:lnTo>
                <a:lnTo>
                  <a:pt x="0" y="1344167"/>
                </a:lnTo>
                <a:lnTo>
                  <a:pt x="0" y="1359407"/>
                </a:lnTo>
                <a:lnTo>
                  <a:pt x="0" y="1371599"/>
                </a:lnTo>
                <a:lnTo>
                  <a:pt x="3047" y="1383791"/>
                </a:lnTo>
                <a:lnTo>
                  <a:pt x="3047" y="1395983"/>
                </a:lnTo>
                <a:lnTo>
                  <a:pt x="6095" y="1411223"/>
                </a:lnTo>
                <a:lnTo>
                  <a:pt x="9143" y="1423415"/>
                </a:lnTo>
                <a:lnTo>
                  <a:pt x="15239" y="1435607"/>
                </a:lnTo>
                <a:lnTo>
                  <a:pt x="18287" y="1447799"/>
                </a:lnTo>
                <a:lnTo>
                  <a:pt x="24383" y="1459991"/>
                </a:lnTo>
                <a:lnTo>
                  <a:pt x="30479" y="1472183"/>
                </a:lnTo>
                <a:lnTo>
                  <a:pt x="39623" y="1484375"/>
                </a:lnTo>
                <a:lnTo>
                  <a:pt x="48767" y="1496567"/>
                </a:lnTo>
                <a:lnTo>
                  <a:pt x="57911" y="1508759"/>
                </a:lnTo>
                <a:lnTo>
                  <a:pt x="70103" y="1523999"/>
                </a:lnTo>
                <a:lnTo>
                  <a:pt x="82295" y="1536191"/>
                </a:lnTo>
                <a:lnTo>
                  <a:pt x="94487" y="1548383"/>
                </a:lnTo>
                <a:lnTo>
                  <a:pt x="109727" y="1560575"/>
                </a:lnTo>
                <a:lnTo>
                  <a:pt x="124967" y="1575815"/>
                </a:lnTo>
                <a:lnTo>
                  <a:pt x="140207" y="1588007"/>
                </a:lnTo>
                <a:lnTo>
                  <a:pt x="155447" y="1600199"/>
                </a:lnTo>
                <a:lnTo>
                  <a:pt x="173735" y="1612391"/>
                </a:lnTo>
                <a:lnTo>
                  <a:pt x="192023" y="1627631"/>
                </a:lnTo>
                <a:lnTo>
                  <a:pt x="210311" y="1639823"/>
                </a:lnTo>
                <a:lnTo>
                  <a:pt x="231647" y="1652015"/>
                </a:lnTo>
                <a:lnTo>
                  <a:pt x="249935" y="1664207"/>
                </a:lnTo>
                <a:lnTo>
                  <a:pt x="271271" y="1679447"/>
                </a:lnTo>
                <a:lnTo>
                  <a:pt x="292607" y="1691639"/>
                </a:lnTo>
                <a:lnTo>
                  <a:pt x="313943" y="1703831"/>
                </a:lnTo>
                <a:lnTo>
                  <a:pt x="338327" y="1716023"/>
                </a:lnTo>
                <a:lnTo>
                  <a:pt x="384047" y="1743455"/>
                </a:lnTo>
                <a:lnTo>
                  <a:pt x="429767" y="1767839"/>
                </a:lnTo>
                <a:lnTo>
                  <a:pt x="478535" y="1795271"/>
                </a:lnTo>
                <a:lnTo>
                  <a:pt x="530351" y="1819655"/>
                </a:lnTo>
                <a:lnTo>
                  <a:pt x="579119" y="1844039"/>
                </a:lnTo>
                <a:lnTo>
                  <a:pt x="679703" y="1892807"/>
                </a:lnTo>
                <a:lnTo>
                  <a:pt x="731519" y="1914143"/>
                </a:lnTo>
                <a:lnTo>
                  <a:pt x="780287" y="1938527"/>
                </a:lnTo>
                <a:lnTo>
                  <a:pt x="832103" y="1959863"/>
                </a:lnTo>
                <a:lnTo>
                  <a:pt x="877823" y="1981199"/>
                </a:lnTo>
                <a:lnTo>
                  <a:pt x="926591" y="2002535"/>
                </a:lnTo>
                <a:lnTo>
                  <a:pt x="969263" y="2020823"/>
                </a:lnTo>
                <a:lnTo>
                  <a:pt x="993647" y="2029967"/>
                </a:lnTo>
                <a:lnTo>
                  <a:pt x="1014983" y="2039111"/>
                </a:lnTo>
                <a:lnTo>
                  <a:pt x="1036319" y="2048255"/>
                </a:lnTo>
                <a:lnTo>
                  <a:pt x="1054607" y="2057399"/>
                </a:lnTo>
                <a:lnTo>
                  <a:pt x="1075943" y="2066543"/>
                </a:lnTo>
                <a:lnTo>
                  <a:pt x="1094231" y="2075687"/>
                </a:lnTo>
                <a:lnTo>
                  <a:pt x="1112519" y="2084831"/>
                </a:lnTo>
                <a:lnTo>
                  <a:pt x="1127759" y="2090927"/>
                </a:lnTo>
                <a:lnTo>
                  <a:pt x="1146047" y="2100071"/>
                </a:lnTo>
                <a:lnTo>
                  <a:pt x="1161287" y="2106167"/>
                </a:lnTo>
                <a:lnTo>
                  <a:pt x="1176527" y="2115311"/>
                </a:lnTo>
                <a:lnTo>
                  <a:pt x="1188719" y="2121407"/>
                </a:lnTo>
                <a:lnTo>
                  <a:pt x="1203959" y="2127503"/>
                </a:lnTo>
                <a:lnTo>
                  <a:pt x="1216151" y="2133599"/>
                </a:lnTo>
                <a:lnTo>
                  <a:pt x="1228343" y="2139695"/>
                </a:lnTo>
                <a:lnTo>
                  <a:pt x="1237487" y="2145791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48255" y="2837688"/>
            <a:ext cx="0" cy="3279775"/>
          </a:xfrm>
          <a:custGeom>
            <a:avLst/>
            <a:gdLst/>
            <a:ahLst/>
            <a:cxnLst/>
            <a:rect l="l" t="t" r="r" b="b"/>
            <a:pathLst>
              <a:path w="0" h="3279775">
                <a:moveTo>
                  <a:pt x="0" y="3279647"/>
                </a:moveTo>
                <a:lnTo>
                  <a:pt x="0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81200" y="270967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70104" y="0"/>
                </a:moveTo>
                <a:lnTo>
                  <a:pt x="0" y="137160"/>
                </a:lnTo>
                <a:lnTo>
                  <a:pt x="137160" y="137160"/>
                </a:lnTo>
                <a:lnTo>
                  <a:pt x="70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48255" y="61173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 h="0">
                <a:moveTo>
                  <a:pt x="0" y="0"/>
                </a:moveTo>
                <a:lnTo>
                  <a:pt x="4389119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31280" y="605028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0"/>
                </a:moveTo>
                <a:lnTo>
                  <a:pt x="0" y="137160"/>
                </a:lnTo>
                <a:lnTo>
                  <a:pt x="137160" y="670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140" y="639572"/>
            <a:ext cx="257683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70"/>
              <a:t>C</a:t>
            </a:r>
            <a:r>
              <a:rPr dirty="0" spc="-865"/>
              <a:t>A</a:t>
            </a:r>
            <a:r>
              <a:rPr dirty="0" spc="-490"/>
              <a:t>P</a:t>
            </a:r>
            <a:r>
              <a:rPr dirty="0" spc="-1955"/>
              <a:t>M</a:t>
            </a:r>
            <a:r>
              <a:rPr dirty="0" spc="5"/>
              <a:t>的导出</a:t>
            </a:r>
          </a:p>
        </p:txBody>
      </p:sp>
      <p:sp>
        <p:nvSpPr>
          <p:cNvPr id="3" name="object 3"/>
          <p:cNvSpPr/>
          <p:nvPr/>
        </p:nvSpPr>
        <p:spPr>
          <a:xfrm>
            <a:off x="822960" y="2127504"/>
            <a:ext cx="7705725" cy="4538980"/>
          </a:xfrm>
          <a:custGeom>
            <a:avLst/>
            <a:gdLst/>
            <a:ahLst/>
            <a:cxnLst/>
            <a:rect l="l" t="t" r="r" b="b"/>
            <a:pathLst>
              <a:path w="7705725" h="4538980">
                <a:moveTo>
                  <a:pt x="0" y="0"/>
                </a:moveTo>
                <a:lnTo>
                  <a:pt x="0" y="4538472"/>
                </a:lnTo>
                <a:lnTo>
                  <a:pt x="7705344" y="4538472"/>
                </a:lnTo>
                <a:lnTo>
                  <a:pt x="7705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22959" y="2127504"/>
            <a:ext cx="7705725" cy="4538980"/>
          </a:xfrm>
          <a:custGeom>
            <a:avLst/>
            <a:gdLst/>
            <a:ahLst/>
            <a:cxnLst/>
            <a:rect l="l" t="t" r="r" b="b"/>
            <a:pathLst>
              <a:path w="7705725" h="4538980">
                <a:moveTo>
                  <a:pt x="0" y="0"/>
                </a:moveTo>
                <a:lnTo>
                  <a:pt x="0" y="4538471"/>
                </a:lnTo>
                <a:lnTo>
                  <a:pt x="7705343" y="4538471"/>
                </a:lnTo>
                <a:lnTo>
                  <a:pt x="770534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04032" y="3249168"/>
            <a:ext cx="2676525" cy="2286000"/>
          </a:xfrm>
          <a:custGeom>
            <a:avLst/>
            <a:gdLst/>
            <a:ahLst/>
            <a:cxnLst/>
            <a:rect l="l" t="t" r="r" b="b"/>
            <a:pathLst>
              <a:path w="2676525" h="2286000">
                <a:moveTo>
                  <a:pt x="2676144" y="0"/>
                </a:moveTo>
                <a:lnTo>
                  <a:pt x="2161032" y="121920"/>
                </a:lnTo>
                <a:lnTo>
                  <a:pt x="1911096" y="188976"/>
                </a:lnTo>
                <a:lnTo>
                  <a:pt x="1850136" y="204216"/>
                </a:lnTo>
                <a:lnTo>
                  <a:pt x="1789176" y="222504"/>
                </a:lnTo>
                <a:lnTo>
                  <a:pt x="1731264" y="237744"/>
                </a:lnTo>
                <a:lnTo>
                  <a:pt x="1670304" y="256032"/>
                </a:lnTo>
                <a:lnTo>
                  <a:pt x="1612392" y="274320"/>
                </a:lnTo>
                <a:lnTo>
                  <a:pt x="1554480" y="295656"/>
                </a:lnTo>
                <a:lnTo>
                  <a:pt x="1496568" y="313944"/>
                </a:lnTo>
                <a:lnTo>
                  <a:pt x="1386840" y="350520"/>
                </a:lnTo>
                <a:lnTo>
                  <a:pt x="1328928" y="371856"/>
                </a:lnTo>
                <a:lnTo>
                  <a:pt x="1121664" y="457200"/>
                </a:lnTo>
                <a:lnTo>
                  <a:pt x="1072896" y="478536"/>
                </a:lnTo>
                <a:lnTo>
                  <a:pt x="1024128" y="502920"/>
                </a:lnTo>
                <a:lnTo>
                  <a:pt x="978408" y="527304"/>
                </a:lnTo>
                <a:lnTo>
                  <a:pt x="932688" y="548640"/>
                </a:lnTo>
                <a:lnTo>
                  <a:pt x="890016" y="576072"/>
                </a:lnTo>
                <a:lnTo>
                  <a:pt x="762000" y="649224"/>
                </a:lnTo>
                <a:lnTo>
                  <a:pt x="719328" y="676656"/>
                </a:lnTo>
                <a:lnTo>
                  <a:pt x="679704" y="701040"/>
                </a:lnTo>
                <a:lnTo>
                  <a:pt x="637032" y="728472"/>
                </a:lnTo>
                <a:lnTo>
                  <a:pt x="597408" y="755904"/>
                </a:lnTo>
                <a:lnTo>
                  <a:pt x="554736" y="783336"/>
                </a:lnTo>
                <a:lnTo>
                  <a:pt x="515112" y="810768"/>
                </a:lnTo>
                <a:lnTo>
                  <a:pt x="475488" y="841248"/>
                </a:lnTo>
                <a:lnTo>
                  <a:pt x="435864" y="868680"/>
                </a:lnTo>
                <a:lnTo>
                  <a:pt x="396240" y="899160"/>
                </a:lnTo>
                <a:lnTo>
                  <a:pt x="323088" y="960120"/>
                </a:lnTo>
                <a:lnTo>
                  <a:pt x="256032" y="1021080"/>
                </a:lnTo>
                <a:lnTo>
                  <a:pt x="164592" y="1112520"/>
                </a:lnTo>
                <a:lnTo>
                  <a:pt x="115824" y="1173480"/>
                </a:lnTo>
                <a:lnTo>
                  <a:pt x="91440" y="1207008"/>
                </a:lnTo>
                <a:lnTo>
                  <a:pt x="73152" y="1237488"/>
                </a:lnTo>
                <a:lnTo>
                  <a:pt x="60960" y="1252728"/>
                </a:lnTo>
                <a:lnTo>
                  <a:pt x="54864" y="1267968"/>
                </a:lnTo>
                <a:lnTo>
                  <a:pt x="36576" y="1298448"/>
                </a:lnTo>
                <a:lnTo>
                  <a:pt x="18288" y="1344168"/>
                </a:lnTo>
                <a:lnTo>
                  <a:pt x="15240" y="1356360"/>
                </a:lnTo>
                <a:lnTo>
                  <a:pt x="9144" y="1371600"/>
                </a:lnTo>
                <a:lnTo>
                  <a:pt x="3048" y="1402080"/>
                </a:lnTo>
                <a:lnTo>
                  <a:pt x="3048" y="1429512"/>
                </a:lnTo>
                <a:lnTo>
                  <a:pt x="0" y="1444752"/>
                </a:lnTo>
                <a:lnTo>
                  <a:pt x="3048" y="1459992"/>
                </a:lnTo>
                <a:lnTo>
                  <a:pt x="3048" y="1487424"/>
                </a:lnTo>
                <a:lnTo>
                  <a:pt x="9144" y="1502664"/>
                </a:lnTo>
                <a:lnTo>
                  <a:pt x="12192" y="1514856"/>
                </a:lnTo>
                <a:lnTo>
                  <a:pt x="27432" y="1554480"/>
                </a:lnTo>
                <a:lnTo>
                  <a:pt x="57912" y="1594104"/>
                </a:lnTo>
                <a:lnTo>
                  <a:pt x="70104" y="1609344"/>
                </a:lnTo>
                <a:lnTo>
                  <a:pt x="112776" y="1652016"/>
                </a:lnTo>
                <a:lnTo>
                  <a:pt x="128016" y="1664208"/>
                </a:lnTo>
                <a:lnTo>
                  <a:pt x="146304" y="1679448"/>
                </a:lnTo>
                <a:lnTo>
                  <a:pt x="164592" y="1691640"/>
                </a:lnTo>
                <a:lnTo>
                  <a:pt x="185928" y="1706880"/>
                </a:lnTo>
                <a:lnTo>
                  <a:pt x="204216" y="1722120"/>
                </a:lnTo>
                <a:lnTo>
                  <a:pt x="228600" y="1734312"/>
                </a:lnTo>
                <a:lnTo>
                  <a:pt x="249936" y="1749552"/>
                </a:lnTo>
                <a:lnTo>
                  <a:pt x="271272" y="1761744"/>
                </a:lnTo>
                <a:lnTo>
                  <a:pt x="295656" y="1776984"/>
                </a:lnTo>
                <a:lnTo>
                  <a:pt x="320040" y="1789176"/>
                </a:lnTo>
                <a:lnTo>
                  <a:pt x="344424" y="1804416"/>
                </a:lnTo>
                <a:lnTo>
                  <a:pt x="371856" y="1819656"/>
                </a:lnTo>
                <a:lnTo>
                  <a:pt x="451104" y="1859280"/>
                </a:lnTo>
                <a:lnTo>
                  <a:pt x="509016" y="1886712"/>
                </a:lnTo>
                <a:lnTo>
                  <a:pt x="563880" y="1914144"/>
                </a:lnTo>
                <a:lnTo>
                  <a:pt x="621792" y="1941576"/>
                </a:lnTo>
                <a:lnTo>
                  <a:pt x="682752" y="1969008"/>
                </a:lnTo>
                <a:lnTo>
                  <a:pt x="801624" y="2020824"/>
                </a:lnTo>
                <a:lnTo>
                  <a:pt x="917448" y="2069592"/>
                </a:lnTo>
                <a:lnTo>
                  <a:pt x="975360" y="2090928"/>
                </a:lnTo>
                <a:lnTo>
                  <a:pt x="1033272" y="2115312"/>
                </a:lnTo>
                <a:lnTo>
                  <a:pt x="1088136" y="2136648"/>
                </a:lnTo>
                <a:lnTo>
                  <a:pt x="1139952" y="2157984"/>
                </a:lnTo>
                <a:lnTo>
                  <a:pt x="1164336" y="2167128"/>
                </a:lnTo>
                <a:lnTo>
                  <a:pt x="1188720" y="2179320"/>
                </a:lnTo>
                <a:lnTo>
                  <a:pt x="1213104" y="2185416"/>
                </a:lnTo>
                <a:lnTo>
                  <a:pt x="1237488" y="2197608"/>
                </a:lnTo>
                <a:lnTo>
                  <a:pt x="1280160" y="2215896"/>
                </a:lnTo>
                <a:lnTo>
                  <a:pt x="1301496" y="2221992"/>
                </a:lnTo>
                <a:lnTo>
                  <a:pt x="1322832" y="2231136"/>
                </a:lnTo>
                <a:lnTo>
                  <a:pt x="1341120" y="2240280"/>
                </a:lnTo>
                <a:lnTo>
                  <a:pt x="1359408" y="2246376"/>
                </a:lnTo>
                <a:lnTo>
                  <a:pt x="1377696" y="2255520"/>
                </a:lnTo>
                <a:lnTo>
                  <a:pt x="1408176" y="2267712"/>
                </a:lnTo>
                <a:lnTo>
                  <a:pt x="1420368" y="2273808"/>
                </a:lnTo>
                <a:lnTo>
                  <a:pt x="1435608" y="2279904"/>
                </a:lnTo>
                <a:lnTo>
                  <a:pt x="1444752" y="2286000"/>
                </a:lnTo>
                <a:lnTo>
                  <a:pt x="1435608" y="2258568"/>
                </a:lnTo>
                <a:lnTo>
                  <a:pt x="1426464" y="2228088"/>
                </a:lnTo>
                <a:lnTo>
                  <a:pt x="1420368" y="2197608"/>
                </a:lnTo>
                <a:lnTo>
                  <a:pt x="1417320" y="2167128"/>
                </a:lnTo>
                <a:lnTo>
                  <a:pt x="1411224" y="2139696"/>
                </a:lnTo>
                <a:lnTo>
                  <a:pt x="1411224" y="2109216"/>
                </a:lnTo>
                <a:lnTo>
                  <a:pt x="1408176" y="2078736"/>
                </a:lnTo>
                <a:lnTo>
                  <a:pt x="1408176" y="2051304"/>
                </a:lnTo>
                <a:lnTo>
                  <a:pt x="1411224" y="2020824"/>
                </a:lnTo>
                <a:lnTo>
                  <a:pt x="1414272" y="1993392"/>
                </a:lnTo>
                <a:lnTo>
                  <a:pt x="1417320" y="1962912"/>
                </a:lnTo>
                <a:lnTo>
                  <a:pt x="1429512" y="1908048"/>
                </a:lnTo>
                <a:lnTo>
                  <a:pt x="1438656" y="1880616"/>
                </a:lnTo>
                <a:lnTo>
                  <a:pt x="1447800" y="1850136"/>
                </a:lnTo>
                <a:lnTo>
                  <a:pt x="1459992" y="1825752"/>
                </a:lnTo>
                <a:lnTo>
                  <a:pt x="1472184" y="1798320"/>
                </a:lnTo>
                <a:lnTo>
                  <a:pt x="1484376" y="1773936"/>
                </a:lnTo>
                <a:lnTo>
                  <a:pt x="1514856" y="1722120"/>
                </a:lnTo>
                <a:lnTo>
                  <a:pt x="1548384" y="1676400"/>
                </a:lnTo>
                <a:lnTo>
                  <a:pt x="1609344" y="1612392"/>
                </a:lnTo>
                <a:lnTo>
                  <a:pt x="1630680" y="1594104"/>
                </a:lnTo>
                <a:lnTo>
                  <a:pt x="1655064" y="1572768"/>
                </a:lnTo>
                <a:lnTo>
                  <a:pt x="1676400" y="1557528"/>
                </a:lnTo>
                <a:lnTo>
                  <a:pt x="1703832" y="1539240"/>
                </a:lnTo>
                <a:lnTo>
                  <a:pt x="1728216" y="1524000"/>
                </a:lnTo>
                <a:lnTo>
                  <a:pt x="1755648" y="1511808"/>
                </a:lnTo>
                <a:lnTo>
                  <a:pt x="1783080" y="1496568"/>
                </a:lnTo>
                <a:lnTo>
                  <a:pt x="2459736" y="1158240"/>
                </a:lnTo>
                <a:lnTo>
                  <a:pt x="2450592" y="1155192"/>
                </a:lnTo>
                <a:lnTo>
                  <a:pt x="2441448" y="1149096"/>
                </a:lnTo>
                <a:lnTo>
                  <a:pt x="2420112" y="1139952"/>
                </a:lnTo>
                <a:lnTo>
                  <a:pt x="2383536" y="1115568"/>
                </a:lnTo>
                <a:lnTo>
                  <a:pt x="2368296" y="1103376"/>
                </a:lnTo>
                <a:lnTo>
                  <a:pt x="2350008" y="1091184"/>
                </a:lnTo>
                <a:lnTo>
                  <a:pt x="2334768" y="1075944"/>
                </a:lnTo>
                <a:lnTo>
                  <a:pt x="2319528" y="1063752"/>
                </a:lnTo>
                <a:lnTo>
                  <a:pt x="2307336" y="1048512"/>
                </a:lnTo>
                <a:lnTo>
                  <a:pt x="2279904" y="1014984"/>
                </a:lnTo>
                <a:lnTo>
                  <a:pt x="2258568" y="981456"/>
                </a:lnTo>
                <a:lnTo>
                  <a:pt x="2240280" y="941832"/>
                </a:lnTo>
                <a:lnTo>
                  <a:pt x="2234184" y="932688"/>
                </a:lnTo>
                <a:lnTo>
                  <a:pt x="2221992" y="896112"/>
                </a:lnTo>
                <a:lnTo>
                  <a:pt x="2218944" y="883920"/>
                </a:lnTo>
                <a:lnTo>
                  <a:pt x="2209800" y="856488"/>
                </a:lnTo>
                <a:lnTo>
                  <a:pt x="2206752" y="844296"/>
                </a:lnTo>
                <a:lnTo>
                  <a:pt x="2206752" y="835152"/>
                </a:lnTo>
                <a:lnTo>
                  <a:pt x="2203704" y="826008"/>
                </a:lnTo>
                <a:lnTo>
                  <a:pt x="2203704" y="813816"/>
                </a:lnTo>
                <a:lnTo>
                  <a:pt x="2200656" y="804672"/>
                </a:lnTo>
                <a:lnTo>
                  <a:pt x="2200656" y="731520"/>
                </a:lnTo>
                <a:lnTo>
                  <a:pt x="2203704" y="722376"/>
                </a:lnTo>
                <a:lnTo>
                  <a:pt x="2203704" y="710184"/>
                </a:lnTo>
                <a:lnTo>
                  <a:pt x="2206752" y="701040"/>
                </a:lnTo>
                <a:lnTo>
                  <a:pt x="2206752" y="688848"/>
                </a:lnTo>
                <a:lnTo>
                  <a:pt x="2209800" y="679704"/>
                </a:lnTo>
                <a:lnTo>
                  <a:pt x="2212848" y="667512"/>
                </a:lnTo>
                <a:lnTo>
                  <a:pt x="2212848" y="658368"/>
                </a:lnTo>
                <a:lnTo>
                  <a:pt x="2215896" y="646176"/>
                </a:lnTo>
                <a:lnTo>
                  <a:pt x="2221992" y="627888"/>
                </a:lnTo>
                <a:lnTo>
                  <a:pt x="2228088" y="615696"/>
                </a:lnTo>
                <a:lnTo>
                  <a:pt x="2234184" y="597408"/>
                </a:lnTo>
                <a:lnTo>
                  <a:pt x="2350008" y="451104"/>
                </a:lnTo>
                <a:lnTo>
                  <a:pt x="2404872" y="374904"/>
                </a:lnTo>
                <a:lnTo>
                  <a:pt x="2514600" y="228600"/>
                </a:lnTo>
                <a:lnTo>
                  <a:pt x="2624328" y="76200"/>
                </a:lnTo>
                <a:lnTo>
                  <a:pt x="2676144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04032" y="3249168"/>
            <a:ext cx="2676525" cy="2286000"/>
          </a:xfrm>
          <a:custGeom>
            <a:avLst/>
            <a:gdLst/>
            <a:ahLst/>
            <a:cxnLst/>
            <a:rect l="l" t="t" r="r" b="b"/>
            <a:pathLst>
              <a:path w="2676525" h="2286000">
                <a:moveTo>
                  <a:pt x="1444751" y="2285999"/>
                </a:moveTo>
                <a:lnTo>
                  <a:pt x="1435607" y="2258567"/>
                </a:lnTo>
                <a:lnTo>
                  <a:pt x="1426463" y="2228087"/>
                </a:lnTo>
                <a:lnTo>
                  <a:pt x="1420367" y="2197607"/>
                </a:lnTo>
                <a:lnTo>
                  <a:pt x="1417319" y="2167127"/>
                </a:lnTo>
                <a:lnTo>
                  <a:pt x="1411223" y="2139695"/>
                </a:lnTo>
                <a:lnTo>
                  <a:pt x="1411223" y="2109215"/>
                </a:lnTo>
                <a:lnTo>
                  <a:pt x="1408175" y="2078735"/>
                </a:lnTo>
                <a:lnTo>
                  <a:pt x="1408175" y="2051303"/>
                </a:lnTo>
                <a:lnTo>
                  <a:pt x="1411223" y="2020823"/>
                </a:lnTo>
                <a:lnTo>
                  <a:pt x="1414271" y="1993391"/>
                </a:lnTo>
                <a:lnTo>
                  <a:pt x="1417319" y="1962911"/>
                </a:lnTo>
                <a:lnTo>
                  <a:pt x="1423415" y="1935479"/>
                </a:lnTo>
                <a:lnTo>
                  <a:pt x="1429511" y="1908047"/>
                </a:lnTo>
                <a:lnTo>
                  <a:pt x="1438655" y="1880615"/>
                </a:lnTo>
                <a:lnTo>
                  <a:pt x="1447799" y="1850135"/>
                </a:lnTo>
                <a:lnTo>
                  <a:pt x="1459991" y="1825751"/>
                </a:lnTo>
                <a:lnTo>
                  <a:pt x="1472183" y="1798319"/>
                </a:lnTo>
                <a:lnTo>
                  <a:pt x="1499615" y="1746503"/>
                </a:lnTo>
                <a:lnTo>
                  <a:pt x="1530095" y="1700783"/>
                </a:lnTo>
                <a:lnTo>
                  <a:pt x="1566671" y="1655063"/>
                </a:lnTo>
                <a:lnTo>
                  <a:pt x="1588007" y="1633727"/>
                </a:lnTo>
                <a:lnTo>
                  <a:pt x="1609343" y="1612391"/>
                </a:lnTo>
                <a:lnTo>
                  <a:pt x="1630679" y="1594103"/>
                </a:lnTo>
                <a:lnTo>
                  <a:pt x="1655063" y="1572767"/>
                </a:lnTo>
                <a:lnTo>
                  <a:pt x="1676399" y="1557527"/>
                </a:lnTo>
                <a:lnTo>
                  <a:pt x="1703831" y="1539239"/>
                </a:lnTo>
                <a:lnTo>
                  <a:pt x="1728215" y="1523999"/>
                </a:lnTo>
                <a:lnTo>
                  <a:pt x="1755647" y="1511807"/>
                </a:lnTo>
                <a:lnTo>
                  <a:pt x="1783079" y="1496567"/>
                </a:lnTo>
                <a:lnTo>
                  <a:pt x="2459735" y="1158239"/>
                </a:lnTo>
                <a:lnTo>
                  <a:pt x="2450591" y="1155191"/>
                </a:lnTo>
                <a:lnTo>
                  <a:pt x="2441447" y="1149095"/>
                </a:lnTo>
                <a:lnTo>
                  <a:pt x="2420111" y="1139951"/>
                </a:lnTo>
                <a:lnTo>
                  <a:pt x="2401823" y="1127759"/>
                </a:lnTo>
                <a:lnTo>
                  <a:pt x="2383535" y="1115567"/>
                </a:lnTo>
                <a:lnTo>
                  <a:pt x="2368295" y="1103375"/>
                </a:lnTo>
                <a:lnTo>
                  <a:pt x="2350007" y="1091183"/>
                </a:lnTo>
                <a:lnTo>
                  <a:pt x="2334767" y="1075943"/>
                </a:lnTo>
                <a:lnTo>
                  <a:pt x="2319527" y="1063751"/>
                </a:lnTo>
                <a:lnTo>
                  <a:pt x="2307335" y="1048511"/>
                </a:lnTo>
                <a:lnTo>
                  <a:pt x="2292095" y="1030223"/>
                </a:lnTo>
                <a:lnTo>
                  <a:pt x="2267711" y="996695"/>
                </a:lnTo>
                <a:lnTo>
                  <a:pt x="2249423" y="963167"/>
                </a:lnTo>
                <a:lnTo>
                  <a:pt x="2240279" y="941831"/>
                </a:lnTo>
                <a:lnTo>
                  <a:pt x="2234183" y="932687"/>
                </a:lnTo>
                <a:lnTo>
                  <a:pt x="2231135" y="923543"/>
                </a:lnTo>
                <a:lnTo>
                  <a:pt x="2228087" y="914399"/>
                </a:lnTo>
                <a:lnTo>
                  <a:pt x="2225039" y="905255"/>
                </a:lnTo>
                <a:lnTo>
                  <a:pt x="2221991" y="896111"/>
                </a:lnTo>
                <a:lnTo>
                  <a:pt x="2218943" y="883919"/>
                </a:lnTo>
                <a:lnTo>
                  <a:pt x="2215895" y="874775"/>
                </a:lnTo>
                <a:lnTo>
                  <a:pt x="2212847" y="865631"/>
                </a:lnTo>
                <a:lnTo>
                  <a:pt x="2209799" y="856487"/>
                </a:lnTo>
                <a:lnTo>
                  <a:pt x="2206751" y="844295"/>
                </a:lnTo>
                <a:lnTo>
                  <a:pt x="2206751" y="835151"/>
                </a:lnTo>
                <a:lnTo>
                  <a:pt x="2203703" y="826007"/>
                </a:lnTo>
                <a:lnTo>
                  <a:pt x="2203703" y="813815"/>
                </a:lnTo>
                <a:lnTo>
                  <a:pt x="2200655" y="804671"/>
                </a:lnTo>
                <a:lnTo>
                  <a:pt x="2200655" y="795527"/>
                </a:lnTo>
                <a:lnTo>
                  <a:pt x="2200655" y="783335"/>
                </a:lnTo>
                <a:lnTo>
                  <a:pt x="2200655" y="731519"/>
                </a:lnTo>
                <a:lnTo>
                  <a:pt x="2203703" y="722375"/>
                </a:lnTo>
                <a:lnTo>
                  <a:pt x="2203703" y="710183"/>
                </a:lnTo>
                <a:lnTo>
                  <a:pt x="2206751" y="701039"/>
                </a:lnTo>
                <a:lnTo>
                  <a:pt x="2206751" y="688847"/>
                </a:lnTo>
                <a:lnTo>
                  <a:pt x="2209799" y="679703"/>
                </a:lnTo>
                <a:lnTo>
                  <a:pt x="2212847" y="667511"/>
                </a:lnTo>
                <a:lnTo>
                  <a:pt x="2212847" y="658367"/>
                </a:lnTo>
                <a:lnTo>
                  <a:pt x="2215895" y="646175"/>
                </a:lnTo>
                <a:lnTo>
                  <a:pt x="2218943" y="637031"/>
                </a:lnTo>
                <a:lnTo>
                  <a:pt x="2221991" y="627887"/>
                </a:lnTo>
                <a:lnTo>
                  <a:pt x="2228087" y="615695"/>
                </a:lnTo>
                <a:lnTo>
                  <a:pt x="2231135" y="606551"/>
                </a:lnTo>
                <a:lnTo>
                  <a:pt x="2234183" y="597407"/>
                </a:lnTo>
                <a:lnTo>
                  <a:pt x="2292095" y="524255"/>
                </a:lnTo>
                <a:lnTo>
                  <a:pt x="2350007" y="451103"/>
                </a:lnTo>
                <a:lnTo>
                  <a:pt x="2404871" y="374903"/>
                </a:lnTo>
                <a:lnTo>
                  <a:pt x="2459735" y="301751"/>
                </a:lnTo>
                <a:lnTo>
                  <a:pt x="2514599" y="228599"/>
                </a:lnTo>
                <a:lnTo>
                  <a:pt x="2569463" y="152399"/>
                </a:lnTo>
                <a:lnTo>
                  <a:pt x="2624327" y="76199"/>
                </a:lnTo>
                <a:lnTo>
                  <a:pt x="2676143" y="0"/>
                </a:lnTo>
                <a:lnTo>
                  <a:pt x="2548127" y="30479"/>
                </a:lnTo>
                <a:lnTo>
                  <a:pt x="2417063" y="60959"/>
                </a:lnTo>
                <a:lnTo>
                  <a:pt x="2289047" y="91439"/>
                </a:lnTo>
                <a:lnTo>
                  <a:pt x="2161031" y="121919"/>
                </a:lnTo>
                <a:lnTo>
                  <a:pt x="2036063" y="155447"/>
                </a:lnTo>
                <a:lnTo>
                  <a:pt x="1911095" y="188975"/>
                </a:lnTo>
                <a:lnTo>
                  <a:pt x="1850135" y="204215"/>
                </a:lnTo>
                <a:lnTo>
                  <a:pt x="1789175" y="222503"/>
                </a:lnTo>
                <a:lnTo>
                  <a:pt x="1731263" y="237743"/>
                </a:lnTo>
                <a:lnTo>
                  <a:pt x="1670303" y="256031"/>
                </a:lnTo>
                <a:lnTo>
                  <a:pt x="1612391" y="274319"/>
                </a:lnTo>
                <a:lnTo>
                  <a:pt x="1554479" y="295655"/>
                </a:lnTo>
                <a:lnTo>
                  <a:pt x="1496567" y="313943"/>
                </a:lnTo>
                <a:lnTo>
                  <a:pt x="1441703" y="332231"/>
                </a:lnTo>
                <a:lnTo>
                  <a:pt x="1386839" y="350519"/>
                </a:lnTo>
                <a:lnTo>
                  <a:pt x="1328927" y="371855"/>
                </a:lnTo>
                <a:lnTo>
                  <a:pt x="1277111" y="393191"/>
                </a:lnTo>
                <a:lnTo>
                  <a:pt x="1225295" y="414527"/>
                </a:lnTo>
                <a:lnTo>
                  <a:pt x="1173479" y="435863"/>
                </a:lnTo>
                <a:lnTo>
                  <a:pt x="1121663" y="457199"/>
                </a:lnTo>
                <a:lnTo>
                  <a:pt x="1072895" y="478535"/>
                </a:lnTo>
                <a:lnTo>
                  <a:pt x="1024127" y="502919"/>
                </a:lnTo>
                <a:lnTo>
                  <a:pt x="978407" y="527303"/>
                </a:lnTo>
                <a:lnTo>
                  <a:pt x="932687" y="548639"/>
                </a:lnTo>
                <a:lnTo>
                  <a:pt x="890015" y="576071"/>
                </a:lnTo>
                <a:lnTo>
                  <a:pt x="847343" y="600455"/>
                </a:lnTo>
                <a:lnTo>
                  <a:pt x="804671" y="624839"/>
                </a:lnTo>
                <a:lnTo>
                  <a:pt x="761999" y="649223"/>
                </a:lnTo>
                <a:lnTo>
                  <a:pt x="719327" y="676655"/>
                </a:lnTo>
                <a:lnTo>
                  <a:pt x="679703" y="701039"/>
                </a:lnTo>
                <a:lnTo>
                  <a:pt x="637031" y="728471"/>
                </a:lnTo>
                <a:lnTo>
                  <a:pt x="597407" y="755903"/>
                </a:lnTo>
                <a:lnTo>
                  <a:pt x="554735" y="783335"/>
                </a:lnTo>
                <a:lnTo>
                  <a:pt x="515111" y="810767"/>
                </a:lnTo>
                <a:lnTo>
                  <a:pt x="475487" y="841247"/>
                </a:lnTo>
                <a:lnTo>
                  <a:pt x="435863" y="868679"/>
                </a:lnTo>
                <a:lnTo>
                  <a:pt x="396239" y="899159"/>
                </a:lnTo>
                <a:lnTo>
                  <a:pt x="359663" y="929639"/>
                </a:lnTo>
                <a:lnTo>
                  <a:pt x="323087" y="960119"/>
                </a:lnTo>
                <a:lnTo>
                  <a:pt x="289559" y="990599"/>
                </a:lnTo>
                <a:lnTo>
                  <a:pt x="256031" y="1021079"/>
                </a:lnTo>
                <a:lnTo>
                  <a:pt x="225551" y="1051559"/>
                </a:lnTo>
                <a:lnTo>
                  <a:pt x="195071" y="1082039"/>
                </a:lnTo>
                <a:lnTo>
                  <a:pt x="164591" y="1112519"/>
                </a:lnTo>
                <a:lnTo>
                  <a:pt x="140207" y="1142999"/>
                </a:lnTo>
                <a:lnTo>
                  <a:pt x="115823" y="1173479"/>
                </a:lnTo>
                <a:lnTo>
                  <a:pt x="91439" y="1207007"/>
                </a:lnTo>
                <a:lnTo>
                  <a:pt x="73151" y="1237487"/>
                </a:lnTo>
                <a:lnTo>
                  <a:pt x="60959" y="1252727"/>
                </a:lnTo>
                <a:lnTo>
                  <a:pt x="54863" y="1267967"/>
                </a:lnTo>
                <a:lnTo>
                  <a:pt x="45719" y="1283207"/>
                </a:lnTo>
                <a:lnTo>
                  <a:pt x="36575" y="1298447"/>
                </a:lnTo>
                <a:lnTo>
                  <a:pt x="30479" y="1313687"/>
                </a:lnTo>
                <a:lnTo>
                  <a:pt x="24383" y="1328927"/>
                </a:lnTo>
                <a:lnTo>
                  <a:pt x="18287" y="1344167"/>
                </a:lnTo>
                <a:lnTo>
                  <a:pt x="15239" y="1356359"/>
                </a:lnTo>
                <a:lnTo>
                  <a:pt x="9143" y="1371599"/>
                </a:lnTo>
                <a:lnTo>
                  <a:pt x="6095" y="1386839"/>
                </a:lnTo>
                <a:lnTo>
                  <a:pt x="3047" y="1402079"/>
                </a:lnTo>
                <a:lnTo>
                  <a:pt x="3047" y="1417319"/>
                </a:lnTo>
                <a:lnTo>
                  <a:pt x="3047" y="1429511"/>
                </a:lnTo>
                <a:lnTo>
                  <a:pt x="0" y="1444751"/>
                </a:lnTo>
                <a:lnTo>
                  <a:pt x="3047" y="1459991"/>
                </a:lnTo>
                <a:lnTo>
                  <a:pt x="3047" y="1475231"/>
                </a:lnTo>
                <a:lnTo>
                  <a:pt x="3047" y="1487423"/>
                </a:lnTo>
                <a:lnTo>
                  <a:pt x="9143" y="1502663"/>
                </a:lnTo>
                <a:lnTo>
                  <a:pt x="12191" y="1514855"/>
                </a:lnTo>
                <a:lnTo>
                  <a:pt x="15239" y="1530095"/>
                </a:lnTo>
                <a:lnTo>
                  <a:pt x="21335" y="1542287"/>
                </a:lnTo>
                <a:lnTo>
                  <a:pt x="27431" y="1554479"/>
                </a:lnTo>
                <a:lnTo>
                  <a:pt x="36575" y="1569719"/>
                </a:lnTo>
                <a:lnTo>
                  <a:pt x="45719" y="1581911"/>
                </a:lnTo>
                <a:lnTo>
                  <a:pt x="57911" y="1594103"/>
                </a:lnTo>
                <a:lnTo>
                  <a:pt x="70103" y="1609343"/>
                </a:lnTo>
                <a:lnTo>
                  <a:pt x="82295" y="1621535"/>
                </a:lnTo>
                <a:lnTo>
                  <a:pt x="97535" y="1636775"/>
                </a:lnTo>
                <a:lnTo>
                  <a:pt x="112775" y="1652015"/>
                </a:lnTo>
                <a:lnTo>
                  <a:pt x="128015" y="1664207"/>
                </a:lnTo>
                <a:lnTo>
                  <a:pt x="146303" y="1679447"/>
                </a:lnTo>
                <a:lnTo>
                  <a:pt x="164591" y="1691639"/>
                </a:lnTo>
                <a:lnTo>
                  <a:pt x="185927" y="1706879"/>
                </a:lnTo>
                <a:lnTo>
                  <a:pt x="204215" y="1722119"/>
                </a:lnTo>
                <a:lnTo>
                  <a:pt x="228599" y="1734311"/>
                </a:lnTo>
                <a:lnTo>
                  <a:pt x="249935" y="1749551"/>
                </a:lnTo>
                <a:lnTo>
                  <a:pt x="271271" y="1761743"/>
                </a:lnTo>
                <a:lnTo>
                  <a:pt x="295655" y="1776983"/>
                </a:lnTo>
                <a:lnTo>
                  <a:pt x="320039" y="1789175"/>
                </a:lnTo>
                <a:lnTo>
                  <a:pt x="344423" y="1804415"/>
                </a:lnTo>
                <a:lnTo>
                  <a:pt x="371855" y="1819655"/>
                </a:lnTo>
                <a:lnTo>
                  <a:pt x="396239" y="1831847"/>
                </a:lnTo>
                <a:lnTo>
                  <a:pt x="451103" y="1859279"/>
                </a:lnTo>
                <a:lnTo>
                  <a:pt x="509015" y="1886711"/>
                </a:lnTo>
                <a:lnTo>
                  <a:pt x="563879" y="1914143"/>
                </a:lnTo>
                <a:lnTo>
                  <a:pt x="621791" y="1941575"/>
                </a:lnTo>
                <a:lnTo>
                  <a:pt x="682751" y="1969007"/>
                </a:lnTo>
                <a:lnTo>
                  <a:pt x="801623" y="2020823"/>
                </a:lnTo>
                <a:lnTo>
                  <a:pt x="859535" y="2045207"/>
                </a:lnTo>
                <a:lnTo>
                  <a:pt x="917447" y="2069591"/>
                </a:lnTo>
                <a:lnTo>
                  <a:pt x="975359" y="2090927"/>
                </a:lnTo>
                <a:lnTo>
                  <a:pt x="1033271" y="2115311"/>
                </a:lnTo>
                <a:lnTo>
                  <a:pt x="1088135" y="2136647"/>
                </a:lnTo>
                <a:lnTo>
                  <a:pt x="1139951" y="2157983"/>
                </a:lnTo>
                <a:lnTo>
                  <a:pt x="1164335" y="2167127"/>
                </a:lnTo>
                <a:lnTo>
                  <a:pt x="1188719" y="2179319"/>
                </a:lnTo>
                <a:lnTo>
                  <a:pt x="1213103" y="2185415"/>
                </a:lnTo>
                <a:lnTo>
                  <a:pt x="1237487" y="2197607"/>
                </a:lnTo>
                <a:lnTo>
                  <a:pt x="1258823" y="2206751"/>
                </a:lnTo>
                <a:lnTo>
                  <a:pt x="1280159" y="2215895"/>
                </a:lnTo>
                <a:lnTo>
                  <a:pt x="1301495" y="2221991"/>
                </a:lnTo>
                <a:lnTo>
                  <a:pt x="1322831" y="2231135"/>
                </a:lnTo>
                <a:lnTo>
                  <a:pt x="1341119" y="2240279"/>
                </a:lnTo>
                <a:lnTo>
                  <a:pt x="1359407" y="2246375"/>
                </a:lnTo>
                <a:lnTo>
                  <a:pt x="1377695" y="2255519"/>
                </a:lnTo>
                <a:lnTo>
                  <a:pt x="1392935" y="2261615"/>
                </a:lnTo>
                <a:lnTo>
                  <a:pt x="1408175" y="2267711"/>
                </a:lnTo>
                <a:lnTo>
                  <a:pt x="1420367" y="2273807"/>
                </a:lnTo>
                <a:lnTo>
                  <a:pt x="1435607" y="2279903"/>
                </a:lnTo>
                <a:lnTo>
                  <a:pt x="1444751" y="2285999"/>
                </a:lnTo>
              </a:path>
            </a:pathLst>
          </a:custGeom>
          <a:ln w="24383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82695" y="3249168"/>
            <a:ext cx="2679700" cy="2316480"/>
          </a:xfrm>
          <a:custGeom>
            <a:avLst/>
            <a:gdLst/>
            <a:ahLst/>
            <a:cxnLst/>
            <a:rect l="l" t="t" r="r" b="b"/>
            <a:pathLst>
              <a:path w="2679700" h="2316479">
                <a:moveTo>
                  <a:pt x="2679191" y="0"/>
                </a:moveTo>
                <a:lnTo>
                  <a:pt x="2548127" y="36575"/>
                </a:lnTo>
                <a:lnTo>
                  <a:pt x="2417063" y="70103"/>
                </a:lnTo>
                <a:lnTo>
                  <a:pt x="2289047" y="103631"/>
                </a:lnTo>
                <a:lnTo>
                  <a:pt x="2161031" y="137159"/>
                </a:lnTo>
                <a:lnTo>
                  <a:pt x="2036063" y="173735"/>
                </a:lnTo>
                <a:lnTo>
                  <a:pt x="1911095" y="207263"/>
                </a:lnTo>
                <a:lnTo>
                  <a:pt x="1850135" y="225551"/>
                </a:lnTo>
                <a:lnTo>
                  <a:pt x="1789175" y="243839"/>
                </a:lnTo>
                <a:lnTo>
                  <a:pt x="1728215" y="262127"/>
                </a:lnTo>
                <a:lnTo>
                  <a:pt x="1670303" y="280415"/>
                </a:lnTo>
                <a:lnTo>
                  <a:pt x="1612391" y="301751"/>
                </a:lnTo>
                <a:lnTo>
                  <a:pt x="1554479" y="320039"/>
                </a:lnTo>
                <a:lnTo>
                  <a:pt x="1496567" y="338327"/>
                </a:lnTo>
                <a:lnTo>
                  <a:pt x="1441703" y="359663"/>
                </a:lnTo>
                <a:lnTo>
                  <a:pt x="1383791" y="377951"/>
                </a:lnTo>
                <a:lnTo>
                  <a:pt x="1331975" y="399287"/>
                </a:lnTo>
                <a:lnTo>
                  <a:pt x="1277111" y="420623"/>
                </a:lnTo>
                <a:lnTo>
                  <a:pt x="1225295" y="441959"/>
                </a:lnTo>
                <a:lnTo>
                  <a:pt x="1173479" y="463295"/>
                </a:lnTo>
                <a:lnTo>
                  <a:pt x="1124711" y="484631"/>
                </a:lnTo>
                <a:lnTo>
                  <a:pt x="1072895" y="505967"/>
                </a:lnTo>
                <a:lnTo>
                  <a:pt x="1027175" y="527303"/>
                </a:lnTo>
                <a:lnTo>
                  <a:pt x="978407" y="551687"/>
                </a:lnTo>
                <a:lnTo>
                  <a:pt x="932687" y="576071"/>
                </a:lnTo>
                <a:lnTo>
                  <a:pt x="890015" y="597407"/>
                </a:lnTo>
                <a:lnTo>
                  <a:pt x="847343" y="621791"/>
                </a:lnTo>
                <a:lnTo>
                  <a:pt x="804671" y="646175"/>
                </a:lnTo>
                <a:lnTo>
                  <a:pt x="761999" y="670559"/>
                </a:lnTo>
                <a:lnTo>
                  <a:pt x="722375" y="697991"/>
                </a:lnTo>
                <a:lnTo>
                  <a:pt x="679703" y="725423"/>
                </a:lnTo>
                <a:lnTo>
                  <a:pt x="637031" y="749807"/>
                </a:lnTo>
                <a:lnTo>
                  <a:pt x="597407" y="777239"/>
                </a:lnTo>
                <a:lnTo>
                  <a:pt x="554735" y="804671"/>
                </a:lnTo>
                <a:lnTo>
                  <a:pt x="515111" y="835151"/>
                </a:lnTo>
                <a:lnTo>
                  <a:pt x="475487" y="862583"/>
                </a:lnTo>
                <a:lnTo>
                  <a:pt x="435863" y="893063"/>
                </a:lnTo>
                <a:lnTo>
                  <a:pt x="399287" y="920495"/>
                </a:lnTo>
                <a:lnTo>
                  <a:pt x="362711" y="950975"/>
                </a:lnTo>
                <a:lnTo>
                  <a:pt x="326135" y="981455"/>
                </a:lnTo>
                <a:lnTo>
                  <a:pt x="289559" y="1011935"/>
                </a:lnTo>
                <a:lnTo>
                  <a:pt x="256031" y="1042415"/>
                </a:lnTo>
                <a:lnTo>
                  <a:pt x="225551" y="1072895"/>
                </a:lnTo>
                <a:lnTo>
                  <a:pt x="195071" y="1103375"/>
                </a:lnTo>
                <a:lnTo>
                  <a:pt x="167639" y="1136903"/>
                </a:lnTo>
                <a:lnTo>
                  <a:pt x="140207" y="1167383"/>
                </a:lnTo>
                <a:lnTo>
                  <a:pt x="115823" y="1197863"/>
                </a:lnTo>
                <a:lnTo>
                  <a:pt x="91439" y="1228343"/>
                </a:lnTo>
                <a:lnTo>
                  <a:pt x="73151" y="1258823"/>
                </a:lnTo>
                <a:lnTo>
                  <a:pt x="64007" y="1274063"/>
                </a:lnTo>
                <a:lnTo>
                  <a:pt x="54863" y="1289303"/>
                </a:lnTo>
                <a:lnTo>
                  <a:pt x="45719" y="1304543"/>
                </a:lnTo>
                <a:lnTo>
                  <a:pt x="39623" y="1319783"/>
                </a:lnTo>
                <a:lnTo>
                  <a:pt x="30479" y="1335023"/>
                </a:lnTo>
                <a:lnTo>
                  <a:pt x="24383" y="1350263"/>
                </a:lnTo>
                <a:lnTo>
                  <a:pt x="18287" y="1365503"/>
                </a:lnTo>
                <a:lnTo>
                  <a:pt x="15239" y="1380743"/>
                </a:lnTo>
                <a:lnTo>
                  <a:pt x="9143" y="1395983"/>
                </a:lnTo>
                <a:lnTo>
                  <a:pt x="9143" y="1411223"/>
                </a:lnTo>
                <a:lnTo>
                  <a:pt x="6095" y="1423415"/>
                </a:lnTo>
                <a:lnTo>
                  <a:pt x="3047" y="1438655"/>
                </a:lnTo>
                <a:lnTo>
                  <a:pt x="0" y="1453895"/>
                </a:lnTo>
                <a:lnTo>
                  <a:pt x="0" y="1469135"/>
                </a:lnTo>
                <a:lnTo>
                  <a:pt x="0" y="1481327"/>
                </a:lnTo>
                <a:lnTo>
                  <a:pt x="3047" y="1496567"/>
                </a:lnTo>
                <a:lnTo>
                  <a:pt x="6095" y="1508759"/>
                </a:lnTo>
                <a:lnTo>
                  <a:pt x="9143" y="1523999"/>
                </a:lnTo>
                <a:lnTo>
                  <a:pt x="12191" y="1539239"/>
                </a:lnTo>
                <a:lnTo>
                  <a:pt x="15239" y="1551431"/>
                </a:lnTo>
                <a:lnTo>
                  <a:pt x="21335" y="1563623"/>
                </a:lnTo>
                <a:lnTo>
                  <a:pt x="27431" y="1578863"/>
                </a:lnTo>
                <a:lnTo>
                  <a:pt x="36575" y="1591055"/>
                </a:lnTo>
                <a:lnTo>
                  <a:pt x="45719" y="1603247"/>
                </a:lnTo>
                <a:lnTo>
                  <a:pt x="57911" y="1618487"/>
                </a:lnTo>
                <a:lnTo>
                  <a:pt x="70103" y="1630679"/>
                </a:lnTo>
                <a:lnTo>
                  <a:pt x="82295" y="1645919"/>
                </a:lnTo>
                <a:lnTo>
                  <a:pt x="97535" y="1658111"/>
                </a:lnTo>
                <a:lnTo>
                  <a:pt x="112775" y="1673351"/>
                </a:lnTo>
                <a:lnTo>
                  <a:pt x="128015" y="1688591"/>
                </a:lnTo>
                <a:lnTo>
                  <a:pt x="146303" y="1700783"/>
                </a:lnTo>
                <a:lnTo>
                  <a:pt x="164591" y="1716023"/>
                </a:lnTo>
                <a:lnTo>
                  <a:pt x="185927" y="1728215"/>
                </a:lnTo>
                <a:lnTo>
                  <a:pt x="207263" y="1743455"/>
                </a:lnTo>
                <a:lnTo>
                  <a:pt x="225551" y="1755647"/>
                </a:lnTo>
                <a:lnTo>
                  <a:pt x="249935" y="1770887"/>
                </a:lnTo>
                <a:lnTo>
                  <a:pt x="274319" y="1786127"/>
                </a:lnTo>
                <a:lnTo>
                  <a:pt x="295655" y="1798319"/>
                </a:lnTo>
                <a:lnTo>
                  <a:pt x="320039" y="1813559"/>
                </a:lnTo>
                <a:lnTo>
                  <a:pt x="344423" y="1825751"/>
                </a:lnTo>
                <a:lnTo>
                  <a:pt x="371855" y="1840991"/>
                </a:lnTo>
                <a:lnTo>
                  <a:pt x="399287" y="1856231"/>
                </a:lnTo>
                <a:lnTo>
                  <a:pt x="451103" y="1883663"/>
                </a:lnTo>
                <a:lnTo>
                  <a:pt x="509015" y="1911095"/>
                </a:lnTo>
                <a:lnTo>
                  <a:pt x="566927" y="1938527"/>
                </a:lnTo>
                <a:lnTo>
                  <a:pt x="624839" y="1965959"/>
                </a:lnTo>
                <a:lnTo>
                  <a:pt x="682751" y="1993391"/>
                </a:lnTo>
                <a:lnTo>
                  <a:pt x="804671" y="2042159"/>
                </a:lnTo>
                <a:lnTo>
                  <a:pt x="862583" y="2069591"/>
                </a:lnTo>
                <a:lnTo>
                  <a:pt x="923543" y="2093975"/>
                </a:lnTo>
                <a:lnTo>
                  <a:pt x="981455" y="2118359"/>
                </a:lnTo>
                <a:lnTo>
                  <a:pt x="1036319" y="2139695"/>
                </a:lnTo>
                <a:lnTo>
                  <a:pt x="1091183" y="2161031"/>
                </a:lnTo>
                <a:lnTo>
                  <a:pt x="1146047" y="2185415"/>
                </a:lnTo>
                <a:lnTo>
                  <a:pt x="1170431" y="2194559"/>
                </a:lnTo>
                <a:lnTo>
                  <a:pt x="1197863" y="2203703"/>
                </a:lnTo>
                <a:lnTo>
                  <a:pt x="1222247" y="2212847"/>
                </a:lnTo>
                <a:lnTo>
                  <a:pt x="1243583" y="2225039"/>
                </a:lnTo>
                <a:lnTo>
                  <a:pt x="1267967" y="2234183"/>
                </a:lnTo>
                <a:lnTo>
                  <a:pt x="1289303" y="2243327"/>
                </a:lnTo>
                <a:lnTo>
                  <a:pt x="1310639" y="2252471"/>
                </a:lnTo>
                <a:lnTo>
                  <a:pt x="1331975" y="2258567"/>
                </a:lnTo>
                <a:lnTo>
                  <a:pt x="1350263" y="2267711"/>
                </a:lnTo>
                <a:lnTo>
                  <a:pt x="1368551" y="2276855"/>
                </a:lnTo>
                <a:lnTo>
                  <a:pt x="1386839" y="2282951"/>
                </a:lnTo>
                <a:lnTo>
                  <a:pt x="1405127" y="2292095"/>
                </a:lnTo>
                <a:lnTo>
                  <a:pt x="1420367" y="2298191"/>
                </a:lnTo>
                <a:lnTo>
                  <a:pt x="1435607" y="2304287"/>
                </a:lnTo>
                <a:lnTo>
                  <a:pt x="1447799" y="2310383"/>
                </a:lnTo>
                <a:lnTo>
                  <a:pt x="1459991" y="2316479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217923" y="3379724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3607" y="3651504"/>
            <a:ext cx="0" cy="2527300"/>
          </a:xfrm>
          <a:custGeom>
            <a:avLst/>
            <a:gdLst/>
            <a:ahLst/>
            <a:cxnLst/>
            <a:rect l="l" t="t" r="r" b="b"/>
            <a:pathLst>
              <a:path w="0" h="2527300">
                <a:moveTo>
                  <a:pt x="0" y="0"/>
                </a:moveTo>
                <a:lnTo>
                  <a:pt x="0" y="2526791"/>
                </a:lnTo>
              </a:path>
            </a:pathLst>
          </a:custGeom>
          <a:ln w="609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56359" y="2822448"/>
            <a:ext cx="0" cy="3362325"/>
          </a:xfrm>
          <a:custGeom>
            <a:avLst/>
            <a:gdLst/>
            <a:ahLst/>
            <a:cxnLst/>
            <a:rect l="l" t="t" r="r" b="b"/>
            <a:pathLst>
              <a:path w="0" h="3362325">
                <a:moveTo>
                  <a:pt x="0" y="3361943"/>
                </a:moveTo>
                <a:lnTo>
                  <a:pt x="0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89304" y="2691384"/>
            <a:ext cx="137160" cy="140335"/>
          </a:xfrm>
          <a:custGeom>
            <a:avLst/>
            <a:gdLst/>
            <a:ahLst/>
            <a:cxnLst/>
            <a:rect l="l" t="t" r="r" b="b"/>
            <a:pathLst>
              <a:path w="137159" h="140335">
                <a:moveTo>
                  <a:pt x="67056" y="0"/>
                </a:moveTo>
                <a:lnTo>
                  <a:pt x="0" y="140208"/>
                </a:lnTo>
                <a:lnTo>
                  <a:pt x="137160" y="140208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56359" y="6184392"/>
            <a:ext cx="6407150" cy="0"/>
          </a:xfrm>
          <a:custGeom>
            <a:avLst/>
            <a:gdLst/>
            <a:ahLst/>
            <a:cxnLst/>
            <a:rect l="l" t="t" r="r" b="b"/>
            <a:pathLst>
              <a:path w="6407150" h="0">
                <a:moveTo>
                  <a:pt x="0" y="0"/>
                </a:moveTo>
                <a:lnTo>
                  <a:pt x="6406895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57160" y="6117336"/>
            <a:ext cx="140335" cy="137160"/>
          </a:xfrm>
          <a:custGeom>
            <a:avLst/>
            <a:gdLst/>
            <a:ahLst/>
            <a:cxnLst/>
            <a:rect l="l" t="t" r="r" b="b"/>
            <a:pathLst>
              <a:path w="140334" h="137160">
                <a:moveTo>
                  <a:pt x="0" y="0"/>
                </a:moveTo>
                <a:lnTo>
                  <a:pt x="0" y="137160"/>
                </a:lnTo>
                <a:lnTo>
                  <a:pt x="140208" y="670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56359" y="2837688"/>
            <a:ext cx="4968240" cy="2231390"/>
          </a:xfrm>
          <a:custGeom>
            <a:avLst/>
            <a:gdLst/>
            <a:ahLst/>
            <a:cxnLst/>
            <a:rect l="l" t="t" r="r" b="b"/>
            <a:pathLst>
              <a:path w="4968240" h="2231390">
                <a:moveTo>
                  <a:pt x="0" y="2231135"/>
                </a:moveTo>
                <a:lnTo>
                  <a:pt x="4968239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59408" y="3657600"/>
            <a:ext cx="3136900" cy="0"/>
          </a:xfrm>
          <a:custGeom>
            <a:avLst/>
            <a:gdLst/>
            <a:ahLst/>
            <a:cxnLst/>
            <a:rect l="l" t="t" r="r" b="b"/>
            <a:pathLst>
              <a:path w="3136900" h="0">
                <a:moveTo>
                  <a:pt x="0" y="0"/>
                </a:moveTo>
                <a:lnTo>
                  <a:pt x="3136391" y="0"/>
                </a:lnTo>
              </a:path>
            </a:pathLst>
          </a:custGeom>
          <a:ln w="609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91732" y="2565908"/>
            <a:ext cx="690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30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0191" y="1592610"/>
            <a:ext cx="2928620" cy="105600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线</a:t>
            </a:r>
            <a:r>
              <a:rPr dirty="0" sz="2800" spc="-76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(CML)</a:t>
            </a:r>
            <a:endParaRPr sz="2800">
              <a:latin typeface="Times New Roman"/>
              <a:cs typeface="Times New Roman"/>
            </a:endParaRPr>
          </a:p>
          <a:p>
            <a:pPr marL="866140">
              <a:lnSpc>
                <a:spcPct val="100000"/>
              </a:lnSpc>
              <a:spcBef>
                <a:spcPts val="284"/>
              </a:spcBef>
            </a:pPr>
            <a:r>
              <a:rPr dirty="0" sz="3550" spc="-130" i="1">
                <a:latin typeface="Times New Roman"/>
                <a:cs typeface="Times New Roman"/>
              </a:rPr>
              <a:t>r</a:t>
            </a:r>
            <a:r>
              <a:rPr dirty="0" baseline="-23255" sz="3225" spc="-195" i="1">
                <a:latin typeface="Times New Roman"/>
                <a:cs typeface="Times New Roman"/>
              </a:rPr>
              <a:t>P</a:t>
            </a:r>
            <a:endParaRPr baseline="-23255" sz="32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5339" y="3297428"/>
            <a:ext cx="444500" cy="570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550" spc="-140" i="1">
                <a:latin typeface="Times New Roman"/>
                <a:cs typeface="Times New Roman"/>
              </a:rPr>
              <a:t>r</a:t>
            </a:r>
            <a:r>
              <a:rPr dirty="0" baseline="-23255" sz="3225" spc="-209" i="1">
                <a:latin typeface="Times New Roman"/>
                <a:cs typeface="Times New Roman"/>
              </a:rPr>
              <a:t>M</a:t>
            </a:r>
            <a:endParaRPr baseline="-23255" sz="322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2875" y="4757420"/>
            <a:ext cx="297815" cy="4864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000" spc="30" i="1">
                <a:latin typeface="Times New Roman"/>
                <a:cs typeface="Times New Roman"/>
              </a:rPr>
              <a:t>r</a:t>
            </a:r>
            <a:r>
              <a:rPr dirty="0" baseline="-22522" sz="2775" spc="44" i="1">
                <a:latin typeface="Times New Roman"/>
                <a:cs typeface="Times New Roman"/>
              </a:rPr>
              <a:t>f</a:t>
            </a:r>
            <a:endParaRPr baseline="-22522" sz="27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31564" y="6195574"/>
            <a:ext cx="490855" cy="439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700" spc="195">
                <a:latin typeface="Symbol"/>
                <a:cs typeface="Symbol"/>
              </a:rPr>
              <a:t></a:t>
            </a:r>
            <a:r>
              <a:rPr dirty="0" sz="2700" spc="-335">
                <a:latin typeface="Times New Roman"/>
                <a:cs typeface="Times New Roman"/>
              </a:rPr>
              <a:t> </a:t>
            </a:r>
            <a:r>
              <a:rPr dirty="0" baseline="-23297" sz="2325" spc="37" i="1">
                <a:latin typeface="Times New Roman"/>
                <a:cs typeface="Times New Roman"/>
              </a:rPr>
              <a:t>M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93964" y="5966974"/>
            <a:ext cx="446405" cy="439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700" spc="195">
                <a:latin typeface="Symbol"/>
                <a:cs typeface="Symbol"/>
              </a:rPr>
              <a:t></a:t>
            </a:r>
            <a:r>
              <a:rPr dirty="0" sz="2700" spc="-335">
                <a:latin typeface="Times New Roman"/>
                <a:cs typeface="Times New Roman"/>
              </a:rPr>
              <a:t> </a:t>
            </a:r>
            <a:r>
              <a:rPr dirty="0" baseline="-23297" sz="2325" spc="30" i="1">
                <a:latin typeface="Times New Roman"/>
                <a:cs typeface="Times New Roman"/>
              </a:rPr>
              <a:t>P</a:t>
            </a:r>
            <a:endParaRPr baseline="-23297" sz="23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140" y="639572"/>
            <a:ext cx="257683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70"/>
              <a:t>C</a:t>
            </a:r>
            <a:r>
              <a:rPr dirty="0" spc="-865"/>
              <a:t>A</a:t>
            </a:r>
            <a:r>
              <a:rPr dirty="0" spc="-490"/>
              <a:t>P</a:t>
            </a:r>
            <a:r>
              <a:rPr dirty="0" spc="-1955"/>
              <a:t>M</a:t>
            </a:r>
            <a:r>
              <a:rPr dirty="0" spc="5"/>
              <a:t>的导出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91"/>
            <a:ext cx="8194040" cy="395732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市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组合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每个投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择持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有的风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都是切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均衡时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切点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必然是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场组合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最优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考虑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不同的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根据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各自的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恶程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度，持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险资产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的不同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效组合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4444" y="609092"/>
            <a:ext cx="30492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0">
                <a:latin typeface="Arial"/>
                <a:cs typeface="Arial"/>
              </a:rPr>
              <a:t>CA</a:t>
            </a:r>
            <a:r>
              <a:rPr dirty="0" spc="-5">
                <a:latin typeface="Arial"/>
                <a:cs typeface="Arial"/>
              </a:rPr>
              <a:t>P</a:t>
            </a:r>
            <a:r>
              <a:rPr dirty="0" spc="-25">
                <a:latin typeface="Arial"/>
                <a:cs typeface="Arial"/>
              </a:rPr>
              <a:t>M</a:t>
            </a:r>
            <a:r>
              <a:rPr dirty="0" spc="5" b="0">
                <a:latin typeface="宋体"/>
                <a:cs typeface="宋体"/>
              </a:rPr>
              <a:t>的导出</a:t>
            </a:r>
          </a:p>
        </p:txBody>
      </p:sp>
      <p:sp>
        <p:nvSpPr>
          <p:cNvPr id="3" name="object 3"/>
          <p:cNvSpPr/>
          <p:nvPr/>
        </p:nvSpPr>
        <p:spPr>
          <a:xfrm>
            <a:off x="752856" y="1840992"/>
            <a:ext cx="7705725" cy="4465320"/>
          </a:xfrm>
          <a:custGeom>
            <a:avLst/>
            <a:gdLst/>
            <a:ahLst/>
            <a:cxnLst/>
            <a:rect l="l" t="t" r="r" b="b"/>
            <a:pathLst>
              <a:path w="7705725" h="4465320">
                <a:moveTo>
                  <a:pt x="0" y="0"/>
                </a:moveTo>
                <a:lnTo>
                  <a:pt x="0" y="4465320"/>
                </a:lnTo>
                <a:lnTo>
                  <a:pt x="7705344" y="4465320"/>
                </a:lnTo>
                <a:lnTo>
                  <a:pt x="7705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2855" y="1840992"/>
            <a:ext cx="7705725" cy="4465320"/>
          </a:xfrm>
          <a:custGeom>
            <a:avLst/>
            <a:gdLst/>
            <a:ahLst/>
            <a:cxnLst/>
            <a:rect l="l" t="t" r="r" b="b"/>
            <a:pathLst>
              <a:path w="7705725" h="4465320">
                <a:moveTo>
                  <a:pt x="0" y="0"/>
                </a:moveTo>
                <a:lnTo>
                  <a:pt x="0" y="4465319"/>
                </a:lnTo>
                <a:lnTo>
                  <a:pt x="7705343" y="4465319"/>
                </a:lnTo>
                <a:lnTo>
                  <a:pt x="770534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90544" y="2813304"/>
            <a:ext cx="2472055" cy="2109470"/>
          </a:xfrm>
          <a:custGeom>
            <a:avLst/>
            <a:gdLst/>
            <a:ahLst/>
            <a:cxnLst/>
            <a:rect l="l" t="t" r="r" b="b"/>
            <a:pathLst>
              <a:path w="2472054" h="2109470">
                <a:moveTo>
                  <a:pt x="2471928" y="0"/>
                </a:moveTo>
                <a:lnTo>
                  <a:pt x="2112264" y="82296"/>
                </a:lnTo>
                <a:lnTo>
                  <a:pt x="1996440" y="112776"/>
                </a:lnTo>
                <a:lnTo>
                  <a:pt x="1877568" y="140208"/>
                </a:lnTo>
                <a:lnTo>
                  <a:pt x="1764792" y="170688"/>
                </a:lnTo>
                <a:lnTo>
                  <a:pt x="1706880" y="188976"/>
                </a:lnTo>
                <a:lnTo>
                  <a:pt x="1542288" y="234696"/>
                </a:lnTo>
                <a:lnTo>
                  <a:pt x="1432560" y="271272"/>
                </a:lnTo>
                <a:lnTo>
                  <a:pt x="1380744" y="286512"/>
                </a:lnTo>
                <a:lnTo>
                  <a:pt x="1277112" y="323088"/>
                </a:lnTo>
                <a:lnTo>
                  <a:pt x="1179576" y="359664"/>
                </a:lnTo>
                <a:lnTo>
                  <a:pt x="1130808" y="381000"/>
                </a:lnTo>
                <a:lnTo>
                  <a:pt x="1082040" y="399288"/>
                </a:lnTo>
                <a:lnTo>
                  <a:pt x="944880" y="463296"/>
                </a:lnTo>
                <a:lnTo>
                  <a:pt x="859536" y="505968"/>
                </a:lnTo>
                <a:lnTo>
                  <a:pt x="819912" y="530352"/>
                </a:lnTo>
                <a:lnTo>
                  <a:pt x="780288" y="551688"/>
                </a:lnTo>
                <a:lnTo>
                  <a:pt x="740664" y="576072"/>
                </a:lnTo>
                <a:lnTo>
                  <a:pt x="704088" y="597408"/>
                </a:lnTo>
                <a:lnTo>
                  <a:pt x="624840" y="646176"/>
                </a:lnTo>
                <a:lnTo>
                  <a:pt x="588264" y="670560"/>
                </a:lnTo>
                <a:lnTo>
                  <a:pt x="548640" y="694944"/>
                </a:lnTo>
                <a:lnTo>
                  <a:pt x="512064" y="722376"/>
                </a:lnTo>
                <a:lnTo>
                  <a:pt x="472440" y="746760"/>
                </a:lnTo>
                <a:lnTo>
                  <a:pt x="435864" y="774192"/>
                </a:lnTo>
                <a:lnTo>
                  <a:pt x="402336" y="801624"/>
                </a:lnTo>
                <a:lnTo>
                  <a:pt x="365760" y="829056"/>
                </a:lnTo>
                <a:lnTo>
                  <a:pt x="265176" y="911352"/>
                </a:lnTo>
                <a:lnTo>
                  <a:pt x="207264" y="969264"/>
                </a:lnTo>
                <a:lnTo>
                  <a:pt x="176784" y="996696"/>
                </a:lnTo>
                <a:lnTo>
                  <a:pt x="152400" y="1027176"/>
                </a:lnTo>
                <a:lnTo>
                  <a:pt x="103632" y="1082040"/>
                </a:lnTo>
                <a:lnTo>
                  <a:pt x="82296" y="1112520"/>
                </a:lnTo>
                <a:lnTo>
                  <a:pt x="64008" y="1139952"/>
                </a:lnTo>
                <a:lnTo>
                  <a:pt x="54864" y="1155192"/>
                </a:lnTo>
                <a:lnTo>
                  <a:pt x="48768" y="1167384"/>
                </a:lnTo>
                <a:lnTo>
                  <a:pt x="39624" y="1182624"/>
                </a:lnTo>
                <a:lnTo>
                  <a:pt x="33528" y="1194816"/>
                </a:lnTo>
                <a:lnTo>
                  <a:pt x="21336" y="1225296"/>
                </a:lnTo>
                <a:lnTo>
                  <a:pt x="15240" y="1237488"/>
                </a:lnTo>
                <a:lnTo>
                  <a:pt x="12192" y="1252728"/>
                </a:lnTo>
                <a:lnTo>
                  <a:pt x="9144" y="1264920"/>
                </a:lnTo>
                <a:lnTo>
                  <a:pt x="6096" y="1280160"/>
                </a:lnTo>
                <a:lnTo>
                  <a:pt x="0" y="1304544"/>
                </a:lnTo>
                <a:lnTo>
                  <a:pt x="0" y="1359408"/>
                </a:lnTo>
                <a:lnTo>
                  <a:pt x="6096" y="1383792"/>
                </a:lnTo>
                <a:lnTo>
                  <a:pt x="9144" y="1399032"/>
                </a:lnTo>
                <a:lnTo>
                  <a:pt x="15240" y="1411224"/>
                </a:lnTo>
                <a:lnTo>
                  <a:pt x="18288" y="1423416"/>
                </a:lnTo>
                <a:lnTo>
                  <a:pt x="24384" y="1435608"/>
                </a:lnTo>
                <a:lnTo>
                  <a:pt x="60960" y="1484376"/>
                </a:lnTo>
                <a:lnTo>
                  <a:pt x="73152" y="1496568"/>
                </a:lnTo>
                <a:lnTo>
                  <a:pt x="88392" y="1508760"/>
                </a:lnTo>
                <a:lnTo>
                  <a:pt x="100584" y="1520952"/>
                </a:lnTo>
                <a:lnTo>
                  <a:pt x="118872" y="1536192"/>
                </a:lnTo>
                <a:lnTo>
                  <a:pt x="134112" y="1548384"/>
                </a:lnTo>
                <a:lnTo>
                  <a:pt x="170688" y="1572768"/>
                </a:lnTo>
                <a:lnTo>
                  <a:pt x="188976" y="1588008"/>
                </a:lnTo>
                <a:lnTo>
                  <a:pt x="207264" y="1600200"/>
                </a:lnTo>
                <a:lnTo>
                  <a:pt x="249936" y="1624584"/>
                </a:lnTo>
                <a:lnTo>
                  <a:pt x="271272" y="1639824"/>
                </a:lnTo>
                <a:lnTo>
                  <a:pt x="295656" y="1652016"/>
                </a:lnTo>
                <a:lnTo>
                  <a:pt x="316992" y="1664208"/>
                </a:lnTo>
                <a:lnTo>
                  <a:pt x="341376" y="1679448"/>
                </a:lnTo>
                <a:lnTo>
                  <a:pt x="414528" y="1716024"/>
                </a:lnTo>
                <a:lnTo>
                  <a:pt x="466344" y="1740408"/>
                </a:lnTo>
                <a:lnTo>
                  <a:pt x="521208" y="1764792"/>
                </a:lnTo>
                <a:lnTo>
                  <a:pt x="573024" y="1792224"/>
                </a:lnTo>
                <a:lnTo>
                  <a:pt x="627888" y="1816608"/>
                </a:lnTo>
                <a:lnTo>
                  <a:pt x="737616" y="1862328"/>
                </a:lnTo>
                <a:lnTo>
                  <a:pt x="792480" y="1886712"/>
                </a:lnTo>
                <a:lnTo>
                  <a:pt x="847344" y="1908048"/>
                </a:lnTo>
                <a:lnTo>
                  <a:pt x="1002792" y="1972056"/>
                </a:lnTo>
                <a:lnTo>
                  <a:pt x="1051560" y="1990344"/>
                </a:lnTo>
                <a:lnTo>
                  <a:pt x="1072896" y="1999488"/>
                </a:lnTo>
                <a:lnTo>
                  <a:pt x="1097280" y="2008632"/>
                </a:lnTo>
                <a:lnTo>
                  <a:pt x="1161288" y="2036064"/>
                </a:lnTo>
                <a:lnTo>
                  <a:pt x="1182624" y="2042160"/>
                </a:lnTo>
                <a:lnTo>
                  <a:pt x="1200912" y="2051304"/>
                </a:lnTo>
                <a:lnTo>
                  <a:pt x="1219200" y="2057400"/>
                </a:lnTo>
                <a:lnTo>
                  <a:pt x="1237488" y="2066544"/>
                </a:lnTo>
                <a:lnTo>
                  <a:pt x="1255776" y="2072640"/>
                </a:lnTo>
                <a:lnTo>
                  <a:pt x="1271016" y="2078736"/>
                </a:lnTo>
                <a:lnTo>
                  <a:pt x="1286256" y="2087880"/>
                </a:lnTo>
                <a:lnTo>
                  <a:pt x="1298448" y="2090928"/>
                </a:lnTo>
                <a:lnTo>
                  <a:pt x="1335024" y="2109216"/>
                </a:lnTo>
                <a:lnTo>
                  <a:pt x="1316736" y="2054352"/>
                </a:lnTo>
                <a:lnTo>
                  <a:pt x="1304544" y="1999488"/>
                </a:lnTo>
                <a:lnTo>
                  <a:pt x="1301496" y="1972056"/>
                </a:lnTo>
                <a:lnTo>
                  <a:pt x="1301496" y="1944624"/>
                </a:lnTo>
                <a:lnTo>
                  <a:pt x="1298448" y="1917192"/>
                </a:lnTo>
                <a:lnTo>
                  <a:pt x="1301496" y="1892808"/>
                </a:lnTo>
                <a:lnTo>
                  <a:pt x="1301496" y="1865376"/>
                </a:lnTo>
                <a:lnTo>
                  <a:pt x="1307592" y="1810512"/>
                </a:lnTo>
                <a:lnTo>
                  <a:pt x="1313688" y="1786128"/>
                </a:lnTo>
                <a:lnTo>
                  <a:pt x="1319784" y="1758696"/>
                </a:lnTo>
                <a:lnTo>
                  <a:pt x="1328928" y="1734312"/>
                </a:lnTo>
                <a:lnTo>
                  <a:pt x="1338072" y="1706880"/>
                </a:lnTo>
                <a:lnTo>
                  <a:pt x="1356360" y="1658112"/>
                </a:lnTo>
                <a:lnTo>
                  <a:pt x="1371600" y="1636776"/>
                </a:lnTo>
                <a:lnTo>
                  <a:pt x="1383792" y="1612392"/>
                </a:lnTo>
                <a:lnTo>
                  <a:pt x="1399032" y="1591056"/>
                </a:lnTo>
                <a:lnTo>
                  <a:pt x="1411224" y="1566672"/>
                </a:lnTo>
                <a:lnTo>
                  <a:pt x="1429512" y="1545336"/>
                </a:lnTo>
                <a:lnTo>
                  <a:pt x="1447800" y="1527048"/>
                </a:lnTo>
                <a:lnTo>
                  <a:pt x="1466088" y="1505712"/>
                </a:lnTo>
                <a:lnTo>
                  <a:pt x="1484376" y="1487424"/>
                </a:lnTo>
                <a:lnTo>
                  <a:pt x="1527048" y="1450848"/>
                </a:lnTo>
                <a:lnTo>
                  <a:pt x="1548384" y="1435608"/>
                </a:lnTo>
                <a:lnTo>
                  <a:pt x="1597152" y="1405128"/>
                </a:lnTo>
                <a:lnTo>
                  <a:pt x="2270760" y="1069848"/>
                </a:lnTo>
                <a:lnTo>
                  <a:pt x="2261616" y="1063752"/>
                </a:lnTo>
                <a:lnTo>
                  <a:pt x="2252472" y="1060704"/>
                </a:lnTo>
                <a:lnTo>
                  <a:pt x="2234184" y="1051560"/>
                </a:lnTo>
                <a:lnTo>
                  <a:pt x="2218944" y="1039368"/>
                </a:lnTo>
                <a:lnTo>
                  <a:pt x="2200656" y="1030224"/>
                </a:lnTo>
                <a:lnTo>
                  <a:pt x="2154936" y="993648"/>
                </a:lnTo>
                <a:lnTo>
                  <a:pt x="2142744" y="978408"/>
                </a:lnTo>
                <a:lnTo>
                  <a:pt x="2127504" y="966216"/>
                </a:lnTo>
                <a:lnTo>
                  <a:pt x="2115312" y="950976"/>
                </a:lnTo>
                <a:lnTo>
                  <a:pt x="2106168" y="935736"/>
                </a:lnTo>
                <a:lnTo>
                  <a:pt x="2093976" y="920496"/>
                </a:lnTo>
                <a:lnTo>
                  <a:pt x="2084832" y="902208"/>
                </a:lnTo>
                <a:lnTo>
                  <a:pt x="2075688" y="886968"/>
                </a:lnTo>
                <a:lnTo>
                  <a:pt x="2066544" y="868680"/>
                </a:lnTo>
                <a:lnTo>
                  <a:pt x="2060448" y="850392"/>
                </a:lnTo>
                <a:lnTo>
                  <a:pt x="2057400" y="844296"/>
                </a:lnTo>
                <a:lnTo>
                  <a:pt x="2051304" y="835152"/>
                </a:lnTo>
                <a:lnTo>
                  <a:pt x="2051304" y="826008"/>
                </a:lnTo>
                <a:lnTo>
                  <a:pt x="2039112" y="789432"/>
                </a:lnTo>
                <a:lnTo>
                  <a:pt x="2039112" y="780288"/>
                </a:lnTo>
                <a:lnTo>
                  <a:pt x="2036064" y="768096"/>
                </a:lnTo>
                <a:lnTo>
                  <a:pt x="2036064" y="758952"/>
                </a:lnTo>
                <a:lnTo>
                  <a:pt x="2033016" y="749808"/>
                </a:lnTo>
                <a:lnTo>
                  <a:pt x="2033016" y="731520"/>
                </a:lnTo>
                <a:lnTo>
                  <a:pt x="2029968" y="722376"/>
                </a:lnTo>
                <a:lnTo>
                  <a:pt x="2029968" y="691896"/>
                </a:lnTo>
                <a:lnTo>
                  <a:pt x="2033016" y="682752"/>
                </a:lnTo>
                <a:lnTo>
                  <a:pt x="2033016" y="655320"/>
                </a:lnTo>
                <a:lnTo>
                  <a:pt x="2036064" y="643128"/>
                </a:lnTo>
                <a:lnTo>
                  <a:pt x="2036064" y="633984"/>
                </a:lnTo>
                <a:lnTo>
                  <a:pt x="2042160" y="615696"/>
                </a:lnTo>
                <a:lnTo>
                  <a:pt x="2042160" y="606552"/>
                </a:lnTo>
                <a:lnTo>
                  <a:pt x="2048256" y="588264"/>
                </a:lnTo>
                <a:lnTo>
                  <a:pt x="2051304" y="576072"/>
                </a:lnTo>
                <a:lnTo>
                  <a:pt x="2057400" y="566928"/>
                </a:lnTo>
                <a:lnTo>
                  <a:pt x="2063496" y="548640"/>
                </a:lnTo>
                <a:lnTo>
                  <a:pt x="2167128" y="414528"/>
                </a:lnTo>
                <a:lnTo>
                  <a:pt x="2218944" y="344424"/>
                </a:lnTo>
                <a:lnTo>
                  <a:pt x="2270760" y="277368"/>
                </a:lnTo>
                <a:lnTo>
                  <a:pt x="2322576" y="207264"/>
                </a:lnTo>
                <a:lnTo>
                  <a:pt x="2371344" y="140208"/>
                </a:lnTo>
                <a:lnTo>
                  <a:pt x="2423160" y="70104"/>
                </a:lnTo>
                <a:lnTo>
                  <a:pt x="2471928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90544" y="2813304"/>
            <a:ext cx="2472055" cy="2109470"/>
          </a:xfrm>
          <a:custGeom>
            <a:avLst/>
            <a:gdLst/>
            <a:ahLst/>
            <a:cxnLst/>
            <a:rect l="l" t="t" r="r" b="b"/>
            <a:pathLst>
              <a:path w="2472054" h="2109470">
                <a:moveTo>
                  <a:pt x="1335023" y="2109215"/>
                </a:moveTo>
                <a:lnTo>
                  <a:pt x="1325879" y="2081783"/>
                </a:lnTo>
                <a:lnTo>
                  <a:pt x="1316735" y="2054351"/>
                </a:lnTo>
                <a:lnTo>
                  <a:pt x="1310639" y="2026919"/>
                </a:lnTo>
                <a:lnTo>
                  <a:pt x="1304543" y="1999487"/>
                </a:lnTo>
                <a:lnTo>
                  <a:pt x="1301495" y="1972055"/>
                </a:lnTo>
                <a:lnTo>
                  <a:pt x="1301495" y="1944623"/>
                </a:lnTo>
                <a:lnTo>
                  <a:pt x="1298447" y="1917191"/>
                </a:lnTo>
                <a:lnTo>
                  <a:pt x="1301495" y="1892807"/>
                </a:lnTo>
                <a:lnTo>
                  <a:pt x="1301495" y="1865375"/>
                </a:lnTo>
                <a:lnTo>
                  <a:pt x="1304543" y="1837943"/>
                </a:lnTo>
                <a:lnTo>
                  <a:pt x="1307591" y="1810511"/>
                </a:lnTo>
                <a:lnTo>
                  <a:pt x="1313687" y="1786127"/>
                </a:lnTo>
                <a:lnTo>
                  <a:pt x="1319783" y="1758695"/>
                </a:lnTo>
                <a:lnTo>
                  <a:pt x="1328927" y="1734311"/>
                </a:lnTo>
                <a:lnTo>
                  <a:pt x="1338071" y="1706879"/>
                </a:lnTo>
                <a:lnTo>
                  <a:pt x="1347215" y="1682495"/>
                </a:lnTo>
                <a:lnTo>
                  <a:pt x="1356359" y="1658111"/>
                </a:lnTo>
                <a:lnTo>
                  <a:pt x="1371599" y="1636775"/>
                </a:lnTo>
                <a:lnTo>
                  <a:pt x="1383791" y="1612391"/>
                </a:lnTo>
                <a:lnTo>
                  <a:pt x="1399031" y="1591055"/>
                </a:lnTo>
                <a:lnTo>
                  <a:pt x="1411223" y="1566671"/>
                </a:lnTo>
                <a:lnTo>
                  <a:pt x="1429511" y="1545335"/>
                </a:lnTo>
                <a:lnTo>
                  <a:pt x="1447799" y="1527047"/>
                </a:lnTo>
                <a:lnTo>
                  <a:pt x="1466087" y="1505711"/>
                </a:lnTo>
                <a:lnTo>
                  <a:pt x="1484375" y="1487423"/>
                </a:lnTo>
                <a:lnTo>
                  <a:pt x="1505711" y="1469135"/>
                </a:lnTo>
                <a:lnTo>
                  <a:pt x="1527047" y="1450847"/>
                </a:lnTo>
                <a:lnTo>
                  <a:pt x="1548383" y="1435607"/>
                </a:lnTo>
                <a:lnTo>
                  <a:pt x="1572767" y="1420367"/>
                </a:lnTo>
                <a:lnTo>
                  <a:pt x="1597151" y="1405127"/>
                </a:lnTo>
                <a:lnTo>
                  <a:pt x="1621535" y="1392935"/>
                </a:lnTo>
                <a:lnTo>
                  <a:pt x="1645919" y="1380743"/>
                </a:lnTo>
                <a:lnTo>
                  <a:pt x="2270759" y="1069847"/>
                </a:lnTo>
                <a:lnTo>
                  <a:pt x="2261615" y="1063751"/>
                </a:lnTo>
                <a:lnTo>
                  <a:pt x="2252471" y="1060703"/>
                </a:lnTo>
                <a:lnTo>
                  <a:pt x="2234183" y="1051559"/>
                </a:lnTo>
                <a:lnTo>
                  <a:pt x="2218943" y="1039367"/>
                </a:lnTo>
                <a:lnTo>
                  <a:pt x="2200655" y="1030223"/>
                </a:lnTo>
                <a:lnTo>
                  <a:pt x="2185415" y="1018031"/>
                </a:lnTo>
                <a:lnTo>
                  <a:pt x="2170175" y="1005839"/>
                </a:lnTo>
                <a:lnTo>
                  <a:pt x="2154935" y="993647"/>
                </a:lnTo>
                <a:lnTo>
                  <a:pt x="2142743" y="978407"/>
                </a:lnTo>
                <a:lnTo>
                  <a:pt x="2127503" y="966215"/>
                </a:lnTo>
                <a:lnTo>
                  <a:pt x="2115311" y="950975"/>
                </a:lnTo>
                <a:lnTo>
                  <a:pt x="2106167" y="935735"/>
                </a:lnTo>
                <a:lnTo>
                  <a:pt x="2093975" y="920495"/>
                </a:lnTo>
                <a:lnTo>
                  <a:pt x="2084831" y="902207"/>
                </a:lnTo>
                <a:lnTo>
                  <a:pt x="2075687" y="886967"/>
                </a:lnTo>
                <a:lnTo>
                  <a:pt x="2066543" y="868679"/>
                </a:lnTo>
                <a:lnTo>
                  <a:pt x="2063495" y="859535"/>
                </a:lnTo>
                <a:lnTo>
                  <a:pt x="2060447" y="850391"/>
                </a:lnTo>
                <a:lnTo>
                  <a:pt x="2057399" y="844295"/>
                </a:lnTo>
                <a:lnTo>
                  <a:pt x="2051303" y="835151"/>
                </a:lnTo>
                <a:lnTo>
                  <a:pt x="2051303" y="826007"/>
                </a:lnTo>
                <a:lnTo>
                  <a:pt x="2048255" y="816863"/>
                </a:lnTo>
                <a:lnTo>
                  <a:pt x="2045207" y="807719"/>
                </a:lnTo>
                <a:lnTo>
                  <a:pt x="2042159" y="798575"/>
                </a:lnTo>
                <a:lnTo>
                  <a:pt x="2039111" y="789431"/>
                </a:lnTo>
                <a:lnTo>
                  <a:pt x="2039111" y="780287"/>
                </a:lnTo>
                <a:lnTo>
                  <a:pt x="2036063" y="768095"/>
                </a:lnTo>
                <a:lnTo>
                  <a:pt x="2036063" y="758951"/>
                </a:lnTo>
                <a:lnTo>
                  <a:pt x="2033015" y="749807"/>
                </a:lnTo>
                <a:lnTo>
                  <a:pt x="2033015" y="740663"/>
                </a:lnTo>
                <a:lnTo>
                  <a:pt x="2033015" y="731519"/>
                </a:lnTo>
                <a:lnTo>
                  <a:pt x="2029967" y="722375"/>
                </a:lnTo>
                <a:lnTo>
                  <a:pt x="2029967" y="713231"/>
                </a:lnTo>
                <a:lnTo>
                  <a:pt x="2029967" y="704087"/>
                </a:lnTo>
                <a:lnTo>
                  <a:pt x="2029967" y="691895"/>
                </a:lnTo>
                <a:lnTo>
                  <a:pt x="2033015" y="682751"/>
                </a:lnTo>
                <a:lnTo>
                  <a:pt x="2033015" y="673607"/>
                </a:lnTo>
                <a:lnTo>
                  <a:pt x="2033015" y="664463"/>
                </a:lnTo>
                <a:lnTo>
                  <a:pt x="2033015" y="655319"/>
                </a:lnTo>
                <a:lnTo>
                  <a:pt x="2036063" y="643127"/>
                </a:lnTo>
                <a:lnTo>
                  <a:pt x="2036063" y="633983"/>
                </a:lnTo>
                <a:lnTo>
                  <a:pt x="2039111" y="624839"/>
                </a:lnTo>
                <a:lnTo>
                  <a:pt x="2042159" y="615695"/>
                </a:lnTo>
                <a:lnTo>
                  <a:pt x="2042159" y="606551"/>
                </a:lnTo>
                <a:lnTo>
                  <a:pt x="2045207" y="597407"/>
                </a:lnTo>
                <a:lnTo>
                  <a:pt x="2048255" y="588263"/>
                </a:lnTo>
                <a:lnTo>
                  <a:pt x="2051303" y="576071"/>
                </a:lnTo>
                <a:lnTo>
                  <a:pt x="2057399" y="566927"/>
                </a:lnTo>
                <a:lnTo>
                  <a:pt x="2060447" y="557783"/>
                </a:lnTo>
                <a:lnTo>
                  <a:pt x="2063495" y="548639"/>
                </a:lnTo>
                <a:lnTo>
                  <a:pt x="2115311" y="481583"/>
                </a:lnTo>
                <a:lnTo>
                  <a:pt x="2167127" y="414527"/>
                </a:lnTo>
                <a:lnTo>
                  <a:pt x="2218943" y="344423"/>
                </a:lnTo>
                <a:lnTo>
                  <a:pt x="2270759" y="277367"/>
                </a:lnTo>
                <a:lnTo>
                  <a:pt x="2322575" y="207263"/>
                </a:lnTo>
                <a:lnTo>
                  <a:pt x="2371343" y="140207"/>
                </a:lnTo>
                <a:lnTo>
                  <a:pt x="2423159" y="70103"/>
                </a:lnTo>
                <a:lnTo>
                  <a:pt x="2471927" y="0"/>
                </a:lnTo>
                <a:lnTo>
                  <a:pt x="2350007" y="27431"/>
                </a:lnTo>
                <a:lnTo>
                  <a:pt x="2231135" y="54863"/>
                </a:lnTo>
                <a:lnTo>
                  <a:pt x="2112263" y="82295"/>
                </a:lnTo>
                <a:lnTo>
                  <a:pt x="1996439" y="112775"/>
                </a:lnTo>
                <a:lnTo>
                  <a:pt x="1877567" y="140207"/>
                </a:lnTo>
                <a:lnTo>
                  <a:pt x="1764791" y="170687"/>
                </a:lnTo>
                <a:lnTo>
                  <a:pt x="1706879" y="188975"/>
                </a:lnTo>
                <a:lnTo>
                  <a:pt x="1652015" y="204215"/>
                </a:lnTo>
                <a:lnTo>
                  <a:pt x="1597151" y="219455"/>
                </a:lnTo>
                <a:lnTo>
                  <a:pt x="1542287" y="234695"/>
                </a:lnTo>
                <a:lnTo>
                  <a:pt x="1487423" y="252983"/>
                </a:lnTo>
                <a:lnTo>
                  <a:pt x="1432559" y="271271"/>
                </a:lnTo>
                <a:lnTo>
                  <a:pt x="1380743" y="286511"/>
                </a:lnTo>
                <a:lnTo>
                  <a:pt x="1328927" y="304799"/>
                </a:lnTo>
                <a:lnTo>
                  <a:pt x="1277111" y="323087"/>
                </a:lnTo>
                <a:lnTo>
                  <a:pt x="1228343" y="341375"/>
                </a:lnTo>
                <a:lnTo>
                  <a:pt x="1179575" y="359663"/>
                </a:lnTo>
                <a:lnTo>
                  <a:pt x="1130807" y="380999"/>
                </a:lnTo>
                <a:lnTo>
                  <a:pt x="1082039" y="399287"/>
                </a:lnTo>
                <a:lnTo>
                  <a:pt x="1036319" y="420623"/>
                </a:lnTo>
                <a:lnTo>
                  <a:pt x="990599" y="441959"/>
                </a:lnTo>
                <a:lnTo>
                  <a:pt x="944879" y="463295"/>
                </a:lnTo>
                <a:lnTo>
                  <a:pt x="902207" y="484631"/>
                </a:lnTo>
                <a:lnTo>
                  <a:pt x="859535" y="505967"/>
                </a:lnTo>
                <a:lnTo>
                  <a:pt x="819911" y="530351"/>
                </a:lnTo>
                <a:lnTo>
                  <a:pt x="780287" y="551687"/>
                </a:lnTo>
                <a:lnTo>
                  <a:pt x="740663" y="576071"/>
                </a:lnTo>
                <a:lnTo>
                  <a:pt x="704087" y="597407"/>
                </a:lnTo>
                <a:lnTo>
                  <a:pt x="664463" y="621791"/>
                </a:lnTo>
                <a:lnTo>
                  <a:pt x="624839" y="646175"/>
                </a:lnTo>
                <a:lnTo>
                  <a:pt x="588263" y="670559"/>
                </a:lnTo>
                <a:lnTo>
                  <a:pt x="548639" y="694943"/>
                </a:lnTo>
                <a:lnTo>
                  <a:pt x="512063" y="722375"/>
                </a:lnTo>
                <a:lnTo>
                  <a:pt x="472439" y="746759"/>
                </a:lnTo>
                <a:lnTo>
                  <a:pt x="435863" y="774191"/>
                </a:lnTo>
                <a:lnTo>
                  <a:pt x="402335" y="801623"/>
                </a:lnTo>
                <a:lnTo>
                  <a:pt x="365759" y="829055"/>
                </a:lnTo>
                <a:lnTo>
                  <a:pt x="332231" y="856487"/>
                </a:lnTo>
                <a:lnTo>
                  <a:pt x="298703" y="883919"/>
                </a:lnTo>
                <a:lnTo>
                  <a:pt x="265175" y="911351"/>
                </a:lnTo>
                <a:lnTo>
                  <a:pt x="234695" y="941831"/>
                </a:lnTo>
                <a:lnTo>
                  <a:pt x="207263" y="969263"/>
                </a:lnTo>
                <a:lnTo>
                  <a:pt x="176783" y="996695"/>
                </a:lnTo>
                <a:lnTo>
                  <a:pt x="152399" y="1027175"/>
                </a:lnTo>
                <a:lnTo>
                  <a:pt x="128015" y="1054607"/>
                </a:lnTo>
                <a:lnTo>
                  <a:pt x="103631" y="1082039"/>
                </a:lnTo>
                <a:lnTo>
                  <a:pt x="82295" y="1112519"/>
                </a:lnTo>
                <a:lnTo>
                  <a:pt x="64007" y="1139951"/>
                </a:lnTo>
                <a:lnTo>
                  <a:pt x="54863" y="1155191"/>
                </a:lnTo>
                <a:lnTo>
                  <a:pt x="48767" y="1167383"/>
                </a:lnTo>
                <a:lnTo>
                  <a:pt x="39623" y="1182623"/>
                </a:lnTo>
                <a:lnTo>
                  <a:pt x="33527" y="1194815"/>
                </a:lnTo>
                <a:lnTo>
                  <a:pt x="27431" y="1210055"/>
                </a:lnTo>
                <a:lnTo>
                  <a:pt x="21335" y="1225295"/>
                </a:lnTo>
                <a:lnTo>
                  <a:pt x="15239" y="1237487"/>
                </a:lnTo>
                <a:lnTo>
                  <a:pt x="12191" y="1252727"/>
                </a:lnTo>
                <a:lnTo>
                  <a:pt x="9143" y="1264919"/>
                </a:lnTo>
                <a:lnTo>
                  <a:pt x="6095" y="1280159"/>
                </a:lnTo>
                <a:lnTo>
                  <a:pt x="3047" y="1292351"/>
                </a:lnTo>
                <a:lnTo>
                  <a:pt x="0" y="1304543"/>
                </a:lnTo>
                <a:lnTo>
                  <a:pt x="0" y="1319783"/>
                </a:lnTo>
                <a:lnTo>
                  <a:pt x="0" y="1331975"/>
                </a:lnTo>
                <a:lnTo>
                  <a:pt x="0" y="1347215"/>
                </a:lnTo>
                <a:lnTo>
                  <a:pt x="0" y="1359407"/>
                </a:lnTo>
                <a:lnTo>
                  <a:pt x="3047" y="1371599"/>
                </a:lnTo>
                <a:lnTo>
                  <a:pt x="6095" y="1383791"/>
                </a:lnTo>
                <a:lnTo>
                  <a:pt x="9143" y="1399031"/>
                </a:lnTo>
                <a:lnTo>
                  <a:pt x="15239" y="1411223"/>
                </a:lnTo>
                <a:lnTo>
                  <a:pt x="18287" y="1423415"/>
                </a:lnTo>
                <a:lnTo>
                  <a:pt x="24383" y="1435607"/>
                </a:lnTo>
                <a:lnTo>
                  <a:pt x="33527" y="1447799"/>
                </a:lnTo>
                <a:lnTo>
                  <a:pt x="42671" y="1459991"/>
                </a:lnTo>
                <a:lnTo>
                  <a:pt x="51815" y="1472183"/>
                </a:lnTo>
                <a:lnTo>
                  <a:pt x="60959" y="1484375"/>
                </a:lnTo>
                <a:lnTo>
                  <a:pt x="73151" y="1496567"/>
                </a:lnTo>
                <a:lnTo>
                  <a:pt x="88391" y="1508759"/>
                </a:lnTo>
                <a:lnTo>
                  <a:pt x="100583" y="1520951"/>
                </a:lnTo>
                <a:lnTo>
                  <a:pt x="118871" y="1536191"/>
                </a:lnTo>
                <a:lnTo>
                  <a:pt x="134111" y="1548383"/>
                </a:lnTo>
                <a:lnTo>
                  <a:pt x="152399" y="1560575"/>
                </a:lnTo>
                <a:lnTo>
                  <a:pt x="170687" y="1572767"/>
                </a:lnTo>
                <a:lnTo>
                  <a:pt x="188975" y="1588007"/>
                </a:lnTo>
                <a:lnTo>
                  <a:pt x="207263" y="1600199"/>
                </a:lnTo>
                <a:lnTo>
                  <a:pt x="228599" y="1612391"/>
                </a:lnTo>
                <a:lnTo>
                  <a:pt x="249935" y="1624583"/>
                </a:lnTo>
                <a:lnTo>
                  <a:pt x="271271" y="1639823"/>
                </a:lnTo>
                <a:lnTo>
                  <a:pt x="295655" y="1652015"/>
                </a:lnTo>
                <a:lnTo>
                  <a:pt x="316991" y="1664207"/>
                </a:lnTo>
                <a:lnTo>
                  <a:pt x="341375" y="1679447"/>
                </a:lnTo>
                <a:lnTo>
                  <a:pt x="365759" y="1691639"/>
                </a:lnTo>
                <a:lnTo>
                  <a:pt x="414527" y="1716023"/>
                </a:lnTo>
                <a:lnTo>
                  <a:pt x="466343" y="1740407"/>
                </a:lnTo>
                <a:lnTo>
                  <a:pt x="521207" y="1764791"/>
                </a:lnTo>
                <a:lnTo>
                  <a:pt x="573023" y="1792223"/>
                </a:lnTo>
                <a:lnTo>
                  <a:pt x="627887" y="1816607"/>
                </a:lnTo>
                <a:lnTo>
                  <a:pt x="737615" y="1862327"/>
                </a:lnTo>
                <a:lnTo>
                  <a:pt x="792479" y="1886711"/>
                </a:lnTo>
                <a:lnTo>
                  <a:pt x="847343" y="1908047"/>
                </a:lnTo>
                <a:lnTo>
                  <a:pt x="899159" y="1929383"/>
                </a:lnTo>
                <a:lnTo>
                  <a:pt x="950975" y="1950719"/>
                </a:lnTo>
                <a:lnTo>
                  <a:pt x="1002791" y="1972055"/>
                </a:lnTo>
                <a:lnTo>
                  <a:pt x="1051559" y="1990343"/>
                </a:lnTo>
                <a:lnTo>
                  <a:pt x="1072895" y="1999487"/>
                </a:lnTo>
                <a:lnTo>
                  <a:pt x="1097279" y="2008631"/>
                </a:lnTo>
                <a:lnTo>
                  <a:pt x="1118615" y="2017775"/>
                </a:lnTo>
                <a:lnTo>
                  <a:pt x="1139951" y="2026919"/>
                </a:lnTo>
                <a:lnTo>
                  <a:pt x="1161287" y="2036063"/>
                </a:lnTo>
                <a:lnTo>
                  <a:pt x="1182623" y="2042159"/>
                </a:lnTo>
                <a:lnTo>
                  <a:pt x="1200911" y="2051303"/>
                </a:lnTo>
                <a:lnTo>
                  <a:pt x="1219199" y="2057399"/>
                </a:lnTo>
                <a:lnTo>
                  <a:pt x="1237487" y="2066543"/>
                </a:lnTo>
                <a:lnTo>
                  <a:pt x="1255775" y="2072639"/>
                </a:lnTo>
                <a:lnTo>
                  <a:pt x="1271015" y="2078735"/>
                </a:lnTo>
                <a:lnTo>
                  <a:pt x="1286255" y="2087879"/>
                </a:lnTo>
                <a:lnTo>
                  <a:pt x="1298447" y="2090927"/>
                </a:lnTo>
                <a:lnTo>
                  <a:pt x="1310639" y="2097023"/>
                </a:lnTo>
                <a:lnTo>
                  <a:pt x="1322831" y="2103119"/>
                </a:lnTo>
                <a:lnTo>
                  <a:pt x="1335023" y="2109215"/>
                </a:lnTo>
              </a:path>
            </a:pathLst>
          </a:custGeom>
          <a:ln w="24383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5588" y="1718564"/>
            <a:ext cx="386080" cy="570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550" spc="-130" i="1">
                <a:latin typeface="Times New Roman"/>
                <a:cs typeface="Times New Roman"/>
              </a:rPr>
              <a:t>r</a:t>
            </a:r>
            <a:r>
              <a:rPr dirty="0" baseline="-23255" sz="3225" spc="-195" i="1">
                <a:latin typeface="Times New Roman"/>
                <a:cs typeface="Times New Roman"/>
              </a:rPr>
              <a:t>P</a:t>
            </a:r>
            <a:endParaRPr baseline="-23255" sz="32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187" y="2937764"/>
            <a:ext cx="444500" cy="570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550" spc="-140" i="1">
                <a:latin typeface="Times New Roman"/>
                <a:cs typeface="Times New Roman"/>
              </a:rPr>
              <a:t>r</a:t>
            </a:r>
            <a:r>
              <a:rPr dirty="0" baseline="-23255" sz="3225" spc="-209" i="1">
                <a:latin typeface="Times New Roman"/>
                <a:cs typeface="Times New Roman"/>
              </a:rPr>
              <a:t>M</a:t>
            </a:r>
            <a:endParaRPr baseline="-23255" sz="32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724" y="4397756"/>
            <a:ext cx="297180" cy="4864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000" spc="25" i="1">
                <a:latin typeface="Times New Roman"/>
                <a:cs typeface="Times New Roman"/>
              </a:rPr>
              <a:t>r</a:t>
            </a:r>
            <a:r>
              <a:rPr dirty="0" baseline="-22522" sz="2775" spc="37" i="1">
                <a:latin typeface="Times New Roman"/>
                <a:cs typeface="Times New Roman"/>
              </a:rPr>
              <a:t>f</a:t>
            </a:r>
            <a:endParaRPr baseline="-22522" sz="27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8411" y="5835910"/>
            <a:ext cx="490855" cy="439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700" spc="195">
                <a:latin typeface="Symbol"/>
                <a:cs typeface="Symbol"/>
              </a:rPr>
              <a:t></a:t>
            </a:r>
            <a:r>
              <a:rPr dirty="0" sz="2700" spc="-335">
                <a:latin typeface="Times New Roman"/>
                <a:cs typeface="Times New Roman"/>
              </a:rPr>
              <a:t> </a:t>
            </a:r>
            <a:r>
              <a:rPr dirty="0" baseline="-23297" sz="2325" spc="37" i="1">
                <a:latin typeface="Times New Roman"/>
                <a:cs typeface="Times New Roman"/>
              </a:rPr>
              <a:t>M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0811" y="5607311"/>
            <a:ext cx="449580" cy="439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700" spc="195">
                <a:latin typeface="Symbol"/>
                <a:cs typeface="Symbol"/>
              </a:rPr>
              <a:t></a:t>
            </a:r>
            <a:r>
              <a:rPr dirty="0" sz="2700" spc="-315">
                <a:latin typeface="Times New Roman"/>
                <a:cs typeface="Times New Roman"/>
              </a:rPr>
              <a:t> </a:t>
            </a:r>
            <a:r>
              <a:rPr dirty="0" baseline="-23297" sz="2325" spc="30" i="1">
                <a:latin typeface="Times New Roman"/>
                <a:cs typeface="Times New Roman"/>
              </a:rPr>
              <a:t>P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7435" y="3172460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2235" y="3897884"/>
            <a:ext cx="2305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8518" sz="3600" spc="-30" i="1">
                <a:latin typeface="Times New Roman"/>
                <a:cs typeface="Times New Roman"/>
              </a:rPr>
              <a:t>I</a:t>
            </a:r>
            <a:r>
              <a:rPr dirty="0" sz="1800" spc="-20">
                <a:latin typeface="Symbol"/>
                <a:cs typeface="Symbol"/>
              </a:rPr>
              <a:t>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3540" y="3044444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65320" y="3325368"/>
            <a:ext cx="0" cy="2588260"/>
          </a:xfrm>
          <a:custGeom>
            <a:avLst/>
            <a:gdLst/>
            <a:ahLst/>
            <a:cxnLst/>
            <a:rect l="l" t="t" r="r" b="b"/>
            <a:pathLst>
              <a:path w="0" h="2588260">
                <a:moveTo>
                  <a:pt x="0" y="0"/>
                </a:moveTo>
                <a:lnTo>
                  <a:pt x="0" y="2587751"/>
                </a:lnTo>
              </a:path>
            </a:pathLst>
          </a:custGeom>
          <a:ln w="609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83208" y="2465832"/>
            <a:ext cx="0" cy="3450590"/>
          </a:xfrm>
          <a:custGeom>
            <a:avLst/>
            <a:gdLst/>
            <a:ahLst/>
            <a:cxnLst/>
            <a:rect l="l" t="t" r="r" b="b"/>
            <a:pathLst>
              <a:path w="0" h="3450590">
                <a:moveTo>
                  <a:pt x="0" y="3450335"/>
                </a:moveTo>
                <a:lnTo>
                  <a:pt x="0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6152" y="2337816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7056" y="0"/>
                </a:moveTo>
                <a:lnTo>
                  <a:pt x="0" y="137160"/>
                </a:lnTo>
                <a:lnTo>
                  <a:pt x="137160" y="13716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83208" y="5916168"/>
            <a:ext cx="6498590" cy="0"/>
          </a:xfrm>
          <a:custGeom>
            <a:avLst/>
            <a:gdLst/>
            <a:ahLst/>
            <a:cxnLst/>
            <a:rect l="l" t="t" r="r" b="b"/>
            <a:pathLst>
              <a:path w="6498590" h="0">
                <a:moveTo>
                  <a:pt x="0" y="0"/>
                </a:moveTo>
                <a:lnTo>
                  <a:pt x="6498335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75447" y="5849112"/>
            <a:ext cx="140335" cy="137160"/>
          </a:xfrm>
          <a:custGeom>
            <a:avLst/>
            <a:gdLst/>
            <a:ahLst/>
            <a:cxnLst/>
            <a:rect l="l" t="t" r="r" b="b"/>
            <a:pathLst>
              <a:path w="140334" h="137160">
                <a:moveTo>
                  <a:pt x="0" y="0"/>
                </a:moveTo>
                <a:lnTo>
                  <a:pt x="0" y="137160"/>
                </a:lnTo>
                <a:lnTo>
                  <a:pt x="140208" y="670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83208" y="2487168"/>
            <a:ext cx="5041900" cy="2286000"/>
          </a:xfrm>
          <a:custGeom>
            <a:avLst/>
            <a:gdLst/>
            <a:ahLst/>
            <a:cxnLst/>
            <a:rect l="l" t="t" r="r" b="b"/>
            <a:pathLst>
              <a:path w="5041900" h="2286000">
                <a:moveTo>
                  <a:pt x="0" y="2285999"/>
                </a:moveTo>
                <a:lnTo>
                  <a:pt x="5041391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92351" y="3325368"/>
            <a:ext cx="3173095" cy="0"/>
          </a:xfrm>
          <a:custGeom>
            <a:avLst/>
            <a:gdLst/>
            <a:ahLst/>
            <a:cxnLst/>
            <a:rect l="l" t="t" r="r" b="b"/>
            <a:pathLst>
              <a:path w="3173095" h="0">
                <a:moveTo>
                  <a:pt x="0" y="0"/>
                </a:moveTo>
                <a:lnTo>
                  <a:pt x="3172967" y="0"/>
                </a:lnTo>
              </a:path>
            </a:pathLst>
          </a:custGeom>
          <a:ln w="609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488684" y="2206244"/>
            <a:ext cx="690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30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86783" y="3116580"/>
            <a:ext cx="1567180" cy="852169"/>
          </a:xfrm>
          <a:custGeom>
            <a:avLst/>
            <a:gdLst/>
            <a:ahLst/>
            <a:cxnLst/>
            <a:rect l="l" t="t" r="r" b="b"/>
            <a:pathLst>
              <a:path w="1567179" h="852170">
                <a:moveTo>
                  <a:pt x="1566671" y="7619"/>
                </a:moveTo>
                <a:lnTo>
                  <a:pt x="1518534" y="3750"/>
                </a:lnTo>
                <a:lnTo>
                  <a:pt x="1470183" y="1238"/>
                </a:lnTo>
                <a:lnTo>
                  <a:pt x="1421689" y="11"/>
                </a:lnTo>
                <a:lnTo>
                  <a:pt x="1373123" y="0"/>
                </a:lnTo>
                <a:lnTo>
                  <a:pt x="1324558" y="1131"/>
                </a:lnTo>
                <a:lnTo>
                  <a:pt x="1276064" y="3333"/>
                </a:lnTo>
                <a:lnTo>
                  <a:pt x="1227712" y="6536"/>
                </a:lnTo>
                <a:lnTo>
                  <a:pt x="1179575" y="10667"/>
                </a:lnTo>
                <a:lnTo>
                  <a:pt x="1122579" y="17563"/>
                </a:lnTo>
                <a:lnTo>
                  <a:pt x="1066344" y="26031"/>
                </a:lnTo>
                <a:lnTo>
                  <a:pt x="1010923" y="36032"/>
                </a:lnTo>
                <a:lnTo>
                  <a:pt x="956373" y="47525"/>
                </a:lnTo>
                <a:lnTo>
                  <a:pt x="902748" y="60473"/>
                </a:lnTo>
                <a:lnTo>
                  <a:pt x="850103" y="74834"/>
                </a:lnTo>
                <a:lnTo>
                  <a:pt x="798493" y="90568"/>
                </a:lnTo>
                <a:lnTo>
                  <a:pt x="747973" y="107638"/>
                </a:lnTo>
                <a:lnTo>
                  <a:pt x="698598" y="126001"/>
                </a:lnTo>
                <a:lnTo>
                  <a:pt x="650423" y="145620"/>
                </a:lnTo>
                <a:lnTo>
                  <a:pt x="603503" y="166454"/>
                </a:lnTo>
                <a:lnTo>
                  <a:pt x="557893" y="188464"/>
                </a:lnTo>
                <a:lnTo>
                  <a:pt x="513648" y="211609"/>
                </a:lnTo>
                <a:lnTo>
                  <a:pt x="470823" y="235851"/>
                </a:lnTo>
                <a:lnTo>
                  <a:pt x="429472" y="261149"/>
                </a:lnTo>
                <a:lnTo>
                  <a:pt x="389651" y="287463"/>
                </a:lnTo>
                <a:lnTo>
                  <a:pt x="351415" y="314755"/>
                </a:lnTo>
                <a:lnTo>
                  <a:pt x="314818" y="342984"/>
                </a:lnTo>
                <a:lnTo>
                  <a:pt x="279916" y="372111"/>
                </a:lnTo>
                <a:lnTo>
                  <a:pt x="246764" y="402096"/>
                </a:lnTo>
                <a:lnTo>
                  <a:pt x="215416" y="432899"/>
                </a:lnTo>
                <a:lnTo>
                  <a:pt x="185927" y="464481"/>
                </a:lnTo>
                <a:lnTo>
                  <a:pt x="158354" y="496801"/>
                </a:lnTo>
                <a:lnTo>
                  <a:pt x="132749" y="529821"/>
                </a:lnTo>
                <a:lnTo>
                  <a:pt x="109169" y="563501"/>
                </a:lnTo>
                <a:lnTo>
                  <a:pt x="87668" y="597800"/>
                </a:lnTo>
                <a:lnTo>
                  <a:pt x="68301" y="632679"/>
                </a:lnTo>
                <a:lnTo>
                  <a:pt x="51124" y="668099"/>
                </a:lnTo>
                <a:lnTo>
                  <a:pt x="36191" y="704020"/>
                </a:lnTo>
                <a:lnTo>
                  <a:pt x="23557" y="740401"/>
                </a:lnTo>
                <a:lnTo>
                  <a:pt x="13277" y="777204"/>
                </a:lnTo>
                <a:lnTo>
                  <a:pt x="5406" y="814389"/>
                </a:lnTo>
                <a:lnTo>
                  <a:pt x="0" y="851915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609092"/>
            <a:ext cx="6414135" cy="1995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24125">
              <a:lnSpc>
                <a:spcPct val="100000"/>
              </a:lnSpc>
              <a:spcBef>
                <a:spcPts val="105"/>
              </a:spcBef>
            </a:pPr>
            <a:r>
              <a:rPr dirty="0" sz="4000" spc="-5" b="1">
                <a:solidFill>
                  <a:srgbClr val="FFCC00"/>
                </a:solidFill>
                <a:latin typeface="Arial"/>
                <a:cs typeface="Arial"/>
              </a:rPr>
              <a:t>CAPM</a:t>
            </a:r>
            <a:r>
              <a:rPr dirty="0" sz="4000" spc="5">
                <a:solidFill>
                  <a:srgbClr val="FFCC00"/>
                </a:solidFill>
                <a:latin typeface="宋体"/>
                <a:cs typeface="宋体"/>
              </a:rPr>
              <a:t>的导出</a:t>
            </a:r>
            <a:endParaRPr sz="4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31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线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(SML)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期望收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之间的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衡关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3690620"/>
            <a:ext cx="7837805" cy="1822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描述了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均衡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下单个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非有效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率和风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699"/>
              </a:lnSpc>
              <a:spcBef>
                <a:spcPts val="65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通常用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度量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差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的边际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献，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即该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协方差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184" y="2706624"/>
            <a:ext cx="6193790" cy="935990"/>
          </a:xfrm>
          <a:custGeom>
            <a:avLst/>
            <a:gdLst/>
            <a:ahLst/>
            <a:cxnLst/>
            <a:rect l="l" t="t" r="r" b="b"/>
            <a:pathLst>
              <a:path w="6193790" h="935989">
                <a:moveTo>
                  <a:pt x="0" y="0"/>
                </a:moveTo>
                <a:lnTo>
                  <a:pt x="0" y="935736"/>
                </a:lnTo>
                <a:lnTo>
                  <a:pt x="6193536" y="935736"/>
                </a:lnTo>
                <a:lnTo>
                  <a:pt x="619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72183" y="2706624"/>
            <a:ext cx="6193790" cy="935990"/>
          </a:xfrm>
          <a:custGeom>
            <a:avLst/>
            <a:gdLst/>
            <a:ahLst/>
            <a:cxnLst/>
            <a:rect l="l" t="t" r="r" b="b"/>
            <a:pathLst>
              <a:path w="6193790" h="935989">
                <a:moveTo>
                  <a:pt x="0" y="0"/>
                </a:moveTo>
                <a:lnTo>
                  <a:pt x="0" y="935735"/>
                </a:lnTo>
                <a:lnTo>
                  <a:pt x="6193535" y="935735"/>
                </a:lnTo>
                <a:lnTo>
                  <a:pt x="619353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9088" y="3148584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 h="0">
                <a:moveTo>
                  <a:pt x="0" y="0"/>
                </a:moveTo>
                <a:lnTo>
                  <a:pt x="55168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64611" y="3361436"/>
            <a:ext cx="19558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5" i="1"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1516" y="2892044"/>
            <a:ext cx="79184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550" spc="-114" i="1">
                <a:latin typeface="Times New Roman"/>
                <a:cs typeface="Times New Roman"/>
              </a:rPr>
              <a:t>r</a:t>
            </a:r>
            <a:r>
              <a:rPr dirty="0" baseline="-22569" sz="2400" spc="-172" i="1">
                <a:latin typeface="Times New Roman"/>
                <a:cs typeface="Times New Roman"/>
              </a:rPr>
              <a:t>i </a:t>
            </a:r>
            <a:r>
              <a:rPr dirty="0" sz="2550" spc="-5">
                <a:latin typeface="Symbol"/>
                <a:cs typeface="Symbol"/>
              </a:rPr>
              <a:t></a:t>
            </a:r>
            <a:r>
              <a:rPr dirty="0" sz="2550" spc="-100">
                <a:latin typeface="Times New Roman"/>
                <a:cs typeface="Times New Roman"/>
              </a:rPr>
              <a:t> </a:t>
            </a:r>
            <a:r>
              <a:rPr dirty="0" sz="2550" spc="50" i="1">
                <a:latin typeface="Times New Roman"/>
                <a:cs typeface="Times New Roman"/>
              </a:rPr>
              <a:t>r</a:t>
            </a:r>
            <a:r>
              <a:rPr dirty="0" baseline="-22569" sz="2400" spc="75" i="1">
                <a:latin typeface="Times New Roman"/>
                <a:cs typeface="Times New Roman"/>
              </a:rPr>
              <a:t>f</a:t>
            </a:r>
            <a:endParaRPr baseline="-22569"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2323" y="2995350"/>
            <a:ext cx="447040" cy="4356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3662" sz="4050" spc="270">
                <a:latin typeface="Symbol"/>
                <a:cs typeface="Symbol"/>
              </a:rPr>
              <a:t></a:t>
            </a:r>
            <a:r>
              <a:rPr dirty="0" baseline="-23662" sz="4050" spc="-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1051" y="2745414"/>
            <a:ext cx="789305" cy="4356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7655" indent="-250190">
              <a:lnSpc>
                <a:spcPct val="100000"/>
              </a:lnSpc>
              <a:spcBef>
                <a:spcPts val="90"/>
              </a:spcBef>
              <a:buSzPct val="94444"/>
              <a:buChar char=""/>
              <a:tabLst>
                <a:tab pos="288290" algn="l"/>
              </a:tabLst>
            </a:pPr>
            <a:r>
              <a:rPr dirty="0" baseline="12345" sz="4050" spc="270">
                <a:latin typeface="Symbol"/>
                <a:cs typeface="Symbol"/>
              </a:rPr>
              <a:t></a:t>
            </a:r>
            <a:r>
              <a:rPr dirty="0" baseline="12345" sz="4050" spc="-622">
                <a:latin typeface="Times New Roman"/>
                <a:cs typeface="Times New Roman"/>
              </a:rPr>
              <a:t> </a:t>
            </a:r>
            <a:r>
              <a:rPr dirty="0" sz="1600" spc="5" i="1">
                <a:latin typeface="Times New Roman"/>
                <a:cs typeface="Times New Roman"/>
              </a:rPr>
              <a:t>iM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5695" y="2528457"/>
            <a:ext cx="4525645" cy="85534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74675" algn="l"/>
                <a:tab pos="1541145" algn="l"/>
                <a:tab pos="4354195" algn="l"/>
              </a:tabLst>
            </a:pPr>
            <a:r>
              <a:rPr dirty="0" baseline="1089" sz="3825" spc="-44">
                <a:latin typeface="Times New Roman"/>
                <a:cs typeface="Times New Roman"/>
              </a:rPr>
              <a:t>(</a:t>
            </a:r>
            <a:r>
              <a:rPr dirty="0" baseline="1089" sz="3825" spc="-44" i="1">
                <a:latin typeface="Times New Roman"/>
                <a:cs typeface="Times New Roman"/>
              </a:rPr>
              <a:t>r</a:t>
            </a:r>
            <a:r>
              <a:rPr dirty="0" baseline="-20833" sz="2400" spc="-44" i="1">
                <a:latin typeface="Times New Roman"/>
                <a:cs typeface="Times New Roman"/>
              </a:rPr>
              <a:t>M	</a:t>
            </a:r>
            <a:r>
              <a:rPr dirty="0" baseline="1089" sz="3825" spc="-1732">
                <a:latin typeface="Symbol"/>
                <a:cs typeface="Symbol"/>
              </a:rPr>
              <a:t></a:t>
            </a:r>
            <a:r>
              <a:rPr dirty="0" baseline="1089" sz="3825" spc="-247">
                <a:latin typeface="Times New Roman"/>
                <a:cs typeface="Times New Roman"/>
              </a:rPr>
              <a:t> </a:t>
            </a:r>
            <a:r>
              <a:rPr dirty="0" baseline="1089" sz="3825" spc="97" i="1">
                <a:latin typeface="Times New Roman"/>
                <a:cs typeface="Times New Roman"/>
              </a:rPr>
              <a:t>r</a:t>
            </a:r>
            <a:r>
              <a:rPr dirty="0" baseline="-20833" sz="2400" spc="97" i="1">
                <a:latin typeface="Times New Roman"/>
                <a:cs typeface="Times New Roman"/>
              </a:rPr>
              <a:t>f</a:t>
            </a:r>
            <a:r>
              <a:rPr dirty="0" baseline="-20833" sz="2400" spc="419" i="1">
                <a:latin typeface="Times New Roman"/>
                <a:cs typeface="Times New Roman"/>
              </a:rPr>
              <a:t> </a:t>
            </a:r>
            <a:r>
              <a:rPr dirty="0" baseline="1089" sz="3825" spc="-7">
                <a:latin typeface="Times New Roman"/>
                <a:cs typeface="Times New Roman"/>
              </a:rPr>
              <a:t>)	</a:t>
            </a:r>
            <a:r>
              <a:rPr dirty="0" sz="5450" spc="-770">
                <a:latin typeface="Symbol"/>
                <a:cs typeface="Symbol"/>
              </a:rPr>
              <a:t></a:t>
            </a:r>
            <a:r>
              <a:rPr dirty="0" sz="5450" spc="-770">
                <a:latin typeface="Times New Roman"/>
                <a:cs typeface="Times New Roman"/>
              </a:rPr>
              <a:t>	</a:t>
            </a:r>
            <a:r>
              <a:rPr dirty="0" sz="5450" spc="-770">
                <a:latin typeface="Symbol"/>
                <a:cs typeface="Symbol"/>
              </a:rPr>
              <a:t></a:t>
            </a:r>
            <a:endParaRPr sz="54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5788" y="2873756"/>
            <a:ext cx="216535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 spc="15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4340" y="3105404"/>
            <a:ext cx="60198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62585" algn="l"/>
              </a:tabLst>
            </a:pPr>
            <a:r>
              <a:rPr dirty="0" sz="1550" spc="5" i="1">
                <a:latin typeface="Times New Roman"/>
                <a:cs typeface="Times New Roman"/>
              </a:rPr>
              <a:t>i</a:t>
            </a:r>
            <a:r>
              <a:rPr dirty="0" sz="1550" spc="5" i="1">
                <a:latin typeface="Times New Roman"/>
                <a:cs typeface="Times New Roman"/>
              </a:rPr>
              <a:t>	</a:t>
            </a:r>
            <a:r>
              <a:rPr dirty="0" sz="1550" spc="20" i="1">
                <a:latin typeface="Times New Roman"/>
                <a:cs typeface="Times New Roman"/>
              </a:rPr>
              <a:t>i</a:t>
            </a:r>
            <a:r>
              <a:rPr dirty="0" sz="1550" spc="25" i="1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5596" y="2676245"/>
            <a:ext cx="330200" cy="75692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110"/>
              </a:spcBef>
            </a:pPr>
            <a:r>
              <a:rPr dirty="0" sz="1550" spc="20" i="1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550" spc="5" i="1">
                <a:latin typeface="Times New Roman"/>
                <a:cs typeface="Times New Roman"/>
              </a:rPr>
              <a:t>i</a:t>
            </a:r>
            <a:r>
              <a:rPr dirty="0" sz="1550" spc="-225" i="1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Symbol"/>
                <a:cs typeface="Symbol"/>
              </a:rPr>
              <a:t></a:t>
            </a:r>
            <a:r>
              <a:rPr dirty="0" sz="1550" spc="5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43932" y="2785364"/>
            <a:ext cx="1085850" cy="650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00"/>
              </a:lnSpc>
              <a:spcBef>
                <a:spcPts val="105"/>
              </a:spcBef>
              <a:tabLst>
                <a:tab pos="701040" algn="l"/>
              </a:tabLst>
            </a:pPr>
            <a:r>
              <a:rPr dirty="0" sz="1550" spc="25" i="1">
                <a:latin typeface="Times New Roman"/>
                <a:cs typeface="Times New Roman"/>
              </a:rPr>
              <a:t>M</a:t>
            </a:r>
            <a:r>
              <a:rPr dirty="0" sz="1550" spc="25" i="1">
                <a:latin typeface="Times New Roman"/>
                <a:cs typeface="Times New Roman"/>
              </a:rPr>
              <a:t>	</a:t>
            </a:r>
            <a:r>
              <a:rPr dirty="0" sz="4100" spc="110">
                <a:latin typeface="Symbol"/>
                <a:cs typeface="Symbol"/>
              </a:rPr>
              <a:t></a:t>
            </a:r>
            <a:endParaRPr sz="4100">
              <a:latin typeface="Symbol"/>
              <a:cs typeface="Symbol"/>
            </a:endParaRPr>
          </a:p>
          <a:p>
            <a:pPr marL="40005">
              <a:lnSpc>
                <a:spcPts val="915"/>
              </a:lnSpc>
            </a:pPr>
            <a:r>
              <a:rPr dirty="0" sz="1550" spc="15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0876" y="2853737"/>
            <a:ext cx="579755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-835">
                <a:latin typeface="Symbol"/>
                <a:cs typeface="Symbol"/>
              </a:rPr>
              <a:t>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900" spc="195">
                <a:latin typeface="Symbol"/>
                <a:cs typeface="Symbol"/>
              </a:rPr>
              <a:t>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45228" y="2853737"/>
            <a:ext cx="234950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195">
                <a:latin typeface="Symbol"/>
                <a:cs typeface="Symbol"/>
              </a:rPr>
              <a:t></a:t>
            </a:r>
            <a:endParaRPr sz="29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609092"/>
            <a:ext cx="5560695" cy="1462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24125">
              <a:lnSpc>
                <a:spcPct val="100000"/>
              </a:lnSpc>
              <a:spcBef>
                <a:spcPts val="105"/>
              </a:spcBef>
            </a:pPr>
            <a:r>
              <a:rPr dirty="0" sz="4000" spc="10" b="1">
                <a:solidFill>
                  <a:srgbClr val="FFCC00"/>
                </a:solidFill>
                <a:latin typeface="Arial"/>
                <a:cs typeface="Arial"/>
              </a:rPr>
              <a:t>CA</a:t>
            </a:r>
            <a:r>
              <a:rPr dirty="0" sz="4000" spc="-5" b="1">
                <a:solidFill>
                  <a:srgbClr val="FFCC00"/>
                </a:solidFill>
                <a:latin typeface="Arial"/>
                <a:cs typeface="Arial"/>
              </a:rPr>
              <a:t>P</a:t>
            </a:r>
            <a:r>
              <a:rPr dirty="0" sz="4000" spc="-25" b="1">
                <a:solidFill>
                  <a:srgbClr val="FFCC00"/>
                </a:solidFill>
                <a:latin typeface="Arial"/>
                <a:cs typeface="Arial"/>
              </a:rPr>
              <a:t>M</a:t>
            </a:r>
            <a:r>
              <a:rPr dirty="0" sz="4000" spc="5">
                <a:solidFill>
                  <a:srgbClr val="FFCC00"/>
                </a:solidFill>
                <a:latin typeface="宋体"/>
                <a:cs typeface="宋体"/>
              </a:rPr>
              <a:t>的导出</a:t>
            </a:r>
            <a:endParaRPr sz="40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3145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Beta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3669284"/>
            <a:ext cx="282384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SM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PM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1408" y="2200656"/>
            <a:ext cx="3743325" cy="1442085"/>
          </a:xfrm>
          <a:custGeom>
            <a:avLst/>
            <a:gdLst/>
            <a:ahLst/>
            <a:cxnLst/>
            <a:rect l="l" t="t" r="r" b="b"/>
            <a:pathLst>
              <a:path w="3743325" h="1442085">
                <a:moveTo>
                  <a:pt x="0" y="0"/>
                </a:moveTo>
                <a:lnTo>
                  <a:pt x="0" y="1441704"/>
                </a:lnTo>
                <a:lnTo>
                  <a:pt x="3742944" y="1441704"/>
                </a:lnTo>
                <a:lnTo>
                  <a:pt x="3742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21407" y="2200656"/>
            <a:ext cx="3743325" cy="1442085"/>
          </a:xfrm>
          <a:custGeom>
            <a:avLst/>
            <a:gdLst/>
            <a:ahLst/>
            <a:cxnLst/>
            <a:rect l="l" t="t" r="r" b="b"/>
            <a:pathLst>
              <a:path w="3743325" h="1442085">
                <a:moveTo>
                  <a:pt x="0" y="0"/>
                </a:moveTo>
                <a:lnTo>
                  <a:pt x="0" y="1441703"/>
                </a:lnTo>
                <a:lnTo>
                  <a:pt x="3742943" y="1441703"/>
                </a:lnTo>
                <a:lnTo>
                  <a:pt x="374294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76016" y="2855976"/>
            <a:ext cx="807720" cy="0"/>
          </a:xfrm>
          <a:custGeom>
            <a:avLst/>
            <a:gdLst/>
            <a:ahLst/>
            <a:cxnLst/>
            <a:rect l="l" t="t" r="r" b="b"/>
            <a:pathLst>
              <a:path w="807720" h="0">
                <a:moveTo>
                  <a:pt x="0" y="0"/>
                </a:moveTo>
                <a:lnTo>
                  <a:pt x="80771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41520" y="2855976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 h="0">
                <a:moveTo>
                  <a:pt x="0" y="0"/>
                </a:moveTo>
                <a:lnTo>
                  <a:pt x="126187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62603" y="3193796"/>
            <a:ext cx="188658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06550" algn="l"/>
              </a:tabLst>
            </a:pPr>
            <a:r>
              <a:rPr dirty="0" sz="2500" spc="15" i="1">
                <a:latin typeface="Times New Roman"/>
                <a:cs typeface="Times New Roman"/>
              </a:rPr>
              <a:t>M</a:t>
            </a:r>
            <a:r>
              <a:rPr dirty="0" sz="2500" spc="15" i="1">
                <a:latin typeface="Times New Roman"/>
                <a:cs typeface="Times New Roman"/>
              </a:rPr>
              <a:t>	</a:t>
            </a:r>
            <a:r>
              <a:rPr dirty="0" baseline="1111" sz="3750" spc="22" i="1">
                <a:latin typeface="Times New Roman"/>
                <a:cs typeface="Times New Roman"/>
              </a:rPr>
              <a:t>M</a:t>
            </a:r>
            <a:endParaRPr baseline="1111" sz="3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5323" y="2782316"/>
            <a:ext cx="11493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5" i="1">
                <a:latin typeface="Times New Roman"/>
                <a:cs typeface="Times New Roman"/>
              </a:rPr>
              <a:t>i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60467" y="2825440"/>
            <a:ext cx="339725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350" spc="295">
                <a:latin typeface="Symbol"/>
                <a:cs typeface="Symbol"/>
              </a:rPr>
              <a:t></a:t>
            </a:r>
            <a:endParaRPr sz="43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9788" y="2093920"/>
            <a:ext cx="339725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350" spc="295">
                <a:latin typeface="Symbol"/>
                <a:cs typeface="Symbol"/>
              </a:rPr>
              <a:t></a:t>
            </a:r>
            <a:endParaRPr sz="43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2340" y="2224984"/>
            <a:ext cx="2292985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41350" algn="l"/>
              </a:tabLst>
            </a:pPr>
            <a:r>
              <a:rPr dirty="0" sz="2500" spc="10" i="1">
                <a:latin typeface="Times New Roman"/>
                <a:cs typeface="Times New Roman"/>
              </a:rPr>
              <a:t>iM	</a:t>
            </a:r>
            <a:r>
              <a:rPr dirty="0" baseline="-21002" sz="6150">
                <a:latin typeface="Symbol"/>
                <a:cs typeface="Symbol"/>
              </a:rPr>
              <a:t></a:t>
            </a:r>
            <a:r>
              <a:rPr dirty="0" baseline="-21002" sz="6150">
                <a:latin typeface="Times New Roman"/>
                <a:cs typeface="Times New Roman"/>
              </a:rPr>
              <a:t> </a:t>
            </a:r>
            <a:r>
              <a:rPr dirty="0" baseline="13409" sz="6525" spc="15">
                <a:latin typeface="Symbol"/>
                <a:cs typeface="Symbol"/>
              </a:rPr>
              <a:t></a:t>
            </a:r>
            <a:r>
              <a:rPr dirty="0" sz="2500" spc="10" i="1">
                <a:latin typeface="Times New Roman"/>
                <a:cs typeface="Times New Roman"/>
              </a:rPr>
              <a:t>iM </a:t>
            </a:r>
            <a:r>
              <a:rPr dirty="0" baseline="13409" sz="6525" spc="442">
                <a:latin typeface="Symbol"/>
                <a:cs typeface="Symbol"/>
              </a:rPr>
              <a:t></a:t>
            </a:r>
            <a:r>
              <a:rPr dirty="0" baseline="13409" sz="6525" spc="-1147">
                <a:latin typeface="Times New Roman"/>
                <a:cs typeface="Times New Roman"/>
              </a:rPr>
              <a:t> </a:t>
            </a:r>
            <a:r>
              <a:rPr dirty="0" sz="2500" spc="5" i="1">
                <a:latin typeface="Times New Roman"/>
                <a:cs typeface="Times New Roman"/>
              </a:rPr>
              <a:t>i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4427" y="2423104"/>
            <a:ext cx="899794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0710" algn="l"/>
              </a:tabLst>
            </a:pPr>
            <a:r>
              <a:rPr dirty="0" sz="4350" spc="-650">
                <a:latin typeface="Symbol"/>
                <a:cs typeface="Symbol"/>
              </a:rPr>
              <a:t></a:t>
            </a:r>
            <a:r>
              <a:rPr dirty="0" sz="4350" spc="-650">
                <a:latin typeface="Times New Roman"/>
                <a:cs typeface="Times New Roman"/>
              </a:rPr>
              <a:t>	</a:t>
            </a:r>
            <a:r>
              <a:rPr dirty="0" sz="410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0964" y="2596840"/>
            <a:ext cx="660400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3627" sz="6525" spc="442">
                <a:latin typeface="Symbol"/>
                <a:cs typeface="Symbol"/>
              </a:rPr>
              <a:t></a:t>
            </a:r>
            <a:r>
              <a:rPr dirty="0" baseline="-23627" sz="6525" spc="-450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2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75104" y="4578096"/>
            <a:ext cx="4898390" cy="792480"/>
          </a:xfrm>
          <a:custGeom>
            <a:avLst/>
            <a:gdLst/>
            <a:ahLst/>
            <a:cxnLst/>
            <a:rect l="l" t="t" r="r" b="b"/>
            <a:pathLst>
              <a:path w="4898390" h="792479">
                <a:moveTo>
                  <a:pt x="0" y="0"/>
                </a:moveTo>
                <a:lnTo>
                  <a:pt x="0" y="792480"/>
                </a:lnTo>
                <a:lnTo>
                  <a:pt x="4898136" y="792480"/>
                </a:lnTo>
                <a:lnTo>
                  <a:pt x="48981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75103" y="4578096"/>
            <a:ext cx="4898390" cy="792480"/>
          </a:xfrm>
          <a:custGeom>
            <a:avLst/>
            <a:gdLst/>
            <a:ahLst/>
            <a:cxnLst/>
            <a:rect l="l" t="t" r="r" b="b"/>
            <a:pathLst>
              <a:path w="4898390" h="792479">
                <a:moveTo>
                  <a:pt x="0" y="0"/>
                </a:moveTo>
                <a:lnTo>
                  <a:pt x="0" y="792479"/>
                </a:lnTo>
                <a:lnTo>
                  <a:pt x="4898135" y="792479"/>
                </a:lnTo>
                <a:lnTo>
                  <a:pt x="489813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63927" y="4184634"/>
            <a:ext cx="4951095" cy="1111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553085" algn="l"/>
                <a:tab pos="1684020" algn="l"/>
                <a:tab pos="3680460" algn="l"/>
                <a:tab pos="4692650" algn="l"/>
              </a:tabLst>
            </a:pPr>
            <a:r>
              <a:rPr dirty="0" sz="4850" spc="-550" i="1">
                <a:latin typeface="Times New Roman"/>
                <a:cs typeface="Times New Roman"/>
              </a:rPr>
              <a:t>r</a:t>
            </a:r>
            <a:r>
              <a:rPr dirty="0" baseline="-22222" sz="4500" i="1">
                <a:latin typeface="Times New Roman"/>
                <a:cs typeface="Times New Roman"/>
              </a:rPr>
              <a:t>i	</a:t>
            </a:r>
            <a:r>
              <a:rPr dirty="0" sz="4850" spc="10">
                <a:latin typeface="Symbol"/>
                <a:cs typeface="Symbol"/>
              </a:rPr>
              <a:t></a:t>
            </a:r>
            <a:r>
              <a:rPr dirty="0" sz="4850" spc="25">
                <a:latin typeface="Times New Roman"/>
                <a:cs typeface="Times New Roman"/>
              </a:rPr>
              <a:t> </a:t>
            </a:r>
            <a:r>
              <a:rPr dirty="0" sz="4850" spc="100" i="1">
                <a:latin typeface="Times New Roman"/>
                <a:cs typeface="Times New Roman"/>
              </a:rPr>
              <a:t>r</a:t>
            </a:r>
            <a:r>
              <a:rPr dirty="0" baseline="-22222" sz="4500" i="1">
                <a:latin typeface="Times New Roman"/>
                <a:cs typeface="Times New Roman"/>
              </a:rPr>
              <a:t>f	</a:t>
            </a:r>
            <a:r>
              <a:rPr dirty="0" sz="4850" spc="10">
                <a:latin typeface="Symbol"/>
                <a:cs typeface="Symbol"/>
              </a:rPr>
              <a:t></a:t>
            </a:r>
            <a:r>
              <a:rPr dirty="0" sz="4850" spc="-25">
                <a:latin typeface="Times New Roman"/>
                <a:cs typeface="Times New Roman"/>
              </a:rPr>
              <a:t> </a:t>
            </a:r>
            <a:r>
              <a:rPr dirty="0" sz="5150" spc="-515">
                <a:latin typeface="Symbol"/>
                <a:cs typeface="Symbol"/>
              </a:rPr>
              <a:t></a:t>
            </a:r>
            <a:r>
              <a:rPr dirty="0" baseline="-22222" sz="4500" i="1">
                <a:latin typeface="Times New Roman"/>
                <a:cs typeface="Times New Roman"/>
              </a:rPr>
              <a:t>i</a:t>
            </a:r>
            <a:r>
              <a:rPr dirty="0" baseline="-22222" sz="4500" spc="-37" i="1">
                <a:latin typeface="Times New Roman"/>
                <a:cs typeface="Times New Roman"/>
              </a:rPr>
              <a:t> </a:t>
            </a:r>
            <a:r>
              <a:rPr dirty="0" sz="7100" spc="-950">
                <a:latin typeface="Symbol"/>
                <a:cs typeface="Symbol"/>
              </a:rPr>
              <a:t></a:t>
            </a:r>
            <a:r>
              <a:rPr dirty="0" sz="4850" spc="-380" i="1">
                <a:latin typeface="Times New Roman"/>
                <a:cs typeface="Times New Roman"/>
              </a:rPr>
              <a:t>r</a:t>
            </a:r>
            <a:r>
              <a:rPr dirty="0" baseline="-22222" sz="4500" i="1">
                <a:latin typeface="Times New Roman"/>
                <a:cs typeface="Times New Roman"/>
              </a:rPr>
              <a:t>M	</a:t>
            </a:r>
            <a:r>
              <a:rPr dirty="0" sz="4850" spc="-2180">
                <a:latin typeface="Symbol"/>
                <a:cs typeface="Symbol"/>
              </a:rPr>
              <a:t></a:t>
            </a:r>
            <a:r>
              <a:rPr dirty="0" sz="4850" spc="-215">
                <a:latin typeface="Times New Roman"/>
                <a:cs typeface="Times New Roman"/>
              </a:rPr>
              <a:t> </a:t>
            </a:r>
            <a:r>
              <a:rPr dirty="0" sz="4850" spc="100" i="1">
                <a:latin typeface="Times New Roman"/>
                <a:cs typeface="Times New Roman"/>
              </a:rPr>
              <a:t>r</a:t>
            </a:r>
            <a:r>
              <a:rPr dirty="0" baseline="-22222" sz="4500" i="1">
                <a:latin typeface="Times New Roman"/>
                <a:cs typeface="Times New Roman"/>
              </a:rPr>
              <a:t>f	</a:t>
            </a:r>
            <a:r>
              <a:rPr dirty="0" sz="7100" spc="-735">
                <a:latin typeface="Symbol"/>
                <a:cs typeface="Symbol"/>
              </a:rPr>
              <a:t></a:t>
            </a:r>
            <a:endParaRPr sz="71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5804" y="606044"/>
            <a:ext cx="4142104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证</a:t>
            </a:r>
            <a:r>
              <a:rPr dirty="0" spc="25"/>
              <a:t>券</a:t>
            </a:r>
            <a:r>
              <a:rPr dirty="0" spc="5"/>
              <a:t>市场线</a:t>
            </a:r>
            <a:r>
              <a:rPr dirty="0" spc="-70"/>
              <a:t> </a:t>
            </a:r>
            <a:r>
              <a:rPr dirty="0">
                <a:latin typeface="Times New Roman"/>
                <a:cs typeface="Times New Roman"/>
              </a:rPr>
              <a:t>(SML)</a:t>
            </a:r>
          </a:p>
        </p:txBody>
      </p:sp>
      <p:sp>
        <p:nvSpPr>
          <p:cNvPr id="3" name="object 3"/>
          <p:cNvSpPr/>
          <p:nvPr/>
        </p:nvSpPr>
        <p:spPr>
          <a:xfrm>
            <a:off x="1039368" y="1840992"/>
            <a:ext cx="7129780" cy="4249420"/>
          </a:xfrm>
          <a:custGeom>
            <a:avLst/>
            <a:gdLst/>
            <a:ahLst/>
            <a:cxnLst/>
            <a:rect l="l" t="t" r="r" b="b"/>
            <a:pathLst>
              <a:path w="7129780" h="4249420">
                <a:moveTo>
                  <a:pt x="0" y="0"/>
                </a:moveTo>
                <a:lnTo>
                  <a:pt x="0" y="4248912"/>
                </a:lnTo>
                <a:lnTo>
                  <a:pt x="7129272" y="4248912"/>
                </a:lnTo>
                <a:lnTo>
                  <a:pt x="712927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39367" y="1840992"/>
            <a:ext cx="7129780" cy="4249420"/>
          </a:xfrm>
          <a:custGeom>
            <a:avLst/>
            <a:gdLst/>
            <a:ahLst/>
            <a:cxnLst/>
            <a:rect l="l" t="t" r="r" b="b"/>
            <a:pathLst>
              <a:path w="7129780" h="4249420">
                <a:moveTo>
                  <a:pt x="0" y="0"/>
                </a:moveTo>
                <a:lnTo>
                  <a:pt x="0" y="4248911"/>
                </a:lnTo>
                <a:lnTo>
                  <a:pt x="7129271" y="4248911"/>
                </a:lnTo>
                <a:lnTo>
                  <a:pt x="7129271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31263" y="2179320"/>
            <a:ext cx="0" cy="3359150"/>
          </a:xfrm>
          <a:custGeom>
            <a:avLst/>
            <a:gdLst/>
            <a:ahLst/>
            <a:cxnLst/>
            <a:rect l="l" t="t" r="r" b="b"/>
            <a:pathLst>
              <a:path w="0" h="3359150">
                <a:moveTo>
                  <a:pt x="0" y="3358895"/>
                </a:moveTo>
                <a:lnTo>
                  <a:pt x="0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64208" y="20513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70104" y="0"/>
                </a:moveTo>
                <a:lnTo>
                  <a:pt x="0" y="137160"/>
                </a:lnTo>
                <a:lnTo>
                  <a:pt x="137160" y="137160"/>
                </a:lnTo>
                <a:lnTo>
                  <a:pt x="70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31263" y="5538216"/>
            <a:ext cx="6288405" cy="0"/>
          </a:xfrm>
          <a:custGeom>
            <a:avLst/>
            <a:gdLst/>
            <a:ahLst/>
            <a:cxnLst/>
            <a:rect l="l" t="t" r="r" b="b"/>
            <a:pathLst>
              <a:path w="6288405" h="0">
                <a:moveTo>
                  <a:pt x="0" y="0"/>
                </a:moveTo>
                <a:lnTo>
                  <a:pt x="6288023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13192" y="5471160"/>
            <a:ext cx="140335" cy="137160"/>
          </a:xfrm>
          <a:custGeom>
            <a:avLst/>
            <a:gdLst/>
            <a:ahLst/>
            <a:cxnLst/>
            <a:rect l="l" t="t" r="r" b="b"/>
            <a:pathLst>
              <a:path w="140334" h="137160">
                <a:moveTo>
                  <a:pt x="0" y="0"/>
                </a:moveTo>
                <a:lnTo>
                  <a:pt x="0" y="137160"/>
                </a:lnTo>
                <a:lnTo>
                  <a:pt x="140208" y="670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31263" y="2197608"/>
            <a:ext cx="4879975" cy="2228215"/>
          </a:xfrm>
          <a:custGeom>
            <a:avLst/>
            <a:gdLst/>
            <a:ahLst/>
            <a:cxnLst/>
            <a:rect l="l" t="t" r="r" b="b"/>
            <a:pathLst>
              <a:path w="4879975" h="2228215">
                <a:moveTo>
                  <a:pt x="0" y="2228087"/>
                </a:moveTo>
                <a:lnTo>
                  <a:pt x="4879847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097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975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53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731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6097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487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365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244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122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0001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878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756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634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512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390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2686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1467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024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902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780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659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537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4152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293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171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049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927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4805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683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5617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4439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4317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4196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4074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39521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3830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708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3586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464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342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2206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30987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2976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2854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732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2611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2489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23672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2245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2123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2001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1879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1757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1635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15137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1391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1269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1148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1026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09041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0782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0660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0538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0416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0294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01726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00507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9928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9806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9684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9563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9441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93192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9197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9075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8953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8831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8709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8587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84657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8343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8221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8100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79780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78561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7734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7612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7490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7368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7246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71246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70027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6880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6758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6636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6515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6393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62712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6149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6027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5905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5783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5661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5539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54177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5295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5173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5052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49300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48081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4686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4564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4442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34320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4198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40766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39547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3832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3710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3588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3467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3345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32232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3101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2979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2857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2735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2613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2491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23697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2247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2125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2004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31882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17601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31638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15163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31394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1272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31150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10286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09067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0784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06628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0540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0419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0297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01751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0053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9931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9809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9687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29565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9443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93217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29199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9077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8956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28834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87121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8590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84683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28346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28224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28102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279806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278587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27736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27614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27492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27371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27249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271271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27005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26883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26761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26639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265175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26395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262737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26151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26029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25908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25786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256641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25542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254203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25298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25176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25054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249326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248107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24688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24566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24444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24323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24201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240791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23957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23835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23713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23591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234696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23347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232257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23103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22981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22860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22738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226161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22494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22372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22250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22128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22006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218846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217627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21640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21518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21396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212750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21153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210311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20909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20787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20665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20543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204216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202996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201777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200558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199339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198120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196900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1956816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194462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93243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192023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190804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189585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1883663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1871472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185927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1847088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183489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182270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181051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1798319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1786127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1773935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1761744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1749551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1737360" y="3014472"/>
            <a:ext cx="3175" cy="0"/>
          </a:xfrm>
          <a:custGeom>
            <a:avLst/>
            <a:gdLst/>
            <a:ahLst/>
            <a:cxnLst/>
            <a:rect l="l" t="t" r="r" b="b"/>
            <a:pathLst>
              <a:path w="3175" h="0">
                <a:moveTo>
                  <a:pt x="3047" y="0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4812791" y="30144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4812791" y="30266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4812791" y="30388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4812791" y="30510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4812791" y="30632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4812791" y="30754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4812791" y="30876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4812791" y="30998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4812791" y="31120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4812791" y="31242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4812791" y="31363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4812791" y="31485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4812791" y="31607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4812791" y="31729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4812791" y="31851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4812791" y="31973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4812791" y="32095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4812791" y="32217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4812791" y="32339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4812791" y="32461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4812791" y="32583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4812791" y="32705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4812791" y="32826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4812791" y="32948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4812791" y="33070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4812791" y="33192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4812791" y="33314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4812791" y="33436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4812791" y="33558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4812791" y="33680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4812791" y="33802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4812791" y="33924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4812791" y="34046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4812791" y="34168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4812791" y="34290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4812791" y="34411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4812791" y="34533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4812791" y="34655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4812791" y="34777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4812791" y="34899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4812791" y="35021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4812791" y="35143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4812791" y="35265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4812791" y="35387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4812791" y="35509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4812791" y="35631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4812791" y="35753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4812791" y="35874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4812791" y="35996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4812791" y="36118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4812791" y="36240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4812791" y="36362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4812791" y="36484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4812791" y="36606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4812791" y="36728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4812791" y="36850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4812791" y="36972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4812791" y="37094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4812791" y="37216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4812791" y="37338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4812791" y="37459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4812791" y="37581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4812791" y="37703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4812791" y="37825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4812791" y="37947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4812791" y="38069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4812791" y="38191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4812791" y="38313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4812791" y="38435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4812791" y="38557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4812791" y="38679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4812791" y="38801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4812791" y="38922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4812791" y="39044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4812791" y="39166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4812791" y="39288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4812791" y="39410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4812791" y="39532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4812791" y="39654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4812791" y="39776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4812791" y="39898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4812791" y="40020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4812791" y="40142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4812791" y="40264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4812791" y="40386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4812791" y="40507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4812791" y="40629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4812791" y="40751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4812791" y="40873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4812791" y="40995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4812791" y="41117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4812791" y="41239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4812791" y="41361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4812791" y="41483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4812791" y="41605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4812791" y="41727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4812791" y="41849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4812791" y="41970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4812791" y="42092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4812791" y="42214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4812791" y="42336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4812791" y="42458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4812791" y="42580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4812791" y="42702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4812791" y="42824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4812791" y="42946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4812791" y="43068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4812791" y="43190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4812791" y="43312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4812791" y="43434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4812791" y="43555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4812791" y="43677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4812791" y="43799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4812791" y="43921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4812791" y="44043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4812791" y="44165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4812791" y="44287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4812791" y="44409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4812791" y="44531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4812791" y="44653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4812791" y="44775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4812791" y="44897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4812791" y="45018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4812791" y="45140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4812791" y="45262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4812791" y="45384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4812791" y="45506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4812791" y="45628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4812791" y="45750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4812791" y="45872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4812791" y="45994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4812791" y="46116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4812791" y="46238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4812791" y="46360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4812791" y="46482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4812791" y="46603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4812791" y="46725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4812791" y="46847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4812791" y="46969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4812791" y="47091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4812791" y="47213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4812791" y="47335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4812791" y="47457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4812791" y="47579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4812791" y="47701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4812791" y="47823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4812791" y="47945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4812791" y="48066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4812791" y="48188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4812791" y="48310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4812791" y="48432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4812791" y="48554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4812791" y="48676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4812791" y="48798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4812791" y="48920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4812791" y="49042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4812791" y="49164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4812791" y="49286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4812791" y="49408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4812791" y="49530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4812791" y="49651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/>
          <p:nvPr/>
        </p:nvSpPr>
        <p:spPr>
          <a:xfrm>
            <a:off x="4812791" y="49773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5" name="object 425"/>
          <p:cNvSpPr/>
          <p:nvPr/>
        </p:nvSpPr>
        <p:spPr>
          <a:xfrm>
            <a:off x="4812791" y="49895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4812791" y="50017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4812791" y="50139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4812791" y="50261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4812791" y="50383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4812791" y="50505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4812791" y="50627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4812791" y="50749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4812791" y="50871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4812791" y="50993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4812791" y="51114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4812791" y="51236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/>
          <p:nvPr/>
        </p:nvSpPr>
        <p:spPr>
          <a:xfrm>
            <a:off x="4812791" y="51358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/>
          <p:nvPr/>
        </p:nvSpPr>
        <p:spPr>
          <a:xfrm>
            <a:off x="4812791" y="51480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4812791" y="51602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4812791" y="51724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4812791" y="51846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4812791" y="51968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4812791" y="52090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4812791" y="52212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4812791" y="523341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4812791" y="524560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4812791" y="525780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4812791" y="526999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4812791" y="528218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/>
          <p:nvPr/>
        </p:nvSpPr>
        <p:spPr>
          <a:xfrm>
            <a:off x="4812791" y="529437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1" name="object 451"/>
          <p:cNvSpPr/>
          <p:nvPr/>
        </p:nvSpPr>
        <p:spPr>
          <a:xfrm>
            <a:off x="4812791" y="530656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4812791" y="531876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4812791" y="533095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4812791" y="534314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4812791" y="535533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4812791" y="536752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4812791" y="537972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4812791" y="539191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4812791" y="540410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4812791" y="541629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4812791" y="542848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4812791" y="544068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/>
          <p:nvPr/>
        </p:nvSpPr>
        <p:spPr>
          <a:xfrm>
            <a:off x="4812791" y="545287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4" name="object 464"/>
          <p:cNvSpPr/>
          <p:nvPr/>
        </p:nvSpPr>
        <p:spPr>
          <a:xfrm>
            <a:off x="4812791" y="546506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4812791" y="5477256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4812791" y="5489448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4812791" y="5501640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4812791" y="5513832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4812791" y="5526024"/>
            <a:ext cx="0" cy="3175"/>
          </a:xfrm>
          <a:custGeom>
            <a:avLst/>
            <a:gdLst/>
            <a:ahLst/>
            <a:cxnLst/>
            <a:rect l="l" t="t" r="r" b="b"/>
            <a:pathLst>
              <a:path w="0" h="3175">
                <a:moveTo>
                  <a:pt x="-3047" y="1523"/>
                </a:moveTo>
                <a:lnTo>
                  <a:pt x="3047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 txBox="1"/>
          <p:nvPr/>
        </p:nvSpPr>
        <p:spPr>
          <a:xfrm>
            <a:off x="4562855" y="2742692"/>
            <a:ext cx="266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6787895" y="1925828"/>
            <a:ext cx="643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5">
                <a:latin typeface="Times New Roman"/>
                <a:cs typeface="Times New Roman"/>
              </a:rPr>
              <a:t>S</a:t>
            </a:r>
            <a:r>
              <a:rPr dirty="0" sz="2400" spc="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4648200" y="5668772"/>
            <a:ext cx="393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7850631" y="4869695"/>
            <a:ext cx="311785" cy="439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2700" spc="-145">
                <a:latin typeface="Symbol"/>
                <a:cs typeface="Symbol"/>
              </a:rPr>
              <a:t></a:t>
            </a:r>
            <a:r>
              <a:rPr dirty="0" baseline="-23297" sz="2325" spc="-217" i="1">
                <a:latin typeface="Times New Roman"/>
                <a:cs typeface="Times New Roman"/>
              </a:rPr>
              <a:t>i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1974088" y="1916684"/>
            <a:ext cx="208279" cy="417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2550" spc="-145" i="1">
                <a:latin typeface="Times New Roman"/>
                <a:cs typeface="Times New Roman"/>
              </a:rPr>
              <a:t>r</a:t>
            </a:r>
            <a:r>
              <a:rPr dirty="0" baseline="-23297" sz="2325" spc="-217" i="1">
                <a:latin typeface="Times New Roman"/>
                <a:cs typeface="Times New Roman"/>
              </a:rPr>
              <a:t>i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1068832" y="2733548"/>
            <a:ext cx="431800" cy="570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3550" spc="-140" i="1">
                <a:latin typeface="Times New Roman"/>
                <a:cs typeface="Times New Roman"/>
              </a:rPr>
              <a:t>r</a:t>
            </a:r>
            <a:r>
              <a:rPr dirty="0" baseline="-23255" sz="3225" spc="-209" i="1">
                <a:latin typeface="Times New Roman"/>
                <a:cs typeface="Times New Roman"/>
              </a:rPr>
              <a:t>M</a:t>
            </a:r>
            <a:endParaRPr baseline="-23255" sz="3225">
              <a:latin typeface="Times New Roman"/>
              <a:cs typeface="Times New Roman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166367" y="4193540"/>
            <a:ext cx="285115" cy="4864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3000" spc="30" i="1">
                <a:latin typeface="Times New Roman"/>
                <a:cs typeface="Times New Roman"/>
              </a:rPr>
              <a:t>r</a:t>
            </a:r>
            <a:r>
              <a:rPr dirty="0" baseline="-22522" sz="2775" spc="44" i="1">
                <a:latin typeface="Times New Roman"/>
                <a:cs typeface="Times New Roman"/>
              </a:rPr>
              <a:t>f</a:t>
            </a:r>
            <a:endParaRPr baseline="-22522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9428" y="606044"/>
            <a:ext cx="1014094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>
                <a:latin typeface="Times New Roman"/>
                <a:cs typeface="Times New Roman"/>
              </a:rPr>
              <a:t>B</a:t>
            </a:r>
            <a:r>
              <a:rPr dirty="0">
                <a:latin typeface="Times New Roman"/>
                <a:cs typeface="Times New Roman"/>
              </a:rPr>
              <a:t>eta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785620"/>
            <a:ext cx="7837805" cy="3020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Beta＝1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来说和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步涨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跌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4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Beta&gt;1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涨跌幅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于市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;</a:t>
            </a:r>
            <a:r>
              <a:rPr dirty="0" sz="28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进 攻型证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（aggressive security）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40000"/>
              </a:lnSpc>
              <a:spcBef>
                <a:spcPts val="7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et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&lt;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涨跌都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称为保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（defensive security）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140" y="639572"/>
            <a:ext cx="257683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70"/>
              <a:t>C</a:t>
            </a:r>
            <a:r>
              <a:rPr dirty="0" spc="-865"/>
              <a:t>A</a:t>
            </a:r>
            <a:r>
              <a:rPr dirty="0" spc="-490"/>
              <a:t>P</a:t>
            </a:r>
            <a:r>
              <a:rPr dirty="0" spc="-1955"/>
              <a:t>M</a:t>
            </a:r>
            <a:r>
              <a:rPr dirty="0" spc="5"/>
              <a:t>的特征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3178556"/>
            <a:ext cx="783780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be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于组合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加权平均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4327" y="4075176"/>
            <a:ext cx="2377440" cy="1079500"/>
          </a:xfrm>
          <a:custGeom>
            <a:avLst/>
            <a:gdLst/>
            <a:ahLst/>
            <a:cxnLst/>
            <a:rect l="l" t="t" r="r" b="b"/>
            <a:pathLst>
              <a:path w="2377440" h="1079500">
                <a:moveTo>
                  <a:pt x="0" y="0"/>
                </a:moveTo>
                <a:lnTo>
                  <a:pt x="0" y="1078992"/>
                </a:lnTo>
                <a:lnTo>
                  <a:pt x="2377440" y="1078992"/>
                </a:lnTo>
                <a:lnTo>
                  <a:pt x="2377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24327" y="4075176"/>
            <a:ext cx="2377440" cy="1079500"/>
          </a:xfrm>
          <a:custGeom>
            <a:avLst/>
            <a:gdLst/>
            <a:ahLst/>
            <a:cxnLst/>
            <a:rect l="l" t="t" r="r" b="b"/>
            <a:pathLst>
              <a:path w="2377440" h="1079500">
                <a:moveTo>
                  <a:pt x="0" y="0"/>
                </a:moveTo>
                <a:lnTo>
                  <a:pt x="0" y="1078991"/>
                </a:lnTo>
                <a:lnTo>
                  <a:pt x="2377439" y="1078991"/>
                </a:lnTo>
                <a:lnTo>
                  <a:pt x="237743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06952" y="4010660"/>
            <a:ext cx="156210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250" i="1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1600" y="4184396"/>
            <a:ext cx="2331720" cy="997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668020" algn="l"/>
              </a:tabLst>
            </a:pPr>
            <a:r>
              <a:rPr dirty="0" sz="3900" spc="-575">
                <a:latin typeface="Symbol"/>
                <a:cs typeface="Symbol"/>
              </a:rPr>
              <a:t></a:t>
            </a:r>
            <a:r>
              <a:rPr dirty="0" sz="3900" spc="-655">
                <a:latin typeface="Times New Roman"/>
                <a:cs typeface="Times New Roman"/>
              </a:rPr>
              <a:t> </a:t>
            </a:r>
            <a:r>
              <a:rPr dirty="0" baseline="-22222" sz="3375" i="1">
                <a:latin typeface="Times New Roman"/>
                <a:cs typeface="Times New Roman"/>
              </a:rPr>
              <a:t>P	</a:t>
            </a:r>
            <a:r>
              <a:rPr dirty="0" sz="3700" spc="-5">
                <a:latin typeface="Symbol"/>
                <a:cs typeface="Symbol"/>
              </a:rPr>
              <a:t></a:t>
            </a:r>
            <a:r>
              <a:rPr dirty="0" sz="3700" spc="-5">
                <a:latin typeface="Times New Roman"/>
                <a:cs typeface="Times New Roman"/>
              </a:rPr>
              <a:t> </a:t>
            </a:r>
            <a:r>
              <a:rPr dirty="0" baseline="-5420" sz="6150" spc="195">
                <a:latin typeface="Symbol"/>
                <a:cs typeface="Symbol"/>
              </a:rPr>
              <a:t></a:t>
            </a:r>
            <a:r>
              <a:rPr dirty="0" baseline="-5420" sz="6150" spc="-817">
                <a:latin typeface="Times New Roman"/>
                <a:cs typeface="Times New Roman"/>
              </a:rPr>
              <a:t> </a:t>
            </a:r>
            <a:r>
              <a:rPr dirty="0" sz="3700" spc="-60" i="1">
                <a:latin typeface="Times New Roman"/>
                <a:cs typeface="Times New Roman"/>
              </a:rPr>
              <a:t>w</a:t>
            </a:r>
            <a:r>
              <a:rPr dirty="0" baseline="-22222" sz="3375" spc="-89" i="1">
                <a:latin typeface="Times New Roman"/>
                <a:cs typeface="Times New Roman"/>
              </a:rPr>
              <a:t>i </a:t>
            </a:r>
            <a:r>
              <a:rPr dirty="0" sz="3900" spc="-190">
                <a:latin typeface="Symbol"/>
                <a:cs typeface="Symbol"/>
              </a:rPr>
              <a:t></a:t>
            </a:r>
            <a:r>
              <a:rPr dirty="0" baseline="-22222" sz="3375" spc="-284" i="1">
                <a:latin typeface="Times New Roman"/>
                <a:cs typeface="Times New Roman"/>
              </a:rPr>
              <a:t>i</a:t>
            </a:r>
            <a:endParaRPr baseline="-22222" sz="3375">
              <a:latin typeface="Times New Roman"/>
              <a:cs typeface="Times New Roman"/>
            </a:endParaRPr>
          </a:p>
          <a:p>
            <a:pPr algn="ctr" marL="163195">
              <a:lnSpc>
                <a:spcPct val="100000"/>
              </a:lnSpc>
              <a:spcBef>
                <a:spcPts val="5"/>
              </a:spcBef>
            </a:pPr>
            <a:r>
              <a:rPr dirty="0" sz="2250" i="1">
                <a:latin typeface="Times New Roman"/>
                <a:cs typeface="Times New Roman"/>
              </a:rPr>
              <a:t>i</a:t>
            </a:r>
            <a:r>
              <a:rPr dirty="0" sz="2250" spc="-260" i="1">
                <a:latin typeface="Times New Roman"/>
                <a:cs typeface="Times New Roman"/>
              </a:rPr>
              <a:t> </a:t>
            </a:r>
            <a:r>
              <a:rPr dirty="0" sz="2250" spc="30">
                <a:latin typeface="Symbol"/>
                <a:cs typeface="Symbol"/>
              </a:rPr>
              <a:t></a:t>
            </a:r>
            <a:r>
              <a:rPr dirty="0" sz="2250" spc="3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81072" y="2057400"/>
            <a:ext cx="2664460" cy="1082040"/>
          </a:xfrm>
          <a:custGeom>
            <a:avLst/>
            <a:gdLst/>
            <a:ahLst/>
            <a:cxnLst/>
            <a:rect l="l" t="t" r="r" b="b"/>
            <a:pathLst>
              <a:path w="2664460" h="1082039">
                <a:moveTo>
                  <a:pt x="0" y="0"/>
                </a:moveTo>
                <a:lnTo>
                  <a:pt x="0" y="1082040"/>
                </a:lnTo>
                <a:lnTo>
                  <a:pt x="2663952" y="1082040"/>
                </a:lnTo>
                <a:lnTo>
                  <a:pt x="266395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81072" y="2057400"/>
            <a:ext cx="2664460" cy="1082040"/>
          </a:xfrm>
          <a:custGeom>
            <a:avLst/>
            <a:gdLst/>
            <a:ahLst/>
            <a:cxnLst/>
            <a:rect l="l" t="t" r="r" b="b"/>
            <a:pathLst>
              <a:path w="2664460" h="1082039">
                <a:moveTo>
                  <a:pt x="0" y="0"/>
                </a:moveTo>
                <a:lnTo>
                  <a:pt x="0" y="1082039"/>
                </a:lnTo>
                <a:lnTo>
                  <a:pt x="2663951" y="1082039"/>
                </a:lnTo>
                <a:lnTo>
                  <a:pt x="2663951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18303" y="2797455"/>
            <a:ext cx="106680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750" spc="-335">
                <a:latin typeface="Symbol"/>
                <a:cs typeface="Symbol"/>
              </a:rPr>
              <a:t>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3104" y="2586216"/>
            <a:ext cx="2416810" cy="4514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1744345" algn="l"/>
              </a:tabLst>
            </a:pPr>
            <a:r>
              <a:rPr dirty="0" sz="2800" spc="190">
                <a:latin typeface="Symbol"/>
                <a:cs typeface="Symbol"/>
              </a:rPr>
              <a:t>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baseline="40404" sz="2475" spc="22">
                <a:latin typeface="Times New Roman"/>
                <a:cs typeface="Times New Roman"/>
              </a:rPr>
              <a:t>2  </a:t>
            </a:r>
            <a:r>
              <a:rPr dirty="0" sz="2650" spc="-10">
                <a:latin typeface="Symbol"/>
                <a:cs typeface="Symbol"/>
              </a:rPr>
              <a:t></a:t>
            </a:r>
            <a:r>
              <a:rPr dirty="0" sz="2650" spc="-10">
                <a:latin typeface="Times New Roman"/>
                <a:cs typeface="Times New Roman"/>
              </a:rPr>
              <a:t> </a:t>
            </a:r>
            <a:r>
              <a:rPr dirty="0" sz="2800" spc="-420">
                <a:latin typeface="Symbol"/>
                <a:cs typeface="Symbol"/>
              </a:rPr>
              <a:t></a:t>
            </a:r>
            <a:r>
              <a:rPr dirty="0" sz="2800" spc="-295">
                <a:latin typeface="Times New Roman"/>
                <a:cs typeface="Times New Roman"/>
              </a:rPr>
              <a:t> </a:t>
            </a:r>
            <a:r>
              <a:rPr dirty="0" baseline="40404" sz="2475" spc="97">
                <a:latin typeface="Times New Roman"/>
                <a:cs typeface="Times New Roman"/>
              </a:rPr>
              <a:t>2</a:t>
            </a:r>
            <a:r>
              <a:rPr dirty="0" sz="2800" spc="65">
                <a:latin typeface="Symbol"/>
                <a:cs typeface="Symbol"/>
              </a:rPr>
              <a:t>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baseline="40404" sz="2475" spc="22">
                <a:latin typeface="Times New Roman"/>
                <a:cs typeface="Times New Roman"/>
              </a:rPr>
              <a:t>2	</a:t>
            </a:r>
            <a:r>
              <a:rPr dirty="0" sz="2650" spc="-10">
                <a:latin typeface="Symbol"/>
                <a:cs typeface="Symbol"/>
              </a:rPr>
              <a:t></a:t>
            </a:r>
            <a:r>
              <a:rPr dirty="0" sz="2650" spc="-10">
                <a:latin typeface="Times New Roman"/>
                <a:cs typeface="Times New Roman"/>
              </a:rPr>
              <a:t> </a:t>
            </a:r>
            <a:r>
              <a:rPr dirty="0" sz="2800" spc="190">
                <a:latin typeface="Symbol"/>
                <a:cs typeface="Symbol"/>
              </a:rPr>
              <a:t></a:t>
            </a:r>
            <a:r>
              <a:rPr dirty="0" sz="2800" spc="-320">
                <a:latin typeface="Times New Roman"/>
                <a:cs typeface="Times New Roman"/>
              </a:rPr>
              <a:t> </a:t>
            </a:r>
            <a:r>
              <a:rPr dirty="0" baseline="40404" sz="2475" spc="22">
                <a:latin typeface="Times New Roman"/>
                <a:cs typeface="Times New Roman"/>
              </a:rPr>
              <a:t>2</a:t>
            </a:r>
            <a:endParaRPr baseline="40404" sz="24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8439" y="2809748"/>
            <a:ext cx="13309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737235" algn="l"/>
                <a:tab pos="1139825" algn="l"/>
              </a:tabLst>
            </a:pPr>
            <a:r>
              <a:rPr dirty="0" sz="1650" spc="5" i="1">
                <a:latin typeface="Times New Roman"/>
                <a:cs typeface="Times New Roman"/>
              </a:rPr>
              <a:t>i</a:t>
            </a:r>
            <a:r>
              <a:rPr dirty="0" sz="1650" spc="5" i="1">
                <a:latin typeface="Times New Roman"/>
                <a:cs typeface="Times New Roman"/>
              </a:rPr>
              <a:t>	</a:t>
            </a:r>
            <a:r>
              <a:rPr dirty="0" sz="1650" spc="5" i="1">
                <a:latin typeface="Times New Roman"/>
                <a:cs typeface="Times New Roman"/>
              </a:rPr>
              <a:t>i</a:t>
            </a:r>
            <a:r>
              <a:rPr dirty="0" sz="1650" spc="5" i="1">
                <a:latin typeface="Times New Roman"/>
                <a:cs typeface="Times New Roman"/>
              </a:rPr>
              <a:t>	</a:t>
            </a:r>
            <a:r>
              <a:rPr dirty="0" sz="1650" spc="25" i="1">
                <a:latin typeface="Times New Roman"/>
                <a:cs typeface="Times New Roman"/>
              </a:rPr>
              <a:t>M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191" y="1639316"/>
            <a:ext cx="5375910" cy="828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9570" indent="-344805">
              <a:lnSpc>
                <a:spcPts val="3155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702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总风险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＋非系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endParaRPr sz="2800">
              <a:latin typeface="宋体"/>
              <a:cs typeface="宋体"/>
            </a:endParaRPr>
          </a:p>
          <a:p>
            <a:pPr marL="2015489">
              <a:lnSpc>
                <a:spcPts val="3155"/>
              </a:lnSpc>
              <a:tabLst>
                <a:tab pos="4066540" algn="l"/>
              </a:tabLst>
            </a:pPr>
            <a:r>
              <a:rPr dirty="0" sz="2650" spc="-120" i="1">
                <a:latin typeface="Times New Roman"/>
                <a:cs typeface="Times New Roman"/>
              </a:rPr>
              <a:t>r</a:t>
            </a:r>
            <a:r>
              <a:rPr dirty="0" baseline="-21885" sz="2475" spc="-179" i="1">
                <a:latin typeface="Times New Roman"/>
                <a:cs typeface="Times New Roman"/>
              </a:rPr>
              <a:t>i </a:t>
            </a:r>
            <a:r>
              <a:rPr dirty="0" baseline="-21885" sz="2475" spc="254" i="1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Symbol"/>
                <a:cs typeface="Symbol"/>
              </a:rPr>
              <a:t></a:t>
            </a:r>
            <a:r>
              <a:rPr dirty="0" sz="2650" spc="-10">
                <a:latin typeface="Times New Roman"/>
                <a:cs typeface="Times New Roman"/>
              </a:rPr>
              <a:t> </a:t>
            </a:r>
            <a:r>
              <a:rPr dirty="0" sz="2800" spc="-105">
                <a:latin typeface="Symbol"/>
                <a:cs typeface="Symbol"/>
              </a:rPr>
              <a:t>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baseline="-21885" sz="2475" spc="7" i="1">
                <a:latin typeface="Times New Roman"/>
                <a:cs typeface="Times New Roman"/>
              </a:rPr>
              <a:t>i</a:t>
            </a:r>
            <a:r>
              <a:rPr dirty="0" baseline="-21885" sz="2475" spc="-22" i="1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Symbol"/>
                <a:cs typeface="Symbol"/>
              </a:rPr>
              <a:t></a:t>
            </a:r>
            <a:r>
              <a:rPr dirty="0" sz="2650" spc="-10">
                <a:latin typeface="Times New Roman"/>
                <a:cs typeface="Times New Roman"/>
              </a:rPr>
              <a:t> </a:t>
            </a:r>
            <a:r>
              <a:rPr dirty="0" sz="2800" spc="-420">
                <a:latin typeface="Symbol"/>
                <a:cs typeface="Symbol"/>
              </a:rPr>
              <a:t></a:t>
            </a:r>
            <a:r>
              <a:rPr dirty="0" sz="2800" spc="-420">
                <a:latin typeface="Times New Roman"/>
                <a:cs typeface="Times New Roman"/>
              </a:rPr>
              <a:t> </a:t>
            </a:r>
            <a:r>
              <a:rPr dirty="0" baseline="-21885" sz="2475" spc="7" i="1">
                <a:latin typeface="Times New Roman"/>
                <a:cs typeface="Times New Roman"/>
              </a:rPr>
              <a:t>i</a:t>
            </a:r>
            <a:r>
              <a:rPr dirty="0" baseline="-21885" sz="2475" spc="-209" i="1">
                <a:latin typeface="Times New Roman"/>
                <a:cs typeface="Times New Roman"/>
              </a:rPr>
              <a:t> </a:t>
            </a:r>
            <a:r>
              <a:rPr dirty="0" sz="2650" spc="15" i="1">
                <a:latin typeface="Times New Roman"/>
                <a:cs typeface="Times New Roman"/>
              </a:rPr>
              <a:t>R</a:t>
            </a:r>
            <a:r>
              <a:rPr dirty="0" baseline="-21885" sz="2475" spc="22" i="1">
                <a:latin typeface="Times New Roman"/>
                <a:cs typeface="Times New Roman"/>
              </a:rPr>
              <a:t>M	</a:t>
            </a:r>
            <a:r>
              <a:rPr dirty="0" sz="2650" spc="-10">
                <a:latin typeface="Symbol"/>
                <a:cs typeface="Symbol"/>
              </a:rPr>
              <a:t></a:t>
            </a:r>
            <a:r>
              <a:rPr dirty="0" sz="2650" spc="-10">
                <a:latin typeface="Times New Roman"/>
                <a:cs typeface="Times New Roman"/>
              </a:rPr>
              <a:t> </a:t>
            </a:r>
            <a:r>
              <a:rPr dirty="0" sz="2800" spc="-555">
                <a:latin typeface="Symbol"/>
                <a:cs typeface="Symbol"/>
              </a:rPr>
              <a:t></a:t>
            </a:r>
            <a:r>
              <a:rPr dirty="0" sz="2800" spc="-610">
                <a:latin typeface="Times New Roman"/>
                <a:cs typeface="Times New Roman"/>
              </a:rPr>
              <a:t> </a:t>
            </a:r>
            <a:r>
              <a:rPr dirty="0" baseline="-21885" sz="2475" spc="7" i="1">
                <a:latin typeface="Times New Roman"/>
                <a:cs typeface="Times New Roman"/>
              </a:rPr>
              <a:t>i</a:t>
            </a:r>
            <a:endParaRPr baseline="-21885" sz="24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6060" y="639572"/>
            <a:ext cx="614426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在</a:t>
            </a:r>
            <a:r>
              <a:rPr dirty="0" spc="25"/>
              <a:t>投</a:t>
            </a:r>
            <a:r>
              <a:rPr dirty="0" spc="5"/>
              <a:t>资组合选择</a:t>
            </a:r>
            <a:r>
              <a:rPr dirty="0" spc="25"/>
              <a:t>中</a:t>
            </a:r>
            <a:r>
              <a:rPr dirty="0" spc="-250"/>
              <a:t>运用</a:t>
            </a:r>
            <a:r>
              <a:rPr dirty="0" spc="-869"/>
              <a:t>CAPM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91"/>
            <a:ext cx="7886700" cy="43840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CAPM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了消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极投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资策略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依据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按市场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比例分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风险资产</a:t>
            </a:r>
            <a:endParaRPr sz="2800">
              <a:latin typeface="宋体"/>
              <a:cs typeface="宋体"/>
            </a:endParaRPr>
          </a:p>
          <a:p>
            <a:pPr lvl="1" marL="756285" marR="7620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该组合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产再组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获得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所希望的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准差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收益组合</a:t>
            </a:r>
            <a:endParaRPr sz="2800">
              <a:latin typeface="宋体"/>
              <a:cs typeface="宋体"/>
            </a:endParaRPr>
          </a:p>
          <a:p>
            <a:pPr marL="356870" marR="5334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指数法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充分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化的股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，与市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数近似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比积极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交易成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endParaRPr sz="28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历史上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7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积极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理的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资基金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业绩更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良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076" y="639572"/>
            <a:ext cx="512508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0"/>
              <a:t>Beta</a:t>
            </a:r>
            <a:r>
              <a:rPr dirty="0" spc="5"/>
              <a:t>值的基本决</a:t>
            </a:r>
            <a:r>
              <a:rPr dirty="0" spc="25"/>
              <a:t>定</a:t>
            </a:r>
            <a:r>
              <a:rPr dirty="0" spc="5"/>
              <a:t>因素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61820"/>
            <a:ext cx="7837805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估计一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的移动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电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话</a:t>
            </a:r>
            <a:endParaRPr sz="28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  <a:spcBef>
                <a:spcPts val="202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Beta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与商业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相关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20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生产技术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50">
              <a:latin typeface="宋体"/>
              <a:cs typeface="宋体"/>
            </a:endParaRPr>
          </a:p>
          <a:p>
            <a:pPr marL="368935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运营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（Operating Leverage）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076" y="639572"/>
            <a:ext cx="512508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94"/>
              <a:t>CAPM</a:t>
            </a:r>
            <a:r>
              <a:rPr dirty="0" spc="5"/>
              <a:t>的修正与替</a:t>
            </a:r>
            <a:r>
              <a:rPr dirty="0" spc="25"/>
              <a:t>代</a:t>
            </a:r>
            <a:r>
              <a:rPr dirty="0" spc="5"/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42364"/>
            <a:ext cx="42443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19655" algn="l"/>
              </a:tabLst>
            </a:pPr>
            <a:r>
              <a:rPr dirty="0" sz="30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F</a:t>
            </a:r>
            <a:r>
              <a:rPr dirty="0" sz="3000" spc="-175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3000" spc="-1345" b="1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dirty="0" sz="3000" spc="-175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3000" spc="204" b="1">
                <a:solidFill>
                  <a:srgbClr val="FFFFFF"/>
                </a:solidFill>
                <a:latin typeface="Microsoft JhengHei"/>
                <a:cs typeface="Microsoft JhengHei"/>
              </a:rPr>
              <a:t>-</a:t>
            </a:r>
            <a:r>
              <a:rPr dirty="0" sz="30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F</a:t>
            </a:r>
            <a:r>
              <a:rPr dirty="0" sz="3000" spc="325" b="1">
                <a:solidFill>
                  <a:srgbClr val="FFFFFF"/>
                </a:solidFill>
                <a:latin typeface="Microsoft JhengHei"/>
                <a:cs typeface="Microsoft JhengHei"/>
              </a:rPr>
              <a:t>r</a:t>
            </a:r>
            <a:r>
              <a:rPr dirty="0" sz="3000" spc="-210" b="1">
                <a:solidFill>
                  <a:srgbClr val="FFFFFF"/>
                </a:solidFill>
                <a:latin typeface="Microsoft JhengHei"/>
                <a:cs typeface="Microsoft JhengHei"/>
              </a:rPr>
              <a:t>e</a:t>
            </a:r>
            <a:r>
              <a:rPr dirty="0" sz="3000" spc="-370" b="1">
                <a:solidFill>
                  <a:srgbClr val="FFFFFF"/>
                </a:solidFill>
                <a:latin typeface="Microsoft JhengHei"/>
                <a:cs typeface="Microsoft JhengHei"/>
              </a:rPr>
              <a:t>n</a:t>
            </a:r>
            <a:r>
              <a:rPr dirty="0" sz="3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3000" spc="-375" b="1">
                <a:solidFill>
                  <a:srgbClr val="FFFFFF"/>
                </a:solidFill>
                <a:latin typeface="Microsoft JhengHei"/>
                <a:cs typeface="Microsoft JhengHei"/>
              </a:rPr>
              <a:t>h</a:t>
            </a:r>
            <a:r>
              <a:rPr dirty="0" sz="3000" b="1">
                <a:solidFill>
                  <a:srgbClr val="FFFFFF"/>
                </a:solidFill>
                <a:latin typeface="Microsoft JhengHei"/>
                <a:cs typeface="Microsoft JhengHei"/>
              </a:rPr>
              <a:t>	三因</a:t>
            </a:r>
            <a:r>
              <a:rPr dirty="0" sz="3000" spc="20" b="1">
                <a:solidFill>
                  <a:srgbClr val="FFFFFF"/>
                </a:solidFill>
                <a:latin typeface="Microsoft JhengHei"/>
                <a:cs typeface="Microsoft JhengHei"/>
              </a:rPr>
              <a:t>素模</a:t>
            </a:r>
            <a:r>
              <a:rPr dirty="0" sz="3000" b="1">
                <a:solidFill>
                  <a:srgbClr val="FFFFFF"/>
                </a:solidFill>
                <a:latin typeface="Microsoft JhengHei"/>
                <a:cs typeface="Microsoft JhengHei"/>
              </a:rPr>
              <a:t>型</a:t>
            </a:r>
            <a:endParaRPr sz="30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8928" y="2563368"/>
            <a:ext cx="6263640" cy="1871980"/>
          </a:xfrm>
          <a:custGeom>
            <a:avLst/>
            <a:gdLst/>
            <a:ahLst/>
            <a:cxnLst/>
            <a:rect l="l" t="t" r="r" b="b"/>
            <a:pathLst>
              <a:path w="6263640" h="1871979">
                <a:moveTo>
                  <a:pt x="0" y="0"/>
                </a:moveTo>
                <a:lnTo>
                  <a:pt x="0" y="1871472"/>
                </a:lnTo>
                <a:lnTo>
                  <a:pt x="6263640" y="1871472"/>
                </a:lnTo>
                <a:lnTo>
                  <a:pt x="6263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28927" y="2563368"/>
            <a:ext cx="6263640" cy="1871980"/>
          </a:xfrm>
          <a:custGeom>
            <a:avLst/>
            <a:gdLst/>
            <a:ahLst/>
            <a:cxnLst/>
            <a:rect l="l" t="t" r="r" b="b"/>
            <a:pathLst>
              <a:path w="6263640" h="1871979">
                <a:moveTo>
                  <a:pt x="0" y="0"/>
                </a:moveTo>
                <a:lnTo>
                  <a:pt x="0" y="1871471"/>
                </a:lnTo>
                <a:lnTo>
                  <a:pt x="6263639" y="1871471"/>
                </a:lnTo>
                <a:lnTo>
                  <a:pt x="626363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83279" y="3986276"/>
            <a:ext cx="1060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9376" y="3483355"/>
            <a:ext cx="1060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1255" y="3634458"/>
            <a:ext cx="393763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47345" algn="l"/>
              </a:tabLst>
            </a:pPr>
            <a:r>
              <a:rPr dirty="0" sz="2650" spc="-385">
                <a:latin typeface="Symbol"/>
                <a:cs typeface="Symbol"/>
              </a:rPr>
              <a:t></a:t>
            </a:r>
            <a:r>
              <a:rPr dirty="0" sz="2650" spc="-385">
                <a:latin typeface="Times New Roman"/>
                <a:cs typeface="Times New Roman"/>
              </a:rPr>
              <a:t>	</a:t>
            </a:r>
            <a:r>
              <a:rPr dirty="0" sz="2500" spc="150">
                <a:latin typeface="Symbol"/>
                <a:cs typeface="Symbol"/>
              </a:rPr>
              <a:t></a:t>
            </a:r>
            <a:r>
              <a:rPr dirty="0" sz="2500" spc="-335">
                <a:latin typeface="Times New Roman"/>
                <a:cs typeface="Times New Roman"/>
              </a:rPr>
              <a:t> </a:t>
            </a:r>
            <a:r>
              <a:rPr dirty="0" sz="3600" spc="-530">
                <a:latin typeface="Symbol"/>
                <a:cs typeface="Symbol"/>
              </a:rPr>
              <a:t></a:t>
            </a:r>
            <a:r>
              <a:rPr dirty="0" sz="2500" spc="40">
                <a:latin typeface="宋体"/>
                <a:cs typeface="宋体"/>
              </a:rPr>
              <a:t>账</a:t>
            </a:r>
            <a:r>
              <a:rPr dirty="0" sz="2500" spc="20">
                <a:latin typeface="宋体"/>
                <a:cs typeface="宋体"/>
              </a:rPr>
              <a:t>面</a:t>
            </a:r>
            <a:r>
              <a:rPr dirty="0" sz="2500" spc="-919">
                <a:latin typeface="宋体"/>
                <a:cs typeface="宋体"/>
              </a:rPr>
              <a:t> </a:t>
            </a:r>
            <a:r>
              <a:rPr dirty="0" sz="2500" spc="-1120">
                <a:latin typeface="Symbol"/>
                <a:cs typeface="Symbol"/>
              </a:rPr>
              <a:t></a:t>
            </a:r>
            <a:r>
              <a:rPr dirty="0" sz="2500" spc="-330">
                <a:latin typeface="Times New Roman"/>
                <a:cs typeface="Times New Roman"/>
              </a:rPr>
              <a:t> </a:t>
            </a:r>
            <a:r>
              <a:rPr dirty="0" sz="2500" spc="40">
                <a:latin typeface="宋体"/>
                <a:cs typeface="宋体"/>
              </a:rPr>
              <a:t>市值比风险收</a:t>
            </a:r>
            <a:r>
              <a:rPr dirty="0" sz="2500" spc="65">
                <a:latin typeface="宋体"/>
                <a:cs typeface="宋体"/>
              </a:rPr>
              <a:t>益</a:t>
            </a:r>
            <a:r>
              <a:rPr dirty="0" sz="3600" spc="-370">
                <a:latin typeface="Symbol"/>
                <a:cs typeface="Symbol"/>
              </a:rPr>
              <a:t>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1255" y="3118078"/>
            <a:ext cx="4203065" cy="589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59410" algn="l"/>
              </a:tabLst>
            </a:pPr>
            <a:r>
              <a:rPr dirty="0" sz="2650" spc="-385">
                <a:latin typeface="Symbol"/>
                <a:cs typeface="Symbol"/>
              </a:rPr>
              <a:t></a:t>
            </a:r>
            <a:r>
              <a:rPr dirty="0" sz="2650" spc="-385">
                <a:latin typeface="Times New Roman"/>
                <a:cs typeface="Times New Roman"/>
              </a:rPr>
              <a:t>	</a:t>
            </a:r>
            <a:r>
              <a:rPr dirty="0" sz="2500" spc="150">
                <a:latin typeface="Symbol"/>
                <a:cs typeface="Symbol"/>
              </a:rPr>
              <a:t></a:t>
            </a:r>
            <a:r>
              <a:rPr dirty="0" sz="2500" spc="-370">
                <a:latin typeface="Times New Roman"/>
                <a:cs typeface="Times New Roman"/>
              </a:rPr>
              <a:t> </a:t>
            </a:r>
            <a:r>
              <a:rPr dirty="0" sz="3700" spc="-640">
                <a:latin typeface="Symbol"/>
                <a:cs typeface="Symbol"/>
              </a:rPr>
              <a:t></a:t>
            </a:r>
            <a:r>
              <a:rPr dirty="0" sz="2500" spc="40">
                <a:latin typeface="宋体"/>
                <a:cs typeface="宋体"/>
              </a:rPr>
              <a:t>与规模相关的风险收</a:t>
            </a:r>
            <a:r>
              <a:rPr dirty="0" sz="2500" spc="65">
                <a:latin typeface="宋体"/>
                <a:cs typeface="宋体"/>
              </a:rPr>
              <a:t>益</a:t>
            </a:r>
            <a:r>
              <a:rPr dirty="0" sz="3700" spc="-110">
                <a:latin typeface="Symbol"/>
                <a:cs typeface="Symbol"/>
              </a:rPr>
              <a:t></a:t>
            </a:r>
            <a:r>
              <a:rPr dirty="0" sz="2500" spc="-110">
                <a:latin typeface="Symbol"/>
                <a:cs typeface="Symbol"/>
              </a:rPr>
              <a:t>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3864" y="2931668"/>
            <a:ext cx="70612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600075" algn="l"/>
              </a:tabLst>
            </a:pPr>
            <a:r>
              <a:rPr dirty="0" sz="1450" i="1">
                <a:latin typeface="Times New Roman"/>
                <a:cs typeface="Times New Roman"/>
              </a:rPr>
              <a:t>f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2560" y="2579851"/>
            <a:ext cx="535178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233930" algn="l"/>
                <a:tab pos="2797810" algn="l"/>
              </a:tabLst>
            </a:pPr>
            <a:r>
              <a:rPr dirty="0" sz="2500" spc="40">
                <a:latin typeface="宋体"/>
                <a:cs typeface="宋体"/>
              </a:rPr>
              <a:t>期望收益</a:t>
            </a:r>
            <a:r>
              <a:rPr dirty="0" sz="2500" spc="20">
                <a:latin typeface="宋体"/>
                <a:cs typeface="宋体"/>
              </a:rPr>
              <a:t>率</a:t>
            </a:r>
            <a:r>
              <a:rPr dirty="0" sz="2500" spc="-770">
                <a:latin typeface="宋体"/>
                <a:cs typeface="宋体"/>
              </a:rPr>
              <a:t> </a:t>
            </a:r>
            <a:r>
              <a:rPr dirty="0" sz="2500" spc="10">
                <a:latin typeface="Symbol"/>
                <a:cs typeface="Symbol"/>
              </a:rPr>
              <a:t>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 spc="5" i="1">
                <a:latin typeface="Times New Roman"/>
                <a:cs typeface="Times New Roman"/>
              </a:rPr>
              <a:t>r	</a:t>
            </a:r>
            <a:r>
              <a:rPr dirty="0" sz="2500" spc="10">
                <a:latin typeface="Symbol"/>
                <a:cs typeface="Symbol"/>
              </a:rPr>
              <a:t>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650" spc="-385">
                <a:latin typeface="Symbol"/>
                <a:cs typeface="Symbol"/>
              </a:rPr>
              <a:t></a:t>
            </a:r>
            <a:r>
              <a:rPr dirty="0" sz="2650" spc="-385">
                <a:latin typeface="Times New Roman"/>
                <a:cs typeface="Times New Roman"/>
              </a:rPr>
              <a:t>	</a:t>
            </a:r>
            <a:r>
              <a:rPr dirty="0" sz="2500" spc="150">
                <a:latin typeface="Symbol"/>
                <a:cs typeface="Symbol"/>
              </a:rPr>
              <a:t></a:t>
            </a:r>
            <a:r>
              <a:rPr dirty="0" sz="2500" spc="-345">
                <a:latin typeface="Times New Roman"/>
                <a:cs typeface="Times New Roman"/>
              </a:rPr>
              <a:t> </a:t>
            </a:r>
            <a:r>
              <a:rPr dirty="0" sz="3600" spc="-605">
                <a:latin typeface="Symbol"/>
                <a:cs typeface="Symbol"/>
              </a:rPr>
              <a:t></a:t>
            </a:r>
            <a:r>
              <a:rPr dirty="0" sz="2500" spc="40">
                <a:latin typeface="宋体"/>
                <a:cs typeface="宋体"/>
              </a:rPr>
              <a:t>市场风险收</a:t>
            </a:r>
            <a:r>
              <a:rPr dirty="0" sz="2500" spc="65">
                <a:latin typeface="宋体"/>
                <a:cs typeface="宋体"/>
              </a:rPr>
              <a:t>益</a:t>
            </a:r>
            <a:r>
              <a:rPr dirty="0" sz="3600" spc="-95">
                <a:latin typeface="Symbol"/>
                <a:cs typeface="Symbol"/>
              </a:rPr>
              <a:t></a:t>
            </a:r>
            <a:r>
              <a:rPr dirty="0" sz="2500" spc="-95">
                <a:latin typeface="Symbol"/>
                <a:cs typeface="Symbol"/>
              </a:rPr>
              <a:t></a:t>
            </a:r>
            <a:endParaRPr sz="2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2023-10-22T13:35:29Z</dcterms:created>
  <dcterms:modified xsi:type="dcterms:W3CDTF">2023-10-22T13:35:29Z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