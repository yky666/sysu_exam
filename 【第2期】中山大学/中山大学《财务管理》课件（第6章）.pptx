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46888" y="280416"/>
            <a:ext cx="1060704" cy="1054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511808" y="594364"/>
            <a:ext cx="3840455" cy="469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362455" y="1100329"/>
            <a:ext cx="4142220" cy="192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15823" y="112776"/>
            <a:ext cx="8891270" cy="6598920"/>
          </a:xfrm>
          <a:custGeom>
            <a:avLst/>
            <a:gdLst/>
            <a:ahLst/>
            <a:cxnLst/>
            <a:rect l="l" t="t" r="r" b="b"/>
            <a:pathLst>
              <a:path w="8891270" h="6598920">
                <a:moveTo>
                  <a:pt x="0" y="0"/>
                </a:moveTo>
                <a:lnTo>
                  <a:pt x="0" y="6598919"/>
                </a:lnTo>
                <a:lnTo>
                  <a:pt x="8891015" y="6598919"/>
                </a:lnTo>
                <a:lnTo>
                  <a:pt x="889101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79704" y="36438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679704" y="36469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679704" y="36499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679704" y="36530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679704" y="36560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679704" y="36591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679704" y="36621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679704" y="36652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679704" y="36682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79704" y="36713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679704" y="36743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679704" y="36774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679704" y="36804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679704" y="36835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679704" y="36865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679704" y="36896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679704" y="36926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679704" y="36957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679704" y="36987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679704" y="37017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679704" y="37048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679704" y="37078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679704" y="371094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679704" y="371398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679704" y="371703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679704" y="37200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679704" y="37231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679704" y="37261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679704" y="37292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679704" y="37322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679704" y="37353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679704" y="37383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679704" y="37414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679704" y="37444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679704" y="37475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679704" y="37505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679704" y="37536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679704" y="37566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679704" y="37597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679704" y="37627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679704" y="37658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679704" y="37688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679704" y="37719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679704" y="37749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679704" y="37779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k object 66"/>
          <p:cNvSpPr/>
          <p:nvPr/>
        </p:nvSpPr>
        <p:spPr>
          <a:xfrm>
            <a:off x="679704" y="37810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k object 67"/>
          <p:cNvSpPr/>
          <p:nvPr/>
        </p:nvSpPr>
        <p:spPr>
          <a:xfrm>
            <a:off x="679704" y="37840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121920" y="148285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121920" y="148590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121920" y="14889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121920" y="14919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121920" y="14950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121920" y="14980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121920" y="15011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121920" y="15041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121920" y="15072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121920" y="15102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121920" y="15133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121920" y="15163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121920" y="15194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121920" y="15224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121920" y="15255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121920" y="15285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121920" y="15316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121920" y="15346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121920" y="15377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121920" y="15407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121920" y="15438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121920" y="15468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121920" y="15499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121920" y="15529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6155" y="639572"/>
            <a:ext cx="3091688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6813" y="1613103"/>
            <a:ext cx="8310372" cy="3872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2760980"/>
            <a:ext cx="45974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5665" algn="l"/>
              </a:tabLst>
            </a:pPr>
            <a:r>
              <a:rPr dirty="0" sz="4800"/>
              <a:t>第六章</a:t>
            </a:r>
            <a:r>
              <a:rPr dirty="0" sz="4800"/>
              <a:t>	</a:t>
            </a:r>
            <a:r>
              <a:rPr dirty="0" sz="4800"/>
              <a:t>证券估价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0588" y="1567383"/>
            <a:ext cx="6523990" cy="464058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债券的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定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价</a:t>
            </a:r>
            <a:endParaRPr sz="2800">
              <a:latin typeface="Microsoft JhengHei"/>
              <a:cs typeface="Microsoft JhengHei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固定利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率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支付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债券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的定价</a:t>
            </a:r>
            <a:endParaRPr sz="2800">
              <a:latin typeface="Microsoft JhengHei"/>
              <a:cs typeface="Microsoft JhengHei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无利息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支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付债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券（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零息债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券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）的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定</a:t>
            </a:r>
            <a:r>
              <a:rPr dirty="0" sz="2800" spc="-2710" b="1">
                <a:solidFill>
                  <a:srgbClr val="FFFFFF"/>
                </a:solidFill>
                <a:latin typeface="Microsoft JhengHei"/>
                <a:cs typeface="Microsoft JhengHei"/>
              </a:rPr>
              <a:t>价</a:t>
            </a:r>
            <a:endParaRPr sz="2800">
              <a:latin typeface="Microsoft JhengHei"/>
              <a:cs typeface="Microsoft JhengHei"/>
            </a:endParaRPr>
          </a:p>
          <a:p>
            <a:pPr marL="469900">
              <a:lnSpc>
                <a:spcPct val="100000"/>
              </a:lnSpc>
              <a:spcBef>
                <a:spcPts val="69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一年内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多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次付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息的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债券定价</a:t>
            </a:r>
            <a:endParaRPr sz="2800">
              <a:latin typeface="Microsoft JhengHei"/>
              <a:cs typeface="Microsoft JhengHei"/>
            </a:endParaRPr>
          </a:p>
          <a:p>
            <a:pPr marL="12700" marR="2848610" indent="457200">
              <a:lnSpc>
                <a:spcPct val="12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债券的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到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期收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益</a:t>
            </a:r>
            <a:r>
              <a:rPr dirty="0" sz="2800" spc="-2805" b="1">
                <a:solidFill>
                  <a:srgbClr val="FFFFFF"/>
                </a:solidFill>
                <a:latin typeface="Microsoft JhengHei"/>
                <a:cs typeface="Microsoft JhengHei"/>
              </a:rPr>
              <a:t>率 </a:t>
            </a: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股票的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定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价</a:t>
            </a:r>
            <a:endParaRPr sz="2800">
              <a:latin typeface="Microsoft JhengHei"/>
              <a:cs typeface="Microsoft JhengHei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优先股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定价</a:t>
            </a:r>
            <a:endParaRPr sz="2800">
              <a:latin typeface="Microsoft JhengHei"/>
              <a:cs typeface="Microsoft JhengHei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普通股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定价</a:t>
            </a:r>
            <a:endParaRPr sz="2800">
              <a:latin typeface="Microsoft JhengHei"/>
              <a:cs typeface="Microsoft JhengHei"/>
            </a:endParaRPr>
          </a:p>
          <a:p>
            <a:pPr marL="469900">
              <a:lnSpc>
                <a:spcPct val="100000"/>
              </a:lnSpc>
              <a:spcBef>
                <a:spcPts val="69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股票的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收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益率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5235" y="639572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债券的</a:t>
            </a:r>
            <a:r>
              <a:rPr dirty="0" spc="-20"/>
              <a:t>定</a:t>
            </a:r>
            <a:r>
              <a:rPr dirty="0" spc="5"/>
              <a:t>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39316"/>
            <a:ext cx="7990205" cy="444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6870" marR="5080" indent="-344805">
              <a:lnSpc>
                <a:spcPct val="100000"/>
              </a:lnSpc>
              <a:spcBef>
                <a:spcPts val="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债券（Bond）：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是指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发行者为筹集资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金，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向债券人发行 的，在约定的时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间支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付一定比例的利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息，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并在到期时偿 还本金的一种有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价证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券。在西方也有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无到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期日的永久债 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券。</a:t>
            </a:r>
            <a:endParaRPr sz="25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债券面值（Par</a:t>
            </a:r>
            <a:r>
              <a:rPr dirty="0" sz="2500" spc="-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500">
                <a:solidFill>
                  <a:srgbClr val="FFFFFF"/>
                </a:solidFill>
                <a:latin typeface="宋体"/>
                <a:cs typeface="宋体"/>
              </a:rPr>
              <a:t>value）：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指设定的票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面金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额。对于有 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期限的债券，其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面值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指的是到期日支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付的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价值，也就是 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该票据的终值，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在西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方，票面价值一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般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500">
                <a:solidFill>
                  <a:srgbClr val="FFFFFF"/>
                </a:solidFill>
                <a:latin typeface="宋体"/>
                <a:cs typeface="宋体"/>
              </a:rPr>
              <a:t>1000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美元。</a:t>
            </a:r>
            <a:endParaRPr sz="2500">
              <a:latin typeface="宋体"/>
              <a:cs typeface="宋体"/>
            </a:endParaRPr>
          </a:p>
          <a:p>
            <a:pPr marL="356870" marR="163195" indent="-344805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息票率（票面利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500">
                <a:solidFill>
                  <a:srgbClr val="FFFFFF"/>
                </a:solidFill>
                <a:latin typeface="宋体"/>
                <a:cs typeface="宋体"/>
              </a:rPr>
              <a:t>，Coupon</a:t>
            </a:r>
            <a:r>
              <a:rPr dirty="0" sz="2500" spc="-7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rate）债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券的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标定利率，  也是名义利率（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以年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利率表示）。</a:t>
            </a:r>
            <a:endParaRPr sz="25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债券可以按不同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的方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式进行分类，但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在这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里，只区分固 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定利率支付债券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和零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息支付债券的定</a:t>
            </a:r>
            <a:r>
              <a:rPr dirty="0" sz="2500" spc="15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5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5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5235" y="639572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债券的</a:t>
            </a:r>
            <a:r>
              <a:rPr dirty="0" spc="-20"/>
              <a:t>定</a:t>
            </a:r>
            <a:r>
              <a:rPr dirty="0" spc="5"/>
              <a:t>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316" y="1607007"/>
            <a:ext cx="7861934" cy="465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725170">
              <a:lnSpc>
                <a:spcPct val="155100"/>
              </a:lnSpc>
              <a:spcBef>
                <a:spcPts val="9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种投资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流出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是其购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价格，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息和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归还的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或者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出售时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到 的现金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未来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是债券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 值或其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只有债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于购买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格 时，才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得购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买。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作出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决策时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须 估计债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即要对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行定价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 便作出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确的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决策。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235" y="639572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固定利</a:t>
            </a:r>
            <a:r>
              <a:rPr dirty="0" spc="-20"/>
              <a:t>率</a:t>
            </a:r>
            <a:r>
              <a:rPr dirty="0" spc="5"/>
              <a:t>支</a:t>
            </a:r>
            <a:r>
              <a:rPr dirty="0" spc="-20"/>
              <a:t>付</a:t>
            </a:r>
            <a:r>
              <a:rPr dirty="0" spc="5"/>
              <a:t>债券的</a:t>
            </a:r>
            <a:r>
              <a:rPr dirty="0" spc="-20"/>
              <a:t>定</a:t>
            </a:r>
            <a:r>
              <a:rPr dirty="0" spc="5"/>
              <a:t>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840484"/>
            <a:ext cx="8029575" cy="4117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有到期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55200"/>
              </a:lnSpc>
              <a:spcBef>
                <a:spcPts val="278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【例】</a:t>
            </a:r>
            <a:r>
              <a:rPr dirty="0" sz="2800" spc="-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1995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买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C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司同年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日发 行的面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100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000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元的五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面利率为 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10%，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而市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8%，10％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12％（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即投资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要 求的投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报酬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。假设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年支付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次 利息，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问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分别出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多少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来购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买该债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235" y="639572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固定利</a:t>
            </a:r>
            <a:r>
              <a:rPr dirty="0" spc="-20"/>
              <a:t>率</a:t>
            </a:r>
            <a:r>
              <a:rPr dirty="0" spc="5"/>
              <a:t>支</a:t>
            </a:r>
            <a:r>
              <a:rPr dirty="0" spc="-20"/>
              <a:t>付</a:t>
            </a:r>
            <a:r>
              <a:rPr dirty="0" spc="5"/>
              <a:t>债券的</a:t>
            </a:r>
            <a:r>
              <a:rPr dirty="0" spc="-20"/>
              <a:t>定</a:t>
            </a:r>
            <a:r>
              <a:rPr dirty="0" spc="5"/>
              <a:t>价</a:t>
            </a:r>
          </a:p>
        </p:txBody>
      </p:sp>
      <p:sp>
        <p:nvSpPr>
          <p:cNvPr id="3" name="object 3"/>
          <p:cNvSpPr/>
          <p:nvPr/>
        </p:nvSpPr>
        <p:spPr>
          <a:xfrm>
            <a:off x="1051559" y="5852160"/>
            <a:ext cx="6096000" cy="0"/>
          </a:xfrm>
          <a:custGeom>
            <a:avLst/>
            <a:gdLst/>
            <a:ahLst/>
            <a:cxnLst/>
            <a:rect l="l" t="t" r="r" b="b"/>
            <a:pathLst>
              <a:path w="6096000" h="0">
                <a:moveTo>
                  <a:pt x="0" y="0"/>
                </a:moveTo>
                <a:lnTo>
                  <a:pt x="609599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270760" y="5181600"/>
            <a:ext cx="0" cy="670560"/>
          </a:xfrm>
          <a:custGeom>
            <a:avLst/>
            <a:gdLst/>
            <a:ahLst/>
            <a:cxnLst/>
            <a:rect l="l" t="t" r="r" b="b"/>
            <a:pathLst>
              <a:path w="0" h="670560">
                <a:moveTo>
                  <a:pt x="0" y="670559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21992" y="5093208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48768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487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89959" y="5181600"/>
            <a:ext cx="0" cy="670560"/>
          </a:xfrm>
          <a:custGeom>
            <a:avLst/>
            <a:gdLst/>
            <a:ahLst/>
            <a:cxnLst/>
            <a:rect l="l" t="t" r="r" b="b"/>
            <a:pathLst>
              <a:path w="0" h="670560">
                <a:moveTo>
                  <a:pt x="0" y="670559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41192" y="5093208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48768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487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09159" y="5181600"/>
            <a:ext cx="0" cy="670560"/>
          </a:xfrm>
          <a:custGeom>
            <a:avLst/>
            <a:gdLst/>
            <a:ahLst/>
            <a:cxnLst/>
            <a:rect l="l" t="t" r="r" b="b"/>
            <a:pathLst>
              <a:path w="0" h="670560">
                <a:moveTo>
                  <a:pt x="0" y="670559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60392" y="5093208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48768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487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28359" y="5181600"/>
            <a:ext cx="0" cy="670560"/>
          </a:xfrm>
          <a:custGeom>
            <a:avLst/>
            <a:gdLst/>
            <a:ahLst/>
            <a:cxnLst/>
            <a:rect l="l" t="t" r="r" b="b"/>
            <a:pathLst>
              <a:path w="0" h="670560">
                <a:moveTo>
                  <a:pt x="0" y="670559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79592" y="5093208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48768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487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47559" y="4191000"/>
            <a:ext cx="0" cy="1661160"/>
          </a:xfrm>
          <a:custGeom>
            <a:avLst/>
            <a:gdLst/>
            <a:ahLst/>
            <a:cxnLst/>
            <a:rect l="l" t="t" r="r" b="b"/>
            <a:pathLst>
              <a:path w="0" h="1661160">
                <a:moveTo>
                  <a:pt x="0" y="1661159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098792" y="4099560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5" h="100964">
                <a:moveTo>
                  <a:pt x="48768" y="0"/>
                </a:moveTo>
                <a:lnTo>
                  <a:pt x="0" y="100584"/>
                </a:lnTo>
                <a:lnTo>
                  <a:pt x="100584" y="100584"/>
                </a:lnTo>
                <a:lnTo>
                  <a:pt x="487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80947" y="579983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00148" y="579983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19348" y="579983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38548" y="579983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81548" y="579983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76947" y="5799836"/>
            <a:ext cx="863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400" spc="-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Microsoft JhengHei"/>
                <a:cs typeface="Microsoft JhengHei"/>
              </a:rPr>
              <a:t>年末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0116" y="1523492"/>
            <a:ext cx="8569325" cy="36010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25170">
              <a:lnSpc>
                <a:spcPct val="100000"/>
              </a:lnSpc>
              <a:spcBef>
                <a:spcPts val="10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个固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定利息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付的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例子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，未来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入的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值就是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票据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值，也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具的价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 marR="7620" indent="725170">
              <a:lnSpc>
                <a:spcPct val="100000"/>
              </a:lnSpc>
              <a:spcBef>
                <a:spcPts val="700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来现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流入有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种：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每年相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的利息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10000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元，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收到的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面本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100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000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这两者 的贴现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即是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该债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券的价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r" marR="1356360">
              <a:lnSpc>
                <a:spcPts val="2250"/>
              </a:lnSpc>
            </a:pPr>
            <a:r>
              <a:rPr dirty="0" sz="2400" spc="5" b="1">
                <a:solidFill>
                  <a:srgbClr val="FFFFFF"/>
                </a:solidFill>
                <a:latin typeface="Arial"/>
                <a:cs typeface="Arial"/>
              </a:rPr>
              <a:t>1100</a:t>
            </a:r>
            <a:r>
              <a:rPr dirty="0" sz="2400" spc="-15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1564005">
              <a:lnSpc>
                <a:spcPct val="100000"/>
              </a:lnSpc>
              <a:spcBef>
                <a:spcPts val="2415"/>
              </a:spcBef>
              <a:tabLst>
                <a:tab pos="2859405" algn="l"/>
                <a:tab pos="4002404" algn="l"/>
                <a:tab pos="5297805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10000	10000	10000	10000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235" y="639572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固定利</a:t>
            </a:r>
            <a:r>
              <a:rPr dirty="0" spc="-20"/>
              <a:t>率</a:t>
            </a:r>
            <a:r>
              <a:rPr dirty="0" spc="5"/>
              <a:t>支</a:t>
            </a:r>
            <a:r>
              <a:rPr dirty="0" spc="-20"/>
              <a:t>付</a:t>
            </a:r>
            <a:r>
              <a:rPr dirty="0" spc="5"/>
              <a:t>债券的</a:t>
            </a:r>
            <a:r>
              <a:rPr dirty="0" spc="-20"/>
              <a:t>定</a:t>
            </a:r>
            <a:r>
              <a:rPr dirty="0" spc="5"/>
              <a:t>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42364"/>
            <a:ext cx="8307070" cy="494284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356870" marR="20955" indent="-344805">
              <a:lnSpc>
                <a:spcPct val="100800"/>
              </a:lnSpc>
              <a:spcBef>
                <a:spcPts val="6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如果市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率为8</a:t>
            </a:r>
            <a:r>
              <a:rPr dirty="0" sz="2600" spc="15">
                <a:solidFill>
                  <a:srgbClr val="FFFFFF"/>
                </a:solidFill>
                <a:latin typeface="宋体"/>
                <a:cs typeface="宋体"/>
              </a:rPr>
              <a:t>%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那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么该债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流入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流应该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按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照8%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来贴现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:</a:t>
            </a:r>
            <a:endParaRPr sz="26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434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V = 10000 ×(P/A,8%，5) + 100000</a:t>
            </a:r>
            <a:r>
              <a:rPr dirty="0" sz="2000" spc="8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×(P/F,8%，5)</a:t>
            </a:r>
            <a:endParaRPr sz="2000">
              <a:latin typeface="宋体"/>
              <a:cs typeface="宋体"/>
            </a:endParaRPr>
          </a:p>
          <a:p>
            <a:pPr marL="597535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=10000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 ×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3.9927</a:t>
            </a:r>
            <a:r>
              <a:rPr dirty="0" sz="2000" spc="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100000</a:t>
            </a:r>
            <a:r>
              <a:rPr dirty="0" sz="2000" spc="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×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0.6806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107987(</a:t>
            </a:r>
            <a:r>
              <a:rPr dirty="0" sz="2000" spc="-35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500" spc="-100" b="1">
                <a:solidFill>
                  <a:srgbClr val="FFFFFF"/>
                </a:solidFill>
                <a:latin typeface="Microsoft JhengHei"/>
                <a:cs typeface="Microsoft JhengHei"/>
              </a:rPr>
              <a:t>溢价购买</a:t>
            </a:r>
            <a:endParaRPr sz="2500">
              <a:latin typeface="Microsoft JhengHei"/>
              <a:cs typeface="Microsoft JhengHei"/>
            </a:endParaRPr>
          </a:p>
          <a:p>
            <a:pPr marL="356870" marR="184785" indent="-344805">
              <a:lnSpc>
                <a:spcPct val="100800"/>
              </a:lnSpc>
              <a:spcBef>
                <a:spcPts val="5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如果市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率为1</a:t>
            </a:r>
            <a:r>
              <a:rPr dirty="0" sz="2600" spc="15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%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那么该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券流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金流应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按照  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10%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贴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endParaRPr sz="26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434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V=10000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×（P/A,10%,5) +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100000</a:t>
            </a:r>
            <a:r>
              <a:rPr dirty="0" sz="20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×(P/F,10%,5)</a:t>
            </a:r>
            <a:endParaRPr sz="2000">
              <a:latin typeface="宋体"/>
              <a:cs typeface="宋体"/>
            </a:endParaRPr>
          </a:p>
          <a:p>
            <a:pPr marL="597535">
              <a:lnSpc>
                <a:spcPct val="100000"/>
              </a:lnSpc>
              <a:spcBef>
                <a:spcPts val="484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=10000</a:t>
            </a:r>
            <a:r>
              <a:rPr dirty="0" sz="20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×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3.7908</a:t>
            </a:r>
            <a:r>
              <a:rPr dirty="0" sz="2000" spc="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100000</a:t>
            </a:r>
            <a:r>
              <a:rPr dirty="0" sz="2000" spc="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×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0.62092</a:t>
            </a:r>
            <a:r>
              <a:rPr dirty="0" sz="20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100000（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元）</a:t>
            </a:r>
            <a:r>
              <a:rPr dirty="0" sz="2500" spc="-80" b="1">
                <a:solidFill>
                  <a:srgbClr val="FFFFFF"/>
                </a:solidFill>
                <a:latin typeface="Microsoft JhengHei"/>
                <a:cs typeface="Microsoft JhengHei"/>
              </a:rPr>
              <a:t>平</a:t>
            </a:r>
            <a:r>
              <a:rPr dirty="0" sz="2500" spc="-100" b="1">
                <a:solidFill>
                  <a:srgbClr val="FFFFFF"/>
                </a:solidFill>
                <a:latin typeface="Microsoft JhengHei"/>
                <a:cs typeface="Microsoft JhengHei"/>
              </a:rPr>
              <a:t>价购买</a:t>
            </a:r>
            <a:endParaRPr sz="2500">
              <a:latin typeface="Microsoft JhengHei"/>
              <a:cs typeface="Microsoft JhengHei"/>
            </a:endParaRPr>
          </a:p>
          <a:p>
            <a:pPr marL="356870" marR="184785" indent="-344805">
              <a:lnSpc>
                <a:spcPct val="100800"/>
              </a:lnSpc>
              <a:spcBef>
                <a:spcPts val="5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如果市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率为1</a:t>
            </a:r>
            <a:r>
              <a:rPr dirty="0" sz="2600" spc="1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%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那么该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券流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金流应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按照  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12%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贴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endParaRPr sz="26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39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V = 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10000 ×（P/A,12%,5)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+ 100000</a:t>
            </a:r>
            <a:r>
              <a:rPr dirty="0" sz="1800" spc="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×(P/F,12%,5)</a:t>
            </a:r>
            <a:endParaRPr sz="1800">
              <a:latin typeface="宋体"/>
              <a:cs typeface="宋体"/>
            </a:endParaRPr>
          </a:p>
          <a:p>
            <a:pPr marL="701040">
              <a:lnSpc>
                <a:spcPct val="100000"/>
              </a:lnSpc>
              <a:spcBef>
                <a:spcPts val="5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 10000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×</a:t>
            </a:r>
            <a:r>
              <a:rPr dirty="0" sz="18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3.6048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+ 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100000</a:t>
            </a:r>
            <a:r>
              <a:rPr dirty="0" sz="1800" spc="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×</a:t>
            </a:r>
            <a:r>
              <a:rPr dirty="0" sz="18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0.5674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= 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92788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元）</a:t>
            </a:r>
            <a:r>
              <a:rPr dirty="0" sz="2500" spc="-100" b="1">
                <a:solidFill>
                  <a:srgbClr val="FFFFFF"/>
                </a:solidFill>
                <a:latin typeface="Microsoft JhengHei"/>
                <a:cs typeface="Microsoft JhengHei"/>
              </a:rPr>
              <a:t>折价购买</a:t>
            </a:r>
            <a:endParaRPr sz="25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235" y="639572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固定利</a:t>
            </a:r>
            <a:r>
              <a:rPr dirty="0" spc="-20"/>
              <a:t>率</a:t>
            </a:r>
            <a:r>
              <a:rPr dirty="0" spc="5"/>
              <a:t>支</a:t>
            </a:r>
            <a:r>
              <a:rPr dirty="0" spc="-20"/>
              <a:t>付</a:t>
            </a:r>
            <a:r>
              <a:rPr dirty="0" spc="5"/>
              <a:t>债券的</a:t>
            </a:r>
            <a:r>
              <a:rPr dirty="0" spc="-20"/>
              <a:t>定</a:t>
            </a:r>
            <a:r>
              <a:rPr dirty="0" spc="5"/>
              <a:t>价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473075" marR="5080" indent="725170">
              <a:lnSpc>
                <a:spcPct val="150300"/>
              </a:lnSpc>
              <a:spcBef>
                <a:spcPts val="85"/>
              </a:spcBef>
            </a:pPr>
            <a:r>
              <a:rPr dirty="0" spc="-20"/>
              <a:t>从</a:t>
            </a:r>
            <a:r>
              <a:rPr dirty="0" spc="5"/>
              <a:t>上面</a:t>
            </a:r>
            <a:r>
              <a:rPr dirty="0" spc="-20"/>
              <a:t>的三</a:t>
            </a:r>
            <a:r>
              <a:rPr dirty="0" spc="5"/>
              <a:t>个例子</a:t>
            </a:r>
            <a:r>
              <a:rPr dirty="0" spc="-20"/>
              <a:t>我</a:t>
            </a:r>
            <a:r>
              <a:rPr dirty="0" spc="5"/>
              <a:t>们已</a:t>
            </a:r>
            <a:r>
              <a:rPr dirty="0" spc="-20"/>
              <a:t>经看</a:t>
            </a:r>
            <a:r>
              <a:rPr dirty="0" spc="5"/>
              <a:t>出：债</a:t>
            </a:r>
            <a:r>
              <a:rPr dirty="0" spc="-20"/>
              <a:t>券</a:t>
            </a:r>
            <a:r>
              <a:rPr dirty="0" spc="5"/>
              <a:t>的价 格是由</a:t>
            </a:r>
            <a:r>
              <a:rPr dirty="0" spc="-20"/>
              <a:t>票</a:t>
            </a:r>
            <a:r>
              <a:rPr dirty="0" spc="5"/>
              <a:t>面面</a:t>
            </a:r>
            <a:r>
              <a:rPr dirty="0" spc="-20"/>
              <a:t>值、</a:t>
            </a:r>
            <a:r>
              <a:rPr dirty="0" spc="5"/>
              <a:t>票面利</a:t>
            </a:r>
            <a:r>
              <a:rPr dirty="0" spc="-20"/>
              <a:t>率</a:t>
            </a:r>
            <a:r>
              <a:rPr dirty="0" spc="5"/>
              <a:t>、市</a:t>
            </a:r>
            <a:r>
              <a:rPr dirty="0" spc="-20"/>
              <a:t>场利</a:t>
            </a:r>
            <a:r>
              <a:rPr dirty="0" spc="5"/>
              <a:t>率以及</a:t>
            </a:r>
            <a:r>
              <a:rPr dirty="0" spc="-20"/>
              <a:t>债</a:t>
            </a:r>
            <a:r>
              <a:rPr dirty="0" spc="5"/>
              <a:t>券 的期限</a:t>
            </a:r>
            <a:r>
              <a:rPr dirty="0" spc="-20"/>
              <a:t>所</a:t>
            </a:r>
            <a:r>
              <a:rPr dirty="0" spc="5"/>
              <a:t>决定</a:t>
            </a:r>
            <a:r>
              <a:rPr dirty="0" spc="-20"/>
              <a:t>的。</a:t>
            </a:r>
            <a:r>
              <a:rPr dirty="0" spc="5"/>
              <a:t>如果债</a:t>
            </a:r>
            <a:r>
              <a:rPr dirty="0" spc="-20"/>
              <a:t>券</a:t>
            </a:r>
            <a:r>
              <a:rPr dirty="0" spc="5"/>
              <a:t>的价</a:t>
            </a:r>
            <a:r>
              <a:rPr dirty="0" spc="-20"/>
              <a:t>格等</a:t>
            </a:r>
            <a:r>
              <a:rPr dirty="0" spc="5"/>
              <a:t>于其价</a:t>
            </a:r>
            <a:r>
              <a:rPr dirty="0" spc="-20"/>
              <a:t>值</a:t>
            </a:r>
            <a:r>
              <a:rPr dirty="0" spc="5"/>
              <a:t>，  </a:t>
            </a:r>
            <a:r>
              <a:rPr dirty="0" spc="5"/>
              <a:t>当票面</a:t>
            </a:r>
            <a:r>
              <a:rPr dirty="0" spc="-20"/>
              <a:t>利</a:t>
            </a:r>
            <a:r>
              <a:rPr dirty="0" spc="5"/>
              <a:t>率大</a:t>
            </a:r>
            <a:r>
              <a:rPr dirty="0" spc="-20"/>
              <a:t>于市</a:t>
            </a:r>
            <a:r>
              <a:rPr dirty="0" spc="5"/>
              <a:t>场利率</a:t>
            </a:r>
            <a:r>
              <a:rPr dirty="0" spc="-20"/>
              <a:t>时</a:t>
            </a:r>
            <a:r>
              <a:rPr dirty="0" spc="5"/>
              <a:t>，债</a:t>
            </a:r>
            <a:r>
              <a:rPr dirty="0" spc="-20"/>
              <a:t>券应</a:t>
            </a:r>
            <a:r>
              <a:rPr dirty="0" spc="5"/>
              <a:t>当溢价</a:t>
            </a:r>
            <a:r>
              <a:rPr dirty="0" spc="-20"/>
              <a:t>发</a:t>
            </a:r>
            <a:r>
              <a:rPr dirty="0" spc="5"/>
              <a:t>行； 当票面</a:t>
            </a:r>
            <a:r>
              <a:rPr dirty="0" spc="-20"/>
              <a:t>利</a:t>
            </a:r>
            <a:r>
              <a:rPr dirty="0" spc="5"/>
              <a:t>率小</a:t>
            </a:r>
            <a:r>
              <a:rPr dirty="0" spc="-20"/>
              <a:t>于市</a:t>
            </a:r>
            <a:r>
              <a:rPr dirty="0" spc="5"/>
              <a:t>场利率</a:t>
            </a:r>
            <a:r>
              <a:rPr dirty="0" spc="-20"/>
              <a:t>时</a:t>
            </a:r>
            <a:r>
              <a:rPr dirty="0" spc="5"/>
              <a:t>，债</a:t>
            </a:r>
            <a:r>
              <a:rPr dirty="0" spc="-20"/>
              <a:t>券应</a:t>
            </a:r>
            <a:r>
              <a:rPr dirty="0" spc="5"/>
              <a:t>当折价</a:t>
            </a:r>
            <a:r>
              <a:rPr dirty="0" spc="-20"/>
              <a:t>发</a:t>
            </a:r>
            <a:r>
              <a:rPr dirty="0" spc="5"/>
              <a:t>行； 当票面</a:t>
            </a:r>
            <a:r>
              <a:rPr dirty="0" spc="-20"/>
              <a:t>利</a:t>
            </a:r>
            <a:r>
              <a:rPr dirty="0" spc="5"/>
              <a:t>率等</a:t>
            </a:r>
            <a:r>
              <a:rPr dirty="0" spc="-20"/>
              <a:t>于市</a:t>
            </a:r>
            <a:r>
              <a:rPr dirty="0" spc="5"/>
              <a:t>场利率</a:t>
            </a:r>
            <a:r>
              <a:rPr dirty="0" spc="-20"/>
              <a:t>时</a:t>
            </a:r>
            <a:r>
              <a:rPr dirty="0" spc="5"/>
              <a:t>，债</a:t>
            </a:r>
            <a:r>
              <a:rPr dirty="0" spc="-20"/>
              <a:t>券应</a:t>
            </a:r>
            <a:r>
              <a:rPr dirty="0" spc="5"/>
              <a:t>当平价</a:t>
            </a:r>
            <a:r>
              <a:rPr dirty="0" spc="-20"/>
              <a:t>发</a:t>
            </a:r>
            <a:r>
              <a:rPr dirty="0" spc="5"/>
              <a:t>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235" y="639572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固定利</a:t>
            </a:r>
            <a:r>
              <a:rPr dirty="0" spc="-20"/>
              <a:t>率</a:t>
            </a:r>
            <a:r>
              <a:rPr dirty="0" spc="5"/>
              <a:t>支</a:t>
            </a:r>
            <a:r>
              <a:rPr dirty="0" spc="-20"/>
              <a:t>付</a:t>
            </a:r>
            <a:r>
              <a:rPr dirty="0" spc="5"/>
              <a:t>债券的</a:t>
            </a:r>
            <a:r>
              <a:rPr dirty="0" spc="-20"/>
              <a:t>定</a:t>
            </a:r>
            <a:r>
              <a:rPr dirty="0" spc="5"/>
              <a:t>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39316"/>
            <a:ext cx="571627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那么可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得到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定价的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般模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6344" y="2130552"/>
            <a:ext cx="8351520" cy="2880360"/>
          </a:xfrm>
          <a:custGeom>
            <a:avLst/>
            <a:gdLst/>
            <a:ahLst/>
            <a:cxnLst/>
            <a:rect l="l" t="t" r="r" b="b"/>
            <a:pathLst>
              <a:path w="8351520" h="2880360">
                <a:moveTo>
                  <a:pt x="0" y="0"/>
                </a:moveTo>
                <a:lnTo>
                  <a:pt x="0" y="2880360"/>
                </a:lnTo>
                <a:lnTo>
                  <a:pt x="8351520" y="2880360"/>
                </a:lnTo>
                <a:lnTo>
                  <a:pt x="83515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6343" y="2130552"/>
            <a:ext cx="8351520" cy="2880360"/>
          </a:xfrm>
          <a:custGeom>
            <a:avLst/>
            <a:gdLst/>
            <a:ahLst/>
            <a:cxnLst/>
            <a:rect l="l" t="t" r="r" b="b"/>
            <a:pathLst>
              <a:path w="8351520" h="2880360">
                <a:moveTo>
                  <a:pt x="0" y="0"/>
                </a:moveTo>
                <a:lnTo>
                  <a:pt x="0" y="2880359"/>
                </a:lnTo>
                <a:lnTo>
                  <a:pt x="8351519" y="2880359"/>
                </a:lnTo>
                <a:lnTo>
                  <a:pt x="8351519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70431" y="2514600"/>
            <a:ext cx="655320" cy="0"/>
          </a:xfrm>
          <a:custGeom>
            <a:avLst/>
            <a:gdLst/>
            <a:ahLst/>
            <a:cxnLst/>
            <a:rect l="l" t="t" r="r" b="b"/>
            <a:pathLst>
              <a:path w="655319" h="0">
                <a:moveTo>
                  <a:pt x="0" y="0"/>
                </a:moveTo>
                <a:lnTo>
                  <a:pt x="65531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679448" y="2693924"/>
            <a:ext cx="90805" cy="212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200" spc="10" i="1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7616" y="2480564"/>
            <a:ext cx="90805" cy="212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200" spc="10" i="1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3880" y="2300732"/>
            <a:ext cx="53530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374650" algn="l"/>
              </a:tabLst>
            </a:pPr>
            <a:r>
              <a:rPr dirty="0" sz="2100" spc="5" i="1">
                <a:latin typeface="Times New Roman"/>
                <a:cs typeface="Times New Roman"/>
              </a:rPr>
              <a:t>V</a:t>
            </a:r>
            <a:r>
              <a:rPr dirty="0" sz="2100" spc="5" i="1">
                <a:latin typeface="Times New Roman"/>
                <a:cs typeface="Times New Roman"/>
              </a:rPr>
              <a:t>	</a:t>
            </a:r>
            <a:r>
              <a:rPr dirty="0" sz="2100" spc="5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73223" y="2514600"/>
            <a:ext cx="1073150" cy="0"/>
          </a:xfrm>
          <a:custGeom>
            <a:avLst/>
            <a:gdLst/>
            <a:ahLst/>
            <a:cxnLst/>
            <a:rect l="l" t="t" r="r" b="b"/>
            <a:pathLst>
              <a:path w="1073150" h="0">
                <a:moveTo>
                  <a:pt x="0" y="0"/>
                </a:moveTo>
                <a:lnTo>
                  <a:pt x="1072895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929383" y="2300732"/>
            <a:ext cx="154432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1383665" algn="l"/>
              </a:tabLst>
            </a:pPr>
            <a:r>
              <a:rPr dirty="0" sz="2100" spc="5">
                <a:latin typeface="Symbol"/>
                <a:cs typeface="Symbol"/>
              </a:rPr>
              <a:t></a:t>
            </a:r>
            <a:r>
              <a:rPr dirty="0" sz="2100" spc="5">
                <a:latin typeface="Times New Roman"/>
                <a:cs typeface="Times New Roman"/>
              </a:rPr>
              <a:t>	</a:t>
            </a:r>
            <a:r>
              <a:rPr dirty="0" sz="2100" spc="5">
                <a:latin typeface="Symbol"/>
                <a:cs typeface="Symbol"/>
              </a:rPr>
              <a:t>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49879" y="2693924"/>
            <a:ext cx="90805" cy="212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200" spc="10" i="1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7439" y="2067865"/>
            <a:ext cx="2127250" cy="79375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297180">
              <a:lnSpc>
                <a:spcPct val="100000"/>
              </a:lnSpc>
              <a:spcBef>
                <a:spcPts val="600"/>
              </a:spcBef>
              <a:tabLst>
                <a:tab pos="1480185" algn="l"/>
              </a:tabLst>
            </a:pPr>
            <a:r>
              <a:rPr dirty="0" sz="2100" spc="35" i="1">
                <a:latin typeface="Times New Roman"/>
                <a:cs typeface="Times New Roman"/>
              </a:rPr>
              <a:t>I</a:t>
            </a:r>
            <a:r>
              <a:rPr dirty="0" baseline="-25462" sz="1800" spc="52">
                <a:latin typeface="Times New Roman"/>
                <a:cs typeface="Times New Roman"/>
              </a:rPr>
              <a:t>1	</a:t>
            </a:r>
            <a:r>
              <a:rPr dirty="0" sz="2100" i="1">
                <a:latin typeface="Times New Roman"/>
                <a:cs typeface="Times New Roman"/>
              </a:rPr>
              <a:t>I</a:t>
            </a:r>
            <a:r>
              <a:rPr dirty="0" sz="2100" spc="-210" i="1">
                <a:latin typeface="Times New Roman"/>
                <a:cs typeface="Times New Roman"/>
              </a:rPr>
              <a:t> </a:t>
            </a:r>
            <a:r>
              <a:rPr dirty="0" baseline="-25462" sz="1800" spc="15">
                <a:latin typeface="Times New Roman"/>
                <a:cs typeface="Times New Roman"/>
              </a:rPr>
              <a:t>2</a:t>
            </a:r>
            <a:endParaRPr baseline="-25462" sz="1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05"/>
              </a:spcBef>
              <a:tabLst>
                <a:tab pos="903605" algn="l"/>
              </a:tabLst>
            </a:pPr>
            <a:r>
              <a:rPr dirty="0" sz="2100" spc="5">
                <a:latin typeface="Times New Roman"/>
                <a:cs typeface="Times New Roman"/>
              </a:rPr>
              <a:t>1</a:t>
            </a:r>
            <a:r>
              <a:rPr dirty="0" sz="2100" spc="-265">
                <a:latin typeface="Times New Roman"/>
                <a:cs typeface="Times New Roman"/>
              </a:rPr>
              <a:t> </a:t>
            </a:r>
            <a:r>
              <a:rPr dirty="0" sz="2100" spc="5">
                <a:latin typeface="Symbol"/>
                <a:cs typeface="Symbol"/>
              </a:rPr>
              <a:t>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 spc="5" i="1">
                <a:latin typeface="Times New Roman"/>
                <a:cs typeface="Times New Roman"/>
              </a:rPr>
              <a:t>k	</a:t>
            </a:r>
            <a:r>
              <a:rPr dirty="0" sz="2100" spc="-30">
                <a:latin typeface="宋体"/>
                <a:cs typeface="宋体"/>
              </a:rPr>
              <a:t>（</a:t>
            </a:r>
            <a:r>
              <a:rPr dirty="0" sz="2100" spc="-30">
                <a:latin typeface="Times New Roman"/>
                <a:cs typeface="Times New Roman"/>
              </a:rPr>
              <a:t>1 </a:t>
            </a:r>
            <a:r>
              <a:rPr dirty="0" sz="2100" spc="5">
                <a:latin typeface="Symbol"/>
                <a:cs typeface="Symbol"/>
              </a:rPr>
              <a:t>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spc="5" i="1">
                <a:latin typeface="Times New Roman"/>
                <a:cs typeface="Times New Roman"/>
              </a:rPr>
              <a:t>k</a:t>
            </a:r>
            <a:r>
              <a:rPr dirty="0" sz="2100" spc="445" i="1">
                <a:latin typeface="Times New Roman"/>
                <a:cs typeface="Times New Roman"/>
              </a:rPr>
              <a:t> </a:t>
            </a:r>
            <a:r>
              <a:rPr dirty="0" sz="2100" spc="-375">
                <a:latin typeface="宋体"/>
                <a:cs typeface="宋体"/>
              </a:rPr>
              <a:t>）</a:t>
            </a:r>
            <a:r>
              <a:rPr dirty="0" baseline="43981" sz="1800" spc="-562">
                <a:latin typeface="Times New Roman"/>
                <a:cs typeface="Times New Roman"/>
              </a:rPr>
              <a:t>2</a:t>
            </a:r>
            <a:endParaRPr baseline="43981"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30167" y="2325116"/>
            <a:ext cx="3175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58055" y="2514600"/>
            <a:ext cx="853440" cy="0"/>
          </a:xfrm>
          <a:custGeom>
            <a:avLst/>
            <a:gdLst/>
            <a:ahLst/>
            <a:cxnLst/>
            <a:rect l="l" t="t" r="r" b="b"/>
            <a:pathLst>
              <a:path w="853439" h="0">
                <a:moveTo>
                  <a:pt x="0" y="0"/>
                </a:moveTo>
                <a:lnTo>
                  <a:pt x="85343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995671" y="2501900"/>
            <a:ext cx="8445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0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94503" y="2675636"/>
            <a:ext cx="8445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0" i="1">
                <a:latin typeface="Times New Roman"/>
                <a:cs typeface="Times New Roman"/>
              </a:rPr>
              <a:t>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04640" y="2106269"/>
            <a:ext cx="1042035" cy="72644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algn="ctr" marL="98425">
              <a:lnSpc>
                <a:spcPct val="100000"/>
              </a:lnSpc>
              <a:spcBef>
                <a:spcPts val="520"/>
              </a:spcBef>
            </a:pPr>
            <a:r>
              <a:rPr dirty="0" sz="1950" spc="-5" i="1">
                <a:latin typeface="Times New Roman"/>
                <a:cs typeface="Times New Roman"/>
              </a:rPr>
              <a:t>I</a:t>
            </a:r>
            <a:r>
              <a:rPr dirty="0" sz="1950" spc="-325" i="1">
                <a:latin typeface="Times New Roman"/>
                <a:cs typeface="Times New Roman"/>
              </a:rPr>
              <a:t> </a:t>
            </a:r>
            <a:r>
              <a:rPr dirty="0" baseline="-25252" sz="1650" spc="15" i="1">
                <a:latin typeface="Times New Roman"/>
                <a:cs typeface="Times New Roman"/>
              </a:rPr>
              <a:t>n</a:t>
            </a:r>
            <a:endParaRPr baseline="-25252" sz="16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20"/>
              </a:spcBef>
            </a:pPr>
            <a:r>
              <a:rPr dirty="0" sz="1950" spc="-175">
                <a:latin typeface="宋体"/>
                <a:cs typeface="宋体"/>
              </a:rPr>
              <a:t>（</a:t>
            </a:r>
            <a:r>
              <a:rPr dirty="0" sz="1950" spc="-175">
                <a:latin typeface="Times New Roman"/>
                <a:cs typeface="Times New Roman"/>
              </a:rPr>
              <a:t>1 </a:t>
            </a:r>
            <a:r>
              <a:rPr dirty="0" sz="1950" spc="-5">
                <a:latin typeface="Symbol"/>
                <a:cs typeface="Symbol"/>
              </a:rPr>
              <a:t></a:t>
            </a:r>
            <a:r>
              <a:rPr dirty="0" sz="1950" spc="-5">
                <a:latin typeface="Times New Roman"/>
                <a:cs typeface="Times New Roman"/>
              </a:rPr>
              <a:t> </a:t>
            </a:r>
            <a:r>
              <a:rPr dirty="0" sz="1950" spc="-5" i="1">
                <a:latin typeface="Times New Roman"/>
                <a:cs typeface="Times New Roman"/>
              </a:rPr>
              <a:t>k</a:t>
            </a:r>
            <a:r>
              <a:rPr dirty="0" sz="1950" spc="-90" i="1">
                <a:latin typeface="Times New Roman"/>
                <a:cs typeface="Times New Roman"/>
              </a:rPr>
              <a:t> </a:t>
            </a:r>
            <a:r>
              <a:rPr dirty="0" sz="1950" spc="-900">
                <a:latin typeface="宋体"/>
                <a:cs typeface="宋体"/>
              </a:rPr>
              <a:t>）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16295" y="2496312"/>
            <a:ext cx="850900" cy="0"/>
          </a:xfrm>
          <a:custGeom>
            <a:avLst/>
            <a:gdLst/>
            <a:ahLst/>
            <a:cxnLst/>
            <a:rect l="l" t="t" r="r" b="b"/>
            <a:pathLst>
              <a:path w="850900" h="0">
                <a:moveTo>
                  <a:pt x="0" y="0"/>
                </a:moveTo>
                <a:lnTo>
                  <a:pt x="85039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153911" y="2486660"/>
            <a:ext cx="8445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0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52744" y="2660396"/>
            <a:ext cx="8445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0" i="1">
                <a:latin typeface="Times New Roman"/>
                <a:cs typeface="Times New Roman"/>
              </a:rPr>
              <a:t>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4896" y="2142236"/>
            <a:ext cx="37084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950" spc="5" i="1">
                <a:latin typeface="Times New Roman"/>
                <a:cs typeface="Times New Roman"/>
              </a:rPr>
              <a:t>M</a:t>
            </a:r>
            <a:r>
              <a:rPr dirty="0" sz="1950" spc="-5" i="1">
                <a:latin typeface="Times New Roman"/>
                <a:cs typeface="Times New Roman"/>
              </a:rPr>
              <a:t>V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91328" y="2495804"/>
            <a:ext cx="97536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950" spc="-185">
                <a:latin typeface="宋体"/>
                <a:cs typeface="宋体"/>
              </a:rPr>
              <a:t>（</a:t>
            </a:r>
            <a:r>
              <a:rPr dirty="0" sz="1950" spc="-185">
                <a:latin typeface="Times New Roman"/>
                <a:cs typeface="Times New Roman"/>
              </a:rPr>
              <a:t>1 </a:t>
            </a:r>
            <a:r>
              <a:rPr dirty="0" sz="1950" spc="-5">
                <a:latin typeface="Symbol"/>
                <a:cs typeface="Symbol"/>
              </a:rPr>
              <a:t></a:t>
            </a:r>
            <a:r>
              <a:rPr dirty="0" sz="1950" spc="-5">
                <a:latin typeface="Times New Roman"/>
                <a:cs typeface="Times New Roman"/>
              </a:rPr>
              <a:t> </a:t>
            </a:r>
            <a:r>
              <a:rPr dirty="0" sz="1950" spc="-5" i="1">
                <a:latin typeface="Times New Roman"/>
                <a:cs typeface="Times New Roman"/>
              </a:rPr>
              <a:t>k</a:t>
            </a:r>
            <a:r>
              <a:rPr dirty="0" sz="1950" spc="-85" i="1">
                <a:latin typeface="Times New Roman"/>
                <a:cs typeface="Times New Roman"/>
              </a:rPr>
              <a:t> </a:t>
            </a:r>
            <a:r>
              <a:rPr dirty="0" sz="1950" spc="-900">
                <a:latin typeface="宋体"/>
                <a:cs typeface="宋体"/>
              </a:rPr>
              <a:t>）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31920" y="2395220"/>
            <a:ext cx="304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840">
                <a:latin typeface="宋体"/>
                <a:cs typeface="宋体"/>
              </a:rPr>
              <a:t>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41976" y="2392172"/>
            <a:ext cx="304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1225">
                <a:latin typeface="宋体"/>
                <a:cs typeface="宋体"/>
              </a:rPr>
              <a:t>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879335" y="2505456"/>
            <a:ext cx="814069" cy="0"/>
          </a:xfrm>
          <a:custGeom>
            <a:avLst/>
            <a:gdLst/>
            <a:ahLst/>
            <a:cxnLst/>
            <a:rect l="l" t="t" r="r" b="b"/>
            <a:pathLst>
              <a:path w="814070" h="0">
                <a:moveTo>
                  <a:pt x="0" y="0"/>
                </a:moveTo>
                <a:lnTo>
                  <a:pt x="81381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930895" y="2505456"/>
            <a:ext cx="844550" cy="0"/>
          </a:xfrm>
          <a:custGeom>
            <a:avLst/>
            <a:gdLst/>
            <a:ahLst/>
            <a:cxnLst/>
            <a:rect l="l" t="t" r="r" b="b"/>
            <a:pathLst>
              <a:path w="844550" h="0">
                <a:moveTo>
                  <a:pt x="0" y="0"/>
                </a:moveTo>
                <a:lnTo>
                  <a:pt x="84429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8452104" y="2645155"/>
            <a:ext cx="7366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950" spc="5" i="1">
                <a:latin typeface="Times New Roman"/>
                <a:cs typeface="Times New Roman"/>
              </a:rPr>
              <a:t>d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00543" y="2645155"/>
            <a:ext cx="7366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950" spc="5" i="1">
                <a:latin typeface="Times New Roman"/>
                <a:cs typeface="Times New Roman"/>
              </a:rPr>
              <a:t>d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59495" y="2203196"/>
            <a:ext cx="31813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50" spc="15" i="1">
                <a:latin typeface="Times New Roman"/>
                <a:cs typeface="Times New Roman"/>
              </a:rPr>
              <a:t>M</a:t>
            </a:r>
            <a:r>
              <a:rPr dirty="0" sz="1650" i="1">
                <a:latin typeface="Times New Roman"/>
                <a:cs typeface="Times New Roman"/>
              </a:rPr>
              <a:t>V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83119" y="2200148"/>
            <a:ext cx="19240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1650" i="1">
                <a:latin typeface="Times New Roman"/>
                <a:cs typeface="Times New Roman"/>
              </a:rPr>
              <a:t>I</a:t>
            </a:r>
            <a:r>
              <a:rPr dirty="0" sz="1650" spc="-260" i="1">
                <a:latin typeface="Times New Roman"/>
                <a:cs typeface="Times New Roman"/>
              </a:rPr>
              <a:t> </a:t>
            </a:r>
            <a:r>
              <a:rPr dirty="0" baseline="-26315" sz="1425" i="1">
                <a:latin typeface="Times New Roman"/>
                <a:cs typeface="Times New Roman"/>
              </a:rPr>
              <a:t>t</a:t>
            </a:r>
            <a:endParaRPr baseline="-26315" sz="1425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42528" y="2407412"/>
            <a:ext cx="21907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baseline="-25252" sz="2475">
                <a:latin typeface="Times New Roman"/>
                <a:cs typeface="Times New Roman"/>
              </a:rPr>
              <a:t>)</a:t>
            </a:r>
            <a:r>
              <a:rPr dirty="0" baseline="-25252" sz="2475" spc="-390">
                <a:latin typeface="Times New Roman"/>
                <a:cs typeface="Times New Roman"/>
              </a:rPr>
              <a:t> </a:t>
            </a:r>
            <a:r>
              <a:rPr dirty="0" sz="950" spc="5" i="1">
                <a:latin typeface="Times New Roman"/>
                <a:cs typeface="Times New Roman"/>
              </a:rPr>
              <a:t>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90968" y="2407412"/>
            <a:ext cx="18923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baseline="-25252" sz="2475">
                <a:latin typeface="Times New Roman"/>
                <a:cs typeface="Times New Roman"/>
              </a:rPr>
              <a:t>)</a:t>
            </a:r>
            <a:r>
              <a:rPr dirty="0" baseline="-25252" sz="2475" spc="-419">
                <a:latin typeface="Times New Roman"/>
                <a:cs typeface="Times New Roman"/>
              </a:rPr>
              <a:t> </a:t>
            </a:r>
            <a:r>
              <a:rPr dirty="0" sz="950" i="1">
                <a:latin typeface="Times New Roman"/>
                <a:cs typeface="Times New Roman"/>
              </a:rPr>
              <a:t>t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43088" y="2501900"/>
            <a:ext cx="49339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50" spc="-35">
                <a:latin typeface="Times New Roman"/>
                <a:cs typeface="Times New Roman"/>
              </a:rPr>
              <a:t>(1 </a:t>
            </a:r>
            <a:r>
              <a:rPr dirty="0" sz="1650">
                <a:latin typeface="Symbol"/>
                <a:cs typeface="Symbol"/>
              </a:rPr>
              <a:t>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44968" y="2337308"/>
            <a:ext cx="12827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Symbol"/>
                <a:cs typeface="Symbol"/>
              </a:rPr>
              <a:t>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77583" y="2209292"/>
            <a:ext cx="226060" cy="4762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93980">
              <a:lnSpc>
                <a:spcPts val="840"/>
              </a:lnSpc>
              <a:spcBef>
                <a:spcPts val="110"/>
              </a:spcBef>
            </a:pPr>
            <a:r>
              <a:rPr dirty="0" sz="950" spc="5" i="1">
                <a:latin typeface="Times New Roman"/>
                <a:cs typeface="Times New Roman"/>
              </a:rPr>
              <a:t>n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ts val="2700"/>
              </a:lnSpc>
            </a:pPr>
            <a:r>
              <a:rPr dirty="0" sz="2500" spc="-575">
                <a:latin typeface="Symbol"/>
                <a:cs typeface="Symbol"/>
              </a:rPr>
              <a:t>区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41871" y="2407412"/>
            <a:ext cx="10712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ts val="2310"/>
              </a:lnSpc>
              <a:spcBef>
                <a:spcPts val="100"/>
              </a:spcBef>
              <a:tabLst>
                <a:tab pos="549275" algn="l"/>
              </a:tabLst>
            </a:pPr>
            <a:r>
              <a:rPr dirty="0" baseline="5787" sz="3600">
                <a:latin typeface="Times New Roman"/>
                <a:cs typeface="Times New Roman"/>
              </a:rPr>
              <a:t>=	</a:t>
            </a:r>
            <a:r>
              <a:rPr dirty="0" sz="1650" spc="-25">
                <a:latin typeface="Times New Roman"/>
                <a:cs typeface="Times New Roman"/>
              </a:rPr>
              <a:t>(1 </a:t>
            </a:r>
            <a:r>
              <a:rPr dirty="0" sz="1650">
                <a:latin typeface="Symbol"/>
                <a:cs typeface="Symbol"/>
              </a:rPr>
              <a:t>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k</a:t>
            </a:r>
            <a:endParaRPr sz="1650">
              <a:latin typeface="Times New Roman"/>
              <a:cs typeface="Times New Roman"/>
            </a:endParaRPr>
          </a:p>
          <a:p>
            <a:pPr marL="271780">
              <a:lnSpc>
                <a:spcPts val="570"/>
              </a:lnSpc>
            </a:pPr>
            <a:r>
              <a:rPr dirty="0" sz="950" i="1">
                <a:latin typeface="Times New Roman"/>
                <a:cs typeface="Times New Roman"/>
              </a:rPr>
              <a:t>t</a:t>
            </a:r>
            <a:r>
              <a:rPr dirty="0" sz="950" spc="-80" i="1">
                <a:latin typeface="Times New Roman"/>
                <a:cs typeface="Times New Roman"/>
              </a:rPr>
              <a:t> </a:t>
            </a:r>
            <a:r>
              <a:rPr dirty="0" sz="950" spc="25">
                <a:latin typeface="Symbol"/>
                <a:cs typeface="Symbol"/>
              </a:rPr>
              <a:t></a:t>
            </a:r>
            <a:r>
              <a:rPr dirty="0" sz="950" spc="25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90495" y="2767076"/>
            <a:ext cx="39433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2450" spc="-5" i="1">
                <a:latin typeface="Times New Roman"/>
                <a:cs typeface="Times New Roman"/>
              </a:rPr>
              <a:t>V</a:t>
            </a:r>
            <a:r>
              <a:rPr dirty="0" sz="2450" spc="-270" i="1">
                <a:latin typeface="Times New Roman"/>
                <a:cs typeface="Times New Roman"/>
              </a:rPr>
              <a:t> </a:t>
            </a:r>
            <a:r>
              <a:rPr dirty="0" baseline="-23809" sz="2100" spc="7" i="1">
                <a:latin typeface="Times New Roman"/>
                <a:cs typeface="Times New Roman"/>
              </a:rPr>
              <a:t>d</a:t>
            </a:r>
            <a:endParaRPr baseline="-23809" sz="21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63951" y="2892044"/>
            <a:ext cx="2018664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600" spc="-10" b="1">
                <a:latin typeface="Times New Roman"/>
                <a:cs typeface="Times New Roman"/>
              </a:rPr>
              <a:t>——</a:t>
            </a:r>
            <a:r>
              <a:rPr dirty="0" sz="2600" spc="-75" b="1">
                <a:latin typeface="Times New Roman"/>
                <a:cs typeface="Times New Roman"/>
              </a:rPr>
              <a:t> </a:t>
            </a:r>
            <a:r>
              <a:rPr dirty="0" sz="1950" spc="35">
                <a:latin typeface="Arial Unicode MS"/>
                <a:cs typeface="Arial Unicode MS"/>
              </a:rPr>
              <a:t>债</a:t>
            </a:r>
            <a:r>
              <a:rPr dirty="0" sz="1950" spc="60">
                <a:latin typeface="Arial Unicode MS"/>
                <a:cs typeface="Arial Unicode MS"/>
              </a:rPr>
              <a:t>券</a:t>
            </a:r>
            <a:r>
              <a:rPr dirty="0" sz="1950" spc="35">
                <a:latin typeface="Arial Unicode MS"/>
                <a:cs typeface="Arial Unicode MS"/>
              </a:rPr>
              <a:t>的价</a:t>
            </a:r>
            <a:r>
              <a:rPr dirty="0" sz="1950" spc="15">
                <a:latin typeface="Arial Unicode MS"/>
                <a:cs typeface="Arial Unicode MS"/>
              </a:rPr>
              <a:t>值</a:t>
            </a:r>
            <a:endParaRPr sz="1950">
              <a:latin typeface="Arial Unicode MS"/>
              <a:cs typeface="Arial Unicode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69744" y="3099308"/>
            <a:ext cx="31813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2450" spc="-5" i="1">
                <a:latin typeface="Times New Roman"/>
                <a:cs typeface="Times New Roman"/>
              </a:rPr>
              <a:t>I</a:t>
            </a:r>
            <a:r>
              <a:rPr dirty="0" sz="2450" spc="-195" i="1">
                <a:latin typeface="Times New Roman"/>
                <a:cs typeface="Times New Roman"/>
              </a:rPr>
              <a:t> </a:t>
            </a:r>
            <a:r>
              <a:rPr dirty="0" baseline="-23809" sz="2100" spc="7" i="1">
                <a:latin typeface="Times New Roman"/>
                <a:cs typeface="Times New Roman"/>
              </a:rPr>
              <a:t>n</a:t>
            </a:r>
            <a:endParaRPr baseline="-23809" sz="21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76144" y="3190748"/>
            <a:ext cx="316484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600" spc="-10" b="1">
                <a:latin typeface="Times New Roman"/>
                <a:cs typeface="Times New Roman"/>
              </a:rPr>
              <a:t>——</a:t>
            </a:r>
            <a:r>
              <a:rPr dirty="0" sz="2600" spc="-65" b="1">
                <a:latin typeface="Times New Roman"/>
                <a:cs typeface="Times New Roman"/>
              </a:rPr>
              <a:t> </a:t>
            </a:r>
            <a:r>
              <a:rPr dirty="0" sz="1950" spc="35">
                <a:latin typeface="Arial Unicode MS"/>
                <a:cs typeface="Arial Unicode MS"/>
              </a:rPr>
              <a:t>收</a:t>
            </a:r>
            <a:r>
              <a:rPr dirty="0" sz="1950" spc="60">
                <a:latin typeface="Arial Unicode MS"/>
                <a:cs typeface="Arial Unicode MS"/>
              </a:rPr>
              <a:t>到</a:t>
            </a:r>
            <a:r>
              <a:rPr dirty="0" sz="1950" spc="35">
                <a:latin typeface="Arial Unicode MS"/>
                <a:cs typeface="Arial Unicode MS"/>
              </a:rPr>
              <a:t>的</a:t>
            </a:r>
            <a:r>
              <a:rPr dirty="0" sz="1950" spc="60">
                <a:latin typeface="Arial Unicode MS"/>
                <a:cs typeface="Arial Unicode MS"/>
              </a:rPr>
              <a:t>第</a:t>
            </a:r>
            <a:r>
              <a:rPr dirty="0" sz="2000" spc="-20">
                <a:latin typeface="Times New Roman"/>
                <a:cs typeface="Times New Roman"/>
              </a:rPr>
              <a:t>n</a:t>
            </a:r>
            <a:r>
              <a:rPr dirty="0" sz="1950" spc="35">
                <a:latin typeface="Arial Unicode MS"/>
                <a:cs typeface="Arial Unicode MS"/>
              </a:rPr>
              <a:t>年</a:t>
            </a:r>
            <a:r>
              <a:rPr dirty="0" sz="1950" spc="60">
                <a:latin typeface="Arial Unicode MS"/>
                <a:cs typeface="Arial Unicode MS"/>
              </a:rPr>
              <a:t>债</a:t>
            </a:r>
            <a:r>
              <a:rPr dirty="0" sz="1950" spc="35">
                <a:latin typeface="Arial Unicode MS"/>
                <a:cs typeface="Arial Unicode MS"/>
              </a:rPr>
              <a:t>券</a:t>
            </a:r>
            <a:r>
              <a:rPr dirty="0" sz="1950" spc="60">
                <a:latin typeface="Arial Unicode MS"/>
                <a:cs typeface="Arial Unicode MS"/>
              </a:rPr>
              <a:t>利</a:t>
            </a:r>
            <a:r>
              <a:rPr dirty="0" sz="1950" spc="15">
                <a:latin typeface="Arial Unicode MS"/>
                <a:cs typeface="Arial Unicode MS"/>
              </a:rPr>
              <a:t>息</a:t>
            </a:r>
            <a:endParaRPr sz="1950">
              <a:latin typeface="Arial Unicode MS"/>
              <a:cs typeface="Arial Unicode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64616" y="3522980"/>
            <a:ext cx="7631430" cy="22656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99540">
              <a:lnSpc>
                <a:spcPts val="2940"/>
              </a:lnSpc>
              <a:spcBef>
                <a:spcPts val="90"/>
              </a:spcBef>
            </a:pPr>
            <a:r>
              <a:rPr dirty="0" baseline="14739" sz="3675" spc="-7" i="1">
                <a:latin typeface="Times New Roman"/>
                <a:cs typeface="Times New Roman"/>
              </a:rPr>
              <a:t>K</a:t>
            </a:r>
            <a:r>
              <a:rPr dirty="0" baseline="14739" sz="3675" spc="150" i="1">
                <a:latin typeface="Times New Roman"/>
                <a:cs typeface="Times New Roman"/>
              </a:rPr>
              <a:t> </a:t>
            </a:r>
            <a:r>
              <a:rPr dirty="0" baseline="1984" sz="2100" spc="30" i="1">
                <a:latin typeface="Times New Roman"/>
                <a:cs typeface="Times New Roman"/>
              </a:rPr>
              <a:t>d</a:t>
            </a:r>
            <a:r>
              <a:rPr dirty="0" sz="2600" spc="20" b="1">
                <a:latin typeface="Times New Roman"/>
                <a:cs typeface="Times New Roman"/>
              </a:rPr>
              <a:t>——</a:t>
            </a:r>
            <a:r>
              <a:rPr dirty="0" sz="2600" spc="-5" b="1">
                <a:latin typeface="Times New Roman"/>
                <a:cs typeface="Times New Roman"/>
              </a:rPr>
              <a:t> </a:t>
            </a:r>
            <a:r>
              <a:rPr dirty="0" sz="1950" spc="35">
                <a:latin typeface="Arial Unicode MS"/>
                <a:cs typeface="Arial Unicode MS"/>
              </a:rPr>
              <a:t>债</a:t>
            </a:r>
            <a:r>
              <a:rPr dirty="0" sz="1950" spc="60">
                <a:latin typeface="Arial Unicode MS"/>
                <a:cs typeface="Arial Unicode MS"/>
              </a:rPr>
              <a:t>券</a:t>
            </a:r>
            <a:r>
              <a:rPr dirty="0" sz="1950" spc="35">
                <a:latin typeface="Arial Unicode MS"/>
                <a:cs typeface="Arial Unicode MS"/>
              </a:rPr>
              <a:t>的市</a:t>
            </a:r>
            <a:r>
              <a:rPr dirty="0" sz="1950" spc="60">
                <a:latin typeface="Arial Unicode MS"/>
                <a:cs typeface="Arial Unicode MS"/>
              </a:rPr>
              <a:t>场</a:t>
            </a:r>
            <a:r>
              <a:rPr dirty="0" sz="1950" spc="35">
                <a:latin typeface="Arial Unicode MS"/>
                <a:cs typeface="Arial Unicode MS"/>
              </a:rPr>
              <a:t>利</a:t>
            </a:r>
            <a:r>
              <a:rPr dirty="0" sz="1950" spc="15">
                <a:latin typeface="Arial Unicode MS"/>
                <a:cs typeface="Arial Unicode MS"/>
              </a:rPr>
              <a:t>率</a:t>
            </a:r>
            <a:endParaRPr sz="1950">
              <a:latin typeface="Arial Unicode MS"/>
              <a:cs typeface="Arial Unicode MS"/>
            </a:endParaRPr>
          </a:p>
          <a:p>
            <a:pPr marL="1247140">
              <a:lnSpc>
                <a:spcPts val="2700"/>
              </a:lnSpc>
            </a:pPr>
            <a:r>
              <a:rPr dirty="0" sz="2000" spc="-10">
                <a:latin typeface="Times New Roman"/>
                <a:cs typeface="Times New Roman"/>
              </a:rPr>
              <a:t>M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</a:t>
            </a:r>
            <a:r>
              <a:rPr dirty="0" sz="2600" spc="-10">
                <a:latin typeface="Times New Roman"/>
                <a:cs typeface="Times New Roman"/>
              </a:rPr>
              <a:t>——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1950" spc="60">
                <a:latin typeface="Arial Unicode MS"/>
                <a:cs typeface="Arial Unicode MS"/>
              </a:rPr>
              <a:t>债</a:t>
            </a:r>
            <a:r>
              <a:rPr dirty="0" sz="1950" spc="35">
                <a:latin typeface="Arial Unicode MS"/>
                <a:cs typeface="Arial Unicode MS"/>
              </a:rPr>
              <a:t>券的</a:t>
            </a:r>
            <a:r>
              <a:rPr dirty="0" sz="1950" spc="60">
                <a:latin typeface="Arial Unicode MS"/>
                <a:cs typeface="Arial Unicode MS"/>
              </a:rPr>
              <a:t>面</a:t>
            </a:r>
            <a:r>
              <a:rPr dirty="0" sz="1950" spc="35">
                <a:latin typeface="Arial Unicode MS"/>
                <a:cs typeface="Arial Unicode MS"/>
              </a:rPr>
              <a:t>值，</a:t>
            </a:r>
            <a:r>
              <a:rPr dirty="0" sz="1950" spc="60">
                <a:latin typeface="Arial Unicode MS"/>
                <a:cs typeface="Arial Unicode MS"/>
              </a:rPr>
              <a:t>也</a:t>
            </a:r>
            <a:r>
              <a:rPr dirty="0" sz="1950" spc="35">
                <a:latin typeface="Arial Unicode MS"/>
                <a:cs typeface="Arial Unicode MS"/>
              </a:rPr>
              <a:t>是到期</a:t>
            </a:r>
            <a:r>
              <a:rPr dirty="0" sz="1950" spc="60">
                <a:latin typeface="Arial Unicode MS"/>
                <a:cs typeface="Arial Unicode MS"/>
              </a:rPr>
              <a:t>本</a:t>
            </a:r>
            <a:r>
              <a:rPr dirty="0" sz="1950" spc="15">
                <a:latin typeface="Arial Unicode MS"/>
                <a:cs typeface="Arial Unicode MS"/>
              </a:rPr>
              <a:t>金</a:t>
            </a:r>
            <a:endParaRPr sz="1950">
              <a:latin typeface="Arial Unicode MS"/>
              <a:cs typeface="Arial Unicode MS"/>
            </a:endParaRPr>
          </a:p>
          <a:p>
            <a:pPr marL="1277620">
              <a:lnSpc>
                <a:spcPts val="2640"/>
              </a:lnSpc>
              <a:tabLst>
                <a:tab pos="1814195" algn="l"/>
              </a:tabLst>
            </a:pPr>
            <a:r>
              <a:rPr dirty="0" sz="2000" spc="-5">
                <a:latin typeface="Times New Roman"/>
                <a:cs typeface="Times New Roman"/>
              </a:rPr>
              <a:t>n	</a:t>
            </a:r>
            <a:r>
              <a:rPr dirty="0" sz="2600" b="1">
                <a:latin typeface="Times New Roman"/>
                <a:cs typeface="Times New Roman"/>
              </a:rPr>
              <a:t>——</a:t>
            </a:r>
            <a:r>
              <a:rPr dirty="0" sz="2600" spc="-10" b="1">
                <a:latin typeface="Times New Roman"/>
                <a:cs typeface="Times New Roman"/>
              </a:rPr>
              <a:t> </a:t>
            </a:r>
            <a:r>
              <a:rPr dirty="0" sz="1950" spc="60">
                <a:latin typeface="Arial Unicode MS"/>
                <a:cs typeface="Arial Unicode MS"/>
              </a:rPr>
              <a:t>债</a:t>
            </a:r>
            <a:r>
              <a:rPr dirty="0" sz="1950" spc="35">
                <a:latin typeface="Arial Unicode MS"/>
                <a:cs typeface="Arial Unicode MS"/>
              </a:rPr>
              <a:t>券的</a:t>
            </a:r>
            <a:r>
              <a:rPr dirty="0" sz="1950" spc="60">
                <a:latin typeface="Arial Unicode MS"/>
                <a:cs typeface="Arial Unicode MS"/>
              </a:rPr>
              <a:t>期</a:t>
            </a:r>
            <a:r>
              <a:rPr dirty="0" sz="1950" spc="15">
                <a:latin typeface="Arial Unicode MS"/>
                <a:cs typeface="Arial Unicode MS"/>
              </a:rPr>
              <a:t>限</a:t>
            </a:r>
            <a:endParaRPr sz="1950">
              <a:latin typeface="Arial Unicode MS"/>
              <a:cs typeface="Arial Unicode MS"/>
            </a:endParaRPr>
          </a:p>
          <a:p>
            <a:pPr marL="1348105">
              <a:lnSpc>
                <a:spcPts val="2880"/>
              </a:lnSpc>
              <a:tabLst>
                <a:tab pos="1829435" algn="l"/>
              </a:tabLst>
            </a:pPr>
            <a:r>
              <a:rPr dirty="0" sz="2000" spc="-5">
                <a:latin typeface="Times New Roman"/>
                <a:cs typeface="Times New Roman"/>
              </a:rPr>
              <a:t>t	</a:t>
            </a:r>
            <a:r>
              <a:rPr dirty="0" sz="2600" spc="-10">
                <a:latin typeface="Times New Roman"/>
                <a:cs typeface="Times New Roman"/>
              </a:rPr>
              <a:t>—— </a:t>
            </a:r>
            <a:r>
              <a:rPr dirty="0" sz="1950" spc="35">
                <a:latin typeface="Arial Unicode MS"/>
                <a:cs typeface="Arial Unicode MS"/>
              </a:rPr>
              <a:t>第</a:t>
            </a:r>
            <a:r>
              <a:rPr dirty="0" sz="2000" spc="15">
                <a:latin typeface="Times New Roman"/>
                <a:cs typeface="Times New Roman"/>
              </a:rPr>
              <a:t>t</a:t>
            </a:r>
            <a:r>
              <a:rPr dirty="0" sz="1950" spc="15">
                <a:latin typeface="Arial Unicode MS"/>
                <a:cs typeface="Arial Unicode MS"/>
              </a:rPr>
              <a:t>年</a:t>
            </a:r>
            <a:endParaRPr sz="1950">
              <a:latin typeface="Arial Unicode MS"/>
              <a:cs typeface="Arial Unicode MS"/>
            </a:endParaRPr>
          </a:p>
          <a:p>
            <a:pPr marL="25400" marR="17780" indent="569595">
              <a:lnSpc>
                <a:spcPct val="100000"/>
              </a:lnSpc>
              <a:spcBef>
                <a:spcPts val="73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如果上面模型中的每年利息相等，那么上式就是一个 年金现值加上一个复利现值的和：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472184" y="5803392"/>
            <a:ext cx="6480175" cy="719455"/>
          </a:xfrm>
          <a:custGeom>
            <a:avLst/>
            <a:gdLst/>
            <a:ahLst/>
            <a:cxnLst/>
            <a:rect l="l" t="t" r="r" b="b"/>
            <a:pathLst>
              <a:path w="6480175" h="719454">
                <a:moveTo>
                  <a:pt x="0" y="0"/>
                </a:moveTo>
                <a:lnTo>
                  <a:pt x="0" y="719328"/>
                </a:lnTo>
                <a:lnTo>
                  <a:pt x="6480048" y="719328"/>
                </a:lnTo>
                <a:lnTo>
                  <a:pt x="6480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472183" y="5803392"/>
            <a:ext cx="6480175" cy="719455"/>
          </a:xfrm>
          <a:custGeom>
            <a:avLst/>
            <a:gdLst/>
            <a:ahLst/>
            <a:cxnLst/>
            <a:rect l="l" t="t" r="r" b="b"/>
            <a:pathLst>
              <a:path w="6480175" h="719454">
                <a:moveTo>
                  <a:pt x="0" y="0"/>
                </a:moveTo>
                <a:lnTo>
                  <a:pt x="0" y="719327"/>
                </a:lnTo>
                <a:lnTo>
                  <a:pt x="6480047" y="719327"/>
                </a:lnTo>
                <a:lnTo>
                  <a:pt x="6480047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897888" y="5818124"/>
            <a:ext cx="2597785" cy="5010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sz="3100" spc="-200" i="1">
                <a:latin typeface="Times New Roman"/>
                <a:cs typeface="Times New Roman"/>
              </a:rPr>
              <a:t>V</a:t>
            </a:r>
            <a:r>
              <a:rPr dirty="0" baseline="-23148" sz="2700" spc="-300" i="1">
                <a:latin typeface="Times New Roman"/>
                <a:cs typeface="Times New Roman"/>
              </a:rPr>
              <a:t>d </a:t>
            </a:r>
            <a:r>
              <a:rPr dirty="0" sz="3100" spc="10">
                <a:latin typeface="Symbol"/>
                <a:cs typeface="Symbol"/>
              </a:rPr>
              <a:t></a:t>
            </a:r>
            <a:r>
              <a:rPr dirty="0" sz="3100" spc="-640">
                <a:latin typeface="Times New Roman"/>
                <a:cs typeface="Times New Roman"/>
              </a:rPr>
              <a:t> </a:t>
            </a:r>
            <a:r>
              <a:rPr dirty="0" sz="3100" spc="-185" i="1">
                <a:latin typeface="Times New Roman"/>
                <a:cs typeface="Times New Roman"/>
              </a:rPr>
              <a:t>I</a:t>
            </a:r>
            <a:r>
              <a:rPr dirty="0" sz="3100" spc="-185">
                <a:latin typeface="宋体"/>
                <a:cs typeface="宋体"/>
              </a:rPr>
              <a:t>（</a:t>
            </a:r>
            <a:r>
              <a:rPr dirty="0" sz="3100" spc="-185" i="1">
                <a:latin typeface="Times New Roman"/>
                <a:cs typeface="Times New Roman"/>
              </a:rPr>
              <a:t>P</a:t>
            </a:r>
            <a:r>
              <a:rPr dirty="0" sz="3100" spc="-185">
                <a:latin typeface="Times New Roman"/>
                <a:cs typeface="Times New Roman"/>
              </a:rPr>
              <a:t>/ </a:t>
            </a:r>
            <a:r>
              <a:rPr dirty="0" sz="3100" spc="-110" i="1">
                <a:latin typeface="Times New Roman"/>
                <a:cs typeface="Times New Roman"/>
              </a:rPr>
              <a:t>A</a:t>
            </a:r>
            <a:r>
              <a:rPr dirty="0" sz="3100" spc="-110">
                <a:latin typeface="Times New Roman"/>
                <a:cs typeface="Times New Roman"/>
              </a:rPr>
              <a:t>,</a:t>
            </a:r>
            <a:r>
              <a:rPr dirty="0" sz="3100" spc="-110" i="1">
                <a:latin typeface="Times New Roman"/>
                <a:cs typeface="Times New Roman"/>
              </a:rPr>
              <a:t>k</a:t>
            </a:r>
            <a:r>
              <a:rPr dirty="0" baseline="-23148" sz="2700" spc="-165" i="1">
                <a:latin typeface="Times New Roman"/>
                <a:cs typeface="Times New Roman"/>
              </a:rPr>
              <a:t>d </a:t>
            </a:r>
            <a:r>
              <a:rPr dirty="0" sz="3100" spc="-30">
                <a:latin typeface="Times New Roman"/>
                <a:cs typeface="Times New Roman"/>
              </a:rPr>
              <a:t>,</a:t>
            </a:r>
            <a:r>
              <a:rPr dirty="0" sz="3100" spc="-30" i="1">
                <a:latin typeface="Times New Roman"/>
                <a:cs typeface="Times New Roman"/>
              </a:rPr>
              <a:t>n</a:t>
            </a:r>
            <a:r>
              <a:rPr dirty="0" sz="3100" spc="-30">
                <a:latin typeface="Times New Roman"/>
                <a:cs typeface="Times New Roman"/>
              </a:rPr>
              <a:t>)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83047" y="5842508"/>
            <a:ext cx="2552065" cy="5010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sz="3100" spc="-195">
                <a:latin typeface="Symbol"/>
                <a:cs typeface="Symbol"/>
              </a:rPr>
              <a:t></a:t>
            </a:r>
            <a:r>
              <a:rPr dirty="0" sz="3100" spc="-195" i="1">
                <a:latin typeface="Times New Roman"/>
                <a:cs typeface="Times New Roman"/>
              </a:rPr>
              <a:t>MV</a:t>
            </a:r>
            <a:r>
              <a:rPr dirty="0" sz="3100" spc="-195">
                <a:latin typeface="宋体"/>
                <a:cs typeface="宋体"/>
              </a:rPr>
              <a:t>（</a:t>
            </a:r>
            <a:r>
              <a:rPr dirty="0" sz="3100" spc="-195" i="1">
                <a:latin typeface="Times New Roman"/>
                <a:cs typeface="Times New Roman"/>
              </a:rPr>
              <a:t>P</a:t>
            </a:r>
            <a:r>
              <a:rPr dirty="0" sz="3100" spc="-195">
                <a:latin typeface="Times New Roman"/>
                <a:cs typeface="Times New Roman"/>
              </a:rPr>
              <a:t>/</a:t>
            </a:r>
            <a:r>
              <a:rPr dirty="0" sz="3100" spc="-655">
                <a:latin typeface="Times New Roman"/>
                <a:cs typeface="Times New Roman"/>
              </a:rPr>
              <a:t> </a:t>
            </a:r>
            <a:r>
              <a:rPr dirty="0" sz="3100" spc="-30" i="1">
                <a:latin typeface="Times New Roman"/>
                <a:cs typeface="Times New Roman"/>
              </a:rPr>
              <a:t>F</a:t>
            </a:r>
            <a:r>
              <a:rPr dirty="0" sz="3100" spc="-30">
                <a:latin typeface="Times New Roman"/>
                <a:cs typeface="Times New Roman"/>
              </a:rPr>
              <a:t>,</a:t>
            </a:r>
            <a:r>
              <a:rPr dirty="0" sz="3100" spc="-30" i="1">
                <a:latin typeface="Times New Roman"/>
                <a:cs typeface="Times New Roman"/>
              </a:rPr>
              <a:t>k</a:t>
            </a:r>
            <a:r>
              <a:rPr dirty="0" baseline="-23148" sz="2700" spc="-44" i="1">
                <a:latin typeface="Times New Roman"/>
                <a:cs typeface="Times New Roman"/>
              </a:rPr>
              <a:t>d </a:t>
            </a:r>
            <a:r>
              <a:rPr dirty="0" sz="3100" spc="-30">
                <a:latin typeface="Times New Roman"/>
                <a:cs typeface="Times New Roman"/>
              </a:rPr>
              <a:t>,</a:t>
            </a:r>
            <a:r>
              <a:rPr dirty="0" sz="3100" spc="-30" i="1">
                <a:latin typeface="Times New Roman"/>
                <a:cs typeface="Times New Roman"/>
              </a:rPr>
              <a:t>n</a:t>
            </a:r>
            <a:r>
              <a:rPr dirty="0" sz="3100" spc="-30">
                <a:latin typeface="Times New Roman"/>
                <a:cs typeface="Times New Roman"/>
              </a:rPr>
              <a:t>)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092" y="639572"/>
            <a:ext cx="563118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固</a:t>
            </a:r>
            <a:r>
              <a:rPr dirty="0" spc="25"/>
              <a:t>定</a:t>
            </a:r>
            <a:r>
              <a:rPr dirty="0" spc="5"/>
              <a:t>利率支付债</a:t>
            </a:r>
            <a:r>
              <a:rPr dirty="0" spc="25"/>
              <a:t>券</a:t>
            </a:r>
            <a:r>
              <a:rPr dirty="0" spc="5"/>
              <a:t>的定价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877060"/>
            <a:ext cx="7315200" cy="11607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SzPct val="75000"/>
              <a:buFont typeface="Wingdings"/>
              <a:buChar char="►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永久债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的定价</a:t>
            </a:r>
            <a:endParaRPr sz="2800">
              <a:latin typeface="宋体"/>
              <a:cs typeface="宋体"/>
            </a:endParaRPr>
          </a:p>
          <a:p>
            <a:pPr marL="725805">
              <a:lnSpc>
                <a:spcPct val="100000"/>
              </a:lnSpc>
              <a:spcBef>
                <a:spcPts val="221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种永续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其现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值计算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: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1840" y="3450336"/>
            <a:ext cx="2502535" cy="1414780"/>
          </a:xfrm>
          <a:custGeom>
            <a:avLst/>
            <a:gdLst/>
            <a:ahLst/>
            <a:cxnLst/>
            <a:rect l="l" t="t" r="r" b="b"/>
            <a:pathLst>
              <a:path w="2502535" h="1414779">
                <a:moveTo>
                  <a:pt x="0" y="0"/>
                </a:moveTo>
                <a:lnTo>
                  <a:pt x="0" y="1414272"/>
                </a:lnTo>
                <a:lnTo>
                  <a:pt x="2502408" y="1414272"/>
                </a:lnTo>
                <a:lnTo>
                  <a:pt x="250240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55463" y="4114800"/>
            <a:ext cx="774700" cy="0"/>
          </a:xfrm>
          <a:custGeom>
            <a:avLst/>
            <a:gdLst/>
            <a:ahLst/>
            <a:cxnLst/>
            <a:rect l="l" t="t" r="r" b="b"/>
            <a:pathLst>
              <a:path w="774700" h="0">
                <a:moveTo>
                  <a:pt x="0" y="0"/>
                </a:moveTo>
                <a:lnTo>
                  <a:pt x="774191" y="0"/>
                </a:lnTo>
              </a:path>
            </a:pathLst>
          </a:custGeom>
          <a:ln w="304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57800" y="4452620"/>
            <a:ext cx="157480" cy="3733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250" spc="15" i="1">
                <a:latin typeface="Times New Roman"/>
                <a:cs typeface="Times New Roman"/>
              </a:rPr>
              <a:t>d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67328" y="4062476"/>
            <a:ext cx="157480" cy="3733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250" spc="15" i="1">
                <a:latin typeface="Times New Roman"/>
                <a:cs typeface="Times New Roman"/>
              </a:rPr>
              <a:t>d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04232" y="4120388"/>
            <a:ext cx="233679" cy="621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3900" spc="5" i="1">
                <a:latin typeface="Times New Roman"/>
                <a:cs typeface="Times New Roman"/>
              </a:rPr>
              <a:t>k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9303" y="3416300"/>
            <a:ext cx="178435" cy="621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3900" i="1">
                <a:latin typeface="Times New Roman"/>
                <a:cs typeface="Times New Roman"/>
              </a:rPr>
              <a:t>I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4511" y="3730244"/>
            <a:ext cx="1224280" cy="621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938530" algn="l"/>
              </a:tabLst>
            </a:pPr>
            <a:r>
              <a:rPr dirty="0" sz="3900" spc="5" i="1">
                <a:latin typeface="Times New Roman"/>
                <a:cs typeface="Times New Roman"/>
              </a:rPr>
              <a:t>V</a:t>
            </a:r>
            <a:r>
              <a:rPr dirty="0" sz="3900" spc="5" i="1">
                <a:latin typeface="Times New Roman"/>
                <a:cs typeface="Times New Roman"/>
              </a:rPr>
              <a:t>	</a:t>
            </a:r>
            <a:r>
              <a:rPr dirty="0" sz="3900" spc="5">
                <a:latin typeface="Symbol"/>
                <a:cs typeface="Symbol"/>
              </a:rPr>
              <a:t></a:t>
            </a:r>
            <a:endParaRPr sz="39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2" y="645668"/>
            <a:ext cx="7974965" cy="6216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00" spc="10"/>
              <a:t>无利息支付债券（零息债券）的定价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494791" y="1639316"/>
            <a:ext cx="7926705" cy="4373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94970" marR="5588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956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零息债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种不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支付利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而以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低于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面值的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格 出售的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者投资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只能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是该债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价格增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国曾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经发行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marL="394970" marR="55880" indent="-344805">
              <a:lnSpc>
                <a:spcPct val="100000"/>
              </a:lnSpc>
              <a:spcBef>
                <a:spcPts val="25"/>
              </a:spcBef>
              <a:buChar char="•"/>
              <a:tabLst>
                <a:tab pos="3956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间投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所获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得的现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流 只有到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所以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该债券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就是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该到期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按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照投资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酬率的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现值。</a:t>
            </a:r>
            <a:endParaRPr sz="2800">
              <a:latin typeface="宋体"/>
              <a:cs typeface="宋体"/>
            </a:endParaRPr>
          </a:p>
          <a:p>
            <a:pPr algn="just" marL="394970" marR="55880" indent="-344805">
              <a:lnSpc>
                <a:spcPct val="100000"/>
              </a:lnSpc>
              <a:buFont typeface="Arial"/>
              <a:buChar char="•"/>
              <a:tabLst>
                <a:tab pos="3956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所以，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种债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定价比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简单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是一般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型 的简化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息）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，就是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（面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值）按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者要求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报酬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贴现值。</a:t>
            </a:r>
            <a:endParaRPr sz="2800">
              <a:latin typeface="宋体"/>
              <a:cs typeface="宋体"/>
            </a:endParaRPr>
          </a:p>
          <a:p>
            <a:pPr algn="ctr" marR="995680">
              <a:lnSpc>
                <a:spcPct val="100000"/>
              </a:lnSpc>
              <a:spcBef>
                <a:spcPts val="600"/>
              </a:spcBef>
              <a:tabLst>
                <a:tab pos="2553970" algn="l"/>
              </a:tabLst>
            </a:pPr>
            <a:r>
              <a:rPr dirty="0" sz="2750" spc="-145" b="1">
                <a:solidFill>
                  <a:srgbClr val="FFFFFF"/>
                </a:solidFill>
                <a:latin typeface="Microsoft JhengHei UI"/>
                <a:cs typeface="Microsoft JhengHei UI"/>
              </a:rPr>
              <a:t>V=MV</a:t>
            </a:r>
            <a:r>
              <a:rPr dirty="0" sz="2750" spc="15" b="1">
                <a:solidFill>
                  <a:srgbClr val="FFFFFF"/>
                </a:solidFill>
                <a:latin typeface="Microsoft JhengHei UI"/>
                <a:cs typeface="Microsoft JhengHei UI"/>
              </a:rPr>
              <a:t> </a:t>
            </a:r>
            <a:r>
              <a:rPr dirty="0" sz="2800" spc="-1110" b="1">
                <a:solidFill>
                  <a:srgbClr val="FFFFFF"/>
                </a:solidFill>
                <a:latin typeface="Microsoft JhengHei"/>
                <a:cs typeface="Microsoft JhengHei"/>
              </a:rPr>
              <a:t>（</a:t>
            </a:r>
            <a:r>
              <a:rPr dirty="0" baseline="-18518" sz="3600" spc="-1664" b="1">
                <a:solidFill>
                  <a:srgbClr val="FFFFFF"/>
                </a:solidFill>
                <a:latin typeface="Microsoft JhengHei UI"/>
                <a:cs typeface="Microsoft JhengHei UI"/>
              </a:rPr>
              <a:t>d</a:t>
            </a:r>
            <a:r>
              <a:rPr dirty="0" baseline="-18518" sz="3600" spc="104" b="1">
                <a:solidFill>
                  <a:srgbClr val="FFFFFF"/>
                </a:solidFill>
                <a:latin typeface="Microsoft JhengHei UI"/>
                <a:cs typeface="Microsoft JhengHei UI"/>
              </a:rPr>
              <a:t> </a:t>
            </a:r>
            <a:r>
              <a:rPr dirty="0" sz="2750" spc="10" b="1">
                <a:solidFill>
                  <a:srgbClr val="FFFFFF"/>
                </a:solidFill>
                <a:latin typeface="Microsoft JhengHei UI"/>
                <a:cs typeface="Microsoft JhengHei UI"/>
              </a:rPr>
              <a:t>P/F,</a:t>
            </a:r>
            <a:r>
              <a:rPr dirty="0" sz="2750" spc="25" b="1">
                <a:solidFill>
                  <a:srgbClr val="FFFFFF"/>
                </a:solidFill>
                <a:latin typeface="Microsoft JhengHei UI"/>
                <a:cs typeface="Microsoft JhengHei UI"/>
              </a:rPr>
              <a:t> </a:t>
            </a:r>
            <a:r>
              <a:rPr dirty="0" sz="2750" spc="-235" b="1">
                <a:solidFill>
                  <a:srgbClr val="FFFFFF"/>
                </a:solidFill>
                <a:latin typeface="Microsoft JhengHei UI"/>
                <a:cs typeface="Microsoft JhengHei UI"/>
              </a:rPr>
              <a:t>k	</a:t>
            </a:r>
            <a:r>
              <a:rPr dirty="0" sz="2750" spc="-125" b="1">
                <a:solidFill>
                  <a:srgbClr val="FFFFFF"/>
                </a:solidFill>
                <a:latin typeface="Microsoft JhengHei UI"/>
                <a:cs typeface="Microsoft JhengHei UI"/>
              </a:rPr>
              <a:t>,n</a:t>
            </a:r>
            <a:r>
              <a:rPr dirty="0" sz="2800" spc="-125" b="1">
                <a:solidFill>
                  <a:srgbClr val="FFFFFF"/>
                </a:solidFill>
                <a:latin typeface="Microsoft JhengHei"/>
                <a:cs typeface="Microsoft JhengHei"/>
              </a:rPr>
              <a:t>）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9108" y="639572"/>
            <a:ext cx="613981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一</a:t>
            </a:r>
            <a:r>
              <a:rPr dirty="0" spc="25"/>
              <a:t>年</a:t>
            </a:r>
            <a:r>
              <a:rPr dirty="0" spc="5"/>
              <a:t>内多次付息</a:t>
            </a:r>
            <a:r>
              <a:rPr dirty="0" spc="25"/>
              <a:t>的</a:t>
            </a:r>
            <a:r>
              <a:rPr dirty="0" spc="5"/>
              <a:t>债券定价</a:t>
            </a:r>
          </a:p>
        </p:txBody>
      </p:sp>
      <p:sp>
        <p:nvSpPr>
          <p:cNvPr id="3" name="object 3"/>
          <p:cNvSpPr/>
          <p:nvPr/>
        </p:nvSpPr>
        <p:spPr>
          <a:xfrm>
            <a:off x="1112520" y="5370576"/>
            <a:ext cx="7345680" cy="935990"/>
          </a:xfrm>
          <a:custGeom>
            <a:avLst/>
            <a:gdLst/>
            <a:ahLst/>
            <a:cxnLst/>
            <a:rect l="l" t="t" r="r" b="b"/>
            <a:pathLst>
              <a:path w="7345680" h="935989">
                <a:moveTo>
                  <a:pt x="0" y="0"/>
                </a:moveTo>
                <a:lnTo>
                  <a:pt x="0" y="935736"/>
                </a:lnTo>
                <a:lnTo>
                  <a:pt x="7345680" y="935736"/>
                </a:lnTo>
                <a:lnTo>
                  <a:pt x="7345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12519" y="5370576"/>
            <a:ext cx="7345680" cy="935990"/>
          </a:xfrm>
          <a:custGeom>
            <a:avLst/>
            <a:gdLst/>
            <a:ahLst/>
            <a:cxnLst/>
            <a:rect l="l" t="t" r="r" b="b"/>
            <a:pathLst>
              <a:path w="7345680" h="935989">
                <a:moveTo>
                  <a:pt x="0" y="0"/>
                </a:moveTo>
                <a:lnTo>
                  <a:pt x="0" y="935735"/>
                </a:lnTo>
                <a:lnTo>
                  <a:pt x="7345679" y="935735"/>
                </a:lnTo>
                <a:lnTo>
                  <a:pt x="7345679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12847" y="5827776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 h="0">
                <a:moveTo>
                  <a:pt x="0" y="0"/>
                </a:moveTo>
                <a:lnTo>
                  <a:pt x="320039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14927" y="5827776"/>
            <a:ext cx="402590" cy="0"/>
          </a:xfrm>
          <a:custGeom>
            <a:avLst/>
            <a:gdLst/>
            <a:ahLst/>
            <a:cxnLst/>
            <a:rect l="l" t="t" r="r" b="b"/>
            <a:pathLst>
              <a:path w="402589" h="0">
                <a:moveTo>
                  <a:pt x="0" y="0"/>
                </a:moveTo>
                <a:lnTo>
                  <a:pt x="40233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27519" y="5827776"/>
            <a:ext cx="402590" cy="0"/>
          </a:xfrm>
          <a:custGeom>
            <a:avLst/>
            <a:gdLst/>
            <a:ahLst/>
            <a:cxnLst/>
            <a:rect l="l" t="t" r="r" b="b"/>
            <a:pathLst>
              <a:path w="402590" h="0">
                <a:moveTo>
                  <a:pt x="0" y="0"/>
                </a:moveTo>
                <a:lnTo>
                  <a:pt x="40233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64616" y="1613103"/>
            <a:ext cx="7701280" cy="4627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5400" marR="17780" indent="725170">
              <a:lnSpc>
                <a:spcPct val="140300"/>
              </a:lnSpc>
              <a:spcBef>
                <a:spcPts val="110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些债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年内的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息次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数超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过一次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那么 就要对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次付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息的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利率进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调整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样对债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 价的一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也就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要进行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改：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假如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一年内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息 的次数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m，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那么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次付息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应该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i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/</a:t>
            </a:r>
            <a:r>
              <a:rPr dirty="0" sz="2800" spc="-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m,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 到期前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n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内，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息的次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m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×</a:t>
            </a:r>
            <a:r>
              <a:rPr dirty="0" sz="2800" spc="-4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n,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一年 内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m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付息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价的模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变为：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宋体"/>
              <a:cs typeface="宋体"/>
            </a:endParaRPr>
          </a:p>
          <a:p>
            <a:pPr marL="339090">
              <a:lnSpc>
                <a:spcPts val="2580"/>
              </a:lnSpc>
              <a:tabLst>
                <a:tab pos="1433195" algn="l"/>
                <a:tab pos="1729105" algn="l"/>
                <a:tab pos="3207385" algn="l"/>
                <a:tab pos="4911090" algn="l"/>
                <a:tab pos="6419850" algn="l"/>
              </a:tabLst>
            </a:pPr>
            <a:r>
              <a:rPr dirty="0" baseline="1068" sz="3900" spc="-172" b="1">
                <a:latin typeface="Microsoft JhengHei UI"/>
                <a:cs typeface="Microsoft JhengHei UI"/>
              </a:rPr>
              <a:t>V=	</a:t>
            </a:r>
            <a:r>
              <a:rPr dirty="0" baseline="35947" sz="3825" spc="-7" i="1">
                <a:latin typeface="Times New Roman"/>
                <a:cs typeface="Times New Roman"/>
              </a:rPr>
              <a:t>I	</a:t>
            </a:r>
            <a:r>
              <a:rPr dirty="0" sz="2550" spc="-5">
                <a:latin typeface="Times New Roman"/>
                <a:cs typeface="Times New Roman"/>
              </a:rPr>
              <a:t>( </a:t>
            </a:r>
            <a:r>
              <a:rPr dirty="0" sz="2550" spc="-5" i="1">
                <a:latin typeface="Times New Roman"/>
                <a:cs typeface="Times New Roman"/>
              </a:rPr>
              <a:t>P </a:t>
            </a:r>
            <a:r>
              <a:rPr dirty="0" sz="2550" spc="-5">
                <a:latin typeface="Times New Roman"/>
                <a:cs typeface="Times New Roman"/>
              </a:rPr>
              <a:t>/ </a:t>
            </a:r>
            <a:r>
              <a:rPr dirty="0" sz="2550" spc="-5" i="1">
                <a:latin typeface="Times New Roman"/>
                <a:cs typeface="Times New Roman"/>
              </a:rPr>
              <a:t>A </a:t>
            </a:r>
            <a:r>
              <a:rPr dirty="0" sz="2550" spc="-5">
                <a:latin typeface="Times New Roman"/>
                <a:cs typeface="Times New Roman"/>
              </a:rPr>
              <a:t>,</a:t>
            </a:r>
            <a:r>
              <a:rPr dirty="0" sz="2550" spc="-210">
                <a:latin typeface="Times New Roman"/>
                <a:cs typeface="Times New Roman"/>
              </a:rPr>
              <a:t> </a:t>
            </a:r>
            <a:r>
              <a:rPr dirty="0" baseline="35947" sz="3825" spc="-7" i="1">
                <a:latin typeface="Times New Roman"/>
                <a:cs typeface="Times New Roman"/>
              </a:rPr>
              <a:t>k</a:t>
            </a:r>
            <a:r>
              <a:rPr dirty="0" baseline="35947" sz="3825" spc="-494" i="1">
                <a:latin typeface="Times New Roman"/>
                <a:cs typeface="Times New Roman"/>
              </a:rPr>
              <a:t> </a:t>
            </a:r>
            <a:r>
              <a:rPr dirty="0" baseline="38314" sz="2175" spc="22" i="1">
                <a:latin typeface="Times New Roman"/>
                <a:cs typeface="Times New Roman"/>
              </a:rPr>
              <a:t>d	</a:t>
            </a:r>
            <a:r>
              <a:rPr dirty="0" sz="2550" spc="-5">
                <a:latin typeface="Times New Roman"/>
                <a:cs typeface="Times New Roman"/>
              </a:rPr>
              <a:t>, </a:t>
            </a:r>
            <a:r>
              <a:rPr dirty="0" sz="2550" i="1">
                <a:latin typeface="Times New Roman"/>
                <a:cs typeface="Times New Roman"/>
              </a:rPr>
              <a:t>mn </a:t>
            </a:r>
            <a:r>
              <a:rPr dirty="0" sz="2550" spc="-5">
                <a:latin typeface="Times New Roman"/>
                <a:cs typeface="Times New Roman"/>
              </a:rPr>
              <a:t>)</a:t>
            </a:r>
            <a:r>
              <a:rPr dirty="0" sz="2550" spc="-155">
                <a:latin typeface="Times New Roman"/>
                <a:cs typeface="Times New Roman"/>
              </a:rPr>
              <a:t> </a:t>
            </a:r>
            <a:r>
              <a:rPr dirty="0" sz="2550" spc="-5">
                <a:latin typeface="Symbol"/>
                <a:cs typeface="Symbol"/>
              </a:rPr>
              <a:t></a:t>
            </a:r>
            <a:r>
              <a:rPr dirty="0" sz="2550" spc="225">
                <a:latin typeface="Times New Roman"/>
                <a:cs typeface="Times New Roman"/>
              </a:rPr>
              <a:t> </a:t>
            </a:r>
            <a:r>
              <a:rPr dirty="0" sz="2550" spc="-5" i="1">
                <a:latin typeface="Times New Roman"/>
                <a:cs typeface="Times New Roman"/>
              </a:rPr>
              <a:t>MV	</a:t>
            </a:r>
            <a:r>
              <a:rPr dirty="0" sz="2550" spc="-5">
                <a:latin typeface="Times New Roman"/>
                <a:cs typeface="Times New Roman"/>
              </a:rPr>
              <a:t>( </a:t>
            </a:r>
            <a:r>
              <a:rPr dirty="0" sz="2550" spc="-5" i="1">
                <a:latin typeface="Times New Roman"/>
                <a:cs typeface="Times New Roman"/>
              </a:rPr>
              <a:t>P </a:t>
            </a:r>
            <a:r>
              <a:rPr dirty="0" sz="2550" spc="-5">
                <a:latin typeface="Times New Roman"/>
                <a:cs typeface="Times New Roman"/>
              </a:rPr>
              <a:t>/ </a:t>
            </a:r>
            <a:r>
              <a:rPr dirty="0" sz="2550" spc="-5" i="1">
                <a:latin typeface="Times New Roman"/>
                <a:cs typeface="Times New Roman"/>
              </a:rPr>
              <a:t>F </a:t>
            </a:r>
            <a:r>
              <a:rPr dirty="0" sz="2550" spc="-5">
                <a:latin typeface="Times New Roman"/>
                <a:cs typeface="Times New Roman"/>
              </a:rPr>
              <a:t>,</a:t>
            </a:r>
            <a:r>
              <a:rPr dirty="0" sz="2550" spc="10">
                <a:latin typeface="Times New Roman"/>
                <a:cs typeface="Times New Roman"/>
              </a:rPr>
              <a:t> </a:t>
            </a:r>
            <a:r>
              <a:rPr dirty="0" baseline="35947" sz="3825" spc="-7" i="1">
                <a:latin typeface="Times New Roman"/>
                <a:cs typeface="Times New Roman"/>
              </a:rPr>
              <a:t>k</a:t>
            </a:r>
            <a:r>
              <a:rPr dirty="0" baseline="35947" sz="3825" spc="-457" i="1">
                <a:latin typeface="Times New Roman"/>
                <a:cs typeface="Times New Roman"/>
              </a:rPr>
              <a:t> </a:t>
            </a:r>
            <a:r>
              <a:rPr dirty="0" baseline="38314" sz="2175" spc="22" i="1">
                <a:latin typeface="Times New Roman"/>
                <a:cs typeface="Times New Roman"/>
              </a:rPr>
              <a:t>d	</a:t>
            </a:r>
            <a:r>
              <a:rPr dirty="0" sz="2550" spc="-5">
                <a:latin typeface="Times New Roman"/>
                <a:cs typeface="Times New Roman"/>
              </a:rPr>
              <a:t>, </a:t>
            </a:r>
            <a:r>
              <a:rPr dirty="0" sz="2550" i="1">
                <a:latin typeface="Times New Roman"/>
                <a:cs typeface="Times New Roman"/>
              </a:rPr>
              <a:t>mn</a:t>
            </a:r>
            <a:r>
              <a:rPr dirty="0" sz="2550" spc="-204" i="1">
                <a:latin typeface="Times New Roman"/>
                <a:cs typeface="Times New Roman"/>
              </a:rPr>
              <a:t> </a:t>
            </a:r>
            <a:r>
              <a:rPr dirty="0" sz="2550" spc="-5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  <a:p>
            <a:pPr algn="ctr" marR="57150">
              <a:lnSpc>
                <a:spcPts val="2520"/>
              </a:lnSpc>
              <a:tabLst>
                <a:tab pos="1444625" algn="l"/>
                <a:tab pos="4657090" algn="l"/>
              </a:tabLst>
            </a:pPr>
            <a:r>
              <a:rPr dirty="0" sz="2550" spc="-5" i="1">
                <a:latin typeface="Times New Roman"/>
                <a:cs typeface="Times New Roman"/>
              </a:rPr>
              <a:t>m	m	m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2300" y="639572"/>
            <a:ext cx="7963534" cy="3590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65405">
              <a:lnSpc>
                <a:spcPct val="100000"/>
              </a:lnSpc>
              <a:spcBef>
                <a:spcPts val="105"/>
              </a:spcBef>
            </a:pPr>
            <a:r>
              <a:rPr dirty="0" sz="4000" spc="5" b="1">
                <a:solidFill>
                  <a:srgbClr val="FFCC00"/>
                </a:solidFill>
                <a:latin typeface="Microsoft JhengHei"/>
                <a:cs typeface="Microsoft JhengHei"/>
              </a:rPr>
              <a:t>债</a:t>
            </a:r>
            <a:r>
              <a:rPr dirty="0" sz="4000" spc="25" b="1">
                <a:solidFill>
                  <a:srgbClr val="FFCC00"/>
                </a:solidFill>
                <a:latin typeface="Microsoft JhengHei"/>
                <a:cs typeface="Microsoft JhengHei"/>
              </a:rPr>
              <a:t>券</a:t>
            </a:r>
            <a:r>
              <a:rPr dirty="0" sz="4000" spc="5" b="1">
                <a:solidFill>
                  <a:srgbClr val="FFCC00"/>
                </a:solidFill>
                <a:latin typeface="Microsoft JhengHei"/>
                <a:cs typeface="Microsoft JhengHei"/>
              </a:rPr>
              <a:t>的到期收益率</a:t>
            </a:r>
            <a:endParaRPr sz="4000">
              <a:latin typeface="Microsoft JhengHei"/>
              <a:cs typeface="Microsoft JhengHei"/>
            </a:endParaRPr>
          </a:p>
          <a:p>
            <a:pPr marL="63500" marR="55880" indent="725170">
              <a:lnSpc>
                <a:spcPct val="100099"/>
              </a:lnSpc>
              <a:spcBef>
                <a:spcPts val="3070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到期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收益率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债券后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一直持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有该债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至到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可获取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这个收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率是 指按复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益率，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使未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来现金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入现 值等于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券买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入价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格的贴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也就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是前面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债券 定价一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中，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已知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V</a:t>
            </a:r>
            <a:r>
              <a:rPr dirty="0" baseline="-20467" sz="2850" spc="-7">
                <a:solidFill>
                  <a:srgbClr val="FFFFFF"/>
                </a:solidFill>
                <a:latin typeface="宋体"/>
                <a:cs typeface="宋体"/>
              </a:rPr>
              <a:t>d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，I，MV，n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k</a:t>
            </a:r>
            <a:r>
              <a:rPr dirty="0" baseline="-20467" sz="2850" spc="-7">
                <a:solidFill>
                  <a:srgbClr val="FFFFFF"/>
                </a:solidFill>
                <a:latin typeface="宋体"/>
                <a:cs typeface="宋体"/>
              </a:rPr>
              <a:t>d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 即：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7700" y="5312156"/>
            <a:ext cx="7854950" cy="8832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8100" marR="30480" indent="725170">
              <a:lnSpc>
                <a:spcPct val="100699"/>
              </a:lnSpc>
              <a:spcBef>
                <a:spcPts val="8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过求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解上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式，可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得到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的收益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k</a:t>
            </a:r>
            <a:r>
              <a:rPr dirty="0" baseline="-20467" sz="2850" spc="-30">
                <a:solidFill>
                  <a:srgbClr val="FFFFFF"/>
                </a:solidFill>
                <a:latin typeface="宋体"/>
                <a:cs typeface="宋体"/>
              </a:rPr>
              <a:t>d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。可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以通过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程序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或采用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插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来进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行计算。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37432" y="4145280"/>
            <a:ext cx="2746375" cy="1009015"/>
          </a:xfrm>
          <a:custGeom>
            <a:avLst/>
            <a:gdLst/>
            <a:ahLst/>
            <a:cxnLst/>
            <a:rect l="l" t="t" r="r" b="b"/>
            <a:pathLst>
              <a:path w="2746375" h="1009014">
                <a:moveTo>
                  <a:pt x="0" y="0"/>
                </a:moveTo>
                <a:lnTo>
                  <a:pt x="0" y="1008888"/>
                </a:lnTo>
                <a:lnTo>
                  <a:pt x="2746248" y="1008888"/>
                </a:lnTo>
                <a:lnTo>
                  <a:pt x="2746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45864" y="4636008"/>
            <a:ext cx="981710" cy="0"/>
          </a:xfrm>
          <a:custGeom>
            <a:avLst/>
            <a:gdLst/>
            <a:ahLst/>
            <a:cxnLst/>
            <a:rect l="l" t="t" r="r" b="b"/>
            <a:pathLst>
              <a:path w="981710" h="0">
                <a:moveTo>
                  <a:pt x="0" y="0"/>
                </a:moveTo>
                <a:lnTo>
                  <a:pt x="981455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95928" y="4156964"/>
            <a:ext cx="113664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550" spc="15" i="1">
                <a:latin typeface="Times New Roman"/>
                <a:cs typeface="Times New Roman"/>
              </a:rPr>
              <a:t>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3688" y="4623308"/>
            <a:ext cx="6921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550" spc="5" i="1">
                <a:latin typeface="Times New Roman"/>
                <a:cs typeface="Times New Roman"/>
              </a:rPr>
              <a:t>t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752" y="4864100"/>
            <a:ext cx="138176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1267460" algn="l"/>
              </a:tabLst>
            </a:pPr>
            <a:r>
              <a:rPr dirty="0" sz="1550" spc="15" i="1">
                <a:latin typeface="Times New Roman"/>
                <a:cs typeface="Times New Roman"/>
              </a:rPr>
              <a:t>d</a:t>
            </a:r>
            <a:r>
              <a:rPr dirty="0" sz="1550" spc="15" i="1">
                <a:latin typeface="Times New Roman"/>
                <a:cs typeface="Times New Roman"/>
              </a:rPr>
              <a:t>	</a:t>
            </a:r>
            <a:r>
              <a:rPr dirty="0" sz="1550" spc="15" i="1">
                <a:latin typeface="Times New Roman"/>
                <a:cs typeface="Times New Roman"/>
              </a:rPr>
              <a:t>d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03671" y="4635500"/>
            <a:ext cx="1033144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  <a:tabLst>
                <a:tab pos="777875" algn="l"/>
              </a:tabLst>
            </a:pPr>
            <a:r>
              <a:rPr dirty="0" sz="2700" spc="-105">
                <a:latin typeface="Times New Roman"/>
                <a:cs typeface="Times New Roman"/>
              </a:rPr>
              <a:t>(1</a:t>
            </a:r>
            <a:r>
              <a:rPr dirty="0" sz="2700" spc="-105">
                <a:latin typeface="Symbol"/>
                <a:cs typeface="Symbol"/>
              </a:rPr>
              <a:t></a:t>
            </a:r>
            <a:r>
              <a:rPr dirty="0" sz="2700" spc="-415">
                <a:latin typeface="Times New Roman"/>
                <a:cs typeface="Times New Roman"/>
              </a:rPr>
              <a:t> </a:t>
            </a:r>
            <a:r>
              <a:rPr dirty="0" sz="2700" spc="5" i="1">
                <a:latin typeface="Times New Roman"/>
                <a:cs typeface="Times New Roman"/>
              </a:rPr>
              <a:t>k	</a:t>
            </a:r>
            <a:r>
              <a:rPr dirty="0" sz="2700" spc="10">
                <a:latin typeface="Times New Roman"/>
                <a:cs typeface="Times New Roman"/>
              </a:rPr>
              <a:t>)</a:t>
            </a:r>
            <a:r>
              <a:rPr dirty="0" baseline="43010" sz="2325" spc="15" i="1">
                <a:latin typeface="Times New Roman"/>
                <a:cs typeface="Times New Roman"/>
              </a:rPr>
              <a:t>n</a:t>
            </a:r>
            <a:endParaRPr baseline="43010" sz="232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04003" y="4147820"/>
            <a:ext cx="1978660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683895" algn="l"/>
                <a:tab pos="1186815" algn="l"/>
                <a:tab pos="1927225" algn="l"/>
              </a:tabLst>
            </a:pPr>
            <a:r>
              <a:rPr dirty="0" sz="2700" spc="5" i="1">
                <a:latin typeface="Times New Roman"/>
                <a:cs typeface="Times New Roman"/>
              </a:rPr>
              <a:t>I</a:t>
            </a:r>
            <a:r>
              <a:rPr dirty="0" baseline="-23297" sz="2325" spc="7" i="1">
                <a:latin typeface="Times New Roman"/>
                <a:cs typeface="Times New Roman"/>
              </a:rPr>
              <a:t>t	</a:t>
            </a:r>
            <a:r>
              <a:rPr dirty="0" baseline="-34979" sz="4050" spc="7">
                <a:latin typeface="Symbol"/>
                <a:cs typeface="Symbol"/>
              </a:rPr>
              <a:t></a:t>
            </a:r>
            <a:r>
              <a:rPr dirty="0" u="sng" sz="2700" spc="5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</a:t>
            </a:r>
            <a:r>
              <a:rPr dirty="0" u="sng" sz="2700" spc="1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MV	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61103" y="4635500"/>
            <a:ext cx="880744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752475" algn="l"/>
              </a:tabLst>
            </a:pPr>
            <a:r>
              <a:rPr dirty="0" sz="2700" spc="-305">
                <a:latin typeface="Times New Roman"/>
                <a:cs typeface="Times New Roman"/>
              </a:rPr>
              <a:t>(</a:t>
            </a:r>
            <a:r>
              <a:rPr dirty="0" sz="2700" spc="-10">
                <a:latin typeface="Times New Roman"/>
                <a:cs typeface="Times New Roman"/>
              </a:rPr>
              <a:t>1</a:t>
            </a:r>
            <a:r>
              <a:rPr dirty="0" sz="2700" spc="5">
                <a:latin typeface="Symbol"/>
                <a:cs typeface="Symbol"/>
              </a:rPr>
              <a:t></a:t>
            </a:r>
            <a:r>
              <a:rPr dirty="0" sz="2700" spc="-415">
                <a:latin typeface="Times New Roman"/>
                <a:cs typeface="Times New Roman"/>
              </a:rPr>
              <a:t> </a:t>
            </a:r>
            <a:r>
              <a:rPr dirty="0" sz="2700" spc="5" i="1">
                <a:latin typeface="Times New Roman"/>
                <a:cs typeface="Times New Roman"/>
              </a:rPr>
              <a:t>k</a:t>
            </a:r>
            <a:r>
              <a:rPr dirty="0" sz="2700" i="1">
                <a:latin typeface="Times New Roman"/>
                <a:cs typeface="Times New Roman"/>
              </a:rPr>
              <a:t>	</a:t>
            </a:r>
            <a:r>
              <a:rPr dirty="0" sz="2700"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80103" y="4269740"/>
            <a:ext cx="369570" cy="647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4050" spc="-1205">
                <a:latin typeface="Symbol"/>
                <a:cs typeface="Symbol"/>
              </a:rPr>
              <a:t>区</a:t>
            </a:r>
            <a:endParaRPr sz="40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22776" y="4839716"/>
            <a:ext cx="26924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550" spc="5" i="1">
                <a:latin typeface="Times New Roman"/>
                <a:cs typeface="Times New Roman"/>
              </a:rPr>
              <a:t>t</a:t>
            </a:r>
            <a:r>
              <a:rPr dirty="0" sz="1550" spc="-325" i="1">
                <a:latin typeface="Times New Roman"/>
                <a:cs typeface="Times New Roman"/>
              </a:rPr>
              <a:t> </a:t>
            </a:r>
            <a:r>
              <a:rPr dirty="0" sz="1550" spc="-85">
                <a:latin typeface="Symbol"/>
                <a:cs typeface="Symbol"/>
              </a:rPr>
              <a:t></a:t>
            </a:r>
            <a:r>
              <a:rPr dirty="0" sz="1550" spc="-85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24327" y="4145280"/>
            <a:ext cx="1213485" cy="1009015"/>
          </a:xfrm>
          <a:custGeom>
            <a:avLst/>
            <a:gdLst/>
            <a:ahLst/>
            <a:cxnLst/>
            <a:rect l="l" t="t" r="r" b="b"/>
            <a:pathLst>
              <a:path w="1213485" h="1009014">
                <a:moveTo>
                  <a:pt x="0" y="0"/>
                </a:moveTo>
                <a:lnTo>
                  <a:pt x="0" y="1008888"/>
                </a:lnTo>
                <a:lnTo>
                  <a:pt x="1213104" y="1008888"/>
                </a:lnTo>
                <a:lnTo>
                  <a:pt x="121310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32455" y="4135628"/>
            <a:ext cx="1178560" cy="830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771525" algn="l"/>
              </a:tabLst>
            </a:pPr>
            <a:r>
              <a:rPr dirty="0" sz="5250" spc="-245" i="1">
                <a:latin typeface="Times New Roman"/>
                <a:cs typeface="Times New Roman"/>
              </a:rPr>
              <a:t>V</a:t>
            </a:r>
            <a:r>
              <a:rPr dirty="0" baseline="-23679" sz="4575" spc="-367" i="1">
                <a:latin typeface="Times New Roman"/>
                <a:cs typeface="Times New Roman"/>
              </a:rPr>
              <a:t>d	</a:t>
            </a:r>
            <a:r>
              <a:rPr dirty="0" sz="5250" spc="15">
                <a:latin typeface="Symbol"/>
                <a:cs typeface="Symbol"/>
              </a:rPr>
              <a:t></a:t>
            </a:r>
            <a:endParaRPr sz="52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6155" y="639572"/>
            <a:ext cx="308292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优</a:t>
            </a:r>
            <a:r>
              <a:rPr dirty="0" spc="25"/>
              <a:t>先</a:t>
            </a:r>
            <a:r>
              <a:rPr dirty="0" spc="5"/>
              <a:t>股的定价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39316"/>
            <a:ext cx="8194040" cy="2675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6870" marR="5080" indent="-344805">
              <a:lnSpc>
                <a:spcPct val="100200"/>
              </a:lnSpc>
              <a:spcBef>
                <a:spcPts val="1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优先股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指相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对于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普通股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拥有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“优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先”权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的股 票。优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普通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股的性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大的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区别，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一相 同之处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都不规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到期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日，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它们的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有者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都成为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优先股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般有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固定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的股利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又无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到期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日，所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是一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种永续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那么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优先股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表示为：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5672" y="4428744"/>
            <a:ext cx="6696709" cy="2091055"/>
          </a:xfrm>
          <a:custGeom>
            <a:avLst/>
            <a:gdLst/>
            <a:ahLst/>
            <a:cxnLst/>
            <a:rect l="l" t="t" r="r" b="b"/>
            <a:pathLst>
              <a:path w="6696709" h="2091054">
                <a:moveTo>
                  <a:pt x="0" y="0"/>
                </a:moveTo>
                <a:lnTo>
                  <a:pt x="0" y="2090928"/>
                </a:lnTo>
                <a:lnTo>
                  <a:pt x="6696456" y="2090928"/>
                </a:lnTo>
                <a:lnTo>
                  <a:pt x="669645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85672" y="4428744"/>
            <a:ext cx="6696709" cy="2091055"/>
          </a:xfrm>
          <a:custGeom>
            <a:avLst/>
            <a:gdLst/>
            <a:ahLst/>
            <a:cxnLst/>
            <a:rect l="l" t="t" r="r" b="b"/>
            <a:pathLst>
              <a:path w="6696709" h="2091054">
                <a:moveTo>
                  <a:pt x="0" y="0"/>
                </a:moveTo>
                <a:lnTo>
                  <a:pt x="0" y="2090927"/>
                </a:lnTo>
                <a:lnTo>
                  <a:pt x="6696455" y="2090927"/>
                </a:lnTo>
                <a:lnTo>
                  <a:pt x="6696455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45336" y="4788408"/>
            <a:ext cx="2231390" cy="1576070"/>
          </a:xfrm>
          <a:custGeom>
            <a:avLst/>
            <a:gdLst/>
            <a:ahLst/>
            <a:cxnLst/>
            <a:rect l="l" t="t" r="r" b="b"/>
            <a:pathLst>
              <a:path w="2231390" h="1576070">
                <a:moveTo>
                  <a:pt x="0" y="0"/>
                </a:moveTo>
                <a:lnTo>
                  <a:pt x="0" y="1575816"/>
                </a:lnTo>
                <a:lnTo>
                  <a:pt x="2231136" y="1575816"/>
                </a:lnTo>
                <a:lnTo>
                  <a:pt x="22311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59023" y="5556504"/>
            <a:ext cx="810895" cy="0"/>
          </a:xfrm>
          <a:custGeom>
            <a:avLst/>
            <a:gdLst/>
            <a:ahLst/>
            <a:cxnLst/>
            <a:rect l="l" t="t" r="r" b="b"/>
            <a:pathLst>
              <a:path w="810895" h="0">
                <a:moveTo>
                  <a:pt x="0" y="0"/>
                </a:moveTo>
                <a:lnTo>
                  <a:pt x="810767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313176" y="5900420"/>
            <a:ext cx="160655" cy="380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300" spc="10" i="1">
                <a:latin typeface="Times New Roman"/>
                <a:cs typeface="Times New Roman"/>
              </a:rPr>
              <a:t>p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89376" y="5117084"/>
            <a:ext cx="160655" cy="380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300" spc="10" i="1">
                <a:latin typeface="Times New Roman"/>
                <a:cs typeface="Times New Roman"/>
              </a:rPr>
              <a:t>p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4248" y="5501132"/>
            <a:ext cx="160655" cy="380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300" spc="10" i="1">
                <a:latin typeface="Times New Roman"/>
                <a:cs typeface="Times New Roman"/>
              </a:rPr>
              <a:t>p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19983" y="4603191"/>
            <a:ext cx="380365" cy="1592580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65"/>
              </a:spcBef>
            </a:pPr>
            <a:r>
              <a:rPr dirty="0" sz="4000" spc="5" i="1">
                <a:latin typeface="Times New Roman"/>
                <a:cs typeface="Times New Roman"/>
              </a:rPr>
              <a:t>D</a:t>
            </a:r>
            <a:endParaRPr sz="4000">
              <a:latin typeface="Times New Roman"/>
              <a:cs typeface="Times New Roman"/>
            </a:endParaRPr>
          </a:p>
          <a:p>
            <a:pPr marL="54610">
              <a:lnSpc>
                <a:spcPct val="100000"/>
              </a:lnSpc>
              <a:spcBef>
                <a:spcPts val="1370"/>
              </a:spcBef>
            </a:pPr>
            <a:r>
              <a:rPr dirty="0" sz="4000" i="1">
                <a:latin typeface="Times New Roman"/>
                <a:cs typeface="Times New Roman"/>
              </a:rPr>
              <a:t>k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8863" y="5159756"/>
            <a:ext cx="108775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795020" algn="l"/>
              </a:tabLst>
            </a:pPr>
            <a:r>
              <a:rPr dirty="0" sz="4000" i="1">
                <a:latin typeface="Times New Roman"/>
                <a:cs typeface="Times New Roman"/>
              </a:rPr>
              <a:t>V</a:t>
            </a:r>
            <a:r>
              <a:rPr dirty="0" sz="4000" i="1">
                <a:latin typeface="Times New Roman"/>
                <a:cs typeface="Times New Roman"/>
              </a:rPr>
              <a:t>	</a:t>
            </a:r>
            <a:r>
              <a:rPr dirty="0" sz="4000">
                <a:latin typeface="Symbol"/>
                <a:cs typeface="Symbol"/>
              </a:rPr>
              <a:t></a:t>
            </a:r>
            <a:endParaRPr sz="40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61128" y="4477028"/>
            <a:ext cx="2560320" cy="185737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just" marL="67945" marR="30480" indent="-43180">
              <a:lnSpc>
                <a:spcPct val="111300"/>
              </a:lnSpc>
              <a:spcBef>
                <a:spcPts val="330"/>
              </a:spcBef>
            </a:pPr>
            <a:r>
              <a:rPr dirty="0" sz="3450" spc="100" i="1">
                <a:latin typeface="Times New Roman"/>
                <a:cs typeface="Times New Roman"/>
              </a:rPr>
              <a:t>D</a:t>
            </a:r>
            <a:r>
              <a:rPr dirty="0" baseline="-23611" sz="3000" spc="150" i="1">
                <a:latin typeface="Times New Roman"/>
                <a:cs typeface="Times New Roman"/>
              </a:rPr>
              <a:t>p</a:t>
            </a:r>
            <a:r>
              <a:rPr dirty="0" baseline="-23611" sz="3000" spc="989" i="1">
                <a:latin typeface="Times New Roman"/>
                <a:cs typeface="Times New Roman"/>
              </a:rPr>
              <a:t> </a:t>
            </a:r>
            <a:r>
              <a:rPr dirty="0" sz="3450">
                <a:latin typeface="Symbol"/>
                <a:cs typeface="Symbol"/>
              </a:rPr>
              <a:t></a:t>
            </a:r>
            <a:r>
              <a:rPr dirty="0" sz="3450" spc="-60">
                <a:latin typeface="Times New Roman"/>
                <a:cs typeface="Times New Roman"/>
              </a:rPr>
              <a:t> </a:t>
            </a:r>
            <a:r>
              <a:rPr dirty="0" baseline="2314" sz="3600">
                <a:latin typeface="宋体"/>
                <a:cs typeface="宋体"/>
              </a:rPr>
              <a:t>优先股股利 </a:t>
            </a:r>
            <a:r>
              <a:rPr dirty="0" baseline="5401" sz="5400" i="1">
                <a:latin typeface="Times New Roman"/>
                <a:cs typeface="Times New Roman"/>
              </a:rPr>
              <a:t>k</a:t>
            </a:r>
            <a:r>
              <a:rPr dirty="0" baseline="5401" sz="5400" spc="-787" i="1">
                <a:latin typeface="Times New Roman"/>
                <a:cs typeface="Times New Roman"/>
              </a:rPr>
              <a:t> </a:t>
            </a:r>
            <a:r>
              <a:rPr dirty="0" baseline="-15873" sz="3150" spc="7" i="1">
                <a:latin typeface="Times New Roman"/>
                <a:cs typeface="Times New Roman"/>
              </a:rPr>
              <a:t>p</a:t>
            </a:r>
            <a:r>
              <a:rPr dirty="0" baseline="-15873" sz="3150" spc="247" i="1">
                <a:latin typeface="Times New Roman"/>
                <a:cs typeface="Times New Roman"/>
              </a:rPr>
              <a:t> </a:t>
            </a:r>
            <a:r>
              <a:rPr dirty="0" baseline="5401" sz="5400">
                <a:latin typeface="Symbol"/>
                <a:cs typeface="Symbol"/>
              </a:rPr>
              <a:t></a:t>
            </a:r>
            <a:r>
              <a:rPr dirty="0" baseline="5401" sz="5400" spc="-112">
                <a:latin typeface="Times New Roman"/>
                <a:cs typeface="Times New Roman"/>
              </a:rPr>
              <a:t> </a:t>
            </a:r>
            <a:r>
              <a:rPr dirty="0" sz="2400">
                <a:latin typeface="宋体"/>
                <a:cs typeface="宋体"/>
              </a:rPr>
              <a:t>市场收益率 </a:t>
            </a:r>
            <a:r>
              <a:rPr dirty="0" baseline="-3086" sz="5400" spc="142" i="1">
                <a:latin typeface="Times New Roman"/>
                <a:cs typeface="Times New Roman"/>
              </a:rPr>
              <a:t>V</a:t>
            </a:r>
            <a:r>
              <a:rPr dirty="0" baseline="-29810" sz="3075" spc="142" i="1">
                <a:latin typeface="Times New Roman"/>
                <a:cs typeface="Times New Roman"/>
              </a:rPr>
              <a:t>p</a:t>
            </a:r>
            <a:r>
              <a:rPr dirty="0" baseline="-29810" sz="3075" spc="1027" i="1">
                <a:latin typeface="Times New Roman"/>
                <a:cs typeface="Times New Roman"/>
              </a:rPr>
              <a:t> </a:t>
            </a:r>
            <a:r>
              <a:rPr dirty="0" baseline="-3086" sz="5400">
                <a:latin typeface="Symbol"/>
                <a:cs typeface="Symbol"/>
              </a:rPr>
              <a:t></a:t>
            </a:r>
            <a:r>
              <a:rPr dirty="0" baseline="-3086" sz="5400" spc="-442">
                <a:latin typeface="Times New Roman"/>
                <a:cs typeface="Times New Roman"/>
              </a:rPr>
              <a:t> </a:t>
            </a:r>
            <a:r>
              <a:rPr dirty="0" sz="2400">
                <a:latin typeface="宋体"/>
                <a:cs typeface="宋体"/>
              </a:rPr>
              <a:t>优先股价值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6155" y="639572"/>
            <a:ext cx="308292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普</a:t>
            </a:r>
            <a:r>
              <a:rPr dirty="0" spc="25"/>
              <a:t>通</a:t>
            </a:r>
            <a:r>
              <a:rPr dirty="0" spc="5"/>
              <a:t>股的定价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39316"/>
            <a:ext cx="7837805" cy="4382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6870" marR="5080" indent="-344805">
              <a:lnSpc>
                <a:spcPct val="100099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在定价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型中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最难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理解的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普通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定价，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 普通股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及股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否支付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支付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、支付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 高低等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而这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些因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素和债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先股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相比具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很 大的不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通股的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很大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程度上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靠 人们对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种因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素的预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所以具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对的复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性。</a:t>
            </a:r>
            <a:endParaRPr sz="28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股票带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持有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者的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包括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两部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分：股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 入和出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时的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利得（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售价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高于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购买价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差 额），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票的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由一系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将来出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票时售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构成。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1107" y="670052"/>
            <a:ext cx="46126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20"/>
              <a:t>普通</a:t>
            </a:r>
            <a:r>
              <a:rPr dirty="0" sz="3600"/>
              <a:t>股</a:t>
            </a:r>
            <a:r>
              <a:rPr dirty="0" sz="3600" spc="20"/>
              <a:t>定</a:t>
            </a:r>
            <a:r>
              <a:rPr dirty="0" sz="3600"/>
              <a:t>价的</a:t>
            </a:r>
            <a:r>
              <a:rPr dirty="0" sz="3600" spc="20"/>
              <a:t>基本</a:t>
            </a:r>
            <a:r>
              <a:rPr dirty="0" sz="3600"/>
              <a:t>模型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77316" y="1584452"/>
            <a:ext cx="7493000" cy="124015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algn="just" marL="12700" marR="5080" indent="642620">
              <a:lnSpc>
                <a:spcPct val="92100"/>
              </a:lnSpc>
              <a:spcBef>
                <a:spcPts val="370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果股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持有股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只获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得股利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一个永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入。这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流入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的现值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股票的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091" y="6132068"/>
            <a:ext cx="429577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这是普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一般模型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6344" y="2919984"/>
            <a:ext cx="8135620" cy="3243580"/>
          </a:xfrm>
          <a:custGeom>
            <a:avLst/>
            <a:gdLst/>
            <a:ahLst/>
            <a:cxnLst/>
            <a:rect l="l" t="t" r="r" b="b"/>
            <a:pathLst>
              <a:path w="8135620" h="3243579">
                <a:moveTo>
                  <a:pt x="0" y="0"/>
                </a:moveTo>
                <a:lnTo>
                  <a:pt x="0" y="3243072"/>
                </a:lnTo>
                <a:lnTo>
                  <a:pt x="8135112" y="3243072"/>
                </a:lnTo>
                <a:lnTo>
                  <a:pt x="8135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6343" y="2919984"/>
            <a:ext cx="8135620" cy="3243580"/>
          </a:xfrm>
          <a:custGeom>
            <a:avLst/>
            <a:gdLst/>
            <a:ahLst/>
            <a:cxnLst/>
            <a:rect l="l" t="t" r="r" b="b"/>
            <a:pathLst>
              <a:path w="8135620" h="3243579">
                <a:moveTo>
                  <a:pt x="0" y="0"/>
                </a:moveTo>
                <a:lnTo>
                  <a:pt x="0" y="3243071"/>
                </a:lnTo>
                <a:lnTo>
                  <a:pt x="8135111" y="3243071"/>
                </a:lnTo>
                <a:lnTo>
                  <a:pt x="8135111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6447" y="4157472"/>
            <a:ext cx="6096000" cy="0"/>
          </a:xfrm>
          <a:custGeom>
            <a:avLst/>
            <a:gdLst/>
            <a:ahLst/>
            <a:cxnLst/>
            <a:rect l="l" t="t" r="r" b="b"/>
            <a:pathLst>
              <a:path w="6096000" h="0">
                <a:moveTo>
                  <a:pt x="0" y="0"/>
                </a:moveTo>
                <a:lnTo>
                  <a:pt x="609599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4087" y="4070505"/>
            <a:ext cx="3060700" cy="88773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944"/>
              </a:spcBef>
              <a:tabLst>
                <a:tab pos="761365" algn="l"/>
                <a:tab pos="1294765" algn="l"/>
                <a:tab pos="2437765" algn="l"/>
              </a:tabLst>
            </a:pPr>
            <a:r>
              <a:rPr dirty="0" sz="2400">
                <a:latin typeface="Times New Roman"/>
                <a:cs typeface="Times New Roman"/>
              </a:rPr>
              <a:t>1	2	3	……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r>
              <a:rPr dirty="0" sz="1950" spc="60" b="1">
                <a:latin typeface="Microsoft JhengHei UI"/>
                <a:cs typeface="Microsoft JhengHei UI"/>
              </a:rPr>
              <a:t>股</a:t>
            </a:r>
            <a:r>
              <a:rPr dirty="0" sz="1950" spc="35" b="1">
                <a:latin typeface="Microsoft JhengHei UI"/>
                <a:cs typeface="Microsoft JhengHei UI"/>
              </a:rPr>
              <a:t>票收</a:t>
            </a:r>
            <a:r>
              <a:rPr dirty="0" sz="1950" spc="60" b="1">
                <a:latin typeface="Microsoft JhengHei UI"/>
                <a:cs typeface="Microsoft JhengHei UI"/>
              </a:rPr>
              <a:t>益</a:t>
            </a:r>
            <a:r>
              <a:rPr dirty="0" sz="1950" spc="35" b="1">
                <a:latin typeface="Microsoft JhengHei UI"/>
                <a:cs typeface="Microsoft JhengHei UI"/>
              </a:rPr>
              <a:t>的现</a:t>
            </a:r>
            <a:r>
              <a:rPr dirty="0" sz="1950" spc="60" b="1">
                <a:latin typeface="Microsoft JhengHei UI"/>
                <a:cs typeface="Microsoft JhengHei UI"/>
              </a:rPr>
              <a:t>金</a:t>
            </a:r>
            <a:r>
              <a:rPr dirty="0" sz="1950" spc="35" b="1">
                <a:latin typeface="Microsoft JhengHei UI"/>
                <a:cs typeface="Microsoft JhengHei UI"/>
              </a:rPr>
              <a:t>流量</a:t>
            </a:r>
            <a:r>
              <a:rPr dirty="0" sz="1950" spc="15" b="1">
                <a:latin typeface="Microsoft JhengHei UI"/>
                <a:cs typeface="Microsoft JhengHei UI"/>
              </a:rPr>
              <a:t>图</a:t>
            </a:r>
            <a:endParaRPr sz="1950">
              <a:latin typeface="Microsoft JhengHei UI"/>
              <a:cs typeface="Microsoft JhengHei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76088" y="4178300"/>
            <a:ext cx="186626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33730" algn="l"/>
                <a:tab pos="1243330" algn="l"/>
              </a:tabLst>
            </a:pP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 spc="-10">
                <a:latin typeface="Times New Roman"/>
                <a:cs typeface="Times New Roman"/>
              </a:rPr>
              <a:t>­</a:t>
            </a:r>
            <a:r>
              <a:rPr dirty="0" sz="2400">
                <a:latin typeface="Times New Roman"/>
                <a:cs typeface="Times New Roman"/>
              </a:rPr>
              <a:t>1	n	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91271" y="4178300"/>
            <a:ext cx="622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年末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69847" y="3486912"/>
            <a:ext cx="3175" cy="670560"/>
          </a:xfrm>
          <a:custGeom>
            <a:avLst/>
            <a:gdLst/>
            <a:ahLst/>
            <a:cxnLst/>
            <a:rect l="l" t="t" r="r" b="b"/>
            <a:pathLst>
              <a:path w="3175" h="670560">
                <a:moveTo>
                  <a:pt x="0" y="670559"/>
                </a:moveTo>
                <a:lnTo>
                  <a:pt x="304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24127" y="339852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51816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518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03247" y="3486912"/>
            <a:ext cx="0" cy="670560"/>
          </a:xfrm>
          <a:custGeom>
            <a:avLst/>
            <a:gdLst/>
            <a:ahLst/>
            <a:cxnLst/>
            <a:rect l="l" t="t" r="r" b="b"/>
            <a:pathLst>
              <a:path w="0" h="670560">
                <a:moveTo>
                  <a:pt x="0" y="670559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54480" y="339852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51816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518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36647" y="3486912"/>
            <a:ext cx="0" cy="670560"/>
          </a:xfrm>
          <a:custGeom>
            <a:avLst/>
            <a:gdLst/>
            <a:ahLst/>
            <a:cxnLst/>
            <a:rect l="l" t="t" r="r" b="b"/>
            <a:pathLst>
              <a:path w="0" h="670560">
                <a:moveTo>
                  <a:pt x="0" y="670559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087880" y="339852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48768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46647" y="3486912"/>
            <a:ext cx="0" cy="670560"/>
          </a:xfrm>
          <a:custGeom>
            <a:avLst/>
            <a:gdLst/>
            <a:ahLst/>
            <a:cxnLst/>
            <a:rect l="l" t="t" r="r" b="b"/>
            <a:pathLst>
              <a:path w="0" h="670560">
                <a:moveTo>
                  <a:pt x="0" y="670559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897880" y="339852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48768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13247" y="3486912"/>
            <a:ext cx="3175" cy="670560"/>
          </a:xfrm>
          <a:custGeom>
            <a:avLst/>
            <a:gdLst/>
            <a:ahLst/>
            <a:cxnLst/>
            <a:rect l="l" t="t" r="r" b="b"/>
            <a:pathLst>
              <a:path w="3175" h="670560">
                <a:moveTo>
                  <a:pt x="0" y="670559"/>
                </a:moveTo>
                <a:lnTo>
                  <a:pt x="304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67528" y="339852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48768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46647" y="4081272"/>
            <a:ext cx="3175" cy="76200"/>
          </a:xfrm>
          <a:custGeom>
            <a:avLst/>
            <a:gdLst/>
            <a:ahLst/>
            <a:cxnLst/>
            <a:rect l="l" t="t" r="r" b="b"/>
            <a:pathLst>
              <a:path w="3175" h="76200">
                <a:moveTo>
                  <a:pt x="1523" y="-4571"/>
                </a:moveTo>
                <a:lnTo>
                  <a:pt x="1523" y="80771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36447" y="4081272"/>
            <a:ext cx="3175" cy="76200"/>
          </a:xfrm>
          <a:custGeom>
            <a:avLst/>
            <a:gdLst/>
            <a:ahLst/>
            <a:cxnLst/>
            <a:rect l="l" t="t" r="r" b="b"/>
            <a:pathLst>
              <a:path w="3175" h="76200">
                <a:moveTo>
                  <a:pt x="1523" y="-4571"/>
                </a:moveTo>
                <a:lnTo>
                  <a:pt x="1523" y="80771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861060" y="3004820"/>
            <a:ext cx="470852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558800" algn="l"/>
                <a:tab pos="1104265" algn="l"/>
                <a:tab pos="4134485" algn="l"/>
              </a:tabLst>
            </a:pPr>
            <a:r>
              <a:rPr dirty="0" baseline="13333" sz="3750" spc="-127" i="1">
                <a:latin typeface="Times New Roman"/>
                <a:cs typeface="Times New Roman"/>
              </a:rPr>
              <a:t>D</a:t>
            </a:r>
            <a:r>
              <a:rPr dirty="0" sz="1450" spc="-85">
                <a:latin typeface="Times New Roman"/>
                <a:cs typeface="Times New Roman"/>
              </a:rPr>
              <a:t>1	</a:t>
            </a:r>
            <a:r>
              <a:rPr dirty="0" baseline="13333" sz="3750" i="1">
                <a:latin typeface="Times New Roman"/>
                <a:cs typeface="Times New Roman"/>
              </a:rPr>
              <a:t>D</a:t>
            </a:r>
            <a:r>
              <a:rPr dirty="0" sz="1450">
                <a:latin typeface="Times New Roman"/>
                <a:cs typeface="Times New Roman"/>
              </a:rPr>
              <a:t>2	</a:t>
            </a:r>
            <a:r>
              <a:rPr dirty="0" baseline="16339" sz="3825" spc="-67" i="1">
                <a:latin typeface="Times New Roman"/>
                <a:cs typeface="Times New Roman"/>
              </a:rPr>
              <a:t>D</a:t>
            </a:r>
            <a:r>
              <a:rPr dirty="0" baseline="3831" sz="2175" spc="-67">
                <a:latin typeface="Times New Roman"/>
                <a:cs typeface="Times New Roman"/>
              </a:rPr>
              <a:t>3	</a:t>
            </a:r>
            <a:r>
              <a:rPr dirty="0" baseline="14444" sz="3750" i="1">
                <a:latin typeface="Times New Roman"/>
                <a:cs typeface="Times New Roman"/>
              </a:rPr>
              <a:t>D</a:t>
            </a:r>
            <a:r>
              <a:rPr dirty="0" sz="1450" i="1">
                <a:latin typeface="Times New Roman"/>
                <a:cs typeface="Times New Roman"/>
              </a:rPr>
              <a:t>n</a:t>
            </a:r>
            <a:r>
              <a:rPr dirty="0" sz="1450" spc="-280" i="1">
                <a:latin typeface="Times New Roman"/>
                <a:cs typeface="Times New Roman"/>
              </a:rPr>
              <a:t> </a:t>
            </a:r>
            <a:r>
              <a:rPr dirty="0" sz="1450" spc="-350">
                <a:latin typeface="Symbol"/>
                <a:cs typeface="Symbol"/>
              </a:rPr>
              <a:t></a:t>
            </a:r>
            <a:r>
              <a:rPr dirty="0" sz="1450" spc="-35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68847" y="2925572"/>
            <a:ext cx="385445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sz="2500" i="1">
                <a:latin typeface="Times New Roman"/>
                <a:cs typeface="Times New Roman"/>
              </a:rPr>
              <a:t>D</a:t>
            </a:r>
            <a:r>
              <a:rPr dirty="0" baseline="-24904" sz="2175" i="1">
                <a:latin typeface="Times New Roman"/>
                <a:cs typeface="Times New Roman"/>
              </a:rPr>
              <a:t>n</a:t>
            </a:r>
            <a:endParaRPr baseline="-24904" sz="217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27759" y="5565648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 h="0">
                <a:moveTo>
                  <a:pt x="0" y="0"/>
                </a:moveTo>
                <a:lnTo>
                  <a:pt x="62788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22376" y="5519420"/>
            <a:ext cx="11557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00" spc="10" i="1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4736" y="5257292"/>
            <a:ext cx="572135" cy="5010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3100" spc="10" i="1">
                <a:latin typeface="Times New Roman"/>
                <a:cs typeface="Times New Roman"/>
              </a:rPr>
              <a:t>V</a:t>
            </a:r>
            <a:r>
              <a:rPr dirty="0" sz="3100" spc="-85" i="1">
                <a:latin typeface="Times New Roman"/>
                <a:cs typeface="Times New Roman"/>
              </a:rPr>
              <a:t> </a:t>
            </a:r>
            <a:r>
              <a:rPr dirty="0" sz="3100" spc="10">
                <a:latin typeface="Symbol"/>
                <a:cs typeface="Symbol"/>
              </a:rPr>
              <a:t></a:t>
            </a:r>
            <a:endParaRPr sz="31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93519" y="5269484"/>
            <a:ext cx="128905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00" spc="1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76272" y="5565648"/>
            <a:ext cx="1127760" cy="0"/>
          </a:xfrm>
          <a:custGeom>
            <a:avLst/>
            <a:gdLst/>
            <a:ahLst/>
            <a:cxnLst/>
            <a:rect l="l" t="t" r="r" b="b"/>
            <a:pathLst>
              <a:path w="1127760" h="0">
                <a:moveTo>
                  <a:pt x="0" y="0"/>
                </a:moveTo>
                <a:lnTo>
                  <a:pt x="1127759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914144" y="5257292"/>
            <a:ext cx="230504" cy="5010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3100" spc="10">
                <a:latin typeface="Symbol"/>
                <a:cs typeface="Symbol"/>
              </a:rPr>
              <a:t></a:t>
            </a:r>
            <a:endParaRPr sz="31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36776" y="5830316"/>
            <a:ext cx="138684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1270635" algn="l"/>
              </a:tabLst>
            </a:pPr>
            <a:r>
              <a:rPr dirty="0" sz="1800" spc="10" i="1">
                <a:latin typeface="Times New Roman"/>
                <a:cs typeface="Times New Roman"/>
              </a:rPr>
              <a:t>e</a:t>
            </a:r>
            <a:r>
              <a:rPr dirty="0" sz="1800" spc="10" i="1">
                <a:latin typeface="Times New Roman"/>
                <a:cs typeface="Times New Roman"/>
              </a:rPr>
              <a:t>	</a:t>
            </a:r>
            <a:r>
              <a:rPr dirty="0" sz="1800" spc="10" i="1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90167" y="5568188"/>
            <a:ext cx="2228215" cy="5010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915035" algn="l"/>
              </a:tabLst>
            </a:pPr>
            <a:r>
              <a:rPr dirty="0" sz="3100" spc="-80">
                <a:latin typeface="Times New Roman"/>
                <a:cs typeface="Times New Roman"/>
              </a:rPr>
              <a:t>1</a:t>
            </a:r>
            <a:r>
              <a:rPr dirty="0" sz="3100" spc="-80">
                <a:latin typeface="Symbol"/>
                <a:cs typeface="Symbol"/>
              </a:rPr>
              <a:t></a:t>
            </a:r>
            <a:r>
              <a:rPr dirty="0" sz="3100" spc="-80" i="1">
                <a:latin typeface="Times New Roman"/>
                <a:cs typeface="Times New Roman"/>
              </a:rPr>
              <a:t>k	</a:t>
            </a:r>
            <a:r>
              <a:rPr dirty="0" sz="3100" spc="-295">
                <a:latin typeface="宋体"/>
                <a:cs typeface="宋体"/>
              </a:rPr>
              <a:t>（</a:t>
            </a:r>
            <a:r>
              <a:rPr dirty="0" sz="3100" spc="-295">
                <a:latin typeface="Times New Roman"/>
                <a:cs typeface="Times New Roman"/>
              </a:rPr>
              <a:t>1</a:t>
            </a:r>
            <a:r>
              <a:rPr dirty="0" sz="3100" spc="-295">
                <a:latin typeface="Symbol"/>
                <a:cs typeface="Symbol"/>
              </a:rPr>
              <a:t></a:t>
            </a:r>
            <a:r>
              <a:rPr dirty="0" sz="3100" spc="-295">
                <a:latin typeface="Times New Roman"/>
                <a:cs typeface="Times New Roman"/>
              </a:rPr>
              <a:t> </a:t>
            </a:r>
            <a:r>
              <a:rPr dirty="0" sz="3100" spc="5" i="1">
                <a:latin typeface="Times New Roman"/>
                <a:cs typeface="Times New Roman"/>
              </a:rPr>
              <a:t>k</a:t>
            </a:r>
            <a:r>
              <a:rPr dirty="0" sz="3100" spc="-600" i="1">
                <a:latin typeface="Times New Roman"/>
                <a:cs typeface="Times New Roman"/>
              </a:rPr>
              <a:t> </a:t>
            </a:r>
            <a:r>
              <a:rPr dirty="0" sz="3100" spc="-825">
                <a:latin typeface="宋体"/>
                <a:cs typeface="宋体"/>
              </a:rPr>
              <a:t>）</a:t>
            </a:r>
            <a:r>
              <a:rPr dirty="0" baseline="43209" sz="2700" spc="-1237">
                <a:latin typeface="Times New Roman"/>
                <a:cs typeface="Times New Roman"/>
              </a:rPr>
              <a:t>2</a:t>
            </a:r>
            <a:endParaRPr baseline="43209" sz="2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82191" y="5004308"/>
            <a:ext cx="1689100" cy="5010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1277620" algn="l"/>
              </a:tabLst>
            </a:pPr>
            <a:r>
              <a:rPr dirty="0" sz="3100" spc="10" i="1">
                <a:latin typeface="Times New Roman"/>
                <a:cs typeface="Times New Roman"/>
              </a:rPr>
              <a:t>D	</a:t>
            </a:r>
            <a:r>
              <a:rPr dirty="0" sz="3100" spc="-155" i="1">
                <a:latin typeface="Times New Roman"/>
                <a:cs typeface="Times New Roman"/>
              </a:rPr>
              <a:t>D</a:t>
            </a:r>
            <a:r>
              <a:rPr dirty="0" baseline="-24691" sz="2700" spc="-232">
                <a:latin typeface="Times New Roman"/>
                <a:cs typeface="Times New Roman"/>
              </a:rPr>
              <a:t>2</a:t>
            </a:r>
            <a:endParaRPr baseline="-24691" sz="2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331207" y="5556504"/>
            <a:ext cx="1329055" cy="0"/>
          </a:xfrm>
          <a:custGeom>
            <a:avLst/>
            <a:gdLst/>
            <a:ahLst/>
            <a:cxnLst/>
            <a:rect l="l" t="t" r="r" b="b"/>
            <a:pathLst>
              <a:path w="1329054" h="0">
                <a:moveTo>
                  <a:pt x="0" y="0"/>
                </a:moveTo>
                <a:lnTo>
                  <a:pt x="132892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730240" y="5266436"/>
            <a:ext cx="215265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Symbol"/>
                <a:cs typeface="Symbol"/>
              </a:rPr>
              <a:t>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59679" y="5802884"/>
            <a:ext cx="10795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10" i="1"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86808" y="5126228"/>
            <a:ext cx="633730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14367" sz="4350" spc="-345" i="1">
                <a:latin typeface="Times New Roman"/>
                <a:cs typeface="Times New Roman"/>
              </a:rPr>
              <a:t>D</a:t>
            </a:r>
            <a:r>
              <a:rPr dirty="0" sz="1650" spc="-229" i="1">
                <a:latin typeface="Times New Roman"/>
                <a:cs typeface="Times New Roman"/>
              </a:rPr>
              <a:t>n</a:t>
            </a:r>
            <a:r>
              <a:rPr dirty="0" sz="1650" spc="-229">
                <a:latin typeface="Symbol"/>
                <a:cs typeface="Symbol"/>
              </a:rPr>
              <a:t></a:t>
            </a:r>
            <a:r>
              <a:rPr dirty="0" sz="1650" spc="-229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32071" y="5555996"/>
            <a:ext cx="1532890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900" spc="-190">
                <a:latin typeface="宋体"/>
                <a:cs typeface="宋体"/>
              </a:rPr>
              <a:t>（</a:t>
            </a:r>
            <a:r>
              <a:rPr dirty="0" sz="2900" spc="-190">
                <a:latin typeface="Times New Roman"/>
                <a:cs typeface="Times New Roman"/>
              </a:rPr>
              <a:t>1</a:t>
            </a:r>
            <a:r>
              <a:rPr dirty="0" sz="2900" spc="-190">
                <a:latin typeface="Symbol"/>
                <a:cs typeface="Symbol"/>
              </a:rPr>
              <a:t></a:t>
            </a:r>
            <a:r>
              <a:rPr dirty="0" sz="2900" spc="-190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k</a:t>
            </a:r>
            <a:r>
              <a:rPr dirty="0" sz="2900" spc="-420" i="1">
                <a:latin typeface="Times New Roman"/>
                <a:cs typeface="Times New Roman"/>
              </a:rPr>
              <a:t> </a:t>
            </a:r>
            <a:r>
              <a:rPr dirty="0" sz="2900" spc="-555">
                <a:latin typeface="宋体"/>
                <a:cs typeface="宋体"/>
              </a:rPr>
              <a:t>）</a:t>
            </a:r>
            <a:r>
              <a:rPr dirty="0" baseline="43771" sz="2475" spc="-832" i="1">
                <a:latin typeface="Times New Roman"/>
                <a:cs typeface="Times New Roman"/>
              </a:rPr>
              <a:t>n</a:t>
            </a:r>
            <a:r>
              <a:rPr dirty="0" baseline="43771" sz="2475" spc="-832">
                <a:latin typeface="Symbol"/>
                <a:cs typeface="Symbol"/>
              </a:rPr>
              <a:t></a:t>
            </a:r>
            <a:r>
              <a:rPr dirty="0" baseline="43771" sz="2475" spc="-832">
                <a:latin typeface="Times New Roman"/>
                <a:cs typeface="Times New Roman"/>
              </a:rPr>
              <a:t>1</a:t>
            </a:r>
            <a:endParaRPr baseline="43771" sz="2475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099047" y="5526024"/>
            <a:ext cx="1146175" cy="0"/>
          </a:xfrm>
          <a:custGeom>
            <a:avLst/>
            <a:gdLst/>
            <a:ahLst/>
            <a:cxnLst/>
            <a:rect l="l" t="t" r="r" b="b"/>
            <a:pathLst>
              <a:path w="1146175" h="0">
                <a:moveTo>
                  <a:pt x="0" y="0"/>
                </a:moveTo>
                <a:lnTo>
                  <a:pt x="114604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7315200" y="5239004"/>
            <a:ext cx="60706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850" spc="229">
                <a:latin typeface="Symbol"/>
                <a:cs typeface="Symbol"/>
              </a:rPr>
              <a:t></a:t>
            </a:r>
            <a:r>
              <a:rPr dirty="0" sz="2850" spc="1945">
                <a:latin typeface="Symbol"/>
                <a:cs typeface="Symbol"/>
              </a:rPr>
              <a:t>．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36664" y="5769356"/>
            <a:ext cx="10795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10" i="1"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60744" y="5004308"/>
            <a:ext cx="42037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sz="2850" spc="-40" i="1">
                <a:latin typeface="Times New Roman"/>
                <a:cs typeface="Times New Roman"/>
              </a:rPr>
              <a:t>D</a:t>
            </a:r>
            <a:r>
              <a:rPr dirty="0" baseline="-25252" sz="2475" spc="-60" i="1">
                <a:latin typeface="Times New Roman"/>
                <a:cs typeface="Times New Roman"/>
              </a:rPr>
              <a:t>n</a:t>
            </a:r>
            <a:endParaRPr baseline="-25252" sz="2475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899911" y="5525516"/>
            <a:ext cx="13284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sz="2850" spc="-145">
                <a:latin typeface="宋体"/>
                <a:cs typeface="宋体"/>
              </a:rPr>
              <a:t>（</a:t>
            </a:r>
            <a:r>
              <a:rPr dirty="0" sz="2850" spc="-145">
                <a:latin typeface="Times New Roman"/>
                <a:cs typeface="Times New Roman"/>
              </a:rPr>
              <a:t>1</a:t>
            </a:r>
            <a:r>
              <a:rPr dirty="0" sz="2850" spc="-145">
                <a:latin typeface="Symbol"/>
                <a:cs typeface="Symbol"/>
              </a:rPr>
              <a:t></a:t>
            </a:r>
            <a:r>
              <a:rPr dirty="0" sz="2850" spc="-14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k</a:t>
            </a:r>
            <a:r>
              <a:rPr dirty="0" sz="2850" spc="-370" i="1">
                <a:latin typeface="Times New Roman"/>
                <a:cs typeface="Times New Roman"/>
              </a:rPr>
              <a:t> </a:t>
            </a:r>
            <a:r>
              <a:rPr dirty="0" sz="2850" spc="-700">
                <a:latin typeface="宋体"/>
                <a:cs typeface="宋体"/>
              </a:rPr>
              <a:t>）</a:t>
            </a:r>
            <a:r>
              <a:rPr dirty="0" baseline="43771" sz="2475" spc="-1050" i="1">
                <a:latin typeface="Times New Roman"/>
                <a:cs typeface="Times New Roman"/>
              </a:rPr>
              <a:t>n</a:t>
            </a:r>
            <a:endParaRPr baseline="43771" sz="2475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348735" y="5196332"/>
            <a:ext cx="958215" cy="5010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baseline="-8960" sz="4650" spc="15">
                <a:latin typeface="Symbol"/>
                <a:cs typeface="Symbol"/>
              </a:rPr>
              <a:t></a:t>
            </a:r>
            <a:r>
              <a:rPr dirty="0" baseline="-8960" sz="465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…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baseline="-6704" sz="4350">
                <a:latin typeface="Symbol"/>
                <a:cs typeface="Symbol"/>
              </a:rPr>
              <a:t></a:t>
            </a:r>
            <a:endParaRPr baseline="-6704" sz="43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0860" y="670052"/>
            <a:ext cx="55302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20"/>
              <a:t>固定</a:t>
            </a:r>
            <a:r>
              <a:rPr dirty="0" sz="3600"/>
              <a:t>股</a:t>
            </a:r>
            <a:r>
              <a:rPr dirty="0" sz="3600" spc="20"/>
              <a:t>利</a:t>
            </a:r>
            <a:r>
              <a:rPr dirty="0" sz="3600"/>
              <a:t>增长</a:t>
            </a:r>
            <a:r>
              <a:rPr dirty="0" sz="3600" spc="20"/>
              <a:t>股票</a:t>
            </a:r>
            <a:r>
              <a:rPr dirty="0" sz="3600"/>
              <a:t>定</a:t>
            </a:r>
            <a:r>
              <a:rPr dirty="0" sz="3600" spc="20"/>
              <a:t>价</a:t>
            </a:r>
            <a:r>
              <a:rPr dirty="0" sz="3600"/>
              <a:t>模型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8659" y="1639316"/>
            <a:ext cx="76568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56959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如果股利呈一个固定增长的趋势，假设刚刚过去的一 年支付的股利为</a:t>
            </a:r>
            <a:r>
              <a:rPr dirty="0" sz="2400" spc="5">
                <a:solidFill>
                  <a:srgbClr val="FFFFFF"/>
                </a:solidFill>
                <a:latin typeface="宋体"/>
                <a:cs typeface="宋体"/>
              </a:rPr>
              <a:t>D</a:t>
            </a:r>
            <a:r>
              <a:rPr dirty="0" baseline="-20833" sz="2400" spc="7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股利按一个g的比率增长，那么：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6836" y="5510276"/>
            <a:ext cx="7035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这些股利的现值和即是固定股利增长率股票的价值：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45336" y="2456688"/>
            <a:ext cx="6193790" cy="2880360"/>
          </a:xfrm>
          <a:custGeom>
            <a:avLst/>
            <a:gdLst/>
            <a:ahLst/>
            <a:cxnLst/>
            <a:rect l="l" t="t" r="r" b="b"/>
            <a:pathLst>
              <a:path w="6193790" h="2880360">
                <a:moveTo>
                  <a:pt x="0" y="0"/>
                </a:moveTo>
                <a:lnTo>
                  <a:pt x="0" y="2880360"/>
                </a:lnTo>
                <a:lnTo>
                  <a:pt x="6193536" y="2880360"/>
                </a:lnTo>
                <a:lnTo>
                  <a:pt x="6193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45336" y="2456688"/>
            <a:ext cx="6193790" cy="2880360"/>
          </a:xfrm>
          <a:custGeom>
            <a:avLst/>
            <a:gdLst/>
            <a:ahLst/>
            <a:cxnLst/>
            <a:rect l="l" t="t" r="r" b="b"/>
            <a:pathLst>
              <a:path w="6193790" h="2880360">
                <a:moveTo>
                  <a:pt x="0" y="0"/>
                </a:moveTo>
                <a:lnTo>
                  <a:pt x="0" y="2880359"/>
                </a:lnTo>
                <a:lnTo>
                  <a:pt x="6193535" y="2880359"/>
                </a:lnTo>
                <a:lnTo>
                  <a:pt x="6193535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491983" y="3279140"/>
            <a:ext cx="10922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500" spc="5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24455" y="3875532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524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12264" y="386334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64808" y="3303524"/>
            <a:ext cx="982344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603250" algn="l"/>
              </a:tabLst>
            </a:pPr>
            <a:r>
              <a:rPr dirty="0" sz="2600" spc="-5">
                <a:latin typeface="Times New Roman"/>
                <a:cs typeface="Times New Roman"/>
              </a:rPr>
              <a:t>1</a:t>
            </a:r>
            <a:r>
              <a:rPr dirty="0" sz="2600" spc="70">
                <a:latin typeface="Times New Roman"/>
                <a:cs typeface="Times New Roman"/>
              </a:rPr>
              <a:t> </a:t>
            </a:r>
            <a:r>
              <a:rPr dirty="0" baseline="4273" sz="3900" spc="-7">
                <a:latin typeface="Symbol"/>
                <a:cs typeface="Symbol"/>
              </a:rPr>
              <a:t></a:t>
            </a:r>
            <a:r>
              <a:rPr dirty="0" baseline="4273" sz="3900" spc="-7">
                <a:latin typeface="Times New Roman"/>
                <a:cs typeface="Times New Roman"/>
              </a:rPr>
              <a:t>	</a:t>
            </a:r>
            <a:r>
              <a:rPr dirty="0" sz="2600" spc="-5" i="1">
                <a:latin typeface="Times New Roman"/>
                <a:cs typeface="Times New Roman"/>
              </a:rPr>
              <a:t>g</a:t>
            </a:r>
            <a:r>
              <a:rPr dirty="0" sz="2600" spc="-15" i="1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6448" y="3303524"/>
            <a:ext cx="453961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921385" algn="l"/>
                <a:tab pos="1485265" algn="l"/>
                <a:tab pos="2085339" algn="l"/>
                <a:tab pos="2603500" algn="l"/>
                <a:tab pos="3207385" algn="l"/>
                <a:tab pos="4097020" algn="l"/>
              </a:tabLst>
            </a:pPr>
            <a:r>
              <a:rPr dirty="0" sz="2600" spc="-10" i="1">
                <a:latin typeface="Times New Roman"/>
                <a:cs typeface="Times New Roman"/>
              </a:rPr>
              <a:t>D</a:t>
            </a:r>
            <a:r>
              <a:rPr dirty="0" sz="2600" spc="-315" i="1">
                <a:latin typeface="Times New Roman"/>
                <a:cs typeface="Times New Roman"/>
              </a:rPr>
              <a:t> </a:t>
            </a:r>
            <a:r>
              <a:rPr dirty="0" baseline="-33564" sz="3600">
                <a:latin typeface="Times New Roman"/>
                <a:cs typeface="Times New Roman"/>
              </a:rPr>
              <a:t>2</a:t>
            </a:r>
            <a:r>
              <a:rPr dirty="0" baseline="-33564" sz="3600" spc="359">
                <a:latin typeface="Times New Roman"/>
                <a:cs typeface="Times New Roman"/>
              </a:rPr>
              <a:t> </a:t>
            </a:r>
            <a:r>
              <a:rPr dirty="0" baseline="4273" sz="3900" spc="-7">
                <a:latin typeface="Symbol"/>
                <a:cs typeface="Symbol"/>
              </a:rPr>
              <a:t></a:t>
            </a:r>
            <a:r>
              <a:rPr dirty="0" baseline="4273" sz="3900" spc="-7">
                <a:latin typeface="Times New Roman"/>
                <a:cs typeface="Times New Roman"/>
              </a:rPr>
              <a:t>	</a:t>
            </a:r>
            <a:r>
              <a:rPr dirty="0" sz="2600" spc="-685" i="1">
                <a:latin typeface="Times New Roman"/>
                <a:cs typeface="Times New Roman"/>
              </a:rPr>
              <a:t>D</a:t>
            </a:r>
            <a:r>
              <a:rPr dirty="0" baseline="-6410" sz="3900" spc="-1027">
                <a:latin typeface="宋体"/>
                <a:cs typeface="宋体"/>
              </a:rPr>
              <a:t>（</a:t>
            </a:r>
            <a:r>
              <a:rPr dirty="0" baseline="-20370" sz="2250" spc="-1027">
                <a:latin typeface="Times New Roman"/>
                <a:cs typeface="Times New Roman"/>
              </a:rPr>
              <a:t>0	</a:t>
            </a:r>
            <a:r>
              <a:rPr dirty="0" sz="2600" spc="-5">
                <a:latin typeface="Times New Roman"/>
                <a:cs typeface="Times New Roman"/>
              </a:rPr>
              <a:t>1</a:t>
            </a:r>
            <a:r>
              <a:rPr dirty="0" sz="2600" spc="70">
                <a:latin typeface="Times New Roman"/>
                <a:cs typeface="Times New Roman"/>
              </a:rPr>
              <a:t> </a:t>
            </a:r>
            <a:r>
              <a:rPr dirty="0" baseline="4273" sz="3900" spc="-7">
                <a:latin typeface="Symbol"/>
                <a:cs typeface="Symbol"/>
              </a:rPr>
              <a:t></a:t>
            </a:r>
            <a:r>
              <a:rPr dirty="0" baseline="4273" sz="3900" spc="-7">
                <a:latin typeface="Times New Roman"/>
                <a:cs typeface="Times New Roman"/>
              </a:rPr>
              <a:t>	</a:t>
            </a:r>
            <a:r>
              <a:rPr dirty="0" sz="2600" spc="-635" i="1">
                <a:latin typeface="Times New Roman"/>
                <a:cs typeface="Times New Roman"/>
              </a:rPr>
              <a:t>g</a:t>
            </a:r>
            <a:r>
              <a:rPr dirty="0" baseline="-6410" sz="3900" spc="-952">
                <a:latin typeface="宋体"/>
                <a:cs typeface="宋体"/>
              </a:rPr>
              <a:t>（</a:t>
            </a:r>
            <a:r>
              <a:rPr dirty="0" sz="2600" spc="-635">
                <a:latin typeface="Times New Roman"/>
                <a:cs typeface="Times New Roman"/>
              </a:rPr>
              <a:t>)	</a:t>
            </a:r>
            <a:r>
              <a:rPr dirty="0" sz="2600" spc="-5">
                <a:latin typeface="Times New Roman"/>
                <a:cs typeface="Times New Roman"/>
              </a:rPr>
              <a:t>1</a:t>
            </a:r>
            <a:r>
              <a:rPr dirty="0" sz="2600" spc="70">
                <a:latin typeface="Times New Roman"/>
                <a:cs typeface="Times New Roman"/>
              </a:rPr>
              <a:t> </a:t>
            </a:r>
            <a:r>
              <a:rPr dirty="0" baseline="4273" sz="3900" spc="-7">
                <a:latin typeface="Symbol"/>
                <a:cs typeface="Symbol"/>
              </a:rPr>
              <a:t></a:t>
            </a:r>
            <a:r>
              <a:rPr dirty="0" baseline="4273" sz="3900" spc="-7">
                <a:latin typeface="Times New Roman"/>
                <a:cs typeface="Times New Roman"/>
              </a:rPr>
              <a:t>	</a:t>
            </a:r>
            <a:r>
              <a:rPr dirty="0" sz="2600" spc="-5" i="1">
                <a:latin typeface="Times New Roman"/>
                <a:cs typeface="Times New Roman"/>
              </a:rPr>
              <a:t>g</a:t>
            </a:r>
            <a:r>
              <a:rPr dirty="0" sz="2600" spc="-220" i="1">
                <a:latin typeface="Times New Roman"/>
                <a:cs typeface="Times New Roman"/>
              </a:rPr>
              <a:t> </a:t>
            </a:r>
            <a:r>
              <a:rPr dirty="0" baseline="-6410" sz="3900" spc="-120">
                <a:latin typeface="宋体"/>
                <a:cs typeface="宋体"/>
              </a:rPr>
              <a:t>）</a:t>
            </a:r>
            <a:r>
              <a:rPr dirty="0" baseline="4273" sz="3900" spc="-120">
                <a:latin typeface="Symbol"/>
                <a:cs typeface="Symbol"/>
              </a:rPr>
              <a:t></a:t>
            </a:r>
            <a:r>
              <a:rPr dirty="0" baseline="4273" sz="3900" spc="-120">
                <a:latin typeface="Times New Roman"/>
                <a:cs typeface="Times New Roman"/>
              </a:rPr>
              <a:t>	</a:t>
            </a:r>
            <a:r>
              <a:rPr dirty="0" sz="2600" spc="-685" i="1">
                <a:latin typeface="Times New Roman"/>
                <a:cs typeface="Times New Roman"/>
              </a:rPr>
              <a:t>D</a:t>
            </a:r>
            <a:r>
              <a:rPr dirty="0" baseline="-6410" sz="3900" spc="-1027">
                <a:latin typeface="宋体"/>
                <a:cs typeface="宋体"/>
              </a:rPr>
              <a:t>（</a:t>
            </a:r>
            <a:r>
              <a:rPr dirty="0" baseline="-20370" sz="2250" spc="-1027">
                <a:latin typeface="Times New Roman"/>
                <a:cs typeface="Times New Roman"/>
              </a:rPr>
              <a:t>0</a:t>
            </a:r>
            <a:endParaRPr baseline="-20370" sz="2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12544" y="2660396"/>
            <a:ext cx="2466340" cy="467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546100" algn="l"/>
                <a:tab pos="893444" algn="l"/>
              </a:tabLst>
            </a:pPr>
            <a:r>
              <a:rPr dirty="0" sz="2900" spc="35" i="1">
                <a:latin typeface="Times New Roman"/>
                <a:cs typeface="Times New Roman"/>
              </a:rPr>
              <a:t>D</a:t>
            </a:r>
            <a:r>
              <a:rPr dirty="0" baseline="-25252" sz="2475" spc="52">
                <a:latin typeface="Times New Roman"/>
                <a:cs typeface="Times New Roman"/>
              </a:rPr>
              <a:t>1	</a:t>
            </a:r>
            <a:r>
              <a:rPr dirty="0" sz="2900">
                <a:latin typeface="Symbol"/>
                <a:cs typeface="Symbol"/>
              </a:rPr>
              <a:t>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i="1">
                <a:latin typeface="Times New Roman"/>
                <a:cs typeface="Times New Roman"/>
              </a:rPr>
              <a:t>D </a:t>
            </a:r>
            <a:r>
              <a:rPr dirty="0" baseline="-25252" sz="2475" spc="22">
                <a:latin typeface="Times New Roman"/>
                <a:cs typeface="Times New Roman"/>
              </a:rPr>
              <a:t>0 </a:t>
            </a:r>
            <a:r>
              <a:rPr dirty="0" sz="2900" spc="-65">
                <a:latin typeface="Times New Roman"/>
                <a:cs typeface="Times New Roman"/>
              </a:rPr>
              <a:t>(1 </a:t>
            </a:r>
            <a:r>
              <a:rPr dirty="0" sz="2900">
                <a:latin typeface="Symbol"/>
                <a:cs typeface="Symbol"/>
              </a:rPr>
              <a:t></a:t>
            </a:r>
            <a:r>
              <a:rPr dirty="0" sz="2900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g</a:t>
            </a:r>
            <a:r>
              <a:rPr dirty="0" sz="2900" spc="-515" i="1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6879" y="3111500"/>
            <a:ext cx="1786889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spc="-10">
                <a:latin typeface="宋体"/>
                <a:cs typeface="宋体"/>
              </a:rPr>
              <a:t>第二年</a:t>
            </a:r>
            <a:r>
              <a:rPr dirty="0" sz="2000" spc="10">
                <a:latin typeface="宋体"/>
                <a:cs typeface="宋体"/>
              </a:rPr>
              <a:t>股</a:t>
            </a:r>
            <a:r>
              <a:rPr dirty="0" sz="2000" spc="-10">
                <a:latin typeface="宋体"/>
                <a:cs typeface="宋体"/>
              </a:rPr>
              <a:t>利为：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6879" y="2459228"/>
            <a:ext cx="1786889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spc="-10">
                <a:latin typeface="宋体"/>
                <a:cs typeface="宋体"/>
              </a:rPr>
              <a:t>第一年</a:t>
            </a:r>
            <a:r>
              <a:rPr dirty="0" sz="2000" spc="10">
                <a:latin typeface="宋体"/>
                <a:cs typeface="宋体"/>
              </a:rPr>
              <a:t>股</a:t>
            </a:r>
            <a:r>
              <a:rPr dirty="0" sz="2000" spc="-10">
                <a:latin typeface="宋体"/>
                <a:cs typeface="宋体"/>
              </a:rPr>
              <a:t>利为：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6879" y="3830828"/>
            <a:ext cx="1786889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spc="-10">
                <a:latin typeface="宋体"/>
                <a:cs typeface="宋体"/>
              </a:rPr>
              <a:t>第三年</a:t>
            </a:r>
            <a:r>
              <a:rPr dirty="0" sz="2000" spc="10">
                <a:latin typeface="宋体"/>
                <a:cs typeface="宋体"/>
              </a:rPr>
              <a:t>股</a:t>
            </a:r>
            <a:r>
              <a:rPr dirty="0" sz="2000" spc="-10">
                <a:latin typeface="宋体"/>
                <a:cs typeface="宋体"/>
              </a:rPr>
              <a:t>利为：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19015" y="4031996"/>
            <a:ext cx="10922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500" spc="5">
                <a:latin typeface="Times New Roman"/>
                <a:cs typeface="Times New Roman"/>
              </a:rPr>
              <a:t>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44951" y="4260596"/>
            <a:ext cx="10922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500" spc="5"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21407" y="4260596"/>
            <a:ext cx="10922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500" spc="5">
                <a:latin typeface="Times New Roman"/>
                <a:cs typeface="Times New Roman"/>
              </a:rPr>
              <a:t>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37104" y="4056380"/>
            <a:ext cx="154305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560705" algn="l"/>
                <a:tab pos="1163955" algn="l"/>
              </a:tabLst>
            </a:pPr>
            <a:r>
              <a:rPr dirty="0" sz="2600" spc="-10" i="1">
                <a:latin typeface="Times New Roman"/>
                <a:cs typeface="Times New Roman"/>
              </a:rPr>
              <a:t>D	</a:t>
            </a:r>
            <a:r>
              <a:rPr dirty="0" sz="2600" spc="-5">
                <a:latin typeface="Times New Roman"/>
                <a:cs typeface="Times New Roman"/>
              </a:rPr>
              <a:t>1	</a:t>
            </a:r>
            <a:r>
              <a:rPr dirty="0" sz="2600" spc="-5" i="1">
                <a:latin typeface="Times New Roman"/>
                <a:cs typeface="Times New Roman"/>
              </a:rPr>
              <a:t>g</a:t>
            </a:r>
            <a:r>
              <a:rPr dirty="0" sz="2600" spc="-15" i="1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34895" y="4056380"/>
            <a:ext cx="25082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600" spc="-10" i="1">
                <a:latin typeface="Times New Roman"/>
                <a:cs typeface="Times New Roman"/>
              </a:rPr>
              <a:t>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77439" y="4025900"/>
            <a:ext cx="137033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1176020" algn="l"/>
              </a:tabLst>
            </a:pPr>
            <a:r>
              <a:rPr dirty="0" sz="2600" spc="-5">
                <a:latin typeface="Symbol"/>
                <a:cs typeface="Symbol"/>
              </a:rPr>
              <a:t></a:t>
            </a:r>
            <a:r>
              <a:rPr dirty="0" sz="2600" spc="-5">
                <a:latin typeface="Times New Roman"/>
                <a:cs typeface="Times New Roman"/>
              </a:rPr>
              <a:t>	</a:t>
            </a:r>
            <a:r>
              <a:rPr dirty="0" sz="2600" spc="-5">
                <a:latin typeface="Symbol"/>
                <a:cs typeface="Symbol"/>
              </a:rPr>
              <a:t>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44367" y="4089908"/>
            <a:ext cx="34226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600" spc="-10">
                <a:latin typeface="宋体"/>
                <a:cs typeface="宋体"/>
              </a:rPr>
              <a:t>（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06879" y="4605020"/>
            <a:ext cx="1786889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spc="-10">
                <a:latin typeface="宋体"/>
                <a:cs typeface="宋体"/>
              </a:rPr>
              <a:t>第</a:t>
            </a:r>
            <a:r>
              <a:rPr dirty="0" sz="2000" spc="-545">
                <a:latin typeface="宋体"/>
                <a:cs typeface="宋体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宋体"/>
                <a:cs typeface="宋体"/>
              </a:rPr>
              <a:t>年</a:t>
            </a:r>
            <a:r>
              <a:rPr dirty="0" sz="2000" spc="10">
                <a:latin typeface="宋体"/>
                <a:cs typeface="宋体"/>
              </a:rPr>
              <a:t>股</a:t>
            </a:r>
            <a:r>
              <a:rPr dirty="0" sz="2000" spc="-10">
                <a:latin typeface="宋体"/>
                <a:cs typeface="宋体"/>
              </a:rPr>
              <a:t>利为：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78735" y="5050028"/>
            <a:ext cx="105664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947419" algn="l"/>
              </a:tabLst>
            </a:pPr>
            <a:r>
              <a:rPr dirty="0" sz="1500" spc="5" i="1">
                <a:latin typeface="Times New Roman"/>
                <a:cs typeface="Times New Roman"/>
              </a:rPr>
              <a:t>n</a:t>
            </a:r>
            <a:r>
              <a:rPr dirty="0" sz="1500" spc="5" i="1">
                <a:latin typeface="Times New Roman"/>
                <a:cs typeface="Times New Roman"/>
              </a:rPr>
              <a:t>	</a:t>
            </a:r>
            <a:r>
              <a:rPr dirty="0" sz="1500" spc="5"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42439" y="4830572"/>
            <a:ext cx="271145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616585" algn="l"/>
                <a:tab pos="975994" algn="l"/>
                <a:tab pos="2137410" algn="l"/>
              </a:tabLst>
            </a:pPr>
            <a:r>
              <a:rPr dirty="0" sz="2600" spc="-10" i="1">
                <a:latin typeface="Times New Roman"/>
                <a:cs typeface="Times New Roman"/>
              </a:rPr>
              <a:t>D	</a:t>
            </a:r>
            <a:r>
              <a:rPr dirty="0" sz="2600" spc="-5">
                <a:latin typeface="Symbol"/>
                <a:cs typeface="Symbol"/>
              </a:rPr>
              <a:t></a:t>
            </a:r>
            <a:r>
              <a:rPr dirty="0" sz="2600" spc="-5">
                <a:latin typeface="Times New Roman"/>
                <a:cs typeface="Times New Roman"/>
              </a:rPr>
              <a:t>	</a:t>
            </a:r>
            <a:r>
              <a:rPr dirty="0" sz="2600" spc="-120" i="1">
                <a:latin typeface="Times New Roman"/>
                <a:cs typeface="Times New Roman"/>
              </a:rPr>
              <a:t>D</a:t>
            </a:r>
            <a:r>
              <a:rPr dirty="0" sz="2600" spc="-120">
                <a:latin typeface="宋体"/>
                <a:cs typeface="宋体"/>
              </a:rPr>
              <a:t>（</a:t>
            </a:r>
            <a:r>
              <a:rPr dirty="0" sz="2600" spc="-1135">
                <a:latin typeface="宋体"/>
                <a:cs typeface="宋体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1</a:t>
            </a:r>
            <a:r>
              <a:rPr dirty="0" sz="2600" spc="70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Symbol"/>
                <a:cs typeface="Symbol"/>
              </a:rPr>
              <a:t></a:t>
            </a:r>
            <a:r>
              <a:rPr dirty="0" sz="2600" spc="-5">
                <a:latin typeface="Times New Roman"/>
                <a:cs typeface="Times New Roman"/>
              </a:rPr>
              <a:t>	</a:t>
            </a:r>
            <a:r>
              <a:rPr dirty="0" sz="2600" spc="-5" i="1">
                <a:latin typeface="Times New Roman"/>
                <a:cs typeface="Times New Roman"/>
              </a:rPr>
              <a:t>g </a:t>
            </a:r>
            <a:r>
              <a:rPr dirty="0" sz="2600" spc="-5">
                <a:latin typeface="Times New Roman"/>
                <a:cs typeface="Times New Roman"/>
              </a:rPr>
              <a:t>)</a:t>
            </a:r>
            <a:r>
              <a:rPr dirty="0" sz="2600" spc="-165">
                <a:latin typeface="Times New Roman"/>
                <a:cs typeface="Times New Roman"/>
              </a:rPr>
              <a:t> </a:t>
            </a:r>
            <a:r>
              <a:rPr dirty="0" baseline="42592" sz="2250" spc="7" i="1">
                <a:latin typeface="Times New Roman"/>
                <a:cs typeface="Times New Roman"/>
              </a:rPr>
              <a:t>n</a:t>
            </a:r>
            <a:endParaRPr baseline="42592" sz="22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72639" y="4303268"/>
            <a:ext cx="823594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3200" spc="-10">
                <a:latin typeface="宋体"/>
                <a:cs typeface="宋体"/>
              </a:rPr>
              <a:t>……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45336" y="5928360"/>
            <a:ext cx="6193790" cy="737870"/>
          </a:xfrm>
          <a:custGeom>
            <a:avLst/>
            <a:gdLst/>
            <a:ahLst/>
            <a:cxnLst/>
            <a:rect l="l" t="t" r="r" b="b"/>
            <a:pathLst>
              <a:path w="6193790" h="737870">
                <a:moveTo>
                  <a:pt x="0" y="0"/>
                </a:moveTo>
                <a:lnTo>
                  <a:pt x="0" y="737616"/>
                </a:lnTo>
                <a:lnTo>
                  <a:pt x="6193536" y="737616"/>
                </a:lnTo>
                <a:lnTo>
                  <a:pt x="6193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867143" y="6455156"/>
            <a:ext cx="7683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0" i="1">
                <a:latin typeface="Times New Roman"/>
                <a:cs typeface="Times New Roman"/>
              </a:rPr>
              <a:t>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77255" y="6455156"/>
            <a:ext cx="7683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0" i="1">
                <a:latin typeface="Times New Roman"/>
                <a:cs typeface="Times New Roman"/>
              </a:rPr>
              <a:t>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03903" y="6455156"/>
            <a:ext cx="7683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0" i="1">
                <a:latin typeface="Times New Roman"/>
                <a:cs typeface="Times New Roman"/>
              </a:rPr>
              <a:t>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63951" y="6455156"/>
            <a:ext cx="7683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0" i="1">
                <a:latin typeface="Times New Roman"/>
                <a:cs typeface="Times New Roman"/>
              </a:rPr>
              <a:t>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41871" y="6293612"/>
            <a:ext cx="824230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sz="1900" spc="-75">
                <a:latin typeface="Times New Roman"/>
                <a:cs typeface="Times New Roman"/>
              </a:rPr>
              <a:t>(1 </a:t>
            </a:r>
            <a:r>
              <a:rPr dirty="0" sz="1900" spc="10">
                <a:latin typeface="Symbol"/>
                <a:cs typeface="Symbol"/>
              </a:rPr>
              <a:t>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 spc="5" i="1">
                <a:latin typeface="Times New Roman"/>
                <a:cs typeface="Times New Roman"/>
              </a:rPr>
              <a:t>k</a:t>
            </a:r>
            <a:r>
              <a:rPr dirty="0" sz="1900" spc="-110" i="1">
                <a:latin typeface="Times New Roman"/>
                <a:cs typeface="Times New Roman"/>
              </a:rPr>
              <a:t> </a:t>
            </a:r>
            <a:r>
              <a:rPr dirty="0" sz="1900" spc="60">
                <a:latin typeface="Times New Roman"/>
                <a:cs typeface="Times New Roman"/>
              </a:rPr>
              <a:t>)</a:t>
            </a:r>
            <a:r>
              <a:rPr dirty="0" baseline="42929" sz="1650" spc="89" i="1">
                <a:latin typeface="Times New Roman"/>
                <a:cs typeface="Times New Roman"/>
              </a:rPr>
              <a:t>n</a:t>
            </a:r>
            <a:endParaRPr baseline="42929" sz="16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21992" y="6293612"/>
            <a:ext cx="444500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900" spc="10">
                <a:latin typeface="Times New Roman"/>
                <a:cs typeface="Times New Roman"/>
              </a:rPr>
              <a:t>1</a:t>
            </a:r>
            <a:r>
              <a:rPr dirty="0" sz="1900" spc="-335">
                <a:latin typeface="Times New Roman"/>
                <a:cs typeface="Times New Roman"/>
              </a:rPr>
              <a:t> </a:t>
            </a:r>
            <a:r>
              <a:rPr dirty="0" sz="1900" spc="10">
                <a:latin typeface="Symbol"/>
                <a:cs typeface="Symbol"/>
              </a:rPr>
              <a:t></a:t>
            </a:r>
            <a:r>
              <a:rPr dirty="0" sz="1900" spc="-170">
                <a:latin typeface="Times New Roman"/>
                <a:cs typeface="Times New Roman"/>
              </a:rPr>
              <a:t> </a:t>
            </a:r>
            <a:r>
              <a:rPr dirty="0" sz="1900" spc="5" i="1">
                <a:latin typeface="Times New Roman"/>
                <a:cs typeface="Times New Roman"/>
              </a:rPr>
              <a:t>k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51984" y="6293612"/>
            <a:ext cx="97345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sz="1900" spc="-75">
                <a:latin typeface="Times New Roman"/>
                <a:cs typeface="Times New Roman"/>
              </a:rPr>
              <a:t>(1</a:t>
            </a:r>
            <a:r>
              <a:rPr dirty="0" sz="1900" spc="-320">
                <a:latin typeface="Times New Roman"/>
                <a:cs typeface="Times New Roman"/>
              </a:rPr>
              <a:t> </a:t>
            </a:r>
            <a:r>
              <a:rPr dirty="0" sz="1900" spc="10">
                <a:latin typeface="Symbol"/>
                <a:cs typeface="Symbol"/>
              </a:rPr>
              <a:t></a:t>
            </a:r>
            <a:r>
              <a:rPr dirty="0" sz="1900" spc="-135">
                <a:latin typeface="Times New Roman"/>
                <a:cs typeface="Times New Roman"/>
              </a:rPr>
              <a:t> </a:t>
            </a:r>
            <a:r>
              <a:rPr dirty="0" sz="1900" spc="5" i="1">
                <a:latin typeface="Times New Roman"/>
                <a:cs typeface="Times New Roman"/>
              </a:rPr>
              <a:t>k</a:t>
            </a:r>
            <a:r>
              <a:rPr dirty="0" sz="1900" spc="265" i="1">
                <a:latin typeface="Times New Roman"/>
                <a:cs typeface="Times New Roman"/>
              </a:rPr>
              <a:t> </a:t>
            </a:r>
            <a:r>
              <a:rPr dirty="0" sz="1900" spc="60">
                <a:latin typeface="Times New Roman"/>
                <a:cs typeface="Times New Roman"/>
              </a:rPr>
              <a:t>)</a:t>
            </a:r>
            <a:r>
              <a:rPr dirty="0" baseline="42929" sz="1650" spc="89" i="1">
                <a:latin typeface="Times New Roman"/>
                <a:cs typeface="Times New Roman"/>
              </a:rPr>
              <a:t>n</a:t>
            </a:r>
            <a:r>
              <a:rPr dirty="0" baseline="42929" sz="1650" spc="-300" i="1">
                <a:latin typeface="Times New Roman"/>
                <a:cs typeface="Times New Roman"/>
              </a:rPr>
              <a:t> </a:t>
            </a:r>
            <a:r>
              <a:rPr dirty="0" baseline="42929" sz="1650" spc="-405">
                <a:latin typeface="Symbol"/>
                <a:cs typeface="Symbol"/>
              </a:rPr>
              <a:t></a:t>
            </a:r>
            <a:r>
              <a:rPr dirty="0" baseline="42929" sz="1650" spc="-405">
                <a:latin typeface="Times New Roman"/>
                <a:cs typeface="Times New Roman"/>
              </a:rPr>
              <a:t>1</a:t>
            </a:r>
            <a:endParaRPr baseline="42929" sz="16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278632" y="6293612"/>
            <a:ext cx="82105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sz="1900" spc="-75">
                <a:latin typeface="Times New Roman"/>
                <a:cs typeface="Times New Roman"/>
              </a:rPr>
              <a:t>(1 </a:t>
            </a:r>
            <a:r>
              <a:rPr dirty="0" sz="1900" spc="10">
                <a:latin typeface="Symbol"/>
                <a:cs typeface="Symbol"/>
              </a:rPr>
              <a:t>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 spc="5" i="1">
                <a:latin typeface="Times New Roman"/>
                <a:cs typeface="Times New Roman"/>
              </a:rPr>
              <a:t>k</a:t>
            </a:r>
            <a:r>
              <a:rPr dirty="0" sz="1900" spc="-135" i="1">
                <a:latin typeface="Times New Roman"/>
                <a:cs typeface="Times New Roman"/>
              </a:rPr>
              <a:t> </a:t>
            </a:r>
            <a:r>
              <a:rPr dirty="0" sz="1900" spc="60">
                <a:latin typeface="Times New Roman"/>
                <a:cs typeface="Times New Roman"/>
              </a:rPr>
              <a:t>)</a:t>
            </a:r>
            <a:r>
              <a:rPr dirty="0" baseline="42929" sz="1650" spc="89">
                <a:latin typeface="Times New Roman"/>
                <a:cs typeface="Times New Roman"/>
              </a:rPr>
              <a:t>2</a:t>
            </a:r>
            <a:endParaRPr baseline="42929" sz="16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35175" y="6101588"/>
            <a:ext cx="622363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704850" algn="l"/>
                <a:tab pos="1417955" algn="l"/>
                <a:tab pos="1847850" algn="l"/>
                <a:tab pos="2667635" algn="l"/>
                <a:tab pos="3521075" algn="l"/>
                <a:tab pos="4481195" algn="l"/>
                <a:tab pos="4911090" algn="l"/>
                <a:tab pos="5734050" algn="l"/>
              </a:tabLst>
            </a:pPr>
            <a:r>
              <a:rPr dirty="0" sz="1900" spc="-15" i="1">
                <a:latin typeface="Times New Roman"/>
                <a:cs typeface="Times New Roman"/>
              </a:rPr>
              <a:t>V</a:t>
            </a:r>
            <a:r>
              <a:rPr dirty="0" baseline="-25252" sz="1650" spc="-22" i="1">
                <a:latin typeface="Times New Roman"/>
                <a:cs typeface="Times New Roman"/>
              </a:rPr>
              <a:t>e </a:t>
            </a:r>
            <a:r>
              <a:rPr dirty="0" baseline="-25252" sz="1650" spc="172" i="1">
                <a:latin typeface="Times New Roman"/>
                <a:cs typeface="Times New Roman"/>
              </a:rPr>
              <a:t> </a:t>
            </a:r>
            <a:r>
              <a:rPr dirty="0" sz="1900" spc="10">
                <a:latin typeface="Symbol"/>
                <a:cs typeface="Symbol"/>
              </a:rPr>
              <a:t></a:t>
            </a:r>
            <a:r>
              <a:rPr dirty="0" u="sng" baseline="21929" sz="2850" spc="15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</a:t>
            </a:r>
            <a:r>
              <a:rPr dirty="0" u="sng" baseline="37878" sz="165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	</a:t>
            </a:r>
            <a:r>
              <a:rPr dirty="0" sz="1900" spc="10">
                <a:latin typeface="Symbol"/>
                <a:cs typeface="Symbol"/>
              </a:rPr>
              <a:t></a:t>
            </a:r>
            <a:r>
              <a:rPr dirty="0" u="sng" baseline="21929" sz="2850" spc="15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</a:t>
            </a:r>
            <a:r>
              <a:rPr dirty="0" u="sng" baseline="37878" sz="165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	</a:t>
            </a:r>
            <a:r>
              <a:rPr dirty="0" sz="1900" spc="10">
                <a:latin typeface="Symbol"/>
                <a:cs typeface="Symbol"/>
              </a:rPr>
              <a:t></a:t>
            </a:r>
            <a:r>
              <a:rPr dirty="0" sz="1900" spc="-285">
                <a:latin typeface="Times New Roman"/>
                <a:cs typeface="Times New Roman"/>
              </a:rPr>
              <a:t> </a:t>
            </a:r>
            <a:r>
              <a:rPr dirty="0" sz="1900" spc="1295">
                <a:latin typeface="Symbol"/>
                <a:cs typeface="Symbol"/>
              </a:rPr>
              <a:t>．</a:t>
            </a:r>
            <a:r>
              <a:rPr dirty="0" sz="1900" spc="-305">
                <a:latin typeface="Times New Roman"/>
                <a:cs typeface="Times New Roman"/>
              </a:rPr>
              <a:t> </a:t>
            </a:r>
            <a:r>
              <a:rPr dirty="0" sz="1900" spc="10">
                <a:latin typeface="Symbol"/>
                <a:cs typeface="Symbol"/>
              </a:rPr>
              <a:t></a:t>
            </a:r>
            <a:r>
              <a:rPr dirty="0" u="sng" baseline="21929" sz="2850" spc="15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</a:t>
            </a:r>
            <a:r>
              <a:rPr dirty="0" u="sng" baseline="37878" sz="165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	</a:t>
            </a:r>
            <a:r>
              <a:rPr dirty="0" sz="1900" spc="10">
                <a:latin typeface="Symbol"/>
                <a:cs typeface="Symbol"/>
              </a:rPr>
              <a:t></a:t>
            </a:r>
            <a:r>
              <a:rPr dirty="0" u="sng" baseline="21929" sz="2850" spc="15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</a:t>
            </a:r>
            <a:r>
              <a:rPr dirty="0" u="sng" baseline="37878" sz="165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	</a:t>
            </a:r>
            <a:r>
              <a:rPr dirty="0" sz="1900" spc="740">
                <a:latin typeface="Symbol"/>
                <a:cs typeface="Symbol"/>
              </a:rPr>
              <a:t>．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31492" y="5946140"/>
            <a:ext cx="525081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180465" algn="l"/>
                <a:tab pos="2854325" algn="l"/>
                <a:tab pos="4243705" algn="l"/>
              </a:tabLst>
            </a:pPr>
            <a:r>
              <a:rPr dirty="0" sz="1900" spc="-265" i="1">
                <a:latin typeface="Times New Roman"/>
                <a:cs typeface="Times New Roman"/>
              </a:rPr>
              <a:t>D</a:t>
            </a:r>
            <a:r>
              <a:rPr dirty="0" sz="1900" spc="-265">
                <a:latin typeface="宋体"/>
                <a:cs typeface="宋体"/>
              </a:rPr>
              <a:t>（</a:t>
            </a:r>
            <a:r>
              <a:rPr dirty="0" sz="1900" spc="-265">
                <a:latin typeface="Times New Roman"/>
                <a:cs typeface="Times New Roman"/>
              </a:rPr>
              <a:t>1 </a:t>
            </a:r>
            <a:r>
              <a:rPr dirty="0" sz="1900" spc="10">
                <a:latin typeface="Symbol"/>
                <a:cs typeface="Symbol"/>
              </a:rPr>
              <a:t></a:t>
            </a:r>
            <a:r>
              <a:rPr dirty="0" sz="1900" spc="-90">
                <a:latin typeface="Times New Roman"/>
                <a:cs typeface="Times New Roman"/>
              </a:rPr>
              <a:t> </a:t>
            </a:r>
            <a:r>
              <a:rPr dirty="0" sz="1900" spc="10" i="1">
                <a:latin typeface="Times New Roman"/>
                <a:cs typeface="Times New Roman"/>
              </a:rPr>
              <a:t>g</a:t>
            </a:r>
            <a:r>
              <a:rPr dirty="0" sz="1900" spc="-310" i="1">
                <a:latin typeface="Times New Roman"/>
                <a:cs typeface="Times New Roman"/>
              </a:rPr>
              <a:t> </a:t>
            </a:r>
            <a:r>
              <a:rPr dirty="0" sz="1900" spc="5">
                <a:latin typeface="Times New Roman"/>
                <a:cs typeface="Times New Roman"/>
              </a:rPr>
              <a:t>)	</a:t>
            </a:r>
            <a:r>
              <a:rPr dirty="0" sz="1900" spc="-275" i="1">
                <a:latin typeface="Times New Roman"/>
                <a:cs typeface="Times New Roman"/>
              </a:rPr>
              <a:t>D</a:t>
            </a:r>
            <a:r>
              <a:rPr dirty="0" sz="1900" spc="-275">
                <a:latin typeface="宋体"/>
                <a:cs typeface="宋体"/>
              </a:rPr>
              <a:t>（</a:t>
            </a:r>
            <a:r>
              <a:rPr dirty="0" sz="1900" spc="-275">
                <a:latin typeface="Times New Roman"/>
                <a:cs typeface="Times New Roman"/>
              </a:rPr>
              <a:t>1 </a:t>
            </a:r>
            <a:r>
              <a:rPr dirty="0" sz="1900" spc="10">
                <a:latin typeface="Symbol"/>
                <a:cs typeface="Symbol"/>
              </a:rPr>
              <a:t></a:t>
            </a:r>
            <a:r>
              <a:rPr dirty="0" sz="1900" spc="-50">
                <a:latin typeface="Times New Roman"/>
                <a:cs typeface="Times New Roman"/>
              </a:rPr>
              <a:t> </a:t>
            </a:r>
            <a:r>
              <a:rPr dirty="0" sz="1900" spc="10" i="1">
                <a:latin typeface="Times New Roman"/>
                <a:cs typeface="Times New Roman"/>
              </a:rPr>
              <a:t>g</a:t>
            </a:r>
            <a:r>
              <a:rPr dirty="0" sz="1900" spc="-310" i="1">
                <a:latin typeface="Times New Roman"/>
                <a:cs typeface="Times New Roman"/>
              </a:rPr>
              <a:t> </a:t>
            </a:r>
            <a:r>
              <a:rPr dirty="0" sz="1900" spc="50">
                <a:latin typeface="Times New Roman"/>
                <a:cs typeface="Times New Roman"/>
              </a:rPr>
              <a:t>)</a:t>
            </a:r>
            <a:r>
              <a:rPr dirty="0" baseline="42929" sz="1650" spc="75">
                <a:latin typeface="Times New Roman"/>
                <a:cs typeface="Times New Roman"/>
              </a:rPr>
              <a:t>2	</a:t>
            </a:r>
            <a:r>
              <a:rPr dirty="0" sz="1900" spc="-275" i="1">
                <a:latin typeface="Times New Roman"/>
                <a:cs typeface="Times New Roman"/>
              </a:rPr>
              <a:t>D</a:t>
            </a:r>
            <a:r>
              <a:rPr dirty="0" sz="1900" spc="-275">
                <a:latin typeface="宋体"/>
                <a:cs typeface="宋体"/>
              </a:rPr>
              <a:t>（</a:t>
            </a:r>
            <a:r>
              <a:rPr dirty="0" sz="1900" spc="-275">
                <a:latin typeface="Times New Roman"/>
                <a:cs typeface="Times New Roman"/>
              </a:rPr>
              <a:t>1 </a:t>
            </a:r>
            <a:r>
              <a:rPr dirty="0" sz="1900" spc="10">
                <a:latin typeface="Symbol"/>
                <a:cs typeface="Symbol"/>
              </a:rPr>
              <a:t>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 spc="10" i="1">
                <a:latin typeface="Times New Roman"/>
                <a:cs typeface="Times New Roman"/>
              </a:rPr>
              <a:t>g</a:t>
            </a:r>
            <a:r>
              <a:rPr dirty="0" sz="1900" spc="-370" i="1">
                <a:latin typeface="Times New Roman"/>
                <a:cs typeface="Times New Roman"/>
              </a:rPr>
              <a:t> </a:t>
            </a:r>
            <a:r>
              <a:rPr dirty="0" sz="1900" spc="50">
                <a:latin typeface="Times New Roman"/>
                <a:cs typeface="Times New Roman"/>
              </a:rPr>
              <a:t>)</a:t>
            </a:r>
            <a:r>
              <a:rPr dirty="0" baseline="42929" sz="1650" spc="75" i="1">
                <a:latin typeface="Times New Roman"/>
                <a:cs typeface="Times New Roman"/>
              </a:rPr>
              <a:t>n</a:t>
            </a:r>
            <a:r>
              <a:rPr dirty="0" baseline="42929" sz="1650" spc="-292" i="1">
                <a:latin typeface="Times New Roman"/>
                <a:cs typeface="Times New Roman"/>
              </a:rPr>
              <a:t> </a:t>
            </a:r>
            <a:r>
              <a:rPr dirty="0" baseline="42929" sz="1650" spc="-405">
                <a:latin typeface="Symbol"/>
                <a:cs typeface="Symbol"/>
              </a:rPr>
              <a:t></a:t>
            </a:r>
            <a:r>
              <a:rPr dirty="0" baseline="42929" sz="1650" spc="-405">
                <a:latin typeface="Times New Roman"/>
                <a:cs typeface="Times New Roman"/>
              </a:rPr>
              <a:t>1	</a:t>
            </a:r>
            <a:r>
              <a:rPr dirty="0" sz="1900" spc="-265" i="1">
                <a:latin typeface="Times New Roman"/>
                <a:cs typeface="Times New Roman"/>
              </a:rPr>
              <a:t>D</a:t>
            </a:r>
            <a:r>
              <a:rPr dirty="0" sz="1900" spc="-265">
                <a:latin typeface="宋体"/>
                <a:cs typeface="宋体"/>
              </a:rPr>
              <a:t>（</a:t>
            </a:r>
            <a:r>
              <a:rPr dirty="0" sz="1900" spc="-265">
                <a:latin typeface="Times New Roman"/>
                <a:cs typeface="Times New Roman"/>
              </a:rPr>
              <a:t>1</a:t>
            </a:r>
            <a:r>
              <a:rPr dirty="0" sz="1900" spc="-345">
                <a:latin typeface="Times New Roman"/>
                <a:cs typeface="Times New Roman"/>
              </a:rPr>
              <a:t> </a:t>
            </a:r>
            <a:r>
              <a:rPr dirty="0" sz="1900" spc="10">
                <a:latin typeface="Symbol"/>
                <a:cs typeface="Symbol"/>
              </a:rPr>
              <a:t></a:t>
            </a:r>
            <a:r>
              <a:rPr dirty="0" sz="1900" spc="-55">
                <a:latin typeface="Times New Roman"/>
                <a:cs typeface="Times New Roman"/>
              </a:rPr>
              <a:t> </a:t>
            </a:r>
            <a:r>
              <a:rPr dirty="0" sz="1900" spc="10" i="1">
                <a:latin typeface="Times New Roman"/>
                <a:cs typeface="Times New Roman"/>
              </a:rPr>
              <a:t>g</a:t>
            </a:r>
            <a:r>
              <a:rPr dirty="0" sz="1900" spc="-325" i="1">
                <a:latin typeface="Times New Roman"/>
                <a:cs typeface="Times New Roman"/>
              </a:rPr>
              <a:t> </a:t>
            </a:r>
            <a:r>
              <a:rPr dirty="0" sz="1900" spc="60">
                <a:latin typeface="Times New Roman"/>
                <a:cs typeface="Times New Roman"/>
              </a:rPr>
              <a:t>)</a:t>
            </a:r>
            <a:r>
              <a:rPr dirty="0" baseline="42929" sz="1650" spc="89" i="1">
                <a:latin typeface="Times New Roman"/>
                <a:cs typeface="Times New Roman"/>
              </a:rPr>
              <a:t>n</a:t>
            </a:r>
            <a:endParaRPr baseline="42929"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836" y="670052"/>
            <a:ext cx="6679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20"/>
              <a:t>固定</a:t>
            </a:r>
            <a:r>
              <a:rPr dirty="0" sz="3600"/>
              <a:t>股</a:t>
            </a:r>
            <a:r>
              <a:rPr dirty="0" sz="3600" spc="20"/>
              <a:t>利</a:t>
            </a:r>
            <a:r>
              <a:rPr dirty="0" sz="3600"/>
              <a:t>增长</a:t>
            </a:r>
            <a:r>
              <a:rPr dirty="0" sz="3600" spc="20"/>
              <a:t>股票</a:t>
            </a:r>
            <a:r>
              <a:rPr dirty="0" sz="3600"/>
              <a:t>定</a:t>
            </a:r>
            <a:r>
              <a:rPr dirty="0" sz="3600" spc="20"/>
              <a:t>价</a:t>
            </a:r>
            <a:r>
              <a:rPr dirty="0" sz="3600"/>
              <a:t>模</a:t>
            </a:r>
            <a:r>
              <a:rPr dirty="0" sz="3600" spc="20"/>
              <a:t>型</a:t>
            </a:r>
            <a:r>
              <a:rPr dirty="0" sz="3600" spc="135"/>
              <a:t>(</a:t>
            </a:r>
            <a:r>
              <a:rPr dirty="0" sz="3600" spc="415"/>
              <a:t>续</a:t>
            </a:r>
            <a:r>
              <a:rPr dirty="0" sz="3600"/>
              <a:t>）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73100" y="1639316"/>
            <a:ext cx="7505700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25170">
              <a:lnSpc>
                <a:spcPct val="100000"/>
              </a:lnSpc>
              <a:spcBef>
                <a:spcPts val="10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导年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金终值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法来计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这个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无穷等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数列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后结果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1300" y="3583940"/>
            <a:ext cx="109537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已知：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675" y="4629404"/>
            <a:ext cx="358267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所以上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改写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94432" y="2563368"/>
            <a:ext cx="3027045" cy="1079500"/>
          </a:xfrm>
          <a:custGeom>
            <a:avLst/>
            <a:gdLst/>
            <a:ahLst/>
            <a:cxnLst/>
            <a:rect l="l" t="t" r="r" b="b"/>
            <a:pathLst>
              <a:path w="3027045" h="1079500">
                <a:moveTo>
                  <a:pt x="0" y="0"/>
                </a:moveTo>
                <a:lnTo>
                  <a:pt x="0" y="1078992"/>
                </a:lnTo>
                <a:lnTo>
                  <a:pt x="3026664" y="1078992"/>
                </a:lnTo>
                <a:lnTo>
                  <a:pt x="302666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21608" y="3072384"/>
            <a:ext cx="1896110" cy="0"/>
          </a:xfrm>
          <a:custGeom>
            <a:avLst/>
            <a:gdLst/>
            <a:ahLst/>
            <a:cxnLst/>
            <a:rect l="l" t="t" r="r" b="b"/>
            <a:pathLst>
              <a:path w="1896110" h="0">
                <a:moveTo>
                  <a:pt x="0" y="0"/>
                </a:moveTo>
                <a:lnTo>
                  <a:pt x="1895855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24911" y="2776220"/>
            <a:ext cx="243840" cy="479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950" spc="15" i="1">
                <a:latin typeface="Times New Roman"/>
                <a:cs typeface="Times New Roman"/>
              </a:rPr>
              <a:t>V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2064" y="3327908"/>
            <a:ext cx="110489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700" spc="10" i="1">
                <a:latin typeface="Times New Roman"/>
                <a:cs typeface="Times New Roman"/>
              </a:rPr>
              <a:t>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7520" y="3029204"/>
            <a:ext cx="110489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700" spc="10" i="1">
                <a:latin typeface="Times New Roman"/>
                <a:cs typeface="Times New Roman"/>
              </a:rPr>
              <a:t>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84320" y="3071876"/>
            <a:ext cx="1094740" cy="479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505459" algn="l"/>
                <a:tab pos="892810" algn="l"/>
              </a:tabLst>
            </a:pPr>
            <a:r>
              <a:rPr dirty="0" sz="2950" spc="10" i="1">
                <a:latin typeface="Times New Roman"/>
                <a:cs typeface="Times New Roman"/>
              </a:rPr>
              <a:t>k</a:t>
            </a:r>
            <a:r>
              <a:rPr dirty="0" sz="2950" spc="10" i="1">
                <a:latin typeface="Times New Roman"/>
                <a:cs typeface="Times New Roman"/>
              </a:rPr>
              <a:t>	</a:t>
            </a:r>
            <a:r>
              <a:rPr dirty="0" sz="2950" spc="-1320">
                <a:latin typeface="Symbol"/>
                <a:cs typeface="Symbol"/>
              </a:rPr>
              <a:t></a:t>
            </a:r>
            <a:r>
              <a:rPr dirty="0" sz="2950" spc="-1320">
                <a:latin typeface="Times New Roman"/>
                <a:cs typeface="Times New Roman"/>
              </a:rPr>
              <a:t>	</a:t>
            </a:r>
            <a:r>
              <a:rPr dirty="0" sz="2950" spc="10" i="1">
                <a:latin typeface="Times New Roman"/>
                <a:cs typeface="Times New Roman"/>
              </a:rPr>
              <a:t>g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3871" y="2535428"/>
            <a:ext cx="2295525" cy="479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476250" algn="l"/>
                <a:tab pos="1841500" algn="l"/>
              </a:tabLst>
            </a:pPr>
            <a:r>
              <a:rPr dirty="0" baseline="-35781" sz="4425" spc="15">
                <a:latin typeface="Symbol"/>
                <a:cs typeface="Symbol"/>
              </a:rPr>
              <a:t></a:t>
            </a:r>
            <a:r>
              <a:rPr dirty="0" baseline="-35781" sz="4425" spc="15">
                <a:latin typeface="Times New Roman"/>
                <a:cs typeface="Times New Roman"/>
              </a:rPr>
              <a:t>	</a:t>
            </a:r>
            <a:r>
              <a:rPr dirty="0" sz="2950" spc="15" i="1">
                <a:latin typeface="Times New Roman"/>
                <a:cs typeface="Times New Roman"/>
              </a:rPr>
              <a:t>D </a:t>
            </a:r>
            <a:r>
              <a:rPr dirty="0" baseline="-24509" sz="2550" spc="15">
                <a:latin typeface="Times New Roman"/>
                <a:cs typeface="Times New Roman"/>
              </a:rPr>
              <a:t>0</a:t>
            </a:r>
            <a:r>
              <a:rPr dirty="0" baseline="-24509" sz="2550" spc="232">
                <a:latin typeface="Times New Roman"/>
                <a:cs typeface="Times New Roman"/>
              </a:rPr>
              <a:t> </a:t>
            </a:r>
            <a:r>
              <a:rPr dirty="0" sz="2950" spc="15">
                <a:latin typeface="Times New Roman"/>
                <a:cs typeface="Times New Roman"/>
              </a:rPr>
              <a:t>(1</a:t>
            </a:r>
            <a:r>
              <a:rPr dirty="0" sz="2950" spc="80">
                <a:latin typeface="Times New Roman"/>
                <a:cs typeface="Times New Roman"/>
              </a:rPr>
              <a:t> </a:t>
            </a:r>
            <a:r>
              <a:rPr dirty="0" sz="2950" spc="10">
                <a:latin typeface="Symbol"/>
                <a:cs typeface="Symbol"/>
              </a:rPr>
              <a:t></a:t>
            </a:r>
            <a:r>
              <a:rPr dirty="0" sz="2950" spc="10">
                <a:latin typeface="Times New Roman"/>
                <a:cs typeface="Times New Roman"/>
              </a:rPr>
              <a:t>	</a:t>
            </a:r>
            <a:r>
              <a:rPr dirty="0" sz="2950" spc="10" i="1">
                <a:latin typeface="Times New Roman"/>
                <a:cs typeface="Times New Roman"/>
              </a:rPr>
              <a:t>g</a:t>
            </a:r>
            <a:r>
              <a:rPr dirty="0" sz="2950" spc="-20" i="1">
                <a:latin typeface="Times New Roman"/>
                <a:cs typeface="Times New Roman"/>
              </a:rPr>
              <a:t> </a:t>
            </a:r>
            <a:r>
              <a:rPr dirty="0" sz="2950" spc="5">
                <a:latin typeface="Times New Roman"/>
                <a:cs typeface="Times New Roman"/>
              </a:rPr>
              <a:t>)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73096" y="3931920"/>
            <a:ext cx="3048000" cy="600710"/>
          </a:xfrm>
          <a:prstGeom prst="rect">
            <a:avLst/>
          </a:prstGeom>
          <a:solidFill>
            <a:srgbClr val="BADFE3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3775"/>
              </a:lnSpc>
              <a:tabLst>
                <a:tab pos="709930" algn="l"/>
                <a:tab pos="1124585" algn="l"/>
                <a:tab pos="2496185" algn="l"/>
              </a:tabLst>
            </a:pPr>
            <a:r>
              <a:rPr dirty="0" sz="3150" spc="-5" i="1">
                <a:latin typeface="Times New Roman"/>
                <a:cs typeface="Times New Roman"/>
              </a:rPr>
              <a:t>D</a:t>
            </a:r>
            <a:r>
              <a:rPr dirty="0" sz="3150" spc="-490" i="1">
                <a:latin typeface="Times New Roman"/>
                <a:cs typeface="Times New Roman"/>
              </a:rPr>
              <a:t> </a:t>
            </a:r>
            <a:r>
              <a:rPr dirty="0" baseline="-24691" sz="2700" spc="15">
                <a:latin typeface="Times New Roman"/>
                <a:cs typeface="Times New Roman"/>
              </a:rPr>
              <a:t>1	</a:t>
            </a:r>
            <a:r>
              <a:rPr dirty="0" sz="3150" spc="-5">
                <a:latin typeface="Symbol"/>
                <a:cs typeface="Symbol"/>
              </a:rPr>
              <a:t></a:t>
            </a:r>
            <a:r>
              <a:rPr dirty="0" sz="3150" spc="-5">
                <a:latin typeface="Times New Roman"/>
                <a:cs typeface="Times New Roman"/>
              </a:rPr>
              <a:t>	</a:t>
            </a:r>
            <a:r>
              <a:rPr dirty="0" sz="3150" spc="-5" i="1">
                <a:latin typeface="Times New Roman"/>
                <a:cs typeface="Times New Roman"/>
              </a:rPr>
              <a:t>D </a:t>
            </a:r>
            <a:r>
              <a:rPr dirty="0" baseline="-24691" sz="2700" spc="15">
                <a:latin typeface="Times New Roman"/>
                <a:cs typeface="Times New Roman"/>
              </a:rPr>
              <a:t>0</a:t>
            </a:r>
            <a:r>
              <a:rPr dirty="0" baseline="-24691" sz="2700" spc="-75">
                <a:latin typeface="Times New Roman"/>
                <a:cs typeface="Times New Roman"/>
              </a:rPr>
              <a:t> </a:t>
            </a:r>
            <a:r>
              <a:rPr dirty="0" sz="3150" spc="-25">
                <a:latin typeface="Times New Roman"/>
                <a:cs typeface="Times New Roman"/>
              </a:rPr>
              <a:t>(1</a:t>
            </a:r>
            <a:r>
              <a:rPr dirty="0" sz="3150" spc="-55">
                <a:latin typeface="Times New Roman"/>
                <a:cs typeface="Times New Roman"/>
              </a:rPr>
              <a:t> </a:t>
            </a:r>
            <a:r>
              <a:rPr dirty="0" sz="3150" spc="-5">
                <a:latin typeface="Symbol"/>
                <a:cs typeface="Symbol"/>
              </a:rPr>
              <a:t></a:t>
            </a:r>
            <a:r>
              <a:rPr dirty="0" sz="3150" spc="-5">
                <a:latin typeface="Times New Roman"/>
                <a:cs typeface="Times New Roman"/>
              </a:rPr>
              <a:t>	</a:t>
            </a:r>
            <a:r>
              <a:rPr dirty="0" sz="3150" spc="-5" i="1">
                <a:latin typeface="Times New Roman"/>
                <a:cs typeface="Times New Roman"/>
              </a:rPr>
              <a:t>g</a:t>
            </a:r>
            <a:r>
              <a:rPr dirty="0" sz="3150" spc="-80" i="1">
                <a:latin typeface="Times New Roman"/>
                <a:cs typeface="Times New Roman"/>
              </a:rPr>
              <a:t> </a:t>
            </a:r>
            <a:r>
              <a:rPr dirty="0" sz="3150" spc="-5">
                <a:latin typeface="Times New Roman"/>
                <a:cs typeface="Times New Roman"/>
              </a:rPr>
              <a:t>)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97480" y="5154168"/>
            <a:ext cx="3023870" cy="1137285"/>
          </a:xfrm>
          <a:custGeom>
            <a:avLst/>
            <a:gdLst/>
            <a:ahLst/>
            <a:cxnLst/>
            <a:rect l="l" t="t" r="r" b="b"/>
            <a:pathLst>
              <a:path w="3023870" h="1137285">
                <a:moveTo>
                  <a:pt x="0" y="0"/>
                </a:moveTo>
                <a:lnTo>
                  <a:pt x="0" y="1136904"/>
                </a:lnTo>
                <a:lnTo>
                  <a:pt x="3023616" y="1136904"/>
                </a:lnTo>
                <a:lnTo>
                  <a:pt x="302361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14215" y="5690616"/>
            <a:ext cx="1591310" cy="0"/>
          </a:xfrm>
          <a:custGeom>
            <a:avLst/>
            <a:gdLst/>
            <a:ahLst/>
            <a:cxnLst/>
            <a:rect l="l" t="t" r="r" b="b"/>
            <a:pathLst>
              <a:path w="1591310" h="0">
                <a:moveTo>
                  <a:pt x="0" y="0"/>
                </a:moveTo>
                <a:lnTo>
                  <a:pt x="1591055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364735" y="5958332"/>
            <a:ext cx="11557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00" spc="10" i="1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12007" y="5644388"/>
            <a:ext cx="11557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00" spc="10" i="1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34055" y="5376164"/>
            <a:ext cx="996950" cy="504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64540" algn="l"/>
              </a:tabLst>
            </a:pPr>
            <a:r>
              <a:rPr dirty="0" sz="3150" spc="-5" i="1">
                <a:latin typeface="Times New Roman"/>
                <a:cs typeface="Times New Roman"/>
              </a:rPr>
              <a:t>V</a:t>
            </a:r>
            <a:r>
              <a:rPr dirty="0" sz="3150" spc="-5" i="1">
                <a:latin typeface="Times New Roman"/>
                <a:cs typeface="Times New Roman"/>
              </a:rPr>
              <a:t>	</a:t>
            </a:r>
            <a:r>
              <a:rPr dirty="0" sz="3150" spc="-5">
                <a:latin typeface="Symbol"/>
                <a:cs typeface="Symbol"/>
              </a:rPr>
              <a:t>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34535" y="5041493"/>
            <a:ext cx="1422400" cy="115316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algn="ctr" marL="55244">
              <a:lnSpc>
                <a:spcPct val="100000"/>
              </a:lnSpc>
              <a:spcBef>
                <a:spcPts val="760"/>
              </a:spcBef>
            </a:pPr>
            <a:r>
              <a:rPr dirty="0" sz="3150" spc="-5" i="1">
                <a:latin typeface="Times New Roman"/>
                <a:cs typeface="Times New Roman"/>
              </a:rPr>
              <a:t>D</a:t>
            </a:r>
            <a:r>
              <a:rPr dirty="0" sz="3150" spc="180" i="1">
                <a:latin typeface="Times New Roman"/>
                <a:cs typeface="Times New Roman"/>
              </a:rPr>
              <a:t> </a:t>
            </a:r>
            <a:r>
              <a:rPr dirty="0" baseline="-23148" sz="2700" spc="15">
                <a:latin typeface="Times New Roman"/>
                <a:cs typeface="Times New Roman"/>
              </a:rPr>
              <a:t>1</a:t>
            </a:r>
            <a:endParaRPr baseline="-23148" sz="2700">
              <a:latin typeface="Times New Roman"/>
              <a:cs typeface="Times New Roman"/>
            </a:endParaRPr>
          </a:p>
          <a:p>
            <a:pPr algn="ctr" marR="17780">
              <a:lnSpc>
                <a:spcPct val="100000"/>
              </a:lnSpc>
              <a:spcBef>
                <a:spcPts val="660"/>
              </a:spcBef>
              <a:tabLst>
                <a:tab pos="648970" algn="l"/>
                <a:tab pos="1145540" algn="l"/>
              </a:tabLst>
            </a:pPr>
            <a:r>
              <a:rPr dirty="0" sz="3150" spc="-5" i="1">
                <a:latin typeface="Times New Roman"/>
                <a:cs typeface="Times New Roman"/>
              </a:rPr>
              <a:t>k	</a:t>
            </a:r>
            <a:r>
              <a:rPr dirty="0" sz="3150" spc="-1425">
                <a:latin typeface="Symbol"/>
                <a:cs typeface="Symbol"/>
              </a:rPr>
              <a:t></a:t>
            </a:r>
            <a:r>
              <a:rPr dirty="0" sz="3150" spc="-1425">
                <a:latin typeface="Times New Roman"/>
                <a:cs typeface="Times New Roman"/>
              </a:rPr>
              <a:t>	</a:t>
            </a:r>
            <a:r>
              <a:rPr dirty="0" sz="3150" spc="-5" i="1">
                <a:latin typeface="Times New Roman"/>
                <a:cs typeface="Times New Roman"/>
              </a:rPr>
              <a:t>g</a:t>
            </a:r>
            <a:endParaRPr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6155" y="639572"/>
            <a:ext cx="308292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股</a:t>
            </a:r>
            <a:r>
              <a:rPr dirty="0" spc="25"/>
              <a:t>票</a:t>
            </a:r>
            <a:r>
              <a:rPr dirty="0" spc="5"/>
              <a:t>的收益率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5" y="1435658"/>
            <a:ext cx="7453630" cy="1017269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0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优先股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收益率</a:t>
            </a:r>
            <a:endParaRPr sz="2800">
              <a:latin typeface="宋体"/>
              <a:cs typeface="宋体"/>
            </a:endParaRPr>
          </a:p>
          <a:p>
            <a:pPr marL="506095">
              <a:lnSpc>
                <a:spcPct val="100000"/>
              </a:lnSpc>
              <a:spcBef>
                <a:spcPts val="630"/>
              </a:spcBef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优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先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股的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可以从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优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先股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型中推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导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595" y="3663493"/>
            <a:ext cx="7962900" cy="181610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2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普通股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收益率</a:t>
            </a:r>
            <a:endParaRPr sz="2800">
              <a:latin typeface="宋体"/>
              <a:cs typeface="宋体"/>
            </a:endParaRPr>
          </a:p>
          <a:p>
            <a:pPr algn="just" marL="356870" marR="5080" indent="642620">
              <a:lnSpc>
                <a:spcPct val="100000"/>
              </a:lnSpc>
              <a:spcBef>
                <a:spcPts val="655"/>
              </a:spcBef>
            </a:pP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于零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利股票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其收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计算公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与优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先股的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算一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样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于固定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利增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票，其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益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率可以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其定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中推导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: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48255" y="2563368"/>
            <a:ext cx="4249420" cy="1149350"/>
          </a:xfrm>
          <a:custGeom>
            <a:avLst/>
            <a:gdLst/>
            <a:ahLst/>
            <a:cxnLst/>
            <a:rect l="l" t="t" r="r" b="b"/>
            <a:pathLst>
              <a:path w="4249420" h="1149350">
                <a:moveTo>
                  <a:pt x="0" y="0"/>
                </a:moveTo>
                <a:lnTo>
                  <a:pt x="0" y="1149096"/>
                </a:lnTo>
                <a:lnTo>
                  <a:pt x="4248912" y="1149096"/>
                </a:lnTo>
                <a:lnTo>
                  <a:pt x="4248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48255" y="2563368"/>
            <a:ext cx="4249420" cy="1149350"/>
          </a:xfrm>
          <a:custGeom>
            <a:avLst/>
            <a:gdLst/>
            <a:ahLst/>
            <a:cxnLst/>
            <a:rect l="l" t="t" r="r" b="b"/>
            <a:pathLst>
              <a:path w="4249420" h="1149350">
                <a:moveTo>
                  <a:pt x="0" y="0"/>
                </a:moveTo>
                <a:lnTo>
                  <a:pt x="0" y="1149095"/>
                </a:lnTo>
                <a:lnTo>
                  <a:pt x="4248911" y="1149095"/>
                </a:lnTo>
                <a:lnTo>
                  <a:pt x="4248911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41903" y="3118104"/>
            <a:ext cx="521334" cy="0"/>
          </a:xfrm>
          <a:custGeom>
            <a:avLst/>
            <a:gdLst/>
            <a:ahLst/>
            <a:cxnLst/>
            <a:rect l="l" t="t" r="r" b="b"/>
            <a:pathLst>
              <a:path w="521335" h="0">
                <a:moveTo>
                  <a:pt x="0" y="0"/>
                </a:moveTo>
                <a:lnTo>
                  <a:pt x="521207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74976" y="3081020"/>
            <a:ext cx="10604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450" spc="5" i="1">
                <a:latin typeface="Times New Roman"/>
                <a:cs typeface="Times New Roman"/>
              </a:rPr>
              <a:t>p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5055" y="3114548"/>
            <a:ext cx="15621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550" spc="-5" i="1">
                <a:latin typeface="Times New Roman"/>
                <a:cs typeface="Times New Roman"/>
              </a:rPr>
              <a:t>k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2848" y="2864612"/>
            <a:ext cx="21018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550" spc="-5" i="1">
                <a:latin typeface="Times New Roman"/>
                <a:cs typeface="Times New Roman"/>
              </a:rPr>
              <a:t>V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06367" y="3139440"/>
            <a:ext cx="850900" cy="0"/>
          </a:xfrm>
          <a:custGeom>
            <a:avLst/>
            <a:gdLst/>
            <a:ahLst/>
            <a:cxnLst/>
            <a:rect l="l" t="t" r="r" b="b"/>
            <a:pathLst>
              <a:path w="850900" h="0">
                <a:moveTo>
                  <a:pt x="0" y="0"/>
                </a:moveTo>
                <a:lnTo>
                  <a:pt x="850391" y="0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50664" y="3066288"/>
            <a:ext cx="146685" cy="149860"/>
          </a:xfrm>
          <a:custGeom>
            <a:avLst/>
            <a:gdLst/>
            <a:ahLst/>
            <a:cxnLst/>
            <a:rect l="l" t="t" r="r" b="b"/>
            <a:pathLst>
              <a:path w="146685" h="149860">
                <a:moveTo>
                  <a:pt x="0" y="0"/>
                </a:moveTo>
                <a:lnTo>
                  <a:pt x="0" y="149352"/>
                </a:lnTo>
                <a:lnTo>
                  <a:pt x="146304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02223" y="3118104"/>
            <a:ext cx="509270" cy="0"/>
          </a:xfrm>
          <a:custGeom>
            <a:avLst/>
            <a:gdLst/>
            <a:ahLst/>
            <a:cxnLst/>
            <a:rect l="l" t="t" r="r" b="b"/>
            <a:pathLst>
              <a:path w="509270" h="0">
                <a:moveTo>
                  <a:pt x="0" y="0"/>
                </a:moveTo>
                <a:lnTo>
                  <a:pt x="50901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334511" y="3334004"/>
            <a:ext cx="266319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2557145" algn="l"/>
              </a:tabLst>
            </a:pPr>
            <a:r>
              <a:rPr dirty="0" sz="1450" spc="5" i="1">
                <a:latin typeface="Times New Roman"/>
                <a:cs typeface="Times New Roman"/>
              </a:rPr>
              <a:t>p</a:t>
            </a:r>
            <a:r>
              <a:rPr dirty="0" sz="1450" spc="5" i="1">
                <a:latin typeface="Times New Roman"/>
                <a:cs typeface="Times New Roman"/>
              </a:rPr>
              <a:t>	</a:t>
            </a:r>
            <a:r>
              <a:rPr dirty="0" sz="1450" spc="5" i="1">
                <a:latin typeface="Times New Roman"/>
                <a:cs typeface="Times New Roman"/>
              </a:rPr>
              <a:t>p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53584" y="3081020"/>
            <a:ext cx="10604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450" spc="5" i="1">
                <a:latin typeface="Times New Roman"/>
                <a:cs typeface="Times New Roman"/>
              </a:rPr>
              <a:t>p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35752" y="3114548"/>
            <a:ext cx="21018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550" spc="-5" i="1">
                <a:latin typeface="Times New Roman"/>
                <a:cs typeface="Times New Roman"/>
              </a:rPr>
              <a:t>V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43271" y="2864612"/>
            <a:ext cx="15621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550" spc="-5" i="1">
                <a:latin typeface="Times New Roman"/>
                <a:cs typeface="Times New Roman"/>
              </a:rPr>
              <a:t>k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89860" y="2620772"/>
            <a:ext cx="338836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87985" algn="l"/>
                <a:tab pos="2607310" algn="l"/>
                <a:tab pos="2948305" algn="l"/>
              </a:tabLst>
            </a:pPr>
            <a:r>
              <a:rPr dirty="0" baseline="-41394" sz="3825" spc="-7">
                <a:latin typeface="Symbol"/>
                <a:cs typeface="Symbol"/>
              </a:rPr>
              <a:t></a:t>
            </a:r>
            <a:r>
              <a:rPr dirty="0" baseline="-41394" sz="3825" spc="-7">
                <a:latin typeface="Times New Roman"/>
                <a:cs typeface="Times New Roman"/>
              </a:rPr>
              <a:t>	</a:t>
            </a:r>
            <a:r>
              <a:rPr dirty="0" sz="2550" spc="-5" i="1">
                <a:latin typeface="Times New Roman"/>
                <a:cs typeface="Times New Roman"/>
              </a:rPr>
              <a:t>D</a:t>
            </a:r>
            <a:r>
              <a:rPr dirty="0" sz="2550" spc="-75" i="1">
                <a:latin typeface="Times New Roman"/>
                <a:cs typeface="Times New Roman"/>
              </a:rPr>
              <a:t> </a:t>
            </a:r>
            <a:r>
              <a:rPr dirty="0" baseline="-22988" sz="2175" spc="7" i="1">
                <a:latin typeface="Times New Roman"/>
                <a:cs typeface="Times New Roman"/>
              </a:rPr>
              <a:t>p	</a:t>
            </a:r>
            <a:r>
              <a:rPr dirty="0" baseline="-41394" sz="3825" spc="-7">
                <a:latin typeface="Symbol"/>
                <a:cs typeface="Symbol"/>
              </a:rPr>
              <a:t></a:t>
            </a:r>
            <a:r>
              <a:rPr dirty="0" baseline="-41394" sz="3825" spc="-7">
                <a:latin typeface="Times New Roman"/>
                <a:cs typeface="Times New Roman"/>
              </a:rPr>
              <a:t>	</a:t>
            </a:r>
            <a:r>
              <a:rPr dirty="0" sz="2550" spc="-5" i="1">
                <a:latin typeface="Times New Roman"/>
                <a:cs typeface="Times New Roman"/>
              </a:rPr>
              <a:t>D</a:t>
            </a:r>
            <a:r>
              <a:rPr dirty="0" sz="2550" spc="-204" i="1">
                <a:latin typeface="Times New Roman"/>
                <a:cs typeface="Times New Roman"/>
              </a:rPr>
              <a:t> </a:t>
            </a:r>
            <a:r>
              <a:rPr dirty="0" baseline="-22988" sz="2175" spc="7" i="1">
                <a:latin typeface="Times New Roman"/>
                <a:cs typeface="Times New Roman"/>
              </a:rPr>
              <a:t>p</a:t>
            </a:r>
            <a:endParaRPr baseline="-22988" sz="217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12520" y="5513832"/>
            <a:ext cx="6410325" cy="1152525"/>
          </a:xfrm>
          <a:custGeom>
            <a:avLst/>
            <a:gdLst/>
            <a:ahLst/>
            <a:cxnLst/>
            <a:rect l="l" t="t" r="r" b="b"/>
            <a:pathLst>
              <a:path w="6410325" h="1152525">
                <a:moveTo>
                  <a:pt x="0" y="0"/>
                </a:moveTo>
                <a:lnTo>
                  <a:pt x="0" y="1152144"/>
                </a:lnTo>
                <a:lnTo>
                  <a:pt x="6409944" y="1152144"/>
                </a:lnTo>
                <a:lnTo>
                  <a:pt x="640994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12519" y="5513832"/>
            <a:ext cx="6410325" cy="1152525"/>
          </a:xfrm>
          <a:custGeom>
            <a:avLst/>
            <a:gdLst/>
            <a:ahLst/>
            <a:cxnLst/>
            <a:rect l="l" t="t" r="r" b="b"/>
            <a:pathLst>
              <a:path w="6410325" h="1152525">
                <a:moveTo>
                  <a:pt x="0" y="0"/>
                </a:moveTo>
                <a:lnTo>
                  <a:pt x="0" y="1152143"/>
                </a:lnTo>
                <a:lnTo>
                  <a:pt x="6409943" y="1152143"/>
                </a:lnTo>
                <a:lnTo>
                  <a:pt x="6409943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89047" y="6059424"/>
            <a:ext cx="1247140" cy="0"/>
          </a:xfrm>
          <a:custGeom>
            <a:avLst/>
            <a:gdLst/>
            <a:ahLst/>
            <a:cxnLst/>
            <a:rect l="l" t="t" r="r" b="b"/>
            <a:pathLst>
              <a:path w="1247139" h="0">
                <a:moveTo>
                  <a:pt x="0" y="0"/>
                </a:moveTo>
                <a:lnTo>
                  <a:pt x="124663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286255" y="5748020"/>
            <a:ext cx="257175" cy="504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3150" spc="-5" i="1">
                <a:latin typeface="Times New Roman"/>
                <a:cs typeface="Times New Roman"/>
              </a:rPr>
              <a:t>V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63367" y="6327140"/>
            <a:ext cx="11557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00" spc="10" i="1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911" y="6016244"/>
            <a:ext cx="11557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00" spc="10" i="1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745991" y="6059424"/>
            <a:ext cx="927100" cy="0"/>
          </a:xfrm>
          <a:custGeom>
            <a:avLst/>
            <a:gdLst/>
            <a:ahLst/>
            <a:cxnLst/>
            <a:rect l="l" t="t" r="r" b="b"/>
            <a:pathLst>
              <a:path w="927100" h="0">
                <a:moveTo>
                  <a:pt x="0" y="0"/>
                </a:moveTo>
                <a:lnTo>
                  <a:pt x="926591" y="0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666488" y="5986272"/>
            <a:ext cx="146685" cy="149860"/>
          </a:xfrm>
          <a:custGeom>
            <a:avLst/>
            <a:gdLst/>
            <a:ahLst/>
            <a:cxnLst/>
            <a:rect l="l" t="t" r="r" b="b"/>
            <a:pathLst>
              <a:path w="146685" h="149860">
                <a:moveTo>
                  <a:pt x="0" y="0"/>
                </a:moveTo>
                <a:lnTo>
                  <a:pt x="0" y="149352"/>
                </a:lnTo>
                <a:lnTo>
                  <a:pt x="146304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940551" y="6047232"/>
            <a:ext cx="573405" cy="0"/>
          </a:xfrm>
          <a:custGeom>
            <a:avLst/>
            <a:gdLst/>
            <a:ahLst/>
            <a:cxnLst/>
            <a:rect l="l" t="t" r="r" b="b"/>
            <a:pathLst>
              <a:path w="573404" h="0">
                <a:moveTo>
                  <a:pt x="0" y="0"/>
                </a:moveTo>
                <a:lnTo>
                  <a:pt x="573023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967984" y="6046724"/>
            <a:ext cx="257175" cy="504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3150" spc="-5" i="1">
                <a:latin typeface="Times New Roman"/>
                <a:cs typeface="Times New Roman"/>
              </a:rPr>
              <a:t>V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63640" y="6314948"/>
            <a:ext cx="11557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00" spc="10" i="1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33415" y="6004052"/>
            <a:ext cx="11557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00" spc="10" i="1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92623" y="5735828"/>
            <a:ext cx="2233295" cy="504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1624330" algn="l"/>
                <a:tab pos="2020570" algn="l"/>
              </a:tabLst>
            </a:pPr>
            <a:r>
              <a:rPr dirty="0" sz="3150" spc="-5" i="1">
                <a:latin typeface="Times New Roman"/>
                <a:cs typeface="Times New Roman"/>
              </a:rPr>
              <a:t>k</a:t>
            </a:r>
            <a:r>
              <a:rPr dirty="0" sz="3150" spc="-5" i="1">
                <a:latin typeface="Times New Roman"/>
                <a:cs typeface="Times New Roman"/>
              </a:rPr>
              <a:t>	</a:t>
            </a:r>
            <a:r>
              <a:rPr dirty="0" sz="3150" spc="-5">
                <a:latin typeface="Symbol"/>
                <a:cs typeface="Symbol"/>
              </a:rPr>
              <a:t></a:t>
            </a:r>
            <a:r>
              <a:rPr dirty="0" sz="3150" spc="-5">
                <a:latin typeface="Times New Roman"/>
                <a:cs typeface="Times New Roman"/>
              </a:rPr>
              <a:t>	</a:t>
            </a:r>
            <a:r>
              <a:rPr dirty="0" sz="3150" spc="-5" i="1">
                <a:latin typeface="Times New Roman"/>
                <a:cs typeface="Times New Roman"/>
              </a:rPr>
              <a:t>g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58264" y="5410301"/>
            <a:ext cx="4633595" cy="115316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760"/>
              </a:spcBef>
              <a:tabLst>
                <a:tab pos="817244" algn="l"/>
                <a:tab pos="3676650" algn="l"/>
                <a:tab pos="4130675" algn="l"/>
              </a:tabLst>
            </a:pPr>
            <a:r>
              <a:rPr dirty="0" baseline="-35273" sz="4725" spc="-7">
                <a:latin typeface="Symbol"/>
                <a:cs typeface="Symbol"/>
              </a:rPr>
              <a:t></a:t>
            </a:r>
            <a:r>
              <a:rPr dirty="0" baseline="-35273" sz="4725" spc="-7">
                <a:latin typeface="Times New Roman"/>
                <a:cs typeface="Times New Roman"/>
              </a:rPr>
              <a:t>	</a:t>
            </a:r>
            <a:r>
              <a:rPr dirty="0" sz="3150" spc="-5" i="1">
                <a:latin typeface="Times New Roman"/>
                <a:cs typeface="Times New Roman"/>
              </a:rPr>
              <a:t>D</a:t>
            </a:r>
            <a:r>
              <a:rPr dirty="0" sz="3150" spc="-515" i="1">
                <a:latin typeface="Times New Roman"/>
                <a:cs typeface="Times New Roman"/>
              </a:rPr>
              <a:t> </a:t>
            </a:r>
            <a:r>
              <a:rPr dirty="0" baseline="-24691" sz="2700" spc="15">
                <a:latin typeface="Times New Roman"/>
                <a:cs typeface="Times New Roman"/>
              </a:rPr>
              <a:t>1	</a:t>
            </a:r>
            <a:r>
              <a:rPr dirty="0" baseline="-33509" sz="4725" spc="-7">
                <a:latin typeface="Symbol"/>
                <a:cs typeface="Symbol"/>
              </a:rPr>
              <a:t></a:t>
            </a:r>
            <a:r>
              <a:rPr dirty="0" baseline="-33509" sz="4725" spc="-7">
                <a:latin typeface="Times New Roman"/>
                <a:cs typeface="Times New Roman"/>
              </a:rPr>
              <a:t>	</a:t>
            </a:r>
            <a:r>
              <a:rPr dirty="0" baseline="1763" sz="4725" spc="-7" i="1">
                <a:latin typeface="Times New Roman"/>
                <a:cs typeface="Times New Roman"/>
              </a:rPr>
              <a:t>D</a:t>
            </a:r>
            <a:r>
              <a:rPr dirty="0" baseline="1763" sz="4725" spc="-825" i="1">
                <a:latin typeface="Times New Roman"/>
                <a:cs typeface="Times New Roman"/>
              </a:rPr>
              <a:t> </a:t>
            </a:r>
            <a:r>
              <a:rPr dirty="0" baseline="-21604" sz="2700" spc="15">
                <a:latin typeface="Times New Roman"/>
                <a:cs typeface="Times New Roman"/>
              </a:rPr>
              <a:t>1</a:t>
            </a:r>
            <a:endParaRPr baseline="-21604" sz="2700">
              <a:latin typeface="Times New Roman"/>
              <a:cs typeface="Times New Roman"/>
            </a:endParaRPr>
          </a:p>
          <a:p>
            <a:pPr marL="464184">
              <a:lnSpc>
                <a:spcPct val="100000"/>
              </a:lnSpc>
              <a:spcBef>
                <a:spcPts val="660"/>
              </a:spcBef>
              <a:tabLst>
                <a:tab pos="975994" algn="l"/>
                <a:tab pos="1365885" algn="l"/>
              </a:tabLst>
            </a:pPr>
            <a:r>
              <a:rPr dirty="0" sz="3150" spc="-5" i="1">
                <a:latin typeface="Times New Roman"/>
                <a:cs typeface="Times New Roman"/>
              </a:rPr>
              <a:t>k	</a:t>
            </a:r>
            <a:r>
              <a:rPr dirty="0" sz="3150" spc="-1425">
                <a:latin typeface="Symbol"/>
                <a:cs typeface="Symbol"/>
              </a:rPr>
              <a:t></a:t>
            </a:r>
            <a:r>
              <a:rPr dirty="0" sz="3150" spc="-1425">
                <a:latin typeface="Times New Roman"/>
                <a:cs typeface="Times New Roman"/>
              </a:rPr>
              <a:t>	</a:t>
            </a:r>
            <a:r>
              <a:rPr dirty="0" sz="3150" spc="-5" i="1">
                <a:latin typeface="Times New Roman"/>
                <a:cs typeface="Times New Roman"/>
              </a:rPr>
              <a:t>g</a:t>
            </a:r>
            <a:endParaRPr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2023-10-22T13:37:16Z</dcterms:created>
  <dcterms:modified xsi:type="dcterms:W3CDTF">2023-10-22T13:37:16Z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2006-06-02T00:00:00Z</vt:filetime>
  </property>
  <property fmtid="{D5CDD505-2E9C-101B-9397-08002B2CF9AE}" pid="3" name="LastSaved">
    <vt:filetime>2006-06-02T00:00:00Z</vt:filetime>
  </property>
</Properties>
</file>