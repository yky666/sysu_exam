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sldIdLst>
    <p:sldId id="281" r:id="rId2"/>
    <p:sldId id="283" r:id="rId3"/>
    <p:sldId id="286" r:id="rId4"/>
    <p:sldId id="282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5" r:id="rId13"/>
    <p:sldId id="266" r:id="rId14"/>
    <p:sldId id="267" r:id="rId15"/>
    <p:sldId id="269" r:id="rId16"/>
    <p:sldId id="270" r:id="rId17"/>
    <p:sldId id="271" r:id="rId18"/>
    <p:sldId id="273" r:id="rId19"/>
    <p:sldId id="274" r:id="rId20"/>
    <p:sldId id="275" r:id="rId21"/>
    <p:sldId id="277" r:id="rId22"/>
    <p:sldId id="278" r:id="rId23"/>
    <p:sldId id="279" r:id="rId24"/>
    <p:sldId id="284" r:id="rId25"/>
    <p:sldId id="285" r:id="rId2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99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8942F1D6-D8D4-9D4C-3D64-7A1EC2CDD296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B5396EE-AD6B-DAE2-DAD3-DE0D719706B0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  <a:solidFill>
            <a:srgbClr val="3366FF">
              <a:alpha val="50000"/>
            </a:srgbClr>
          </a:solidFill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5F5EF1BD-3CB9-17B0-0E05-686ABBD0072E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id="{5D4B003B-6E65-DD97-C465-96DBA9EB54F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id="{3826DE67-DB41-DDF4-BFAE-0A4E5DD464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9E41F567-BB39-47E5-A6D4-04BD740597B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5F854E-209C-5732-80C7-EAAA77CAB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2193C3-22CE-6BF9-AFB3-8E1F0C8F0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0EEF9C-4879-9EE5-3B98-5B25C1AC2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388A47-482A-A056-55A4-362E3740F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173D6A-DA68-392C-7B8E-3CBCDA37E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43E393-87D2-4E2B-84CC-B6EADF67F9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2079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F01A5F-34AA-50F2-C802-629222037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857987-F7DF-94CD-2F83-11C538877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1E4FF5-0092-426B-C136-8BB5F5347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734518-B323-22B2-4BE8-B3AF5ED9D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113BBF-9567-E406-9BC9-B2E906D88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01F965-2F66-4E8A-8AC1-C591D4C0CAF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416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AE7BF6-3DE0-4558-B39B-C500D632E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1CC655-79CE-4AEA-2C21-354E1AA812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C53C56-4C51-1CA4-EBF3-7284B00BE4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7CC81C-57F0-4D7B-3843-4A0E92D07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51C947-E120-A88C-365E-7D1632ACD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F4C08A-8B53-BFBC-1347-33D381478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E75603-9128-43E1-9A69-DA2D342D7CE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4718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AE0ED0-E3D2-80EE-A321-D8064667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06A53C-BBD7-D65D-B3C0-08A2563E0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A32F3B-E2C7-07A6-3092-F577620B4E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66A8F4F-5E7D-012C-77AE-B6A89454B1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6207E8E-62CD-D4E9-A761-A5F00CCA1B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025F0FA-8EFE-0ECA-49AA-2F0634E51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657FAE8-EDE5-C278-5DD2-CEA694203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3440018-BF08-9123-7243-0CFFA8A4D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12BE35-55E8-4D46-B72D-8644DE758F3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0656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014BCD-C3E7-9F2D-74DA-0350234CF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368F4CE-43B1-32E2-9597-53BD99C08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8F4A6B2-0CC4-D167-E2E7-F5478F3E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ED32BC4-0742-F8B4-EA62-59EC75FF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65D12A-3EC0-4F72-895C-8873C7F0EC6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2801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8439338-D980-74F1-97E0-92F9C84CD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5EB22AE-D17E-ED58-8E48-675954A6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59BECE-D8D6-16E2-3965-5A1CFDEA0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9103D8-D13E-4214-9769-6119D04BD34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5146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B3179-B6D5-BC46-30BB-0E8361272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39C6D3-06E8-80C1-2439-B0537816C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2723E2-0AEF-DE04-A550-5C57C2BA3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743DD2-CAD9-ADB8-CBD4-C0536EFD0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5D09F9-D5B5-1424-0CC7-141A6A239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F2A97B-6AE6-D682-B265-1F855FCB5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C51AFB-265A-4448-B18D-C37762B2383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2821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4450CA-0BC0-D10C-B5D1-EEA34D74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724E43C-D1C4-D981-45C9-D5585682DD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3771CB-CDDF-C412-8A66-FECEA6C1C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0BCBE0-A6A6-1050-AA70-770975819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A5DDB7-10EB-449B-485E-F54A0BE47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57E125-5979-BE03-12C9-CF6D38F0D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72930D-D495-40D1-A8C9-58B7191B8E3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4863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2871FC-3084-FD58-D580-1FD59C267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BCC815-19C1-9E6A-6DD2-91EED8CA1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A8D08F-24FC-2222-9AF1-608245558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63BF64-590E-E34D-B1A6-85349FBC9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A010C0-56F7-2018-5704-FA94F5BD9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AA5171-1D67-46F6-BC00-D0DF15B11AE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2712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F2B76F0-E635-222C-33E3-EB573AFAB2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1CD4E31-3701-135A-A1A5-F2444EB53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3CE435-3E47-89A5-A070-CEEEA0A2E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D01163-2424-7F9D-9C99-C3C530A96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407748-B7B4-D9D5-4ADA-F09B5701E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F0F7B2-BE4F-48F6-ACB4-B406A8DEB62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8526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9F1945-8A11-A290-5CDA-D9C4CA91E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A71BD1-F10F-C8C9-E72A-ED96D649ED2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72052A-038B-4C13-8778-E493976503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F64036-5A86-93D0-826A-832E4CB4A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36E976-3A7B-3781-1CBD-75DD07058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8085C8-D914-C8C0-6EE2-8EB282914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B6AB5DE-824E-42C6-BA8A-E18C7F14BFE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0769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C6256AB2-B322-31FE-D51E-0F535242C3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7D325996-33B5-2F39-7553-FCE90989816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endParaRPr lang="en-US" altLang="zh-CN"/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888211DB-02D9-A162-2CF6-718803F788D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kumimoji="0" sz="1400"/>
            </a:lvl1pPr>
          </a:lstStyle>
          <a:p>
            <a:endParaRPr lang="en-US" altLang="zh-CN"/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35370AFF-0AA0-CDE5-30E4-9F97D8FDDA3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2E818B36-06EB-41AC-A94F-6E19B2D26509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E9C87607-FF4A-291A-5A6A-8F231D1638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l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folHlink"/>
        </a:buClr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9.emf"/><Relationship Id="rId3" Type="http://schemas.openxmlformats.org/officeDocument/2006/relationships/image" Target="../media/image4.emf"/><Relationship Id="rId7" Type="http://schemas.openxmlformats.org/officeDocument/2006/relationships/image" Target="../media/image6.emf"/><Relationship Id="rId12" Type="http://schemas.openxmlformats.org/officeDocument/2006/relationships/oleObject" Target="../embeddings/oleObject7.bin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8.emf"/><Relationship Id="rId5" Type="http://schemas.openxmlformats.org/officeDocument/2006/relationships/image" Target="../media/image5.e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7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9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17.emf"/><Relationship Id="rId3" Type="http://schemas.openxmlformats.org/officeDocument/2006/relationships/image" Target="../media/image12.wmf"/><Relationship Id="rId7" Type="http://schemas.openxmlformats.org/officeDocument/2006/relationships/image" Target="../media/image14.emf"/><Relationship Id="rId12" Type="http://schemas.openxmlformats.org/officeDocument/2006/relationships/oleObject" Target="../embeddings/oleObject15.bin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6.emf"/><Relationship Id="rId5" Type="http://schemas.openxmlformats.org/officeDocument/2006/relationships/image" Target="../media/image13.emf"/><Relationship Id="rId15" Type="http://schemas.openxmlformats.org/officeDocument/2006/relationships/image" Target="../media/image18.e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5.emf"/><Relationship Id="rId14" Type="http://schemas.openxmlformats.org/officeDocument/2006/relationships/oleObject" Target="../embeddings/oleObject16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7" Type="http://schemas.openxmlformats.org/officeDocument/2006/relationships/image" Target="../media/image21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8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oleObject" Target="../embeddings/oleObject21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026">
            <a:extLst>
              <a:ext uri="{FF2B5EF4-FFF2-40B4-BE49-F238E27FC236}">
                <a16:creationId xmlns:a16="http://schemas.microsoft.com/office/drawing/2014/main" id="{C8520324-77B4-A875-A324-BC081E315B5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1600200"/>
            <a:ext cx="7772400" cy="1143000"/>
          </a:xfrm>
        </p:spPr>
        <p:txBody>
          <a:bodyPr/>
          <a:lstStyle/>
          <a:p>
            <a:r>
              <a:rPr lang="en-US" altLang="zh-CN" sz="4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Medical Statistics </a:t>
            </a:r>
            <a:br>
              <a:rPr lang="en-US" altLang="zh-CN" sz="4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altLang="zh-CN" sz="4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(full English class)</a:t>
            </a:r>
          </a:p>
        </p:txBody>
      </p:sp>
      <p:sp>
        <p:nvSpPr>
          <p:cNvPr id="37891" name="Rectangle 1027">
            <a:extLst>
              <a:ext uri="{FF2B5EF4-FFF2-40B4-BE49-F238E27FC236}">
                <a16:creationId xmlns:a16="http://schemas.microsoft.com/office/drawing/2014/main" id="{9DAD6131-51D0-BBDD-5002-DD31731BA7F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24000" y="4038600"/>
            <a:ext cx="6400800" cy="1981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3366FF">
                    <a:alpha val="50000"/>
                  </a:srgbClr>
                </a:solidFill>
              </a14:hiddenFill>
            </a:ext>
          </a:extLst>
        </p:spPr>
        <p:txBody>
          <a:bodyPr/>
          <a:lstStyle/>
          <a:p>
            <a:endParaRPr lang="en-US" altLang="zh-CN"/>
          </a:p>
          <a:p>
            <a:r>
              <a:rPr lang="en-US" altLang="zh-CN" b="1"/>
              <a:t>Ji-Qian Fang</a:t>
            </a:r>
          </a:p>
          <a:p>
            <a:r>
              <a:rPr lang="en-US" altLang="zh-CN" b="1"/>
              <a:t>School of  Public Health </a:t>
            </a:r>
          </a:p>
          <a:p>
            <a:r>
              <a:rPr lang="en-US" altLang="zh-CN" b="1"/>
              <a:t>Sun Yat-Sen University</a:t>
            </a:r>
          </a:p>
          <a:p>
            <a:endParaRPr lang="en-US" altLang="zh-CN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3" name="Object 1027">
            <a:extLst>
              <a:ext uri="{FF2B5EF4-FFF2-40B4-BE49-F238E27FC236}">
                <a16:creationId xmlns:a16="http://schemas.microsoft.com/office/drawing/2014/main" id="{CF358EF4-C169-2E7B-B4DE-A6F1008DC9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0"/>
          <a:ext cx="7772400" cy="672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20880" imgH="4690080" progId="Word.Document.8">
                  <p:embed/>
                </p:oleObj>
              </mc:Choice>
              <mc:Fallback>
                <p:oleObj name="Document" r:id="rId2" imgW="5420880" imgH="4690080" progId="Word.Document.8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0"/>
                        <a:ext cx="7772400" cy="672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C487E677-C664-F596-CF62-E7DAFEEF2B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371600"/>
            <a:ext cx="7772400" cy="1143000"/>
          </a:xfrm>
        </p:spPr>
        <p:txBody>
          <a:bodyPr/>
          <a:lstStyle/>
          <a:p>
            <a:r>
              <a:rPr kumimoji="0" lang="en-US" altLang="zh-CN" sz="4000" b="1">
                <a:solidFill>
                  <a:schemeClr val="folHlink"/>
                </a:solidFill>
              </a:rPr>
              <a:t>Rank sum 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1155CC3-91F6-76B0-9E14-77BE080814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200" b="1">
                <a:solidFill>
                  <a:schemeClr val="folHlink"/>
                </a:solidFill>
              </a:rPr>
              <a:t>Parametric Test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5B8F90DF-6FDF-B6B4-729D-120805E9CC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371600"/>
            <a:ext cx="8964612" cy="4314825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</a:t>
            </a:r>
            <a:r>
              <a:rPr lang="en-US" altLang="zh-CN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The methods of hypothesis testing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we have learnt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(1) Assume: the variable follows a normal distribution;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(2) To test whether the means (parameters) are equal or not under such an assumption.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Therefore, they are called parametric tests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5ABF8A7-5881-E37F-867B-F870CEA4CE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kumimoji="0" lang="en-US" altLang="zh-CN" sz="3600" b="1">
                <a:solidFill>
                  <a:schemeClr val="folHlink"/>
                </a:solidFill>
              </a:rPr>
              <a:t>Non-parametric tests </a:t>
            </a:r>
            <a:br>
              <a:rPr kumimoji="0" lang="en-US" altLang="zh-CN" sz="3600" b="1">
                <a:solidFill>
                  <a:schemeClr val="folHlink"/>
                </a:solidFill>
              </a:rPr>
            </a:br>
            <a:r>
              <a:rPr kumimoji="0" lang="en-US" altLang="zh-CN" sz="3600" b="1">
                <a:solidFill>
                  <a:schemeClr val="folHlink"/>
                </a:solidFill>
              </a:rPr>
              <a:t>(distribution-free tests)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03E6B84F-7055-35DF-A2E6-112BDEDE7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382000" cy="4530725"/>
          </a:xfrm>
        </p:spPr>
        <p:txBody>
          <a:bodyPr/>
          <a:lstStyle/>
          <a:p>
            <a:r>
              <a:rPr lang="en-US" altLang="zh-CN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There is no any assumptions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about the distribution.</a:t>
            </a:r>
          </a:p>
          <a:p>
            <a:r>
              <a:rPr lang="en-US" altLang="zh-CN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Chi-square test is a kind of non-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parametric tests.</a:t>
            </a:r>
          </a:p>
          <a:p>
            <a:r>
              <a:rPr lang="en-US" altLang="zh-CN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Rank sum tests: Another kind of non-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parametric tests, which is based on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ranks of the data.                   </a:t>
            </a:r>
            <a:endParaRPr lang="en-US" altLang="zh-CN" b="1">
              <a:solidFill>
                <a:schemeClr val="folHlink"/>
              </a:solidFill>
              <a:latin typeface="Batang" pitchFamily="18" charset="-127"/>
              <a:ea typeface="Batang" pitchFamily="18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>
            <a:extLst>
              <a:ext uri="{FF2B5EF4-FFF2-40B4-BE49-F238E27FC236}">
                <a16:creationId xmlns:a16="http://schemas.microsoft.com/office/drawing/2014/main" id="{A8AF4D87-D5AE-D94E-6870-E45CE9F934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692150"/>
            <a:ext cx="8991600" cy="45656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99FF33"/>
                </a:solidFill>
              </a:rPr>
              <a:t>   </a:t>
            </a:r>
            <a:r>
              <a:rPr lang="en-US" altLang="zh-CN" sz="3600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For the following situations, the non-parametric tests could be used: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>
                <a:solidFill>
                  <a:schemeClr val="folHlink"/>
                </a:solidFill>
                <a:latin typeface="Batang" pitchFamily="18" charset="-127"/>
                <a:ea typeface="Batang" pitchFamily="18" charset="-127"/>
              </a:rPr>
              <a:t>a</a:t>
            </a:r>
            <a:r>
              <a:rPr lang="en-US" altLang="zh-CN" sz="3600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. The distribution of data is unknown;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>
                <a:solidFill>
                  <a:schemeClr val="folHlink"/>
                </a:solidFill>
                <a:latin typeface="Batang" pitchFamily="18" charset="-127"/>
                <a:ea typeface="Batang" pitchFamily="18" charset="-127"/>
              </a:rPr>
              <a:t>b</a:t>
            </a:r>
            <a:r>
              <a:rPr lang="en-US" altLang="zh-CN" sz="3600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. The distribution of data is skew;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>
                <a:solidFill>
                  <a:schemeClr val="folHlink"/>
                </a:solidFill>
                <a:latin typeface="Batang" pitchFamily="18" charset="-127"/>
                <a:ea typeface="Batang" pitchFamily="18" charset="-127"/>
              </a:rPr>
              <a:t>c</a:t>
            </a:r>
            <a:r>
              <a:rPr lang="en-US" altLang="zh-CN" sz="3600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. Ranked data or non-precise data;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>
                <a:solidFill>
                  <a:schemeClr val="folHlink"/>
                </a:solidFill>
                <a:latin typeface="Batang" pitchFamily="18" charset="-127"/>
                <a:ea typeface="Batang" pitchFamily="18" charset="-127"/>
              </a:rPr>
              <a:t>d</a:t>
            </a:r>
            <a:r>
              <a:rPr lang="en-US" altLang="zh-CN" sz="3600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. A quick and easy analysis ( for pilot study 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>
            <a:extLst>
              <a:ext uri="{FF2B5EF4-FFF2-40B4-BE49-F238E27FC236}">
                <a16:creationId xmlns:a16="http://schemas.microsoft.com/office/drawing/2014/main" id="{7A430F2C-6386-7302-47DD-6EC0EA402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609600"/>
            <a:ext cx="9144000" cy="558165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600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      It is suitable for a variety of data:</a:t>
            </a:r>
          </a:p>
          <a:p>
            <a:pPr>
              <a:lnSpc>
                <a:spcPct val="90000"/>
              </a:lnSpc>
            </a:pPr>
            <a:r>
              <a:rPr lang="en-US" altLang="zh-CN" sz="3600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Measurement or enumeration or ordinal</a:t>
            </a:r>
          </a:p>
          <a:p>
            <a:pPr>
              <a:lnSpc>
                <a:spcPct val="90000"/>
              </a:lnSpc>
            </a:pPr>
            <a:r>
              <a:rPr lang="en-US" altLang="zh-CN" sz="3600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Normal distribution or not</a:t>
            </a:r>
          </a:p>
          <a:p>
            <a:pPr>
              <a:lnSpc>
                <a:spcPct val="90000"/>
              </a:lnSpc>
            </a:pPr>
            <a:r>
              <a:rPr lang="en-US" altLang="zh-CN" sz="3600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Symmetric or not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600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    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600" b="1">
                <a:solidFill>
                  <a:schemeClr val="folHlink"/>
                </a:solidFill>
                <a:latin typeface="Batang" pitchFamily="18" charset="-127"/>
                <a:ea typeface="Batang" pitchFamily="18" charset="-127"/>
              </a:rPr>
              <a:t>However</a:t>
            </a:r>
            <a:r>
              <a:rPr lang="en-US" altLang="zh-CN" sz="3600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,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600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If the data are suitable for parametric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600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tests, the power of non-parametric tests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600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will be slightly lower.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9DB07C4-0048-31AC-711E-142BC90B54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3200" b="1">
                <a:solidFill>
                  <a:schemeClr val="folHlink"/>
                </a:solidFill>
              </a:rPr>
              <a:t>1. Wilcoxon’s signed rank sum test (matched pairs)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188302F-2B58-3595-8740-030F3AA6E92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0" y="1828800"/>
            <a:ext cx="8991600" cy="4530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3600" b="1">
                <a:solidFill>
                  <a:schemeClr val="folHlink"/>
                </a:solidFill>
                <a:latin typeface="Batang" pitchFamily="18" charset="-127"/>
                <a:ea typeface="Batang" pitchFamily="18" charset="-127"/>
              </a:rPr>
              <a:t>Example</a:t>
            </a: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11-1  The evaluation of nursing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care before and after training.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    Score: 1, 2, 3, 4, …,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82" name="Group 294">
            <a:extLst>
              <a:ext uri="{FF2B5EF4-FFF2-40B4-BE49-F238E27FC236}">
                <a16:creationId xmlns:a16="http://schemas.microsoft.com/office/drawing/2014/main" id="{067A3A9A-A78A-206E-F33B-4C334BFDAA63}"/>
              </a:ext>
            </a:extLst>
          </p:cNvPr>
          <p:cNvGraphicFramePr>
            <a:graphicFrameLocks noGrp="1"/>
          </p:cNvGraphicFramePr>
          <p:nvPr/>
        </p:nvGraphicFramePr>
        <p:xfrm>
          <a:off x="76200" y="304800"/>
          <a:ext cx="8991600" cy="6281738"/>
        </p:xfrm>
        <a:graphic>
          <a:graphicData uri="http://schemas.openxmlformats.org/drawingml/2006/table">
            <a:tbl>
              <a:tblPr/>
              <a:tblGrid>
                <a:gridCol w="2201863">
                  <a:extLst>
                    <a:ext uri="{9D8B030D-6E8A-4147-A177-3AD203B41FA5}">
                      <a16:colId xmlns:a16="http://schemas.microsoft.com/office/drawing/2014/main" val="1554433686"/>
                    </a:ext>
                  </a:extLst>
                </a:gridCol>
                <a:gridCol w="1711325">
                  <a:extLst>
                    <a:ext uri="{9D8B030D-6E8A-4147-A177-3AD203B41FA5}">
                      <a16:colId xmlns:a16="http://schemas.microsoft.com/office/drawing/2014/main" val="622105197"/>
                    </a:ext>
                  </a:extLst>
                </a:gridCol>
                <a:gridCol w="1709737">
                  <a:extLst>
                    <a:ext uri="{9D8B030D-6E8A-4147-A177-3AD203B41FA5}">
                      <a16:colId xmlns:a16="http://schemas.microsoft.com/office/drawing/2014/main" val="4053191230"/>
                    </a:ext>
                  </a:extLst>
                </a:gridCol>
                <a:gridCol w="1898650">
                  <a:extLst>
                    <a:ext uri="{9D8B030D-6E8A-4147-A177-3AD203B41FA5}">
                      <a16:colId xmlns:a16="http://schemas.microsoft.com/office/drawing/2014/main" val="1120383722"/>
                    </a:ext>
                  </a:extLst>
                </a:gridCol>
                <a:gridCol w="1470025">
                  <a:extLst>
                    <a:ext uri="{9D8B030D-6E8A-4147-A177-3AD203B41FA5}">
                      <a16:colId xmlns:a16="http://schemas.microsoft.com/office/drawing/2014/main" val="284421547"/>
                    </a:ext>
                  </a:extLst>
                </a:gridCol>
              </a:tblGrid>
              <a:tr h="9794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No. of nurse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(1)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Before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training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(2)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After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training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(3)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Difference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(4)=(3)-(2)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Rank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(5)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810947"/>
                  </a:ext>
                </a:extLst>
              </a:tr>
              <a:tr h="3333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211328"/>
                  </a:ext>
                </a:extLst>
              </a:tr>
              <a:tr h="3333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6.5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851248"/>
                  </a:ext>
                </a:extLst>
              </a:tr>
              <a:tr h="35401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4774033"/>
                  </a:ext>
                </a:extLst>
              </a:tr>
              <a:tr h="3333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997545"/>
                  </a:ext>
                </a:extLst>
              </a:tr>
              <a:tr h="3333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9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4148477"/>
                  </a:ext>
                </a:extLst>
              </a:tr>
              <a:tr h="33496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-3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483011"/>
                  </a:ext>
                </a:extLst>
              </a:tr>
              <a:tr h="3333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863516"/>
                  </a:ext>
                </a:extLst>
              </a:tr>
              <a:tr h="3333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11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4604701"/>
                  </a:ext>
                </a:extLst>
              </a:tr>
              <a:tr h="33496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-3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5903411"/>
                  </a:ext>
                </a:extLst>
              </a:tr>
              <a:tr h="3333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9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066706"/>
                  </a:ext>
                </a:extLst>
              </a:tr>
              <a:tr h="3333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6.5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7509782"/>
                  </a:ext>
                </a:extLst>
              </a:tr>
              <a:tr h="33496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291872"/>
                  </a:ext>
                </a:extLst>
              </a:tr>
              <a:tr h="3333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1932286"/>
                  </a:ext>
                </a:extLst>
              </a:tr>
              <a:tr h="6810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Positive sum=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Negative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Sum=6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620649"/>
                  </a:ext>
                </a:extLst>
              </a:tr>
            </a:tbl>
          </a:graphicData>
        </a:graphic>
      </p:graphicFrame>
      <p:sp>
        <p:nvSpPr>
          <p:cNvPr id="12583" name="Line 295">
            <a:extLst>
              <a:ext uri="{FF2B5EF4-FFF2-40B4-BE49-F238E27FC236}">
                <a16:creationId xmlns:a16="http://schemas.microsoft.com/office/drawing/2014/main" id="{4A631331-D775-432C-6759-B9F27A625A0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867400"/>
            <a:ext cx="8763000" cy="0"/>
          </a:xfrm>
          <a:prstGeom prst="line">
            <a:avLst/>
          </a:prstGeom>
          <a:noFill/>
          <a:ln w="9525">
            <a:solidFill>
              <a:srgbClr val="99FF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>
            <a:extLst>
              <a:ext uri="{FF2B5EF4-FFF2-40B4-BE49-F238E27FC236}">
                <a16:creationId xmlns:a16="http://schemas.microsoft.com/office/drawing/2014/main" id="{DBF13015-9D9F-B312-394F-BA4BC515E6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228600"/>
            <a:ext cx="9144000" cy="60960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FF0000"/>
                </a:solidFill>
                <a:ea typeface="Batang" pitchFamily="18" charset="-127"/>
              </a:rPr>
              <a:t>Steps: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chemeClr val="folHlink"/>
                </a:solidFill>
                <a:ea typeface="Batang" pitchFamily="18" charset="-127"/>
              </a:rPr>
              <a:t>(1)</a:t>
            </a:r>
            <a:r>
              <a:rPr lang="en-US" altLang="zh-CN" sz="2800" b="1">
                <a:solidFill>
                  <a:srgbClr val="99FF33"/>
                </a:solidFill>
                <a:ea typeface="Batang" pitchFamily="18" charset="-127"/>
              </a:rPr>
              <a:t> Hypotheses: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99FF33"/>
                </a:solidFill>
                <a:ea typeface="Batang" pitchFamily="18" charset="-127"/>
              </a:rPr>
              <a:t>  </a:t>
            </a:r>
            <a:r>
              <a:rPr lang="en-US" altLang="zh-CN" sz="2800" b="1" i="1">
                <a:solidFill>
                  <a:srgbClr val="99FF33"/>
                </a:solidFill>
                <a:ea typeface="Batang" pitchFamily="18" charset="-127"/>
              </a:rPr>
              <a:t>H</a:t>
            </a:r>
            <a:r>
              <a:rPr lang="en-US" altLang="zh-CN" sz="2800" b="1" baseline="-25000">
                <a:solidFill>
                  <a:srgbClr val="99FF33"/>
                </a:solidFill>
                <a:ea typeface="Batang" pitchFamily="18" charset="-127"/>
              </a:rPr>
              <a:t>0</a:t>
            </a:r>
            <a:r>
              <a:rPr lang="en-US" altLang="zh-CN" sz="2800" b="1">
                <a:solidFill>
                  <a:srgbClr val="99FF33"/>
                </a:solidFill>
                <a:ea typeface="Batang" pitchFamily="18" charset="-127"/>
              </a:rPr>
              <a:t>: The median of the difference is 0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99FF33"/>
                </a:solidFill>
                <a:ea typeface="Batang" pitchFamily="18" charset="-127"/>
              </a:rPr>
              <a:t>  </a:t>
            </a:r>
            <a:r>
              <a:rPr lang="en-US" altLang="zh-CN" sz="2800" b="1" i="1">
                <a:solidFill>
                  <a:srgbClr val="99FF33"/>
                </a:solidFill>
                <a:ea typeface="Batang" pitchFamily="18" charset="-127"/>
              </a:rPr>
              <a:t>H</a:t>
            </a:r>
            <a:r>
              <a:rPr lang="en-US" altLang="zh-CN" sz="2800" b="1" baseline="-25000">
                <a:solidFill>
                  <a:srgbClr val="99FF33"/>
                </a:solidFill>
                <a:ea typeface="Batang" pitchFamily="18" charset="-127"/>
              </a:rPr>
              <a:t>1</a:t>
            </a:r>
            <a:r>
              <a:rPr lang="en-US" altLang="zh-CN" sz="2800" b="1">
                <a:solidFill>
                  <a:srgbClr val="99FF33"/>
                </a:solidFill>
                <a:ea typeface="Batang" pitchFamily="18" charset="-127"/>
              </a:rPr>
              <a:t>: The median of the difference is not 0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99FF33"/>
                </a:solidFill>
                <a:ea typeface="Batang" pitchFamily="18" charset="-127"/>
              </a:rPr>
              <a:t>   </a:t>
            </a:r>
            <a:r>
              <a:rPr lang="en-US" altLang="zh-CN" sz="2800" b="1" i="1">
                <a:solidFill>
                  <a:srgbClr val="99FF33"/>
                </a:solidFill>
                <a:ea typeface="Batang" pitchFamily="18" charset="-127"/>
              </a:rPr>
              <a:t>α</a:t>
            </a:r>
            <a:r>
              <a:rPr lang="en-US" altLang="zh-CN" sz="2800" b="1">
                <a:solidFill>
                  <a:srgbClr val="99FF33"/>
                </a:solidFill>
                <a:ea typeface="Batang" pitchFamily="18" charset="-127"/>
              </a:rPr>
              <a:t>=0.05.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chemeClr val="folHlink"/>
                </a:solidFill>
                <a:ea typeface="Batang" pitchFamily="18" charset="-127"/>
              </a:rPr>
              <a:t>(2)</a:t>
            </a:r>
            <a:r>
              <a:rPr lang="en-US" altLang="zh-CN" sz="2800" b="1">
                <a:solidFill>
                  <a:srgbClr val="99FF33"/>
                </a:solidFill>
                <a:ea typeface="Batang" pitchFamily="18" charset="-127"/>
              </a:rPr>
              <a:t> Difference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chemeClr val="folHlink"/>
                </a:solidFill>
                <a:ea typeface="Batang" pitchFamily="18" charset="-127"/>
              </a:rPr>
              <a:t>(3)</a:t>
            </a:r>
            <a:r>
              <a:rPr lang="en-US" altLang="zh-CN" sz="2800" b="1">
                <a:solidFill>
                  <a:srgbClr val="99FF33"/>
                </a:solidFill>
                <a:ea typeface="Batang" pitchFamily="18" charset="-127"/>
              </a:rPr>
              <a:t> Ranking absolute differences (omit zero)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99FF33"/>
                </a:solidFill>
                <a:ea typeface="Batang" pitchFamily="18" charset="-127"/>
              </a:rPr>
              <a:t>     and give back the signs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chemeClr val="folHlink"/>
                </a:solidFill>
                <a:ea typeface="Batang" pitchFamily="18" charset="-127"/>
              </a:rPr>
              <a:t>(4)</a:t>
            </a:r>
            <a:r>
              <a:rPr lang="en-US" altLang="zh-CN" sz="2800" b="1">
                <a:solidFill>
                  <a:srgbClr val="99FF33"/>
                </a:solidFill>
                <a:ea typeface="Batang" pitchFamily="18" charset="-127"/>
              </a:rPr>
              <a:t> Rank sum and statistic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99FF33"/>
                </a:solidFill>
                <a:ea typeface="Batang" pitchFamily="18" charset="-127"/>
              </a:rPr>
              <a:t>      </a:t>
            </a:r>
            <a:r>
              <a:rPr lang="en-US" altLang="zh-CN" sz="2800" b="1" i="1">
                <a:solidFill>
                  <a:srgbClr val="99FF33"/>
                </a:solidFill>
                <a:ea typeface="Batang" pitchFamily="18" charset="-127"/>
              </a:rPr>
              <a:t>T</a:t>
            </a:r>
            <a:r>
              <a:rPr lang="en-US" altLang="zh-CN" sz="2800" b="1">
                <a:solidFill>
                  <a:srgbClr val="99FF33"/>
                </a:solidFill>
                <a:ea typeface="Batang" pitchFamily="18" charset="-127"/>
              </a:rPr>
              <a:t>=min(positive sum, negative sum)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chemeClr val="folHlink"/>
                </a:solidFill>
                <a:ea typeface="Batang" pitchFamily="18" charset="-127"/>
              </a:rPr>
              <a:t>(5) </a:t>
            </a:r>
            <a:r>
              <a:rPr lang="en-US" altLang="zh-CN" sz="2800" b="1" i="1">
                <a:solidFill>
                  <a:srgbClr val="99FF33"/>
                </a:solidFill>
                <a:ea typeface="Batang" pitchFamily="18" charset="-127"/>
              </a:rPr>
              <a:t>P</a:t>
            </a:r>
            <a:r>
              <a:rPr lang="en-US" altLang="zh-CN" sz="2800" b="1">
                <a:solidFill>
                  <a:srgbClr val="99FF33"/>
                </a:solidFill>
                <a:ea typeface="Batang" pitchFamily="18" charset="-127"/>
              </a:rPr>
              <a:t>-value and conclusion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i="1">
                <a:solidFill>
                  <a:srgbClr val="99FF33"/>
                </a:solidFill>
                <a:ea typeface="Batang" pitchFamily="18" charset="-127"/>
              </a:rPr>
              <a:t>   </a:t>
            </a:r>
            <a:r>
              <a:rPr lang="en-US" altLang="zh-CN" sz="2800" b="1">
                <a:solidFill>
                  <a:srgbClr val="99FF33"/>
                </a:solidFill>
                <a:ea typeface="Batang" pitchFamily="18" charset="-127"/>
              </a:rPr>
              <a:t>From Table 11-2,</a:t>
            </a:r>
            <a:r>
              <a:rPr lang="en-US" altLang="zh-CN" sz="2800" b="1" i="1">
                <a:solidFill>
                  <a:srgbClr val="99FF33"/>
                </a:solidFill>
                <a:ea typeface="Batang" pitchFamily="18" charset="-127"/>
              </a:rPr>
              <a:t> T</a:t>
            </a:r>
            <a:r>
              <a:rPr lang="en-US" altLang="zh-CN" sz="2800" b="1" baseline="-25000">
                <a:solidFill>
                  <a:srgbClr val="99FF33"/>
                </a:solidFill>
                <a:ea typeface="Batang" pitchFamily="18" charset="-127"/>
              </a:rPr>
              <a:t>0.05,11</a:t>
            </a:r>
            <a:r>
              <a:rPr lang="en-US" altLang="zh-CN" sz="2800" b="1">
                <a:solidFill>
                  <a:srgbClr val="99FF33"/>
                </a:solidFill>
                <a:ea typeface="Batang" pitchFamily="18" charset="-127"/>
              </a:rPr>
              <a:t>=10 &gt; T, </a:t>
            </a:r>
            <a:r>
              <a:rPr lang="en-US" altLang="zh-CN" sz="2800" b="1" i="1">
                <a:solidFill>
                  <a:srgbClr val="99FF33"/>
                </a:solidFill>
                <a:ea typeface="Batang" pitchFamily="18" charset="-127"/>
              </a:rPr>
              <a:t>P</a:t>
            </a:r>
            <a:r>
              <a:rPr lang="en-US" altLang="zh-CN" sz="2800" b="1">
                <a:solidFill>
                  <a:srgbClr val="99FF33"/>
                </a:solidFill>
                <a:ea typeface="Batang" pitchFamily="18" charset="-127"/>
              </a:rPr>
              <a:t>&lt;0.05, </a:t>
            </a:r>
            <a:r>
              <a:rPr lang="en-US" altLang="zh-CN" sz="2800" b="1" i="1">
                <a:solidFill>
                  <a:srgbClr val="99FF33"/>
                </a:solidFill>
                <a:ea typeface="Batang" pitchFamily="18" charset="-127"/>
              </a:rPr>
              <a:t>H</a:t>
            </a:r>
            <a:r>
              <a:rPr lang="en-US" altLang="zh-CN" sz="2800" b="1" baseline="-25000">
                <a:solidFill>
                  <a:srgbClr val="99FF33"/>
                </a:solidFill>
                <a:ea typeface="Batang" pitchFamily="18" charset="-127"/>
              </a:rPr>
              <a:t>0</a:t>
            </a:r>
            <a:r>
              <a:rPr lang="en-US" altLang="zh-CN" sz="2800" b="1">
                <a:solidFill>
                  <a:srgbClr val="99FF33"/>
                </a:solidFill>
                <a:ea typeface="Batang" pitchFamily="18" charset="-127"/>
              </a:rPr>
              <a:t> is rejected. Conclusion: The training is effective.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6AC4539-11DB-4D26-F0E2-04C833DD44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8305800" cy="1143000"/>
          </a:xfrm>
        </p:spPr>
        <p:txBody>
          <a:bodyPr/>
          <a:lstStyle/>
          <a:p>
            <a:pPr marL="838200" indent="-838200" algn="l"/>
            <a:r>
              <a:rPr kumimoji="0" lang="en-US" altLang="zh-CN" sz="3000" b="1">
                <a:solidFill>
                  <a:schemeClr val="folHlink"/>
                </a:solidFill>
              </a:rPr>
              <a:t>2.Wilcoxon’s rank sum test for two samples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79FD7AD9-9C8C-4CF0-7FDB-5645FF4FC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229600" cy="2971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 </a:t>
            </a:r>
            <a:r>
              <a:rPr lang="en-US" altLang="zh-CN" sz="3600" b="1"/>
              <a:t>Two independent samples;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/>
              <a:t>       it is not a normal distribution,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/>
              <a:t> or  it is not sure whether the variable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/>
              <a:t> follows a normal distribution or not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7" name="Rectangle 263">
            <a:extLst>
              <a:ext uri="{FF2B5EF4-FFF2-40B4-BE49-F238E27FC236}">
                <a16:creationId xmlns:a16="http://schemas.microsoft.com/office/drawing/2014/main" id="{4EEA4FF5-6554-99EF-FEEB-CC04EA3D88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305800" cy="838200"/>
          </a:xfrm>
        </p:spPr>
        <p:txBody>
          <a:bodyPr/>
          <a:lstStyle/>
          <a:p>
            <a:r>
              <a:rPr lang="en-US" altLang="zh-CN" sz="2800" b="1">
                <a:solidFill>
                  <a:schemeClr val="folHlink"/>
                </a:solidFill>
                <a:latin typeface="Times New Roman" panose="02020603050405020304" pitchFamily="18" charset="0"/>
                <a:ea typeface="Batang" pitchFamily="18" charset="-127"/>
              </a:rPr>
              <a:t>Example 11-2  Nicotine of two bands of cigarettes</a:t>
            </a:r>
          </a:p>
        </p:txBody>
      </p:sp>
      <p:graphicFrame>
        <p:nvGraphicFramePr>
          <p:cNvPr id="16742" name="Group 358">
            <a:extLst>
              <a:ext uri="{FF2B5EF4-FFF2-40B4-BE49-F238E27FC236}">
                <a16:creationId xmlns:a16="http://schemas.microsoft.com/office/drawing/2014/main" id="{B55EB977-0D03-3EDC-84CC-1BB7FCA39DD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06388" y="838200"/>
          <a:ext cx="8075612" cy="5740400"/>
        </p:xfrm>
        <a:graphic>
          <a:graphicData uri="http://schemas.openxmlformats.org/drawingml/2006/table">
            <a:tbl>
              <a:tblPr/>
              <a:tblGrid>
                <a:gridCol w="2017712">
                  <a:extLst>
                    <a:ext uri="{9D8B030D-6E8A-4147-A177-3AD203B41FA5}">
                      <a16:colId xmlns:a16="http://schemas.microsoft.com/office/drawing/2014/main" val="345085534"/>
                    </a:ext>
                  </a:extLst>
                </a:gridCol>
                <a:gridCol w="2017713">
                  <a:extLst>
                    <a:ext uri="{9D8B030D-6E8A-4147-A177-3AD203B41FA5}">
                      <a16:colId xmlns:a16="http://schemas.microsoft.com/office/drawing/2014/main" val="2732937475"/>
                    </a:ext>
                  </a:extLst>
                </a:gridCol>
                <a:gridCol w="2020887">
                  <a:extLst>
                    <a:ext uri="{9D8B030D-6E8A-4147-A177-3AD203B41FA5}">
                      <a16:colId xmlns:a16="http://schemas.microsoft.com/office/drawing/2014/main" val="3279895945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1871609051"/>
                    </a:ext>
                  </a:extLst>
                </a:gridCol>
              </a:tblGrid>
              <a:tr h="5016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Cigarette A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(1)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Rank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(2)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Cigarette B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(3)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Rank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(4)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7389596"/>
                  </a:ext>
                </a:extLst>
              </a:tr>
              <a:tr h="5032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28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9.5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283890"/>
                  </a:ext>
                </a:extLst>
              </a:tr>
              <a:tr h="5016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28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9.5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8239855"/>
                  </a:ext>
                </a:extLst>
              </a:tr>
              <a:tr h="5032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23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129909"/>
                  </a:ext>
                </a:extLst>
              </a:tr>
              <a:tr h="5016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26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448764"/>
                  </a:ext>
                </a:extLst>
              </a:tr>
              <a:tr h="5032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29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368333"/>
                  </a:ext>
                </a:extLst>
              </a:tr>
              <a:tr h="5016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22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27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13402"/>
                  </a:ext>
                </a:extLst>
              </a:tr>
              <a:tr h="703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0485"/>
                  </a:ext>
                </a:extLst>
              </a:tr>
              <a:tr h="703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767373"/>
                  </a:ext>
                </a:extLst>
              </a:tr>
              <a:tr h="5016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1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=6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1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=40.5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1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=8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1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=64.5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586036"/>
                  </a:ext>
                </a:extLst>
              </a:tr>
            </a:tbl>
          </a:graphicData>
        </a:graphic>
      </p:graphicFrame>
      <p:sp>
        <p:nvSpPr>
          <p:cNvPr id="16745" name="Line 361">
            <a:extLst>
              <a:ext uri="{FF2B5EF4-FFF2-40B4-BE49-F238E27FC236}">
                <a16:creationId xmlns:a16="http://schemas.microsoft.com/office/drawing/2014/main" id="{A066408A-C465-D5D1-7380-DE7F80C0F5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59436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>
            <a:extLst>
              <a:ext uri="{FF2B5EF4-FFF2-40B4-BE49-F238E27FC236}">
                <a16:creationId xmlns:a16="http://schemas.microsoft.com/office/drawing/2014/main" id="{7F8562D6-D787-92B7-7EA1-04B2932F67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folHlink"/>
                </a:solidFill>
                <a:ea typeface="Batang" pitchFamily="18" charset="-127"/>
              </a:rPr>
              <a:t>(1)Hypotheses: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99FF33"/>
                </a:solidFill>
                <a:ea typeface="Batang" pitchFamily="18" charset="-127"/>
              </a:rPr>
              <a:t>  </a:t>
            </a:r>
            <a:r>
              <a:rPr lang="en-US" altLang="zh-CN" b="1" i="1">
                <a:solidFill>
                  <a:srgbClr val="99FF33"/>
                </a:solidFill>
                <a:ea typeface="Batang" pitchFamily="18" charset="-127"/>
              </a:rPr>
              <a:t>H</a:t>
            </a:r>
            <a:r>
              <a:rPr lang="en-US" altLang="zh-CN" b="1" baseline="-25000">
                <a:solidFill>
                  <a:srgbClr val="99FF33"/>
                </a:solidFill>
                <a:ea typeface="Batang" pitchFamily="18" charset="-127"/>
              </a:rPr>
              <a:t>0</a:t>
            </a:r>
            <a:r>
              <a:rPr lang="en-US" altLang="zh-CN" b="1">
                <a:solidFill>
                  <a:srgbClr val="99FF33"/>
                </a:solidFill>
                <a:ea typeface="Batang" pitchFamily="18" charset="-127"/>
              </a:rPr>
              <a:t>: The distributions of two populations are same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99FF33"/>
                </a:solidFill>
                <a:ea typeface="Batang" pitchFamily="18" charset="-127"/>
              </a:rPr>
              <a:t>  </a:t>
            </a:r>
            <a:r>
              <a:rPr lang="en-US" altLang="zh-CN" b="1" i="1">
                <a:solidFill>
                  <a:srgbClr val="99FF33"/>
                </a:solidFill>
                <a:ea typeface="Batang" pitchFamily="18" charset="-127"/>
              </a:rPr>
              <a:t>H</a:t>
            </a:r>
            <a:r>
              <a:rPr lang="en-US" altLang="zh-CN" b="1" baseline="-25000">
                <a:solidFill>
                  <a:srgbClr val="99FF33"/>
                </a:solidFill>
                <a:ea typeface="Batang" pitchFamily="18" charset="-127"/>
              </a:rPr>
              <a:t>1</a:t>
            </a:r>
            <a:r>
              <a:rPr lang="en-US" altLang="zh-CN" b="1">
                <a:solidFill>
                  <a:srgbClr val="99FF33"/>
                </a:solidFill>
                <a:ea typeface="Batang" pitchFamily="18" charset="-127"/>
              </a:rPr>
              <a:t>: The two distributions are not same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99FF33"/>
                </a:solidFill>
                <a:ea typeface="Batang" pitchFamily="18" charset="-127"/>
              </a:rPr>
              <a:t>     α=0.05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folHlink"/>
                </a:solidFill>
                <a:ea typeface="Batang" pitchFamily="18" charset="-127"/>
              </a:rPr>
              <a:t>(2) Ranking all the observations in two samples.</a:t>
            </a:r>
            <a:r>
              <a:rPr lang="en-US" altLang="zh-CN" b="1">
                <a:solidFill>
                  <a:srgbClr val="99FF33"/>
                </a:solidFill>
                <a:ea typeface="Batang" pitchFamily="18" charset="-127"/>
              </a:rPr>
              <a:t> 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99FF33"/>
                </a:solidFill>
                <a:ea typeface="Batang" pitchFamily="18" charset="-127"/>
              </a:rPr>
              <a:t>     If same values appear in two samples(tie), give a mean rank.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99FF33"/>
                </a:solidFill>
                <a:ea typeface="Batang" pitchFamily="18" charset="-127"/>
              </a:rPr>
              <a:t>      “28” in both sample, and the ranks should be 9 and 10, so that     (9+10)/2= 9.5 for each.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folHlink"/>
                </a:solidFill>
                <a:ea typeface="Batang" pitchFamily="18" charset="-127"/>
              </a:rPr>
              <a:t>(3) Rank sum for smaller sample,          T=T</a:t>
            </a:r>
            <a:r>
              <a:rPr lang="en-US" altLang="zh-CN" b="1" baseline="-25000">
                <a:solidFill>
                  <a:schemeClr val="folHlink"/>
                </a:solidFill>
                <a:ea typeface="Batang" pitchFamily="18" charset="-127"/>
              </a:rPr>
              <a:t>1</a:t>
            </a:r>
            <a:r>
              <a:rPr lang="en-US" altLang="zh-CN" b="1">
                <a:solidFill>
                  <a:schemeClr val="folHlink"/>
                </a:solidFill>
                <a:ea typeface="Batang" pitchFamily="18" charset="-127"/>
              </a:rPr>
              <a:t>= 40.5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folHlink"/>
                </a:solidFill>
                <a:ea typeface="Batang" pitchFamily="18" charset="-127"/>
              </a:rPr>
              <a:t>(4) </a:t>
            </a:r>
            <a:r>
              <a:rPr lang="en-US" altLang="zh-CN" b="1" i="1">
                <a:solidFill>
                  <a:schemeClr val="folHlink"/>
                </a:solidFill>
                <a:ea typeface="Batang" pitchFamily="18" charset="-127"/>
              </a:rPr>
              <a:t>P</a:t>
            </a:r>
            <a:r>
              <a:rPr lang="en-US" altLang="zh-CN" b="1">
                <a:solidFill>
                  <a:schemeClr val="folHlink"/>
                </a:solidFill>
                <a:ea typeface="Batang" pitchFamily="18" charset="-127"/>
              </a:rPr>
              <a:t>-value and conclusion (Table 11-4) 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folHlink"/>
                </a:solidFill>
                <a:ea typeface="Batang" pitchFamily="18" charset="-127"/>
              </a:rPr>
              <a:t>     T</a:t>
            </a:r>
            <a:r>
              <a:rPr lang="en-US" altLang="zh-CN" b="1" baseline="-25000">
                <a:solidFill>
                  <a:schemeClr val="folHlink"/>
                </a:solidFill>
                <a:ea typeface="Batang" pitchFamily="18" charset="-127"/>
              </a:rPr>
              <a:t>0.05,6,2</a:t>
            </a:r>
            <a:r>
              <a:rPr lang="en-US" altLang="zh-CN" b="1">
                <a:solidFill>
                  <a:schemeClr val="folHlink"/>
                </a:solidFill>
                <a:ea typeface="Batang" pitchFamily="18" charset="-127"/>
              </a:rPr>
              <a:t>=29~61, T is inside the range, </a:t>
            </a:r>
            <a:r>
              <a:rPr lang="en-US" altLang="zh-CN" b="1" i="1">
                <a:solidFill>
                  <a:schemeClr val="folHlink"/>
                </a:solidFill>
                <a:ea typeface="Batang" pitchFamily="18" charset="-127"/>
              </a:rPr>
              <a:t>P</a:t>
            </a:r>
            <a:r>
              <a:rPr lang="en-US" altLang="zh-CN" b="1">
                <a:solidFill>
                  <a:schemeClr val="folHlink"/>
                </a:solidFill>
                <a:ea typeface="Batang" pitchFamily="18" charset="-127"/>
              </a:rPr>
              <a:t>&gt;0.05. </a:t>
            </a: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folHlink"/>
                </a:solidFill>
                <a:ea typeface="Batang" pitchFamily="18" charset="-127"/>
              </a:rPr>
              <a:t>     No significant difference between two brands.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341D3BF4-CD14-1070-78C1-E55872D4A8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620713"/>
            <a:ext cx="8229600" cy="1139825"/>
          </a:xfrm>
        </p:spPr>
        <p:txBody>
          <a:bodyPr/>
          <a:lstStyle/>
          <a:p>
            <a:r>
              <a:rPr kumimoji="0" lang="en-US" altLang="zh-CN" sz="3200" b="1">
                <a:solidFill>
                  <a:schemeClr val="folHlink"/>
                </a:solidFill>
              </a:rPr>
              <a:t>3. Kruskal-Wallis’ H test </a:t>
            </a:r>
            <a:br>
              <a:rPr kumimoji="0" lang="en-US" altLang="zh-CN" sz="3200" b="1">
                <a:solidFill>
                  <a:schemeClr val="folHlink"/>
                </a:solidFill>
              </a:rPr>
            </a:br>
            <a:r>
              <a:rPr kumimoji="0" lang="en-US" altLang="zh-CN" sz="3200" b="1">
                <a:solidFill>
                  <a:schemeClr val="folHlink"/>
                </a:solidFill>
              </a:rPr>
              <a:t>for  comparing more than 2 samples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F792D2B5-28A9-3103-0068-D87C29D8BB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2209800"/>
            <a:ext cx="8991600" cy="3925888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folHlink"/>
                </a:solidFill>
                <a:ea typeface="Batang" pitchFamily="18" charset="-127"/>
              </a:rPr>
              <a:t>                     (1) For raw data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folHlink"/>
                </a:solidFill>
                <a:ea typeface="Batang" pitchFamily="18" charset="-127"/>
              </a:rPr>
              <a:t>                     (2) For contingency table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folHlink"/>
                </a:solidFill>
                <a:ea typeface="Batang" pitchFamily="18" charset="-127"/>
              </a:rPr>
              <a:t>                           with ordinal categories</a:t>
            </a:r>
            <a:endParaRPr lang="en-US" altLang="zh-CN" b="1">
              <a:solidFill>
                <a:srgbClr val="99FF33"/>
              </a:solidFill>
              <a:ea typeface="Batang" pitchFamily="18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3" name="Rectangle 319">
            <a:extLst>
              <a:ext uri="{FF2B5EF4-FFF2-40B4-BE49-F238E27FC236}">
                <a16:creationId xmlns:a16="http://schemas.microsoft.com/office/drawing/2014/main" id="{743E9AC6-7AF4-AE99-8AC0-4AFC2FEE2A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1066800"/>
          </a:xfrm>
        </p:spPr>
        <p:txBody>
          <a:bodyPr/>
          <a:lstStyle/>
          <a:p>
            <a:pPr marL="838200" indent="-838200" algn="l">
              <a:buFontTx/>
              <a:buAutoNum type="arabicParenBoth"/>
            </a:pPr>
            <a:r>
              <a:rPr lang="en-US" altLang="zh-CN" sz="3200" b="1">
                <a:solidFill>
                  <a:schemeClr val="folHlink"/>
                </a:solidFill>
                <a:latin typeface="Times New Roman" panose="02020603050405020304" pitchFamily="18" charset="0"/>
                <a:ea typeface="Batang" pitchFamily="18" charset="-127"/>
              </a:rPr>
              <a:t>For raw data</a:t>
            </a:r>
            <a:b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  <a:ea typeface="Batang" pitchFamily="18" charset="-127"/>
              </a:rPr>
            </a:br>
            <a:r>
              <a:rPr lang="en-US" altLang="zh-CN" sz="2800" b="1">
                <a:solidFill>
                  <a:schemeClr val="folHlink"/>
                </a:solidFill>
                <a:effectLst/>
                <a:latin typeface="Batang" pitchFamily="18" charset="-127"/>
                <a:ea typeface="Batang" pitchFamily="18" charset="-127"/>
              </a:rPr>
              <a:t>Example 11-3   Survival months of liver cancer </a:t>
            </a:r>
            <a:br>
              <a:rPr lang="en-US" altLang="zh-CN" sz="2800" b="1">
                <a:solidFill>
                  <a:schemeClr val="folHlink"/>
                </a:solidFill>
                <a:effectLst/>
                <a:latin typeface="Batang" pitchFamily="18" charset="-127"/>
                <a:ea typeface="Batang" pitchFamily="18" charset="-127"/>
              </a:rPr>
            </a:br>
            <a:r>
              <a:rPr lang="en-US" altLang="zh-CN" sz="2800" b="1">
                <a:solidFill>
                  <a:schemeClr val="folHlink"/>
                </a:solidFill>
                <a:effectLst/>
                <a:latin typeface="Batang" pitchFamily="18" charset="-127"/>
                <a:ea typeface="Batang" pitchFamily="18" charset="-127"/>
              </a:rPr>
              <a:t>       patients treated by 3 operation programs</a:t>
            </a:r>
          </a:p>
        </p:txBody>
      </p:sp>
      <p:graphicFrame>
        <p:nvGraphicFramePr>
          <p:cNvPr id="21943" name="Group 439">
            <a:extLst>
              <a:ext uri="{FF2B5EF4-FFF2-40B4-BE49-F238E27FC236}">
                <a16:creationId xmlns:a16="http://schemas.microsoft.com/office/drawing/2014/main" id="{43B56907-19FD-CC4C-8036-80DFE49161F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0" y="1676400"/>
          <a:ext cx="9144000" cy="48006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10577092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19249839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03321552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25668132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26094681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390629713"/>
                    </a:ext>
                  </a:extLst>
                </a:gridCol>
              </a:tblGrid>
              <a:tr h="498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(1)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Rank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(2)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(3)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Rank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(4)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(5)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Rank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(6)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936571"/>
                  </a:ext>
                </a:extLst>
              </a:tr>
              <a:tr h="4968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7438417"/>
                  </a:ext>
                </a:extLst>
              </a:tr>
              <a:tr h="498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2.5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8928827"/>
                  </a:ext>
                </a:extLst>
              </a:tr>
              <a:tr h="498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7.5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736813"/>
                  </a:ext>
                </a:extLst>
              </a:tr>
              <a:tr h="498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7.5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462590"/>
                  </a:ext>
                </a:extLst>
              </a:tr>
              <a:tr h="4968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2.5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273378"/>
                  </a:ext>
                </a:extLst>
              </a:tr>
              <a:tr h="7381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kumimoji="1" lang="en-US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34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26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665361"/>
                  </a:ext>
                </a:extLst>
              </a:tr>
              <a:tr h="53022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1" lang="en-US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86363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>
            <a:extLst>
              <a:ext uri="{FF2B5EF4-FFF2-40B4-BE49-F238E27FC236}">
                <a16:creationId xmlns:a16="http://schemas.microsoft.com/office/drawing/2014/main" id="{84F20993-A208-280D-597F-B8B11774B7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609600" indent="-609600">
              <a:buFont typeface="Wingdings" panose="05000000000000000000" pitchFamily="2" charset="2"/>
              <a:buNone/>
            </a:pPr>
            <a:endParaRPr lang="en-US" altLang="zh-CN" sz="2800" b="1">
              <a:solidFill>
                <a:schemeClr val="folHlink"/>
              </a:solidFill>
              <a:ea typeface="Batang" pitchFamily="18" charset="-127"/>
            </a:endParaRP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folHlink"/>
                </a:solidFill>
                <a:ea typeface="Batang" pitchFamily="18" charset="-127"/>
              </a:rPr>
              <a:t>(1)Hypothesis</a:t>
            </a:r>
            <a:r>
              <a:rPr lang="en-US" altLang="zh-CN" b="1">
                <a:ea typeface="Batang" pitchFamily="18" charset="-127"/>
              </a:rPr>
              <a:t>:   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hlink"/>
                </a:solidFill>
                <a:ea typeface="Batang" pitchFamily="18" charset="-127"/>
              </a:rPr>
              <a:t> </a:t>
            </a:r>
            <a:r>
              <a:rPr lang="en-US" altLang="zh-CN" b="1" i="1">
                <a:solidFill>
                  <a:srgbClr val="99FF33"/>
                </a:solidFill>
                <a:ea typeface="Batang" pitchFamily="18" charset="-127"/>
              </a:rPr>
              <a:t>H</a:t>
            </a:r>
            <a:r>
              <a:rPr lang="en-US" altLang="zh-CN" b="1" baseline="-25000">
                <a:solidFill>
                  <a:srgbClr val="99FF33"/>
                </a:solidFill>
                <a:ea typeface="Batang" pitchFamily="18" charset="-127"/>
              </a:rPr>
              <a:t>0</a:t>
            </a:r>
            <a:r>
              <a:rPr lang="en-US" altLang="zh-CN" b="1">
                <a:solidFill>
                  <a:srgbClr val="99FF33"/>
                </a:solidFill>
                <a:ea typeface="Batang" pitchFamily="18" charset="-127"/>
              </a:rPr>
              <a:t>: The distributions of three populations are all same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 i="1">
                <a:solidFill>
                  <a:srgbClr val="99FF33"/>
                </a:solidFill>
                <a:ea typeface="Batang" pitchFamily="18" charset="-127"/>
              </a:rPr>
              <a:t> H</a:t>
            </a:r>
            <a:r>
              <a:rPr lang="en-US" altLang="zh-CN" b="1" baseline="-25000">
                <a:solidFill>
                  <a:srgbClr val="99FF33"/>
                </a:solidFill>
                <a:ea typeface="Batang" pitchFamily="18" charset="-127"/>
              </a:rPr>
              <a:t>1</a:t>
            </a:r>
            <a:r>
              <a:rPr lang="en-US" altLang="zh-CN" b="1">
                <a:solidFill>
                  <a:srgbClr val="99FF33"/>
                </a:solidFill>
                <a:ea typeface="Batang" pitchFamily="18" charset="-127"/>
              </a:rPr>
              <a:t>: The distributions of three populations are not all same</a:t>
            </a:r>
          </a:p>
          <a:p>
            <a:pPr marL="609600" indent="-609600">
              <a:buFont typeface="Wingdings" panose="05000000000000000000" pitchFamily="2" charset="2"/>
              <a:buNone/>
            </a:pPr>
            <a:endParaRPr lang="en-US" altLang="zh-CN" b="1">
              <a:solidFill>
                <a:schemeClr val="folHlink"/>
              </a:solidFill>
              <a:ea typeface="Batang" pitchFamily="18" charset="-127"/>
            </a:endParaRP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folHlink"/>
                </a:solidFill>
                <a:ea typeface="Batang" pitchFamily="18" charset="-127"/>
              </a:rPr>
              <a:t>(2) Ranking all the observations in three samples 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folHlink"/>
                </a:solidFill>
                <a:ea typeface="Batang" pitchFamily="18" charset="-127"/>
              </a:rPr>
              <a:t>    (Same way for ties)</a:t>
            </a:r>
          </a:p>
          <a:p>
            <a:pPr marL="609600" indent="-609600">
              <a:buFont typeface="Wingdings" panose="05000000000000000000" pitchFamily="2" charset="2"/>
              <a:buNone/>
            </a:pPr>
            <a:endParaRPr lang="en-US" altLang="zh-CN" b="1">
              <a:solidFill>
                <a:schemeClr val="folHlink"/>
              </a:solidFill>
              <a:ea typeface="Batang" pitchFamily="18" charset="-127"/>
            </a:endParaRP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folHlink"/>
                </a:solidFill>
                <a:ea typeface="Batang" pitchFamily="18" charset="-127"/>
              </a:rPr>
              <a:t>(3) Rank sums for each sample 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 i="1">
                <a:solidFill>
                  <a:schemeClr val="folHlink"/>
                </a:solidFill>
                <a:ea typeface="Batang" pitchFamily="18" charset="-127"/>
              </a:rPr>
              <a:t>    R</a:t>
            </a:r>
            <a:r>
              <a:rPr lang="en-US" altLang="zh-CN" b="1" baseline="-25000">
                <a:solidFill>
                  <a:schemeClr val="folHlink"/>
                </a:solidFill>
                <a:ea typeface="Batang" pitchFamily="18" charset="-127"/>
              </a:rPr>
              <a:t>1</a:t>
            </a:r>
            <a:r>
              <a:rPr lang="en-US" altLang="zh-CN" b="1">
                <a:solidFill>
                  <a:schemeClr val="folHlink"/>
                </a:solidFill>
                <a:ea typeface="Batang" pitchFamily="18" charset="-127"/>
              </a:rPr>
              <a:t>=34,         </a:t>
            </a:r>
            <a:r>
              <a:rPr lang="en-US" altLang="zh-CN" b="1" i="1">
                <a:solidFill>
                  <a:schemeClr val="folHlink"/>
                </a:solidFill>
                <a:ea typeface="Batang" pitchFamily="18" charset="-127"/>
              </a:rPr>
              <a:t>R</a:t>
            </a:r>
            <a:r>
              <a:rPr lang="en-US" altLang="zh-CN" b="1" baseline="-25000">
                <a:solidFill>
                  <a:schemeClr val="folHlink"/>
                </a:solidFill>
                <a:ea typeface="Batang" pitchFamily="18" charset="-127"/>
              </a:rPr>
              <a:t>2</a:t>
            </a:r>
            <a:r>
              <a:rPr lang="en-US" altLang="zh-CN" b="1">
                <a:solidFill>
                  <a:schemeClr val="folHlink"/>
                </a:solidFill>
                <a:ea typeface="Batang" pitchFamily="18" charset="-127"/>
              </a:rPr>
              <a:t>=60,        </a:t>
            </a:r>
            <a:r>
              <a:rPr lang="en-US" altLang="zh-CN" b="1" i="1">
                <a:solidFill>
                  <a:schemeClr val="folHlink"/>
                </a:solidFill>
                <a:ea typeface="Batang" pitchFamily="18" charset="-127"/>
              </a:rPr>
              <a:t>R</a:t>
            </a:r>
            <a:r>
              <a:rPr lang="en-US" altLang="zh-CN" b="1" baseline="-25000">
                <a:solidFill>
                  <a:schemeClr val="folHlink"/>
                </a:solidFill>
                <a:ea typeface="Batang" pitchFamily="18" charset="-127"/>
              </a:rPr>
              <a:t>3</a:t>
            </a:r>
            <a:r>
              <a:rPr lang="en-US" altLang="zh-CN" b="1">
                <a:solidFill>
                  <a:schemeClr val="folHlink"/>
                </a:solidFill>
                <a:ea typeface="Batang" pitchFamily="18" charset="-127"/>
              </a:rPr>
              <a:t>=26</a:t>
            </a:r>
            <a:endParaRPr lang="en-US" altLang="zh-CN" b="1" baseline="-25000">
              <a:solidFill>
                <a:schemeClr val="folHlink"/>
              </a:solidFill>
              <a:ea typeface="Batang" pitchFamily="18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>
            <a:extLst>
              <a:ext uri="{FF2B5EF4-FFF2-40B4-BE49-F238E27FC236}">
                <a16:creationId xmlns:a16="http://schemas.microsoft.com/office/drawing/2014/main" id="{6234AA5F-B42C-81D0-A468-A3F592A1F4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333375"/>
            <a:ext cx="8229600" cy="57975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folHlink"/>
                </a:solidFill>
                <a:ea typeface="Batang" pitchFamily="18" charset="-127"/>
              </a:rPr>
              <a:t>(4) Statistic </a:t>
            </a:r>
            <a:r>
              <a:rPr lang="en-US" altLang="zh-CN" b="1" i="1">
                <a:solidFill>
                  <a:schemeClr val="folHlink"/>
                </a:solidFill>
                <a:ea typeface="Batang" pitchFamily="18" charset="-127"/>
              </a:rPr>
              <a:t>H 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i="1" u="sng">
                <a:solidFill>
                  <a:schemeClr val="folHlink"/>
                </a:solidFill>
                <a:ea typeface="Batang" pitchFamily="18" charset="-127"/>
              </a:rPr>
              <a:t>If there is no tie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b="1">
              <a:solidFill>
                <a:schemeClr val="folHlink"/>
              </a:solidFill>
              <a:ea typeface="Batang" pitchFamily="18" charset="-127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i="1" u="sng">
                <a:solidFill>
                  <a:schemeClr val="folHlink"/>
                </a:solidFill>
                <a:ea typeface="Batang" pitchFamily="18" charset="-127"/>
              </a:rPr>
              <a:t>If there are ties</a:t>
            </a:r>
            <a:r>
              <a:rPr lang="en-US" altLang="zh-CN" b="1" i="1">
                <a:solidFill>
                  <a:schemeClr val="folHlink"/>
                </a:solidFill>
                <a:ea typeface="Batang" pitchFamily="18" charset="-127"/>
              </a:rPr>
              <a:t>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i="1">
                <a:solidFill>
                  <a:schemeClr val="folHlink"/>
                </a:solidFill>
                <a:ea typeface="Batang" pitchFamily="18" charset="-127"/>
              </a:rPr>
              <a:t>t</a:t>
            </a:r>
            <a:r>
              <a:rPr lang="en-US" altLang="zh-CN" b="1" i="1" baseline="-25000">
                <a:solidFill>
                  <a:schemeClr val="folHlink"/>
                </a:solidFill>
                <a:ea typeface="Batang" pitchFamily="18" charset="-127"/>
              </a:rPr>
              <a:t>j </a:t>
            </a:r>
            <a:r>
              <a:rPr lang="en-US" altLang="zh-CN" b="1">
                <a:solidFill>
                  <a:schemeClr val="folHlink"/>
                </a:solidFill>
                <a:ea typeface="Batang" pitchFamily="18" charset="-127"/>
              </a:rPr>
              <a:t>: Number of individuals in </a:t>
            </a:r>
            <a:r>
              <a:rPr lang="en-US" altLang="zh-CN" b="1" i="1">
                <a:solidFill>
                  <a:schemeClr val="folHlink"/>
                </a:solidFill>
                <a:ea typeface="Batang" pitchFamily="18" charset="-127"/>
              </a:rPr>
              <a:t>j</a:t>
            </a:r>
            <a:r>
              <a:rPr lang="en-US" altLang="zh-CN" b="1">
                <a:solidFill>
                  <a:schemeClr val="folHlink"/>
                </a:solidFill>
                <a:ea typeface="Batang" pitchFamily="18" charset="-127"/>
              </a:rPr>
              <a:t>-</a:t>
            </a:r>
            <a:r>
              <a:rPr lang="en-US" altLang="zh-CN" b="1" i="1">
                <a:solidFill>
                  <a:schemeClr val="folHlink"/>
                </a:solidFill>
                <a:ea typeface="Batang" pitchFamily="18" charset="-127"/>
              </a:rPr>
              <a:t>th</a:t>
            </a:r>
            <a:r>
              <a:rPr lang="en-US" altLang="zh-CN" b="1">
                <a:solidFill>
                  <a:schemeClr val="folHlink"/>
                </a:solidFill>
                <a:ea typeface="Batang" pitchFamily="18" charset="-127"/>
              </a:rPr>
              <a:t> tie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b="1">
              <a:solidFill>
                <a:schemeClr val="folHlink"/>
              </a:solidFill>
              <a:ea typeface="Batang" pitchFamily="18" charset="-127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folHlink"/>
                </a:solidFill>
                <a:ea typeface="Batang" pitchFamily="18" charset="-127"/>
              </a:rPr>
              <a:t>Example 11-3: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b="1">
              <a:solidFill>
                <a:schemeClr val="folHlink"/>
              </a:solidFill>
              <a:ea typeface="Batang" pitchFamily="18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b="1">
              <a:solidFill>
                <a:schemeClr val="folHlink"/>
              </a:solidFill>
              <a:ea typeface="Batang" pitchFamily="18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b="1">
              <a:solidFill>
                <a:schemeClr val="folHlink"/>
              </a:solidFill>
              <a:ea typeface="Batang" pitchFamily="18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b="1">
              <a:solidFill>
                <a:srgbClr val="99FF33"/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E578FF3F-9E5E-D5C8-4EB3-AF952D03E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8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5606" name="Object 6">
            <a:extLst>
              <a:ext uri="{FF2B5EF4-FFF2-40B4-BE49-F238E27FC236}">
                <a16:creationId xmlns:a16="http://schemas.microsoft.com/office/drawing/2014/main" id="{F6321DE6-D744-D60C-4D52-EEB8136DD6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838200"/>
          <a:ext cx="3657600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17360" imgH="469800" progId="Equation.3">
                  <p:embed/>
                </p:oleObj>
              </mc:Choice>
              <mc:Fallback>
                <p:oleObj name="Equation" r:id="rId2" imgW="1917360" imgH="469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838200"/>
                        <a:ext cx="3657600" cy="89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7">
            <a:extLst>
              <a:ext uri="{FF2B5EF4-FFF2-40B4-BE49-F238E27FC236}">
                <a16:creationId xmlns:a16="http://schemas.microsoft.com/office/drawing/2014/main" id="{11470479-221D-5B40-5397-C9D073CB5C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3200400"/>
          <a:ext cx="21336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3000" imgH="431640" progId="Equation.3">
                  <p:embed/>
                </p:oleObj>
              </mc:Choice>
              <mc:Fallback>
                <p:oleObj name="Equation" r:id="rId4" imgW="1143000" imgH="431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200400"/>
                        <a:ext cx="213360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>
            <a:extLst>
              <a:ext uri="{FF2B5EF4-FFF2-40B4-BE49-F238E27FC236}">
                <a16:creationId xmlns:a16="http://schemas.microsoft.com/office/drawing/2014/main" id="{4A2CAEB4-3CAA-A5A7-C05D-A91D67D5B7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3200400"/>
          <a:ext cx="1143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1320" imgH="393480" progId="Equation.3">
                  <p:embed/>
                </p:oleObj>
              </mc:Choice>
              <mc:Fallback>
                <p:oleObj name="Equation" r:id="rId6" imgW="571320" imgH="393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3200400"/>
                        <a:ext cx="11430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>
            <a:extLst>
              <a:ext uri="{FF2B5EF4-FFF2-40B4-BE49-F238E27FC236}">
                <a16:creationId xmlns:a16="http://schemas.microsoft.com/office/drawing/2014/main" id="{F6BB2673-85E0-8063-0527-71B7FCF72D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4419600"/>
          <a:ext cx="647700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24080" imgH="482400" progId="Equation.3">
                  <p:embed/>
                </p:oleObj>
              </mc:Choice>
              <mc:Fallback>
                <p:oleObj name="Equation" r:id="rId8" imgW="3124080" imgH="482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419600"/>
                        <a:ext cx="6477000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>
            <a:extLst>
              <a:ext uri="{FF2B5EF4-FFF2-40B4-BE49-F238E27FC236}">
                <a16:creationId xmlns:a16="http://schemas.microsoft.com/office/drawing/2014/main" id="{28842F5E-564C-C94D-DC9C-C48D28B8ED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5715000"/>
          <a:ext cx="49530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92080" imgH="419040" progId="Equation.3">
                  <p:embed/>
                </p:oleObj>
              </mc:Choice>
              <mc:Fallback>
                <p:oleObj name="Equation" r:id="rId10" imgW="2692080" imgH="419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715000"/>
                        <a:ext cx="4953000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1" name="Object 11">
            <a:extLst>
              <a:ext uri="{FF2B5EF4-FFF2-40B4-BE49-F238E27FC236}">
                <a16:creationId xmlns:a16="http://schemas.microsoft.com/office/drawing/2014/main" id="{2FE32F85-FC8B-2BAF-54C3-556CAD9F8E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8400" y="5638800"/>
          <a:ext cx="25908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57120" imgH="393480" progId="Equation.3">
                  <p:embed/>
                </p:oleObj>
              </mc:Choice>
              <mc:Fallback>
                <p:oleObj name="Equation" r:id="rId12" imgW="1257120" imgH="3934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5638800"/>
                        <a:ext cx="259080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>
            <a:extLst>
              <a:ext uri="{FF2B5EF4-FFF2-40B4-BE49-F238E27FC236}">
                <a16:creationId xmlns:a16="http://schemas.microsoft.com/office/drawing/2014/main" id="{D3111CE7-F87D-7C7E-9566-D572E0B439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3600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  </a:t>
            </a:r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28FC7707-CABC-D3C5-41D2-DFA36362F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28600"/>
            <a:ext cx="8915400" cy="438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en-US" altLang="zh-CN" sz="32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Batang" pitchFamily="18" charset="-127"/>
              </a:rPr>
              <a:t>(5) P-value and conclusion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en-US" altLang="zh-CN" sz="32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Batang" pitchFamily="18" charset="-127"/>
              </a:rPr>
              <a:t> –-    Compare with critical value of </a:t>
            </a:r>
            <a:r>
              <a:rPr kumimoji="0" lang="en-US" altLang="zh-CN" sz="3200" b="1" i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Batang" pitchFamily="18" charset="-127"/>
              </a:rPr>
              <a:t>H</a:t>
            </a:r>
            <a:r>
              <a:rPr kumimoji="0" lang="en-US" altLang="zh-CN" sz="32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Batang" pitchFamily="18" charset="-127"/>
              </a:rPr>
              <a:t> (Table 11-6)  or     Compare with 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en-US" altLang="zh-CN" sz="3200" b="1" i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Batang" pitchFamily="18" charset="-127"/>
              </a:rPr>
              <a:t>k</a:t>
            </a:r>
            <a:r>
              <a:rPr kumimoji="0" lang="en-US" altLang="zh-CN" sz="32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Batang" pitchFamily="18" charset="-127"/>
              </a:rPr>
              <a:t>: Number of samples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en-US" altLang="zh-CN" sz="32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Batang" pitchFamily="18" charset="-127"/>
              </a:rPr>
              <a:t>Example 11-3: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endParaRPr kumimoji="0" lang="en-US" altLang="zh-CN" sz="3200" b="1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ea typeface="Batang" pitchFamily="18" charset="-127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en-US" altLang="zh-CN" sz="3200" b="1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Batang" pitchFamily="18" charset="-127"/>
              </a:rPr>
              <a:t>Conclusion: The survival months are not all equal</a:t>
            </a:r>
          </a:p>
        </p:txBody>
      </p:sp>
      <p:graphicFrame>
        <p:nvGraphicFramePr>
          <p:cNvPr id="26629" name="Object 5">
            <a:extLst>
              <a:ext uri="{FF2B5EF4-FFF2-40B4-BE49-F238E27FC236}">
                <a16:creationId xmlns:a16="http://schemas.microsoft.com/office/drawing/2014/main" id="{27937F53-CCCB-9555-F3A5-0E0D5B2E97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0" y="1371600"/>
          <a:ext cx="99060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280" imgH="253800" progId="Equation.3">
                  <p:embed/>
                </p:oleObj>
              </mc:Choice>
              <mc:Fallback>
                <p:oleObj name="Equation" r:id="rId2" imgW="368280" imgH="253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371600"/>
                        <a:ext cx="990600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6">
            <a:extLst>
              <a:ext uri="{FF2B5EF4-FFF2-40B4-BE49-F238E27FC236}">
                <a16:creationId xmlns:a16="http://schemas.microsoft.com/office/drawing/2014/main" id="{7009341A-DADC-08EA-8226-6BE7D85156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3505200"/>
          <a:ext cx="38862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14320" imgH="253800" progId="Equation.3">
                  <p:embed/>
                </p:oleObj>
              </mc:Choice>
              <mc:Fallback>
                <p:oleObj name="Equation" r:id="rId4" imgW="1714320" imgH="253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505200"/>
                        <a:ext cx="38862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9492DEA3-5216-4337-C0EA-60640D3B74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763000" cy="990600"/>
          </a:xfrm>
        </p:spPr>
        <p:txBody>
          <a:bodyPr/>
          <a:lstStyle/>
          <a:p>
            <a:pPr algn="l"/>
            <a:r>
              <a:rPr lang="en-US" altLang="zh-CN" sz="3200" b="1">
                <a:solidFill>
                  <a:schemeClr val="folHlink"/>
                </a:solidFill>
                <a:latin typeface="Times New Roman" panose="02020603050405020304" pitchFamily="18" charset="0"/>
                <a:ea typeface="Batang" pitchFamily="18" charset="-127"/>
              </a:rPr>
              <a:t>(2) For contingency table with ordinal categories</a:t>
            </a:r>
          </a:p>
        </p:txBody>
      </p:sp>
      <p:graphicFrame>
        <p:nvGraphicFramePr>
          <p:cNvPr id="28330" name="Object 682">
            <a:extLst>
              <a:ext uri="{FF2B5EF4-FFF2-40B4-BE49-F238E27FC236}">
                <a16:creationId xmlns:a16="http://schemas.microsoft.com/office/drawing/2014/main" id="{36E27076-2977-53A6-4CF8-BE16A65979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" y="1084263"/>
          <a:ext cx="8839200" cy="280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75480" imgH="1814760" progId="Word.Document.8">
                  <p:embed/>
                </p:oleObj>
              </mc:Choice>
              <mc:Fallback>
                <p:oleObj name="Document" r:id="rId2" imgW="5775480" imgH="1814760" progId="Word.Document.8">
                  <p:embed/>
                  <p:pic>
                    <p:nvPicPr>
                      <p:cNvPr id="0" name="Object 6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084263"/>
                        <a:ext cx="8839200" cy="2801937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31" name="Object 683">
            <a:extLst>
              <a:ext uri="{FF2B5EF4-FFF2-40B4-BE49-F238E27FC236}">
                <a16:creationId xmlns:a16="http://schemas.microsoft.com/office/drawing/2014/main" id="{65F1A44D-DF90-5B7A-B318-E01E17BC3C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752475"/>
          <a:ext cx="103632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274360" imgH="198000" progId="Word.Document.8">
                  <p:embed/>
                </p:oleObj>
              </mc:Choice>
              <mc:Fallback>
                <p:oleObj name="Document" r:id="rId4" imgW="5274360" imgH="198000" progId="Word.Document.8">
                  <p:embed/>
                  <p:pic>
                    <p:nvPicPr>
                      <p:cNvPr id="0" name="Object 6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752475"/>
                        <a:ext cx="1036320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32" name="Object 684">
            <a:extLst>
              <a:ext uri="{FF2B5EF4-FFF2-40B4-BE49-F238E27FC236}">
                <a16:creationId xmlns:a16="http://schemas.microsoft.com/office/drawing/2014/main" id="{AC0CFC16-111C-6927-F6D9-3204BAE005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3886200"/>
          <a:ext cx="792480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14800" imgH="482400" progId="Equation.3">
                  <p:embed/>
                </p:oleObj>
              </mc:Choice>
              <mc:Fallback>
                <p:oleObj name="Equation" r:id="rId6" imgW="4114800" imgH="482400" progId="Equation.3">
                  <p:embed/>
                  <p:pic>
                    <p:nvPicPr>
                      <p:cNvPr id="0" name="Object 6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886200"/>
                        <a:ext cx="7924800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33" name="Object 685">
            <a:extLst>
              <a:ext uri="{FF2B5EF4-FFF2-40B4-BE49-F238E27FC236}">
                <a16:creationId xmlns:a16="http://schemas.microsoft.com/office/drawing/2014/main" id="{4B33B825-4BD0-65BE-A92E-0768A5C952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" y="4840288"/>
          <a:ext cx="6172200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81280" imgH="419040" progId="Equation.3">
                  <p:embed/>
                </p:oleObj>
              </mc:Choice>
              <mc:Fallback>
                <p:oleObj name="Equation" r:id="rId8" imgW="3581280" imgH="419040" progId="Equation.3">
                  <p:embed/>
                  <p:pic>
                    <p:nvPicPr>
                      <p:cNvPr id="0" name="Object 6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840288"/>
                        <a:ext cx="6172200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34" name="Object 686">
            <a:extLst>
              <a:ext uri="{FF2B5EF4-FFF2-40B4-BE49-F238E27FC236}">
                <a16:creationId xmlns:a16="http://schemas.microsoft.com/office/drawing/2014/main" id="{52AEC7D2-FB7F-BA20-9C78-1C7B86B327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600" y="4876800"/>
          <a:ext cx="205740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57120" imgH="393480" progId="Equation.3">
                  <p:embed/>
                </p:oleObj>
              </mc:Choice>
              <mc:Fallback>
                <p:oleObj name="Equation" r:id="rId10" imgW="1257120" imgH="393480" progId="Equation.3">
                  <p:embed/>
                  <p:pic>
                    <p:nvPicPr>
                      <p:cNvPr id="0" name="Object 6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4876800"/>
                        <a:ext cx="2057400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35" name="Object 687">
            <a:extLst>
              <a:ext uri="{FF2B5EF4-FFF2-40B4-BE49-F238E27FC236}">
                <a16:creationId xmlns:a16="http://schemas.microsoft.com/office/drawing/2014/main" id="{7F149F17-EB7B-0C93-2FE7-0703C54133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" y="5562600"/>
          <a:ext cx="13716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12520" imgH="253800" progId="Equation.3">
                  <p:embed/>
                </p:oleObj>
              </mc:Choice>
              <mc:Fallback>
                <p:oleObj name="Equation" r:id="rId12" imgW="812520" imgH="253800" progId="Equation.3">
                  <p:embed/>
                  <p:pic>
                    <p:nvPicPr>
                      <p:cNvPr id="0" name="Object 6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5562600"/>
                        <a:ext cx="137160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336" name="Object 688">
            <a:extLst>
              <a:ext uri="{FF2B5EF4-FFF2-40B4-BE49-F238E27FC236}">
                <a16:creationId xmlns:a16="http://schemas.microsoft.com/office/drawing/2014/main" id="{65A0A2C2-B73D-FBF9-FE6A-199A503B2D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5638800"/>
          <a:ext cx="93980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58720" imgH="177480" progId="Equation.3">
                  <p:embed/>
                </p:oleObj>
              </mc:Choice>
              <mc:Fallback>
                <p:oleObj name="Equation" r:id="rId14" imgW="558720" imgH="177480" progId="Equation.3">
                  <p:embed/>
                  <p:pic>
                    <p:nvPicPr>
                      <p:cNvPr id="0" name="Object 6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638800"/>
                        <a:ext cx="939800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37" name="Text Box 689">
            <a:extLst>
              <a:ext uri="{FF2B5EF4-FFF2-40B4-BE49-F238E27FC236}">
                <a16:creationId xmlns:a16="http://schemas.microsoft.com/office/drawing/2014/main" id="{3ADEC0B3-709D-DE8F-C2CB-74C06E196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943600"/>
            <a:ext cx="8991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0" lang="en-US" altLang="zh-CN" b="1"/>
              <a:t>Conclusion:The pregnancy weeks of the 3 milk-secretion groups are significantly different.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950E949F-B31A-434A-BC43-CC7E11C446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991600" cy="838200"/>
          </a:xfrm>
        </p:spPr>
        <p:txBody>
          <a:bodyPr/>
          <a:lstStyle/>
          <a:p>
            <a:r>
              <a:rPr kumimoji="0" lang="en-US" altLang="zh-CN" sz="3200" b="1">
                <a:solidFill>
                  <a:schemeClr val="folHlink"/>
                </a:solidFill>
              </a:rPr>
              <a:t>4. Rank test for multiple comparison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D656BD7-7181-EC35-D0D5-8CB504D744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144000" cy="55626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99FF33"/>
                </a:solidFill>
                <a:ea typeface="Batang" pitchFamily="18" charset="-127"/>
              </a:rPr>
              <a:t>When the of comparison among three groups results in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99FF33"/>
                </a:solidFill>
                <a:ea typeface="Batang" pitchFamily="18" charset="-127"/>
              </a:rPr>
              <a:t>significant difference, multiple comparison is needed to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99FF33"/>
                </a:solidFill>
                <a:ea typeface="Batang" pitchFamily="18" charset="-127"/>
              </a:rPr>
              <a:t>know who and who are different.  </a:t>
            </a:r>
            <a:r>
              <a:rPr lang="en-US" altLang="zh-CN" sz="2800" b="1">
                <a:solidFill>
                  <a:schemeClr val="tx2"/>
                </a:solidFill>
              </a:rPr>
              <a:t>A </a:t>
            </a:r>
            <a:r>
              <a:rPr lang="en-US" altLang="zh-CN" sz="2800" b="1" i="1">
                <a:solidFill>
                  <a:schemeClr val="tx2"/>
                </a:solidFill>
              </a:rPr>
              <a:t>t</a:t>
            </a:r>
            <a:r>
              <a:rPr lang="en-US" altLang="zh-CN" sz="2800" b="1">
                <a:solidFill>
                  <a:schemeClr val="tx2"/>
                </a:solidFill>
              </a:rPr>
              <a:t> test for pair-wise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chemeClr val="tx2"/>
                </a:solidFill>
              </a:rPr>
              <a:t>comparison could be used.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   </a:t>
            </a:r>
            <a:r>
              <a:rPr lang="en-US" altLang="zh-CN" sz="2800" b="1" i="1">
                <a:solidFill>
                  <a:srgbClr val="99FF33"/>
                </a:solidFill>
                <a:ea typeface="Batang" pitchFamily="18" charset="-127"/>
              </a:rPr>
              <a:t>H</a:t>
            </a:r>
            <a:r>
              <a:rPr lang="en-US" altLang="zh-CN" sz="2800" b="1" baseline="-25000">
                <a:solidFill>
                  <a:srgbClr val="99FF33"/>
                </a:solidFill>
                <a:ea typeface="Batang" pitchFamily="18" charset="-127"/>
              </a:rPr>
              <a:t>0</a:t>
            </a:r>
            <a:r>
              <a:rPr lang="en-US" altLang="zh-CN" sz="2800" b="1">
                <a:solidFill>
                  <a:srgbClr val="99FF33"/>
                </a:solidFill>
                <a:ea typeface="Batang" pitchFamily="18" charset="-127"/>
              </a:rPr>
              <a:t>: The location of population A and B are different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99FF33"/>
                </a:solidFill>
                <a:ea typeface="Batang" pitchFamily="18" charset="-127"/>
              </a:rPr>
              <a:t>    </a:t>
            </a:r>
            <a:r>
              <a:rPr lang="en-US" altLang="zh-CN" sz="2800" b="1" i="1">
                <a:solidFill>
                  <a:srgbClr val="99FF33"/>
                </a:solidFill>
                <a:ea typeface="Batang" pitchFamily="18" charset="-127"/>
              </a:rPr>
              <a:t>H</a:t>
            </a:r>
            <a:r>
              <a:rPr lang="en-US" altLang="zh-CN" sz="2800" b="1" baseline="-25000">
                <a:solidFill>
                  <a:srgbClr val="99FF33"/>
                </a:solidFill>
                <a:ea typeface="Batang" pitchFamily="18" charset="-127"/>
              </a:rPr>
              <a:t>1</a:t>
            </a:r>
            <a:r>
              <a:rPr lang="en-US" altLang="zh-CN" sz="2800" b="1">
                <a:solidFill>
                  <a:srgbClr val="99FF33"/>
                </a:solidFill>
                <a:ea typeface="Batang" pitchFamily="18" charset="-127"/>
              </a:rPr>
              <a:t>: The location of population A and B are not different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b="1">
              <a:solidFill>
                <a:srgbClr val="99FF33"/>
              </a:solidFill>
              <a:ea typeface="Batang" pitchFamily="18" charset="-127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b="1">
              <a:solidFill>
                <a:srgbClr val="99FF33"/>
              </a:solidFill>
              <a:ea typeface="Batang" pitchFamily="18" charset="-127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b="1">
              <a:solidFill>
                <a:srgbClr val="99FF33"/>
              </a:solidFill>
              <a:ea typeface="Batang" pitchFamily="18" charset="-127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b="1">
              <a:solidFill>
                <a:srgbClr val="99FF33"/>
              </a:solidFill>
              <a:ea typeface="Batang" pitchFamily="18" charset="-127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99FF33"/>
                </a:solidFill>
                <a:ea typeface="Batang" pitchFamily="18" charset="-127"/>
              </a:rPr>
              <a:t>    If                , then reject </a:t>
            </a:r>
            <a:r>
              <a:rPr lang="en-US" altLang="zh-CN" sz="2800" b="1" i="1">
                <a:solidFill>
                  <a:srgbClr val="99FF33"/>
                </a:solidFill>
                <a:ea typeface="Batang" pitchFamily="18" charset="-127"/>
              </a:rPr>
              <a:t>H</a:t>
            </a:r>
            <a:r>
              <a:rPr lang="en-US" altLang="zh-CN" sz="2800" b="1" baseline="-25000">
                <a:solidFill>
                  <a:srgbClr val="99FF33"/>
                </a:solidFill>
                <a:ea typeface="Batang" pitchFamily="18" charset="-127"/>
              </a:rPr>
              <a:t>0.</a:t>
            </a:r>
            <a:endParaRPr lang="en-US" altLang="zh-CN" sz="2800" b="1">
              <a:solidFill>
                <a:srgbClr val="99FF33"/>
              </a:solidFill>
              <a:ea typeface="Batang" pitchFamily="18" charset="-127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      </a:t>
            </a: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45CAE7FE-EA39-70A7-9178-DD03E6287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810000"/>
            <a:ext cx="822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kumimoji="0" lang="zh-CN" altLang="zh-CN" sz="40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graphicFrame>
        <p:nvGraphicFramePr>
          <p:cNvPr id="29701" name="Object 5">
            <a:extLst>
              <a:ext uri="{FF2B5EF4-FFF2-40B4-BE49-F238E27FC236}">
                <a16:creationId xmlns:a16="http://schemas.microsoft.com/office/drawing/2014/main" id="{7075F786-6723-759E-F8EB-92EDCD1993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4038600"/>
          <a:ext cx="5943600" cy="130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01920" imgH="723600" progId="Equation.3">
                  <p:embed/>
                </p:oleObj>
              </mc:Choice>
              <mc:Fallback>
                <p:oleObj name="Equation" r:id="rId2" imgW="3301920" imgH="723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038600"/>
                        <a:ext cx="5943600" cy="1303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6">
            <a:extLst>
              <a:ext uri="{FF2B5EF4-FFF2-40B4-BE49-F238E27FC236}">
                <a16:creationId xmlns:a16="http://schemas.microsoft.com/office/drawing/2014/main" id="{4DB7E3ED-180E-AED6-84EA-802AF94DB8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8800" y="4800600"/>
          <a:ext cx="32004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62040" imgH="228600" progId="Equation.3">
                  <p:embed/>
                </p:oleObj>
              </mc:Choice>
              <mc:Fallback>
                <p:oleObj name="Equation" r:id="rId4" imgW="156204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4800600"/>
                        <a:ext cx="320040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7">
            <a:extLst>
              <a:ext uri="{FF2B5EF4-FFF2-40B4-BE49-F238E27FC236}">
                <a16:creationId xmlns:a16="http://schemas.microsoft.com/office/drawing/2014/main" id="{E125E2D2-2693-57DB-4B52-F5708C3E06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5867400"/>
          <a:ext cx="10668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58720" imgH="253800" progId="Equation.3">
                  <p:embed/>
                </p:oleObj>
              </mc:Choice>
              <mc:Fallback>
                <p:oleObj name="Equation" r:id="rId6" imgW="558720" imgH="253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867400"/>
                        <a:ext cx="1066800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6" name="Rectangle 6">
            <a:extLst>
              <a:ext uri="{FF2B5EF4-FFF2-40B4-BE49-F238E27FC236}">
                <a16:creationId xmlns:a16="http://schemas.microsoft.com/office/drawing/2014/main" id="{205A3BE9-E140-5528-8ADE-5EF0292FCCC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0" y="304800"/>
            <a:ext cx="9144000" cy="838200"/>
          </a:xfrm>
          <a:noFill/>
          <a:ln/>
        </p:spPr>
        <p:txBody>
          <a:bodyPr/>
          <a:lstStyle/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chemeClr val="folHlink"/>
                </a:solidFill>
                <a:ea typeface="Batang" pitchFamily="18" charset="-127"/>
              </a:rPr>
              <a:t>Example 11-3  Survival months of liver cancer patients treated by 3 operation programs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="1">
              <a:solidFill>
                <a:schemeClr val="folHlink"/>
              </a:solidFill>
              <a:ea typeface="Batang" pitchFamily="18" charset="-127"/>
            </a:endParaRPr>
          </a:p>
        </p:txBody>
      </p:sp>
      <p:graphicFrame>
        <p:nvGraphicFramePr>
          <p:cNvPr id="30819" name="Group 99">
            <a:extLst>
              <a:ext uri="{FF2B5EF4-FFF2-40B4-BE49-F238E27FC236}">
                <a16:creationId xmlns:a16="http://schemas.microsoft.com/office/drawing/2014/main" id="{CAC83C86-37D6-2927-61AC-01281C347336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103313"/>
          <a:ext cx="7696200" cy="3468687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3836191017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251529538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59883626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531180789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404434174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589604161"/>
                    </a:ext>
                  </a:extLst>
                </a:gridCol>
              </a:tblGrid>
              <a:tr h="6508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(1)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Rank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(2)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(3)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Rank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(4)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(5)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Rank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(6)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494176"/>
                  </a:ext>
                </a:extLst>
              </a:tr>
              <a:tr h="3635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27993"/>
                  </a:ext>
                </a:extLst>
              </a:tr>
              <a:tr h="3635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2.5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830873"/>
                  </a:ext>
                </a:extLst>
              </a:tr>
              <a:tr h="36512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7.5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300636"/>
                  </a:ext>
                </a:extLst>
              </a:tr>
              <a:tr h="3635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7.5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12020"/>
                  </a:ext>
                </a:extLst>
              </a:tr>
              <a:tr h="3635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2.5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6841265"/>
                  </a:ext>
                </a:extLst>
              </a:tr>
              <a:tr h="3968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kumimoji="1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34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26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203615"/>
                  </a:ext>
                </a:extLst>
              </a:tr>
              <a:tr h="1809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1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974714"/>
                  </a:ext>
                </a:extLst>
              </a:tr>
            </a:tbl>
          </a:graphicData>
        </a:graphic>
      </p:graphicFrame>
      <p:graphicFrame>
        <p:nvGraphicFramePr>
          <p:cNvPr id="30811" name="Object 91">
            <a:extLst>
              <a:ext uri="{FF2B5EF4-FFF2-40B4-BE49-F238E27FC236}">
                <a16:creationId xmlns:a16="http://schemas.microsoft.com/office/drawing/2014/main" id="{9B89EFF7-6F80-18A1-16F4-830DEC7126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4648200"/>
          <a:ext cx="647700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24000" imgH="672840" progId="Equation.3">
                  <p:embed/>
                </p:oleObj>
              </mc:Choice>
              <mc:Fallback>
                <p:oleObj name="Equation" r:id="rId2" imgW="3924000" imgH="672840" progId="Equation.3">
                  <p:embed/>
                  <p:pic>
                    <p:nvPicPr>
                      <p:cNvPr id="0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648200"/>
                        <a:ext cx="6477000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12" name="Object 92">
            <a:extLst>
              <a:ext uri="{FF2B5EF4-FFF2-40B4-BE49-F238E27FC236}">
                <a16:creationId xmlns:a16="http://schemas.microsoft.com/office/drawing/2014/main" id="{8E9B1F70-82B7-FD43-1655-13C79007B2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34200" y="4724400"/>
          <a:ext cx="15240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63280" imgH="241200" progId="Equation.3">
                  <p:embed/>
                </p:oleObj>
              </mc:Choice>
              <mc:Fallback>
                <p:oleObj name="Equation" r:id="rId4" imgW="863280" imgH="241200" progId="Equation.3">
                  <p:embed/>
                  <p:pic>
                    <p:nvPicPr>
                      <p:cNvPr id="0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4724400"/>
                        <a:ext cx="15240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13" name="Text Box 93">
            <a:extLst>
              <a:ext uri="{FF2B5EF4-FFF2-40B4-BE49-F238E27FC236}">
                <a16:creationId xmlns:a16="http://schemas.microsoft.com/office/drawing/2014/main" id="{482F0C2E-0AE5-5A8B-B7B3-919C0CA27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575300"/>
            <a:ext cx="9144000" cy="128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0" lang="en-US" altLang="zh-CN" sz="2600" b="1">
                <a:latin typeface="Verdana" panose="020B0604030504040204" pitchFamily="34" charset="0"/>
              </a:rPr>
              <a:t>Conclusion: The survival months of patients treated by Program A and B are significantly different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>
            <a:extLst>
              <a:ext uri="{FF2B5EF4-FFF2-40B4-BE49-F238E27FC236}">
                <a16:creationId xmlns:a16="http://schemas.microsoft.com/office/drawing/2014/main" id="{57A2699A-635D-22A5-690A-437E0BE4B7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8229600" cy="6477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chemeClr val="folHlink"/>
                </a:solidFill>
                <a:latin typeface="Batang" pitchFamily="18" charset="-127"/>
                <a:ea typeface="Batang" pitchFamily="18" charset="-127"/>
              </a:rPr>
              <a:t>(1)Hypothesis:</a:t>
            </a:r>
            <a:r>
              <a:rPr lang="en-US" altLang="zh-CN" sz="2800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chemeClr val="hlink"/>
                </a:solidFill>
                <a:latin typeface="Batang" pitchFamily="18" charset="-127"/>
                <a:ea typeface="Batang" pitchFamily="18" charset="-127"/>
              </a:rPr>
              <a:t>   </a:t>
            </a:r>
            <a:r>
              <a:rPr lang="en-US" altLang="zh-CN" b="1" i="1">
                <a:solidFill>
                  <a:srgbClr val="99FF33"/>
                </a:solidFill>
                <a:ea typeface="Batang" pitchFamily="18" charset="-127"/>
              </a:rPr>
              <a:t> H</a:t>
            </a:r>
            <a:r>
              <a:rPr lang="en-US" altLang="zh-CN" b="1" baseline="-25000">
                <a:solidFill>
                  <a:srgbClr val="99FF33"/>
                </a:solidFill>
                <a:ea typeface="Batang" pitchFamily="18" charset="-127"/>
              </a:rPr>
              <a:t>0</a:t>
            </a:r>
            <a:r>
              <a:rPr lang="en-US" altLang="zh-CN" sz="2800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: any pair of two population   distributions has same location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    </a:t>
            </a:r>
            <a:r>
              <a:rPr lang="en-US" altLang="zh-CN" b="1" i="1">
                <a:solidFill>
                  <a:srgbClr val="99FF33"/>
                </a:solidFill>
                <a:ea typeface="Batang" pitchFamily="18" charset="-127"/>
              </a:rPr>
              <a:t>H</a:t>
            </a:r>
            <a:r>
              <a:rPr lang="en-US" altLang="zh-CN" b="1" baseline="-25000">
                <a:solidFill>
                  <a:srgbClr val="99FF33"/>
                </a:solidFill>
                <a:ea typeface="Batang" pitchFamily="18" charset="-127"/>
              </a:rPr>
              <a:t>1</a:t>
            </a:r>
            <a:r>
              <a:rPr lang="en-US" altLang="zh-CN" sz="2800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: this pair of two population distributions has different locations,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   </a:t>
            </a:r>
            <a:r>
              <a:rPr lang="en-US" altLang="zh-CN" sz="2800" b="1" i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 α</a:t>
            </a:r>
            <a:r>
              <a:rPr lang="en-US" altLang="zh-CN" sz="2800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 =0.05.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chemeClr val="folHlink"/>
                </a:solidFill>
                <a:latin typeface="Batang" pitchFamily="18" charset="-127"/>
                <a:ea typeface="Batang" pitchFamily="18" charset="-127"/>
              </a:rPr>
              <a:t>(2) Calculate </a:t>
            </a:r>
            <a:r>
              <a:rPr lang="en-US" altLang="zh-CN" sz="2800" b="1" i="1">
                <a:solidFill>
                  <a:schemeClr val="folHlink"/>
                </a:solidFill>
                <a:latin typeface="Batang" pitchFamily="18" charset="-127"/>
                <a:ea typeface="Batang" pitchFamily="18" charset="-127"/>
              </a:rPr>
              <a:t>t</a:t>
            </a:r>
            <a:r>
              <a:rPr lang="en-US" altLang="zh-CN" sz="2800" b="1">
                <a:solidFill>
                  <a:schemeClr val="folHlink"/>
                </a:solidFill>
                <a:latin typeface="Batang" pitchFamily="18" charset="-127"/>
                <a:ea typeface="Batang" pitchFamily="18" charset="-127"/>
              </a:rPr>
              <a:t> value:</a:t>
            </a:r>
            <a:endParaRPr lang="en-US" altLang="zh-CN" sz="2800" b="1">
              <a:solidFill>
                <a:srgbClr val="99FF33"/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31749" name="Rectangle 5">
            <a:extLst>
              <a:ext uri="{FF2B5EF4-FFF2-40B4-BE49-F238E27FC236}">
                <a16:creationId xmlns:a16="http://schemas.microsoft.com/office/drawing/2014/main" id="{182774A9-1016-19AD-A726-1EC701F34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95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1748" name="Object 4">
            <a:extLst>
              <a:ext uri="{FF2B5EF4-FFF2-40B4-BE49-F238E27FC236}">
                <a16:creationId xmlns:a16="http://schemas.microsoft.com/office/drawing/2014/main" id="{EA978C28-257B-3AA8-C3EA-F0915A1A16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3886200"/>
          <a:ext cx="7200900" cy="246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17800" imgH="1384300" progId="Equation.3">
                  <p:embed/>
                </p:oleObj>
              </mc:Choice>
              <mc:Fallback>
                <p:oleObj name="公式" r:id="rId2" imgW="2717800" imgH="1384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0000" contrast="-70000"/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886200"/>
                        <a:ext cx="7200900" cy="2466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>
            <a:extLst>
              <a:ext uri="{FF2B5EF4-FFF2-40B4-BE49-F238E27FC236}">
                <a16:creationId xmlns:a16="http://schemas.microsoft.com/office/drawing/2014/main" id="{CB884BDC-F6F3-EAA7-4F9F-356B8F04AB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533400"/>
            <a:ext cx="7772400" cy="3048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   Other results list in table 11.8.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folHlink"/>
                </a:solidFill>
                <a:latin typeface="Batang" pitchFamily="18" charset="-127"/>
                <a:ea typeface="Batang" pitchFamily="18" charset="-127"/>
              </a:rPr>
              <a:t>(3) Decide </a:t>
            </a:r>
            <a:r>
              <a:rPr lang="en-US" altLang="zh-CN" b="1" i="1">
                <a:solidFill>
                  <a:schemeClr val="folHlink"/>
                </a:solidFill>
                <a:latin typeface="Batang" pitchFamily="18" charset="-127"/>
                <a:ea typeface="Batang" pitchFamily="18" charset="-127"/>
              </a:rPr>
              <a:t>P</a:t>
            </a:r>
            <a:r>
              <a:rPr lang="en-US" altLang="zh-CN" b="1">
                <a:solidFill>
                  <a:schemeClr val="folHlink"/>
                </a:solidFill>
                <a:latin typeface="Batang" pitchFamily="18" charset="-127"/>
                <a:ea typeface="Batang" pitchFamily="18" charset="-127"/>
              </a:rPr>
              <a:t> value</a:t>
            </a:r>
            <a:r>
              <a:rPr lang="en-US" altLang="zh-CN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, </a:t>
            </a:r>
            <a:r>
              <a:rPr lang="en-US" altLang="zh-CN" b="1" i="1">
                <a:solidFill>
                  <a:srgbClr val="99FF33"/>
                </a:solidFill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</a:t>
            </a:r>
            <a:r>
              <a:rPr lang="en-US" altLang="zh-CN" b="1" i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=N-k</a:t>
            </a:r>
            <a:r>
              <a:rPr lang="en-US" altLang="zh-CN" b="1">
                <a:solidFill>
                  <a:srgbClr val="99FF33"/>
                </a:solidFill>
                <a:latin typeface="Batang" pitchFamily="18" charset="-127"/>
                <a:ea typeface="Batang" pitchFamily="18" charset="-127"/>
              </a:rPr>
              <a:t>=15-3=12, Operation B is better than other two operations.</a:t>
            </a:r>
            <a:endParaRPr lang="en-US" altLang="zh-C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>
            <a:extLst>
              <a:ext uri="{FF2B5EF4-FFF2-40B4-BE49-F238E27FC236}">
                <a16:creationId xmlns:a16="http://schemas.microsoft.com/office/drawing/2014/main" id="{1387F96F-CC09-324A-43EB-FC24EA7DB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325" y="2743200"/>
            <a:ext cx="54927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endParaRPr lang="zh-CN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校门">
  <a:themeElements>
    <a:clrScheme name="校门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校门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校门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校门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校门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校门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校门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Settings\jeff\Application Data\Microsoft\Templates\校门.pot</Template>
  <TotalTime>489</TotalTime>
  <Words>1177</Words>
  <Application>Microsoft Office PowerPoint</Application>
  <PresentationFormat>全屏显示(4:3)</PresentationFormat>
  <Paragraphs>346</Paragraphs>
  <Slides>25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Arial</vt:lpstr>
      <vt:lpstr>宋体</vt:lpstr>
      <vt:lpstr>Times New Roman</vt:lpstr>
      <vt:lpstr>Wingdings</vt:lpstr>
      <vt:lpstr>Batang</vt:lpstr>
      <vt:lpstr>Verdana</vt:lpstr>
      <vt:lpstr>Symbol</vt:lpstr>
      <vt:lpstr>Apple Chancery</vt:lpstr>
      <vt:lpstr>校门</vt:lpstr>
      <vt:lpstr>Microsoft Word 文档</vt:lpstr>
      <vt:lpstr>Microsoft 公式 3.0</vt:lpstr>
      <vt:lpstr>PowerPoint 演示文稿</vt:lpstr>
      <vt:lpstr>Medical Statistics  (full English class)</vt:lpstr>
      <vt:lpstr>PowerPoint 演示文稿</vt:lpstr>
      <vt:lpstr>Rank sum test</vt:lpstr>
      <vt:lpstr>Parametric Test</vt:lpstr>
      <vt:lpstr>Non-parametric tests  (distribution-free tests)</vt:lpstr>
      <vt:lpstr>PowerPoint 演示文稿</vt:lpstr>
      <vt:lpstr>PowerPoint 演示文稿</vt:lpstr>
      <vt:lpstr>1. Wilcoxon’s signed rank sum test (matched pairs)</vt:lpstr>
      <vt:lpstr>PowerPoint 演示文稿</vt:lpstr>
      <vt:lpstr>PowerPoint 演示文稿</vt:lpstr>
      <vt:lpstr>2.Wilcoxon’s rank sum test for two samples</vt:lpstr>
      <vt:lpstr>Example 11-2  Nicotine of two bands of cigarettes</vt:lpstr>
      <vt:lpstr>PowerPoint 演示文稿</vt:lpstr>
      <vt:lpstr>3. Kruskal-Wallis’ H test  for  comparing more than 2 samples</vt:lpstr>
      <vt:lpstr>For raw data Example 11-3   Survival months of liver cancer         patients treated by 3 operation programs</vt:lpstr>
      <vt:lpstr>PowerPoint 演示文稿</vt:lpstr>
      <vt:lpstr>PowerPoint 演示文稿</vt:lpstr>
      <vt:lpstr>PowerPoint 演示文稿</vt:lpstr>
      <vt:lpstr>(2) For contingency table with ordinal categories</vt:lpstr>
      <vt:lpstr>4. Rank test for multiple comparison</vt:lpstr>
      <vt:lpstr>PowerPoint 演示文稿</vt:lpstr>
      <vt:lpstr>PowerPoint 演示文稿</vt:lpstr>
      <vt:lpstr>PowerPoint 演示文稿</vt:lpstr>
      <vt:lpstr>PowerPoint 演示文稿</vt:lpstr>
    </vt:vector>
  </TitlesOfParts>
  <Company>jiang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Non-parametric statistics (Rank sum test)</dc:title>
  <dc:creator>jiang</dc:creator>
  <cp:lastModifiedBy>超然网络服务店 超然网络服务店</cp:lastModifiedBy>
  <cp:revision>22</cp:revision>
  <dcterms:created xsi:type="dcterms:W3CDTF">2002-09-25T05:54:17Z</dcterms:created>
  <dcterms:modified xsi:type="dcterms:W3CDTF">2023-10-24T11:40:02Z</dcterms:modified>
</cp:coreProperties>
</file>