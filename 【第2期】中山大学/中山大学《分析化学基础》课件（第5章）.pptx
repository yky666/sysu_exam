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jpg" ContentType="image/jp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</p:sldIdLst>
  <p:sldSz cx="4610100" cy="3460750"/>
  <p:notesSz cx="4610100" cy="3460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1553" y="1140726"/>
            <a:ext cx="1991995" cy="54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693" y="534339"/>
            <a:ext cx="4380712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853" y="592734"/>
            <a:ext cx="2931160" cy="810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288868" y="3352425"/>
            <a:ext cx="708025" cy="10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025561" y="3356656"/>
            <a:ext cx="556894" cy="93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16451" y="3353670"/>
            <a:ext cx="43942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mailto:cesgf@mail.sysu.edu.cn" TargetMode="External"/><Relationship Id="rId6" Type="http://schemas.openxmlformats.org/officeDocument/2006/relationships/hyperlink" Target="http://202.116.83.148/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9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9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4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4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slide" Target="slide34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9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7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9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39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29.png"/><Relationship Id="rId5" Type="http://schemas.openxmlformats.org/officeDocument/2006/relationships/image" Target="../media/image39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29.png"/><Relationship Id="rId5" Type="http://schemas.openxmlformats.org/officeDocument/2006/relationships/image" Target="../media/image42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5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6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0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47.png"/><Relationship Id="rId5" Type="http://schemas.openxmlformats.org/officeDocument/2006/relationships/slide" Target="slide1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9.png"/><Relationship Id="rId4" Type="http://schemas.openxmlformats.org/officeDocument/2006/relationships/image" Target="../media/image48.png"/><Relationship Id="rId5" Type="http://schemas.openxmlformats.org/officeDocument/2006/relationships/slide" Target="slide1.xml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29.png"/><Relationship Id="rId4" Type="http://schemas.openxmlformats.org/officeDocument/2006/relationships/image" Target="../media/image51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29.png"/><Relationship Id="rId4" Type="http://schemas.openxmlformats.org/officeDocument/2006/relationships/image" Target="../media/image53.png"/><Relationship Id="rId5" Type="http://schemas.openxmlformats.org/officeDocument/2006/relationships/slide" Target="slide70.xml"/><Relationship Id="rId6" Type="http://schemas.openxmlformats.org/officeDocument/2006/relationships/image" Target="../media/image41.png"/><Relationship Id="rId7" Type="http://schemas.openxmlformats.org/officeDocument/2006/relationships/image" Target="../media/image54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70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0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55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Relationship Id="rId4" Type="http://schemas.openxmlformats.org/officeDocument/2006/relationships/image" Target="../media/image56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4.xml"/><Relationship Id="rId3" Type="http://schemas.openxmlformats.org/officeDocument/2006/relationships/image" Target="../media/image1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41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29.png"/><Relationship Id="rId4" Type="http://schemas.openxmlformats.org/officeDocument/2006/relationships/image" Target="../media/image61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4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81.png"/><Relationship Id="rId4" Type="http://schemas.openxmlformats.org/officeDocument/2006/relationships/image" Target="../media/image84.pn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57.png"/><Relationship Id="rId4" Type="http://schemas.openxmlformats.org/officeDocument/2006/relationships/image" Target="../media/image85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1.png"/><Relationship Id="rId4" Type="http://schemas.openxmlformats.org/officeDocument/2006/relationships/image" Target="../media/image87.pn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93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slide" Target="slide96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17.png"/><Relationship Id="rId4" Type="http://schemas.openxmlformats.org/officeDocument/2006/relationships/image" Target="../media/image101.png"/><Relationship Id="rId5" Type="http://schemas.openxmlformats.org/officeDocument/2006/relationships/slide" Target="slide99.xml"/><Relationship Id="rId6" Type="http://schemas.openxmlformats.org/officeDocument/2006/relationships/slide" Target="slide100.xml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png"/><Relationship Id="rId3" Type="http://schemas.openxmlformats.org/officeDocument/2006/relationships/image" Target="../media/image32.png"/><Relationship Id="rId4" Type="http://schemas.openxmlformats.org/officeDocument/2006/relationships/image" Target="../media/image17.png"/><Relationship Id="rId5" Type="http://schemas.openxmlformats.org/officeDocument/2006/relationships/image" Target="../media/image103.png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png"/><Relationship Id="rId3" Type="http://schemas.openxmlformats.org/officeDocument/2006/relationships/image" Target="../media/image104.png"/><Relationship Id="rId4" Type="http://schemas.openxmlformats.org/officeDocument/2006/relationships/image" Target="../media/image17.png"/><Relationship Id="rId5" Type="http://schemas.openxmlformats.org/officeDocument/2006/relationships/image" Target="../media/image105.png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8.xml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08.png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7.png"/><Relationship Id="rId5" Type="http://schemas.openxmlformats.org/officeDocument/2006/relationships/image" Target="../media/image111.png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png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12.png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10.xml"/><Relationship Id="rId3" Type="http://schemas.openxmlformats.org/officeDocument/2006/relationships/slide" Target="slide111.xml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3.png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
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5.xml"/></Relationships>
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20.xml"/><Relationship Id="rId3" Type="http://schemas.openxmlformats.org/officeDocument/2006/relationships/image" Target="../media/image110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/Relationships>
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
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
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83.png"/><Relationship Id="rId4" Type="http://schemas.openxmlformats.org/officeDocument/2006/relationships/image" Target="../media/image57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/Relationships>
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57.png"/><Relationship Id="rId4" Type="http://schemas.openxmlformats.org/officeDocument/2006/relationships/image" Target="../media/image121.png"/></Relationships>
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57.png"/><Relationship Id="rId4" Type="http://schemas.openxmlformats.org/officeDocument/2006/relationships/image" Target="../media/image122.png"/></Relationships>
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3.png"/></Relationships>
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4.png"/></Relationships>
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5.png"/></Relationships>
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image" Target="../media/image4.png"/></Relationships>
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png"/><Relationship Id="rId3" Type="http://schemas.openxmlformats.org/officeDocument/2006/relationships/image" Target="../media/image83.png"/><Relationship Id="rId4" Type="http://schemas.openxmlformats.org/officeDocument/2006/relationships/image" Target="../media/image57.png"/><Relationship Id="rId5" Type="http://schemas.openxmlformats.org/officeDocument/2006/relationships/image" Target="../media/image127.png"/></Relationships>
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png"/><Relationship Id="rId3" Type="http://schemas.openxmlformats.org/officeDocument/2006/relationships/image" Target="../media/image128.png"/><Relationship Id="rId4" Type="http://schemas.openxmlformats.org/officeDocument/2006/relationships/image" Target="../media/image17.png"/><Relationship Id="rId5" Type="http://schemas.openxmlformats.org/officeDocument/2006/relationships/image" Target="../media/image129.png"/></Relationships>
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/Relationships>
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1.png"/><Relationship Id="rId3" Type="http://schemas.openxmlformats.org/officeDocument/2006/relationships/image" Target="../media/image130.png"/></Relationships>
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png"/><Relationship Id="rId3" Type="http://schemas.openxmlformats.org/officeDocument/2006/relationships/image" Target="../media/image130.png"/></Relationships>
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32.png"/></Relationships>
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1.png"/><Relationship Id="rId3" Type="http://schemas.openxmlformats.org/officeDocument/2006/relationships/image" Target="../media/image130.png"/></Relationships>
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2.png"/></Relationships>
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/Relationships>
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6.png"/><Relationship Id="rId3" Type="http://schemas.openxmlformats.org/officeDocument/2006/relationships/image" Target="../media/image4.png"/></Relationships>
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3" Type="http://schemas.openxmlformats.org/officeDocument/2006/relationships/image" Target="../media/image4.png"/></Relationships>
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95998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544" y="1006513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344" y="99381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20310" y="646569"/>
            <a:ext cx="50749" cy="3599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3" y="640428"/>
            <a:ext cx="4432935" cy="417195"/>
          </a:xfrm>
          <a:custGeom>
            <a:avLst/>
            <a:gdLst/>
            <a:ahLst/>
            <a:cxnLst/>
            <a:rect l="l" t="t" r="r" b="b"/>
            <a:pathLst>
              <a:path w="4432935" h="417194">
                <a:moveTo>
                  <a:pt x="4432566" y="0"/>
                </a:moveTo>
                <a:lnTo>
                  <a:pt x="0" y="0"/>
                </a:lnTo>
                <a:lnTo>
                  <a:pt x="0" y="366084"/>
                </a:lnTo>
                <a:lnTo>
                  <a:pt x="4008" y="385808"/>
                </a:lnTo>
                <a:lnTo>
                  <a:pt x="14922" y="401961"/>
                </a:lnTo>
                <a:lnTo>
                  <a:pt x="31075" y="412876"/>
                </a:lnTo>
                <a:lnTo>
                  <a:pt x="50800" y="416884"/>
                </a:lnTo>
                <a:lnTo>
                  <a:pt x="4381765" y="416884"/>
                </a:lnTo>
                <a:lnTo>
                  <a:pt x="4401490" y="412876"/>
                </a:lnTo>
                <a:lnTo>
                  <a:pt x="4417643" y="401961"/>
                </a:lnTo>
                <a:lnTo>
                  <a:pt x="4428558" y="385808"/>
                </a:lnTo>
                <a:lnTo>
                  <a:pt x="4432566" y="366084"/>
                </a:lnTo>
                <a:lnTo>
                  <a:pt x="44325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684666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4">
                <a:moveTo>
                  <a:pt x="0" y="34089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719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6592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465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58214" y="639940"/>
            <a:ext cx="2151380" cy="3448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00" spc="-10">
                <a:solidFill>
                  <a:srgbClr val="FFFFFF"/>
                </a:solidFill>
              </a:rPr>
              <a:t>分</a:t>
            </a:r>
            <a:r>
              <a:rPr dirty="0" sz="2100" spc="-15">
                <a:solidFill>
                  <a:srgbClr val="FFFFFF"/>
                </a:solidFill>
              </a:rPr>
              <a:t>析</a:t>
            </a:r>
            <a:r>
              <a:rPr dirty="0" sz="2100" spc="-10">
                <a:solidFill>
                  <a:srgbClr val="FFFFFF"/>
                </a:solidFill>
              </a:rPr>
              <a:t>化学</a:t>
            </a:r>
            <a:r>
              <a:rPr dirty="0" sz="2100" spc="-15">
                <a:solidFill>
                  <a:srgbClr val="FFFFFF"/>
                </a:solidFill>
              </a:rPr>
              <a:t>基</a:t>
            </a:r>
            <a:r>
              <a:rPr dirty="0" sz="2100" spc="-10">
                <a:solidFill>
                  <a:srgbClr val="FFFFFF"/>
                </a:solidFill>
              </a:rPr>
              <a:t>础</a:t>
            </a:r>
            <a:r>
              <a:rPr dirty="0" sz="2100" spc="-15">
                <a:solidFill>
                  <a:srgbClr val="FFFFFF"/>
                </a:solidFill>
              </a:rPr>
              <a:t>教</a:t>
            </a:r>
            <a:r>
              <a:rPr dirty="0" sz="2100" spc="-10">
                <a:solidFill>
                  <a:srgbClr val="FFFFFF"/>
                </a:solidFill>
              </a:rPr>
              <a:t>程</a:t>
            </a:r>
            <a:endParaRPr sz="2100"/>
          </a:p>
        </p:txBody>
      </p:sp>
      <p:sp>
        <p:nvSpPr>
          <p:cNvPr id="12" name="object 12"/>
          <p:cNvSpPr txBox="1"/>
          <p:nvPr/>
        </p:nvSpPr>
        <p:spPr>
          <a:xfrm>
            <a:off x="1279271" y="1251432"/>
            <a:ext cx="2049780" cy="1459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甘</a:t>
            </a:r>
            <a:r>
              <a:rPr dirty="0" sz="1600" spc="220">
                <a:latin typeface="Arial Unicode MS"/>
                <a:cs typeface="Arial Unicode MS"/>
              </a:rPr>
              <a:t>峰</a:t>
            </a:r>
            <a:r>
              <a:rPr dirty="0" sz="1600" spc="-10">
                <a:latin typeface="Arial Unicode MS"/>
                <a:cs typeface="Arial Unicode MS"/>
              </a:rPr>
              <a:t>教授</a:t>
            </a:r>
            <a:endParaRPr sz="1600">
              <a:latin typeface="Arial Unicode MS"/>
              <a:cs typeface="Arial Unicode MS"/>
            </a:endParaRPr>
          </a:p>
          <a:p>
            <a:pPr algn="ctr" marL="12700" marR="5080">
              <a:lnSpc>
                <a:spcPts val="2050"/>
              </a:lnSpc>
              <a:spcBef>
                <a:spcPts val="140"/>
              </a:spcBef>
            </a:pPr>
            <a:r>
              <a:rPr dirty="0" sz="1000" spc="-20">
                <a:latin typeface="Georgia"/>
                <a:cs typeface="Georgia"/>
              </a:rPr>
              <a:t>Email: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5"/>
              </a:rPr>
              <a:t>cesgf@mail.sysu.edu.cn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</a:rPr>
              <a:t> </a:t>
            </a:r>
            <a:r>
              <a:rPr dirty="0" sz="1000" spc="-40">
                <a:latin typeface="Georgia"/>
                <a:cs typeface="Georgia"/>
              </a:rPr>
              <a:t>Homepage: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6"/>
              </a:rPr>
              <a:t>http://202.116.83.148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900" spc="-5">
                <a:latin typeface="Arial Unicode MS"/>
                <a:cs typeface="Arial Unicode MS"/>
              </a:rPr>
              <a:t>中山大</a:t>
            </a:r>
            <a:r>
              <a:rPr dirty="0" sz="900" spc="-60">
                <a:latin typeface="Arial Unicode MS"/>
                <a:cs typeface="Arial Unicode MS"/>
              </a:rPr>
              <a:t>学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化学与化学工程学院</a:t>
            </a:r>
            <a:endParaRPr sz="9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100" spc="-65">
                <a:latin typeface="Georgia"/>
                <a:cs typeface="Georgia"/>
              </a:rPr>
              <a:t>2010 </a:t>
            </a:r>
            <a:r>
              <a:rPr dirty="0" sz="1200" spc="-5">
                <a:latin typeface="Arial Unicode MS"/>
                <a:cs typeface="Arial Unicode MS"/>
              </a:rPr>
              <a:t>年 </a:t>
            </a:r>
            <a:r>
              <a:rPr dirty="0" sz="1100" spc="-80">
                <a:latin typeface="Georgia"/>
                <a:cs typeface="Georgia"/>
              </a:rPr>
              <a:t>4 </a:t>
            </a:r>
            <a:r>
              <a:rPr dirty="0" sz="1200" spc="-5">
                <a:latin typeface="Arial Unicode MS"/>
                <a:cs typeface="Arial Unicode MS"/>
              </a:rPr>
              <a:t>月 </a:t>
            </a:r>
            <a:r>
              <a:rPr dirty="0" sz="1100" spc="-5">
                <a:latin typeface="Georgia"/>
                <a:cs typeface="Georgia"/>
              </a:rPr>
              <a:t>14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7258" y="723625"/>
            <a:ext cx="1733550" cy="12807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2650" spc="409">
                <a:latin typeface="Arial Unicode MS"/>
                <a:cs typeface="Arial Unicode MS"/>
              </a:rPr>
              <a:t>第</a:t>
            </a:r>
            <a:r>
              <a:rPr dirty="0" sz="5100" spc="180">
                <a:latin typeface="Times New Roman"/>
                <a:cs typeface="Times New Roman"/>
              </a:rPr>
              <a:t>5</a:t>
            </a:r>
            <a:r>
              <a:rPr dirty="0" sz="2650" spc="35">
                <a:latin typeface="Arial Unicode MS"/>
                <a:cs typeface="Arial Unicode MS"/>
              </a:rPr>
              <a:t>章</a:t>
            </a:r>
            <a:endParaRPr sz="26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650" spc="35">
                <a:latin typeface="Arial Unicode MS"/>
                <a:cs typeface="Arial Unicode MS"/>
              </a:rPr>
              <a:t>配位滴定法</a:t>
            </a:r>
            <a:endParaRPr sz="26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8891" y="1064971"/>
            <a:ext cx="3540760" cy="596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1135">
                <a:latin typeface="Arial Unicode MS"/>
                <a:cs typeface="Arial Unicode MS"/>
              </a:rPr>
              <a:t>“</a:t>
            </a:r>
            <a:r>
              <a:rPr dirty="0" sz="1600" spc="-10">
                <a:latin typeface="Arial Unicode MS"/>
                <a:cs typeface="Arial Unicode MS"/>
              </a:rPr>
              <a:t>路漫漫其修远</a:t>
            </a:r>
            <a:r>
              <a:rPr dirty="0" sz="1600" spc="-110">
                <a:latin typeface="Arial Unicode MS"/>
                <a:cs typeface="Arial Unicode MS"/>
              </a:rPr>
              <a:t>兮</a:t>
            </a:r>
            <a:r>
              <a:rPr dirty="0" sz="1600" spc="-250">
                <a:latin typeface="Arial Unicode MS"/>
                <a:cs typeface="Arial Unicode MS"/>
              </a:rPr>
              <a:t>，</a:t>
            </a:r>
            <a:r>
              <a:rPr dirty="0" sz="1600" spc="-10">
                <a:latin typeface="Arial Unicode MS"/>
                <a:cs typeface="Arial Unicode MS"/>
              </a:rPr>
              <a:t>吾将上下而求</a:t>
            </a:r>
            <a:r>
              <a:rPr dirty="0" sz="1600" spc="-30">
                <a:latin typeface="Arial Unicode MS"/>
                <a:cs typeface="Arial Unicode MS"/>
              </a:rPr>
              <a:t>索</a:t>
            </a:r>
            <a:r>
              <a:rPr dirty="0" sz="1600" spc="-760">
                <a:latin typeface="Arial Unicode MS"/>
                <a:cs typeface="Arial Unicode MS"/>
              </a:rPr>
              <a:t>。</a:t>
            </a:r>
            <a:r>
              <a:rPr dirty="0" sz="1600" spc="1060">
                <a:latin typeface="Arial Unicode MS"/>
                <a:cs typeface="Arial Unicode MS"/>
              </a:rPr>
              <a:t>”</a:t>
            </a:r>
            <a:endParaRPr sz="1600">
              <a:latin typeface="Arial Unicode MS"/>
              <a:cs typeface="Arial Unicode MS"/>
            </a:endParaRPr>
          </a:p>
          <a:p>
            <a:pPr algn="r" marR="5080">
              <a:lnSpc>
                <a:spcPct val="100000"/>
              </a:lnSpc>
              <a:spcBef>
                <a:spcPts val="1140"/>
              </a:spcBef>
            </a:pP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200" spc="-5">
                <a:latin typeface="Arial Unicode MS"/>
                <a:cs typeface="Arial Unicode MS"/>
              </a:rPr>
              <a:t>屈原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73037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5.1</a:t>
            </a:r>
            <a:r>
              <a:rPr dirty="0" sz="14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酸碱的电子理论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668081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2153424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5844" y="1042453"/>
            <a:ext cx="4337050" cy="144399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100" spc="-35">
                <a:latin typeface="Georgia"/>
                <a:cs typeface="Georgia"/>
              </a:rPr>
              <a:t>1923</a:t>
            </a:r>
            <a:r>
              <a:rPr dirty="0" sz="1100" spc="-13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路易</a:t>
            </a:r>
            <a:r>
              <a:rPr dirty="0" sz="1200" spc="-260">
                <a:latin typeface="Arial Unicode MS"/>
                <a:cs typeface="Arial Unicode MS"/>
              </a:rPr>
              <a:t>斯</a:t>
            </a:r>
            <a:r>
              <a:rPr dirty="0" sz="1200" spc="-55">
                <a:latin typeface="Arial Unicode MS"/>
                <a:cs typeface="Arial Unicode MS"/>
              </a:rPr>
              <a:t>（</a:t>
            </a:r>
            <a:r>
              <a:rPr dirty="0" sz="1100" spc="-55">
                <a:latin typeface="Georgia"/>
                <a:cs typeface="Georgia"/>
              </a:rPr>
              <a:t>Lewis</a:t>
            </a:r>
            <a:r>
              <a:rPr dirty="0" sz="1200" spc="-5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提出酸碱的电子理</a:t>
            </a:r>
            <a:r>
              <a:rPr dirty="0" sz="1200" spc="-80">
                <a:latin typeface="Arial Unicode MS"/>
                <a:cs typeface="Arial Unicode MS"/>
              </a:rPr>
              <a:t>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并定义了路易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斯酸和</a:t>
            </a:r>
            <a:r>
              <a:rPr dirty="0" sz="1200" spc="-90">
                <a:latin typeface="Arial Unicode MS"/>
                <a:cs typeface="Arial Unicode MS"/>
              </a:rPr>
              <a:t>碱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5"/>
              </a:spcBef>
            </a:pPr>
            <a:r>
              <a:rPr dirty="0" sz="1100" spc="-25">
                <a:latin typeface="Georgia"/>
                <a:cs typeface="Georgia"/>
              </a:rPr>
              <a:t>Lewis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酸是能够接受电子对形成配位键的物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又称电子对的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受</a:t>
            </a:r>
            <a:r>
              <a:rPr dirty="0" sz="1200" spc="-65">
                <a:latin typeface="Arial Unicode MS"/>
                <a:cs typeface="Arial Unicode MS"/>
              </a:rPr>
              <a:t>体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100" spc="-25">
                <a:latin typeface="Georgia"/>
                <a:cs typeface="Georgia"/>
              </a:rPr>
              <a:t>Lewis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碱是能够给出电子对形成配位键的物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又称电子对的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给</a:t>
            </a:r>
            <a:r>
              <a:rPr dirty="0" sz="1200" spc="-20">
                <a:latin typeface="Arial Unicode MS"/>
                <a:cs typeface="Arial Unicode MS"/>
              </a:rPr>
              <a:t>体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766991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按照路易斯的酸碱电子理</a:t>
            </a:r>
            <a:r>
              <a:rPr dirty="0" sz="1200" spc="-80">
                <a:latin typeface="Arial Unicode MS"/>
                <a:cs typeface="Arial Unicode MS"/>
              </a:rPr>
              <a:t>论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酸碱反应的实质是碱提</a:t>
            </a:r>
            <a:r>
              <a:rPr dirty="0" sz="1200" spc="-5">
                <a:latin typeface="Arial Unicode MS"/>
                <a:cs typeface="Arial Unicode MS"/>
              </a:rPr>
              <a:t>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电子</a:t>
            </a:r>
            <a:r>
              <a:rPr dirty="0" sz="1200" spc="-80">
                <a:latin typeface="Arial Unicode MS"/>
                <a:cs typeface="Arial Unicode MS"/>
              </a:rPr>
              <a:t>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酸以空轨道接受电子对形成配位</a:t>
            </a:r>
            <a:r>
              <a:rPr dirty="0" sz="1200" spc="-80">
                <a:latin typeface="Arial Unicode MS"/>
                <a:cs typeface="Arial Unicode MS"/>
              </a:rPr>
              <a:t>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8726" y="1408353"/>
            <a:ext cx="12109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10">
                <a:latin typeface="Georgia"/>
                <a:cs typeface="Georgia"/>
              </a:rPr>
              <a:t>A+ </a:t>
            </a:r>
            <a:r>
              <a:rPr dirty="0" sz="1100" spc="-45">
                <a:latin typeface="Georgia"/>
                <a:cs typeface="Georgia"/>
              </a:rPr>
              <a:t>: </a:t>
            </a:r>
            <a:r>
              <a:rPr dirty="0" sz="1100" spc="50">
                <a:latin typeface="Georgia"/>
                <a:cs typeface="Georgia"/>
              </a:rPr>
              <a:t>B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45">
                <a:latin typeface="宋体"/>
                <a:cs typeface="宋体"/>
              </a:rPr>
              <a:t> </a:t>
            </a:r>
            <a:r>
              <a:rPr dirty="0" sz="1100" spc="80">
                <a:latin typeface="Georgia"/>
                <a:cs typeface="Georgia"/>
              </a:rPr>
              <a:t>A </a:t>
            </a:r>
            <a:r>
              <a:rPr dirty="0" sz="1100" spc="-45">
                <a:latin typeface="Georgia"/>
                <a:cs typeface="Georgia"/>
              </a:rPr>
              <a:t>: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B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716443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此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金属阳离子及缺电子的分子都是</a:t>
            </a:r>
            <a:r>
              <a:rPr dirty="0" sz="1200" spc="-80">
                <a:latin typeface="Arial Unicode MS"/>
                <a:cs typeface="Arial Unicode MS"/>
              </a:rPr>
              <a:t>酸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而与金属离子结</a:t>
            </a:r>
            <a:r>
              <a:rPr dirty="0" sz="1200" spc="-5">
                <a:latin typeface="Arial Unicode MS"/>
                <a:cs typeface="Arial Unicode MS"/>
              </a:rPr>
              <a:t>合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的阴离子或中性分子都是</a:t>
            </a:r>
            <a:r>
              <a:rPr dirty="0" sz="1200" spc="-20">
                <a:latin typeface="Arial Unicode MS"/>
                <a:cs typeface="Arial Unicode MS"/>
              </a:rPr>
              <a:t>碱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12522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0">
                <a:solidFill>
                  <a:srgbClr val="FFFFFF"/>
                </a:solidFill>
                <a:latin typeface="Georgia"/>
                <a:cs typeface="Georgia"/>
              </a:rPr>
              <a:t>5.1.1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软</a:t>
            </a:r>
            <a:r>
              <a:rPr dirty="0" sz="1050" spc="-10">
                <a:solidFill>
                  <a:srgbClr val="FFFFFF"/>
                </a:solidFill>
              </a:rPr>
              <a:t>硬</a:t>
            </a:r>
            <a:r>
              <a:rPr dirty="0" sz="1050" spc="-5">
                <a:solidFill>
                  <a:srgbClr val="FFFFFF"/>
                </a:solidFill>
              </a:rPr>
              <a:t>酸碱理论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675980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2161324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422982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684640"/>
            <a:ext cx="63233" cy="632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444" y="826655"/>
            <a:ext cx="4407535" cy="196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在酸碱电子理论的基础</a:t>
            </a:r>
            <a:r>
              <a:rPr dirty="0" sz="1200" spc="-80">
                <a:latin typeface="Arial Unicode MS"/>
                <a:cs typeface="Arial Unicode MS"/>
              </a:rPr>
              <a:t>上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皮尔</a:t>
            </a:r>
            <a:r>
              <a:rPr dirty="0" sz="1200" spc="-290">
                <a:latin typeface="Arial Unicode MS"/>
                <a:cs typeface="Arial Unicode MS"/>
              </a:rPr>
              <a:t>逊</a:t>
            </a:r>
            <a:r>
              <a:rPr dirty="0" sz="1200" spc="-55">
                <a:latin typeface="Arial Unicode MS"/>
                <a:cs typeface="Arial Unicode MS"/>
              </a:rPr>
              <a:t>（</a:t>
            </a:r>
            <a:r>
              <a:rPr dirty="0" sz="1100" spc="-55">
                <a:latin typeface="Georgia"/>
                <a:cs typeface="Georgia"/>
              </a:rPr>
              <a:t>Pearson</a:t>
            </a:r>
            <a:r>
              <a:rPr dirty="0" sz="1200" spc="-55">
                <a:latin typeface="Arial Unicode MS"/>
                <a:cs typeface="Arial Unicode MS"/>
              </a:rPr>
              <a:t>）</a:t>
            </a:r>
            <a:r>
              <a:rPr dirty="0" sz="1200" spc="175">
                <a:latin typeface="Arial Unicode MS"/>
                <a:cs typeface="Arial Unicode MS"/>
              </a:rPr>
              <a:t>于</a:t>
            </a:r>
            <a:r>
              <a:rPr dirty="0" sz="1100" spc="-40">
                <a:latin typeface="Georgia"/>
                <a:cs typeface="Georgia"/>
              </a:rPr>
              <a:t>1963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年提出</a:t>
            </a:r>
            <a:r>
              <a:rPr dirty="0" sz="1200" spc="-5">
                <a:latin typeface="Arial Unicode MS"/>
                <a:cs typeface="Arial Unicode MS"/>
              </a:rPr>
              <a:t>了 </a:t>
            </a:r>
            <a:r>
              <a:rPr dirty="0" sz="1200" spc="-10">
                <a:latin typeface="Arial Unicode MS"/>
                <a:cs typeface="Arial Unicode MS"/>
              </a:rPr>
              <a:t>软硬酸碱理</a:t>
            </a:r>
            <a:r>
              <a:rPr dirty="0" sz="1200" spc="-80">
                <a:latin typeface="Arial Unicode MS"/>
                <a:cs typeface="Arial Unicode MS"/>
              </a:rPr>
              <a:t>论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能更好地描述实际的化学反</a:t>
            </a:r>
            <a:r>
              <a:rPr dirty="0" sz="1200" spc="-20">
                <a:latin typeface="Arial Unicode MS"/>
                <a:cs typeface="Arial Unicode MS"/>
              </a:rPr>
              <a:t>应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软硬酸碱的定义</a:t>
            </a:r>
            <a:r>
              <a:rPr dirty="0" sz="1200" spc="-5">
                <a:latin typeface="Arial Unicode MS"/>
                <a:cs typeface="Arial Unicode MS"/>
              </a:rPr>
              <a:t>如 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303530" marR="135255">
              <a:lnSpc>
                <a:spcPct val="122300"/>
              </a:lnSpc>
              <a:spcBef>
                <a:spcPts val="300"/>
              </a:spcBef>
            </a:pPr>
            <a:r>
              <a:rPr dirty="0" sz="1200" spc="-5">
                <a:latin typeface="Arial Unicode MS"/>
                <a:cs typeface="Arial Unicode MS"/>
              </a:rPr>
              <a:t>硬酸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指半径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电荷高的离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如碱土金属离子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65">
                <a:latin typeface="Georgia"/>
                <a:cs typeface="Georgia"/>
              </a:rPr>
              <a:t>Ti</a:t>
            </a:r>
            <a:r>
              <a:rPr dirty="0" baseline="37037" sz="900" spc="97">
                <a:latin typeface="Times New Roman"/>
                <a:cs typeface="Times New Roman"/>
              </a:rPr>
              <a:t>4+</a:t>
            </a:r>
            <a:r>
              <a:rPr dirty="0" sz="1200" spc="65">
                <a:latin typeface="Arial Unicode MS"/>
                <a:cs typeface="Arial Unicode MS"/>
              </a:rPr>
              <a:t>，  </a:t>
            </a:r>
            <a:r>
              <a:rPr dirty="0" sz="1100" spc="35">
                <a:latin typeface="Georgia"/>
                <a:cs typeface="Georgia"/>
              </a:rPr>
              <a:t>Fe</a:t>
            </a:r>
            <a:r>
              <a:rPr dirty="0" baseline="37037" sz="900" spc="52">
                <a:latin typeface="Times New Roman"/>
                <a:cs typeface="Times New Roman"/>
              </a:rPr>
              <a:t>3+</a:t>
            </a:r>
            <a:r>
              <a:rPr dirty="0" sz="1200" spc="35">
                <a:latin typeface="Arial Unicode MS"/>
                <a:cs typeface="Arial Unicode MS"/>
              </a:rPr>
              <a:t>，</a:t>
            </a:r>
            <a:r>
              <a:rPr dirty="0" sz="1100" spc="35">
                <a:latin typeface="Georgia"/>
                <a:cs typeface="Georgia"/>
              </a:rPr>
              <a:t>Al</a:t>
            </a:r>
            <a:r>
              <a:rPr dirty="0" baseline="37037" sz="900" spc="52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65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软酸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指半径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电荷低的离子</a:t>
            </a:r>
            <a:r>
              <a:rPr dirty="0" sz="1200" spc="175">
                <a:latin typeface="Arial Unicode MS"/>
                <a:cs typeface="Arial Unicode MS"/>
              </a:rPr>
              <a:t>如</a:t>
            </a:r>
            <a:r>
              <a:rPr dirty="0" sz="1100" spc="35">
                <a:latin typeface="Georgia"/>
                <a:cs typeface="Georgia"/>
              </a:rPr>
              <a:t>Ag</a:t>
            </a:r>
            <a:r>
              <a:rPr dirty="0" baseline="37037" sz="900" spc="52">
                <a:latin typeface="Times New Roman"/>
                <a:cs typeface="Times New Roman"/>
              </a:rPr>
              <a:t>+</a:t>
            </a:r>
            <a:r>
              <a:rPr dirty="0" sz="1200" spc="35">
                <a:latin typeface="Arial Unicode MS"/>
                <a:cs typeface="Arial Unicode MS"/>
              </a:rPr>
              <a:t>，</a:t>
            </a:r>
            <a:r>
              <a:rPr dirty="0" sz="1100" spc="35">
                <a:latin typeface="Georgia"/>
                <a:cs typeface="Georgia"/>
              </a:rPr>
              <a:t>Pt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sz="1200" spc="35">
                <a:latin typeface="Arial Unicode MS"/>
                <a:cs typeface="Arial Unicode MS"/>
              </a:rPr>
              <a:t>，</a:t>
            </a:r>
            <a:r>
              <a:rPr dirty="0" sz="1100" spc="35">
                <a:latin typeface="Georgia"/>
                <a:cs typeface="Georgia"/>
              </a:rPr>
              <a:t>Hg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-65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硬碱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指半径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变形小的阴离子</a:t>
            </a:r>
            <a:r>
              <a:rPr dirty="0" sz="1200" spc="175">
                <a:latin typeface="Arial Unicode MS"/>
                <a:cs typeface="Arial Unicode MS"/>
              </a:rPr>
              <a:t>如</a:t>
            </a:r>
            <a:r>
              <a:rPr dirty="0" sz="1100" spc="20">
                <a:latin typeface="Georgia"/>
                <a:cs typeface="Georgia"/>
              </a:rPr>
              <a:t>F</a:t>
            </a:r>
            <a:r>
              <a:rPr dirty="0" baseline="37037" sz="900" spc="30">
                <a:latin typeface="Lucida Sans Unicode"/>
                <a:cs typeface="Lucida Sans Unicode"/>
              </a:rPr>
              <a:t>−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37037" sz="900" spc="30">
                <a:latin typeface="Times New Roman"/>
                <a:cs typeface="Times New Roman"/>
              </a:rPr>
              <a:t>2</a:t>
            </a:r>
            <a:r>
              <a:rPr dirty="0" baseline="37037" sz="900" spc="30">
                <a:latin typeface="Lucida Sans Unicode"/>
                <a:cs typeface="Lucida Sans Unicode"/>
              </a:rPr>
              <a:t>−</a:t>
            </a:r>
            <a:r>
              <a:rPr dirty="0" baseline="37037" sz="900" spc="52">
                <a:latin typeface="Lucida Sans Unicode"/>
                <a:cs typeface="Lucida Sans Unicode"/>
              </a:rPr>
              <a:t> </a:t>
            </a:r>
            <a:r>
              <a:rPr dirty="0" sz="1200" spc="-65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软碱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指半径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变形大的阴离子</a:t>
            </a:r>
            <a:r>
              <a:rPr dirty="0" sz="1200" spc="175">
                <a:latin typeface="Arial Unicode MS"/>
                <a:cs typeface="Arial Unicode MS"/>
              </a:rPr>
              <a:t>如</a:t>
            </a:r>
            <a:r>
              <a:rPr dirty="0" sz="1100" spc="-50">
                <a:latin typeface="Georgia"/>
                <a:cs typeface="Georgia"/>
              </a:rPr>
              <a:t>I</a:t>
            </a:r>
            <a:r>
              <a:rPr dirty="0" baseline="37037" sz="900" spc="-75">
                <a:latin typeface="Lucida Sans Unicode"/>
                <a:cs typeface="Lucida Sans Unicode"/>
              </a:rPr>
              <a:t>−</a:t>
            </a:r>
            <a:r>
              <a:rPr dirty="0" sz="1200" spc="-50">
                <a:latin typeface="Arial Unicode MS"/>
                <a:cs typeface="Arial Unicode MS"/>
              </a:rPr>
              <a:t>，</a:t>
            </a:r>
            <a:r>
              <a:rPr dirty="0" sz="1100" spc="-50">
                <a:latin typeface="Georgia"/>
                <a:cs typeface="Georgia"/>
              </a:rPr>
              <a:t>Br</a:t>
            </a:r>
            <a:r>
              <a:rPr dirty="0" baseline="37037" sz="900" spc="-75">
                <a:latin typeface="Lucida Sans Unicode"/>
                <a:cs typeface="Lucida Sans Unicode"/>
              </a:rPr>
              <a:t>−</a:t>
            </a:r>
            <a:r>
              <a:rPr dirty="0" sz="1200" spc="-50">
                <a:latin typeface="Arial Unicode MS"/>
                <a:cs typeface="Arial Unicode MS"/>
              </a:rPr>
              <a:t>，</a:t>
            </a:r>
            <a:r>
              <a:rPr dirty="0" sz="1100" spc="-50">
                <a:latin typeface="Georgia"/>
                <a:cs typeface="Georgia"/>
              </a:rPr>
              <a:t>ClO</a:t>
            </a:r>
            <a:r>
              <a:rPr dirty="0" baseline="37037" sz="900" spc="-75">
                <a:latin typeface="Lucida Sans Unicode"/>
                <a:cs typeface="Lucida Sans Unicode"/>
              </a:rPr>
              <a:t>−</a:t>
            </a:r>
            <a:r>
              <a:rPr dirty="0" baseline="-23148" sz="900" spc="-75">
                <a:latin typeface="Times New Roman"/>
                <a:cs typeface="Times New Roman"/>
              </a:rPr>
              <a:t>4</a:t>
            </a:r>
            <a:r>
              <a:rPr dirty="0" baseline="-23148" sz="900" spc="-22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599" y="71287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1553" y="258572"/>
            <a:ext cx="2673350" cy="559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latin typeface="Arial Unicode MS"/>
                <a:cs typeface="Arial Unicode MS"/>
              </a:rPr>
              <a:t>软</a:t>
            </a:r>
            <a:r>
              <a:rPr dirty="0" sz="1050" spc="-5">
                <a:latin typeface="Arial Unicode MS"/>
                <a:cs typeface="Arial Unicode MS"/>
              </a:rPr>
              <a:t>硬酸碱理</a:t>
            </a:r>
            <a:r>
              <a:rPr dirty="0" sz="1050" spc="-10">
                <a:latin typeface="Arial Unicode MS"/>
                <a:cs typeface="Arial Unicode MS"/>
              </a:rPr>
              <a:t>论</a:t>
            </a:r>
            <a:r>
              <a:rPr dirty="0" sz="1050" spc="-5">
                <a:latin typeface="Arial Unicode MS"/>
                <a:cs typeface="Arial Unicode MS"/>
              </a:rPr>
              <a:t>还把化</a:t>
            </a:r>
            <a:r>
              <a:rPr dirty="0" sz="1050" spc="-10">
                <a:latin typeface="Arial Unicode MS"/>
                <a:cs typeface="Arial Unicode MS"/>
              </a:rPr>
              <a:t>学</a:t>
            </a:r>
            <a:r>
              <a:rPr dirty="0" sz="1050" spc="-5">
                <a:latin typeface="Arial Unicode MS"/>
                <a:cs typeface="Arial Unicode MS"/>
              </a:rPr>
              <a:t>反应归纳</a:t>
            </a:r>
            <a:r>
              <a:rPr dirty="0" sz="1050" spc="-10">
                <a:latin typeface="Arial Unicode MS"/>
                <a:cs typeface="Arial Unicode MS"/>
              </a:rPr>
              <a:t>为</a:t>
            </a:r>
            <a:r>
              <a:rPr dirty="0" sz="1050" spc="-5">
                <a:latin typeface="Arial Unicode MS"/>
                <a:cs typeface="Arial Unicode MS"/>
              </a:rPr>
              <a:t>如下四</a:t>
            </a:r>
            <a:r>
              <a:rPr dirty="0" sz="1050" spc="-80">
                <a:latin typeface="Arial Unicode MS"/>
                <a:cs typeface="Arial Unicode MS"/>
              </a:rPr>
              <a:t>种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latin typeface="Arial Unicode MS"/>
                <a:cs typeface="Arial Unicode MS"/>
              </a:rPr>
              <a:t>酸</a:t>
            </a:r>
            <a:r>
              <a:rPr dirty="0" sz="1050" spc="-5">
                <a:latin typeface="Arial Unicode MS"/>
                <a:cs typeface="Arial Unicode MS"/>
              </a:rPr>
              <a:t>碱加合反</a:t>
            </a:r>
            <a:r>
              <a:rPr dirty="0" sz="1050" spc="-80">
                <a:latin typeface="Arial Unicode MS"/>
                <a:cs typeface="Arial Unicode MS"/>
              </a:rPr>
              <a:t>应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6542" y="822502"/>
            <a:ext cx="1035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215">
                <a:latin typeface="Times New Roman"/>
                <a:cs typeface="Times New Roman"/>
              </a:rPr>
              <a:t>+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6623" y="836790"/>
            <a:ext cx="6775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30">
                <a:latin typeface="Georgia"/>
                <a:cs typeface="Georgia"/>
              </a:rPr>
              <a:t>Ag</a:t>
            </a:r>
            <a:r>
              <a:rPr dirty="0" sz="1000" spc="30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2NH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8235" y="893724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8250" y="927589"/>
            <a:ext cx="272415" cy="85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 spc="545">
                <a:latin typeface="Times New Roman"/>
                <a:cs typeface="Times New Roman"/>
              </a:rPr>
              <a:t>�</a:t>
            </a:r>
            <a:r>
              <a:rPr dirty="0" sz="400" spc="275">
                <a:latin typeface="Times New Roman"/>
                <a:cs typeface="Times New Roman"/>
              </a:rPr>
              <a:t> </a:t>
            </a:r>
            <a:r>
              <a:rPr dirty="0" sz="400" spc="185">
                <a:latin typeface="Times New Roman"/>
                <a:cs typeface="Times New Roman"/>
              </a:rPr>
              <a:t> </a:t>
            </a:r>
            <a:r>
              <a:rPr dirty="0" sz="400" spc="500">
                <a:latin typeface="Times New Roman"/>
                <a:cs typeface="Times New Roman"/>
              </a:rPr>
              <a:t> 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1710" y="893724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39174" y="836790"/>
            <a:ext cx="8896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6944" sz="600" spc="277">
                <a:latin typeface="Times New Roman"/>
                <a:cs typeface="Times New Roman"/>
              </a:rPr>
              <a:t> </a:t>
            </a:r>
            <a:r>
              <a:rPr dirty="0" baseline="6944" sz="600" spc="750">
                <a:latin typeface="Times New Roman"/>
                <a:cs typeface="Times New Roman"/>
              </a:rPr>
              <a:t> </a:t>
            </a:r>
            <a:r>
              <a:rPr dirty="0" baseline="6944" sz="600" spc="-52">
                <a:latin typeface="Times New Roman"/>
                <a:cs typeface="Times New Roman"/>
              </a:rPr>
              <a:t> </a:t>
            </a:r>
            <a:r>
              <a:rPr dirty="0" baseline="6944" sz="600" spc="750">
                <a:latin typeface="Times New Roman"/>
                <a:cs typeface="Times New Roman"/>
              </a:rPr>
              <a:t> </a:t>
            </a:r>
            <a:r>
              <a:rPr dirty="0" baseline="6944" sz="600">
                <a:latin typeface="Times New Roman"/>
                <a:cs typeface="Times New Roman"/>
              </a:rPr>
              <a:t>    </a:t>
            </a:r>
            <a:r>
              <a:rPr dirty="0" baseline="6944" sz="600" spc="-7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Georgia"/>
                <a:cs typeface="Georgia"/>
              </a:rPr>
              <a:t>Ag(NH</a:t>
            </a:r>
            <a:r>
              <a:rPr dirty="0" sz="1000" spc="165">
                <a:latin typeface="Georgia"/>
                <a:cs typeface="Georgia"/>
              </a:rPr>
              <a:t> </a:t>
            </a:r>
            <a:r>
              <a:rPr dirty="0" sz="1000" spc="1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7679" y="820623"/>
            <a:ext cx="1035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215">
                <a:latin typeface="Times New Roman"/>
                <a:cs typeface="Times New Roman"/>
              </a:rPr>
              <a:t>+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77679" y="908494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4599" y="1221511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91553" y="1141717"/>
            <a:ext cx="81343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latin typeface="Arial Unicode MS"/>
                <a:cs typeface="Arial Unicode MS"/>
              </a:rPr>
              <a:t>碱</a:t>
            </a:r>
            <a:r>
              <a:rPr dirty="0" sz="1050" spc="-5">
                <a:latin typeface="Arial Unicode MS"/>
                <a:cs typeface="Arial Unicode MS"/>
              </a:rPr>
              <a:t>取代反</a:t>
            </a:r>
            <a:r>
              <a:rPr dirty="0" sz="1050" spc="-80">
                <a:latin typeface="Arial Unicode MS"/>
                <a:cs typeface="Arial Unicode MS"/>
              </a:rPr>
              <a:t>应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8889" y="1528889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4858" y="1455788"/>
            <a:ext cx="1536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130">
                <a:latin typeface="Times New Roman"/>
                <a:cs typeface="Times New Roman"/>
              </a:rPr>
              <a:t>2+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4858" y="1543647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52829" y="1471955"/>
            <a:ext cx="12077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06755" algn="l"/>
              </a:tabLst>
            </a:pPr>
            <a:r>
              <a:rPr dirty="0" sz="1000" spc="-5">
                <a:latin typeface="Georgia"/>
                <a:cs typeface="Georgia"/>
              </a:rPr>
              <a:t>Cu(NH</a:t>
            </a:r>
            <a:r>
              <a:rPr dirty="0" sz="1000" spc="200">
                <a:latin typeface="Georgia"/>
                <a:cs typeface="Georgia"/>
              </a:rPr>
              <a:t> </a:t>
            </a:r>
            <a:r>
              <a:rPr dirty="0" sz="1000" spc="10">
                <a:latin typeface="Georgia"/>
                <a:cs typeface="Georgia"/>
              </a:rPr>
              <a:t>)	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55">
                <a:latin typeface="Georgia"/>
                <a:cs typeface="Georgia"/>
              </a:rPr>
              <a:t> </a:t>
            </a:r>
            <a:r>
              <a:rPr dirty="0" sz="1000" spc="40">
                <a:latin typeface="Georgia"/>
                <a:cs typeface="Georgia"/>
              </a:rPr>
              <a:t>2OH</a:t>
            </a:r>
            <a:r>
              <a:rPr dirty="0" baseline="31746" sz="1050" spc="60" b="0" i="1">
                <a:latin typeface="Calibri Light"/>
                <a:cs typeface="Calibri Light"/>
              </a:rPr>
              <a:t>−</a:t>
            </a:r>
            <a:endParaRPr baseline="31746" sz="105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79167" y="1562741"/>
            <a:ext cx="272415" cy="85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 spc="545">
                <a:latin typeface="Times New Roman"/>
                <a:cs typeface="Times New Roman"/>
              </a:rPr>
              <a:t>�</a:t>
            </a:r>
            <a:r>
              <a:rPr dirty="0" sz="400" spc="275">
                <a:latin typeface="Times New Roman"/>
                <a:cs typeface="Times New Roman"/>
              </a:rPr>
              <a:t> </a:t>
            </a:r>
            <a:r>
              <a:rPr dirty="0" sz="400" spc="180">
                <a:latin typeface="Times New Roman"/>
                <a:cs typeface="Times New Roman"/>
              </a:rPr>
              <a:t> </a:t>
            </a:r>
            <a:r>
              <a:rPr dirty="0" sz="400" spc="500">
                <a:latin typeface="Times New Roman"/>
                <a:cs typeface="Times New Roman"/>
              </a:rPr>
              <a:t> 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60091" y="1471955"/>
            <a:ext cx="1367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6944" sz="600" spc="277">
                <a:latin typeface="Times New Roman"/>
                <a:cs typeface="Times New Roman"/>
              </a:rPr>
              <a:t> </a:t>
            </a:r>
            <a:r>
              <a:rPr dirty="0" baseline="6944" sz="600" spc="750">
                <a:latin typeface="Times New Roman"/>
                <a:cs typeface="Times New Roman"/>
              </a:rPr>
              <a:t> </a:t>
            </a:r>
            <a:r>
              <a:rPr dirty="0" baseline="6944" sz="600" spc="-52">
                <a:latin typeface="Times New Roman"/>
                <a:cs typeface="Times New Roman"/>
              </a:rPr>
              <a:t> </a:t>
            </a:r>
            <a:r>
              <a:rPr dirty="0" baseline="6944" sz="600" spc="750">
                <a:latin typeface="Times New Roman"/>
                <a:cs typeface="Times New Roman"/>
              </a:rPr>
              <a:t> </a:t>
            </a:r>
            <a:r>
              <a:rPr dirty="0" baseline="6944" sz="600">
                <a:latin typeface="Times New Roman"/>
                <a:cs typeface="Times New Roman"/>
              </a:rPr>
              <a:t>    </a:t>
            </a:r>
            <a:r>
              <a:rPr dirty="0" baseline="6944" sz="600" spc="-7">
                <a:latin typeface="Times New Roman"/>
                <a:cs typeface="Times New Roman"/>
              </a:rPr>
              <a:t> </a:t>
            </a:r>
            <a:r>
              <a:rPr dirty="0" sz="1000" spc="10">
                <a:latin typeface="Georgia"/>
                <a:cs typeface="Georgia"/>
              </a:rPr>
              <a:t>Cu(OH)</a:t>
            </a:r>
            <a:r>
              <a:rPr dirty="0" baseline="-11904" sz="1050" spc="15">
                <a:latin typeface="Times New Roman"/>
                <a:cs typeface="Times New Roman"/>
              </a:rPr>
              <a:t>2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15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4NH</a:t>
            </a:r>
            <a:r>
              <a:rPr dirty="0" baseline="-11904" sz="1050" spc="-44">
                <a:latin typeface="Times New Roman"/>
                <a:cs typeface="Times New Roman"/>
              </a:rPr>
              <a:t>3</a:t>
            </a:r>
            <a:endParaRPr baseline="-11904" sz="1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4599" y="1907273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91553" y="1827491"/>
            <a:ext cx="81343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latin typeface="Arial Unicode MS"/>
                <a:cs typeface="Arial Unicode MS"/>
              </a:rPr>
              <a:t>酸</a:t>
            </a:r>
            <a:r>
              <a:rPr dirty="0" sz="1050" spc="-5">
                <a:latin typeface="Arial Unicode MS"/>
                <a:cs typeface="Arial Unicode MS"/>
              </a:rPr>
              <a:t>取代反</a:t>
            </a:r>
            <a:r>
              <a:rPr dirty="0" sz="1050" spc="-80">
                <a:latin typeface="Arial Unicode MS"/>
                <a:cs typeface="Arial Unicode MS"/>
              </a:rPr>
              <a:t>应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22196" y="2214651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8164" y="2229421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21536" y="2157717"/>
            <a:ext cx="9798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1355" algn="l"/>
              </a:tabLst>
            </a:pPr>
            <a:r>
              <a:rPr dirty="0" sz="1000" spc="-5">
                <a:latin typeface="Georgia"/>
                <a:cs typeface="Georgia"/>
              </a:rPr>
              <a:t>Cu(NH</a:t>
            </a:r>
            <a:r>
              <a:rPr dirty="0" sz="1000" spc="200">
                <a:latin typeface="Georgia"/>
                <a:cs typeface="Georgia"/>
              </a:rPr>
              <a:t> </a:t>
            </a:r>
            <a:r>
              <a:rPr dirty="0" sz="1000" spc="10">
                <a:latin typeface="Georgia"/>
                <a:cs typeface="Georgia"/>
              </a:rPr>
              <a:t>)	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4H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28164" y="2143442"/>
            <a:ext cx="5505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740" algn="l"/>
              </a:tabLst>
            </a:pPr>
            <a:r>
              <a:rPr dirty="0" sz="700" spc="130">
                <a:latin typeface="Times New Roman"/>
                <a:cs typeface="Times New Roman"/>
              </a:rPr>
              <a:t>2+</a:t>
            </a:r>
            <a:r>
              <a:rPr dirty="0" sz="700" spc="130">
                <a:latin typeface="Times New Roman"/>
                <a:cs typeface="Times New Roman"/>
              </a:rPr>
              <a:t>	</a:t>
            </a:r>
            <a:r>
              <a:rPr dirty="0" sz="700" spc="215">
                <a:latin typeface="Times New Roman"/>
                <a:cs typeface="Times New Roman"/>
              </a:rPr>
              <a:t>+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22664" y="2248516"/>
            <a:ext cx="272415" cy="85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 spc="545">
                <a:latin typeface="Times New Roman"/>
                <a:cs typeface="Times New Roman"/>
              </a:rPr>
              <a:t>�</a:t>
            </a:r>
            <a:r>
              <a:rPr dirty="0" sz="400" spc="275">
                <a:latin typeface="Times New Roman"/>
                <a:cs typeface="Times New Roman"/>
              </a:rPr>
              <a:t> </a:t>
            </a:r>
            <a:r>
              <a:rPr dirty="0" sz="400" spc="180">
                <a:latin typeface="Times New Roman"/>
                <a:cs typeface="Times New Roman"/>
              </a:rPr>
              <a:t> </a:t>
            </a:r>
            <a:r>
              <a:rPr dirty="0" sz="400" spc="500">
                <a:latin typeface="Times New Roman"/>
                <a:cs typeface="Times New Roman"/>
              </a:rPr>
              <a:t> 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03589" y="2157717"/>
            <a:ext cx="10902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71830" algn="l"/>
              </a:tabLst>
            </a:pPr>
            <a:r>
              <a:rPr dirty="0" baseline="6944" sz="600" spc="277">
                <a:latin typeface="Times New Roman"/>
                <a:cs typeface="Times New Roman"/>
              </a:rPr>
              <a:t> </a:t>
            </a:r>
            <a:r>
              <a:rPr dirty="0" baseline="6944" sz="600" spc="750">
                <a:latin typeface="Times New Roman"/>
                <a:cs typeface="Times New Roman"/>
              </a:rPr>
              <a:t> </a:t>
            </a:r>
            <a:r>
              <a:rPr dirty="0" baseline="6944" sz="600" spc="-52">
                <a:latin typeface="Times New Roman"/>
                <a:cs typeface="Times New Roman"/>
              </a:rPr>
              <a:t> </a:t>
            </a:r>
            <a:r>
              <a:rPr dirty="0" baseline="6944" sz="600" spc="750">
                <a:latin typeface="Times New Roman"/>
                <a:cs typeface="Times New Roman"/>
              </a:rPr>
              <a:t> </a:t>
            </a:r>
            <a:r>
              <a:rPr dirty="0" baseline="6944" sz="600">
                <a:latin typeface="Times New Roman"/>
                <a:cs typeface="Times New Roman"/>
              </a:rPr>
              <a:t>    </a:t>
            </a:r>
            <a:r>
              <a:rPr dirty="0" baseline="6944" sz="600" spc="-7">
                <a:latin typeface="Times New Roman"/>
                <a:cs typeface="Times New Roman"/>
              </a:rPr>
              <a:t> </a:t>
            </a:r>
            <a:r>
              <a:rPr dirty="0" sz="1000" spc="25">
                <a:latin typeface="Georgia"/>
                <a:cs typeface="Georgia"/>
              </a:rPr>
              <a:t>Cu	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60">
                <a:latin typeface="Georgia"/>
                <a:cs typeface="Georgia"/>
              </a:rPr>
              <a:t> </a:t>
            </a:r>
            <a:r>
              <a:rPr dirty="0" sz="1000" spc="-55">
                <a:latin typeface="Georgia"/>
                <a:cs typeface="Georgia"/>
              </a:rPr>
              <a:t>4NH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00641" y="2143442"/>
            <a:ext cx="6457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4355" algn="l"/>
              </a:tabLst>
            </a:pPr>
            <a:r>
              <a:rPr dirty="0" sz="700" spc="130">
                <a:latin typeface="Times New Roman"/>
                <a:cs typeface="Times New Roman"/>
              </a:rPr>
              <a:t>2+</a:t>
            </a:r>
            <a:r>
              <a:rPr dirty="0" sz="700" spc="130">
                <a:latin typeface="Times New Roman"/>
                <a:cs typeface="Times New Roman"/>
              </a:rPr>
              <a:t>	</a:t>
            </a:r>
            <a:r>
              <a:rPr dirty="0" sz="700" spc="215">
                <a:latin typeface="Times New Roman"/>
                <a:cs typeface="Times New Roman"/>
              </a:rPr>
              <a:t>+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42766" y="2229421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74599" y="2593047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78853" y="2466758"/>
            <a:ext cx="3007360" cy="42799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59"/>
              </a:spcBef>
            </a:pPr>
            <a:r>
              <a:rPr dirty="0" sz="1050" spc="-10">
                <a:latin typeface="Arial Unicode MS"/>
                <a:cs typeface="Arial Unicode MS"/>
              </a:rPr>
              <a:t>双</a:t>
            </a:r>
            <a:r>
              <a:rPr dirty="0" sz="1050" spc="-5">
                <a:latin typeface="Arial Unicode MS"/>
                <a:cs typeface="Arial Unicode MS"/>
              </a:rPr>
              <a:t>取代反</a:t>
            </a:r>
            <a:r>
              <a:rPr dirty="0" sz="1050" spc="-80">
                <a:latin typeface="Arial Unicode MS"/>
                <a:cs typeface="Arial Unicode MS"/>
              </a:rPr>
              <a:t>应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  <a:p>
            <a:pPr marL="1159510">
              <a:lnSpc>
                <a:spcPct val="100000"/>
              </a:lnSpc>
              <a:spcBef>
                <a:spcPts val="345"/>
              </a:spcBef>
            </a:pPr>
            <a:r>
              <a:rPr dirty="0" sz="1000">
                <a:latin typeface="Georgia"/>
                <a:cs typeface="Georgia"/>
              </a:rPr>
              <a:t>HCl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-20">
                <a:latin typeface="Georgia"/>
                <a:cs typeface="Georgia"/>
              </a:rPr>
              <a:t>NaOH </a:t>
            </a:r>
            <a:r>
              <a:rPr dirty="0" baseline="-13888" sz="600" spc="-112">
                <a:latin typeface="Times New Roman"/>
                <a:cs typeface="Times New Roman"/>
              </a:rPr>
              <a:t>�</a:t>
            </a:r>
            <a:r>
              <a:rPr dirty="0" baseline="-13888" sz="600" spc="-112">
                <a:latin typeface="Times New Roman"/>
                <a:cs typeface="Times New Roman"/>
              </a:rPr>
              <a:t> </a:t>
            </a:r>
            <a:r>
              <a:rPr dirty="0" sz="1000" spc="10">
                <a:latin typeface="Georgia"/>
                <a:cs typeface="Georgia"/>
              </a:rPr>
              <a:t>NaCl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20">
                <a:latin typeface="Georgia"/>
                <a:cs typeface="Georgia"/>
              </a:rPr>
              <a:t>H</a:t>
            </a:r>
            <a:r>
              <a:rPr dirty="0" baseline="-11904" sz="1050" spc="30">
                <a:latin typeface="Times New Roman"/>
                <a:cs typeface="Times New Roman"/>
              </a:rPr>
              <a:t>2</a:t>
            </a:r>
            <a:r>
              <a:rPr dirty="0" sz="1000" spc="20">
                <a:latin typeface="Georgia"/>
                <a:cs typeface="Georgia"/>
              </a:rPr>
              <a:t>O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44" y="398742"/>
            <a:ext cx="427037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25400" marR="177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配位反应也可归入软硬酸碱反应的范</a:t>
            </a:r>
            <a:r>
              <a:rPr dirty="0" spc="-80"/>
              <a:t>畴</a:t>
            </a:r>
            <a:r>
              <a:rPr dirty="0" spc="-185"/>
              <a:t>，</a:t>
            </a:r>
            <a:r>
              <a:rPr dirty="0" spc="-5"/>
              <a:t>并可借助软硬酸碱 </a:t>
            </a:r>
            <a:r>
              <a:rPr dirty="0" spc="-5"/>
              <a:t>结合的原则来判定生成配合物的稳定</a:t>
            </a:r>
            <a:r>
              <a:rPr dirty="0" spc="-20"/>
              <a:t>性</a:t>
            </a:r>
            <a:r>
              <a:rPr dirty="0" spc="-235"/>
              <a:t>。</a:t>
            </a:r>
            <a:r>
              <a:rPr dirty="0" spc="-5"/>
              <a:t>例</a:t>
            </a:r>
            <a:r>
              <a:rPr dirty="0" spc="-80"/>
              <a:t>如</a:t>
            </a:r>
            <a:r>
              <a:rPr dirty="0" spc="30"/>
              <a:t>，</a:t>
            </a:r>
            <a:r>
              <a:rPr dirty="0" sz="1100" spc="30">
                <a:latin typeface="Georgia"/>
                <a:cs typeface="Georgia"/>
              </a:rPr>
              <a:t>Cu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baseline="37037" sz="900" spc="67">
                <a:latin typeface="Times New Roman"/>
                <a:cs typeface="Times New Roman"/>
              </a:rPr>
              <a:t> </a:t>
            </a:r>
            <a:r>
              <a:rPr dirty="0" sz="1200" spc="175"/>
              <a:t>与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/>
              <a:t>的配 位反应</a:t>
            </a:r>
            <a:r>
              <a:rPr dirty="0" sz="1200" spc="-90"/>
              <a:t>为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6541" y="1243393"/>
            <a:ext cx="32486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2336165" algn="l"/>
              </a:tabLst>
            </a:pPr>
            <a:r>
              <a:rPr dirty="0" sz="1100" spc="80">
                <a:latin typeface="Georgia"/>
                <a:cs typeface="Georgia"/>
              </a:rPr>
              <a:t>Cu</a:t>
            </a:r>
            <a:r>
              <a:rPr dirty="0" baseline="37037" sz="900" spc="120">
                <a:latin typeface="Times New Roman"/>
                <a:cs typeface="Times New Roman"/>
              </a:rPr>
              <a:t>2+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    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6172" sz="675" spc="-262">
                <a:latin typeface="宋体"/>
                <a:cs typeface="宋体"/>
              </a:rPr>
              <a:t>        </a:t>
            </a:r>
            <a:r>
              <a:rPr dirty="0" baseline="-18518" sz="675" spc="-262">
                <a:latin typeface="宋体"/>
                <a:cs typeface="宋体"/>
              </a:rPr>
              <a:t>    </a:t>
            </a:r>
            <a:r>
              <a:rPr dirty="0" baseline="-18518" sz="675" spc="-20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904">
                <a:latin typeface="宋体"/>
                <a:cs typeface="宋体"/>
              </a:rPr>
              <a:t> </a:t>
            </a:r>
            <a:r>
              <a:rPr dirty="0" sz="1100" spc="40">
                <a:latin typeface="Georgia"/>
                <a:cs typeface="Georgia"/>
              </a:rPr>
              <a:t>Cu(NH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sz="1100" spc="40">
                <a:latin typeface="Georgia"/>
                <a:cs typeface="Georgia"/>
              </a:rPr>
              <a:t>)</a:t>
            </a:r>
            <a:r>
              <a:rPr dirty="0" baseline="37037" sz="900" spc="60">
                <a:latin typeface="Times New Roman"/>
                <a:cs typeface="Times New Roman"/>
              </a:rPr>
              <a:t>2+	</a:t>
            </a:r>
            <a:r>
              <a:rPr dirty="0" sz="1100" spc="95" b="0" i="1">
                <a:latin typeface="Bookman Old Style"/>
                <a:cs typeface="Bookman Old Style"/>
              </a:rPr>
              <a:t>K</a:t>
            </a:r>
            <a:r>
              <a:rPr dirty="0" baseline="-13888" sz="900" spc="142">
                <a:latin typeface="Times New Roman"/>
                <a:cs typeface="Times New Roman"/>
              </a:rPr>
              <a:t>1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80">
                <a:latin typeface="Georgia"/>
                <a:cs typeface="Georgia"/>
              </a:rPr>
              <a:t>2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baseline="37037" sz="900">
                <a:latin typeface="Times New Roman"/>
                <a:cs typeface="Times New Roman"/>
              </a:rPr>
              <a:t>4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566" y="1479448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9241" y="1467091"/>
            <a:ext cx="1071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12470" algn="l"/>
              </a:tabLst>
            </a:pPr>
            <a:r>
              <a:rPr dirty="0" sz="1100" spc="-10">
                <a:latin typeface="Georgia"/>
                <a:cs typeface="Georgia"/>
              </a:rPr>
              <a:t>Cu(NH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4347" y="1541310"/>
            <a:ext cx="259079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5">
                <a:latin typeface="宋体"/>
                <a:cs typeface="宋体"/>
              </a:rPr>
              <a:t> </a:t>
            </a:r>
            <a:r>
              <a:rPr dirty="0" sz="450" spc="415">
                <a:latin typeface="宋体"/>
                <a:cs typeface="宋体"/>
              </a:rPr>
              <a:t> </a:t>
            </a:r>
            <a:r>
              <a:rPr dirty="0" sz="450" spc="-320">
                <a:latin typeface="宋体"/>
                <a:cs typeface="宋体"/>
              </a:rPr>
              <a:t>、</a:t>
            </a:r>
            <a:endParaRPr sz="4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7975" y="1550504"/>
            <a:ext cx="100139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9760" algn="l"/>
              </a:tabLst>
            </a:pPr>
            <a:r>
              <a:rPr dirty="0" sz="600" spc="65">
                <a:latin typeface="Times New Roman"/>
                <a:cs typeface="Times New Roman"/>
              </a:rPr>
              <a:t>3	3</a:t>
            </a:r>
            <a:r>
              <a:rPr dirty="0" sz="600" spc="200">
                <a:latin typeface="Times New Roman"/>
                <a:cs typeface="Times New Roman"/>
              </a:rPr>
              <a:t> </a:t>
            </a:r>
            <a:r>
              <a:rPr dirty="0" baseline="6172" sz="675" spc="607">
                <a:latin typeface="宋体"/>
                <a:cs typeface="宋体"/>
              </a:rPr>
              <a:t>`</a:t>
            </a:r>
            <a:r>
              <a:rPr dirty="0" baseline="6172" sz="675" spc="284">
                <a:latin typeface="宋体"/>
                <a:cs typeface="宋体"/>
              </a:rPr>
              <a:t> </a:t>
            </a:r>
            <a:r>
              <a:rPr dirty="0" baseline="6172" sz="675" spc="-7">
                <a:latin typeface="宋体"/>
                <a:cs typeface="宋体"/>
              </a:rPr>
              <a:t> </a:t>
            </a:r>
            <a:r>
              <a:rPr dirty="0" baseline="6172" sz="675" spc="652">
                <a:latin typeface="宋体"/>
                <a:cs typeface="宋体"/>
              </a:rPr>
              <a:t> </a:t>
            </a:r>
            <a:endParaRPr baseline="6172" sz="675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18473" y="155050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9751" y="1467091"/>
            <a:ext cx="5708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Cu(NH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5077" y="1479448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5077" y="156396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75216" y="1467091"/>
            <a:ext cx="9626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95" b="0" i="1">
                <a:latin typeface="Bookman Old Style"/>
                <a:cs typeface="Bookman Old Style"/>
              </a:rPr>
              <a:t>K</a:t>
            </a:r>
            <a:r>
              <a:rPr dirty="0" baseline="-13888" sz="900" spc="142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0">
                <a:latin typeface="Georgia"/>
                <a:cs typeface="Georgia"/>
              </a:rPr>
              <a:t>4</a:t>
            </a:r>
            <a:r>
              <a:rPr dirty="0" sz="1100" spc="-40" b="0" i="1">
                <a:latin typeface="Bookman Old Style"/>
                <a:cs typeface="Bookman Old Style"/>
              </a:rPr>
              <a:t>.</a:t>
            </a:r>
            <a:r>
              <a:rPr dirty="0" sz="1100" spc="-40">
                <a:latin typeface="Georgia"/>
                <a:cs typeface="Georgia"/>
              </a:rPr>
              <a:t>7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5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baseline="37037" sz="900">
                <a:latin typeface="Times New Roman"/>
                <a:cs typeface="Times New Roman"/>
              </a:rPr>
              <a:t>3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7975" y="177420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4566" y="1703146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4566" y="178766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9241" y="1690789"/>
            <a:ext cx="1071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12470" algn="l"/>
              </a:tabLst>
            </a:pPr>
            <a:r>
              <a:rPr dirty="0" sz="1100" spc="-10">
                <a:latin typeface="Georgia"/>
                <a:cs typeface="Georgia"/>
              </a:rPr>
              <a:t>Cu(NH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35429" y="1774202"/>
            <a:ext cx="3937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200">
                <a:latin typeface="Times New Roman"/>
                <a:cs typeface="Times New Roman"/>
              </a:rPr>
              <a:t> </a:t>
            </a:r>
            <a:r>
              <a:rPr dirty="0" baseline="6172" sz="675" spc="607">
                <a:latin typeface="宋体"/>
                <a:cs typeface="宋体"/>
              </a:rPr>
              <a:t>`</a:t>
            </a:r>
            <a:r>
              <a:rPr dirty="0" baseline="6172" sz="675" spc="284">
                <a:latin typeface="宋体"/>
                <a:cs typeface="宋体"/>
              </a:rPr>
              <a:t> </a:t>
            </a:r>
            <a:r>
              <a:rPr dirty="0" baseline="6172" sz="675" spc="-7">
                <a:latin typeface="宋体"/>
                <a:cs typeface="宋体"/>
              </a:rPr>
              <a:t> </a:t>
            </a:r>
            <a:r>
              <a:rPr dirty="0" baseline="6172" sz="675" spc="652">
                <a:latin typeface="宋体"/>
                <a:cs typeface="宋体"/>
              </a:rPr>
              <a:t> </a:t>
            </a:r>
            <a:endParaRPr baseline="6172" sz="675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18473" y="177420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25064" y="1703146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25064" y="178766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38947" y="1690789"/>
            <a:ext cx="21120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74115" algn="l"/>
              </a:tabLst>
            </a:pPr>
            <a:r>
              <a:rPr dirty="0" baseline="6172" sz="675" spc="-7">
                <a:latin typeface="宋体"/>
                <a:cs typeface="宋体"/>
              </a:rPr>
              <a:t> </a:t>
            </a:r>
            <a:r>
              <a:rPr dirty="0" baseline="6172" sz="675" spc="622">
                <a:latin typeface="宋体"/>
                <a:cs typeface="宋体"/>
              </a:rPr>
              <a:t> </a:t>
            </a:r>
            <a:r>
              <a:rPr dirty="0" baseline="6172" sz="675" spc="930">
                <a:latin typeface="宋体"/>
                <a:cs typeface="宋体"/>
              </a:rPr>
              <a:t>、</a:t>
            </a:r>
            <a:r>
              <a:rPr dirty="0" baseline="6172" sz="675" spc="487">
                <a:latin typeface="宋体"/>
                <a:cs typeface="宋体"/>
              </a:rPr>
              <a:t> </a:t>
            </a:r>
            <a:r>
              <a:rPr dirty="0" sz="1100" spc="-10">
                <a:latin typeface="Georgia"/>
                <a:cs typeface="Georgia"/>
              </a:rPr>
              <a:t>Cu(NH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95" b="0" i="1">
                <a:latin typeface="Bookman Old Style"/>
                <a:cs typeface="Bookman Old Style"/>
              </a:rPr>
              <a:t>K</a:t>
            </a:r>
            <a:r>
              <a:rPr dirty="0" baseline="-13888" sz="900" spc="142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35">
                <a:latin typeface="Georgia"/>
                <a:cs typeface="Georgia"/>
              </a:rPr>
              <a:t>1</a:t>
            </a:r>
            <a:r>
              <a:rPr dirty="0" sz="1100" spc="35" b="0" i="1">
                <a:latin typeface="Bookman Old Style"/>
                <a:cs typeface="Bookman Old Style"/>
              </a:rPr>
              <a:t>.</a:t>
            </a:r>
            <a:r>
              <a:rPr dirty="0" sz="1100" spc="35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2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baseline="37037" sz="900">
                <a:latin typeface="Times New Roman"/>
                <a:cs typeface="Times New Roman"/>
              </a:rPr>
              <a:t>3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27975" y="199790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4566" y="1926844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4566" y="201136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9241" y="1914487"/>
            <a:ext cx="1071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12470" algn="l"/>
              </a:tabLst>
            </a:pPr>
            <a:r>
              <a:rPr dirty="0" sz="1100" spc="-10">
                <a:latin typeface="Georgia"/>
                <a:cs typeface="Georgia"/>
              </a:rPr>
              <a:t>Cu(NH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35429" y="199790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64347" y="1988706"/>
            <a:ext cx="259079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5">
                <a:latin typeface="宋体"/>
                <a:cs typeface="宋体"/>
              </a:rPr>
              <a:t> </a:t>
            </a:r>
            <a:r>
              <a:rPr dirty="0" sz="450" spc="415">
                <a:latin typeface="宋体"/>
                <a:cs typeface="宋体"/>
              </a:rPr>
              <a:t> </a:t>
            </a:r>
            <a:r>
              <a:rPr dirty="0" sz="450" spc="-320">
                <a:latin typeface="宋体"/>
                <a:cs typeface="宋体"/>
              </a:rPr>
              <a:t>、</a:t>
            </a:r>
            <a:endParaRPr sz="45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57425" y="2012569"/>
            <a:ext cx="2717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405">
                <a:latin typeface="宋体"/>
                <a:cs typeface="宋体"/>
              </a:rPr>
              <a:t>`</a:t>
            </a:r>
            <a:r>
              <a:rPr dirty="0" sz="450" spc="190">
                <a:latin typeface="宋体"/>
                <a:cs typeface="宋体"/>
              </a:rPr>
              <a:t> </a:t>
            </a:r>
            <a:r>
              <a:rPr dirty="0" sz="450" spc="-5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18473" y="199790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25064" y="1926844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25064" y="201136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54339" y="1914487"/>
            <a:ext cx="17837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58519" algn="l"/>
              </a:tabLst>
            </a:pPr>
            <a:r>
              <a:rPr dirty="0" sz="1100" spc="-10">
                <a:latin typeface="Georgia"/>
                <a:cs typeface="Georgia"/>
              </a:rPr>
              <a:t>Cu(NH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95" b="0" i="1">
                <a:latin typeface="Bookman Old Style"/>
                <a:cs typeface="Bookman Old Style"/>
              </a:rPr>
              <a:t>K</a:t>
            </a:r>
            <a:r>
              <a:rPr dirty="0" baseline="-13888" sz="900" spc="142">
                <a:latin typeface="Times New Roman"/>
                <a:cs typeface="Times New Roman"/>
              </a:rPr>
              <a:t>4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80">
                <a:latin typeface="Georgia"/>
                <a:cs typeface="Georgia"/>
              </a:rPr>
              <a:t>2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baseline="37037" sz="900">
                <a:latin typeface="Times New Roman"/>
                <a:cs typeface="Times New Roman"/>
              </a:rPr>
              <a:t>2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0444" y="2269579"/>
            <a:ext cx="4406900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按照软硬酸碱理</a:t>
            </a:r>
            <a:r>
              <a:rPr dirty="0" sz="1200" spc="-80">
                <a:latin typeface="Arial Unicode MS"/>
                <a:cs typeface="Arial Unicode MS"/>
              </a:rPr>
              <a:t>论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Cu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baseline="37037" sz="900" spc="6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是软</a:t>
            </a:r>
            <a:r>
              <a:rPr dirty="0" sz="1200" spc="-80">
                <a:latin typeface="Arial Unicode MS"/>
                <a:cs typeface="Arial Unicode MS"/>
              </a:rPr>
              <a:t>酸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而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是硬</a:t>
            </a:r>
            <a:r>
              <a:rPr dirty="0" sz="1200" spc="-80">
                <a:latin typeface="Arial Unicode MS"/>
                <a:cs typeface="Arial Unicode MS"/>
              </a:rPr>
              <a:t>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它们的结合 是不稳定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上述反应的平衡常数也说明了这一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656714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Georgia"/>
                <a:cs typeface="Georgia"/>
              </a:rPr>
              <a:t>5.1.2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配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滴定法的必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备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条件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31895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580616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100"/>
              </a:spcBef>
            </a:pPr>
            <a:r>
              <a:rPr dirty="0" spc="-5"/>
              <a:t>配合物的稳定常数要足够</a:t>
            </a:r>
            <a:r>
              <a:rPr dirty="0" spc="-65"/>
              <a:t>大</a:t>
            </a:r>
            <a:r>
              <a:rPr dirty="0" spc="-5"/>
              <a:t>； </a:t>
            </a:r>
            <a:r>
              <a:rPr dirty="0" spc="-5"/>
              <a:t>配位</a:t>
            </a:r>
            <a:r>
              <a:rPr dirty="0" spc="560"/>
              <a:t>比必</a:t>
            </a:r>
            <a:r>
              <a:rPr dirty="0" spc="-5"/>
              <a:t>须固</a:t>
            </a:r>
            <a:r>
              <a:rPr dirty="0" spc="-65"/>
              <a:t>定</a:t>
            </a:r>
            <a:r>
              <a:rPr dirty="0" spc="-5"/>
              <a:t>；</a:t>
            </a:r>
          </a:p>
        </p:txBody>
      </p:sp>
      <p:sp>
        <p:nvSpPr>
          <p:cNvPr id="6" name="object 6"/>
          <p:cNvSpPr/>
          <p:nvPr/>
        </p:nvSpPr>
        <p:spPr>
          <a:xfrm>
            <a:off x="274599" y="184226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4599" y="2103920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1553" y="1664055"/>
            <a:ext cx="1997710" cy="5492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反应速度要足够</a:t>
            </a:r>
            <a:r>
              <a:rPr dirty="0" sz="1200" spc="-65">
                <a:latin typeface="Arial Unicode MS"/>
                <a:cs typeface="Arial Unicode MS"/>
              </a:rPr>
              <a:t>快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有适当的方法指示滴定终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14706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5.2</a:t>
            </a:r>
            <a:r>
              <a:rPr dirty="0" sz="14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乙二胺四乙酸的性质及其配合物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173899"/>
            <a:ext cx="434530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乙二胺四乙</a:t>
            </a:r>
            <a:r>
              <a:rPr dirty="0" sz="1200" spc="-80">
                <a:latin typeface="Arial Unicode MS"/>
                <a:cs typeface="Arial Unicode MS"/>
              </a:rPr>
              <a:t>酸</a:t>
            </a:r>
            <a:r>
              <a:rPr dirty="0" sz="1200" spc="-40">
                <a:latin typeface="Arial Unicode MS"/>
                <a:cs typeface="Arial Unicode MS"/>
              </a:rPr>
              <a:t>，</a:t>
            </a:r>
            <a:r>
              <a:rPr dirty="0" sz="1100" spc="-40">
                <a:latin typeface="Georgia"/>
                <a:cs typeface="Georgia"/>
              </a:rPr>
              <a:t>ethylenediamine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tetracetic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acid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简</a:t>
            </a:r>
            <a:r>
              <a:rPr dirty="0" sz="1200" spc="175">
                <a:latin typeface="Arial Unicode MS"/>
                <a:cs typeface="Arial Unicode MS"/>
              </a:rPr>
              <a:t>称</a:t>
            </a:r>
            <a:r>
              <a:rPr dirty="0" sz="1100" spc="5">
                <a:latin typeface="Georgia"/>
                <a:cs typeface="Georgia"/>
              </a:rPr>
              <a:t>EDTA</a:t>
            </a:r>
            <a:r>
              <a:rPr dirty="0" sz="1200" spc="5">
                <a:latin typeface="Arial Unicode MS"/>
                <a:cs typeface="Arial Unicode MS"/>
              </a:rPr>
              <a:t>，  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55">
                <a:latin typeface="Georgia"/>
                <a:cs typeface="Georgia"/>
              </a:rPr>
              <a:t>H</a:t>
            </a:r>
            <a:r>
              <a:rPr dirty="0" baseline="-13888" sz="900" spc="82">
                <a:latin typeface="Times New Roman"/>
                <a:cs typeface="Times New Roman"/>
              </a:rPr>
              <a:t>4</a:t>
            </a:r>
            <a:r>
              <a:rPr dirty="0" sz="1100" spc="55">
                <a:latin typeface="Georgia"/>
                <a:cs typeface="Georgia"/>
              </a:rPr>
              <a:t>Y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</a:t>
            </a: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是含有羧基和氨基的配位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它的羧基是硬 </a:t>
            </a:r>
            <a:r>
              <a:rPr dirty="0" sz="1200" spc="-80">
                <a:latin typeface="Arial Unicode MS"/>
                <a:cs typeface="Arial Unicode MS"/>
              </a:rPr>
              <a:t>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而氨基是中间</a:t>
            </a:r>
            <a:r>
              <a:rPr dirty="0" sz="1200" spc="-80">
                <a:latin typeface="Arial Unicode MS"/>
                <a:cs typeface="Arial Unicode MS"/>
              </a:rPr>
              <a:t>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所以它能与许多金属离子形成稳定的配合 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在化学分析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EDTA</a:t>
            </a:r>
            <a:r>
              <a:rPr dirty="0" sz="1100" spc="-15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除了用于配位滴定的滴定剂</a:t>
            </a:r>
            <a:r>
              <a:rPr dirty="0" sz="1200" spc="-80">
                <a:latin typeface="Arial Unicode MS"/>
                <a:cs typeface="Arial Unicode MS"/>
              </a:rPr>
              <a:t>外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还被广 泛地用作掩蔽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469430"/>
            <a:ext cx="429831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是四元</a:t>
            </a:r>
            <a:r>
              <a:rPr dirty="0" sz="1200" spc="-80">
                <a:latin typeface="Arial Unicode MS"/>
                <a:cs typeface="Arial Unicode MS"/>
              </a:rPr>
              <a:t>酸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两个羧酸上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</a:t>
            </a:r>
            <a:r>
              <a:rPr dirty="0" baseline="37037" sz="9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可转移</a:t>
            </a:r>
            <a:r>
              <a:rPr dirty="0" sz="1200" spc="175">
                <a:latin typeface="Arial Unicode MS"/>
                <a:cs typeface="Arial Unicode MS"/>
              </a:rPr>
              <a:t>到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上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成为双偶 极离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175">
                <a:latin typeface="Arial Unicode MS"/>
                <a:cs typeface="Arial Unicode MS"/>
              </a:rPr>
              <a:t>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在水中的溶解度很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故通常把它制成二钠 </a:t>
            </a:r>
            <a:r>
              <a:rPr dirty="0" sz="1200" spc="-80">
                <a:latin typeface="Arial Unicode MS"/>
                <a:cs typeface="Arial Unicode MS"/>
              </a:rPr>
              <a:t>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二钠</a:t>
            </a:r>
            <a:r>
              <a:rPr dirty="0" sz="1200" spc="-80">
                <a:latin typeface="Arial Unicode MS"/>
                <a:cs typeface="Arial Unicode MS"/>
              </a:rPr>
              <a:t>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H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Y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5">
                <a:latin typeface="Georgia"/>
                <a:cs typeface="Georgia"/>
              </a:rPr>
              <a:t>2H</a:t>
            </a:r>
            <a:r>
              <a:rPr dirty="0" baseline="-13888" sz="900" spc="-7">
                <a:latin typeface="Times New Roman"/>
                <a:cs typeface="Times New Roman"/>
              </a:rPr>
              <a:t>2</a:t>
            </a:r>
            <a:r>
              <a:rPr dirty="0" sz="1100" spc="-5">
                <a:latin typeface="Georgia"/>
                <a:cs typeface="Georgia"/>
              </a:rPr>
              <a:t>O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但习惯上还是 </a:t>
            </a:r>
            <a:r>
              <a:rPr dirty="0" sz="1200" spc="175">
                <a:latin typeface="Arial Unicode MS"/>
                <a:cs typeface="Arial Unicode MS"/>
              </a:rPr>
              <a:t>把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二钠盐简称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25">
                <a:latin typeface="Georgia"/>
                <a:cs typeface="Georgia"/>
              </a:rPr>
              <a:t>EDTA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二钠盐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10">
                <a:latin typeface="Georgia"/>
                <a:cs typeface="Georgia"/>
              </a:rPr>
              <a:t>22</a:t>
            </a:r>
            <a:r>
              <a:rPr dirty="0" baseline="37037" sz="900" spc="15">
                <a:latin typeface="Times New Roman"/>
                <a:cs typeface="Times New Roman"/>
              </a:rPr>
              <a:t>o</a:t>
            </a:r>
            <a:r>
              <a:rPr dirty="0" sz="1100" spc="10">
                <a:latin typeface="Georgia"/>
                <a:cs typeface="Georgia"/>
              </a:rPr>
              <a:t>C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时的溶解度 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55">
                <a:latin typeface="Georgia"/>
                <a:cs typeface="Georgia"/>
              </a:rPr>
              <a:t>11.1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40">
                <a:latin typeface="Georgia"/>
                <a:cs typeface="Georgia"/>
              </a:rPr>
              <a:t>g</a:t>
            </a:r>
            <a:r>
              <a:rPr dirty="0" sz="1200" spc="-14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此溶液的浓度约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5">
                <a:latin typeface="Georgia"/>
                <a:cs typeface="Georgia"/>
              </a:rPr>
              <a:t>0.3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mol/L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55">
                <a:latin typeface="Georgia"/>
                <a:cs typeface="Georgia"/>
              </a:rPr>
              <a:t>4.4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64006" y="1874417"/>
            <a:ext cx="2801233" cy="5252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37160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Georgia"/>
                <a:cs typeface="Georgia"/>
              </a:rPr>
              <a:t>5.2.1</a:t>
            </a:r>
            <a:r>
              <a:rPr dirty="0" sz="1000" spc="5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EDTA</a:t>
            </a:r>
            <a:r>
              <a:rPr dirty="0" sz="1000" spc="-9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的多级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分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723036"/>
            <a:ext cx="42430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溶于高酸度的溶液中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它的两个羧基可再接受氢离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形成六元</a:t>
            </a:r>
            <a:r>
              <a:rPr dirty="0" sz="1200" spc="175">
                <a:latin typeface="Arial Unicode MS"/>
                <a:cs typeface="Arial Unicode MS"/>
              </a:rPr>
              <a:t>酸</a:t>
            </a:r>
            <a:r>
              <a:rPr dirty="0" sz="1100" spc="-15">
                <a:latin typeface="Georgia"/>
                <a:cs typeface="Georgia"/>
              </a:rPr>
              <a:t>H</a:t>
            </a:r>
            <a:r>
              <a:rPr dirty="0" baseline="-13888" sz="900" spc="-22">
                <a:latin typeface="Times New Roman"/>
                <a:cs typeface="Times New Roman"/>
              </a:rPr>
              <a:t>6</a:t>
            </a:r>
            <a:r>
              <a:rPr dirty="0" sz="1100" spc="-15">
                <a:latin typeface="Georgia"/>
                <a:cs typeface="Georgia"/>
              </a:rPr>
              <a:t>Y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因而存在六级解离平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430" y="1293390"/>
            <a:ext cx="1545590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33400"/>
              </a:lnSpc>
              <a:spcBef>
                <a:spcPts val="100"/>
              </a:spcBef>
            </a:pPr>
            <a:r>
              <a:rPr dirty="0" sz="1100" spc="95">
                <a:latin typeface="Georgia"/>
                <a:cs typeface="Georgia"/>
              </a:rPr>
              <a:t>H</a:t>
            </a:r>
            <a:r>
              <a:rPr dirty="0" baseline="-13888" sz="900" spc="142">
                <a:latin typeface="Times New Roman"/>
                <a:cs typeface="Times New Roman"/>
              </a:rPr>
              <a:t>6</a:t>
            </a:r>
            <a:r>
              <a:rPr dirty="0" sz="1100" spc="95">
                <a:latin typeface="Georgia"/>
                <a:cs typeface="Georgia"/>
              </a:rPr>
              <a:t>Y</a:t>
            </a:r>
            <a:r>
              <a:rPr dirty="0" baseline="37037" sz="900" spc="142">
                <a:latin typeface="Times New Roman"/>
                <a:cs typeface="Times New Roman"/>
              </a:rPr>
              <a:t>2+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45">
                <a:latin typeface="宋体"/>
                <a:cs typeface="宋体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00">
                <a:latin typeface="Georgia"/>
                <a:cs typeface="Georgia"/>
              </a:rPr>
              <a:t>H</a:t>
            </a:r>
            <a:r>
              <a:rPr dirty="0" baseline="-13888" sz="900" spc="150">
                <a:latin typeface="Times New Roman"/>
                <a:cs typeface="Times New Roman"/>
              </a:rPr>
              <a:t>5</a:t>
            </a:r>
            <a:r>
              <a:rPr dirty="0" sz="1100" spc="100">
                <a:latin typeface="Georgia"/>
                <a:cs typeface="Georgia"/>
              </a:rPr>
              <a:t>Y</a:t>
            </a:r>
            <a:r>
              <a:rPr dirty="0" baseline="37037" sz="900" spc="150">
                <a:latin typeface="Times New Roman"/>
                <a:cs typeface="Times New Roman"/>
              </a:rPr>
              <a:t>+  </a:t>
            </a:r>
            <a:r>
              <a:rPr dirty="0" sz="1100" spc="100">
                <a:latin typeface="Georgia"/>
                <a:cs typeface="Georgia"/>
              </a:rPr>
              <a:t>H</a:t>
            </a:r>
            <a:r>
              <a:rPr dirty="0" baseline="-13888" sz="900" spc="150">
                <a:latin typeface="Times New Roman"/>
                <a:cs typeface="Times New Roman"/>
              </a:rPr>
              <a:t>5</a:t>
            </a:r>
            <a:r>
              <a:rPr dirty="0" sz="1100" spc="100">
                <a:latin typeface="Georgia"/>
                <a:cs typeface="Georgia"/>
              </a:rPr>
              <a:t>Y</a:t>
            </a:r>
            <a:r>
              <a:rPr dirty="0" baseline="37037" sz="900" spc="150">
                <a:latin typeface="Times New Roman"/>
                <a:cs typeface="Times New Roman"/>
              </a:rPr>
              <a:t>+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52">
                <a:latin typeface="宋体"/>
                <a:cs typeface="宋体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55">
                <a:latin typeface="Georgia"/>
                <a:cs typeface="Georgia"/>
              </a:rPr>
              <a:t>H</a:t>
            </a:r>
            <a:r>
              <a:rPr dirty="0" baseline="-13888" sz="900" spc="82">
                <a:latin typeface="Times New Roman"/>
                <a:cs typeface="Times New Roman"/>
              </a:rPr>
              <a:t>4</a:t>
            </a:r>
            <a:r>
              <a:rPr dirty="0" sz="1100" spc="55">
                <a:latin typeface="Georgia"/>
                <a:cs typeface="Georgia"/>
              </a:rPr>
              <a:t>Y  H</a:t>
            </a:r>
            <a:r>
              <a:rPr dirty="0" baseline="-13888" sz="900" spc="82">
                <a:latin typeface="Times New Roman"/>
                <a:cs typeface="Times New Roman"/>
              </a:rPr>
              <a:t>4</a:t>
            </a:r>
            <a:r>
              <a:rPr dirty="0" sz="1100" spc="55">
                <a:latin typeface="Georgia"/>
                <a:cs typeface="Georgia"/>
              </a:rPr>
              <a:t>Y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52">
                <a:latin typeface="宋体"/>
                <a:cs typeface="宋体"/>
              </a:rPr>
              <a:t> </a:t>
            </a:r>
            <a:r>
              <a:rPr dirty="0" sz="1100" spc="65">
                <a:latin typeface="Georgia"/>
                <a:cs typeface="Georgia"/>
              </a:rPr>
              <a:t>H</a:t>
            </a:r>
            <a:r>
              <a:rPr dirty="0" baseline="37037" sz="900" spc="97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-13888" sz="900" spc="104">
                <a:latin typeface="Times New Roman"/>
                <a:cs typeface="Times New Roman"/>
              </a:rPr>
              <a:t>3</a:t>
            </a:r>
            <a:r>
              <a:rPr dirty="0" sz="1100" spc="70">
                <a:latin typeface="Georgia"/>
                <a:cs typeface="Georgia"/>
              </a:rPr>
              <a:t>Y</a:t>
            </a:r>
            <a:r>
              <a:rPr dirty="0" baseline="37037" sz="900" spc="104">
                <a:latin typeface="Lucida Sans Unicode"/>
                <a:cs typeface="Lucida Sans Unicode"/>
              </a:rPr>
              <a:t>− 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-13888" sz="900" spc="104">
                <a:latin typeface="Times New Roman"/>
                <a:cs typeface="Times New Roman"/>
              </a:rPr>
              <a:t>3</a:t>
            </a:r>
            <a:r>
              <a:rPr dirty="0" sz="1100" spc="70">
                <a:latin typeface="Georgia"/>
                <a:cs typeface="Georgia"/>
              </a:rPr>
              <a:t>Y</a:t>
            </a:r>
            <a:r>
              <a:rPr dirty="0" baseline="37037" sz="900" spc="104">
                <a:latin typeface="Lucida Sans Unicode"/>
                <a:cs typeface="Lucida Sans Unicode"/>
              </a:rPr>
              <a:t>−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45">
                <a:latin typeface="宋体"/>
                <a:cs typeface="宋体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-13888" sz="900" spc="104">
                <a:latin typeface="Times New Roman"/>
                <a:cs typeface="Times New Roman"/>
              </a:rPr>
              <a:t>2</a:t>
            </a:r>
            <a:r>
              <a:rPr dirty="0" sz="1100" spc="70">
                <a:latin typeface="Georgia"/>
                <a:cs typeface="Georgia"/>
              </a:rPr>
              <a:t>Y</a:t>
            </a:r>
            <a:r>
              <a:rPr dirty="0" baseline="37037" sz="900" spc="104">
                <a:latin typeface="Times New Roman"/>
                <a:cs typeface="Times New Roman"/>
              </a:rPr>
              <a:t>2</a:t>
            </a:r>
            <a:r>
              <a:rPr dirty="0" baseline="37037" sz="900" spc="104">
                <a:latin typeface="Lucida Sans Unicode"/>
                <a:cs typeface="Lucida Sans Unicode"/>
              </a:rPr>
              <a:t>− 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-13888" sz="900" spc="104">
                <a:latin typeface="Times New Roman"/>
                <a:cs typeface="Times New Roman"/>
              </a:rPr>
              <a:t>2</a:t>
            </a:r>
            <a:r>
              <a:rPr dirty="0" sz="1100" spc="70">
                <a:latin typeface="Georgia"/>
                <a:cs typeface="Georgia"/>
              </a:rPr>
              <a:t>Y</a:t>
            </a:r>
            <a:r>
              <a:rPr dirty="0" baseline="37037" sz="900" spc="104">
                <a:latin typeface="Times New Roman"/>
                <a:cs typeface="Times New Roman"/>
              </a:rPr>
              <a:t>2</a:t>
            </a:r>
            <a:r>
              <a:rPr dirty="0" baseline="37037" sz="900" spc="104">
                <a:latin typeface="Lucida Sans Unicode"/>
                <a:cs typeface="Lucida Sans Unicode"/>
              </a:rPr>
              <a:t>−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45">
                <a:latin typeface="宋体"/>
                <a:cs typeface="宋体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60">
                <a:latin typeface="Georgia"/>
                <a:cs typeface="Georgia"/>
              </a:rPr>
              <a:t>HY</a:t>
            </a:r>
            <a:r>
              <a:rPr dirty="0" baseline="37037" sz="900" spc="89">
                <a:latin typeface="Times New Roman"/>
                <a:cs typeface="Times New Roman"/>
              </a:rPr>
              <a:t>3</a:t>
            </a:r>
            <a:r>
              <a:rPr dirty="0" baseline="37037" sz="900" spc="89">
                <a:latin typeface="Lucida Sans Unicode"/>
                <a:cs typeface="Lucida Sans Unicode"/>
              </a:rPr>
              <a:t>−  </a:t>
            </a:r>
            <a:r>
              <a:rPr dirty="0" sz="1100" spc="60">
                <a:latin typeface="Georgia"/>
                <a:cs typeface="Georgia"/>
              </a:rPr>
              <a:t>HY</a:t>
            </a:r>
            <a:r>
              <a:rPr dirty="0" baseline="37037" sz="900" spc="89">
                <a:latin typeface="Times New Roman"/>
                <a:cs typeface="Times New Roman"/>
              </a:rPr>
              <a:t>3</a:t>
            </a:r>
            <a:r>
              <a:rPr dirty="0" baseline="37037" sz="900" spc="89">
                <a:latin typeface="Lucida Sans Unicode"/>
                <a:cs typeface="Lucida Sans Unicode"/>
              </a:rPr>
              <a:t>−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52">
                <a:latin typeface="宋体"/>
                <a:cs typeface="宋体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105">
                <a:latin typeface="Georgia"/>
                <a:cs typeface="Georgia"/>
              </a:rPr>
              <a:t>Y</a:t>
            </a:r>
            <a:r>
              <a:rPr dirty="0" baseline="37037" sz="900" spc="157">
                <a:latin typeface="Times New Roman"/>
                <a:cs typeface="Times New Roman"/>
              </a:rPr>
              <a:t>4</a:t>
            </a:r>
            <a:r>
              <a:rPr dirty="0" baseline="37037" sz="900" spc="157">
                <a:latin typeface="Lucida Sans Unicode"/>
                <a:cs typeface="Lucida Sans Unicode"/>
              </a:rPr>
              <a:t>−</a:t>
            </a:r>
            <a:endParaRPr baseline="37037" sz="9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8668" y="1350835"/>
            <a:ext cx="911860" cy="13106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48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>
                <a:latin typeface="Book Antiqua"/>
                <a:cs typeface="Book Antiqua"/>
              </a:rPr>
              <a:t>  </a:t>
            </a:r>
            <a:r>
              <a:rPr dirty="0" baseline="-33333" sz="750" spc="37">
                <a:latin typeface="Book Antiqua"/>
                <a:cs typeface="Book Antiqu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40">
                <a:latin typeface="Georgia"/>
                <a:cs typeface="Georgia"/>
              </a:rPr>
              <a:t>0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endParaRPr baseline="37037" sz="900">
              <a:latin typeface="Lucida Sans Unicode"/>
              <a:cs typeface="Lucida Sans Unicode"/>
            </a:endParaRPr>
          </a:p>
          <a:p>
            <a:pPr algn="r" marR="123189">
              <a:lnSpc>
                <a:spcPts val="345"/>
              </a:lnSpc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9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38100">
              <a:lnSpc>
                <a:spcPts val="480"/>
              </a:lnSpc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>
                <a:latin typeface="Book Antiqua"/>
                <a:cs typeface="Book Antiqua"/>
              </a:rPr>
              <a:t>  </a:t>
            </a:r>
            <a:r>
              <a:rPr dirty="0" baseline="-33333" sz="750" spc="37">
                <a:latin typeface="Book Antiqua"/>
                <a:cs typeface="Book Antiqu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40">
                <a:latin typeface="Georgia"/>
                <a:cs typeface="Georgia"/>
              </a:rPr>
              <a:t>0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endParaRPr baseline="37037" sz="900">
              <a:latin typeface="Lucida Sans Unicode"/>
              <a:cs typeface="Lucida Sans Unicode"/>
            </a:endParaRPr>
          </a:p>
          <a:p>
            <a:pPr algn="r" marR="123189">
              <a:lnSpc>
                <a:spcPts val="345"/>
              </a:lnSpc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Times New Roman"/>
              <a:cs typeface="Times New Roman"/>
            </a:endParaRPr>
          </a:p>
          <a:p>
            <a:pPr marL="38100">
              <a:lnSpc>
                <a:spcPts val="480"/>
              </a:lnSpc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3</a:t>
            </a:r>
            <a:r>
              <a:rPr dirty="0" baseline="-33333" sz="750">
                <a:latin typeface="Book Antiqua"/>
                <a:cs typeface="Book Antiqua"/>
              </a:rPr>
              <a:t>  </a:t>
            </a:r>
            <a:r>
              <a:rPr dirty="0" baseline="-33333" sz="750" spc="37">
                <a:latin typeface="Book Antiqua"/>
                <a:cs typeface="Book Antiqu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40">
                <a:latin typeface="Georgia"/>
                <a:cs typeface="Georgia"/>
              </a:rPr>
              <a:t>0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endParaRPr baseline="37037" sz="900">
              <a:latin typeface="Lucida Sans Unicode"/>
              <a:cs typeface="Lucida Sans Unicode"/>
            </a:endParaRPr>
          </a:p>
          <a:p>
            <a:pPr algn="r" marR="123189">
              <a:lnSpc>
                <a:spcPts val="345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38100">
              <a:lnSpc>
                <a:spcPts val="480"/>
              </a:lnSpc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4</a:t>
            </a:r>
            <a:r>
              <a:rPr dirty="0" baseline="-33333" sz="750">
                <a:latin typeface="Book Antiqua"/>
                <a:cs typeface="Book Antiqua"/>
              </a:rPr>
              <a:t>  </a:t>
            </a:r>
            <a:r>
              <a:rPr dirty="0" baseline="-33333" sz="750" spc="37">
                <a:latin typeface="Book Antiqua"/>
                <a:cs typeface="Book Antiqu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40">
                <a:latin typeface="Georgia"/>
                <a:cs typeface="Georgia"/>
              </a:rPr>
              <a:t>0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endParaRPr baseline="37037" sz="900">
              <a:latin typeface="Lucida Sans Unicode"/>
              <a:cs typeface="Lucida Sans Unicode"/>
            </a:endParaRPr>
          </a:p>
          <a:p>
            <a:pPr algn="r" marR="76835">
              <a:lnSpc>
                <a:spcPts val="345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Times New Roman"/>
              <a:cs typeface="Times New Roman"/>
            </a:endParaRPr>
          </a:p>
          <a:p>
            <a:pPr marL="38100">
              <a:lnSpc>
                <a:spcPts val="480"/>
              </a:lnSpc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5</a:t>
            </a:r>
            <a:r>
              <a:rPr dirty="0" baseline="-33333" sz="750">
                <a:latin typeface="Book Antiqua"/>
                <a:cs typeface="Book Antiqua"/>
              </a:rPr>
              <a:t>  </a:t>
            </a:r>
            <a:r>
              <a:rPr dirty="0" baseline="-33333" sz="750" spc="37">
                <a:latin typeface="Book Antiqua"/>
                <a:cs typeface="Book Antiqu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40">
                <a:latin typeface="Georgia"/>
                <a:cs typeface="Georgia"/>
              </a:rPr>
              <a:t>0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endParaRPr baseline="37037" sz="900">
              <a:latin typeface="Lucida Sans Unicode"/>
              <a:cs typeface="Lucida Sans Unicode"/>
            </a:endParaRPr>
          </a:p>
          <a:p>
            <a:pPr algn="r" marR="76835">
              <a:lnSpc>
                <a:spcPts val="345"/>
              </a:lnSpc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16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38100">
              <a:lnSpc>
                <a:spcPts val="480"/>
              </a:lnSpc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6</a:t>
            </a:r>
            <a:r>
              <a:rPr dirty="0" baseline="-33333" sz="750">
                <a:latin typeface="Book Antiqua"/>
                <a:cs typeface="Book Antiqua"/>
              </a:rPr>
              <a:t>  </a:t>
            </a:r>
            <a:r>
              <a:rPr dirty="0" baseline="-33333" sz="750" spc="37">
                <a:latin typeface="Book Antiqua"/>
                <a:cs typeface="Book Antiqu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40">
                <a:latin typeface="Georgia"/>
                <a:cs typeface="Georgia"/>
              </a:rPr>
              <a:t>0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endParaRPr baseline="37037" sz="900">
              <a:latin typeface="Lucida Sans Unicode"/>
              <a:cs typeface="Lucida Sans Unicode"/>
            </a:endParaRPr>
          </a:p>
          <a:p>
            <a:pPr algn="r" marR="30480">
              <a:lnSpc>
                <a:spcPts val="345"/>
              </a:lnSpc>
            </a:pPr>
            <a:r>
              <a:rPr dirty="0" sz="600" spc="65">
                <a:latin typeface="Times New Roman"/>
                <a:cs typeface="Times New Roman"/>
              </a:rPr>
              <a:t>10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26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7322" y="352755"/>
            <a:ext cx="2503805" cy="0"/>
          </a:xfrm>
          <a:custGeom>
            <a:avLst/>
            <a:gdLst/>
            <a:ahLst/>
            <a:cxnLst/>
            <a:rect l="l" t="t" r="r" b="b"/>
            <a:pathLst>
              <a:path w="2503804" h="0">
                <a:moveTo>
                  <a:pt x="0" y="0"/>
                </a:moveTo>
                <a:lnTo>
                  <a:pt x="25037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77322" y="2326496"/>
            <a:ext cx="2503805" cy="0"/>
          </a:xfrm>
          <a:custGeom>
            <a:avLst/>
            <a:gdLst/>
            <a:ahLst/>
            <a:cxnLst/>
            <a:rect l="l" t="t" r="r" b="b"/>
            <a:pathLst>
              <a:path w="2503804" h="0">
                <a:moveTo>
                  <a:pt x="0" y="0"/>
                </a:moveTo>
                <a:lnTo>
                  <a:pt x="25037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81035" y="352755"/>
            <a:ext cx="0" cy="1974214"/>
          </a:xfrm>
          <a:custGeom>
            <a:avLst/>
            <a:gdLst/>
            <a:ahLst/>
            <a:cxnLst/>
            <a:rect l="l" t="t" r="r" b="b"/>
            <a:pathLst>
              <a:path w="0" h="1974214">
                <a:moveTo>
                  <a:pt x="0" y="197374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77322" y="352755"/>
            <a:ext cx="0" cy="1974214"/>
          </a:xfrm>
          <a:custGeom>
            <a:avLst/>
            <a:gdLst/>
            <a:ahLst/>
            <a:cxnLst/>
            <a:rect l="l" t="t" r="r" b="b"/>
            <a:pathLst>
              <a:path w="0" h="1974214">
                <a:moveTo>
                  <a:pt x="0" y="197374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77322" y="2326496"/>
            <a:ext cx="2503805" cy="0"/>
          </a:xfrm>
          <a:custGeom>
            <a:avLst/>
            <a:gdLst/>
            <a:ahLst/>
            <a:cxnLst/>
            <a:rect l="l" t="t" r="r" b="b"/>
            <a:pathLst>
              <a:path w="2503804" h="0">
                <a:moveTo>
                  <a:pt x="0" y="0"/>
                </a:moveTo>
                <a:lnTo>
                  <a:pt x="25037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77322" y="352755"/>
            <a:ext cx="0" cy="1974214"/>
          </a:xfrm>
          <a:custGeom>
            <a:avLst/>
            <a:gdLst/>
            <a:ahLst/>
            <a:cxnLst/>
            <a:rect l="l" t="t" r="r" b="b"/>
            <a:pathLst>
              <a:path w="0" h="1974214">
                <a:moveTo>
                  <a:pt x="0" y="197374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77322" y="230128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2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77322" y="352755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7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43141" y="2324067"/>
            <a:ext cx="69215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5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34994" y="230128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2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4994" y="352755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7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00815" y="2324067"/>
            <a:ext cx="69215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5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92666" y="230128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2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92666" y="352755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7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8488" y="2324067"/>
            <a:ext cx="69215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5"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50343" y="230128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2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50343" y="352755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7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08014" y="230128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2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08014" y="352755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7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65686" y="230128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2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65686" y="352755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7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909563" y="2324067"/>
            <a:ext cx="11303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Arial"/>
                <a:cs typeface="Arial"/>
              </a:rPr>
              <a:t>10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23363" y="230128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2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323363" y="352755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7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267237" y="2324067"/>
            <a:ext cx="11303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81035" y="230128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2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81035" y="352755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7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624910" y="2324067"/>
            <a:ext cx="11303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77322" y="2326496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55820" y="232649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104853" y="2264298"/>
            <a:ext cx="69215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5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77322" y="2128982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55820" y="212898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77322" y="1931467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55820" y="193146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039481" y="1869270"/>
            <a:ext cx="134620" cy="3175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Arial"/>
                <a:cs typeface="Arial"/>
              </a:rPr>
              <a:t>0.2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>
                <a:latin typeface="Arial"/>
                <a:cs typeface="Arial"/>
              </a:rPr>
              <a:t>0.1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77322" y="173395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55820" y="173395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039481" y="1671756"/>
            <a:ext cx="13462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Arial"/>
                <a:cs typeface="Arial"/>
              </a:rPr>
              <a:t>0.3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77322" y="1536904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55820" y="153690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039481" y="1474708"/>
            <a:ext cx="13462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Arial"/>
                <a:cs typeface="Arial"/>
              </a:rPr>
              <a:t>0.4</a:t>
            </a:r>
            <a:endParaRPr sz="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77322" y="1339390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55820" y="133939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039481" y="1277195"/>
            <a:ext cx="13462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Arial"/>
                <a:cs typeface="Arial"/>
              </a:rPr>
              <a:t>0.5</a:t>
            </a:r>
            <a:endParaRPr sz="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177322" y="1141876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55820" y="114187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039481" y="1079680"/>
            <a:ext cx="13462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Arial"/>
                <a:cs typeface="Arial"/>
              </a:rPr>
              <a:t>0.6</a:t>
            </a:r>
            <a:endParaRPr sz="6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77322" y="944827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655820" y="94482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039481" y="882633"/>
            <a:ext cx="13462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Arial"/>
                <a:cs typeface="Arial"/>
              </a:rPr>
              <a:t>0.7</a:t>
            </a:r>
            <a:endParaRPr sz="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77322" y="747312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55820" y="74731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039481" y="685119"/>
            <a:ext cx="13462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Arial"/>
                <a:cs typeface="Arial"/>
              </a:rPr>
              <a:t>0.8</a:t>
            </a:r>
            <a:endParaRPr sz="6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177322" y="549798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655820" y="54979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177322" y="352755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7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655820" y="35275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2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039481" y="290557"/>
            <a:ext cx="134620" cy="3168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4"/>
              </a:spcBef>
            </a:pPr>
            <a:r>
              <a:rPr dirty="0" sz="600" spc="5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600">
                <a:latin typeface="Arial"/>
                <a:cs typeface="Arial"/>
              </a:rPr>
              <a:t>0.9</a:t>
            </a:r>
            <a:endParaRPr sz="6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177322" y="352755"/>
            <a:ext cx="2503805" cy="0"/>
          </a:xfrm>
          <a:custGeom>
            <a:avLst/>
            <a:gdLst/>
            <a:ahLst/>
            <a:cxnLst/>
            <a:rect l="l" t="t" r="r" b="b"/>
            <a:pathLst>
              <a:path w="2503804" h="0">
                <a:moveTo>
                  <a:pt x="0" y="0"/>
                </a:moveTo>
                <a:lnTo>
                  <a:pt x="25037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177322" y="2326496"/>
            <a:ext cx="2503805" cy="0"/>
          </a:xfrm>
          <a:custGeom>
            <a:avLst/>
            <a:gdLst/>
            <a:ahLst/>
            <a:cxnLst/>
            <a:rect l="l" t="t" r="r" b="b"/>
            <a:pathLst>
              <a:path w="2503804" h="0">
                <a:moveTo>
                  <a:pt x="0" y="0"/>
                </a:moveTo>
                <a:lnTo>
                  <a:pt x="25037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681035" y="352755"/>
            <a:ext cx="0" cy="1974214"/>
          </a:xfrm>
          <a:custGeom>
            <a:avLst/>
            <a:gdLst/>
            <a:ahLst/>
            <a:cxnLst/>
            <a:rect l="l" t="t" r="r" b="b"/>
            <a:pathLst>
              <a:path w="0" h="1974214">
                <a:moveTo>
                  <a:pt x="0" y="197374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177322" y="352755"/>
            <a:ext cx="0" cy="1974214"/>
          </a:xfrm>
          <a:custGeom>
            <a:avLst/>
            <a:gdLst/>
            <a:ahLst/>
            <a:cxnLst/>
            <a:rect l="l" t="t" r="r" b="b"/>
            <a:pathLst>
              <a:path w="0" h="1974214">
                <a:moveTo>
                  <a:pt x="0" y="197374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177322" y="578285"/>
            <a:ext cx="2289810" cy="1748789"/>
          </a:xfrm>
          <a:custGeom>
            <a:avLst/>
            <a:gdLst/>
            <a:ahLst/>
            <a:cxnLst/>
            <a:rect l="l" t="t" r="r" b="b"/>
            <a:pathLst>
              <a:path w="2289810" h="1748789">
                <a:moveTo>
                  <a:pt x="0" y="0"/>
                </a:moveTo>
                <a:lnTo>
                  <a:pt x="35020" y="121870"/>
                </a:lnTo>
                <a:lnTo>
                  <a:pt x="70040" y="293699"/>
                </a:lnTo>
                <a:lnTo>
                  <a:pt x="105525" y="519700"/>
                </a:lnTo>
                <a:lnTo>
                  <a:pt x="140546" y="788185"/>
                </a:lnTo>
                <a:lnTo>
                  <a:pt x="176031" y="1070683"/>
                </a:lnTo>
                <a:lnTo>
                  <a:pt x="211051" y="1326567"/>
                </a:lnTo>
                <a:lnTo>
                  <a:pt x="246542" y="1522680"/>
                </a:lnTo>
                <a:lnTo>
                  <a:pt x="281562" y="1646416"/>
                </a:lnTo>
                <a:lnTo>
                  <a:pt x="316583" y="1709918"/>
                </a:lnTo>
                <a:lnTo>
                  <a:pt x="352068" y="1736068"/>
                </a:lnTo>
                <a:lnTo>
                  <a:pt x="439430" y="1747506"/>
                </a:lnTo>
                <a:lnTo>
                  <a:pt x="492616" y="1747957"/>
                </a:lnTo>
                <a:lnTo>
                  <a:pt x="545919" y="1747598"/>
                </a:lnTo>
                <a:lnTo>
                  <a:pt x="598610" y="1747740"/>
                </a:lnTo>
                <a:lnTo>
                  <a:pt x="845153" y="1747740"/>
                </a:lnTo>
                <a:lnTo>
                  <a:pt x="894461" y="1747852"/>
                </a:lnTo>
                <a:lnTo>
                  <a:pt x="943769" y="1747953"/>
                </a:lnTo>
                <a:lnTo>
                  <a:pt x="993077" y="1748041"/>
                </a:lnTo>
                <a:lnTo>
                  <a:pt x="1042385" y="1748115"/>
                </a:lnTo>
                <a:lnTo>
                  <a:pt x="1091693" y="1748175"/>
                </a:lnTo>
                <a:lnTo>
                  <a:pt x="1141002" y="1748218"/>
                </a:lnTo>
                <a:lnTo>
                  <a:pt x="1190311" y="1748245"/>
                </a:lnTo>
                <a:lnTo>
                  <a:pt x="1239619" y="1748253"/>
                </a:lnTo>
                <a:lnTo>
                  <a:pt x="1288929" y="1748242"/>
                </a:lnTo>
                <a:lnTo>
                  <a:pt x="1338238" y="1748210"/>
                </a:lnTo>
                <a:lnTo>
                  <a:pt x="1388298" y="1748210"/>
                </a:lnTo>
                <a:lnTo>
                  <a:pt x="2239328" y="1748210"/>
                </a:lnTo>
                <a:lnTo>
                  <a:pt x="2289388" y="1748210"/>
                </a:lnTo>
              </a:path>
            </a:pathLst>
          </a:custGeom>
          <a:ln w="1120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177322" y="1332386"/>
            <a:ext cx="2289810" cy="994410"/>
          </a:xfrm>
          <a:custGeom>
            <a:avLst/>
            <a:gdLst/>
            <a:ahLst/>
            <a:cxnLst/>
            <a:rect l="l" t="t" r="r" b="b"/>
            <a:pathLst>
              <a:path w="2289810" h="994410">
                <a:moveTo>
                  <a:pt x="0" y="773712"/>
                </a:moveTo>
                <a:lnTo>
                  <a:pt x="35020" y="660246"/>
                </a:lnTo>
                <a:lnTo>
                  <a:pt x="70040" y="507558"/>
                </a:lnTo>
                <a:lnTo>
                  <a:pt x="105525" y="324522"/>
                </a:lnTo>
                <a:lnTo>
                  <a:pt x="140546" y="141481"/>
                </a:lnTo>
                <a:lnTo>
                  <a:pt x="176031" y="13543"/>
                </a:lnTo>
                <a:lnTo>
                  <a:pt x="211051" y="0"/>
                </a:lnTo>
                <a:lnTo>
                  <a:pt x="246542" y="127008"/>
                </a:lnTo>
                <a:lnTo>
                  <a:pt x="281562" y="356741"/>
                </a:lnTo>
                <a:lnTo>
                  <a:pt x="316583" y="605149"/>
                </a:lnTo>
                <a:lnTo>
                  <a:pt x="352068" y="796595"/>
                </a:lnTo>
                <a:lnTo>
                  <a:pt x="387088" y="909590"/>
                </a:lnTo>
                <a:lnTo>
                  <a:pt x="422573" y="963292"/>
                </a:lnTo>
                <a:lnTo>
                  <a:pt x="457594" y="983833"/>
                </a:lnTo>
                <a:lnTo>
                  <a:pt x="545288" y="993411"/>
                </a:lnTo>
                <a:lnTo>
                  <a:pt x="598373" y="993858"/>
                </a:lnTo>
                <a:lnTo>
                  <a:pt x="651576" y="993495"/>
                </a:lnTo>
                <a:lnTo>
                  <a:pt x="704136" y="993639"/>
                </a:lnTo>
                <a:lnTo>
                  <a:pt x="757019" y="993639"/>
                </a:lnTo>
                <a:lnTo>
                  <a:pt x="809899" y="993639"/>
                </a:lnTo>
                <a:lnTo>
                  <a:pt x="862779" y="993639"/>
                </a:lnTo>
                <a:lnTo>
                  <a:pt x="915659" y="993639"/>
                </a:lnTo>
                <a:lnTo>
                  <a:pt x="966563" y="993565"/>
                </a:lnTo>
                <a:lnTo>
                  <a:pt x="1017462" y="993573"/>
                </a:lnTo>
                <a:lnTo>
                  <a:pt x="1068358" y="993640"/>
                </a:lnTo>
                <a:lnTo>
                  <a:pt x="1119251" y="993746"/>
                </a:lnTo>
                <a:lnTo>
                  <a:pt x="1170143" y="993869"/>
                </a:lnTo>
                <a:lnTo>
                  <a:pt x="1221035" y="993989"/>
                </a:lnTo>
                <a:lnTo>
                  <a:pt x="1271928" y="994083"/>
                </a:lnTo>
                <a:lnTo>
                  <a:pt x="1322824" y="994130"/>
                </a:lnTo>
                <a:lnTo>
                  <a:pt x="1373723" y="994110"/>
                </a:lnTo>
                <a:lnTo>
                  <a:pt x="1424594" y="994110"/>
                </a:lnTo>
                <a:lnTo>
                  <a:pt x="2238518" y="994110"/>
                </a:lnTo>
                <a:lnTo>
                  <a:pt x="2289388" y="994110"/>
                </a:lnTo>
              </a:path>
            </a:pathLst>
          </a:custGeom>
          <a:ln w="11206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177322" y="1529900"/>
            <a:ext cx="2289810" cy="796925"/>
          </a:xfrm>
          <a:custGeom>
            <a:avLst/>
            <a:gdLst/>
            <a:ahLst/>
            <a:cxnLst/>
            <a:rect l="l" t="t" r="r" b="b"/>
            <a:pathLst>
              <a:path w="2289810" h="796925">
                <a:moveTo>
                  <a:pt x="0" y="790992"/>
                </a:moveTo>
                <a:lnTo>
                  <a:pt x="70040" y="763906"/>
                </a:lnTo>
                <a:lnTo>
                  <a:pt x="105525" y="723753"/>
                </a:lnTo>
                <a:lnTo>
                  <a:pt x="140546" y="645308"/>
                </a:lnTo>
                <a:lnTo>
                  <a:pt x="176031" y="513161"/>
                </a:lnTo>
                <a:lnTo>
                  <a:pt x="211051" y="328725"/>
                </a:lnTo>
                <a:lnTo>
                  <a:pt x="246542" y="131211"/>
                </a:lnTo>
                <a:lnTo>
                  <a:pt x="281562" y="0"/>
                </a:lnTo>
                <a:lnTo>
                  <a:pt x="316583" y="3737"/>
                </a:lnTo>
                <a:lnTo>
                  <a:pt x="352068" y="141481"/>
                </a:lnTo>
                <a:lnTo>
                  <a:pt x="387088" y="341332"/>
                </a:lnTo>
                <a:lnTo>
                  <a:pt x="422573" y="524838"/>
                </a:lnTo>
                <a:lnTo>
                  <a:pt x="457594" y="653242"/>
                </a:lnTo>
                <a:lnTo>
                  <a:pt x="493085" y="728421"/>
                </a:lnTo>
                <a:lnTo>
                  <a:pt x="528105" y="766243"/>
                </a:lnTo>
                <a:lnTo>
                  <a:pt x="563590" y="783988"/>
                </a:lnTo>
                <a:lnTo>
                  <a:pt x="651253" y="795065"/>
                </a:lnTo>
                <a:lnTo>
                  <a:pt x="704239" y="796176"/>
                </a:lnTo>
                <a:lnTo>
                  <a:pt x="757291" y="796094"/>
                </a:lnTo>
                <a:lnTo>
                  <a:pt x="810133" y="796125"/>
                </a:lnTo>
                <a:lnTo>
                  <a:pt x="1444235" y="796125"/>
                </a:lnTo>
                <a:lnTo>
                  <a:pt x="1493945" y="796288"/>
                </a:lnTo>
                <a:lnTo>
                  <a:pt x="1543656" y="796416"/>
                </a:lnTo>
                <a:lnTo>
                  <a:pt x="1593369" y="796513"/>
                </a:lnTo>
                <a:lnTo>
                  <a:pt x="1643084" y="796582"/>
                </a:lnTo>
                <a:lnTo>
                  <a:pt x="1692799" y="796627"/>
                </a:lnTo>
                <a:lnTo>
                  <a:pt x="1742515" y="796651"/>
                </a:lnTo>
                <a:lnTo>
                  <a:pt x="1792232" y="796659"/>
                </a:lnTo>
                <a:lnTo>
                  <a:pt x="1841949" y="796653"/>
                </a:lnTo>
                <a:lnTo>
                  <a:pt x="1891666" y="796637"/>
                </a:lnTo>
                <a:lnTo>
                  <a:pt x="1941383" y="796615"/>
                </a:lnTo>
                <a:lnTo>
                  <a:pt x="1991100" y="796591"/>
                </a:lnTo>
                <a:lnTo>
                  <a:pt x="2040817" y="796568"/>
                </a:lnTo>
                <a:lnTo>
                  <a:pt x="2090533" y="796549"/>
                </a:lnTo>
                <a:lnTo>
                  <a:pt x="2140248" y="796539"/>
                </a:lnTo>
                <a:lnTo>
                  <a:pt x="2189963" y="796541"/>
                </a:lnTo>
                <a:lnTo>
                  <a:pt x="2239676" y="796559"/>
                </a:lnTo>
                <a:lnTo>
                  <a:pt x="2289388" y="796595"/>
                </a:lnTo>
              </a:path>
            </a:pathLst>
          </a:custGeom>
          <a:ln w="1120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177322" y="1345929"/>
            <a:ext cx="2289810" cy="981075"/>
          </a:xfrm>
          <a:custGeom>
            <a:avLst/>
            <a:gdLst/>
            <a:ahLst/>
            <a:cxnLst/>
            <a:rect l="l" t="t" r="r" b="b"/>
            <a:pathLst>
              <a:path w="2289810" h="981075">
                <a:moveTo>
                  <a:pt x="0" y="980096"/>
                </a:moveTo>
                <a:lnTo>
                  <a:pt x="35020" y="980096"/>
                </a:lnTo>
                <a:lnTo>
                  <a:pt x="70040" y="979631"/>
                </a:lnTo>
                <a:lnTo>
                  <a:pt x="140546" y="969825"/>
                </a:lnTo>
                <a:lnTo>
                  <a:pt x="176031" y="947877"/>
                </a:lnTo>
                <a:lnTo>
                  <a:pt x="211051" y="892781"/>
                </a:lnTo>
                <a:lnTo>
                  <a:pt x="246542" y="777449"/>
                </a:lnTo>
                <a:lnTo>
                  <a:pt x="281562" y="584137"/>
                </a:lnTo>
                <a:lnTo>
                  <a:pt x="316583" y="337595"/>
                </a:lnTo>
                <a:lnTo>
                  <a:pt x="352068" y="114866"/>
                </a:lnTo>
                <a:lnTo>
                  <a:pt x="387088" y="0"/>
                </a:lnTo>
                <a:lnTo>
                  <a:pt x="422573" y="26144"/>
                </a:lnTo>
                <a:lnTo>
                  <a:pt x="457594" y="161558"/>
                </a:lnTo>
                <a:lnTo>
                  <a:pt x="493085" y="345064"/>
                </a:lnTo>
                <a:lnTo>
                  <a:pt x="528105" y="523432"/>
                </a:lnTo>
                <a:lnTo>
                  <a:pt x="563590" y="669116"/>
                </a:lnTo>
                <a:lnTo>
                  <a:pt x="598610" y="776513"/>
                </a:lnTo>
                <a:lnTo>
                  <a:pt x="633631" y="849820"/>
                </a:lnTo>
                <a:lnTo>
                  <a:pt x="669116" y="898384"/>
                </a:lnTo>
                <a:lnTo>
                  <a:pt x="704136" y="929667"/>
                </a:lnTo>
                <a:lnTo>
                  <a:pt x="739627" y="949278"/>
                </a:lnTo>
                <a:lnTo>
                  <a:pt x="824355" y="970460"/>
                </a:lnTo>
                <a:lnTo>
                  <a:pt x="874479" y="976001"/>
                </a:lnTo>
                <a:lnTo>
                  <a:pt x="924902" y="978869"/>
                </a:lnTo>
                <a:lnTo>
                  <a:pt x="975502" y="979888"/>
                </a:lnTo>
                <a:lnTo>
                  <a:pt x="1026162" y="979882"/>
                </a:lnTo>
                <a:lnTo>
                  <a:pt x="1076761" y="979677"/>
                </a:lnTo>
                <a:lnTo>
                  <a:pt x="1127181" y="980096"/>
                </a:lnTo>
                <a:lnTo>
                  <a:pt x="1514275" y="980096"/>
                </a:lnTo>
                <a:lnTo>
                  <a:pt x="1565952" y="980041"/>
                </a:lnTo>
                <a:lnTo>
                  <a:pt x="1617628" y="980019"/>
                </a:lnTo>
                <a:lnTo>
                  <a:pt x="1669303" y="980024"/>
                </a:lnTo>
                <a:lnTo>
                  <a:pt x="1720977" y="980053"/>
                </a:lnTo>
                <a:lnTo>
                  <a:pt x="1772651" y="980101"/>
                </a:lnTo>
                <a:lnTo>
                  <a:pt x="1824324" y="980162"/>
                </a:lnTo>
                <a:lnTo>
                  <a:pt x="1875997" y="980233"/>
                </a:lnTo>
                <a:lnTo>
                  <a:pt x="1927670" y="980308"/>
                </a:lnTo>
                <a:lnTo>
                  <a:pt x="1979343" y="980383"/>
                </a:lnTo>
                <a:lnTo>
                  <a:pt x="2031016" y="980453"/>
                </a:lnTo>
                <a:lnTo>
                  <a:pt x="2082689" y="980514"/>
                </a:lnTo>
                <a:lnTo>
                  <a:pt x="2134363" y="980560"/>
                </a:lnTo>
                <a:lnTo>
                  <a:pt x="2186037" y="980587"/>
                </a:lnTo>
                <a:lnTo>
                  <a:pt x="2237712" y="980591"/>
                </a:lnTo>
                <a:lnTo>
                  <a:pt x="2289388" y="980566"/>
                </a:lnTo>
              </a:path>
            </a:pathLst>
          </a:custGeom>
          <a:ln w="11206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177322" y="421394"/>
            <a:ext cx="2289810" cy="1905000"/>
          </a:xfrm>
          <a:custGeom>
            <a:avLst/>
            <a:gdLst/>
            <a:ahLst/>
            <a:cxnLst/>
            <a:rect l="l" t="t" r="r" b="b"/>
            <a:pathLst>
              <a:path w="2289810" h="1905000">
                <a:moveTo>
                  <a:pt x="0" y="1904630"/>
                </a:moveTo>
                <a:lnTo>
                  <a:pt x="52454" y="1904451"/>
                </a:lnTo>
                <a:lnTo>
                  <a:pt x="105885" y="1904897"/>
                </a:lnTo>
                <a:lnTo>
                  <a:pt x="159136" y="1904392"/>
                </a:lnTo>
                <a:lnTo>
                  <a:pt x="211051" y="1901364"/>
                </a:lnTo>
                <a:lnTo>
                  <a:pt x="281562" y="1862606"/>
                </a:lnTo>
                <a:lnTo>
                  <a:pt x="316583" y="1793501"/>
                </a:lnTo>
                <a:lnTo>
                  <a:pt x="352068" y="1660424"/>
                </a:lnTo>
                <a:lnTo>
                  <a:pt x="387088" y="1453570"/>
                </a:lnTo>
                <a:lnTo>
                  <a:pt x="422573" y="1188816"/>
                </a:lnTo>
                <a:lnTo>
                  <a:pt x="457594" y="903522"/>
                </a:lnTo>
                <a:lnTo>
                  <a:pt x="493085" y="638298"/>
                </a:lnTo>
                <a:lnTo>
                  <a:pt x="528105" y="420242"/>
                </a:lnTo>
                <a:lnTo>
                  <a:pt x="563590" y="257749"/>
                </a:lnTo>
                <a:lnTo>
                  <a:pt x="598610" y="145213"/>
                </a:lnTo>
                <a:lnTo>
                  <a:pt x="633631" y="71906"/>
                </a:lnTo>
                <a:lnTo>
                  <a:pt x="669116" y="27545"/>
                </a:lnTo>
                <a:lnTo>
                  <a:pt x="704136" y="5132"/>
                </a:lnTo>
                <a:lnTo>
                  <a:pt x="739627" y="0"/>
                </a:lnTo>
                <a:lnTo>
                  <a:pt x="774647" y="11206"/>
                </a:lnTo>
                <a:lnTo>
                  <a:pt x="810133" y="40152"/>
                </a:lnTo>
                <a:lnTo>
                  <a:pt x="845153" y="92453"/>
                </a:lnTo>
                <a:lnTo>
                  <a:pt x="880173" y="175566"/>
                </a:lnTo>
                <a:lnTo>
                  <a:pt x="915659" y="297436"/>
                </a:lnTo>
                <a:lnTo>
                  <a:pt x="950679" y="464133"/>
                </a:lnTo>
                <a:lnTo>
                  <a:pt x="986170" y="672853"/>
                </a:lnTo>
                <a:lnTo>
                  <a:pt x="1021190" y="908654"/>
                </a:lnTo>
                <a:lnTo>
                  <a:pt x="1056675" y="1145391"/>
                </a:lnTo>
                <a:lnTo>
                  <a:pt x="1091696" y="1357384"/>
                </a:lnTo>
                <a:lnTo>
                  <a:pt x="1127181" y="1528748"/>
                </a:lnTo>
                <a:lnTo>
                  <a:pt x="1162201" y="1655757"/>
                </a:lnTo>
                <a:lnTo>
                  <a:pt x="1197221" y="1744008"/>
                </a:lnTo>
                <a:lnTo>
                  <a:pt x="1232712" y="1803307"/>
                </a:lnTo>
                <a:lnTo>
                  <a:pt x="1267733" y="1841129"/>
                </a:lnTo>
                <a:lnTo>
                  <a:pt x="1303218" y="1865408"/>
                </a:lnTo>
                <a:lnTo>
                  <a:pt x="1390193" y="1892895"/>
                </a:lnTo>
                <a:lnTo>
                  <a:pt x="1443033" y="1899344"/>
                </a:lnTo>
                <a:lnTo>
                  <a:pt x="1496356" y="1902135"/>
                </a:lnTo>
                <a:lnTo>
                  <a:pt x="1549760" y="1903700"/>
                </a:lnTo>
                <a:lnTo>
                  <a:pt x="1599069" y="1904380"/>
                </a:lnTo>
                <a:lnTo>
                  <a:pt x="1648374" y="1904646"/>
                </a:lnTo>
                <a:lnTo>
                  <a:pt x="1697678" y="1904665"/>
                </a:lnTo>
                <a:lnTo>
                  <a:pt x="1746986" y="1904605"/>
                </a:lnTo>
                <a:lnTo>
                  <a:pt x="1796303" y="1904630"/>
                </a:lnTo>
                <a:lnTo>
                  <a:pt x="2240080" y="1904630"/>
                </a:lnTo>
                <a:lnTo>
                  <a:pt x="2289388" y="1904630"/>
                </a:lnTo>
              </a:path>
            </a:pathLst>
          </a:custGeom>
          <a:ln w="11206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177322" y="387304"/>
            <a:ext cx="2289810" cy="1939289"/>
          </a:xfrm>
          <a:custGeom>
            <a:avLst/>
            <a:gdLst/>
            <a:ahLst/>
            <a:cxnLst/>
            <a:rect l="l" t="t" r="r" b="b"/>
            <a:pathLst>
              <a:path w="2289810" h="1939289">
                <a:moveTo>
                  <a:pt x="0" y="1938720"/>
                </a:moveTo>
                <a:lnTo>
                  <a:pt x="0" y="1938720"/>
                </a:lnTo>
                <a:lnTo>
                  <a:pt x="352068" y="1938720"/>
                </a:lnTo>
                <a:lnTo>
                  <a:pt x="396081" y="1938718"/>
                </a:lnTo>
                <a:lnTo>
                  <a:pt x="440095" y="1938751"/>
                </a:lnTo>
                <a:lnTo>
                  <a:pt x="484104" y="1938419"/>
                </a:lnTo>
                <a:lnTo>
                  <a:pt x="528105" y="1937320"/>
                </a:lnTo>
                <a:lnTo>
                  <a:pt x="572306" y="1935514"/>
                </a:lnTo>
                <a:lnTo>
                  <a:pt x="617030" y="1932588"/>
                </a:lnTo>
                <a:lnTo>
                  <a:pt x="661300" y="1926659"/>
                </a:lnTo>
                <a:lnTo>
                  <a:pt x="704136" y="1915842"/>
                </a:lnTo>
                <a:lnTo>
                  <a:pt x="739627" y="1901369"/>
                </a:lnTo>
                <a:lnTo>
                  <a:pt x="774647" y="1878021"/>
                </a:lnTo>
                <a:lnTo>
                  <a:pt x="810133" y="1841600"/>
                </a:lnTo>
                <a:lnTo>
                  <a:pt x="845153" y="1784166"/>
                </a:lnTo>
                <a:lnTo>
                  <a:pt x="880173" y="1698717"/>
                </a:lnTo>
                <a:lnTo>
                  <a:pt x="915659" y="1574981"/>
                </a:lnTo>
                <a:lnTo>
                  <a:pt x="950679" y="1406883"/>
                </a:lnTo>
                <a:lnTo>
                  <a:pt x="986170" y="1197692"/>
                </a:lnTo>
                <a:lnTo>
                  <a:pt x="1021190" y="961891"/>
                </a:lnTo>
                <a:lnTo>
                  <a:pt x="1056675" y="725154"/>
                </a:lnTo>
                <a:lnTo>
                  <a:pt x="1091696" y="513167"/>
                </a:lnTo>
                <a:lnTo>
                  <a:pt x="1127181" y="341797"/>
                </a:lnTo>
                <a:lnTo>
                  <a:pt x="1162201" y="215259"/>
                </a:lnTo>
                <a:lnTo>
                  <a:pt x="1197221" y="127473"/>
                </a:lnTo>
                <a:lnTo>
                  <a:pt x="1232712" y="69575"/>
                </a:lnTo>
                <a:lnTo>
                  <a:pt x="1267733" y="33154"/>
                </a:lnTo>
                <a:lnTo>
                  <a:pt x="1303218" y="12142"/>
                </a:lnTo>
                <a:lnTo>
                  <a:pt x="1373723" y="0"/>
                </a:lnTo>
                <a:lnTo>
                  <a:pt x="1408744" y="7004"/>
                </a:lnTo>
                <a:lnTo>
                  <a:pt x="1444235" y="23348"/>
                </a:lnTo>
                <a:lnTo>
                  <a:pt x="1479255" y="52765"/>
                </a:lnTo>
                <a:lnTo>
                  <a:pt x="1514275" y="100858"/>
                </a:lnTo>
                <a:lnTo>
                  <a:pt x="1549760" y="175101"/>
                </a:lnTo>
                <a:lnTo>
                  <a:pt x="1584781" y="284835"/>
                </a:lnTo>
                <a:lnTo>
                  <a:pt x="1620266" y="437523"/>
                </a:lnTo>
                <a:lnTo>
                  <a:pt x="1655286" y="634101"/>
                </a:lnTo>
                <a:lnTo>
                  <a:pt x="1690777" y="863369"/>
                </a:lnTo>
                <a:lnTo>
                  <a:pt x="1725797" y="1102908"/>
                </a:lnTo>
                <a:lnTo>
                  <a:pt x="1760818" y="1325636"/>
                </a:lnTo>
                <a:lnTo>
                  <a:pt x="1796303" y="1511473"/>
                </a:lnTo>
                <a:lnTo>
                  <a:pt x="1831323" y="1652490"/>
                </a:lnTo>
                <a:lnTo>
                  <a:pt x="1866809" y="1752883"/>
                </a:lnTo>
                <a:lnTo>
                  <a:pt x="1901829" y="1820587"/>
                </a:lnTo>
                <a:lnTo>
                  <a:pt x="1937320" y="1864478"/>
                </a:lnTo>
                <a:lnTo>
                  <a:pt x="1972340" y="1892494"/>
                </a:lnTo>
                <a:lnTo>
                  <a:pt x="2007825" y="1910239"/>
                </a:lnTo>
                <a:lnTo>
                  <a:pt x="2091341" y="1929767"/>
                </a:lnTo>
                <a:lnTo>
                  <a:pt x="2140681" y="1934466"/>
                </a:lnTo>
                <a:lnTo>
                  <a:pt x="2190427" y="1936685"/>
                </a:lnTo>
                <a:lnTo>
                  <a:pt x="2240142" y="1937567"/>
                </a:lnTo>
                <a:lnTo>
                  <a:pt x="2289388" y="1938255"/>
                </a:lnTo>
              </a:path>
            </a:pathLst>
          </a:custGeom>
          <a:ln w="11206">
            <a:solidFill>
              <a:srgbClr val="BFB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177322" y="353220"/>
            <a:ext cx="2289810" cy="1973580"/>
          </a:xfrm>
          <a:custGeom>
            <a:avLst/>
            <a:gdLst/>
            <a:ahLst/>
            <a:cxnLst/>
            <a:rect l="l" t="t" r="r" b="b"/>
            <a:pathLst>
              <a:path w="2289810" h="1973580">
                <a:moveTo>
                  <a:pt x="0" y="1973276"/>
                </a:moveTo>
                <a:lnTo>
                  <a:pt x="51470" y="1973253"/>
                </a:lnTo>
                <a:lnTo>
                  <a:pt x="102940" y="1973211"/>
                </a:lnTo>
                <a:lnTo>
                  <a:pt x="154410" y="1973154"/>
                </a:lnTo>
                <a:lnTo>
                  <a:pt x="205880" y="1973088"/>
                </a:lnTo>
                <a:lnTo>
                  <a:pt x="257350" y="1973016"/>
                </a:lnTo>
                <a:lnTo>
                  <a:pt x="308820" y="1972943"/>
                </a:lnTo>
                <a:lnTo>
                  <a:pt x="360291" y="1972874"/>
                </a:lnTo>
                <a:lnTo>
                  <a:pt x="411761" y="1972814"/>
                </a:lnTo>
                <a:lnTo>
                  <a:pt x="463232" y="1972767"/>
                </a:lnTo>
                <a:lnTo>
                  <a:pt x="514703" y="1972738"/>
                </a:lnTo>
                <a:lnTo>
                  <a:pt x="566174" y="1972732"/>
                </a:lnTo>
                <a:lnTo>
                  <a:pt x="617645" y="1972753"/>
                </a:lnTo>
                <a:lnTo>
                  <a:pt x="669116" y="1972805"/>
                </a:lnTo>
                <a:lnTo>
                  <a:pt x="719413" y="1972805"/>
                </a:lnTo>
                <a:lnTo>
                  <a:pt x="1021190" y="1972805"/>
                </a:lnTo>
                <a:lnTo>
                  <a:pt x="1071616" y="1972217"/>
                </a:lnTo>
                <a:lnTo>
                  <a:pt x="1122228" y="1972304"/>
                </a:lnTo>
                <a:lnTo>
                  <a:pt x="1172901" y="1972218"/>
                </a:lnTo>
                <a:lnTo>
                  <a:pt x="1223511" y="1971112"/>
                </a:lnTo>
                <a:lnTo>
                  <a:pt x="1273934" y="1968137"/>
                </a:lnTo>
                <a:lnTo>
                  <a:pt x="1324046" y="1962447"/>
                </a:lnTo>
                <a:lnTo>
                  <a:pt x="1373723" y="1953194"/>
                </a:lnTo>
                <a:lnTo>
                  <a:pt x="1444235" y="1920510"/>
                </a:lnTo>
                <a:lnTo>
                  <a:pt x="1479255" y="1888756"/>
                </a:lnTo>
                <a:lnTo>
                  <a:pt x="1514275" y="1839728"/>
                </a:lnTo>
                <a:lnTo>
                  <a:pt x="1549760" y="1764084"/>
                </a:lnTo>
                <a:lnTo>
                  <a:pt x="1584781" y="1653891"/>
                </a:lnTo>
                <a:lnTo>
                  <a:pt x="1620266" y="1500732"/>
                </a:lnTo>
                <a:lnTo>
                  <a:pt x="1655286" y="1304154"/>
                </a:lnTo>
                <a:lnTo>
                  <a:pt x="1690777" y="1074886"/>
                </a:lnTo>
                <a:lnTo>
                  <a:pt x="1725797" y="835347"/>
                </a:lnTo>
                <a:lnTo>
                  <a:pt x="1760818" y="612619"/>
                </a:lnTo>
                <a:lnTo>
                  <a:pt x="1796303" y="426781"/>
                </a:lnTo>
                <a:lnTo>
                  <a:pt x="1831323" y="285765"/>
                </a:lnTo>
                <a:lnTo>
                  <a:pt x="1866809" y="185371"/>
                </a:lnTo>
                <a:lnTo>
                  <a:pt x="1901829" y="117668"/>
                </a:lnTo>
                <a:lnTo>
                  <a:pt x="1937320" y="73777"/>
                </a:lnTo>
                <a:lnTo>
                  <a:pt x="1972340" y="45761"/>
                </a:lnTo>
                <a:lnTo>
                  <a:pt x="2007825" y="28016"/>
                </a:lnTo>
                <a:lnTo>
                  <a:pt x="2091341" y="8488"/>
                </a:lnTo>
                <a:lnTo>
                  <a:pt x="2140681" y="3789"/>
                </a:lnTo>
                <a:lnTo>
                  <a:pt x="2190427" y="1570"/>
                </a:lnTo>
                <a:lnTo>
                  <a:pt x="2240142" y="687"/>
                </a:lnTo>
                <a:lnTo>
                  <a:pt x="2289388" y="0"/>
                </a:lnTo>
              </a:path>
            </a:pathLst>
          </a:custGeom>
          <a:ln w="11206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2216162" y="2324067"/>
            <a:ext cx="426720" cy="2095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655"/>
              </a:lnSpc>
              <a:spcBef>
                <a:spcPts val="114"/>
              </a:spcBef>
              <a:tabLst>
                <a:tab pos="357505" algn="l"/>
              </a:tabLst>
            </a:pPr>
            <a:r>
              <a:rPr dirty="0" sz="600" spc="5">
                <a:latin typeface="Arial"/>
                <a:cs typeface="Arial"/>
              </a:rPr>
              <a:t>6</a:t>
            </a:r>
            <a:r>
              <a:rPr dirty="0" sz="600" spc="5">
                <a:latin typeface="Arial"/>
                <a:cs typeface="Arial"/>
              </a:rPr>
              <a:t>	</a:t>
            </a:r>
            <a:r>
              <a:rPr dirty="0" sz="600" spc="5">
                <a:latin typeface="Arial"/>
                <a:cs typeface="Arial"/>
              </a:rPr>
              <a:t>8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ts val="775"/>
              </a:lnSpc>
            </a:pPr>
            <a:r>
              <a:rPr dirty="0" sz="700" spc="-5" b="1">
                <a:latin typeface="Times New Roman"/>
                <a:cs typeface="Times New Roman"/>
              </a:rPr>
              <a:t>pH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67955" y="1299330"/>
            <a:ext cx="172085" cy="81280"/>
          </a:xfrm>
          <a:prstGeom prst="rect">
            <a:avLst/>
          </a:prstGeom>
        </p:spPr>
        <p:txBody>
          <a:bodyPr wrap="square" lIns="0" tIns="1778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50">
                <a:latin typeface="Symbol"/>
                <a:cs typeface="Symbol"/>
              </a:rPr>
              <a:t></a:t>
            </a:r>
            <a:endParaRPr sz="850">
              <a:latin typeface="Symbol"/>
              <a:cs typeface="Symbo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395287" y="623950"/>
            <a:ext cx="56515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15" b="1">
                <a:latin typeface="Times New Roman"/>
                <a:cs typeface="Times New Roman"/>
              </a:rPr>
              <a:t>6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334585" y="567918"/>
            <a:ext cx="17399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10" b="1">
                <a:latin typeface="Times New Roman"/>
                <a:cs typeface="Times New Roman"/>
              </a:rPr>
              <a:t>H</a:t>
            </a:r>
            <a:r>
              <a:rPr dirty="0" sz="600" spc="20" b="1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351864" y="989561"/>
            <a:ext cx="173990" cy="1555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590"/>
              </a:lnSpc>
              <a:spcBef>
                <a:spcPts val="114"/>
              </a:spcBef>
            </a:pPr>
            <a:r>
              <a:rPr dirty="0" sz="600" spc="10" b="1">
                <a:latin typeface="Times New Roman"/>
                <a:cs typeface="Times New Roman"/>
              </a:rPr>
              <a:t>H</a:t>
            </a:r>
            <a:r>
              <a:rPr dirty="0" sz="600" spc="20" b="1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  <a:p>
            <a:pPr algn="ctr" marL="3810">
              <a:lnSpc>
                <a:spcPts val="409"/>
              </a:lnSpc>
            </a:pPr>
            <a:r>
              <a:rPr dirty="0" sz="450" spc="15" b="1">
                <a:latin typeface="Times New Roman"/>
                <a:cs typeface="Times New Roman"/>
              </a:rPr>
              <a:t>5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773041" y="1727324"/>
            <a:ext cx="173990" cy="1555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590"/>
              </a:lnSpc>
              <a:spcBef>
                <a:spcPts val="114"/>
              </a:spcBef>
            </a:pPr>
            <a:r>
              <a:rPr dirty="0" sz="600" spc="10" b="1">
                <a:latin typeface="Times New Roman"/>
                <a:cs typeface="Times New Roman"/>
              </a:rPr>
              <a:t>H</a:t>
            </a:r>
            <a:r>
              <a:rPr dirty="0" sz="600" spc="20" b="1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  <a:p>
            <a:pPr algn="ctr" marL="3810">
              <a:lnSpc>
                <a:spcPts val="409"/>
              </a:lnSpc>
            </a:pPr>
            <a:r>
              <a:rPr dirty="0" sz="450" spc="15" b="1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767435" y="1276731"/>
            <a:ext cx="173990" cy="1555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590"/>
              </a:lnSpc>
              <a:spcBef>
                <a:spcPts val="114"/>
              </a:spcBef>
            </a:pPr>
            <a:r>
              <a:rPr dirty="0" sz="600" spc="10" b="1">
                <a:latin typeface="Times New Roman"/>
                <a:cs typeface="Times New Roman"/>
              </a:rPr>
              <a:t>H</a:t>
            </a:r>
            <a:r>
              <a:rPr dirty="0" sz="600" spc="20" b="1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  <a:p>
            <a:pPr algn="ctr" marL="3810">
              <a:lnSpc>
                <a:spcPts val="409"/>
              </a:lnSpc>
            </a:pPr>
            <a:r>
              <a:rPr dirty="0" sz="450" spc="15" b="1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845414" y="653367"/>
            <a:ext cx="56515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15" b="1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784714" y="597336"/>
            <a:ext cx="17399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10" b="1">
                <a:latin typeface="Times New Roman"/>
                <a:cs typeface="Times New Roman"/>
              </a:rPr>
              <a:t>H</a:t>
            </a:r>
            <a:r>
              <a:rPr dirty="0" sz="600" spc="20" b="1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465506" y="585662"/>
            <a:ext cx="14351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10" b="1">
                <a:latin typeface="Times New Roman"/>
                <a:cs typeface="Times New Roman"/>
              </a:rPr>
              <a:t>HY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122956" y="609007"/>
            <a:ext cx="82550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10" b="1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633516" y="1848820"/>
            <a:ext cx="179705" cy="144780"/>
          </a:xfrm>
          <a:custGeom>
            <a:avLst/>
            <a:gdLst/>
            <a:ahLst/>
            <a:cxnLst/>
            <a:rect l="l" t="t" r="r" b="b"/>
            <a:pathLst>
              <a:path w="179705" h="144780">
                <a:moveTo>
                  <a:pt x="179303" y="0"/>
                </a:moveTo>
                <a:lnTo>
                  <a:pt x="0" y="144283"/>
                </a:lnTo>
              </a:path>
            </a:pathLst>
          </a:custGeom>
          <a:ln w="1120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605034" y="1964151"/>
            <a:ext cx="57150" cy="52069"/>
          </a:xfrm>
          <a:custGeom>
            <a:avLst/>
            <a:gdLst/>
            <a:ahLst/>
            <a:cxnLst/>
            <a:rect l="l" t="t" r="r" b="b"/>
            <a:pathLst>
              <a:path w="57150" h="52069">
                <a:moveTo>
                  <a:pt x="30817" y="0"/>
                </a:moveTo>
                <a:lnTo>
                  <a:pt x="0" y="51829"/>
                </a:lnTo>
                <a:lnTo>
                  <a:pt x="56968" y="33154"/>
                </a:lnTo>
                <a:lnTo>
                  <a:pt x="28481" y="28951"/>
                </a:lnTo>
                <a:lnTo>
                  <a:pt x="308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662933" y="1381879"/>
            <a:ext cx="109263" cy="2017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386043" y="1116661"/>
            <a:ext cx="0" cy="165735"/>
          </a:xfrm>
          <a:custGeom>
            <a:avLst/>
            <a:gdLst/>
            <a:ahLst/>
            <a:cxnLst/>
            <a:rect l="l" t="t" r="r" b="b"/>
            <a:pathLst>
              <a:path w="0" h="165734">
                <a:moveTo>
                  <a:pt x="0" y="0"/>
                </a:moveTo>
                <a:lnTo>
                  <a:pt x="0" y="165295"/>
                </a:lnTo>
              </a:path>
            </a:pathLst>
          </a:custGeom>
          <a:ln w="112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365031" y="1262345"/>
            <a:ext cx="42545" cy="56515"/>
          </a:xfrm>
          <a:custGeom>
            <a:avLst/>
            <a:gdLst/>
            <a:ahLst/>
            <a:cxnLst/>
            <a:rect l="l" t="t" r="r" b="b"/>
            <a:pathLst>
              <a:path w="42544" h="56515">
                <a:moveTo>
                  <a:pt x="0" y="0"/>
                </a:moveTo>
                <a:lnTo>
                  <a:pt x="21012" y="56032"/>
                </a:lnTo>
                <a:lnTo>
                  <a:pt x="34670" y="19611"/>
                </a:lnTo>
                <a:lnTo>
                  <a:pt x="21012" y="19611"/>
                </a:lnTo>
                <a:lnTo>
                  <a:pt x="0" y="0"/>
                </a:lnTo>
                <a:close/>
              </a:path>
              <a:path w="42544" h="56515">
                <a:moveTo>
                  <a:pt x="42024" y="0"/>
                </a:moveTo>
                <a:lnTo>
                  <a:pt x="21012" y="19611"/>
                </a:lnTo>
                <a:lnTo>
                  <a:pt x="34670" y="19611"/>
                </a:lnTo>
                <a:lnTo>
                  <a:pt x="42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1205991" y="2702382"/>
            <a:ext cx="21964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1:</a:t>
            </a:r>
            <a:r>
              <a:rPr dirty="0" sz="1000" spc="16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各种存在</a:t>
            </a:r>
            <a:r>
              <a:rPr dirty="0" sz="1050" spc="-10">
                <a:latin typeface="Arial Unicode MS"/>
                <a:cs typeface="Arial Unicode MS"/>
              </a:rPr>
              <a:t>型</a:t>
            </a:r>
            <a:r>
              <a:rPr dirty="0" sz="1050" spc="-5">
                <a:latin typeface="Arial Unicode MS"/>
                <a:cs typeface="Arial Unicode MS"/>
              </a:rPr>
              <a:t>体分布</a:t>
            </a:r>
            <a:r>
              <a:rPr dirty="0" sz="1050" spc="-10">
                <a:latin typeface="Arial Unicode MS"/>
                <a:cs typeface="Arial Unicode MS"/>
              </a:rPr>
              <a:t>分</a:t>
            </a:r>
            <a:r>
              <a:rPr dirty="0" sz="1050" spc="-5">
                <a:latin typeface="Arial Unicode MS"/>
                <a:cs typeface="Arial Unicode MS"/>
              </a:rPr>
              <a:t>数图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4" name="object 9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7703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5.2.2</a:t>
            </a:r>
            <a:r>
              <a:rPr dirty="0" sz="1000" spc="5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EDTA</a:t>
            </a:r>
            <a:r>
              <a:rPr dirty="0" sz="1000" spc="-9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形成的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合物类型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759320"/>
            <a:ext cx="43713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由于金属离子的配位数通常不超</a:t>
            </a:r>
            <a:r>
              <a:rPr dirty="0" spc="175"/>
              <a:t>过</a:t>
            </a:r>
            <a:r>
              <a:rPr dirty="0" sz="1100" spc="-170">
                <a:latin typeface="Georgia"/>
                <a:cs typeface="Georgia"/>
              </a:rPr>
              <a:t>6</a:t>
            </a:r>
            <a:r>
              <a:rPr dirty="0" spc="-170"/>
              <a:t>，</a:t>
            </a:r>
            <a:r>
              <a:rPr dirty="0" spc="-5"/>
              <a:t>因</a:t>
            </a:r>
            <a:r>
              <a:rPr dirty="0" spc="-80"/>
              <a:t>此</a:t>
            </a:r>
            <a:r>
              <a:rPr dirty="0" spc="-185"/>
              <a:t>，</a:t>
            </a:r>
            <a:r>
              <a:rPr dirty="0" spc="-5"/>
              <a:t>不管金属离子的 价数是多</a:t>
            </a:r>
            <a:r>
              <a:rPr dirty="0" spc="-80"/>
              <a:t>少</a:t>
            </a:r>
            <a:r>
              <a:rPr dirty="0" spc="-185"/>
              <a:t>，</a:t>
            </a:r>
            <a:r>
              <a:rPr dirty="0" spc="-5"/>
              <a:t>它们</a:t>
            </a:r>
            <a:r>
              <a:rPr dirty="0" spc="175"/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pc="-5"/>
              <a:t>的配位反应通常</a:t>
            </a:r>
            <a:r>
              <a:rPr dirty="0" spc="175"/>
              <a:t>按</a:t>
            </a:r>
            <a:r>
              <a:rPr dirty="0" sz="1100" spc="35">
                <a:latin typeface="Georgia"/>
                <a:cs typeface="Georgia"/>
              </a:rPr>
              <a:t>1:1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pc="-5"/>
              <a:t>的方式进行</a:t>
            </a:r>
            <a:r>
              <a:rPr dirty="0" baseline="37037" sz="900" spc="-112">
                <a:latin typeface="Times New Roman"/>
                <a:cs typeface="Times New Roman"/>
              </a:rPr>
              <a:t>1</a:t>
            </a:r>
            <a:r>
              <a:rPr dirty="0" sz="1200" spc="-75"/>
              <a:t>，</a:t>
            </a:r>
            <a:r>
              <a:rPr dirty="0" sz="1200" spc="-5"/>
              <a:t>反 应如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7474" y="1546539"/>
            <a:ext cx="147510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33400"/>
              </a:lnSpc>
              <a:spcBef>
                <a:spcPts val="100"/>
              </a:spcBef>
            </a:pPr>
            <a:r>
              <a:rPr dirty="0" sz="1100" spc="95">
                <a:latin typeface="Georgia"/>
                <a:cs typeface="Georgia"/>
              </a:rPr>
              <a:t>M</a:t>
            </a:r>
            <a:r>
              <a:rPr dirty="0" baseline="37037" sz="900" spc="142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10">
                <a:latin typeface="Georgia"/>
                <a:cs typeface="Georgia"/>
              </a:rPr>
              <a:t>Y</a:t>
            </a:r>
            <a:r>
              <a:rPr dirty="0" baseline="37037" sz="900" spc="165">
                <a:latin typeface="Times New Roman"/>
                <a:cs typeface="Times New Roman"/>
              </a:rPr>
              <a:t>4</a:t>
            </a:r>
            <a:r>
              <a:rPr dirty="0" baseline="37037" sz="900" spc="165">
                <a:latin typeface="Lucida Sans Unicode"/>
                <a:cs typeface="Lucida Sans Unicode"/>
              </a:rPr>
              <a:t>−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45">
                <a:latin typeface="宋体"/>
                <a:cs typeface="宋体"/>
              </a:rPr>
              <a:t> </a:t>
            </a:r>
            <a:r>
              <a:rPr dirty="0" sz="1100" spc="75">
                <a:latin typeface="Georgia"/>
                <a:cs typeface="Georgia"/>
              </a:rPr>
              <a:t>MY</a:t>
            </a:r>
            <a:r>
              <a:rPr dirty="0" baseline="37037" sz="900" spc="112">
                <a:latin typeface="Times New Roman"/>
                <a:cs typeface="Times New Roman"/>
              </a:rPr>
              <a:t>3</a:t>
            </a:r>
            <a:r>
              <a:rPr dirty="0" baseline="37037" sz="900" spc="112">
                <a:latin typeface="Lucida Sans Unicode"/>
                <a:cs typeface="Lucida Sans Unicode"/>
              </a:rPr>
              <a:t>−  </a:t>
            </a:r>
            <a:r>
              <a:rPr dirty="0" sz="1100" spc="85">
                <a:latin typeface="Georgia"/>
                <a:cs typeface="Georgia"/>
              </a:rPr>
              <a:t>M</a:t>
            </a:r>
            <a:r>
              <a:rPr dirty="0" baseline="37037" sz="900" spc="127">
                <a:latin typeface="Times New Roman"/>
                <a:cs typeface="Times New Roman"/>
              </a:rPr>
              <a:t>2+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10">
                <a:latin typeface="Georgia"/>
                <a:cs typeface="Georgia"/>
              </a:rPr>
              <a:t>Y</a:t>
            </a:r>
            <a:r>
              <a:rPr dirty="0" baseline="37037" sz="900" spc="165">
                <a:latin typeface="Times New Roman"/>
                <a:cs typeface="Times New Roman"/>
              </a:rPr>
              <a:t>4</a:t>
            </a:r>
            <a:r>
              <a:rPr dirty="0" baseline="37037" sz="900" spc="165">
                <a:latin typeface="Lucida Sans Unicode"/>
                <a:cs typeface="Lucida Sans Unicode"/>
              </a:rPr>
              <a:t>−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45">
                <a:latin typeface="宋体"/>
                <a:cs typeface="宋体"/>
              </a:rPr>
              <a:t> </a:t>
            </a:r>
            <a:r>
              <a:rPr dirty="0" sz="1100" spc="75">
                <a:latin typeface="Georgia"/>
                <a:cs typeface="Georgia"/>
              </a:rPr>
              <a:t>MY</a:t>
            </a:r>
            <a:r>
              <a:rPr dirty="0" baseline="37037" sz="900" spc="112">
                <a:latin typeface="Times New Roman"/>
                <a:cs typeface="Times New Roman"/>
              </a:rPr>
              <a:t>2</a:t>
            </a:r>
            <a:r>
              <a:rPr dirty="0" baseline="37037" sz="900" spc="112">
                <a:latin typeface="Lucida Sans Unicode"/>
                <a:cs typeface="Lucida Sans Unicode"/>
              </a:rPr>
              <a:t>−  </a:t>
            </a:r>
            <a:r>
              <a:rPr dirty="0" sz="1100" spc="85">
                <a:latin typeface="Georgia"/>
                <a:cs typeface="Georgia"/>
              </a:rPr>
              <a:t>M</a:t>
            </a:r>
            <a:r>
              <a:rPr dirty="0" baseline="37037" sz="900" spc="127">
                <a:latin typeface="Times New Roman"/>
                <a:cs typeface="Times New Roman"/>
              </a:rPr>
              <a:t>3+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10">
                <a:latin typeface="Georgia"/>
                <a:cs typeface="Georgia"/>
              </a:rPr>
              <a:t>Y</a:t>
            </a:r>
            <a:r>
              <a:rPr dirty="0" baseline="37037" sz="900" spc="165">
                <a:latin typeface="Times New Roman"/>
                <a:cs typeface="Times New Roman"/>
              </a:rPr>
              <a:t>4</a:t>
            </a:r>
            <a:r>
              <a:rPr dirty="0" baseline="37037" sz="900" spc="165">
                <a:latin typeface="Lucida Sans Unicode"/>
                <a:cs typeface="Lucida Sans Unicode"/>
              </a:rPr>
              <a:t>−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37">
                <a:latin typeface="宋体"/>
                <a:cs typeface="宋体"/>
              </a:rPr>
              <a:t> </a:t>
            </a:r>
            <a:r>
              <a:rPr dirty="0" sz="1100" spc="80">
                <a:latin typeface="Georgia"/>
                <a:cs typeface="Georgia"/>
              </a:rPr>
              <a:t>MY</a:t>
            </a:r>
            <a:r>
              <a:rPr dirty="0" baseline="37037" sz="900" spc="120">
                <a:latin typeface="Lucida Sans Unicode"/>
                <a:cs typeface="Lucida Sans Unicode"/>
              </a:rPr>
              <a:t>−  </a:t>
            </a:r>
            <a:r>
              <a:rPr dirty="0" sz="1100" spc="85">
                <a:latin typeface="Georgia"/>
                <a:cs typeface="Georgia"/>
              </a:rPr>
              <a:t>M</a:t>
            </a:r>
            <a:r>
              <a:rPr dirty="0" baseline="37037" sz="900" spc="127">
                <a:latin typeface="Times New Roman"/>
                <a:cs typeface="Times New Roman"/>
              </a:rPr>
              <a:t>4+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10">
                <a:latin typeface="Georgia"/>
                <a:cs typeface="Georgia"/>
              </a:rPr>
              <a:t>Y</a:t>
            </a:r>
            <a:r>
              <a:rPr dirty="0" baseline="37037" sz="900" spc="165">
                <a:latin typeface="Times New Roman"/>
                <a:cs typeface="Times New Roman"/>
              </a:rPr>
              <a:t>4</a:t>
            </a:r>
            <a:r>
              <a:rPr dirty="0" baseline="37037" sz="900" spc="165">
                <a:latin typeface="Lucida Sans Unicode"/>
                <a:cs typeface="Lucida Sans Unicode"/>
              </a:rPr>
              <a:t>−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54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45">
                <a:latin typeface="宋体"/>
                <a:cs typeface="宋体"/>
              </a:rPr>
              <a:t> </a:t>
            </a:r>
            <a:r>
              <a:rPr dirty="0" sz="1100" spc="60">
                <a:latin typeface="Georgia"/>
                <a:cs typeface="Georgia"/>
              </a:rPr>
              <a:t>MY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8544" y="2985376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44" y="2947367"/>
            <a:ext cx="4198620" cy="3873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95580">
              <a:lnSpc>
                <a:spcPct val="100000"/>
              </a:lnSpc>
              <a:spcBef>
                <a:spcPts val="44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1</a:t>
            </a:r>
            <a:r>
              <a:rPr dirty="0" sz="900" spc="-5">
                <a:latin typeface="Arial Unicode MS"/>
                <a:cs typeface="Arial Unicode MS"/>
              </a:rPr>
              <a:t>少数高价金属离子</a:t>
            </a:r>
            <a:r>
              <a:rPr dirty="0" sz="900" spc="145">
                <a:latin typeface="Arial Unicode MS"/>
                <a:cs typeface="Arial Unicode MS"/>
              </a:rPr>
              <a:t>与</a:t>
            </a:r>
            <a:r>
              <a:rPr dirty="0" sz="900" spc="35">
                <a:latin typeface="Garamond"/>
                <a:cs typeface="Garamond"/>
              </a:rPr>
              <a:t>EDTA</a:t>
            </a:r>
            <a:r>
              <a:rPr dirty="0" sz="900" spc="-75">
                <a:latin typeface="Garamond"/>
                <a:cs typeface="Garamond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形成配合物时不是</a:t>
            </a:r>
            <a:r>
              <a:rPr dirty="0" sz="900" spc="145">
                <a:latin typeface="Arial Unicode MS"/>
                <a:cs typeface="Arial Unicode MS"/>
              </a:rPr>
              <a:t>按</a:t>
            </a:r>
            <a:r>
              <a:rPr dirty="0" sz="900" spc="40">
                <a:latin typeface="Garamond"/>
                <a:cs typeface="Garamond"/>
              </a:rPr>
              <a:t>1:1</a:t>
            </a:r>
            <a:r>
              <a:rPr dirty="0" sz="900" spc="-75">
                <a:latin typeface="Garamond"/>
                <a:cs typeface="Garamond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进</a:t>
            </a:r>
            <a:r>
              <a:rPr dirty="0" sz="900" spc="-60">
                <a:latin typeface="Arial Unicode MS"/>
                <a:cs typeface="Arial Unicode MS"/>
              </a:rPr>
              <a:t>行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如</a:t>
            </a:r>
            <a:r>
              <a:rPr dirty="0" sz="900" spc="60">
                <a:latin typeface="Garamond"/>
                <a:cs typeface="Garamond"/>
              </a:rPr>
              <a:t>Mo(VI)</a:t>
            </a:r>
            <a:r>
              <a:rPr dirty="0" sz="900" spc="80">
                <a:latin typeface="Garamond"/>
                <a:cs typeface="Garamond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与</a:t>
            </a:r>
            <a:r>
              <a:rPr dirty="0" sz="900" spc="35">
                <a:latin typeface="Garamond"/>
                <a:cs typeface="Garamond"/>
              </a:rPr>
              <a:t>EDTA</a:t>
            </a:r>
            <a:endParaRPr sz="9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345"/>
              </a:spcBef>
            </a:pPr>
            <a:r>
              <a:rPr dirty="0" sz="900" spc="-5">
                <a:latin typeface="Arial Unicode MS"/>
                <a:cs typeface="Arial Unicode MS"/>
              </a:rPr>
              <a:t>在</a:t>
            </a:r>
            <a:r>
              <a:rPr dirty="0" sz="900" spc="25">
                <a:latin typeface="Garamond"/>
                <a:cs typeface="Garamond"/>
              </a:rPr>
              <a:t>pH </a:t>
            </a:r>
            <a:r>
              <a:rPr dirty="0" sz="900" spc="114">
                <a:latin typeface="Garamond"/>
                <a:cs typeface="Garamond"/>
              </a:rPr>
              <a:t>=</a:t>
            </a:r>
            <a:r>
              <a:rPr dirty="0" sz="900" spc="30">
                <a:latin typeface="Garamond"/>
                <a:cs typeface="Garamond"/>
              </a:rPr>
              <a:t> </a:t>
            </a:r>
            <a:r>
              <a:rPr dirty="0" sz="900" spc="35">
                <a:latin typeface="Garamond"/>
                <a:cs typeface="Garamond"/>
              </a:rPr>
              <a:t>6</a:t>
            </a:r>
            <a:r>
              <a:rPr dirty="0" sz="900" spc="80">
                <a:latin typeface="Garamond"/>
                <a:cs typeface="Garamond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时形</a:t>
            </a:r>
            <a:r>
              <a:rPr dirty="0" sz="900" spc="145">
                <a:latin typeface="Arial Unicode MS"/>
                <a:cs typeface="Arial Unicode MS"/>
              </a:rPr>
              <a:t>成</a:t>
            </a:r>
            <a:r>
              <a:rPr dirty="0" sz="900" spc="40">
                <a:latin typeface="Garamond"/>
                <a:cs typeface="Garamond"/>
              </a:rPr>
              <a:t>2:1</a:t>
            </a:r>
            <a:r>
              <a:rPr dirty="0" sz="900" spc="-75">
                <a:latin typeface="Garamond"/>
                <a:cs typeface="Garamond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配合</a:t>
            </a:r>
            <a:r>
              <a:rPr dirty="0" sz="900" spc="-15">
                <a:latin typeface="Arial Unicode MS"/>
                <a:cs typeface="Arial Unicode MS"/>
              </a:rPr>
              <a:t>物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3997" y="402389"/>
            <a:ext cx="1800052" cy="19666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40282" y="2535707"/>
            <a:ext cx="2727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0">
                <a:solidFill>
                  <a:srgbClr val="3333B2"/>
                </a:solidFill>
                <a:latin typeface="Georgia"/>
                <a:cs typeface="Georgia"/>
              </a:rPr>
              <a:t>2:</a:t>
            </a:r>
            <a:r>
              <a:rPr dirty="0" sz="1000" spc="-2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与</a:t>
            </a:r>
            <a:r>
              <a:rPr dirty="0" sz="1050" spc="-10">
                <a:latin typeface="Arial Unicode MS"/>
                <a:cs typeface="Arial Unicode MS"/>
              </a:rPr>
              <a:t>金</a:t>
            </a:r>
            <a:r>
              <a:rPr dirty="0" sz="1050" spc="-5">
                <a:latin typeface="Arial Unicode MS"/>
                <a:cs typeface="Arial Unicode MS"/>
              </a:rPr>
              <a:t>属离子形</a:t>
            </a:r>
            <a:r>
              <a:rPr dirty="0" sz="1050" spc="-10">
                <a:latin typeface="Arial Unicode MS"/>
                <a:cs typeface="Arial Unicode MS"/>
              </a:rPr>
              <a:t>成</a:t>
            </a:r>
            <a:r>
              <a:rPr dirty="0" sz="1050" spc="-5">
                <a:latin typeface="Arial Unicode MS"/>
                <a:cs typeface="Arial Unicode MS"/>
              </a:rPr>
              <a:t>鳌合物</a:t>
            </a:r>
            <a:r>
              <a:rPr dirty="0" sz="1050" spc="-10">
                <a:latin typeface="Arial Unicode MS"/>
                <a:cs typeface="Arial Unicode MS"/>
              </a:rPr>
              <a:t>结</a:t>
            </a:r>
            <a:r>
              <a:rPr dirty="0" sz="1050" spc="-5">
                <a:latin typeface="Arial Unicode MS"/>
                <a:cs typeface="Arial Unicode MS"/>
              </a:rPr>
              <a:t>构示意图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34962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5.3</a:t>
            </a:r>
            <a:r>
              <a:rPr dirty="0" sz="14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配合物的稳定常数和累积稳定常数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746709"/>
            <a:ext cx="430657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当金属离子与其它配位剂形成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: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sz="1100" spc="-17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配合物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在溶液中存 在分级配位现</a:t>
            </a:r>
            <a:r>
              <a:rPr dirty="0" sz="1200" spc="-20">
                <a:latin typeface="Arial Unicode MS"/>
                <a:cs typeface="Arial Unicode MS"/>
              </a:rPr>
              <a:t>象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对于型</a:t>
            </a:r>
            <a:r>
              <a:rPr dirty="0" sz="1200" spc="175">
                <a:latin typeface="Arial Unicode MS"/>
                <a:cs typeface="Arial Unicode MS"/>
              </a:rPr>
              <a:t>如</a:t>
            </a:r>
            <a:r>
              <a:rPr dirty="0" sz="1100" spc="40">
                <a:latin typeface="Georgia"/>
                <a:cs typeface="Georgia"/>
              </a:rPr>
              <a:t>ML</a:t>
            </a:r>
            <a:r>
              <a:rPr dirty="0" baseline="-13888" sz="900" spc="60" i="1">
                <a:latin typeface="Arial"/>
                <a:cs typeface="Arial"/>
              </a:rPr>
              <a:t>n</a:t>
            </a:r>
            <a:r>
              <a:rPr dirty="0" baseline="-13888" sz="900" spc="15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的配合物来</a:t>
            </a:r>
            <a:r>
              <a:rPr dirty="0" sz="1200" spc="-80">
                <a:latin typeface="Arial Unicode MS"/>
                <a:cs typeface="Arial Unicode MS"/>
              </a:rPr>
              <a:t>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其逐级的稳定常 数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7082" y="1626349"/>
            <a:ext cx="10648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M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5">
                <a:latin typeface="Georgia"/>
                <a:cs typeface="Georgia"/>
              </a:rPr>
              <a:t>L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25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45">
                <a:latin typeface="宋体"/>
                <a:cs typeface="宋体"/>
              </a:rPr>
              <a:t> </a:t>
            </a:r>
            <a:r>
              <a:rPr dirty="0" sz="1100" spc="-5">
                <a:latin typeface="Georgia"/>
                <a:cs typeface="Georgia"/>
              </a:rPr>
              <a:t>ML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9907" y="1532623"/>
            <a:ext cx="3162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50">
                <a:latin typeface="Georgia"/>
                <a:cs typeface="Georgia"/>
              </a:rPr>
              <a:t>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4114" y="1742960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4" h="0">
                <a:moveTo>
                  <a:pt x="0" y="0"/>
                </a:moveTo>
                <a:lnTo>
                  <a:pt x="3675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85720" y="1721383"/>
            <a:ext cx="81406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37878" sz="1650" spc="142" b="0" i="1">
                <a:latin typeface="Bookman Old Style"/>
                <a:cs typeface="Bookman Old Style"/>
              </a:rPr>
              <a:t>K</a:t>
            </a:r>
            <a:r>
              <a:rPr dirty="0" baseline="55555" sz="900" spc="142">
                <a:latin typeface="Times New Roman"/>
                <a:cs typeface="Times New Roman"/>
              </a:rPr>
              <a:t>1 </a:t>
            </a:r>
            <a:r>
              <a:rPr dirty="0" baseline="37878" sz="1650" spc="209">
                <a:latin typeface="Georgia"/>
                <a:cs typeface="Georgia"/>
              </a:rPr>
              <a:t>=</a:t>
            </a:r>
            <a:r>
              <a:rPr dirty="0" baseline="37878" sz="1650" spc="-67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[M][L]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1436" y="1859927"/>
            <a:ext cx="4197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Georgia"/>
                <a:cs typeface="Georgia"/>
              </a:rPr>
              <a:t>[ML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94114" y="2070265"/>
            <a:ext cx="454659" cy="0"/>
          </a:xfrm>
          <a:custGeom>
            <a:avLst/>
            <a:gdLst/>
            <a:ahLst/>
            <a:cxnLst/>
            <a:rect l="l" t="t" r="r" b="b"/>
            <a:pathLst>
              <a:path w="454660" h="0">
                <a:moveTo>
                  <a:pt x="0" y="0"/>
                </a:moveTo>
                <a:lnTo>
                  <a:pt x="45412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85720" y="2048687"/>
            <a:ext cx="9010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37878" sz="1650" spc="142" b="0" i="1">
                <a:latin typeface="Bookman Old Style"/>
                <a:cs typeface="Bookman Old Style"/>
              </a:rPr>
              <a:t>K</a:t>
            </a:r>
            <a:r>
              <a:rPr dirty="0" baseline="55555" sz="900" spc="142">
                <a:latin typeface="Times New Roman"/>
                <a:cs typeface="Times New Roman"/>
              </a:rPr>
              <a:t>2 </a:t>
            </a:r>
            <a:r>
              <a:rPr dirty="0" baseline="37878" sz="1650" spc="209">
                <a:latin typeface="Georgia"/>
                <a:cs typeface="Georgia"/>
              </a:rPr>
              <a:t>=</a:t>
            </a:r>
            <a:r>
              <a:rPr dirty="0" baseline="37878" sz="1650" spc="-44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[ML][L]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7082" y="1953653"/>
            <a:ext cx="1197610" cy="4781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ML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5">
                <a:latin typeface="Georgia"/>
                <a:cs typeface="Georgia"/>
              </a:rPr>
              <a:t>L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3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45">
                <a:latin typeface="宋体"/>
                <a:cs typeface="宋体"/>
              </a:rPr>
              <a:t> </a:t>
            </a:r>
            <a:r>
              <a:rPr dirty="0" sz="1100" spc="15">
                <a:latin typeface="Georgia"/>
                <a:cs typeface="Georgia"/>
              </a:rPr>
              <a:t>ML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35"/>
              </a:spcBef>
            </a:pP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1130" y="2239911"/>
            <a:ext cx="372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6070" y="2588069"/>
            <a:ext cx="2768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z="600" spc="120" i="1">
                <a:latin typeface="Arial"/>
                <a:cs typeface="Arial"/>
              </a:rPr>
              <a:t>n</a:t>
            </a: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75">
                <a:latin typeface="Times New Roman"/>
                <a:cs typeface="Times New Roman"/>
              </a:rPr>
              <a:t>1)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2482" y="2504656"/>
            <a:ext cx="752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4350" algn="l"/>
              </a:tabLst>
            </a:pPr>
            <a:r>
              <a:rPr dirty="0" sz="1100" spc="-5">
                <a:latin typeface="Georgia"/>
                <a:cs typeface="Georgia"/>
              </a:rPr>
              <a:t>ML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65554" y="2578875"/>
            <a:ext cx="2717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5">
                <a:latin typeface="宋体"/>
                <a:cs typeface="宋体"/>
              </a:rPr>
              <a:t> </a:t>
            </a:r>
            <a:r>
              <a:rPr dirty="0" sz="450" spc="190">
                <a:latin typeface="宋体"/>
                <a:cs typeface="宋体"/>
              </a:rPr>
              <a:t> </a:t>
            </a:r>
            <a:r>
              <a:rPr dirty="0" sz="450" spc="-5">
                <a:latin typeface="宋体"/>
                <a:cs typeface="宋体"/>
              </a:rPr>
              <a:t> </a:t>
            </a:r>
            <a:r>
              <a:rPr dirty="0" sz="450" spc="620">
                <a:latin typeface="宋体"/>
                <a:cs typeface="宋体"/>
              </a:rPr>
              <a:t>、</a:t>
            </a:r>
            <a:endParaRPr sz="45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58619" y="2602738"/>
            <a:ext cx="2717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405">
                <a:latin typeface="宋体"/>
                <a:cs typeface="宋体"/>
              </a:rPr>
              <a:t>`</a:t>
            </a:r>
            <a:r>
              <a:rPr dirty="0" sz="450" spc="190">
                <a:latin typeface="宋体"/>
                <a:cs typeface="宋体"/>
              </a:rPr>
              <a:t> </a:t>
            </a:r>
            <a:r>
              <a:rPr dirty="0" sz="450" spc="-5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94534" y="2588069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8798" y="2588069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80945" y="2504656"/>
            <a:ext cx="7848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2595" algn="l"/>
              </a:tabLst>
            </a:pPr>
            <a:r>
              <a:rPr dirty="0" sz="1100" spc="-5">
                <a:latin typeface="Georgia"/>
                <a:cs typeface="Georgia"/>
              </a:rPr>
              <a:t>ML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39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23615" y="2494343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71533" y="2410929"/>
            <a:ext cx="381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[ML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06153" y="2621267"/>
            <a:ext cx="711835" cy="0"/>
          </a:xfrm>
          <a:custGeom>
            <a:avLst/>
            <a:gdLst/>
            <a:ahLst/>
            <a:cxnLst/>
            <a:rect l="l" t="t" r="r" b="b"/>
            <a:pathLst>
              <a:path w="711835" h="0">
                <a:moveTo>
                  <a:pt x="0" y="0"/>
                </a:moveTo>
                <a:lnTo>
                  <a:pt x="71147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45535" y="2683103"/>
            <a:ext cx="2768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z="600" spc="120" i="1">
                <a:latin typeface="Arial"/>
                <a:cs typeface="Arial"/>
              </a:rPr>
              <a:t>n</a:t>
            </a: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75">
                <a:latin typeface="Times New Roman"/>
                <a:cs typeface="Times New Roman"/>
              </a:rPr>
              <a:t>1)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93453" y="2599690"/>
            <a:ext cx="7372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1970" algn="l"/>
              </a:tabLst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15">
                <a:latin typeface="Georgia"/>
                <a:cs typeface="Georgia"/>
              </a:rPr>
              <a:t>L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80">
                <a:latin typeface="Georgia"/>
                <a:cs typeface="Georgia"/>
              </a:rPr>
              <a:t>][L]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1252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Georgia"/>
                <a:cs typeface="Georgia"/>
              </a:rPr>
              <a:t>5.3.1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累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积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稳定常数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674128"/>
            <a:ext cx="436372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在许多计算配位平衡的过程</a:t>
            </a:r>
            <a:r>
              <a:rPr dirty="0" spc="-80"/>
              <a:t>中</a:t>
            </a:r>
            <a:r>
              <a:rPr dirty="0" spc="-185"/>
              <a:t>，</a:t>
            </a:r>
            <a:r>
              <a:rPr dirty="0" spc="-5"/>
              <a:t>经常要用</a:t>
            </a:r>
            <a:r>
              <a:rPr dirty="0" spc="175"/>
              <a:t>到</a:t>
            </a:r>
            <a:r>
              <a:rPr dirty="0" sz="1100" spc="95" b="0" i="1">
                <a:latin typeface="Bookman Old Style"/>
                <a:cs typeface="Bookman Old Style"/>
              </a:rPr>
              <a:t>K</a:t>
            </a:r>
            <a:r>
              <a:rPr dirty="0" baseline="-13888" sz="900" spc="142">
                <a:latin typeface="Times New Roman"/>
                <a:cs typeface="Times New Roman"/>
              </a:rPr>
              <a:t>1</a:t>
            </a:r>
            <a:r>
              <a:rPr dirty="0" baseline="-13888" sz="900" spc="195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95" b="0" i="1">
                <a:latin typeface="Bookman Old Style"/>
                <a:cs typeface="Bookman Old Style"/>
              </a:rPr>
              <a:t>K</a:t>
            </a:r>
            <a:r>
              <a:rPr dirty="0" baseline="-13888" sz="900" spc="142">
                <a:latin typeface="Times New Roman"/>
                <a:cs typeface="Times New Roman"/>
              </a:rPr>
              <a:t>2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5">
                <a:latin typeface="Lucida Sans Unicode"/>
                <a:cs typeface="Lucida Sans Unicode"/>
              </a:rPr>
              <a:t> </a:t>
            </a:r>
            <a:r>
              <a:rPr dirty="0" sz="1200" spc="-5"/>
              <a:t>的乘 积形</a:t>
            </a:r>
            <a:r>
              <a:rPr dirty="0" sz="1200" spc="-80"/>
              <a:t>式</a:t>
            </a:r>
            <a:r>
              <a:rPr dirty="0" sz="1200" spc="-185"/>
              <a:t>，</a:t>
            </a:r>
            <a:r>
              <a:rPr dirty="0" sz="1200" spc="-5"/>
              <a:t>为方便</a:t>
            </a:r>
            <a:r>
              <a:rPr dirty="0" sz="1200" spc="-80"/>
              <a:t>记</a:t>
            </a:r>
            <a:r>
              <a:rPr dirty="0" sz="1200" spc="-185"/>
              <a:t>，</a:t>
            </a:r>
            <a:r>
              <a:rPr dirty="0" sz="1200" spc="-5"/>
              <a:t>引入累积稳定常数的概</a:t>
            </a:r>
            <a:r>
              <a:rPr dirty="0" sz="1200" spc="-80"/>
              <a:t>念</a:t>
            </a:r>
            <a:r>
              <a:rPr dirty="0" sz="1200" spc="-185"/>
              <a:t>，</a:t>
            </a:r>
            <a:r>
              <a:rPr dirty="0" sz="1200" spc="175"/>
              <a:t>用</a:t>
            </a: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-170" b="0" i="1">
                <a:latin typeface="Bookman Old Style"/>
                <a:cs typeface="Bookman Old Style"/>
              </a:rPr>
              <a:t> </a:t>
            </a:r>
            <a:r>
              <a:rPr dirty="0" sz="1200" spc="-5"/>
              <a:t>表示逐级累积 稳定常</a:t>
            </a:r>
            <a:r>
              <a:rPr dirty="0" sz="1200" spc="-80"/>
              <a:t>数</a:t>
            </a:r>
            <a:r>
              <a:rPr dirty="0" sz="1200" spc="-185"/>
              <a:t>，</a:t>
            </a:r>
            <a:r>
              <a:rPr dirty="0" sz="1200" spc="-5"/>
              <a:t>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1745" y="1677365"/>
            <a:ext cx="685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85">
                <a:latin typeface="Book Antiqua"/>
                <a:cs typeface="Book Antiqua"/>
              </a:rPr>
              <a:t>1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555" y="1553387"/>
            <a:ext cx="19577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08125" algn="l"/>
              </a:tabLst>
            </a:pPr>
            <a:r>
              <a:rPr dirty="0" sz="1200" spc="175">
                <a:latin typeface="Arial Unicode MS"/>
                <a:cs typeface="Arial Unicode MS"/>
              </a:rPr>
              <a:t>第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级累积稳定常数	</a:t>
            </a: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9847" y="165008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5646" y="1472946"/>
            <a:ext cx="5670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592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[ML]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55176" y="1683283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4" h="0">
                <a:moveTo>
                  <a:pt x="0" y="0"/>
                </a:moveTo>
                <a:lnTo>
                  <a:pt x="3675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42476" y="1661706"/>
            <a:ext cx="3930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80">
                <a:latin typeface="Georgia"/>
                <a:cs typeface="Georgia"/>
              </a:rPr>
              <a:t>][L]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555" y="1880692"/>
            <a:ext cx="13557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175">
                <a:latin typeface="Arial Unicode MS"/>
                <a:cs typeface="Arial Unicode MS"/>
              </a:rPr>
              <a:t>第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级累积稳定常数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1745" y="2004669"/>
            <a:ext cx="685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85">
                <a:latin typeface="Book Antiqua"/>
                <a:cs typeface="Book Antiqua"/>
              </a:rPr>
              <a:t>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3374" y="1893976"/>
            <a:ext cx="8020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89847" y="1977390"/>
            <a:ext cx="4121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179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95358" y="1800250"/>
            <a:ext cx="6584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409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[ML</a:t>
            </a:r>
            <a:r>
              <a:rPr dirty="0" u="sng" baseline="-13888" sz="900" spc="-3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56788" y="2000288"/>
            <a:ext cx="490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[M][L]</a:t>
            </a:r>
            <a:r>
              <a:rPr dirty="0" baseline="50925" sz="900" spc="-82">
                <a:latin typeface="Times New Roman"/>
                <a:cs typeface="Times New Roman"/>
              </a:rPr>
              <a:t>2</a:t>
            </a:r>
            <a:endParaRPr baseline="50925"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53418" y="2191512"/>
            <a:ext cx="372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555" y="2113748"/>
            <a:ext cx="1369695" cy="53721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200" spc="175">
                <a:latin typeface="Arial Unicode MS"/>
                <a:cs typeface="Arial Unicode MS"/>
              </a:rPr>
              <a:t>第</a:t>
            </a: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sz="1100" spc="-21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级累积稳定常数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31745" y="2564981"/>
            <a:ext cx="812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160" i="1">
                <a:latin typeface="Arial"/>
                <a:cs typeface="Arial"/>
              </a:rPr>
              <a:t>n</a:t>
            </a:r>
            <a:endParaRPr sz="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02509" y="2539669"/>
            <a:ext cx="4121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179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53374" y="2456269"/>
            <a:ext cx="14852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5">
                <a:latin typeface="Lucida Sans Unicode"/>
                <a:cs typeface="Lucida Sans Unicod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12921" y="2539669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90760" y="2383320"/>
            <a:ext cx="6699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89584" algn="l"/>
              </a:tabLst>
            </a:pPr>
            <a:r>
              <a:rPr dirty="0" baseline="-27777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	</a:t>
            </a:r>
            <a:r>
              <a:rPr dirty="0" u="sng" sz="600" spc="1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600" spc="-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16070" y="2362530"/>
            <a:ext cx="381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[ML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52177" y="2551303"/>
            <a:ext cx="50228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Georgia"/>
                <a:cs typeface="Georgia"/>
              </a:rPr>
              <a:t>[M][L]</a:t>
            </a:r>
            <a:r>
              <a:rPr dirty="0" baseline="50925" sz="900" spc="-75" i="1">
                <a:latin typeface="Arial"/>
                <a:cs typeface="Arial"/>
              </a:rPr>
              <a:t>n</a:t>
            </a:r>
            <a:endParaRPr baseline="50925"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9501" y="2853436"/>
            <a:ext cx="31019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最后一级累积稳定常</a:t>
            </a:r>
            <a:r>
              <a:rPr dirty="0" sz="1200" spc="175">
                <a:latin typeface="Arial Unicode MS"/>
                <a:cs typeface="Arial Unicode MS"/>
              </a:rPr>
              <a:t>数</a:t>
            </a: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3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又称为总稳定常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ctr" marL="218440">
              <a:lnSpc>
                <a:spcPts val="360"/>
              </a:lnSpc>
            </a:pPr>
            <a:r>
              <a:rPr dirty="0" sz="500" spc="160" i="1">
                <a:latin typeface="Arial"/>
                <a:cs typeface="Arial"/>
              </a:rPr>
              <a:t>n</a:t>
            </a:r>
            <a:endParaRPr sz="5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7894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5.3.2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溶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液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中各级配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合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物的分布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144" y="583298"/>
            <a:ext cx="4382135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 marR="17780" indent="303530">
              <a:lnSpc>
                <a:spcPct val="122300"/>
              </a:lnSpc>
              <a:spcBef>
                <a:spcPts val="100"/>
              </a:spcBef>
            </a:pPr>
            <a:r>
              <a:rPr dirty="0" spc="-10"/>
              <a:t>如上所</a:t>
            </a:r>
            <a:r>
              <a:rPr dirty="0" spc="-80"/>
              <a:t>述</a:t>
            </a:r>
            <a:r>
              <a:rPr dirty="0" spc="-225"/>
              <a:t>，</a:t>
            </a:r>
            <a:r>
              <a:rPr dirty="0" spc="-10"/>
              <a:t>当金属离子与配位剂形</a:t>
            </a:r>
            <a:r>
              <a:rPr dirty="0" spc="175"/>
              <a:t>成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: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sz="1100" spc="-165" b="0" i="1">
                <a:latin typeface="Bookman Old Style"/>
                <a:cs typeface="Bookman Old Style"/>
              </a:rPr>
              <a:t> </a:t>
            </a:r>
            <a:r>
              <a:rPr dirty="0" spc="-10"/>
              <a:t>配合物</a:t>
            </a:r>
            <a:r>
              <a:rPr dirty="0" spc="-80"/>
              <a:t>时</a:t>
            </a:r>
            <a:r>
              <a:rPr dirty="0" spc="-225"/>
              <a:t>，</a:t>
            </a:r>
            <a:r>
              <a:rPr dirty="0" spc="-10"/>
              <a:t>在溶液</a:t>
            </a:r>
            <a:r>
              <a:rPr dirty="0" spc="-5"/>
              <a:t>中 会存在分级配位现</a:t>
            </a:r>
            <a:r>
              <a:rPr dirty="0" spc="-80"/>
              <a:t>象</a:t>
            </a:r>
            <a:r>
              <a:rPr dirty="0" spc="-185"/>
              <a:t>，</a:t>
            </a:r>
            <a:r>
              <a:rPr dirty="0" spc="-5"/>
              <a:t>导致溶液中会同时存</a:t>
            </a:r>
            <a:r>
              <a:rPr dirty="0" spc="175"/>
              <a:t>在</a:t>
            </a:r>
            <a:r>
              <a:rPr dirty="0" sz="1100" spc="-105">
                <a:latin typeface="Georgia"/>
                <a:cs typeface="Georgia"/>
              </a:rPr>
              <a:t>ML</a:t>
            </a:r>
            <a:r>
              <a:rPr dirty="0" spc="-105"/>
              <a:t>，</a:t>
            </a:r>
            <a:r>
              <a:rPr dirty="0" sz="1100" spc="-105">
                <a:latin typeface="Georgia"/>
                <a:cs typeface="Georgia"/>
              </a:rPr>
              <a:t>ML</a:t>
            </a:r>
            <a:r>
              <a:rPr dirty="0" baseline="-13888" sz="900" spc="-157">
                <a:latin typeface="Times New Roman"/>
                <a:cs typeface="Times New Roman"/>
              </a:rPr>
              <a:t>2</a:t>
            </a:r>
            <a:r>
              <a:rPr dirty="0" sz="1200" spc="-105"/>
              <a:t>，</a:t>
            </a:r>
            <a:r>
              <a:rPr dirty="0" sz="1100" spc="-10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150">
                <a:latin typeface="Lucida Sans Unicode"/>
                <a:cs typeface="Lucida Sans Unicode"/>
              </a:rPr>
              <a:t>·</a:t>
            </a:r>
            <a:r>
              <a:rPr dirty="0" sz="1200" spc="-150"/>
              <a:t>，  </a:t>
            </a:r>
            <a:r>
              <a:rPr dirty="0" sz="1100" spc="40">
                <a:latin typeface="Georgia"/>
                <a:cs typeface="Georgia"/>
              </a:rPr>
              <a:t>ML</a:t>
            </a:r>
            <a:r>
              <a:rPr dirty="0" baseline="-13888" sz="900" spc="60" i="1">
                <a:latin typeface="Arial"/>
                <a:cs typeface="Arial"/>
              </a:rPr>
              <a:t>n</a:t>
            </a:r>
            <a:r>
              <a:rPr dirty="0" baseline="-13888" sz="900" i="1">
                <a:latin typeface="Arial"/>
                <a:cs typeface="Arial"/>
              </a:rPr>
              <a:t> </a:t>
            </a:r>
            <a:r>
              <a:rPr dirty="0" sz="1200" spc="-10"/>
              <a:t>各级配合</a:t>
            </a:r>
            <a:r>
              <a:rPr dirty="0" sz="1200" spc="-20"/>
              <a:t>物</a:t>
            </a:r>
            <a:r>
              <a:rPr dirty="0" sz="1200" spc="-250"/>
              <a:t>。</a:t>
            </a:r>
            <a:r>
              <a:rPr dirty="0" sz="1200" spc="-10"/>
              <a:t>与酸碱滴定中的处理方式类</a:t>
            </a:r>
            <a:r>
              <a:rPr dirty="0" sz="1200" spc="-80"/>
              <a:t>似</a:t>
            </a:r>
            <a:r>
              <a:rPr dirty="0" sz="1200" spc="-200"/>
              <a:t>，</a:t>
            </a:r>
            <a:r>
              <a:rPr dirty="0" sz="1200" spc="-10"/>
              <a:t>可以用分布分</a:t>
            </a:r>
            <a:r>
              <a:rPr dirty="0" sz="1200" spc="-5"/>
              <a:t>数 的方式来描述溶液中各级配合物的分</a:t>
            </a:r>
            <a:r>
              <a:rPr dirty="0" sz="1200" spc="-20"/>
              <a:t>布</a:t>
            </a:r>
            <a:r>
              <a:rPr dirty="0" sz="1200" spc="-5"/>
              <a:t>。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13" y="1519593"/>
            <a:ext cx="366267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设溶液中金属离</a:t>
            </a: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的总浓度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65">
                <a:latin typeface="Georgia"/>
                <a:cs typeface="Georgia"/>
              </a:rPr>
              <a:t>(M)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根据质量平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399" y="1895754"/>
            <a:ext cx="3206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(M)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4784" y="214740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6585" y="2240813"/>
            <a:ext cx="18040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0085" algn="l"/>
                <a:tab pos="173164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4911" y="2157412"/>
            <a:ext cx="2629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[M]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-75">
                <a:latin typeface="Georgia"/>
                <a:cs typeface="Georgia"/>
              </a:rPr>
              <a:t>[M][L]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-75">
                <a:latin typeface="Georgia"/>
                <a:cs typeface="Georgia"/>
              </a:rPr>
              <a:t>[M][L]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-70" b="0" i="1">
                <a:latin typeface="Bookman Old Style"/>
                <a:cs typeface="Bookman Old Style"/>
              </a:rPr>
              <a:t> </a:t>
            </a:r>
            <a:r>
              <a:rPr dirty="0" sz="1100" spc="-75">
                <a:latin typeface="Georgia"/>
                <a:cs typeface="Georgia"/>
              </a:rPr>
              <a:t>[M][L]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8447" y="2147404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9737" y="2502471"/>
            <a:ext cx="13957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6250" algn="l"/>
                <a:tab pos="132397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40000" y="2409063"/>
            <a:ext cx="9436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185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4911" y="2419070"/>
            <a:ext cx="22593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Georgia"/>
                <a:cs typeface="Georgia"/>
              </a:rPr>
              <a:t>[M](1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-70">
                <a:latin typeface="Georgia"/>
                <a:cs typeface="Georgia"/>
              </a:rPr>
              <a:t>[L]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-70">
                <a:latin typeface="Georgia"/>
                <a:cs typeface="Georgia"/>
              </a:rPr>
              <a:t>[L]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-70">
                <a:latin typeface="Georgia"/>
                <a:cs typeface="Georgia"/>
              </a:rPr>
              <a:t>[L]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5232" y="1800349"/>
            <a:ext cx="1895475" cy="111569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85">
                <a:latin typeface="Georgia"/>
                <a:cs typeface="Georgia"/>
              </a:rPr>
              <a:t>[M]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5">
                <a:latin typeface="Georgia"/>
                <a:cs typeface="Georgia"/>
              </a:rPr>
              <a:t>[ML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[ML</a:t>
            </a:r>
            <a:r>
              <a:rPr dirty="0" baseline="-13888" sz="900" spc="-22" i="1">
                <a:latin typeface="Arial"/>
                <a:cs typeface="Arial"/>
              </a:rPr>
              <a:t>n</a:t>
            </a:r>
            <a:r>
              <a:rPr dirty="0" sz="1100" spc="-1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085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52218" y="2613482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81378" y="2592413"/>
            <a:ext cx="213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45">
                <a:latin typeface="Arial Unicode MS"/>
                <a:cs typeface="Arial Unicode MS"/>
              </a:rPr>
              <a:t>区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05825" y="2945993"/>
            <a:ext cx="177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i</a:t>
            </a:r>
            <a:r>
              <a:rPr dirty="0" sz="600" spc="140">
                <a:latin typeface="Times New Roman"/>
                <a:cs typeface="Times New Roman"/>
              </a:rPr>
              <a:t>=1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82952" y="2807436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86660" y="2714028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4911" y="2724035"/>
            <a:ext cx="11214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2155" algn="l"/>
              </a:tabLst>
            </a:pPr>
            <a:r>
              <a:rPr dirty="0" sz="1100" spc="-35">
                <a:latin typeface="Georgia"/>
                <a:cs typeface="Georgia"/>
              </a:rPr>
              <a:t>[M](1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-70">
                <a:latin typeface="Georgia"/>
                <a:cs typeface="Georgia"/>
              </a:rPr>
              <a:t>[L]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分布分数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义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1069568"/>
            <a:ext cx="259651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溶液中各种型体的分布分数定义如</a:t>
            </a:r>
            <a:r>
              <a:rPr dirty="0" spc="-90"/>
              <a:t>下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165" y="1752828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1875" y="1669427"/>
            <a:ext cx="600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δ</a:t>
            </a:r>
            <a:r>
              <a:rPr dirty="0" sz="1100" spc="-25">
                <a:latin typeface="Georgia"/>
                <a:cs typeface="Georgia"/>
              </a:rPr>
              <a:t>(ML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189" y="1659102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0106" y="1575701"/>
            <a:ext cx="3562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[ML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2806" y="178603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 h="0">
                <a:moveTo>
                  <a:pt x="0" y="0"/>
                </a:moveTo>
                <a:lnTo>
                  <a:pt x="33072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28115" y="1764461"/>
            <a:ext cx="3206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(M)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4497" y="1669427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86419" y="1659102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8060" y="1575701"/>
            <a:ext cx="51180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-85" b="0" i="1">
                <a:latin typeface="Bookman Old Style"/>
                <a:cs typeface="Bookman Old Style"/>
              </a:rPr>
              <a:t> </a:t>
            </a:r>
            <a:r>
              <a:rPr dirty="0" sz="1100" spc="-75">
                <a:latin typeface="Georgia"/>
                <a:cs typeface="Georgia"/>
              </a:rPr>
              <a:t>[M][L]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94101" y="1565694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68614" y="1786039"/>
            <a:ext cx="1230630" cy="0"/>
          </a:xfrm>
          <a:custGeom>
            <a:avLst/>
            <a:gdLst/>
            <a:ahLst/>
            <a:cxnLst/>
            <a:rect l="l" t="t" r="r" b="b"/>
            <a:pathLst>
              <a:path w="1230630" h="0">
                <a:moveTo>
                  <a:pt x="0" y="0"/>
                </a:moveTo>
                <a:lnTo>
                  <a:pt x="123047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982977" y="1659725"/>
            <a:ext cx="135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40">
                <a:latin typeface="Arial Unicode MS"/>
                <a:cs typeface="Arial Unicode MS"/>
              </a:rPr>
              <a:t>（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02116" y="1786077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31262" y="1765020"/>
            <a:ext cx="213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45">
                <a:latin typeface="Arial Unicode MS"/>
                <a:cs typeface="Arial Unicode MS"/>
              </a:rPr>
              <a:t>区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55723" y="2118588"/>
            <a:ext cx="177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i</a:t>
            </a:r>
            <a:r>
              <a:rPr dirty="0" sz="600" spc="140">
                <a:latin typeface="Times New Roman"/>
                <a:cs typeface="Times New Roman"/>
              </a:rPr>
              <a:t>=1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30514" y="1896643"/>
            <a:ext cx="11569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74650" algn="l"/>
                <a:tab pos="836294" algn="l"/>
              </a:tabLst>
            </a:pPr>
            <a:r>
              <a:rPr dirty="0" sz="1100" spc="-85">
                <a:latin typeface="Georgia"/>
                <a:cs typeface="Georgia"/>
              </a:rPr>
              <a:t>[M]	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-20" b="0" i="1">
                <a:latin typeface="Bookman Old Style"/>
                <a:cs typeface="Bookman Old Style"/>
              </a:rPr>
              <a:t>β</a:t>
            </a:r>
            <a:r>
              <a:rPr dirty="0" baseline="-13888" sz="900" spc="-30" i="1">
                <a:latin typeface="Arial"/>
                <a:cs typeface="Arial"/>
              </a:rPr>
              <a:t>i</a:t>
            </a:r>
            <a:r>
              <a:rPr dirty="0" sz="1100" spc="-20">
                <a:latin typeface="Georgia"/>
                <a:cs typeface="Georgia"/>
              </a:rPr>
              <a:t>[L]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36557" y="1886635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6715" y="1659725"/>
            <a:ext cx="135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5">
                <a:latin typeface="Arial Unicode MS"/>
                <a:cs typeface="Arial Unicode MS"/>
              </a:rPr>
              <a:t> 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40062" y="1669427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10762" y="1659102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32390" y="1575701"/>
            <a:ext cx="3079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-85" b="0" i="1">
                <a:latin typeface="Bookman Old Style"/>
                <a:cs typeface="Bookman Old Style"/>
              </a:rPr>
              <a:t> </a:t>
            </a:r>
            <a:r>
              <a:rPr dirty="0" sz="1100" spc="-70">
                <a:latin typeface="Georgia"/>
                <a:cs typeface="Georgia"/>
              </a:rPr>
              <a:t>[L]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4470" y="1565694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14192" y="1786039"/>
            <a:ext cx="784225" cy="0"/>
          </a:xfrm>
          <a:custGeom>
            <a:avLst/>
            <a:gdLst/>
            <a:ahLst/>
            <a:cxnLst/>
            <a:rect l="l" t="t" r="r" b="b"/>
            <a:pathLst>
              <a:path w="784225" h="0">
                <a:moveTo>
                  <a:pt x="0" y="0"/>
                </a:moveTo>
                <a:lnTo>
                  <a:pt x="7840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510940" y="1763344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40086" y="1742287"/>
            <a:ext cx="213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45">
                <a:latin typeface="Arial Unicode MS"/>
                <a:cs typeface="Arial Unicode MS"/>
              </a:rPr>
              <a:t>区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64547" y="2095855"/>
            <a:ext cx="177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i</a:t>
            </a:r>
            <a:r>
              <a:rPr dirty="0" sz="600" spc="140">
                <a:latin typeface="Times New Roman"/>
                <a:cs typeface="Times New Roman"/>
              </a:rPr>
              <a:t>=1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41673" y="1957311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01492" y="1873910"/>
            <a:ext cx="769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74345" algn="l"/>
              </a:tabLst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-80" b="0" i="1">
                <a:latin typeface="Bookman Old Style"/>
                <a:cs typeface="Bookman Old Style"/>
              </a:rPr>
              <a:t> </a:t>
            </a:r>
            <a:r>
              <a:rPr dirty="0" sz="1100" spc="-70">
                <a:latin typeface="Georgia"/>
                <a:cs typeface="Georgia"/>
              </a:rPr>
              <a:t>[L]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45382" y="1863902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79722" y="1669427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(1)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7624" y="2321331"/>
            <a:ext cx="40176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60">
                <a:latin typeface="Arial Unicode MS"/>
                <a:cs typeface="Arial Unicode MS"/>
              </a:rPr>
              <a:t>（</a:t>
            </a:r>
            <a:r>
              <a:rPr dirty="0" sz="1100" spc="-60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200" spc="-6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式表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分布分数仅是溶液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15">
                <a:latin typeface="Georgia"/>
                <a:cs typeface="Georgia"/>
              </a:rPr>
              <a:t>L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的游离浓</a:t>
            </a:r>
            <a:r>
              <a:rPr dirty="0" sz="1200" spc="175">
                <a:latin typeface="Arial Unicode MS"/>
                <a:cs typeface="Arial Unicode MS"/>
              </a:rPr>
              <a:t>度</a:t>
            </a:r>
            <a:r>
              <a:rPr dirty="0" sz="1100" spc="-70">
                <a:latin typeface="Georgia"/>
                <a:cs typeface="Georgia"/>
              </a:rPr>
              <a:t>[L]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的函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14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493801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6935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32147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308773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538035"/>
            <a:ext cx="50749" cy="7834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713632"/>
            <a:ext cx="4432935" cy="659130"/>
          </a:xfrm>
          <a:custGeom>
            <a:avLst/>
            <a:gdLst/>
            <a:ahLst/>
            <a:cxnLst/>
            <a:rect l="l" t="t" r="r" b="b"/>
            <a:pathLst>
              <a:path w="4432935" h="659130">
                <a:moveTo>
                  <a:pt x="4432566" y="0"/>
                </a:moveTo>
                <a:lnTo>
                  <a:pt x="0" y="0"/>
                </a:lnTo>
                <a:lnTo>
                  <a:pt x="0" y="607840"/>
                </a:lnTo>
                <a:lnTo>
                  <a:pt x="4008" y="627565"/>
                </a:lnTo>
                <a:lnTo>
                  <a:pt x="14922" y="643718"/>
                </a:lnTo>
                <a:lnTo>
                  <a:pt x="31075" y="654632"/>
                </a:lnTo>
                <a:lnTo>
                  <a:pt x="50800" y="658641"/>
                </a:lnTo>
                <a:lnTo>
                  <a:pt x="4381765" y="658641"/>
                </a:lnTo>
                <a:lnTo>
                  <a:pt x="4401490" y="654632"/>
                </a:lnTo>
                <a:lnTo>
                  <a:pt x="4417643" y="643718"/>
                </a:lnTo>
                <a:lnTo>
                  <a:pt x="4428558" y="627565"/>
                </a:lnTo>
                <a:lnTo>
                  <a:pt x="4432566" y="607840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76126"/>
            <a:ext cx="0" cy="764540"/>
          </a:xfrm>
          <a:custGeom>
            <a:avLst/>
            <a:gdLst/>
            <a:ahLst/>
            <a:cxnLst/>
            <a:rect l="l" t="t" r="r" b="b"/>
            <a:pathLst>
              <a:path w="0" h="764540">
                <a:moveTo>
                  <a:pt x="0" y="76439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56342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55072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53802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432714"/>
            <a:ext cx="4432935" cy="90995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5.1</a:t>
            </a:r>
            <a:endParaRPr sz="1200">
              <a:latin typeface="Calibri"/>
              <a:cs typeface="Calibri"/>
            </a:endParaRPr>
          </a:p>
          <a:p>
            <a:pPr algn="just" marL="50800" marR="43180">
              <a:lnSpc>
                <a:spcPts val="1760"/>
              </a:lnSpc>
              <a:spcBef>
                <a:spcPts val="75"/>
              </a:spcBef>
            </a:pPr>
            <a:r>
              <a:rPr dirty="0" sz="1200" spc="-10">
                <a:latin typeface="Arial Unicode MS"/>
                <a:cs typeface="Arial Unicode MS"/>
              </a:rPr>
              <a:t>在铜氨溶液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当游离氨浓度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0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35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baseline="37037" sz="900" spc="37">
                <a:latin typeface="Times New Roman"/>
                <a:cs typeface="Times New Roman"/>
              </a:rPr>
              <a:t>3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计算其中铜</a:t>
            </a:r>
            <a:r>
              <a:rPr dirty="0" sz="1200" spc="-5">
                <a:latin typeface="Arial Unicode MS"/>
                <a:cs typeface="Arial Unicode MS"/>
              </a:rPr>
              <a:t>氨 </a:t>
            </a:r>
            <a:r>
              <a:rPr dirty="0" sz="1200" spc="-10">
                <a:latin typeface="Arial Unicode MS"/>
                <a:cs typeface="Arial Unicode MS"/>
              </a:rPr>
              <a:t>配合物各型体的的分布分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260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已</a:t>
            </a:r>
            <a:r>
              <a:rPr dirty="0" sz="1200" spc="-95">
                <a:latin typeface="Arial Unicode MS"/>
                <a:cs typeface="Arial Unicode MS"/>
              </a:rPr>
              <a:t>知</a:t>
            </a:r>
            <a:r>
              <a:rPr dirty="0" sz="1200" spc="-185">
                <a:latin typeface="Arial Unicode MS"/>
                <a:cs typeface="Arial Unicode MS"/>
              </a:rPr>
              <a:t>：</a:t>
            </a:r>
            <a:r>
              <a:rPr dirty="0" sz="1200" spc="-10">
                <a:latin typeface="Arial Unicode MS"/>
                <a:cs typeface="Arial Unicode MS"/>
              </a:rPr>
              <a:t>铜氨络离子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β</a:t>
            </a:r>
            <a:r>
              <a:rPr dirty="0" baseline="-13888" sz="900">
                <a:latin typeface="Times New Roman"/>
                <a:cs typeface="Times New Roman"/>
              </a:rPr>
              <a:t>1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5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β</a:t>
            </a:r>
            <a:r>
              <a:rPr dirty="0" baseline="-13888" sz="900">
                <a:latin typeface="Times New Roman"/>
                <a:cs typeface="Times New Roman"/>
              </a:rPr>
              <a:t>5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分</a:t>
            </a:r>
            <a:r>
              <a:rPr dirty="0" sz="1200" spc="-5">
                <a:latin typeface="Arial Unicode MS"/>
                <a:cs typeface="Arial Unicode MS"/>
              </a:rPr>
              <a:t>别 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5">
                <a:latin typeface="Georgia"/>
                <a:cs typeface="Georgia"/>
              </a:rPr>
              <a:t>4.31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7.98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11.02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13.32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12.86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493801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6935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32147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308773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538035"/>
            <a:ext cx="50749" cy="7834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713632"/>
            <a:ext cx="4432935" cy="659130"/>
          </a:xfrm>
          <a:custGeom>
            <a:avLst/>
            <a:gdLst/>
            <a:ahLst/>
            <a:cxnLst/>
            <a:rect l="l" t="t" r="r" b="b"/>
            <a:pathLst>
              <a:path w="4432935" h="659130">
                <a:moveTo>
                  <a:pt x="4432566" y="0"/>
                </a:moveTo>
                <a:lnTo>
                  <a:pt x="0" y="0"/>
                </a:lnTo>
                <a:lnTo>
                  <a:pt x="0" y="607840"/>
                </a:lnTo>
                <a:lnTo>
                  <a:pt x="4008" y="627565"/>
                </a:lnTo>
                <a:lnTo>
                  <a:pt x="14922" y="643718"/>
                </a:lnTo>
                <a:lnTo>
                  <a:pt x="31075" y="654632"/>
                </a:lnTo>
                <a:lnTo>
                  <a:pt x="50800" y="658641"/>
                </a:lnTo>
                <a:lnTo>
                  <a:pt x="4381765" y="658641"/>
                </a:lnTo>
                <a:lnTo>
                  <a:pt x="4401490" y="654632"/>
                </a:lnTo>
                <a:lnTo>
                  <a:pt x="4417643" y="643718"/>
                </a:lnTo>
                <a:lnTo>
                  <a:pt x="4428558" y="627565"/>
                </a:lnTo>
                <a:lnTo>
                  <a:pt x="4432566" y="607840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76126"/>
            <a:ext cx="0" cy="764540"/>
          </a:xfrm>
          <a:custGeom>
            <a:avLst/>
            <a:gdLst/>
            <a:ahLst/>
            <a:cxnLst/>
            <a:rect l="l" t="t" r="r" b="b"/>
            <a:pathLst>
              <a:path w="0" h="764540">
                <a:moveTo>
                  <a:pt x="0" y="76439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56342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55072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53802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432714"/>
            <a:ext cx="4458335" cy="125730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5.1</a:t>
            </a:r>
            <a:endParaRPr sz="1200">
              <a:latin typeface="Calibri"/>
              <a:cs typeface="Calibri"/>
            </a:endParaRPr>
          </a:p>
          <a:p>
            <a:pPr algn="just" marL="63500" marR="55880">
              <a:lnSpc>
                <a:spcPts val="1760"/>
              </a:lnSpc>
              <a:spcBef>
                <a:spcPts val="75"/>
              </a:spcBef>
            </a:pPr>
            <a:r>
              <a:rPr dirty="0" sz="1200" spc="-10">
                <a:latin typeface="Arial Unicode MS"/>
                <a:cs typeface="Arial Unicode MS"/>
              </a:rPr>
              <a:t>在铜氨溶液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当游离氨浓度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0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35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baseline="37037" sz="900" spc="37">
                <a:latin typeface="Times New Roman"/>
                <a:cs typeface="Times New Roman"/>
              </a:rPr>
              <a:t>3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计算其中铜</a:t>
            </a:r>
            <a:r>
              <a:rPr dirty="0" sz="1200" spc="-5">
                <a:latin typeface="Arial Unicode MS"/>
                <a:cs typeface="Arial Unicode MS"/>
              </a:rPr>
              <a:t>氨 </a:t>
            </a:r>
            <a:r>
              <a:rPr dirty="0" sz="1200" spc="-10">
                <a:latin typeface="Arial Unicode MS"/>
                <a:cs typeface="Arial Unicode MS"/>
              </a:rPr>
              <a:t>配合物各型体的的分布分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260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已</a:t>
            </a:r>
            <a:r>
              <a:rPr dirty="0" sz="1200" spc="-95">
                <a:latin typeface="Arial Unicode MS"/>
                <a:cs typeface="Arial Unicode MS"/>
              </a:rPr>
              <a:t>知</a:t>
            </a:r>
            <a:r>
              <a:rPr dirty="0" sz="1200" spc="-185">
                <a:latin typeface="Arial Unicode MS"/>
                <a:cs typeface="Arial Unicode MS"/>
              </a:rPr>
              <a:t>：</a:t>
            </a:r>
            <a:r>
              <a:rPr dirty="0" sz="1200" spc="-10">
                <a:latin typeface="Arial Unicode MS"/>
                <a:cs typeface="Arial Unicode MS"/>
              </a:rPr>
              <a:t>铜氨络离子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β</a:t>
            </a:r>
            <a:r>
              <a:rPr dirty="0" baseline="-13888" sz="900">
                <a:latin typeface="Times New Roman"/>
                <a:cs typeface="Times New Roman"/>
              </a:rPr>
              <a:t>1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5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β</a:t>
            </a:r>
            <a:r>
              <a:rPr dirty="0" baseline="-13888" sz="900">
                <a:latin typeface="Times New Roman"/>
                <a:cs typeface="Times New Roman"/>
              </a:rPr>
              <a:t>5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分</a:t>
            </a:r>
            <a:r>
              <a:rPr dirty="0" sz="1200" spc="-5">
                <a:latin typeface="Arial Unicode MS"/>
                <a:cs typeface="Arial Unicode MS"/>
              </a:rPr>
              <a:t>别 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5">
                <a:latin typeface="Georgia"/>
                <a:cs typeface="Georgia"/>
              </a:rPr>
              <a:t>4.31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7.98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11.02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13.32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12.86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5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6795" y="199631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9935" y="1975256"/>
            <a:ext cx="213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0">
                <a:latin typeface="Arial Unicode MS"/>
                <a:cs typeface="Arial Unicode MS"/>
              </a:rPr>
              <a:t>区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382" y="2328824"/>
            <a:ext cx="177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i</a:t>
            </a:r>
            <a:r>
              <a:rPr dirty="0" sz="600" spc="140">
                <a:latin typeface="Times New Roman"/>
                <a:cs typeface="Times New Roman"/>
              </a:rPr>
              <a:t>=1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1509" y="2190280"/>
            <a:ext cx="3587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dirty="0" sz="600" spc="130" i="1">
                <a:latin typeface="Arial"/>
                <a:cs typeface="Arial"/>
              </a:rPr>
              <a:t>i</a:t>
            </a:r>
            <a:r>
              <a:rPr dirty="0" sz="600" spc="130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1327" y="2106866"/>
            <a:ext cx="9436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74345" algn="l"/>
              </a:tabLst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-75">
                <a:latin typeface="Georgia"/>
                <a:cs typeface="Georgia"/>
              </a:rPr>
              <a:t>[NH</a:t>
            </a:r>
            <a:r>
              <a:rPr dirty="0" sz="1100" spc="11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29169" y="2112289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95857" y="2106866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4735" y="2049665"/>
            <a:ext cx="27114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104">
                <a:latin typeface="Georgia"/>
                <a:cs typeface="Georgia"/>
              </a:rPr>
              <a:t>1</a:t>
            </a:r>
            <a:r>
              <a:rPr dirty="0" baseline="-22727" sz="1650" spc="-37">
                <a:latin typeface="Georgia"/>
                <a:cs typeface="Georgia"/>
              </a:rPr>
              <a:t> </a:t>
            </a:r>
            <a:r>
              <a:rPr dirty="0" baseline="-22727" sz="1650" spc="209">
                <a:latin typeface="Georgia"/>
                <a:cs typeface="Georgia"/>
              </a:rPr>
              <a:t>+</a:t>
            </a:r>
            <a:r>
              <a:rPr dirty="0" baseline="-22727" sz="1650" spc="-37">
                <a:latin typeface="Georgia"/>
                <a:cs typeface="Georgia"/>
              </a:rPr>
              <a:t> </a:t>
            </a:r>
            <a:r>
              <a:rPr dirty="0" baseline="-22727" sz="1650" spc="44">
                <a:latin typeface="Georgia"/>
                <a:cs typeface="Georgia"/>
              </a:rPr>
              <a:t>10</a:t>
            </a:r>
            <a:r>
              <a:rPr dirty="0" sz="600" spc="30">
                <a:latin typeface="Times New Roman"/>
                <a:cs typeface="Times New Roman"/>
              </a:rPr>
              <a:t>4</a:t>
            </a:r>
            <a:r>
              <a:rPr dirty="0" sz="600" spc="30" i="1">
                <a:latin typeface="Arial"/>
                <a:cs typeface="Arial"/>
              </a:rPr>
              <a:t>.</a:t>
            </a:r>
            <a:r>
              <a:rPr dirty="0" sz="600" spc="30">
                <a:latin typeface="Times New Roman"/>
                <a:cs typeface="Times New Roman"/>
              </a:rPr>
              <a:t>31</a:t>
            </a:r>
            <a:r>
              <a:rPr dirty="0" sz="600" spc="140">
                <a:latin typeface="Times New Roman"/>
                <a:cs typeface="Times New Roman"/>
              </a:rPr>
              <a:t> </a:t>
            </a:r>
            <a:r>
              <a:rPr dirty="0" baseline="-22727" sz="1650" spc="-44">
                <a:latin typeface="Lucida Sans Unicode"/>
                <a:cs typeface="Lucida Sans Unicode"/>
              </a:rPr>
              <a:t>×</a:t>
            </a:r>
            <a:r>
              <a:rPr dirty="0" baseline="-22727" sz="1650" spc="-165">
                <a:latin typeface="Lucida Sans Unicode"/>
                <a:cs typeface="Lucida Sans Unicode"/>
              </a:rPr>
              <a:t> </a:t>
            </a:r>
            <a:r>
              <a:rPr dirty="0" baseline="-22727" sz="1650" spc="60">
                <a:latin typeface="Georgia"/>
                <a:cs typeface="Georgia"/>
              </a:rPr>
              <a:t>10</a:t>
            </a:r>
            <a:r>
              <a:rPr dirty="0" sz="600" spc="40">
                <a:latin typeface="Lucida Sans Unicode"/>
                <a:cs typeface="Lucida Sans Unicode"/>
              </a:rPr>
              <a:t>−</a:t>
            </a:r>
            <a:r>
              <a:rPr dirty="0" sz="600" spc="40">
                <a:latin typeface="Times New Roman"/>
                <a:cs typeface="Times New Roman"/>
              </a:rPr>
              <a:t>3</a:t>
            </a:r>
            <a:r>
              <a:rPr dirty="0" sz="600" spc="40" i="1">
                <a:latin typeface="Arial"/>
                <a:cs typeface="Arial"/>
              </a:rPr>
              <a:t>.</a:t>
            </a:r>
            <a:r>
              <a:rPr dirty="0" sz="600" spc="40">
                <a:latin typeface="Times New Roman"/>
                <a:cs typeface="Times New Roman"/>
              </a:rPr>
              <a:t>00</a:t>
            </a:r>
            <a:r>
              <a:rPr dirty="0" sz="600" spc="140">
                <a:latin typeface="Times New Roman"/>
                <a:cs typeface="Times New Roman"/>
              </a:rPr>
              <a:t> </a:t>
            </a:r>
            <a:r>
              <a:rPr dirty="0" baseline="-22727" sz="1650" spc="209">
                <a:latin typeface="Georgia"/>
                <a:cs typeface="Georgia"/>
              </a:rPr>
              <a:t>+</a:t>
            </a:r>
            <a:r>
              <a:rPr dirty="0" baseline="-22727" sz="1650" spc="-37">
                <a:latin typeface="Georgia"/>
                <a:cs typeface="Georgia"/>
              </a:rPr>
              <a:t> </a:t>
            </a:r>
            <a:r>
              <a:rPr dirty="0" baseline="-22727" sz="1650" spc="-592">
                <a:latin typeface="Lucida Sans Unicode"/>
                <a:cs typeface="Lucida Sans Unicode"/>
              </a:rPr>
              <a:t>·</a:t>
            </a:r>
            <a:r>
              <a:rPr dirty="0" baseline="-22727" sz="1650" spc="-254">
                <a:latin typeface="Lucida Sans Unicode"/>
                <a:cs typeface="Lucida Sans Unicode"/>
              </a:rPr>
              <a:t> </a:t>
            </a:r>
            <a:r>
              <a:rPr dirty="0" baseline="-22727" sz="1650" spc="-592">
                <a:latin typeface="Lucida Sans Unicode"/>
                <a:cs typeface="Lucida Sans Unicode"/>
              </a:rPr>
              <a:t>·</a:t>
            </a:r>
            <a:r>
              <a:rPr dirty="0" baseline="-22727" sz="1650" spc="-254">
                <a:latin typeface="Lucida Sans Unicode"/>
                <a:cs typeface="Lucida Sans Unicode"/>
              </a:rPr>
              <a:t> </a:t>
            </a:r>
            <a:r>
              <a:rPr dirty="0" baseline="-22727" sz="1650" spc="-592">
                <a:latin typeface="Lucida Sans Unicode"/>
                <a:cs typeface="Lucida Sans Unicode"/>
              </a:rPr>
              <a:t>·</a:t>
            </a:r>
            <a:r>
              <a:rPr dirty="0" baseline="-22727" sz="1650" spc="-165">
                <a:latin typeface="Lucida Sans Unicode"/>
                <a:cs typeface="Lucida Sans Unicode"/>
              </a:rPr>
              <a:t> </a:t>
            </a:r>
            <a:r>
              <a:rPr dirty="0" baseline="-22727" sz="1650" spc="209">
                <a:latin typeface="Georgia"/>
                <a:cs typeface="Georgia"/>
              </a:rPr>
              <a:t>+</a:t>
            </a:r>
            <a:r>
              <a:rPr dirty="0" baseline="-22727" sz="1650" spc="-37">
                <a:latin typeface="Georgia"/>
                <a:cs typeface="Georgia"/>
              </a:rPr>
              <a:t> </a:t>
            </a:r>
            <a:r>
              <a:rPr dirty="0" baseline="-22727" sz="1650" spc="52">
                <a:latin typeface="Georgia"/>
                <a:cs typeface="Georgia"/>
              </a:rPr>
              <a:t>10</a:t>
            </a:r>
            <a:r>
              <a:rPr dirty="0" sz="600" spc="35">
                <a:latin typeface="Times New Roman"/>
                <a:cs typeface="Times New Roman"/>
              </a:rPr>
              <a:t>12</a:t>
            </a:r>
            <a:r>
              <a:rPr dirty="0" sz="600" spc="35" i="1">
                <a:latin typeface="Arial"/>
                <a:cs typeface="Arial"/>
              </a:rPr>
              <a:t>.</a:t>
            </a:r>
            <a:r>
              <a:rPr dirty="0" sz="600" spc="35">
                <a:latin typeface="Times New Roman"/>
                <a:cs typeface="Times New Roman"/>
              </a:rPr>
              <a:t>86</a:t>
            </a:r>
            <a:r>
              <a:rPr dirty="0" sz="600" spc="140">
                <a:latin typeface="Times New Roman"/>
                <a:cs typeface="Times New Roman"/>
              </a:rPr>
              <a:t> </a:t>
            </a:r>
            <a:r>
              <a:rPr dirty="0" baseline="-22727" sz="1650" spc="-44">
                <a:latin typeface="Lucida Sans Unicode"/>
                <a:cs typeface="Lucida Sans Unicode"/>
              </a:rPr>
              <a:t>×</a:t>
            </a:r>
            <a:r>
              <a:rPr dirty="0" baseline="-22727" sz="1650" spc="-165">
                <a:latin typeface="Lucida Sans Unicode"/>
                <a:cs typeface="Lucida Sans Unicode"/>
              </a:rPr>
              <a:t> </a:t>
            </a:r>
            <a:r>
              <a:rPr dirty="0" baseline="-22727" sz="1650" spc="67">
                <a:latin typeface="Georgia"/>
                <a:cs typeface="Georgia"/>
              </a:rPr>
              <a:t>10</a:t>
            </a:r>
            <a:r>
              <a:rPr dirty="0" sz="600" spc="45">
                <a:latin typeface="Lucida Sans Unicode"/>
                <a:cs typeface="Lucida Sans Unicode"/>
              </a:rPr>
              <a:t>−</a:t>
            </a:r>
            <a:r>
              <a:rPr dirty="0" sz="600" spc="45">
                <a:latin typeface="Times New Roman"/>
                <a:cs typeface="Times New Roman"/>
              </a:rPr>
              <a:t>3</a:t>
            </a:r>
            <a:r>
              <a:rPr dirty="0" sz="600" spc="45" i="1">
                <a:latin typeface="Arial"/>
                <a:cs typeface="Arial"/>
              </a:rPr>
              <a:t>.</a:t>
            </a:r>
            <a:r>
              <a:rPr dirty="0" sz="600" spc="45">
                <a:latin typeface="Times New Roman"/>
                <a:cs typeface="Times New Roman"/>
              </a:rPr>
              <a:t>00</a:t>
            </a:r>
            <a:r>
              <a:rPr dirty="0" sz="600" spc="45">
                <a:latin typeface="Lucida Sans Unicode"/>
                <a:cs typeface="Lucida Sans Unicode"/>
              </a:rPr>
              <a:t>×</a:t>
            </a:r>
            <a:r>
              <a:rPr dirty="0" sz="600" spc="4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95857" y="2419947"/>
            <a:ext cx="5753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4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242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639102"/>
            <a:ext cx="9258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分布分数</a:t>
            </a:r>
            <a:r>
              <a:rPr dirty="0" spc="-90"/>
              <a:t>为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38" y="933932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1286" y="1144270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1663" y="1027658"/>
            <a:ext cx="1504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" b="0" i="1">
                <a:latin typeface="Bookman Old Style"/>
                <a:cs typeface="Bookman Old Style"/>
              </a:rPr>
              <a:t>δ</a:t>
            </a:r>
            <a:r>
              <a:rPr dirty="0" sz="1100" spc="-5">
                <a:latin typeface="Georgia"/>
                <a:cs typeface="Georgia"/>
              </a:rPr>
              <a:t>(Cu)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 spc="-112">
                <a:latin typeface="Georgia"/>
                <a:cs typeface="Georgia"/>
              </a:rPr>
              <a:t>242</a:t>
            </a:r>
            <a:r>
              <a:rPr dirty="0" baseline="-37878" sz="1650" spc="-112" b="0" i="1">
                <a:latin typeface="Bookman Old Style"/>
                <a:cs typeface="Bookman Old Style"/>
              </a:rPr>
              <a:t>.</a:t>
            </a:r>
            <a:r>
              <a:rPr dirty="0" baseline="-37878" sz="1650" spc="-112">
                <a:latin typeface="Georgia"/>
                <a:cs typeface="Georgia"/>
              </a:rPr>
              <a:t>8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41%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21659" y="93393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0">
                <a:latin typeface="Georgia"/>
                <a:cs typeface="Georgia"/>
              </a:rPr>
              <a:t>20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99726" y="1144270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41816" y="1027658"/>
            <a:ext cx="1804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δ</a:t>
            </a:r>
            <a:r>
              <a:rPr dirty="0" sz="1100">
                <a:latin typeface="Georgia"/>
                <a:cs typeface="Georgia"/>
              </a:rPr>
              <a:t>(Cu(NH</a:t>
            </a:r>
            <a:r>
              <a:rPr dirty="0" baseline="-13888" sz="900">
                <a:latin typeface="Times New Roman"/>
                <a:cs typeface="Times New Roman"/>
              </a:rPr>
              <a:t>3</a:t>
            </a:r>
            <a:r>
              <a:rPr dirty="0" sz="1100">
                <a:latin typeface="Georgia"/>
                <a:cs typeface="Georgia"/>
              </a:rPr>
              <a:t>))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 spc="-112">
                <a:latin typeface="Georgia"/>
                <a:cs typeface="Georgia"/>
              </a:rPr>
              <a:t>242</a:t>
            </a:r>
            <a:r>
              <a:rPr dirty="0" baseline="-37878" sz="1650" spc="-112" b="0" i="1">
                <a:latin typeface="Bookman Old Style"/>
                <a:cs typeface="Bookman Old Style"/>
              </a:rPr>
              <a:t>.</a:t>
            </a:r>
            <a:r>
              <a:rPr dirty="0" baseline="-37878" sz="1650" spc="-112">
                <a:latin typeface="Georgia"/>
                <a:cs typeface="Georgia"/>
              </a:rPr>
              <a:t>8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8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4%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4236" y="1435684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95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4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12291" y="1646021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01663" y="1529410"/>
            <a:ext cx="1925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" b="0" i="1">
                <a:latin typeface="Bookman Old Style"/>
                <a:cs typeface="Bookman Old Style"/>
              </a:rPr>
              <a:t>δ</a:t>
            </a:r>
            <a:r>
              <a:rPr dirty="0" sz="1100" spc="10">
                <a:latin typeface="Georgia"/>
                <a:cs typeface="Georgia"/>
              </a:rPr>
              <a:t>(Cu(NH</a:t>
            </a:r>
            <a:r>
              <a:rPr dirty="0" baseline="-13888" sz="900" spc="15">
                <a:latin typeface="Times New Roman"/>
                <a:cs typeface="Times New Roman"/>
              </a:rPr>
              <a:t>3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 spc="-112">
                <a:latin typeface="Georgia"/>
                <a:cs typeface="Georgia"/>
              </a:rPr>
              <a:t>242</a:t>
            </a:r>
            <a:r>
              <a:rPr dirty="0" baseline="-37878" sz="1650" spc="-112" b="0" i="1">
                <a:latin typeface="Bookman Old Style"/>
                <a:cs typeface="Bookman Old Style"/>
              </a:rPr>
              <a:t>.</a:t>
            </a:r>
            <a:r>
              <a:rPr dirty="0" baseline="-37878" sz="1650" spc="-112">
                <a:latin typeface="Georgia"/>
                <a:cs typeface="Georgia"/>
              </a:rPr>
              <a:t>8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39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3%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3630" y="1435684"/>
            <a:ext cx="23367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Georgia"/>
                <a:cs typeface="Georgia"/>
              </a:rPr>
              <a:t>105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2444" y="1646021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41816" y="1529410"/>
            <a:ext cx="1925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" b="0" i="1">
                <a:latin typeface="Bookman Old Style"/>
                <a:cs typeface="Bookman Old Style"/>
              </a:rPr>
              <a:t>δ</a:t>
            </a:r>
            <a:r>
              <a:rPr dirty="0" sz="1100" spc="10">
                <a:latin typeface="Georgia"/>
                <a:cs typeface="Georgia"/>
              </a:rPr>
              <a:t>(Cu(NH</a:t>
            </a:r>
            <a:r>
              <a:rPr dirty="0" baseline="-13888" sz="900" spc="15">
                <a:latin typeface="Times New Roman"/>
                <a:cs typeface="Times New Roman"/>
              </a:rPr>
              <a:t>3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baseline="-13888" sz="900" spc="15">
                <a:latin typeface="Times New Roman"/>
                <a:cs typeface="Times New Roman"/>
              </a:rPr>
              <a:t>3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 spc="-112">
                <a:latin typeface="Georgia"/>
                <a:cs typeface="Georgia"/>
              </a:rPr>
              <a:t>242</a:t>
            </a:r>
            <a:r>
              <a:rPr dirty="0" baseline="-37878" sz="1650" spc="-112" b="0" i="1">
                <a:latin typeface="Bookman Old Style"/>
                <a:cs typeface="Bookman Old Style"/>
              </a:rPr>
              <a:t>.</a:t>
            </a:r>
            <a:r>
              <a:rPr dirty="0" baseline="-37878" sz="1650" spc="-112">
                <a:latin typeface="Georgia"/>
                <a:cs typeface="Georgia"/>
              </a:rPr>
              <a:t>8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43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2%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4236" y="1937423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0">
                <a:latin typeface="Georgia"/>
                <a:cs typeface="Georgia"/>
              </a:rPr>
              <a:t>20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12291" y="2147760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 h="0">
                <a:moveTo>
                  <a:pt x="0" y="0"/>
                </a:moveTo>
                <a:lnTo>
                  <a:pt x="315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01663" y="2031149"/>
            <a:ext cx="185673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" b="0" i="1">
                <a:latin typeface="Bookman Old Style"/>
                <a:cs typeface="Bookman Old Style"/>
              </a:rPr>
              <a:t>δ</a:t>
            </a:r>
            <a:r>
              <a:rPr dirty="0" sz="1100" spc="10">
                <a:latin typeface="Georgia"/>
                <a:cs typeface="Georgia"/>
              </a:rPr>
              <a:t>(Cu(NH</a:t>
            </a:r>
            <a:r>
              <a:rPr dirty="0" baseline="-13888" sz="900" spc="15">
                <a:latin typeface="Times New Roman"/>
                <a:cs typeface="Times New Roman"/>
              </a:rPr>
              <a:t>3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 spc="-112">
                <a:latin typeface="Georgia"/>
                <a:cs typeface="Georgia"/>
              </a:rPr>
              <a:t>242</a:t>
            </a:r>
            <a:r>
              <a:rPr dirty="0" baseline="-37878" sz="1650" spc="-112" b="0" i="1">
                <a:latin typeface="Bookman Old Style"/>
                <a:cs typeface="Bookman Old Style"/>
              </a:rPr>
              <a:t>.</a:t>
            </a:r>
            <a:r>
              <a:rPr dirty="0" baseline="-37878" sz="1650" spc="-112">
                <a:latin typeface="Georgia"/>
                <a:cs typeface="Georgia"/>
              </a:rPr>
              <a:t>8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8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6%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39744" y="1937423"/>
            <a:ext cx="410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0072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52444" y="214776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 h="0">
                <a:moveTo>
                  <a:pt x="0" y="0"/>
                </a:moveTo>
                <a:lnTo>
                  <a:pt x="3848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341816" y="2031149"/>
            <a:ext cx="2065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" b="0" i="1">
                <a:latin typeface="Bookman Old Style"/>
                <a:cs typeface="Bookman Old Style"/>
              </a:rPr>
              <a:t>δ</a:t>
            </a:r>
            <a:r>
              <a:rPr dirty="0" sz="1100" spc="10">
                <a:latin typeface="Georgia"/>
                <a:cs typeface="Georgia"/>
              </a:rPr>
              <a:t>(Cu(NH</a:t>
            </a:r>
            <a:r>
              <a:rPr dirty="0" baseline="-13888" sz="900" spc="15">
                <a:latin typeface="Times New Roman"/>
                <a:cs typeface="Times New Roman"/>
              </a:rPr>
              <a:t>3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baseline="-13888" sz="900" spc="15">
                <a:latin typeface="Times New Roman"/>
                <a:cs typeface="Times New Roman"/>
              </a:rPr>
              <a:t>5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 spc="-112">
                <a:latin typeface="Georgia"/>
                <a:cs typeface="Georgia"/>
              </a:rPr>
              <a:t>242</a:t>
            </a:r>
            <a:r>
              <a:rPr dirty="0" baseline="-37878" sz="1650" spc="-112" b="0" i="1">
                <a:latin typeface="Bookman Old Style"/>
                <a:cs typeface="Bookman Old Style"/>
              </a:rPr>
              <a:t>.</a:t>
            </a:r>
            <a:r>
              <a:rPr dirty="0" baseline="-37878" sz="1650" spc="-112">
                <a:latin typeface="Georgia"/>
                <a:cs typeface="Georgia"/>
              </a:rPr>
              <a:t>8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003%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21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9765" y="330026"/>
            <a:ext cx="2523490" cy="0"/>
          </a:xfrm>
          <a:custGeom>
            <a:avLst/>
            <a:gdLst/>
            <a:ahLst/>
            <a:cxnLst/>
            <a:rect l="l" t="t" r="r" b="b"/>
            <a:pathLst>
              <a:path w="2523490" h="0">
                <a:moveTo>
                  <a:pt x="0" y="0"/>
                </a:moveTo>
                <a:lnTo>
                  <a:pt x="25232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79765" y="2319156"/>
            <a:ext cx="2523490" cy="0"/>
          </a:xfrm>
          <a:custGeom>
            <a:avLst/>
            <a:gdLst/>
            <a:ahLst/>
            <a:cxnLst/>
            <a:rect l="l" t="t" r="r" b="b"/>
            <a:pathLst>
              <a:path w="2523490" h="0">
                <a:moveTo>
                  <a:pt x="0" y="0"/>
                </a:moveTo>
                <a:lnTo>
                  <a:pt x="25232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02999" y="330026"/>
            <a:ext cx="0" cy="1989455"/>
          </a:xfrm>
          <a:custGeom>
            <a:avLst/>
            <a:gdLst/>
            <a:ahLst/>
            <a:cxnLst/>
            <a:rect l="l" t="t" r="r" b="b"/>
            <a:pathLst>
              <a:path w="0" h="1989455">
                <a:moveTo>
                  <a:pt x="0" y="198913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79765" y="330026"/>
            <a:ext cx="0" cy="1989455"/>
          </a:xfrm>
          <a:custGeom>
            <a:avLst/>
            <a:gdLst/>
            <a:ahLst/>
            <a:cxnLst/>
            <a:rect l="l" t="t" r="r" b="b"/>
            <a:pathLst>
              <a:path w="0" h="1989455">
                <a:moveTo>
                  <a:pt x="0" y="198913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79765" y="2319156"/>
            <a:ext cx="2523490" cy="0"/>
          </a:xfrm>
          <a:custGeom>
            <a:avLst/>
            <a:gdLst/>
            <a:ahLst/>
            <a:cxnLst/>
            <a:rect l="l" t="t" r="r" b="b"/>
            <a:pathLst>
              <a:path w="2523490" h="0">
                <a:moveTo>
                  <a:pt x="0" y="0"/>
                </a:moveTo>
                <a:lnTo>
                  <a:pt x="25232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79765" y="330026"/>
            <a:ext cx="0" cy="1989455"/>
          </a:xfrm>
          <a:custGeom>
            <a:avLst/>
            <a:gdLst/>
            <a:ahLst/>
            <a:cxnLst/>
            <a:rect l="l" t="t" r="r" b="b"/>
            <a:pathLst>
              <a:path w="0" h="1989455">
                <a:moveTo>
                  <a:pt x="0" y="198913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79765" y="22937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79765" y="33002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99300" y="2316807"/>
            <a:ext cx="11557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10">
                <a:latin typeface="Arial"/>
                <a:cs typeface="Arial"/>
              </a:rPr>
              <a:t>7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40226" y="22937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0226" y="33002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59762" y="2316807"/>
            <a:ext cx="11557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10"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00686" y="22937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00686" y="33002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20224" y="2316807"/>
            <a:ext cx="11557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10"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61152" y="22937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61152" y="33002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21612" y="22937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21612" y="33002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180687" y="2316807"/>
            <a:ext cx="47625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2745" algn="l"/>
              </a:tabLst>
            </a:pP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10">
                <a:latin typeface="Arial"/>
                <a:cs typeface="Arial"/>
              </a:rPr>
              <a:t>4</a:t>
            </a:r>
            <a:r>
              <a:rPr dirty="0" sz="600" spc="10">
                <a:latin typeface="Arial"/>
                <a:cs typeface="Arial"/>
              </a:rPr>
              <a:t>	</a:t>
            </a: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10"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82073" y="22937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82073" y="33002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901611" y="2316807"/>
            <a:ext cx="11557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10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42538" y="22937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42538" y="33002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262074" y="2316807"/>
            <a:ext cx="11557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1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02999" y="22937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02999" y="33002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668653" y="2316807"/>
            <a:ext cx="6985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79765" y="231915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77588" y="231915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106829" y="2256573"/>
            <a:ext cx="6985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79765" y="212010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77588" y="2120102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79765" y="192104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77588" y="192104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040949" y="1858465"/>
            <a:ext cx="135890" cy="3194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0.2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600" spc="5">
                <a:latin typeface="Arial"/>
                <a:cs typeface="Arial"/>
              </a:rPr>
              <a:t>0.1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79765" y="172199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77588" y="172199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040949" y="1659411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0.3</a:t>
            </a:r>
            <a:endParaRPr sz="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79765" y="152340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77588" y="152340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040949" y="1460827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0.4</a:t>
            </a:r>
            <a:endParaRPr sz="6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179765" y="132435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77588" y="132435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040949" y="1261773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0.5</a:t>
            </a:r>
            <a:endParaRPr sz="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179765" y="112530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77588" y="112530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040949" y="1062719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0.6</a:t>
            </a:r>
            <a:endParaRPr sz="6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79765" y="92671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677588" y="92671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040949" y="864135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0.7</a:t>
            </a:r>
            <a:endParaRPr sz="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79765" y="72766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677588" y="72766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1040949" y="665081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0.8</a:t>
            </a:r>
            <a:endParaRPr sz="6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179765" y="52860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677588" y="52860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1040949" y="466027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0.9</a:t>
            </a:r>
            <a:endParaRPr sz="6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179765" y="33002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677588" y="33002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1106829" y="267443"/>
            <a:ext cx="6985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179765" y="330026"/>
            <a:ext cx="2523490" cy="0"/>
          </a:xfrm>
          <a:custGeom>
            <a:avLst/>
            <a:gdLst/>
            <a:ahLst/>
            <a:cxnLst/>
            <a:rect l="l" t="t" r="r" b="b"/>
            <a:pathLst>
              <a:path w="2523490" h="0">
                <a:moveTo>
                  <a:pt x="0" y="0"/>
                </a:moveTo>
                <a:lnTo>
                  <a:pt x="25232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179765" y="2319156"/>
            <a:ext cx="2523490" cy="0"/>
          </a:xfrm>
          <a:custGeom>
            <a:avLst/>
            <a:gdLst/>
            <a:ahLst/>
            <a:cxnLst/>
            <a:rect l="l" t="t" r="r" b="b"/>
            <a:pathLst>
              <a:path w="2523490" h="0">
                <a:moveTo>
                  <a:pt x="0" y="0"/>
                </a:moveTo>
                <a:lnTo>
                  <a:pt x="25232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702999" y="330026"/>
            <a:ext cx="0" cy="1989455"/>
          </a:xfrm>
          <a:custGeom>
            <a:avLst/>
            <a:gdLst/>
            <a:ahLst/>
            <a:cxnLst/>
            <a:rect l="l" t="t" r="r" b="b"/>
            <a:pathLst>
              <a:path w="0" h="1989455">
                <a:moveTo>
                  <a:pt x="0" y="198913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179765" y="330026"/>
            <a:ext cx="0" cy="1989455"/>
          </a:xfrm>
          <a:custGeom>
            <a:avLst/>
            <a:gdLst/>
            <a:ahLst/>
            <a:cxnLst/>
            <a:rect l="l" t="t" r="r" b="b"/>
            <a:pathLst>
              <a:path w="0" h="1989455">
                <a:moveTo>
                  <a:pt x="0" y="198913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343950" y="2313035"/>
            <a:ext cx="365760" cy="11430"/>
          </a:xfrm>
          <a:custGeom>
            <a:avLst/>
            <a:gdLst/>
            <a:ahLst/>
            <a:cxnLst/>
            <a:rect l="l" t="t" r="r" b="b"/>
            <a:pathLst>
              <a:path w="365760" h="11430">
                <a:moveTo>
                  <a:pt x="0" y="11293"/>
                </a:moveTo>
                <a:lnTo>
                  <a:pt x="365164" y="11293"/>
                </a:lnTo>
                <a:lnTo>
                  <a:pt x="365164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986782" y="2313035"/>
            <a:ext cx="368935" cy="11430"/>
          </a:xfrm>
          <a:custGeom>
            <a:avLst/>
            <a:gdLst/>
            <a:ahLst/>
            <a:cxnLst/>
            <a:rect l="l" t="t" r="r" b="b"/>
            <a:pathLst>
              <a:path w="368935" h="11430">
                <a:moveTo>
                  <a:pt x="0" y="11293"/>
                </a:moveTo>
                <a:lnTo>
                  <a:pt x="368456" y="11293"/>
                </a:lnTo>
                <a:lnTo>
                  <a:pt x="368456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635730" y="2312566"/>
            <a:ext cx="356870" cy="6350"/>
          </a:xfrm>
          <a:custGeom>
            <a:avLst/>
            <a:gdLst/>
            <a:ahLst/>
            <a:cxnLst/>
            <a:rect l="l" t="t" r="r" b="b"/>
            <a:pathLst>
              <a:path w="356869" h="6350">
                <a:moveTo>
                  <a:pt x="0" y="0"/>
                </a:moveTo>
                <a:lnTo>
                  <a:pt x="50417" y="3333"/>
                </a:lnTo>
                <a:lnTo>
                  <a:pt x="101259" y="5249"/>
                </a:lnTo>
                <a:lnTo>
                  <a:pt x="152377" y="6105"/>
                </a:lnTo>
                <a:lnTo>
                  <a:pt x="203627" y="6261"/>
                </a:lnTo>
                <a:lnTo>
                  <a:pt x="254860" y="6076"/>
                </a:lnTo>
                <a:lnTo>
                  <a:pt x="305931" y="5907"/>
                </a:lnTo>
                <a:lnTo>
                  <a:pt x="356693" y="6115"/>
                </a:lnTo>
              </a:path>
            </a:pathLst>
          </a:custGeom>
          <a:ln w="1129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279030" y="1890459"/>
            <a:ext cx="356870" cy="422275"/>
          </a:xfrm>
          <a:custGeom>
            <a:avLst/>
            <a:gdLst/>
            <a:ahLst/>
            <a:cxnLst/>
            <a:rect l="l" t="t" r="r" b="b"/>
            <a:pathLst>
              <a:path w="356869" h="422275">
                <a:moveTo>
                  <a:pt x="0" y="0"/>
                </a:moveTo>
                <a:lnTo>
                  <a:pt x="14810" y="44189"/>
                </a:lnTo>
                <a:lnTo>
                  <a:pt x="30705" y="88406"/>
                </a:lnTo>
                <a:lnTo>
                  <a:pt x="47854" y="132269"/>
                </a:lnTo>
                <a:lnTo>
                  <a:pt x="66425" y="175396"/>
                </a:lnTo>
                <a:lnTo>
                  <a:pt x="86589" y="217406"/>
                </a:lnTo>
                <a:lnTo>
                  <a:pt x="105371" y="252092"/>
                </a:lnTo>
                <a:lnTo>
                  <a:pt x="126295" y="285608"/>
                </a:lnTo>
                <a:lnTo>
                  <a:pt x="149836" y="317257"/>
                </a:lnTo>
                <a:lnTo>
                  <a:pt x="176466" y="346343"/>
                </a:lnTo>
                <a:lnTo>
                  <a:pt x="216640" y="378221"/>
                </a:lnTo>
                <a:lnTo>
                  <a:pt x="259821" y="400151"/>
                </a:lnTo>
                <a:lnTo>
                  <a:pt x="306383" y="414118"/>
                </a:lnTo>
                <a:lnTo>
                  <a:pt x="356699" y="422107"/>
                </a:lnTo>
              </a:path>
            </a:pathLst>
          </a:custGeom>
          <a:ln w="1129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921862" y="723899"/>
            <a:ext cx="357505" cy="1167130"/>
          </a:xfrm>
          <a:custGeom>
            <a:avLst/>
            <a:gdLst/>
            <a:ahLst/>
            <a:cxnLst/>
            <a:rect l="l" t="t" r="r" b="b"/>
            <a:pathLst>
              <a:path w="357505" h="1167130">
                <a:moveTo>
                  <a:pt x="0" y="0"/>
                </a:moveTo>
                <a:lnTo>
                  <a:pt x="20324" y="45256"/>
                </a:lnTo>
                <a:lnTo>
                  <a:pt x="39494" y="91200"/>
                </a:lnTo>
                <a:lnTo>
                  <a:pt x="57612" y="137736"/>
                </a:lnTo>
                <a:lnTo>
                  <a:pt x="74781" y="184763"/>
                </a:lnTo>
                <a:lnTo>
                  <a:pt x="91101" y="232186"/>
                </a:lnTo>
                <a:lnTo>
                  <a:pt x="106676" y="279905"/>
                </a:lnTo>
                <a:lnTo>
                  <a:pt x="121607" y="327822"/>
                </a:lnTo>
                <a:lnTo>
                  <a:pt x="135997" y="375840"/>
                </a:lnTo>
                <a:lnTo>
                  <a:pt x="149948" y="423860"/>
                </a:lnTo>
                <a:lnTo>
                  <a:pt x="163562" y="471785"/>
                </a:lnTo>
                <a:lnTo>
                  <a:pt x="176940" y="519517"/>
                </a:lnTo>
                <a:lnTo>
                  <a:pt x="190522" y="569285"/>
                </a:lnTo>
                <a:lnTo>
                  <a:pt x="203902" y="619161"/>
                </a:lnTo>
                <a:lnTo>
                  <a:pt x="217146" y="669117"/>
                </a:lnTo>
                <a:lnTo>
                  <a:pt x="230323" y="719121"/>
                </a:lnTo>
                <a:lnTo>
                  <a:pt x="243502" y="769147"/>
                </a:lnTo>
                <a:lnTo>
                  <a:pt x="256751" y="819163"/>
                </a:lnTo>
                <a:lnTo>
                  <a:pt x="270137" y="869140"/>
                </a:lnTo>
                <a:lnTo>
                  <a:pt x="283729" y="919050"/>
                </a:lnTo>
                <a:lnTo>
                  <a:pt x="297596" y="968863"/>
                </a:lnTo>
                <a:lnTo>
                  <a:pt x="311805" y="1018550"/>
                </a:lnTo>
                <a:lnTo>
                  <a:pt x="326424" y="1068081"/>
                </a:lnTo>
                <a:lnTo>
                  <a:pt x="341523" y="1117427"/>
                </a:lnTo>
                <a:lnTo>
                  <a:pt x="357168" y="1166559"/>
                </a:lnTo>
              </a:path>
            </a:pathLst>
          </a:custGeom>
          <a:ln w="1129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565168" y="376613"/>
            <a:ext cx="356870" cy="347345"/>
          </a:xfrm>
          <a:custGeom>
            <a:avLst/>
            <a:gdLst/>
            <a:ahLst/>
            <a:cxnLst/>
            <a:rect l="l" t="t" r="r" b="b"/>
            <a:pathLst>
              <a:path w="356869" h="347345">
                <a:moveTo>
                  <a:pt x="0" y="0"/>
                </a:moveTo>
                <a:lnTo>
                  <a:pt x="47515" y="16008"/>
                </a:lnTo>
                <a:lnTo>
                  <a:pt x="91113" y="35708"/>
                </a:lnTo>
                <a:lnTo>
                  <a:pt x="131094" y="58907"/>
                </a:lnTo>
                <a:lnTo>
                  <a:pt x="167758" y="85412"/>
                </a:lnTo>
                <a:lnTo>
                  <a:pt x="201404" y="115030"/>
                </a:lnTo>
                <a:lnTo>
                  <a:pt x="232333" y="147567"/>
                </a:lnTo>
                <a:lnTo>
                  <a:pt x="260843" y="182830"/>
                </a:lnTo>
                <a:lnTo>
                  <a:pt x="287234" y="220627"/>
                </a:lnTo>
                <a:lnTo>
                  <a:pt x="311806" y="260764"/>
                </a:lnTo>
                <a:lnTo>
                  <a:pt x="334860" y="303048"/>
                </a:lnTo>
                <a:lnTo>
                  <a:pt x="356693" y="347286"/>
                </a:lnTo>
              </a:path>
            </a:pathLst>
          </a:custGeom>
          <a:ln w="1129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08468" y="334730"/>
            <a:ext cx="356870" cy="41910"/>
          </a:xfrm>
          <a:custGeom>
            <a:avLst/>
            <a:gdLst/>
            <a:ahLst/>
            <a:cxnLst/>
            <a:rect l="l" t="t" r="r" b="b"/>
            <a:pathLst>
              <a:path w="356869" h="41910">
                <a:moveTo>
                  <a:pt x="0" y="0"/>
                </a:moveTo>
                <a:lnTo>
                  <a:pt x="50776" y="1928"/>
                </a:lnTo>
                <a:lnTo>
                  <a:pt x="102226" y="4431"/>
                </a:lnTo>
                <a:lnTo>
                  <a:pt x="153981" y="7975"/>
                </a:lnTo>
                <a:lnTo>
                  <a:pt x="205674" y="13026"/>
                </a:lnTo>
                <a:lnTo>
                  <a:pt x="256936" y="20051"/>
                </a:lnTo>
                <a:lnTo>
                  <a:pt x="307398" y="29514"/>
                </a:lnTo>
                <a:lnTo>
                  <a:pt x="356693" y="41883"/>
                </a:lnTo>
              </a:path>
            </a:pathLst>
          </a:custGeom>
          <a:ln w="1129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179765" y="333787"/>
            <a:ext cx="29209" cy="1270"/>
          </a:xfrm>
          <a:custGeom>
            <a:avLst/>
            <a:gdLst/>
            <a:ahLst/>
            <a:cxnLst/>
            <a:rect l="l" t="t" r="r" b="b"/>
            <a:pathLst>
              <a:path w="29209" h="1270">
                <a:moveTo>
                  <a:pt x="0" y="0"/>
                </a:moveTo>
                <a:lnTo>
                  <a:pt x="7171" y="339"/>
                </a:lnTo>
                <a:lnTo>
                  <a:pt x="14349" y="479"/>
                </a:lnTo>
                <a:lnTo>
                  <a:pt x="21528" y="616"/>
                </a:lnTo>
                <a:lnTo>
                  <a:pt x="28703" y="943"/>
                </a:lnTo>
              </a:path>
            </a:pathLst>
          </a:custGeom>
          <a:ln w="1129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343950" y="2313035"/>
            <a:ext cx="365760" cy="11430"/>
          </a:xfrm>
          <a:custGeom>
            <a:avLst/>
            <a:gdLst/>
            <a:ahLst/>
            <a:cxnLst/>
            <a:rect l="l" t="t" r="r" b="b"/>
            <a:pathLst>
              <a:path w="365760" h="11430">
                <a:moveTo>
                  <a:pt x="0" y="11293"/>
                </a:moveTo>
                <a:lnTo>
                  <a:pt x="365164" y="11293"/>
                </a:lnTo>
                <a:lnTo>
                  <a:pt x="365164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986782" y="2312098"/>
            <a:ext cx="368935" cy="12700"/>
          </a:xfrm>
          <a:custGeom>
            <a:avLst/>
            <a:gdLst/>
            <a:ahLst/>
            <a:cxnLst/>
            <a:rect l="l" t="t" r="r" b="b"/>
            <a:pathLst>
              <a:path w="368935" h="12700">
                <a:moveTo>
                  <a:pt x="0" y="12339"/>
                </a:moveTo>
                <a:lnTo>
                  <a:pt x="368456" y="12339"/>
                </a:lnTo>
                <a:lnTo>
                  <a:pt x="368456" y="0"/>
                </a:lnTo>
                <a:lnTo>
                  <a:pt x="0" y="0"/>
                </a:lnTo>
                <a:lnTo>
                  <a:pt x="0" y="12339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635730" y="2173748"/>
            <a:ext cx="356870" cy="144145"/>
          </a:xfrm>
          <a:custGeom>
            <a:avLst/>
            <a:gdLst/>
            <a:ahLst/>
            <a:cxnLst/>
            <a:rect l="l" t="t" r="r" b="b"/>
            <a:pathLst>
              <a:path w="356869" h="144144">
                <a:moveTo>
                  <a:pt x="0" y="0"/>
                </a:moveTo>
                <a:lnTo>
                  <a:pt x="36076" y="45817"/>
                </a:lnTo>
                <a:lnTo>
                  <a:pt x="74104" y="80437"/>
                </a:lnTo>
                <a:lnTo>
                  <a:pt x="114322" y="105485"/>
                </a:lnTo>
                <a:lnTo>
                  <a:pt x="156971" y="122585"/>
                </a:lnTo>
                <a:lnTo>
                  <a:pt x="202293" y="133362"/>
                </a:lnTo>
                <a:lnTo>
                  <a:pt x="250527" y="139439"/>
                </a:lnTo>
                <a:lnTo>
                  <a:pt x="301913" y="142443"/>
                </a:lnTo>
                <a:lnTo>
                  <a:pt x="356693" y="143996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279030" y="1337528"/>
            <a:ext cx="356870" cy="836294"/>
          </a:xfrm>
          <a:custGeom>
            <a:avLst/>
            <a:gdLst/>
            <a:ahLst/>
            <a:cxnLst/>
            <a:rect l="l" t="t" r="r" b="b"/>
            <a:pathLst>
              <a:path w="356869" h="836294">
                <a:moveTo>
                  <a:pt x="0" y="0"/>
                </a:moveTo>
                <a:lnTo>
                  <a:pt x="27904" y="28620"/>
                </a:lnTo>
                <a:lnTo>
                  <a:pt x="51113" y="64846"/>
                </a:lnTo>
                <a:lnTo>
                  <a:pt x="70412" y="103825"/>
                </a:lnTo>
                <a:lnTo>
                  <a:pt x="86589" y="140704"/>
                </a:lnTo>
                <a:lnTo>
                  <a:pt x="106321" y="191953"/>
                </a:lnTo>
                <a:lnTo>
                  <a:pt x="124833" y="243621"/>
                </a:lnTo>
                <a:lnTo>
                  <a:pt x="142467" y="295593"/>
                </a:lnTo>
                <a:lnTo>
                  <a:pt x="159565" y="347755"/>
                </a:lnTo>
                <a:lnTo>
                  <a:pt x="176466" y="399994"/>
                </a:lnTo>
                <a:lnTo>
                  <a:pt x="193017" y="449748"/>
                </a:lnTo>
                <a:lnTo>
                  <a:pt x="209497" y="499719"/>
                </a:lnTo>
                <a:lnTo>
                  <a:pt x="226309" y="549677"/>
                </a:lnTo>
                <a:lnTo>
                  <a:pt x="243855" y="599390"/>
                </a:lnTo>
                <a:lnTo>
                  <a:pt x="262539" y="648628"/>
                </a:lnTo>
                <a:lnTo>
                  <a:pt x="282763" y="697160"/>
                </a:lnTo>
                <a:lnTo>
                  <a:pt x="304929" y="744757"/>
                </a:lnTo>
                <a:lnTo>
                  <a:pt x="329440" y="791187"/>
                </a:lnTo>
                <a:lnTo>
                  <a:pt x="356699" y="836219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921862" y="1327897"/>
            <a:ext cx="357505" cy="617220"/>
          </a:xfrm>
          <a:custGeom>
            <a:avLst/>
            <a:gdLst/>
            <a:ahLst/>
            <a:cxnLst/>
            <a:rect l="l" t="t" r="r" b="b"/>
            <a:pathLst>
              <a:path w="357505" h="617219">
                <a:moveTo>
                  <a:pt x="0" y="617150"/>
                </a:moveTo>
                <a:lnTo>
                  <a:pt x="22361" y="573444"/>
                </a:lnTo>
                <a:lnTo>
                  <a:pt x="43536" y="529135"/>
                </a:lnTo>
                <a:lnTo>
                  <a:pt x="63744" y="484342"/>
                </a:lnTo>
                <a:lnTo>
                  <a:pt x="83203" y="439181"/>
                </a:lnTo>
                <a:lnTo>
                  <a:pt x="102132" y="393771"/>
                </a:lnTo>
                <a:lnTo>
                  <a:pt x="120752" y="348229"/>
                </a:lnTo>
                <a:lnTo>
                  <a:pt x="139280" y="302672"/>
                </a:lnTo>
                <a:lnTo>
                  <a:pt x="157937" y="257218"/>
                </a:lnTo>
                <a:lnTo>
                  <a:pt x="176940" y="211983"/>
                </a:lnTo>
                <a:lnTo>
                  <a:pt x="196074" y="167952"/>
                </a:lnTo>
                <a:lnTo>
                  <a:pt x="217029" y="123368"/>
                </a:lnTo>
                <a:lnTo>
                  <a:pt x="240410" y="80151"/>
                </a:lnTo>
                <a:lnTo>
                  <a:pt x="266817" y="40221"/>
                </a:lnTo>
                <a:lnTo>
                  <a:pt x="306872" y="4826"/>
                </a:lnTo>
                <a:lnTo>
                  <a:pt x="330599" y="0"/>
                </a:lnTo>
                <a:lnTo>
                  <a:pt x="357168" y="9631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565168" y="1945047"/>
            <a:ext cx="356870" cy="327660"/>
          </a:xfrm>
          <a:custGeom>
            <a:avLst/>
            <a:gdLst/>
            <a:ahLst/>
            <a:cxnLst/>
            <a:rect l="l" t="t" r="r" b="b"/>
            <a:pathLst>
              <a:path w="356869" h="327660">
                <a:moveTo>
                  <a:pt x="0" y="327047"/>
                </a:moveTo>
                <a:lnTo>
                  <a:pt x="50278" y="310354"/>
                </a:lnTo>
                <a:lnTo>
                  <a:pt x="96385" y="289444"/>
                </a:lnTo>
                <a:lnTo>
                  <a:pt x="138668" y="264564"/>
                </a:lnTo>
                <a:lnTo>
                  <a:pt x="177474" y="235960"/>
                </a:lnTo>
                <a:lnTo>
                  <a:pt x="213149" y="203880"/>
                </a:lnTo>
                <a:lnTo>
                  <a:pt x="246040" y="168572"/>
                </a:lnTo>
                <a:lnTo>
                  <a:pt x="276493" y="130283"/>
                </a:lnTo>
                <a:lnTo>
                  <a:pt x="304855" y="89259"/>
                </a:lnTo>
                <a:lnTo>
                  <a:pt x="331473" y="45749"/>
                </a:lnTo>
                <a:lnTo>
                  <a:pt x="356693" y="0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08468" y="2272095"/>
            <a:ext cx="356870" cy="41910"/>
          </a:xfrm>
          <a:custGeom>
            <a:avLst/>
            <a:gdLst/>
            <a:ahLst/>
            <a:cxnLst/>
            <a:rect l="l" t="t" r="r" b="b"/>
            <a:pathLst>
              <a:path w="356869" h="41910">
                <a:moveTo>
                  <a:pt x="0" y="41883"/>
                </a:moveTo>
                <a:lnTo>
                  <a:pt x="50576" y="39936"/>
                </a:lnTo>
                <a:lnTo>
                  <a:pt x="102041" y="37446"/>
                </a:lnTo>
                <a:lnTo>
                  <a:pt x="153938" y="33930"/>
                </a:lnTo>
                <a:lnTo>
                  <a:pt x="205808" y="28908"/>
                </a:lnTo>
                <a:lnTo>
                  <a:pt x="257196" y="21899"/>
                </a:lnTo>
                <a:lnTo>
                  <a:pt x="307643" y="12424"/>
                </a:lnTo>
                <a:lnTo>
                  <a:pt x="356693" y="0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179765" y="2313978"/>
            <a:ext cx="29209" cy="1270"/>
          </a:xfrm>
          <a:custGeom>
            <a:avLst/>
            <a:gdLst/>
            <a:ahLst/>
            <a:cxnLst/>
            <a:rect l="l" t="t" r="r" b="b"/>
            <a:pathLst>
              <a:path w="29209" h="1269">
                <a:moveTo>
                  <a:pt x="0" y="943"/>
                </a:moveTo>
                <a:lnTo>
                  <a:pt x="7171" y="603"/>
                </a:lnTo>
                <a:lnTo>
                  <a:pt x="14349" y="463"/>
                </a:lnTo>
                <a:lnTo>
                  <a:pt x="21528" y="326"/>
                </a:lnTo>
                <a:lnTo>
                  <a:pt x="28703" y="0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343950" y="2312566"/>
            <a:ext cx="365760" cy="12065"/>
          </a:xfrm>
          <a:custGeom>
            <a:avLst/>
            <a:gdLst/>
            <a:ahLst/>
            <a:cxnLst/>
            <a:rect l="l" t="t" r="r" b="b"/>
            <a:pathLst>
              <a:path w="365760" h="12064">
                <a:moveTo>
                  <a:pt x="0" y="11808"/>
                </a:moveTo>
                <a:lnTo>
                  <a:pt x="365164" y="11808"/>
                </a:lnTo>
                <a:lnTo>
                  <a:pt x="365164" y="0"/>
                </a:lnTo>
                <a:lnTo>
                  <a:pt x="0" y="0"/>
                </a:lnTo>
                <a:lnTo>
                  <a:pt x="0" y="118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992429" y="2266448"/>
            <a:ext cx="357505" cy="52069"/>
          </a:xfrm>
          <a:custGeom>
            <a:avLst/>
            <a:gdLst/>
            <a:ahLst/>
            <a:cxnLst/>
            <a:rect l="l" t="t" r="r" b="b"/>
            <a:pathLst>
              <a:path w="357504" h="52069">
                <a:moveTo>
                  <a:pt x="0" y="0"/>
                </a:moveTo>
                <a:lnTo>
                  <a:pt x="41909" y="18976"/>
                </a:lnTo>
                <a:lnTo>
                  <a:pt x="85939" y="31951"/>
                </a:lnTo>
                <a:lnTo>
                  <a:pt x="131232" y="40244"/>
                </a:lnTo>
                <a:lnTo>
                  <a:pt x="176935" y="45175"/>
                </a:lnTo>
                <a:lnTo>
                  <a:pt x="221763" y="48343"/>
                </a:lnTo>
                <a:lnTo>
                  <a:pt x="266919" y="50120"/>
                </a:lnTo>
                <a:lnTo>
                  <a:pt x="312140" y="51071"/>
                </a:lnTo>
                <a:lnTo>
                  <a:pt x="357162" y="51765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635730" y="1573762"/>
            <a:ext cx="356870" cy="692785"/>
          </a:xfrm>
          <a:custGeom>
            <a:avLst/>
            <a:gdLst/>
            <a:ahLst/>
            <a:cxnLst/>
            <a:rect l="l" t="t" r="r" b="b"/>
            <a:pathLst>
              <a:path w="356869" h="692785">
                <a:moveTo>
                  <a:pt x="0" y="0"/>
                </a:moveTo>
                <a:lnTo>
                  <a:pt x="17138" y="47434"/>
                </a:lnTo>
                <a:lnTo>
                  <a:pt x="33805" y="95060"/>
                </a:lnTo>
                <a:lnTo>
                  <a:pt x="50220" y="142789"/>
                </a:lnTo>
                <a:lnTo>
                  <a:pt x="66602" y="190534"/>
                </a:lnTo>
                <a:lnTo>
                  <a:pt x="83170" y="238207"/>
                </a:lnTo>
                <a:lnTo>
                  <a:pt x="100142" y="285723"/>
                </a:lnTo>
                <a:lnTo>
                  <a:pt x="117739" y="332992"/>
                </a:lnTo>
                <a:lnTo>
                  <a:pt x="136179" y="379929"/>
                </a:lnTo>
                <a:lnTo>
                  <a:pt x="155682" y="426446"/>
                </a:lnTo>
                <a:lnTo>
                  <a:pt x="176466" y="472455"/>
                </a:lnTo>
                <a:lnTo>
                  <a:pt x="198474" y="515125"/>
                </a:lnTo>
                <a:lnTo>
                  <a:pt x="222823" y="556997"/>
                </a:lnTo>
                <a:lnTo>
                  <a:pt x="250166" y="596881"/>
                </a:lnTo>
                <a:lnTo>
                  <a:pt x="281157" y="633585"/>
                </a:lnTo>
                <a:lnTo>
                  <a:pt x="316449" y="665917"/>
                </a:lnTo>
                <a:lnTo>
                  <a:pt x="356693" y="692686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279030" y="1356000"/>
            <a:ext cx="356870" cy="448309"/>
          </a:xfrm>
          <a:custGeom>
            <a:avLst/>
            <a:gdLst/>
            <a:ahLst/>
            <a:cxnLst/>
            <a:rect l="l" t="t" r="r" b="b"/>
            <a:pathLst>
              <a:path w="356869" h="448310">
                <a:moveTo>
                  <a:pt x="0" y="447874"/>
                </a:moveTo>
                <a:lnTo>
                  <a:pt x="16985" y="397438"/>
                </a:lnTo>
                <a:lnTo>
                  <a:pt x="33859" y="346902"/>
                </a:lnTo>
                <a:lnTo>
                  <a:pt x="50900" y="296408"/>
                </a:lnTo>
                <a:lnTo>
                  <a:pt x="68384" y="246096"/>
                </a:lnTo>
                <a:lnTo>
                  <a:pt x="86589" y="196111"/>
                </a:lnTo>
                <a:lnTo>
                  <a:pt x="104020" y="151219"/>
                </a:lnTo>
                <a:lnTo>
                  <a:pt x="124345" y="103962"/>
                </a:lnTo>
                <a:lnTo>
                  <a:pt x="148261" y="58782"/>
                </a:lnTo>
                <a:lnTo>
                  <a:pt x="176466" y="20119"/>
                </a:lnTo>
                <a:lnTo>
                  <a:pt x="223755" y="0"/>
                </a:lnTo>
                <a:lnTo>
                  <a:pt x="245534" y="9868"/>
                </a:lnTo>
                <a:lnTo>
                  <a:pt x="266817" y="30470"/>
                </a:lnTo>
                <a:lnTo>
                  <a:pt x="294450" y="73264"/>
                </a:lnTo>
                <a:lnTo>
                  <a:pt x="318043" y="120778"/>
                </a:lnTo>
                <a:lnTo>
                  <a:pt x="338494" y="169961"/>
                </a:lnTo>
                <a:lnTo>
                  <a:pt x="356699" y="217761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921862" y="1803874"/>
            <a:ext cx="357505" cy="495300"/>
          </a:xfrm>
          <a:custGeom>
            <a:avLst/>
            <a:gdLst/>
            <a:ahLst/>
            <a:cxnLst/>
            <a:rect l="l" t="t" r="r" b="b"/>
            <a:pathLst>
              <a:path w="357505" h="495300">
                <a:moveTo>
                  <a:pt x="0" y="495043"/>
                </a:moveTo>
                <a:lnTo>
                  <a:pt x="52241" y="479001"/>
                </a:lnTo>
                <a:lnTo>
                  <a:pt x="97967" y="456193"/>
                </a:lnTo>
                <a:lnTo>
                  <a:pt x="138945" y="425517"/>
                </a:lnTo>
                <a:lnTo>
                  <a:pt x="176940" y="385871"/>
                </a:lnTo>
                <a:lnTo>
                  <a:pt x="207324" y="343743"/>
                </a:lnTo>
                <a:lnTo>
                  <a:pt x="234749" y="298321"/>
                </a:lnTo>
                <a:lnTo>
                  <a:pt x="259573" y="250381"/>
                </a:lnTo>
                <a:lnTo>
                  <a:pt x="282152" y="200696"/>
                </a:lnTo>
                <a:lnTo>
                  <a:pt x="302845" y="150041"/>
                </a:lnTo>
                <a:lnTo>
                  <a:pt x="322006" y="99191"/>
                </a:lnTo>
                <a:lnTo>
                  <a:pt x="339995" y="48919"/>
                </a:lnTo>
                <a:lnTo>
                  <a:pt x="357168" y="0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565168" y="2298918"/>
            <a:ext cx="356870" cy="20320"/>
          </a:xfrm>
          <a:custGeom>
            <a:avLst/>
            <a:gdLst/>
            <a:ahLst/>
            <a:cxnLst/>
            <a:rect l="l" t="t" r="r" b="b"/>
            <a:pathLst>
              <a:path w="356869" h="20319">
                <a:moveTo>
                  <a:pt x="0" y="19764"/>
                </a:moveTo>
                <a:lnTo>
                  <a:pt x="44137" y="19600"/>
                </a:lnTo>
                <a:lnTo>
                  <a:pt x="88256" y="19205"/>
                </a:lnTo>
                <a:lnTo>
                  <a:pt x="132364" y="18619"/>
                </a:lnTo>
                <a:lnTo>
                  <a:pt x="176466" y="17883"/>
                </a:lnTo>
                <a:lnTo>
                  <a:pt x="221744" y="15894"/>
                </a:lnTo>
                <a:lnTo>
                  <a:pt x="267016" y="13024"/>
                </a:lnTo>
                <a:lnTo>
                  <a:pt x="312070" y="8113"/>
                </a:lnTo>
                <a:lnTo>
                  <a:pt x="356693" y="0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202822" y="2313035"/>
            <a:ext cx="368300" cy="11430"/>
          </a:xfrm>
          <a:custGeom>
            <a:avLst/>
            <a:gdLst/>
            <a:ahLst/>
            <a:cxnLst/>
            <a:rect l="l" t="t" r="r" b="b"/>
            <a:pathLst>
              <a:path w="368300" h="11430">
                <a:moveTo>
                  <a:pt x="0" y="11293"/>
                </a:moveTo>
                <a:lnTo>
                  <a:pt x="367987" y="11293"/>
                </a:lnTo>
                <a:lnTo>
                  <a:pt x="3679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179765" y="2318682"/>
            <a:ext cx="29209" cy="0"/>
          </a:xfrm>
          <a:custGeom>
            <a:avLst/>
            <a:gdLst/>
            <a:ahLst/>
            <a:cxnLst/>
            <a:rect l="l" t="t" r="r" b="b"/>
            <a:pathLst>
              <a:path w="29209" h="0">
                <a:moveTo>
                  <a:pt x="0" y="0"/>
                </a:moveTo>
                <a:lnTo>
                  <a:pt x="7175" y="0"/>
                </a:lnTo>
                <a:lnTo>
                  <a:pt x="14351" y="0"/>
                </a:lnTo>
                <a:lnTo>
                  <a:pt x="21528" y="0"/>
                </a:lnTo>
                <a:lnTo>
                  <a:pt x="28703" y="0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349597" y="2231155"/>
            <a:ext cx="354330" cy="80645"/>
          </a:xfrm>
          <a:custGeom>
            <a:avLst/>
            <a:gdLst/>
            <a:ahLst/>
            <a:cxnLst/>
            <a:rect l="l" t="t" r="r" b="b"/>
            <a:pathLst>
              <a:path w="354329" h="80644">
                <a:moveTo>
                  <a:pt x="0" y="0"/>
                </a:moveTo>
                <a:lnTo>
                  <a:pt x="46655" y="22647"/>
                </a:lnTo>
                <a:lnTo>
                  <a:pt x="95596" y="40465"/>
                </a:lnTo>
                <a:lnTo>
                  <a:pt x="146232" y="54120"/>
                </a:lnTo>
                <a:lnTo>
                  <a:pt x="197970" y="64281"/>
                </a:lnTo>
                <a:lnTo>
                  <a:pt x="250218" y="71615"/>
                </a:lnTo>
                <a:lnTo>
                  <a:pt x="302382" y="76790"/>
                </a:lnTo>
                <a:lnTo>
                  <a:pt x="353870" y="80474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992429" y="1703641"/>
            <a:ext cx="357505" cy="527685"/>
          </a:xfrm>
          <a:custGeom>
            <a:avLst/>
            <a:gdLst/>
            <a:ahLst/>
            <a:cxnLst/>
            <a:rect l="l" t="t" r="r" b="b"/>
            <a:pathLst>
              <a:path w="357504" h="527685">
                <a:moveTo>
                  <a:pt x="0" y="0"/>
                </a:moveTo>
                <a:lnTo>
                  <a:pt x="18456" y="44407"/>
                </a:lnTo>
                <a:lnTo>
                  <a:pt x="37489" y="89886"/>
                </a:lnTo>
                <a:lnTo>
                  <a:pt x="57351" y="135969"/>
                </a:lnTo>
                <a:lnTo>
                  <a:pt x="78295" y="182192"/>
                </a:lnTo>
                <a:lnTo>
                  <a:pt x="100573" y="228087"/>
                </a:lnTo>
                <a:lnTo>
                  <a:pt x="124437" y="273188"/>
                </a:lnTo>
                <a:lnTo>
                  <a:pt x="150142" y="317030"/>
                </a:lnTo>
                <a:lnTo>
                  <a:pt x="177940" y="359145"/>
                </a:lnTo>
                <a:lnTo>
                  <a:pt x="208082" y="399068"/>
                </a:lnTo>
                <a:lnTo>
                  <a:pt x="240823" y="436333"/>
                </a:lnTo>
                <a:lnTo>
                  <a:pt x="276415" y="470473"/>
                </a:lnTo>
                <a:lnTo>
                  <a:pt x="315110" y="501021"/>
                </a:lnTo>
                <a:lnTo>
                  <a:pt x="357162" y="527513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635730" y="1268425"/>
            <a:ext cx="356870" cy="435609"/>
          </a:xfrm>
          <a:custGeom>
            <a:avLst/>
            <a:gdLst/>
            <a:ahLst/>
            <a:cxnLst/>
            <a:rect l="l" t="t" r="r" b="b"/>
            <a:pathLst>
              <a:path w="356869" h="435610">
                <a:moveTo>
                  <a:pt x="0" y="154281"/>
                </a:moveTo>
                <a:lnTo>
                  <a:pt x="27625" y="92797"/>
                </a:lnTo>
                <a:lnTo>
                  <a:pt x="66858" y="29966"/>
                </a:lnTo>
                <a:lnTo>
                  <a:pt x="116778" y="0"/>
                </a:lnTo>
                <a:lnTo>
                  <a:pt x="145459" y="8031"/>
                </a:lnTo>
                <a:lnTo>
                  <a:pt x="176466" y="37107"/>
                </a:lnTo>
                <a:lnTo>
                  <a:pt x="203233" y="76307"/>
                </a:lnTo>
                <a:lnTo>
                  <a:pt x="226853" y="119713"/>
                </a:lnTo>
                <a:lnTo>
                  <a:pt x="247867" y="164637"/>
                </a:lnTo>
                <a:lnTo>
                  <a:pt x="266817" y="208396"/>
                </a:lnTo>
                <a:lnTo>
                  <a:pt x="285349" y="253470"/>
                </a:lnTo>
                <a:lnTo>
                  <a:pt x="303475" y="298794"/>
                </a:lnTo>
                <a:lnTo>
                  <a:pt x="321324" y="344264"/>
                </a:lnTo>
                <a:lnTo>
                  <a:pt x="339021" y="389773"/>
                </a:lnTo>
                <a:lnTo>
                  <a:pt x="356693" y="435216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279030" y="1422707"/>
            <a:ext cx="356870" cy="833119"/>
          </a:xfrm>
          <a:custGeom>
            <a:avLst/>
            <a:gdLst/>
            <a:ahLst/>
            <a:cxnLst/>
            <a:rect l="l" t="t" r="r" b="b"/>
            <a:pathLst>
              <a:path w="356869" h="833119">
                <a:moveTo>
                  <a:pt x="0" y="832921"/>
                </a:moveTo>
                <a:lnTo>
                  <a:pt x="47725" y="786458"/>
                </a:lnTo>
                <a:lnTo>
                  <a:pt x="86589" y="732214"/>
                </a:lnTo>
                <a:lnTo>
                  <a:pt x="112786" y="685446"/>
                </a:lnTo>
                <a:lnTo>
                  <a:pt x="136108" y="637193"/>
                </a:lnTo>
                <a:lnTo>
                  <a:pt x="157140" y="587864"/>
                </a:lnTo>
                <a:lnTo>
                  <a:pt x="176466" y="537869"/>
                </a:lnTo>
                <a:lnTo>
                  <a:pt x="194048" y="489409"/>
                </a:lnTo>
                <a:lnTo>
                  <a:pt x="210802" y="440633"/>
                </a:lnTo>
                <a:lnTo>
                  <a:pt x="226923" y="391617"/>
                </a:lnTo>
                <a:lnTo>
                  <a:pt x="242608" y="342438"/>
                </a:lnTo>
                <a:lnTo>
                  <a:pt x="258054" y="293170"/>
                </a:lnTo>
                <a:lnTo>
                  <a:pt x="273456" y="243892"/>
                </a:lnTo>
                <a:lnTo>
                  <a:pt x="289013" y="194679"/>
                </a:lnTo>
                <a:lnTo>
                  <a:pt x="304918" y="145607"/>
                </a:lnTo>
                <a:lnTo>
                  <a:pt x="321371" y="96752"/>
                </a:lnTo>
                <a:lnTo>
                  <a:pt x="338565" y="48191"/>
                </a:lnTo>
                <a:lnTo>
                  <a:pt x="356699" y="0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921862" y="2255628"/>
            <a:ext cx="357505" cy="63500"/>
          </a:xfrm>
          <a:custGeom>
            <a:avLst/>
            <a:gdLst/>
            <a:ahLst/>
            <a:cxnLst/>
            <a:rect l="l" t="t" r="r" b="b"/>
            <a:pathLst>
              <a:path w="357505" h="63500">
                <a:moveTo>
                  <a:pt x="0" y="63053"/>
                </a:moveTo>
                <a:lnTo>
                  <a:pt x="44294" y="62741"/>
                </a:lnTo>
                <a:lnTo>
                  <a:pt x="88563" y="62116"/>
                </a:lnTo>
                <a:lnTo>
                  <a:pt x="132786" y="60784"/>
                </a:lnTo>
                <a:lnTo>
                  <a:pt x="176940" y="58349"/>
                </a:lnTo>
                <a:lnTo>
                  <a:pt x="225147" y="52777"/>
                </a:lnTo>
                <a:lnTo>
                  <a:pt x="271590" y="42541"/>
                </a:lnTo>
                <a:lnTo>
                  <a:pt x="315765" y="25621"/>
                </a:lnTo>
                <a:lnTo>
                  <a:pt x="357168" y="0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559521" y="2313035"/>
            <a:ext cx="368300" cy="11430"/>
          </a:xfrm>
          <a:custGeom>
            <a:avLst/>
            <a:gdLst/>
            <a:ahLst/>
            <a:cxnLst/>
            <a:rect l="l" t="t" r="r" b="b"/>
            <a:pathLst>
              <a:path w="368300" h="11430">
                <a:moveTo>
                  <a:pt x="0" y="11293"/>
                </a:moveTo>
                <a:lnTo>
                  <a:pt x="367987" y="11293"/>
                </a:lnTo>
                <a:lnTo>
                  <a:pt x="3679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1202822" y="2313035"/>
            <a:ext cx="368300" cy="11430"/>
          </a:xfrm>
          <a:custGeom>
            <a:avLst/>
            <a:gdLst/>
            <a:ahLst/>
            <a:cxnLst/>
            <a:rect l="l" t="t" r="r" b="b"/>
            <a:pathLst>
              <a:path w="368300" h="11430">
                <a:moveTo>
                  <a:pt x="0" y="11293"/>
                </a:moveTo>
                <a:lnTo>
                  <a:pt x="367987" y="11293"/>
                </a:lnTo>
                <a:lnTo>
                  <a:pt x="3679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179765" y="2318682"/>
            <a:ext cx="29209" cy="0"/>
          </a:xfrm>
          <a:custGeom>
            <a:avLst/>
            <a:gdLst/>
            <a:ahLst/>
            <a:cxnLst/>
            <a:rect l="l" t="t" r="r" b="b"/>
            <a:pathLst>
              <a:path w="29209" h="0">
                <a:moveTo>
                  <a:pt x="0" y="0"/>
                </a:moveTo>
                <a:lnTo>
                  <a:pt x="7175" y="0"/>
                </a:lnTo>
                <a:lnTo>
                  <a:pt x="14351" y="0"/>
                </a:lnTo>
                <a:lnTo>
                  <a:pt x="21528" y="0"/>
                </a:lnTo>
                <a:lnTo>
                  <a:pt x="28703" y="0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349597" y="484824"/>
            <a:ext cx="354330" cy="363855"/>
          </a:xfrm>
          <a:custGeom>
            <a:avLst/>
            <a:gdLst/>
            <a:ahLst/>
            <a:cxnLst/>
            <a:rect l="l" t="t" r="r" b="b"/>
            <a:pathLst>
              <a:path w="354329" h="363855">
                <a:moveTo>
                  <a:pt x="0" y="18"/>
                </a:moveTo>
                <a:lnTo>
                  <a:pt x="44023" y="0"/>
                </a:lnTo>
                <a:lnTo>
                  <a:pt x="85303" y="10070"/>
                </a:lnTo>
                <a:lnTo>
                  <a:pt x="123870" y="28858"/>
                </a:lnTo>
                <a:lnTo>
                  <a:pt x="159754" y="54990"/>
                </a:lnTo>
                <a:lnTo>
                  <a:pt x="192985" y="87094"/>
                </a:lnTo>
                <a:lnTo>
                  <a:pt x="223594" y="123798"/>
                </a:lnTo>
                <a:lnTo>
                  <a:pt x="251610" y="163730"/>
                </a:lnTo>
                <a:lnTo>
                  <a:pt x="277065" y="205517"/>
                </a:lnTo>
                <a:lnTo>
                  <a:pt x="299988" y="247788"/>
                </a:lnTo>
                <a:lnTo>
                  <a:pt x="320410" y="289169"/>
                </a:lnTo>
                <a:lnTo>
                  <a:pt x="338360" y="328289"/>
                </a:lnTo>
                <a:lnTo>
                  <a:pt x="353870" y="363776"/>
                </a:lnTo>
              </a:path>
            </a:pathLst>
          </a:custGeom>
          <a:ln w="11293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992429" y="484842"/>
            <a:ext cx="357505" cy="518795"/>
          </a:xfrm>
          <a:custGeom>
            <a:avLst/>
            <a:gdLst/>
            <a:ahLst/>
            <a:cxnLst/>
            <a:rect l="l" t="t" r="r" b="b"/>
            <a:pathLst>
              <a:path w="357504" h="518794">
                <a:moveTo>
                  <a:pt x="0" y="518579"/>
                </a:moveTo>
                <a:lnTo>
                  <a:pt x="26143" y="443365"/>
                </a:lnTo>
                <a:lnTo>
                  <a:pt x="42018" y="399859"/>
                </a:lnTo>
                <a:lnTo>
                  <a:pt x="59835" y="353884"/>
                </a:lnTo>
                <a:lnTo>
                  <a:pt x="79651" y="306540"/>
                </a:lnTo>
                <a:lnTo>
                  <a:pt x="101522" y="258923"/>
                </a:lnTo>
                <a:lnTo>
                  <a:pt x="125503" y="212133"/>
                </a:lnTo>
                <a:lnTo>
                  <a:pt x="151651" y="167267"/>
                </a:lnTo>
                <a:lnTo>
                  <a:pt x="180021" y="125425"/>
                </a:lnTo>
                <a:lnTo>
                  <a:pt x="210669" y="87704"/>
                </a:lnTo>
                <a:lnTo>
                  <a:pt x="243651" y="55203"/>
                </a:lnTo>
                <a:lnTo>
                  <a:pt x="279024" y="29019"/>
                </a:lnTo>
                <a:lnTo>
                  <a:pt x="316842" y="10252"/>
                </a:lnTo>
                <a:lnTo>
                  <a:pt x="357162" y="0"/>
                </a:lnTo>
              </a:path>
            </a:pathLst>
          </a:custGeom>
          <a:ln w="11293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635730" y="1003422"/>
            <a:ext cx="356870" cy="1119505"/>
          </a:xfrm>
          <a:custGeom>
            <a:avLst/>
            <a:gdLst/>
            <a:ahLst/>
            <a:cxnLst/>
            <a:rect l="l" t="t" r="r" b="b"/>
            <a:pathLst>
              <a:path w="356869" h="1119505">
                <a:moveTo>
                  <a:pt x="0" y="1119503"/>
                </a:moveTo>
                <a:lnTo>
                  <a:pt x="23595" y="1073038"/>
                </a:lnTo>
                <a:lnTo>
                  <a:pt x="45266" y="1025729"/>
                </a:lnTo>
                <a:lnTo>
                  <a:pt x="65239" y="977689"/>
                </a:lnTo>
                <a:lnTo>
                  <a:pt x="83738" y="929034"/>
                </a:lnTo>
                <a:lnTo>
                  <a:pt x="100991" y="879877"/>
                </a:lnTo>
                <a:lnTo>
                  <a:pt x="117223" y="830333"/>
                </a:lnTo>
                <a:lnTo>
                  <a:pt x="132661" y="780516"/>
                </a:lnTo>
                <a:lnTo>
                  <a:pt x="147530" y="730540"/>
                </a:lnTo>
                <a:lnTo>
                  <a:pt x="162056" y="680520"/>
                </a:lnTo>
                <a:lnTo>
                  <a:pt x="176466" y="630569"/>
                </a:lnTo>
                <a:lnTo>
                  <a:pt x="190130" y="581981"/>
                </a:lnTo>
                <a:lnTo>
                  <a:pt x="203615" y="533354"/>
                </a:lnTo>
                <a:lnTo>
                  <a:pt x="216978" y="484701"/>
                </a:lnTo>
                <a:lnTo>
                  <a:pt x="230278" y="436039"/>
                </a:lnTo>
                <a:lnTo>
                  <a:pt x="243573" y="387381"/>
                </a:lnTo>
                <a:lnTo>
                  <a:pt x="256920" y="338741"/>
                </a:lnTo>
                <a:lnTo>
                  <a:pt x="270378" y="290135"/>
                </a:lnTo>
                <a:lnTo>
                  <a:pt x="284005" y="241576"/>
                </a:lnTo>
                <a:lnTo>
                  <a:pt x="297858" y="193079"/>
                </a:lnTo>
                <a:lnTo>
                  <a:pt x="311995" y="144659"/>
                </a:lnTo>
                <a:lnTo>
                  <a:pt x="326475" y="96329"/>
                </a:lnTo>
                <a:lnTo>
                  <a:pt x="341355" y="48104"/>
                </a:lnTo>
                <a:lnTo>
                  <a:pt x="356693" y="0"/>
                </a:lnTo>
              </a:path>
            </a:pathLst>
          </a:custGeom>
          <a:ln w="11293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279030" y="2122926"/>
            <a:ext cx="356870" cy="194945"/>
          </a:xfrm>
          <a:custGeom>
            <a:avLst/>
            <a:gdLst/>
            <a:ahLst/>
            <a:cxnLst/>
            <a:rect l="l" t="t" r="r" b="b"/>
            <a:pathLst>
              <a:path w="356869" h="194944">
                <a:moveTo>
                  <a:pt x="0" y="194344"/>
                </a:moveTo>
                <a:lnTo>
                  <a:pt x="55309" y="192266"/>
                </a:lnTo>
                <a:lnTo>
                  <a:pt x="105048" y="187418"/>
                </a:lnTo>
                <a:lnTo>
                  <a:pt x="149924" y="178895"/>
                </a:lnTo>
                <a:lnTo>
                  <a:pt x="190645" y="165795"/>
                </a:lnTo>
                <a:lnTo>
                  <a:pt x="227919" y="147213"/>
                </a:lnTo>
                <a:lnTo>
                  <a:pt x="262453" y="122247"/>
                </a:lnTo>
                <a:lnTo>
                  <a:pt x="294956" y="89991"/>
                </a:lnTo>
                <a:lnTo>
                  <a:pt x="326136" y="49543"/>
                </a:lnTo>
                <a:lnTo>
                  <a:pt x="356699" y="0"/>
                </a:lnTo>
              </a:path>
            </a:pathLst>
          </a:custGeom>
          <a:ln w="11293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1916215" y="2311624"/>
            <a:ext cx="368935" cy="13335"/>
          </a:xfrm>
          <a:custGeom>
            <a:avLst/>
            <a:gdLst/>
            <a:ahLst/>
            <a:cxnLst/>
            <a:rect l="l" t="t" r="r" b="b"/>
            <a:pathLst>
              <a:path w="368935" h="13335">
                <a:moveTo>
                  <a:pt x="0" y="12856"/>
                </a:moveTo>
                <a:lnTo>
                  <a:pt x="368462" y="12856"/>
                </a:lnTo>
                <a:lnTo>
                  <a:pt x="368462" y="0"/>
                </a:lnTo>
                <a:lnTo>
                  <a:pt x="0" y="0"/>
                </a:lnTo>
                <a:lnTo>
                  <a:pt x="0" y="12856"/>
                </a:lnTo>
                <a:close/>
              </a:path>
            </a:pathLst>
          </a:custGeom>
          <a:solidFill>
            <a:srgbClr val="BF0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1559521" y="2313035"/>
            <a:ext cx="368300" cy="11430"/>
          </a:xfrm>
          <a:custGeom>
            <a:avLst/>
            <a:gdLst/>
            <a:ahLst/>
            <a:cxnLst/>
            <a:rect l="l" t="t" r="r" b="b"/>
            <a:pathLst>
              <a:path w="368300" h="11430">
                <a:moveTo>
                  <a:pt x="0" y="11293"/>
                </a:moveTo>
                <a:lnTo>
                  <a:pt x="367987" y="11293"/>
                </a:lnTo>
                <a:lnTo>
                  <a:pt x="3679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BF0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202822" y="2313035"/>
            <a:ext cx="368300" cy="11430"/>
          </a:xfrm>
          <a:custGeom>
            <a:avLst/>
            <a:gdLst/>
            <a:ahLst/>
            <a:cxnLst/>
            <a:rect l="l" t="t" r="r" b="b"/>
            <a:pathLst>
              <a:path w="368300" h="11430">
                <a:moveTo>
                  <a:pt x="0" y="11293"/>
                </a:moveTo>
                <a:lnTo>
                  <a:pt x="367987" y="11293"/>
                </a:lnTo>
                <a:lnTo>
                  <a:pt x="3679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BF0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179765" y="2318682"/>
            <a:ext cx="29209" cy="0"/>
          </a:xfrm>
          <a:custGeom>
            <a:avLst/>
            <a:gdLst/>
            <a:ahLst/>
            <a:cxnLst/>
            <a:rect l="l" t="t" r="r" b="b"/>
            <a:pathLst>
              <a:path w="29209" h="0">
                <a:moveTo>
                  <a:pt x="0" y="0"/>
                </a:moveTo>
                <a:lnTo>
                  <a:pt x="7175" y="0"/>
                </a:lnTo>
                <a:lnTo>
                  <a:pt x="14351" y="0"/>
                </a:lnTo>
                <a:lnTo>
                  <a:pt x="21528" y="0"/>
                </a:lnTo>
                <a:lnTo>
                  <a:pt x="28703" y="0"/>
                </a:lnTo>
              </a:path>
            </a:pathLst>
          </a:custGeom>
          <a:ln w="11293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349597" y="1807635"/>
            <a:ext cx="354330" cy="445134"/>
          </a:xfrm>
          <a:custGeom>
            <a:avLst/>
            <a:gdLst/>
            <a:ahLst/>
            <a:cxnLst/>
            <a:rect l="l" t="t" r="r" b="b"/>
            <a:pathLst>
              <a:path w="354329" h="445135">
                <a:moveTo>
                  <a:pt x="0" y="444695"/>
                </a:moveTo>
                <a:lnTo>
                  <a:pt x="44653" y="422837"/>
                </a:lnTo>
                <a:lnTo>
                  <a:pt x="85697" y="396760"/>
                </a:lnTo>
                <a:lnTo>
                  <a:pt x="123388" y="366899"/>
                </a:lnTo>
                <a:lnTo>
                  <a:pt x="157981" y="333692"/>
                </a:lnTo>
                <a:lnTo>
                  <a:pt x="189731" y="297575"/>
                </a:lnTo>
                <a:lnTo>
                  <a:pt x="218895" y="258986"/>
                </a:lnTo>
                <a:lnTo>
                  <a:pt x="245727" y="218362"/>
                </a:lnTo>
                <a:lnTo>
                  <a:pt x="270484" y="176138"/>
                </a:lnTo>
                <a:lnTo>
                  <a:pt x="293422" y="132754"/>
                </a:lnTo>
                <a:lnTo>
                  <a:pt x="314794" y="88645"/>
                </a:lnTo>
                <a:lnTo>
                  <a:pt x="334859" y="44247"/>
                </a:lnTo>
                <a:lnTo>
                  <a:pt x="353870" y="0"/>
                </a:lnTo>
              </a:path>
            </a:pathLst>
          </a:custGeom>
          <a:ln w="11293">
            <a:solidFill>
              <a:srgbClr val="BFB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992429" y="2252331"/>
            <a:ext cx="357505" cy="62230"/>
          </a:xfrm>
          <a:custGeom>
            <a:avLst/>
            <a:gdLst/>
            <a:ahLst/>
            <a:cxnLst/>
            <a:rect l="l" t="t" r="r" b="b"/>
            <a:pathLst>
              <a:path w="357504" h="62230">
                <a:moveTo>
                  <a:pt x="0" y="61647"/>
                </a:moveTo>
                <a:lnTo>
                  <a:pt x="51178" y="58991"/>
                </a:lnTo>
                <a:lnTo>
                  <a:pt x="103225" y="55270"/>
                </a:lnTo>
                <a:lnTo>
                  <a:pt x="155587" y="49893"/>
                </a:lnTo>
                <a:lnTo>
                  <a:pt x="207714" y="42268"/>
                </a:lnTo>
                <a:lnTo>
                  <a:pt x="259053" y="31805"/>
                </a:lnTo>
                <a:lnTo>
                  <a:pt x="309053" y="17913"/>
                </a:lnTo>
                <a:lnTo>
                  <a:pt x="357162" y="0"/>
                </a:lnTo>
              </a:path>
            </a:pathLst>
          </a:custGeom>
          <a:ln w="11293">
            <a:solidFill>
              <a:srgbClr val="BFB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635730" y="2313978"/>
            <a:ext cx="356870" cy="5080"/>
          </a:xfrm>
          <a:custGeom>
            <a:avLst/>
            <a:gdLst/>
            <a:ahLst/>
            <a:cxnLst/>
            <a:rect l="l" t="t" r="r" b="b"/>
            <a:pathLst>
              <a:path w="356869" h="5080">
                <a:moveTo>
                  <a:pt x="0" y="4703"/>
                </a:moveTo>
                <a:lnTo>
                  <a:pt x="50959" y="4695"/>
                </a:lnTo>
                <a:lnTo>
                  <a:pt x="101956" y="4615"/>
                </a:lnTo>
                <a:lnTo>
                  <a:pt x="152968" y="4373"/>
                </a:lnTo>
                <a:lnTo>
                  <a:pt x="203970" y="3881"/>
                </a:lnTo>
                <a:lnTo>
                  <a:pt x="254940" y="3047"/>
                </a:lnTo>
                <a:lnTo>
                  <a:pt x="305856" y="1784"/>
                </a:lnTo>
                <a:lnTo>
                  <a:pt x="356693" y="0"/>
                </a:lnTo>
              </a:path>
            </a:pathLst>
          </a:custGeom>
          <a:ln w="11293">
            <a:solidFill>
              <a:srgbClr val="BFB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2273383" y="2318682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 h="0">
                <a:moveTo>
                  <a:pt x="0" y="0"/>
                </a:moveTo>
                <a:lnTo>
                  <a:pt x="367993" y="0"/>
                </a:lnTo>
              </a:path>
            </a:pathLst>
          </a:custGeom>
          <a:ln w="11293">
            <a:solidFill>
              <a:srgbClr val="BFB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916215" y="2313035"/>
            <a:ext cx="368935" cy="11430"/>
          </a:xfrm>
          <a:custGeom>
            <a:avLst/>
            <a:gdLst/>
            <a:ahLst/>
            <a:cxnLst/>
            <a:rect l="l" t="t" r="r" b="b"/>
            <a:pathLst>
              <a:path w="368935" h="11430">
                <a:moveTo>
                  <a:pt x="0" y="11293"/>
                </a:moveTo>
                <a:lnTo>
                  <a:pt x="368462" y="11293"/>
                </a:lnTo>
                <a:lnTo>
                  <a:pt x="368462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BFB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559521" y="2313018"/>
            <a:ext cx="368300" cy="12065"/>
          </a:xfrm>
          <a:custGeom>
            <a:avLst/>
            <a:gdLst/>
            <a:ahLst/>
            <a:cxnLst/>
            <a:rect l="l" t="t" r="r" b="b"/>
            <a:pathLst>
              <a:path w="368300" h="12064">
                <a:moveTo>
                  <a:pt x="0" y="11785"/>
                </a:moveTo>
                <a:lnTo>
                  <a:pt x="367987" y="11785"/>
                </a:lnTo>
                <a:lnTo>
                  <a:pt x="367987" y="0"/>
                </a:lnTo>
                <a:lnTo>
                  <a:pt x="0" y="0"/>
                </a:lnTo>
                <a:lnTo>
                  <a:pt x="0" y="11785"/>
                </a:lnTo>
                <a:close/>
              </a:path>
            </a:pathLst>
          </a:custGeom>
          <a:solidFill>
            <a:srgbClr val="BFB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202822" y="2313509"/>
            <a:ext cx="368300" cy="11430"/>
          </a:xfrm>
          <a:custGeom>
            <a:avLst/>
            <a:gdLst/>
            <a:ahLst/>
            <a:cxnLst/>
            <a:rect l="l" t="t" r="r" b="b"/>
            <a:pathLst>
              <a:path w="368300" h="11430">
                <a:moveTo>
                  <a:pt x="0" y="11293"/>
                </a:moveTo>
                <a:lnTo>
                  <a:pt x="367987" y="11293"/>
                </a:lnTo>
                <a:lnTo>
                  <a:pt x="3679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BFB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179765" y="2319156"/>
            <a:ext cx="29209" cy="0"/>
          </a:xfrm>
          <a:custGeom>
            <a:avLst/>
            <a:gdLst/>
            <a:ahLst/>
            <a:cxnLst/>
            <a:rect l="l" t="t" r="r" b="b"/>
            <a:pathLst>
              <a:path w="29209" h="0">
                <a:moveTo>
                  <a:pt x="0" y="0"/>
                </a:moveTo>
                <a:lnTo>
                  <a:pt x="7175" y="0"/>
                </a:lnTo>
                <a:lnTo>
                  <a:pt x="14351" y="0"/>
                </a:lnTo>
                <a:lnTo>
                  <a:pt x="21528" y="0"/>
                </a:lnTo>
                <a:lnTo>
                  <a:pt x="28703" y="0"/>
                </a:lnTo>
              </a:path>
            </a:pathLst>
          </a:custGeom>
          <a:ln w="11293">
            <a:solidFill>
              <a:srgbClr val="BFB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 txBox="1"/>
          <p:nvPr/>
        </p:nvSpPr>
        <p:spPr>
          <a:xfrm>
            <a:off x="2537384" y="2461274"/>
            <a:ext cx="59690" cy="10731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15" b="1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2256450" y="2393511"/>
            <a:ext cx="37084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5" b="1">
                <a:latin typeface="Times New Roman"/>
                <a:cs typeface="Times New Roman"/>
              </a:rPr>
              <a:t>log[NH</a:t>
            </a:r>
            <a:r>
              <a:rPr dirty="0" sz="700" spc="25" b="1">
                <a:latin typeface="Times New Roman"/>
                <a:cs typeface="Times New Roman"/>
              </a:rPr>
              <a:t> </a:t>
            </a:r>
            <a:r>
              <a:rPr dirty="0" sz="700" b="1">
                <a:latin typeface="Times New Roman"/>
                <a:cs typeface="Times New Roman"/>
              </a:rPr>
              <a:t>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868085" y="1284081"/>
            <a:ext cx="173355" cy="81280"/>
          </a:xfrm>
          <a:prstGeom prst="rect">
            <a:avLst/>
          </a:prstGeom>
        </p:spPr>
        <p:txBody>
          <a:bodyPr wrap="square" lIns="0" tIns="1841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850">
                <a:latin typeface="Symbol"/>
                <a:cs typeface="Symbol"/>
              </a:rPr>
              <a:t></a:t>
            </a:r>
            <a:endParaRPr sz="850">
              <a:latin typeface="Symbol"/>
              <a:cs typeface="Symbo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475773" y="533319"/>
            <a:ext cx="24384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7777" sz="900" spc="22" b="1">
                <a:latin typeface="Times New Roman"/>
                <a:cs typeface="Times New Roman"/>
              </a:rPr>
              <a:t>Cu</a:t>
            </a:r>
            <a:r>
              <a:rPr dirty="0" sz="450" spc="15" b="1">
                <a:latin typeface="Times New Roman"/>
                <a:cs typeface="Times New Roman"/>
              </a:rPr>
              <a:t>2+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729403" y="1733292"/>
            <a:ext cx="56515" cy="1003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50" spc="15" b="1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483762" y="1676822"/>
            <a:ext cx="32893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Cu(NH</a:t>
            </a:r>
            <a:r>
              <a:rPr dirty="0" sz="600" spc="25" b="1">
                <a:latin typeface="Times New Roman"/>
                <a:cs typeface="Times New Roman"/>
              </a:rPr>
              <a:t> </a:t>
            </a:r>
            <a:r>
              <a:rPr dirty="0" sz="600" spc="5" b="1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262568" y="888608"/>
            <a:ext cx="359410" cy="1568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59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Cu(NH</a:t>
            </a:r>
            <a:r>
              <a:rPr dirty="0" sz="600" spc="50" b="1">
                <a:latin typeface="Times New Roman"/>
                <a:cs typeface="Times New Roman"/>
              </a:rPr>
              <a:t> </a:t>
            </a:r>
            <a:r>
              <a:rPr dirty="0" sz="600" spc="5" b="1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  <a:p>
            <a:pPr algn="r" marR="5080">
              <a:lnSpc>
                <a:spcPts val="409"/>
              </a:lnSpc>
            </a:pPr>
            <a:r>
              <a:rPr dirty="0" sz="450" spc="15" b="1">
                <a:latin typeface="Times New Roman"/>
                <a:cs typeface="Times New Roman"/>
              </a:rPr>
              <a:t>3</a:t>
            </a:r>
            <a:r>
              <a:rPr dirty="0" sz="450" spc="-5" b="1">
                <a:latin typeface="Times New Roman"/>
                <a:cs typeface="Times New Roman"/>
              </a:rPr>
              <a:t> </a:t>
            </a:r>
            <a:r>
              <a:rPr dirty="0" sz="450" spc="15" b="1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140665" y="1276831"/>
            <a:ext cx="359410" cy="1568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59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Cu(NH</a:t>
            </a:r>
            <a:r>
              <a:rPr dirty="0" sz="600" spc="50" b="1">
                <a:latin typeface="Times New Roman"/>
                <a:cs typeface="Times New Roman"/>
              </a:rPr>
              <a:t> </a:t>
            </a:r>
            <a:r>
              <a:rPr dirty="0" sz="600" spc="5" b="1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  <a:p>
            <a:pPr algn="r" marR="5080">
              <a:lnSpc>
                <a:spcPts val="409"/>
              </a:lnSpc>
            </a:pPr>
            <a:r>
              <a:rPr dirty="0" sz="450" spc="15" b="1">
                <a:latin typeface="Times New Roman"/>
                <a:cs typeface="Times New Roman"/>
              </a:rPr>
              <a:t>3</a:t>
            </a:r>
            <a:r>
              <a:rPr dirty="0" sz="450" spc="-5" b="1">
                <a:latin typeface="Times New Roman"/>
                <a:cs typeface="Times New Roman"/>
              </a:rPr>
              <a:t> </a:t>
            </a:r>
            <a:r>
              <a:rPr dirty="0" sz="450" spc="15" b="1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605618" y="464144"/>
            <a:ext cx="359410" cy="1568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59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Cu(NH</a:t>
            </a:r>
            <a:r>
              <a:rPr dirty="0" sz="600" spc="50" b="1">
                <a:latin typeface="Times New Roman"/>
                <a:cs typeface="Times New Roman"/>
              </a:rPr>
              <a:t> </a:t>
            </a:r>
            <a:r>
              <a:rPr dirty="0" sz="600" spc="5" b="1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  <a:p>
            <a:pPr algn="r" marR="5080">
              <a:lnSpc>
                <a:spcPts val="409"/>
              </a:lnSpc>
            </a:pPr>
            <a:r>
              <a:rPr dirty="0" sz="450" spc="15" b="1">
                <a:latin typeface="Times New Roman"/>
                <a:cs typeface="Times New Roman"/>
              </a:rPr>
              <a:t>3</a:t>
            </a:r>
            <a:r>
              <a:rPr dirty="0" sz="450" spc="-5" b="1">
                <a:latin typeface="Times New Roman"/>
                <a:cs typeface="Times New Roman"/>
              </a:rPr>
              <a:t> </a:t>
            </a:r>
            <a:r>
              <a:rPr dirty="0" sz="450" spc="15" b="1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146312" y="1598236"/>
            <a:ext cx="32893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Cu(NH</a:t>
            </a:r>
            <a:r>
              <a:rPr dirty="0" sz="600" spc="25" b="1">
                <a:latin typeface="Times New Roman"/>
                <a:cs typeface="Times New Roman"/>
              </a:rPr>
              <a:t> </a:t>
            </a:r>
            <a:r>
              <a:rPr dirty="0" sz="600" spc="5" b="1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391953" y="1654705"/>
            <a:ext cx="113664" cy="1003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50" spc="15" b="1">
                <a:latin typeface="Times New Roman"/>
                <a:cs typeface="Times New Roman"/>
              </a:rPr>
              <a:t>3</a:t>
            </a:r>
            <a:r>
              <a:rPr dirty="0" sz="450" spc="25" b="1">
                <a:latin typeface="Times New Roman"/>
                <a:cs typeface="Times New Roman"/>
              </a:rPr>
              <a:t> </a:t>
            </a:r>
            <a:r>
              <a:rPr dirty="0" sz="450" spc="15" b="1">
                <a:latin typeface="Times New Roman"/>
                <a:cs typeface="Times New Roman"/>
              </a:rPr>
              <a:t>5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2488909" y="1006714"/>
            <a:ext cx="0" cy="242570"/>
          </a:xfrm>
          <a:custGeom>
            <a:avLst/>
            <a:gdLst/>
            <a:ahLst/>
            <a:cxnLst/>
            <a:rect l="l" t="t" r="r" b="b"/>
            <a:pathLst>
              <a:path w="0" h="242569">
                <a:moveTo>
                  <a:pt x="0" y="0"/>
                </a:moveTo>
                <a:lnTo>
                  <a:pt x="0" y="242349"/>
                </a:lnTo>
              </a:path>
            </a:pathLst>
          </a:custGeom>
          <a:ln w="112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467733" y="1229299"/>
            <a:ext cx="42545" cy="56515"/>
          </a:xfrm>
          <a:custGeom>
            <a:avLst/>
            <a:gdLst/>
            <a:ahLst/>
            <a:cxnLst/>
            <a:rect l="l" t="t" r="r" b="b"/>
            <a:pathLst>
              <a:path w="42544" h="56515">
                <a:moveTo>
                  <a:pt x="0" y="0"/>
                </a:moveTo>
                <a:lnTo>
                  <a:pt x="21175" y="56469"/>
                </a:lnTo>
                <a:lnTo>
                  <a:pt x="34940" y="19764"/>
                </a:lnTo>
                <a:lnTo>
                  <a:pt x="21175" y="19764"/>
                </a:lnTo>
                <a:lnTo>
                  <a:pt x="0" y="0"/>
                </a:lnTo>
                <a:close/>
              </a:path>
              <a:path w="42544" h="56515">
                <a:moveTo>
                  <a:pt x="42351" y="0"/>
                </a:moveTo>
                <a:lnTo>
                  <a:pt x="21175" y="19764"/>
                </a:lnTo>
                <a:lnTo>
                  <a:pt x="34940" y="19764"/>
                </a:lnTo>
                <a:lnTo>
                  <a:pt x="423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3025836" y="1390237"/>
            <a:ext cx="154940" cy="97155"/>
          </a:xfrm>
          <a:custGeom>
            <a:avLst/>
            <a:gdLst/>
            <a:ahLst/>
            <a:cxnLst/>
            <a:rect l="l" t="t" r="r" b="b"/>
            <a:pathLst>
              <a:path w="154939" h="97155">
                <a:moveTo>
                  <a:pt x="154821" y="0"/>
                </a:moveTo>
                <a:lnTo>
                  <a:pt x="0" y="96935"/>
                </a:lnTo>
              </a:path>
            </a:pathLst>
          </a:custGeom>
          <a:ln w="112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994778" y="1458469"/>
            <a:ext cx="59055" cy="48260"/>
          </a:xfrm>
          <a:custGeom>
            <a:avLst/>
            <a:gdLst/>
            <a:ahLst/>
            <a:cxnLst/>
            <a:rect l="l" t="t" r="r" b="b"/>
            <a:pathLst>
              <a:path w="59055" h="48259">
                <a:moveTo>
                  <a:pt x="36705" y="0"/>
                </a:moveTo>
                <a:lnTo>
                  <a:pt x="0" y="47998"/>
                </a:lnTo>
                <a:lnTo>
                  <a:pt x="58824" y="35761"/>
                </a:lnTo>
                <a:lnTo>
                  <a:pt x="31058" y="28703"/>
                </a:lnTo>
                <a:lnTo>
                  <a:pt x="367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3419241" y="1756344"/>
            <a:ext cx="139292" cy="197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 txBox="1"/>
          <p:nvPr/>
        </p:nvSpPr>
        <p:spPr>
          <a:xfrm>
            <a:off x="864374" y="2736215"/>
            <a:ext cx="28797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45">
                <a:solidFill>
                  <a:srgbClr val="3333B2"/>
                </a:solidFill>
                <a:latin typeface="Georgia"/>
                <a:cs typeface="Georgia"/>
              </a:rPr>
              <a:t>3:</a:t>
            </a:r>
            <a:r>
              <a:rPr dirty="0" sz="1000" spc="-3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水溶</a:t>
            </a:r>
            <a:r>
              <a:rPr dirty="0" sz="1050" spc="-10">
                <a:latin typeface="Arial Unicode MS"/>
                <a:cs typeface="Arial Unicode MS"/>
              </a:rPr>
              <a:t>液</a:t>
            </a:r>
            <a:r>
              <a:rPr dirty="0" sz="1050" spc="-5">
                <a:latin typeface="Arial Unicode MS"/>
                <a:cs typeface="Arial Unicode MS"/>
              </a:rPr>
              <a:t>中铜氨配</a:t>
            </a:r>
            <a:r>
              <a:rPr dirty="0" sz="1050" spc="-10">
                <a:latin typeface="Arial Unicode MS"/>
                <a:cs typeface="Arial Unicode MS"/>
              </a:rPr>
              <a:t>合</a:t>
            </a:r>
            <a:r>
              <a:rPr dirty="0" sz="1050" spc="-5">
                <a:latin typeface="Arial Unicode MS"/>
                <a:cs typeface="Arial Unicode MS"/>
              </a:rPr>
              <a:t>物各种</a:t>
            </a:r>
            <a:r>
              <a:rPr dirty="0" sz="1050" spc="-10">
                <a:latin typeface="Arial Unicode MS"/>
                <a:cs typeface="Arial Unicode MS"/>
              </a:rPr>
              <a:t>型</a:t>
            </a:r>
            <a:r>
              <a:rPr dirty="0" sz="1050" spc="-5">
                <a:latin typeface="Arial Unicode MS"/>
                <a:cs typeface="Arial Unicode MS"/>
              </a:rPr>
              <a:t>体分布分</a:t>
            </a:r>
            <a:r>
              <a:rPr dirty="0" sz="1050" spc="-10">
                <a:latin typeface="Arial Unicode MS"/>
                <a:cs typeface="Arial Unicode MS"/>
              </a:rPr>
              <a:t>数</a:t>
            </a:r>
            <a:r>
              <a:rPr dirty="0" sz="1050" spc="-5">
                <a:latin typeface="Arial Unicode MS"/>
                <a:cs typeface="Arial Unicode MS"/>
              </a:rPr>
              <a:t>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6" name="object 1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7" name="object 1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8" name="object 1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22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804" y="1338567"/>
            <a:ext cx="347916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铜氨配位反应能否用于铜的定量分</a:t>
            </a:r>
            <a:r>
              <a:rPr dirty="0" sz="1600" spc="85">
                <a:latin typeface="Arial Unicode MS"/>
                <a:cs typeface="Arial Unicode MS"/>
              </a:rPr>
              <a:t>析</a:t>
            </a:r>
            <a:r>
              <a:rPr dirty="0" sz="1600" spc="-10">
                <a:latin typeface="Arial Unicode MS"/>
                <a:cs typeface="Arial Unicode MS"/>
              </a:rPr>
              <a:t>？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23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9765" y="332049"/>
            <a:ext cx="2523490" cy="0"/>
          </a:xfrm>
          <a:custGeom>
            <a:avLst/>
            <a:gdLst/>
            <a:ahLst/>
            <a:cxnLst/>
            <a:rect l="l" t="t" r="r" b="b"/>
            <a:pathLst>
              <a:path w="2523490" h="0">
                <a:moveTo>
                  <a:pt x="0" y="0"/>
                </a:moveTo>
                <a:lnTo>
                  <a:pt x="25232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79765" y="2321179"/>
            <a:ext cx="2523490" cy="0"/>
          </a:xfrm>
          <a:custGeom>
            <a:avLst/>
            <a:gdLst/>
            <a:ahLst/>
            <a:cxnLst/>
            <a:rect l="l" t="t" r="r" b="b"/>
            <a:pathLst>
              <a:path w="2523490" h="0">
                <a:moveTo>
                  <a:pt x="0" y="0"/>
                </a:moveTo>
                <a:lnTo>
                  <a:pt x="25232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02999" y="332049"/>
            <a:ext cx="0" cy="1989455"/>
          </a:xfrm>
          <a:custGeom>
            <a:avLst/>
            <a:gdLst/>
            <a:ahLst/>
            <a:cxnLst/>
            <a:rect l="l" t="t" r="r" b="b"/>
            <a:pathLst>
              <a:path w="0" h="1989455">
                <a:moveTo>
                  <a:pt x="0" y="198913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79765" y="332049"/>
            <a:ext cx="0" cy="1989455"/>
          </a:xfrm>
          <a:custGeom>
            <a:avLst/>
            <a:gdLst/>
            <a:ahLst/>
            <a:cxnLst/>
            <a:rect l="l" t="t" r="r" b="b"/>
            <a:pathLst>
              <a:path w="0" h="1989455">
                <a:moveTo>
                  <a:pt x="0" y="198913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79765" y="2321179"/>
            <a:ext cx="2523490" cy="0"/>
          </a:xfrm>
          <a:custGeom>
            <a:avLst/>
            <a:gdLst/>
            <a:ahLst/>
            <a:cxnLst/>
            <a:rect l="l" t="t" r="r" b="b"/>
            <a:pathLst>
              <a:path w="2523490" h="0">
                <a:moveTo>
                  <a:pt x="0" y="0"/>
                </a:moveTo>
                <a:lnTo>
                  <a:pt x="25232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79765" y="332049"/>
            <a:ext cx="0" cy="1989455"/>
          </a:xfrm>
          <a:custGeom>
            <a:avLst/>
            <a:gdLst/>
            <a:ahLst/>
            <a:cxnLst/>
            <a:rect l="l" t="t" r="r" b="b"/>
            <a:pathLst>
              <a:path w="0" h="1989455">
                <a:moveTo>
                  <a:pt x="0" y="198913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79765" y="22957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79765" y="33204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77183" y="2318830"/>
            <a:ext cx="16002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5">
                <a:latin typeface="Arial"/>
                <a:cs typeface="Arial"/>
              </a:rPr>
              <a:t>10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99987" y="22957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99987" y="33204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19526" y="2318830"/>
            <a:ext cx="11557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10">
                <a:latin typeface="Arial"/>
                <a:cs typeface="Arial"/>
              </a:rPr>
              <a:t>8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20683" y="22957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020683" y="33204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40222" y="2318830"/>
            <a:ext cx="11557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10"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41379" y="22957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41379" y="33204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61607" y="22957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61607" y="33204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781144" y="2318830"/>
            <a:ext cx="11557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75">
                <a:latin typeface="Arial Narrow"/>
                <a:cs typeface="Arial Narrow"/>
              </a:rPr>
              <a:t>−</a:t>
            </a:r>
            <a:r>
              <a:rPr dirty="0" sz="600" spc="10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82303" y="22957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82303" y="33204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247956" y="2318830"/>
            <a:ext cx="6985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702999" y="22957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41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02999" y="33204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493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668653" y="2318830"/>
            <a:ext cx="6985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79765" y="232117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677588" y="232117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06829" y="2258596"/>
            <a:ext cx="6985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79765" y="212212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77588" y="212212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040949" y="2059542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0.1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79765" y="1923071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77588" y="192307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040949" y="1860488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0.2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79765" y="172401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77588" y="172401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79765" y="1525431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77588" y="152543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79765" y="132637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77588" y="132637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79765" y="112732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77588" y="112732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040949" y="1064741"/>
            <a:ext cx="135890" cy="717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0.6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600" spc="5">
                <a:latin typeface="Arial"/>
                <a:cs typeface="Arial"/>
              </a:rPr>
              <a:t>0.5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0.4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0.3</a:t>
            </a:r>
            <a:endParaRPr sz="6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79765" y="92873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77588" y="92873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040949" y="866158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0.7</a:t>
            </a:r>
            <a:endParaRPr sz="6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79765" y="72968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77588" y="72968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040949" y="667104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0.8</a:t>
            </a:r>
            <a:endParaRPr sz="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79765" y="53062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77588" y="53062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040949" y="468049"/>
            <a:ext cx="13589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Arial"/>
                <a:cs typeface="Arial"/>
              </a:rPr>
              <a:t>0.9</a:t>
            </a:r>
            <a:endParaRPr sz="6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179765" y="33204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4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677588" y="33204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1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1106829" y="269466"/>
            <a:ext cx="6985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79765" y="332049"/>
            <a:ext cx="2523490" cy="0"/>
          </a:xfrm>
          <a:custGeom>
            <a:avLst/>
            <a:gdLst/>
            <a:ahLst/>
            <a:cxnLst/>
            <a:rect l="l" t="t" r="r" b="b"/>
            <a:pathLst>
              <a:path w="2523490" h="0">
                <a:moveTo>
                  <a:pt x="0" y="0"/>
                </a:moveTo>
                <a:lnTo>
                  <a:pt x="25232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79765" y="2321179"/>
            <a:ext cx="2523490" cy="0"/>
          </a:xfrm>
          <a:custGeom>
            <a:avLst/>
            <a:gdLst/>
            <a:ahLst/>
            <a:cxnLst/>
            <a:rect l="l" t="t" r="r" b="b"/>
            <a:pathLst>
              <a:path w="2523490" h="0">
                <a:moveTo>
                  <a:pt x="0" y="0"/>
                </a:moveTo>
                <a:lnTo>
                  <a:pt x="25232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702999" y="332049"/>
            <a:ext cx="0" cy="1989455"/>
          </a:xfrm>
          <a:custGeom>
            <a:avLst/>
            <a:gdLst/>
            <a:ahLst/>
            <a:cxnLst/>
            <a:rect l="l" t="t" r="r" b="b"/>
            <a:pathLst>
              <a:path w="0" h="1989455">
                <a:moveTo>
                  <a:pt x="0" y="198913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79765" y="332049"/>
            <a:ext cx="0" cy="1989455"/>
          </a:xfrm>
          <a:custGeom>
            <a:avLst/>
            <a:gdLst/>
            <a:ahLst/>
            <a:cxnLst/>
            <a:rect l="l" t="t" r="r" b="b"/>
            <a:pathLst>
              <a:path w="0" h="1989455">
                <a:moveTo>
                  <a:pt x="0" y="198913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488885" y="2315532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5" h="11430">
                <a:moveTo>
                  <a:pt x="0" y="11293"/>
                </a:moveTo>
                <a:lnTo>
                  <a:pt x="219761" y="11293"/>
                </a:lnTo>
                <a:lnTo>
                  <a:pt x="219761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280891" y="2315058"/>
            <a:ext cx="219710" cy="12065"/>
          </a:xfrm>
          <a:custGeom>
            <a:avLst/>
            <a:gdLst/>
            <a:ahLst/>
            <a:cxnLst/>
            <a:rect l="l" t="t" r="r" b="b"/>
            <a:pathLst>
              <a:path w="219710" h="12064">
                <a:moveTo>
                  <a:pt x="0" y="11786"/>
                </a:moveTo>
                <a:lnTo>
                  <a:pt x="219287" y="11786"/>
                </a:lnTo>
                <a:lnTo>
                  <a:pt x="219287" y="0"/>
                </a:lnTo>
                <a:lnTo>
                  <a:pt x="0" y="0"/>
                </a:lnTo>
                <a:lnTo>
                  <a:pt x="0" y="1178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072424" y="2315058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5" h="11430">
                <a:moveTo>
                  <a:pt x="0" y="11293"/>
                </a:moveTo>
                <a:lnTo>
                  <a:pt x="219761" y="11293"/>
                </a:lnTo>
                <a:lnTo>
                  <a:pt x="219761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864430" y="2315058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10" h="11430">
                <a:moveTo>
                  <a:pt x="0" y="11293"/>
                </a:moveTo>
                <a:lnTo>
                  <a:pt x="219287" y="11293"/>
                </a:lnTo>
                <a:lnTo>
                  <a:pt x="2192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56437" y="2315058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10" h="11430">
                <a:moveTo>
                  <a:pt x="0" y="11293"/>
                </a:moveTo>
                <a:lnTo>
                  <a:pt x="219287" y="11293"/>
                </a:lnTo>
                <a:lnTo>
                  <a:pt x="2192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447969" y="2315058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4" h="11430">
                <a:moveTo>
                  <a:pt x="0" y="11293"/>
                </a:moveTo>
                <a:lnTo>
                  <a:pt x="219761" y="11293"/>
                </a:lnTo>
                <a:lnTo>
                  <a:pt x="219761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239976" y="2314589"/>
            <a:ext cx="219710" cy="12065"/>
          </a:xfrm>
          <a:custGeom>
            <a:avLst/>
            <a:gdLst/>
            <a:ahLst/>
            <a:cxnLst/>
            <a:rect l="l" t="t" r="r" b="b"/>
            <a:pathLst>
              <a:path w="219710" h="12064">
                <a:moveTo>
                  <a:pt x="0" y="11797"/>
                </a:moveTo>
                <a:lnTo>
                  <a:pt x="219287" y="11797"/>
                </a:lnTo>
                <a:lnTo>
                  <a:pt x="219287" y="0"/>
                </a:lnTo>
                <a:lnTo>
                  <a:pt x="0" y="0"/>
                </a:lnTo>
                <a:lnTo>
                  <a:pt x="0" y="1179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037624" y="2258120"/>
            <a:ext cx="208279" cy="62230"/>
          </a:xfrm>
          <a:custGeom>
            <a:avLst/>
            <a:gdLst/>
            <a:ahLst/>
            <a:cxnLst/>
            <a:rect l="l" t="t" r="r" b="b"/>
            <a:pathLst>
              <a:path w="208280" h="62230">
                <a:moveTo>
                  <a:pt x="0" y="0"/>
                </a:moveTo>
                <a:lnTo>
                  <a:pt x="34044" y="30476"/>
                </a:lnTo>
                <a:lnTo>
                  <a:pt x="74003" y="48320"/>
                </a:lnTo>
                <a:lnTo>
                  <a:pt x="117740" y="57137"/>
                </a:lnTo>
                <a:lnTo>
                  <a:pt x="163117" y="60533"/>
                </a:lnTo>
                <a:lnTo>
                  <a:pt x="207998" y="62116"/>
                </a:lnTo>
              </a:path>
            </a:pathLst>
          </a:custGeom>
          <a:ln w="1129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829162" y="1288729"/>
            <a:ext cx="208915" cy="969644"/>
          </a:xfrm>
          <a:custGeom>
            <a:avLst/>
            <a:gdLst/>
            <a:ahLst/>
            <a:cxnLst/>
            <a:rect l="l" t="t" r="r" b="b"/>
            <a:pathLst>
              <a:path w="208914" h="969644">
                <a:moveTo>
                  <a:pt x="0" y="0"/>
                </a:moveTo>
                <a:lnTo>
                  <a:pt x="7521" y="51494"/>
                </a:lnTo>
                <a:lnTo>
                  <a:pt x="14888" y="103057"/>
                </a:lnTo>
                <a:lnTo>
                  <a:pt x="22161" y="154673"/>
                </a:lnTo>
                <a:lnTo>
                  <a:pt x="29400" y="206321"/>
                </a:lnTo>
                <a:lnTo>
                  <a:pt x="36667" y="257984"/>
                </a:lnTo>
                <a:lnTo>
                  <a:pt x="44021" y="309644"/>
                </a:lnTo>
                <a:lnTo>
                  <a:pt x="51524" y="361283"/>
                </a:lnTo>
                <a:lnTo>
                  <a:pt x="59236" y="412881"/>
                </a:lnTo>
                <a:lnTo>
                  <a:pt x="67217" y="464421"/>
                </a:lnTo>
                <a:lnTo>
                  <a:pt x="75530" y="515885"/>
                </a:lnTo>
                <a:lnTo>
                  <a:pt x="84233" y="567254"/>
                </a:lnTo>
                <a:lnTo>
                  <a:pt x="93388" y="618510"/>
                </a:lnTo>
                <a:lnTo>
                  <a:pt x="103056" y="669635"/>
                </a:lnTo>
                <a:lnTo>
                  <a:pt x="113866" y="720480"/>
                </a:lnTo>
                <a:lnTo>
                  <a:pt x="125754" y="771102"/>
                </a:lnTo>
                <a:lnTo>
                  <a:pt x="139469" y="821224"/>
                </a:lnTo>
                <a:lnTo>
                  <a:pt x="155759" y="870569"/>
                </a:lnTo>
                <a:lnTo>
                  <a:pt x="177943" y="922286"/>
                </a:lnTo>
                <a:lnTo>
                  <a:pt x="192020" y="946993"/>
                </a:lnTo>
                <a:lnTo>
                  <a:pt x="208461" y="969391"/>
                </a:lnTo>
              </a:path>
            </a:pathLst>
          </a:custGeom>
          <a:ln w="1129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621163" y="465220"/>
            <a:ext cx="208279" cy="823594"/>
          </a:xfrm>
          <a:custGeom>
            <a:avLst/>
            <a:gdLst/>
            <a:ahLst/>
            <a:cxnLst/>
            <a:rect l="l" t="t" r="r" b="b"/>
            <a:pathLst>
              <a:path w="208280" h="823594">
                <a:moveTo>
                  <a:pt x="0" y="0"/>
                </a:moveTo>
                <a:lnTo>
                  <a:pt x="27983" y="45736"/>
                </a:lnTo>
                <a:lnTo>
                  <a:pt x="51529" y="95083"/>
                </a:lnTo>
                <a:lnTo>
                  <a:pt x="71388" y="146597"/>
                </a:lnTo>
                <a:lnTo>
                  <a:pt x="88313" y="198832"/>
                </a:lnTo>
                <a:lnTo>
                  <a:pt x="103056" y="250345"/>
                </a:lnTo>
                <a:lnTo>
                  <a:pt x="115817" y="301544"/>
                </a:lnTo>
                <a:lnTo>
                  <a:pt x="127659" y="353089"/>
                </a:lnTo>
                <a:lnTo>
                  <a:pt x="138672" y="404925"/>
                </a:lnTo>
                <a:lnTo>
                  <a:pt x="148949" y="456997"/>
                </a:lnTo>
                <a:lnTo>
                  <a:pt x="158581" y="509250"/>
                </a:lnTo>
                <a:lnTo>
                  <a:pt x="167661" y="561629"/>
                </a:lnTo>
                <a:lnTo>
                  <a:pt x="176281" y="614080"/>
                </a:lnTo>
                <a:lnTo>
                  <a:pt x="184533" y="666549"/>
                </a:lnTo>
                <a:lnTo>
                  <a:pt x="192508" y="718979"/>
                </a:lnTo>
                <a:lnTo>
                  <a:pt x="200300" y="771317"/>
                </a:lnTo>
                <a:lnTo>
                  <a:pt x="207998" y="823508"/>
                </a:lnTo>
              </a:path>
            </a:pathLst>
          </a:custGeom>
          <a:ln w="1129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174118" y="326758"/>
            <a:ext cx="452691" cy="1441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488885" y="2315058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5" h="11430">
                <a:moveTo>
                  <a:pt x="0" y="11293"/>
                </a:moveTo>
                <a:lnTo>
                  <a:pt x="219761" y="11293"/>
                </a:lnTo>
                <a:lnTo>
                  <a:pt x="219761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280891" y="2315058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10" h="11430">
                <a:moveTo>
                  <a:pt x="0" y="11293"/>
                </a:moveTo>
                <a:lnTo>
                  <a:pt x="219287" y="11293"/>
                </a:lnTo>
                <a:lnTo>
                  <a:pt x="2192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072424" y="2315058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5" h="11430">
                <a:moveTo>
                  <a:pt x="0" y="11293"/>
                </a:moveTo>
                <a:lnTo>
                  <a:pt x="219761" y="11293"/>
                </a:lnTo>
                <a:lnTo>
                  <a:pt x="219761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864430" y="2315058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10" h="11430">
                <a:moveTo>
                  <a:pt x="0" y="11293"/>
                </a:moveTo>
                <a:lnTo>
                  <a:pt x="219287" y="11293"/>
                </a:lnTo>
                <a:lnTo>
                  <a:pt x="2192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656437" y="2314589"/>
            <a:ext cx="219710" cy="12065"/>
          </a:xfrm>
          <a:custGeom>
            <a:avLst/>
            <a:gdLst/>
            <a:ahLst/>
            <a:cxnLst/>
            <a:rect l="l" t="t" r="r" b="b"/>
            <a:pathLst>
              <a:path w="219710" h="12064">
                <a:moveTo>
                  <a:pt x="0" y="11807"/>
                </a:moveTo>
                <a:lnTo>
                  <a:pt x="219287" y="11807"/>
                </a:lnTo>
                <a:lnTo>
                  <a:pt x="219287" y="0"/>
                </a:lnTo>
                <a:lnTo>
                  <a:pt x="0" y="0"/>
                </a:lnTo>
                <a:lnTo>
                  <a:pt x="0" y="11807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453616" y="2315058"/>
            <a:ext cx="208915" cy="5715"/>
          </a:xfrm>
          <a:custGeom>
            <a:avLst/>
            <a:gdLst/>
            <a:ahLst/>
            <a:cxnLst/>
            <a:rect l="l" t="t" r="r" b="b"/>
            <a:pathLst>
              <a:path w="208914" h="5714">
                <a:moveTo>
                  <a:pt x="0" y="0"/>
                </a:moveTo>
                <a:lnTo>
                  <a:pt x="51868" y="2614"/>
                </a:lnTo>
                <a:lnTo>
                  <a:pt x="104062" y="4105"/>
                </a:lnTo>
                <a:lnTo>
                  <a:pt x="156341" y="4837"/>
                </a:lnTo>
                <a:lnTo>
                  <a:pt x="208467" y="5178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245623" y="2266590"/>
            <a:ext cx="208279" cy="48895"/>
          </a:xfrm>
          <a:custGeom>
            <a:avLst/>
            <a:gdLst/>
            <a:ahLst/>
            <a:cxnLst/>
            <a:rect l="l" t="t" r="r" b="b"/>
            <a:pathLst>
              <a:path w="208280" h="48894">
                <a:moveTo>
                  <a:pt x="0" y="0"/>
                </a:moveTo>
                <a:lnTo>
                  <a:pt x="48795" y="22035"/>
                </a:lnTo>
                <a:lnTo>
                  <a:pt x="100955" y="36016"/>
                </a:lnTo>
                <a:lnTo>
                  <a:pt x="154636" y="44105"/>
                </a:lnTo>
                <a:lnTo>
                  <a:pt x="207993" y="48467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037624" y="1905187"/>
            <a:ext cx="208279" cy="361950"/>
          </a:xfrm>
          <a:custGeom>
            <a:avLst/>
            <a:gdLst/>
            <a:ahLst/>
            <a:cxnLst/>
            <a:rect l="l" t="t" r="r" b="b"/>
            <a:pathLst>
              <a:path w="208280" h="361950">
                <a:moveTo>
                  <a:pt x="0" y="0"/>
                </a:moveTo>
                <a:lnTo>
                  <a:pt x="16087" y="51623"/>
                </a:lnTo>
                <a:lnTo>
                  <a:pt x="33915" y="104090"/>
                </a:lnTo>
                <a:lnTo>
                  <a:pt x="54004" y="156110"/>
                </a:lnTo>
                <a:lnTo>
                  <a:pt x="76877" y="206391"/>
                </a:lnTo>
                <a:lnTo>
                  <a:pt x="103056" y="253643"/>
                </a:lnTo>
                <a:lnTo>
                  <a:pt x="148749" y="314189"/>
                </a:lnTo>
                <a:lnTo>
                  <a:pt x="176579" y="339786"/>
                </a:lnTo>
                <a:lnTo>
                  <a:pt x="207998" y="361403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829162" y="1520395"/>
            <a:ext cx="208915" cy="384810"/>
          </a:xfrm>
          <a:custGeom>
            <a:avLst/>
            <a:gdLst/>
            <a:ahLst/>
            <a:cxnLst/>
            <a:rect l="l" t="t" r="r" b="b"/>
            <a:pathLst>
              <a:path w="208914" h="384810">
                <a:moveTo>
                  <a:pt x="0" y="102914"/>
                </a:moveTo>
                <a:lnTo>
                  <a:pt x="10792" y="73316"/>
                </a:lnTo>
                <a:lnTo>
                  <a:pt x="24255" y="41022"/>
                </a:lnTo>
                <a:lnTo>
                  <a:pt x="40300" y="13946"/>
                </a:lnTo>
                <a:lnTo>
                  <a:pt x="58841" y="0"/>
                </a:lnTo>
                <a:lnTo>
                  <a:pt x="79789" y="7097"/>
                </a:lnTo>
                <a:lnTo>
                  <a:pt x="103056" y="43152"/>
                </a:lnTo>
                <a:lnTo>
                  <a:pt x="118590" y="80923"/>
                </a:lnTo>
                <a:lnTo>
                  <a:pt x="132131" y="120472"/>
                </a:lnTo>
                <a:lnTo>
                  <a:pt x="144309" y="160537"/>
                </a:lnTo>
                <a:lnTo>
                  <a:pt x="155759" y="199855"/>
                </a:lnTo>
                <a:lnTo>
                  <a:pt x="168793" y="246137"/>
                </a:lnTo>
                <a:lnTo>
                  <a:pt x="181636" y="292467"/>
                </a:lnTo>
                <a:lnTo>
                  <a:pt x="194716" y="338725"/>
                </a:lnTo>
                <a:lnTo>
                  <a:pt x="208461" y="384791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621163" y="1623309"/>
            <a:ext cx="208279" cy="569595"/>
          </a:xfrm>
          <a:custGeom>
            <a:avLst/>
            <a:gdLst/>
            <a:ahLst/>
            <a:cxnLst/>
            <a:rect l="l" t="t" r="r" b="b"/>
            <a:pathLst>
              <a:path w="208280" h="569594">
                <a:moveTo>
                  <a:pt x="0" y="569402"/>
                </a:moveTo>
                <a:lnTo>
                  <a:pt x="26464" y="529833"/>
                </a:lnTo>
                <a:lnTo>
                  <a:pt x="49380" y="487710"/>
                </a:lnTo>
                <a:lnTo>
                  <a:pt x="69369" y="443867"/>
                </a:lnTo>
                <a:lnTo>
                  <a:pt x="87054" y="399134"/>
                </a:lnTo>
                <a:lnTo>
                  <a:pt x="103056" y="354344"/>
                </a:lnTo>
                <a:lnTo>
                  <a:pt x="119317" y="304072"/>
                </a:lnTo>
                <a:lnTo>
                  <a:pt x="134488" y="253483"/>
                </a:lnTo>
                <a:lnTo>
                  <a:pt x="148967" y="202698"/>
                </a:lnTo>
                <a:lnTo>
                  <a:pt x="163157" y="151837"/>
                </a:lnTo>
                <a:lnTo>
                  <a:pt x="177459" y="101020"/>
                </a:lnTo>
                <a:lnTo>
                  <a:pt x="192272" y="50368"/>
                </a:lnTo>
                <a:lnTo>
                  <a:pt x="207998" y="0"/>
                </a:lnTo>
              </a:path>
            </a:pathLst>
          </a:custGeom>
          <a:ln w="1129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174118" y="2187059"/>
            <a:ext cx="452691" cy="1389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488885" y="2315058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5" h="11430">
                <a:moveTo>
                  <a:pt x="0" y="11293"/>
                </a:moveTo>
                <a:lnTo>
                  <a:pt x="219761" y="11293"/>
                </a:lnTo>
                <a:lnTo>
                  <a:pt x="219761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286538" y="2297649"/>
            <a:ext cx="208279" cy="23495"/>
          </a:xfrm>
          <a:custGeom>
            <a:avLst/>
            <a:gdLst/>
            <a:ahLst/>
            <a:cxnLst/>
            <a:rect l="l" t="t" r="r" b="b"/>
            <a:pathLst>
              <a:path w="208279" h="23494">
                <a:moveTo>
                  <a:pt x="0" y="0"/>
                </a:moveTo>
                <a:lnTo>
                  <a:pt x="50433" y="15296"/>
                </a:lnTo>
                <a:lnTo>
                  <a:pt x="103056" y="20707"/>
                </a:lnTo>
                <a:lnTo>
                  <a:pt x="155448" y="22462"/>
                </a:lnTo>
                <a:lnTo>
                  <a:pt x="181710" y="22843"/>
                </a:lnTo>
                <a:lnTo>
                  <a:pt x="207993" y="23056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078070" y="1547550"/>
            <a:ext cx="208915" cy="750570"/>
          </a:xfrm>
          <a:custGeom>
            <a:avLst/>
            <a:gdLst/>
            <a:ahLst/>
            <a:cxnLst/>
            <a:rect l="l" t="t" r="r" b="b"/>
            <a:pathLst>
              <a:path w="208914" h="750569">
                <a:moveTo>
                  <a:pt x="0" y="0"/>
                </a:moveTo>
                <a:lnTo>
                  <a:pt x="6719" y="49017"/>
                </a:lnTo>
                <a:lnTo>
                  <a:pt x="13300" y="98554"/>
                </a:lnTo>
                <a:lnTo>
                  <a:pt x="19887" y="148481"/>
                </a:lnTo>
                <a:lnTo>
                  <a:pt x="26622" y="198672"/>
                </a:lnTo>
                <a:lnTo>
                  <a:pt x="33650" y="248998"/>
                </a:lnTo>
                <a:lnTo>
                  <a:pt x="41113" y="299331"/>
                </a:lnTo>
                <a:lnTo>
                  <a:pt x="49155" y="349545"/>
                </a:lnTo>
                <a:lnTo>
                  <a:pt x="57919" y="399510"/>
                </a:lnTo>
                <a:lnTo>
                  <a:pt x="67547" y="449100"/>
                </a:lnTo>
                <a:lnTo>
                  <a:pt x="78184" y="498187"/>
                </a:lnTo>
                <a:lnTo>
                  <a:pt x="89973" y="546642"/>
                </a:lnTo>
                <a:lnTo>
                  <a:pt x="103056" y="594339"/>
                </a:lnTo>
                <a:lnTo>
                  <a:pt x="119283" y="639004"/>
                </a:lnTo>
                <a:lnTo>
                  <a:pt x="140720" y="683672"/>
                </a:lnTo>
                <a:lnTo>
                  <a:pt x="169678" y="722614"/>
                </a:lnTo>
                <a:lnTo>
                  <a:pt x="208467" y="750098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870077" y="489689"/>
            <a:ext cx="208279" cy="1057910"/>
          </a:xfrm>
          <a:custGeom>
            <a:avLst/>
            <a:gdLst/>
            <a:ahLst/>
            <a:cxnLst/>
            <a:rect l="l" t="t" r="r" b="b"/>
            <a:pathLst>
              <a:path w="208280" h="1057910">
                <a:moveTo>
                  <a:pt x="0" y="0"/>
                </a:moveTo>
                <a:lnTo>
                  <a:pt x="21544" y="42705"/>
                </a:lnTo>
                <a:lnTo>
                  <a:pt x="40153" y="87896"/>
                </a:lnTo>
                <a:lnTo>
                  <a:pt x="56225" y="134845"/>
                </a:lnTo>
                <a:lnTo>
                  <a:pt x="70155" y="182822"/>
                </a:lnTo>
                <a:lnTo>
                  <a:pt x="82339" y="231100"/>
                </a:lnTo>
                <a:lnTo>
                  <a:pt x="93174" y="278949"/>
                </a:lnTo>
                <a:lnTo>
                  <a:pt x="103056" y="325641"/>
                </a:lnTo>
                <a:lnTo>
                  <a:pt x="112139" y="373977"/>
                </a:lnTo>
                <a:lnTo>
                  <a:pt x="120743" y="422452"/>
                </a:lnTo>
                <a:lnTo>
                  <a:pt x="128909" y="471049"/>
                </a:lnTo>
                <a:lnTo>
                  <a:pt x="136679" y="519752"/>
                </a:lnTo>
                <a:lnTo>
                  <a:pt x="144096" y="568544"/>
                </a:lnTo>
                <a:lnTo>
                  <a:pt x="151200" y="617411"/>
                </a:lnTo>
                <a:lnTo>
                  <a:pt x="158034" y="666334"/>
                </a:lnTo>
                <a:lnTo>
                  <a:pt x="164639" y="715300"/>
                </a:lnTo>
                <a:lnTo>
                  <a:pt x="171058" y="764290"/>
                </a:lnTo>
                <a:lnTo>
                  <a:pt x="177332" y="813290"/>
                </a:lnTo>
                <a:lnTo>
                  <a:pt x="183503" y="862283"/>
                </a:lnTo>
                <a:lnTo>
                  <a:pt x="189613" y="911252"/>
                </a:lnTo>
                <a:lnTo>
                  <a:pt x="195703" y="960183"/>
                </a:lnTo>
                <a:lnTo>
                  <a:pt x="201816" y="1009058"/>
                </a:lnTo>
                <a:lnTo>
                  <a:pt x="207993" y="1057861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662084" y="348047"/>
            <a:ext cx="208279" cy="142240"/>
          </a:xfrm>
          <a:custGeom>
            <a:avLst/>
            <a:gdLst/>
            <a:ahLst/>
            <a:cxnLst/>
            <a:rect l="l" t="t" r="r" b="b"/>
            <a:pathLst>
              <a:path w="208280" h="142240">
                <a:moveTo>
                  <a:pt x="0" y="0"/>
                </a:moveTo>
                <a:lnTo>
                  <a:pt x="53867" y="12801"/>
                </a:lnTo>
                <a:lnTo>
                  <a:pt x="100539" y="32016"/>
                </a:lnTo>
                <a:lnTo>
                  <a:pt x="141077" y="58994"/>
                </a:lnTo>
                <a:lnTo>
                  <a:pt x="176541" y="95085"/>
                </a:lnTo>
                <a:lnTo>
                  <a:pt x="207993" y="141641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453616" y="337900"/>
            <a:ext cx="208915" cy="10160"/>
          </a:xfrm>
          <a:custGeom>
            <a:avLst/>
            <a:gdLst/>
            <a:ahLst/>
            <a:cxnLst/>
            <a:rect l="l" t="t" r="r" b="b"/>
            <a:pathLst>
              <a:path w="208914" h="10160">
                <a:moveTo>
                  <a:pt x="0" y="1207"/>
                </a:moveTo>
                <a:lnTo>
                  <a:pt x="52298" y="0"/>
                </a:lnTo>
                <a:lnTo>
                  <a:pt x="104610" y="773"/>
                </a:lnTo>
                <a:lnTo>
                  <a:pt x="156734" y="3998"/>
                </a:lnTo>
                <a:lnTo>
                  <a:pt x="208467" y="10147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245623" y="339102"/>
            <a:ext cx="208279" cy="48260"/>
          </a:xfrm>
          <a:custGeom>
            <a:avLst/>
            <a:gdLst/>
            <a:ahLst/>
            <a:cxnLst/>
            <a:rect l="l" t="t" r="r" b="b"/>
            <a:pathLst>
              <a:path w="208280" h="48260">
                <a:moveTo>
                  <a:pt x="0" y="48004"/>
                </a:moveTo>
                <a:lnTo>
                  <a:pt x="48816" y="25639"/>
                </a:lnTo>
                <a:lnTo>
                  <a:pt x="100875" y="11686"/>
                </a:lnTo>
                <a:lnTo>
                  <a:pt x="154495" y="3890"/>
                </a:lnTo>
                <a:lnTo>
                  <a:pt x="207993" y="0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037624" y="387106"/>
            <a:ext cx="208279" cy="423545"/>
          </a:xfrm>
          <a:custGeom>
            <a:avLst/>
            <a:gdLst/>
            <a:ahLst/>
            <a:cxnLst/>
            <a:rect l="l" t="t" r="r" b="b"/>
            <a:pathLst>
              <a:path w="208280" h="423545">
                <a:moveTo>
                  <a:pt x="0" y="423519"/>
                </a:moveTo>
                <a:lnTo>
                  <a:pt x="12010" y="371831"/>
                </a:lnTo>
                <a:lnTo>
                  <a:pt x="25516" y="318757"/>
                </a:lnTo>
                <a:lnTo>
                  <a:pt x="40944" y="265408"/>
                </a:lnTo>
                <a:lnTo>
                  <a:pt x="58724" y="212895"/>
                </a:lnTo>
                <a:lnTo>
                  <a:pt x="79285" y="162328"/>
                </a:lnTo>
                <a:lnTo>
                  <a:pt x="103056" y="114818"/>
                </a:lnTo>
                <a:lnTo>
                  <a:pt x="123597" y="81286"/>
                </a:lnTo>
                <a:lnTo>
                  <a:pt x="147950" y="50364"/>
                </a:lnTo>
                <a:lnTo>
                  <a:pt x="176092" y="22964"/>
                </a:lnTo>
                <a:lnTo>
                  <a:pt x="207998" y="0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829162" y="810626"/>
            <a:ext cx="208915" cy="1251585"/>
          </a:xfrm>
          <a:custGeom>
            <a:avLst/>
            <a:gdLst/>
            <a:ahLst/>
            <a:cxnLst/>
            <a:rect l="l" t="t" r="r" b="b"/>
            <a:pathLst>
              <a:path w="208914" h="1251585">
                <a:moveTo>
                  <a:pt x="0" y="1251263"/>
                </a:moveTo>
                <a:lnTo>
                  <a:pt x="11612" y="1201361"/>
                </a:lnTo>
                <a:lnTo>
                  <a:pt x="22354" y="1151088"/>
                </a:lnTo>
                <a:lnTo>
                  <a:pt x="32321" y="1100503"/>
                </a:lnTo>
                <a:lnTo>
                  <a:pt x="41609" y="1049664"/>
                </a:lnTo>
                <a:lnTo>
                  <a:pt x="50316" y="998631"/>
                </a:lnTo>
                <a:lnTo>
                  <a:pt x="58537" y="947462"/>
                </a:lnTo>
                <a:lnTo>
                  <a:pt x="66368" y="896218"/>
                </a:lnTo>
                <a:lnTo>
                  <a:pt x="73907" y="844957"/>
                </a:lnTo>
                <a:lnTo>
                  <a:pt x="81249" y="793738"/>
                </a:lnTo>
                <a:lnTo>
                  <a:pt x="88490" y="742620"/>
                </a:lnTo>
                <a:lnTo>
                  <a:pt x="95727" y="691663"/>
                </a:lnTo>
                <a:lnTo>
                  <a:pt x="103056" y="640926"/>
                </a:lnTo>
                <a:lnTo>
                  <a:pt x="110150" y="591607"/>
                </a:lnTo>
                <a:lnTo>
                  <a:pt x="117201" y="542197"/>
                </a:lnTo>
                <a:lnTo>
                  <a:pt x="124267" y="492722"/>
                </a:lnTo>
                <a:lnTo>
                  <a:pt x="131406" y="443207"/>
                </a:lnTo>
                <a:lnTo>
                  <a:pt x="138675" y="393679"/>
                </a:lnTo>
                <a:lnTo>
                  <a:pt x="146133" y="344161"/>
                </a:lnTo>
                <a:lnTo>
                  <a:pt x="153836" y="294680"/>
                </a:lnTo>
                <a:lnTo>
                  <a:pt x="161844" y="245262"/>
                </a:lnTo>
                <a:lnTo>
                  <a:pt x="170213" y="195932"/>
                </a:lnTo>
                <a:lnTo>
                  <a:pt x="179001" y="146715"/>
                </a:lnTo>
                <a:lnTo>
                  <a:pt x="188267" y="97637"/>
                </a:lnTo>
                <a:lnTo>
                  <a:pt x="198068" y="48723"/>
                </a:lnTo>
                <a:lnTo>
                  <a:pt x="208461" y="0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621163" y="2061889"/>
            <a:ext cx="208279" cy="254635"/>
          </a:xfrm>
          <a:custGeom>
            <a:avLst/>
            <a:gdLst/>
            <a:ahLst/>
            <a:cxnLst/>
            <a:rect l="l" t="t" r="r" b="b"/>
            <a:pathLst>
              <a:path w="208280" h="254635">
                <a:moveTo>
                  <a:pt x="0" y="254111"/>
                </a:moveTo>
                <a:lnTo>
                  <a:pt x="54183" y="243923"/>
                </a:lnTo>
                <a:lnTo>
                  <a:pt x="103056" y="218818"/>
                </a:lnTo>
                <a:lnTo>
                  <a:pt x="134940" y="184612"/>
                </a:lnTo>
                <a:lnTo>
                  <a:pt x="160271" y="141436"/>
                </a:lnTo>
                <a:lnTo>
                  <a:pt x="180155" y="93482"/>
                </a:lnTo>
                <a:lnTo>
                  <a:pt x="195696" y="44940"/>
                </a:lnTo>
                <a:lnTo>
                  <a:pt x="207998" y="0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412701" y="2316001"/>
            <a:ext cx="208915" cy="5080"/>
          </a:xfrm>
          <a:custGeom>
            <a:avLst/>
            <a:gdLst/>
            <a:ahLst/>
            <a:cxnLst/>
            <a:rect l="l" t="t" r="r" b="b"/>
            <a:pathLst>
              <a:path w="208915" h="5080">
                <a:moveTo>
                  <a:pt x="0" y="4703"/>
                </a:moveTo>
                <a:lnTo>
                  <a:pt x="52084" y="4674"/>
                </a:lnTo>
                <a:lnTo>
                  <a:pt x="104544" y="4522"/>
                </a:lnTo>
                <a:lnTo>
                  <a:pt x="156847" y="3284"/>
                </a:lnTo>
                <a:lnTo>
                  <a:pt x="208461" y="0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199055" y="2315058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09" h="11430">
                <a:moveTo>
                  <a:pt x="0" y="11293"/>
                </a:moveTo>
                <a:lnTo>
                  <a:pt x="219292" y="11293"/>
                </a:lnTo>
                <a:lnTo>
                  <a:pt x="219292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179765" y="232070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8312" y="0"/>
                </a:lnTo>
                <a:lnTo>
                  <a:pt x="16624" y="0"/>
                </a:lnTo>
                <a:lnTo>
                  <a:pt x="24936" y="0"/>
                </a:lnTo>
              </a:path>
            </a:pathLst>
          </a:custGeom>
          <a:ln w="1129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280891" y="2143770"/>
            <a:ext cx="427754" cy="1807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078070" y="1734367"/>
            <a:ext cx="208915" cy="415290"/>
          </a:xfrm>
          <a:custGeom>
            <a:avLst/>
            <a:gdLst/>
            <a:ahLst/>
            <a:cxnLst/>
            <a:rect l="l" t="t" r="r" b="b"/>
            <a:pathLst>
              <a:path w="208914" h="415289">
                <a:moveTo>
                  <a:pt x="0" y="0"/>
                </a:moveTo>
                <a:lnTo>
                  <a:pt x="52545" y="40615"/>
                </a:lnTo>
                <a:lnTo>
                  <a:pt x="74966" y="90149"/>
                </a:lnTo>
                <a:lnTo>
                  <a:pt x="92406" y="137544"/>
                </a:lnTo>
                <a:lnTo>
                  <a:pt x="121348" y="217156"/>
                </a:lnTo>
                <a:lnTo>
                  <a:pt x="140148" y="268096"/>
                </a:lnTo>
                <a:lnTo>
                  <a:pt x="160344" y="318598"/>
                </a:lnTo>
                <a:lnTo>
                  <a:pt x="182821" y="367852"/>
                </a:lnTo>
                <a:lnTo>
                  <a:pt x="208467" y="415049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870077" y="1734367"/>
            <a:ext cx="208279" cy="444500"/>
          </a:xfrm>
          <a:custGeom>
            <a:avLst/>
            <a:gdLst/>
            <a:ahLst/>
            <a:cxnLst/>
            <a:rect l="l" t="t" r="r" b="b"/>
            <a:pathLst>
              <a:path w="208280" h="444500">
                <a:moveTo>
                  <a:pt x="0" y="444226"/>
                </a:moveTo>
                <a:lnTo>
                  <a:pt x="25597" y="403655"/>
                </a:lnTo>
                <a:lnTo>
                  <a:pt x="48099" y="360503"/>
                </a:lnTo>
                <a:lnTo>
                  <a:pt x="68109" y="315755"/>
                </a:lnTo>
                <a:lnTo>
                  <a:pt x="86227" y="270395"/>
                </a:lnTo>
                <a:lnTo>
                  <a:pt x="103056" y="225408"/>
                </a:lnTo>
                <a:lnTo>
                  <a:pt x="128670" y="153734"/>
                </a:lnTo>
                <a:lnTo>
                  <a:pt x="141806" y="117963"/>
                </a:lnTo>
                <a:lnTo>
                  <a:pt x="155759" y="82823"/>
                </a:lnTo>
                <a:lnTo>
                  <a:pt x="164695" y="61659"/>
                </a:lnTo>
                <a:lnTo>
                  <a:pt x="176550" y="37123"/>
                </a:lnTo>
                <a:lnTo>
                  <a:pt x="191068" y="14731"/>
                </a:lnTo>
                <a:lnTo>
                  <a:pt x="207993" y="0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662084" y="2178589"/>
            <a:ext cx="208279" cy="127000"/>
          </a:xfrm>
          <a:custGeom>
            <a:avLst/>
            <a:gdLst/>
            <a:ahLst/>
            <a:cxnLst/>
            <a:rect l="l" t="t" r="r" b="b"/>
            <a:pathLst>
              <a:path w="208280" h="127000">
                <a:moveTo>
                  <a:pt x="0" y="126587"/>
                </a:moveTo>
                <a:lnTo>
                  <a:pt x="51006" y="115177"/>
                </a:lnTo>
                <a:lnTo>
                  <a:pt x="96786" y="97712"/>
                </a:lnTo>
                <a:lnTo>
                  <a:pt x="137862" y="73293"/>
                </a:lnTo>
                <a:lnTo>
                  <a:pt x="174757" y="41021"/>
                </a:lnTo>
                <a:lnTo>
                  <a:pt x="207993" y="0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453616" y="2305176"/>
            <a:ext cx="208915" cy="14604"/>
          </a:xfrm>
          <a:custGeom>
            <a:avLst/>
            <a:gdLst/>
            <a:ahLst/>
            <a:cxnLst/>
            <a:rect l="l" t="t" r="r" b="b"/>
            <a:pathLst>
              <a:path w="208914" h="14605">
                <a:moveTo>
                  <a:pt x="0" y="14117"/>
                </a:moveTo>
                <a:lnTo>
                  <a:pt x="52230" y="12888"/>
                </a:lnTo>
                <a:lnTo>
                  <a:pt x="104716" y="10751"/>
                </a:lnTo>
                <a:lnTo>
                  <a:pt x="156961" y="6768"/>
                </a:lnTo>
                <a:lnTo>
                  <a:pt x="208467" y="0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245623" y="2319293"/>
            <a:ext cx="208279" cy="1905"/>
          </a:xfrm>
          <a:custGeom>
            <a:avLst/>
            <a:gdLst/>
            <a:ahLst/>
            <a:cxnLst/>
            <a:rect l="l" t="t" r="r" b="b"/>
            <a:pathLst>
              <a:path w="208280" h="1905">
                <a:moveTo>
                  <a:pt x="0" y="1411"/>
                </a:moveTo>
                <a:lnTo>
                  <a:pt x="52021" y="1394"/>
                </a:lnTo>
                <a:lnTo>
                  <a:pt x="104049" y="1171"/>
                </a:lnTo>
                <a:lnTo>
                  <a:pt x="156050" y="716"/>
                </a:lnTo>
                <a:lnTo>
                  <a:pt x="207993" y="0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031977" y="2315058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10" h="11430">
                <a:moveTo>
                  <a:pt x="0" y="11293"/>
                </a:moveTo>
                <a:lnTo>
                  <a:pt x="219292" y="11293"/>
                </a:lnTo>
                <a:lnTo>
                  <a:pt x="219292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1823515" y="2315058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4" h="11430">
                <a:moveTo>
                  <a:pt x="0" y="11293"/>
                </a:moveTo>
                <a:lnTo>
                  <a:pt x="219755" y="11293"/>
                </a:lnTo>
                <a:lnTo>
                  <a:pt x="219755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615516" y="2315058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10" h="11430">
                <a:moveTo>
                  <a:pt x="0" y="11293"/>
                </a:moveTo>
                <a:lnTo>
                  <a:pt x="219292" y="11293"/>
                </a:lnTo>
                <a:lnTo>
                  <a:pt x="219292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407054" y="2315058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4" h="11430">
                <a:moveTo>
                  <a:pt x="0" y="11293"/>
                </a:moveTo>
                <a:lnTo>
                  <a:pt x="219755" y="11293"/>
                </a:lnTo>
                <a:lnTo>
                  <a:pt x="219755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1199055" y="2315058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09" h="11430">
                <a:moveTo>
                  <a:pt x="0" y="11293"/>
                </a:moveTo>
                <a:lnTo>
                  <a:pt x="219292" y="11293"/>
                </a:lnTo>
                <a:lnTo>
                  <a:pt x="219292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00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179765" y="232070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8312" y="0"/>
                </a:lnTo>
                <a:lnTo>
                  <a:pt x="16624" y="0"/>
                </a:lnTo>
                <a:lnTo>
                  <a:pt x="24936" y="0"/>
                </a:lnTo>
              </a:path>
            </a:pathLst>
          </a:custGeom>
          <a:ln w="1129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280891" y="328282"/>
            <a:ext cx="427754" cy="2037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078070" y="526394"/>
            <a:ext cx="208915" cy="1165860"/>
          </a:xfrm>
          <a:custGeom>
            <a:avLst/>
            <a:gdLst/>
            <a:ahLst/>
            <a:cxnLst/>
            <a:rect l="l" t="t" r="r" b="b"/>
            <a:pathLst>
              <a:path w="208914" h="1165860">
                <a:moveTo>
                  <a:pt x="0" y="1165621"/>
                </a:moveTo>
                <a:lnTo>
                  <a:pt x="6857" y="1114860"/>
                </a:lnTo>
                <a:lnTo>
                  <a:pt x="13540" y="1064074"/>
                </a:lnTo>
                <a:lnTo>
                  <a:pt x="20089" y="1013269"/>
                </a:lnTo>
                <a:lnTo>
                  <a:pt x="26545" y="962451"/>
                </a:lnTo>
                <a:lnTo>
                  <a:pt x="32948" y="911625"/>
                </a:lnTo>
                <a:lnTo>
                  <a:pt x="39340" y="860797"/>
                </a:lnTo>
                <a:lnTo>
                  <a:pt x="45761" y="809974"/>
                </a:lnTo>
                <a:lnTo>
                  <a:pt x="52252" y="759160"/>
                </a:lnTo>
                <a:lnTo>
                  <a:pt x="58853" y="708362"/>
                </a:lnTo>
                <a:lnTo>
                  <a:pt x="65605" y="657586"/>
                </a:lnTo>
                <a:lnTo>
                  <a:pt x="72549" y="606837"/>
                </a:lnTo>
                <a:lnTo>
                  <a:pt x="79725" y="556121"/>
                </a:lnTo>
                <a:lnTo>
                  <a:pt x="87174" y="505443"/>
                </a:lnTo>
                <a:lnTo>
                  <a:pt x="94938" y="454811"/>
                </a:lnTo>
                <a:lnTo>
                  <a:pt x="103056" y="404229"/>
                </a:lnTo>
                <a:lnTo>
                  <a:pt x="112182" y="353885"/>
                </a:lnTo>
                <a:lnTo>
                  <a:pt x="121771" y="302522"/>
                </a:lnTo>
                <a:lnTo>
                  <a:pt x="132169" y="250624"/>
                </a:lnTo>
                <a:lnTo>
                  <a:pt x="143725" y="198673"/>
                </a:lnTo>
                <a:lnTo>
                  <a:pt x="156786" y="147153"/>
                </a:lnTo>
                <a:lnTo>
                  <a:pt x="171698" y="96545"/>
                </a:lnTo>
                <a:lnTo>
                  <a:pt x="188809" y="47333"/>
                </a:lnTo>
                <a:lnTo>
                  <a:pt x="208467" y="0"/>
                </a:lnTo>
              </a:path>
            </a:pathLst>
          </a:custGeom>
          <a:ln w="11293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870077" y="1692015"/>
            <a:ext cx="208279" cy="613410"/>
          </a:xfrm>
          <a:custGeom>
            <a:avLst/>
            <a:gdLst/>
            <a:ahLst/>
            <a:cxnLst/>
            <a:rect l="l" t="t" r="r" b="b"/>
            <a:pathLst>
              <a:path w="208280" h="613410">
                <a:moveTo>
                  <a:pt x="0" y="613160"/>
                </a:moveTo>
                <a:lnTo>
                  <a:pt x="35403" y="596501"/>
                </a:lnTo>
                <a:lnTo>
                  <a:pt x="85357" y="541352"/>
                </a:lnTo>
                <a:lnTo>
                  <a:pt x="103056" y="506343"/>
                </a:lnTo>
                <a:lnTo>
                  <a:pt x="120030" y="462265"/>
                </a:lnTo>
                <a:lnTo>
                  <a:pt x="133776" y="417091"/>
                </a:lnTo>
                <a:lnTo>
                  <a:pt x="145338" y="371248"/>
                </a:lnTo>
                <a:lnTo>
                  <a:pt x="155759" y="325167"/>
                </a:lnTo>
                <a:lnTo>
                  <a:pt x="166160" y="271378"/>
                </a:lnTo>
                <a:lnTo>
                  <a:pt x="175771" y="217306"/>
                </a:lnTo>
                <a:lnTo>
                  <a:pt x="184675" y="163043"/>
                </a:lnTo>
                <a:lnTo>
                  <a:pt x="192957" y="108677"/>
                </a:lnTo>
                <a:lnTo>
                  <a:pt x="200702" y="54299"/>
                </a:lnTo>
                <a:lnTo>
                  <a:pt x="207993" y="0"/>
                </a:lnTo>
              </a:path>
            </a:pathLst>
          </a:custGeom>
          <a:ln w="11293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2662084" y="2305176"/>
            <a:ext cx="208279" cy="15875"/>
          </a:xfrm>
          <a:custGeom>
            <a:avLst/>
            <a:gdLst/>
            <a:ahLst/>
            <a:cxnLst/>
            <a:rect l="l" t="t" r="r" b="b"/>
            <a:pathLst>
              <a:path w="208280" h="15875">
                <a:moveTo>
                  <a:pt x="0" y="15529"/>
                </a:moveTo>
                <a:lnTo>
                  <a:pt x="51115" y="15117"/>
                </a:lnTo>
                <a:lnTo>
                  <a:pt x="105451" y="14225"/>
                </a:lnTo>
                <a:lnTo>
                  <a:pt x="159060" y="10102"/>
                </a:lnTo>
                <a:lnTo>
                  <a:pt x="207993" y="0"/>
                </a:lnTo>
              </a:path>
            </a:pathLst>
          </a:custGeom>
          <a:ln w="11293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447969" y="2315058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4" h="11430">
                <a:moveTo>
                  <a:pt x="0" y="11293"/>
                </a:moveTo>
                <a:lnTo>
                  <a:pt x="219761" y="11293"/>
                </a:lnTo>
                <a:lnTo>
                  <a:pt x="219761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BF0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239976" y="2315058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10" h="11430">
                <a:moveTo>
                  <a:pt x="0" y="11293"/>
                </a:moveTo>
                <a:lnTo>
                  <a:pt x="219287" y="11293"/>
                </a:lnTo>
                <a:lnTo>
                  <a:pt x="219287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BF0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031977" y="2315058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10" h="11430">
                <a:moveTo>
                  <a:pt x="0" y="11293"/>
                </a:moveTo>
                <a:lnTo>
                  <a:pt x="219292" y="11293"/>
                </a:lnTo>
                <a:lnTo>
                  <a:pt x="219292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BF0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823515" y="2315058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4" h="11430">
                <a:moveTo>
                  <a:pt x="0" y="11293"/>
                </a:moveTo>
                <a:lnTo>
                  <a:pt x="219755" y="11293"/>
                </a:lnTo>
                <a:lnTo>
                  <a:pt x="219755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BF0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1615516" y="2315039"/>
            <a:ext cx="219710" cy="12065"/>
          </a:xfrm>
          <a:custGeom>
            <a:avLst/>
            <a:gdLst/>
            <a:ahLst/>
            <a:cxnLst/>
            <a:rect l="l" t="t" r="r" b="b"/>
            <a:pathLst>
              <a:path w="219710" h="12064">
                <a:moveTo>
                  <a:pt x="0" y="11787"/>
                </a:moveTo>
                <a:lnTo>
                  <a:pt x="219292" y="11787"/>
                </a:lnTo>
                <a:lnTo>
                  <a:pt x="219292" y="0"/>
                </a:lnTo>
                <a:lnTo>
                  <a:pt x="0" y="0"/>
                </a:lnTo>
                <a:lnTo>
                  <a:pt x="0" y="11787"/>
                </a:lnTo>
                <a:close/>
              </a:path>
            </a:pathLst>
          </a:custGeom>
          <a:solidFill>
            <a:srgbClr val="BF0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1407054" y="2315532"/>
            <a:ext cx="220345" cy="11430"/>
          </a:xfrm>
          <a:custGeom>
            <a:avLst/>
            <a:gdLst/>
            <a:ahLst/>
            <a:cxnLst/>
            <a:rect l="l" t="t" r="r" b="b"/>
            <a:pathLst>
              <a:path w="220344" h="11430">
                <a:moveTo>
                  <a:pt x="0" y="11293"/>
                </a:moveTo>
                <a:lnTo>
                  <a:pt x="219755" y="11293"/>
                </a:lnTo>
                <a:lnTo>
                  <a:pt x="219755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BF0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1199055" y="2315532"/>
            <a:ext cx="219710" cy="11430"/>
          </a:xfrm>
          <a:custGeom>
            <a:avLst/>
            <a:gdLst/>
            <a:ahLst/>
            <a:cxnLst/>
            <a:rect l="l" t="t" r="r" b="b"/>
            <a:pathLst>
              <a:path w="219709" h="11430">
                <a:moveTo>
                  <a:pt x="0" y="11293"/>
                </a:moveTo>
                <a:lnTo>
                  <a:pt x="219292" y="11293"/>
                </a:lnTo>
                <a:lnTo>
                  <a:pt x="219292" y="0"/>
                </a:lnTo>
                <a:lnTo>
                  <a:pt x="0" y="0"/>
                </a:lnTo>
                <a:lnTo>
                  <a:pt x="0" y="11293"/>
                </a:lnTo>
                <a:close/>
              </a:path>
            </a:pathLst>
          </a:custGeom>
          <a:solidFill>
            <a:srgbClr val="BF0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179765" y="232117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8312" y="0"/>
                </a:lnTo>
                <a:lnTo>
                  <a:pt x="16624" y="0"/>
                </a:lnTo>
                <a:lnTo>
                  <a:pt x="24936" y="0"/>
                </a:lnTo>
              </a:path>
            </a:pathLst>
          </a:custGeom>
          <a:ln w="11293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 txBox="1"/>
          <p:nvPr/>
        </p:nvSpPr>
        <p:spPr>
          <a:xfrm>
            <a:off x="2251285" y="2308783"/>
            <a:ext cx="381000" cy="25082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ctr" marR="38100">
              <a:lnSpc>
                <a:spcPct val="100000"/>
              </a:lnSpc>
              <a:spcBef>
                <a:spcPts val="200"/>
              </a:spcBef>
            </a:pPr>
            <a:r>
              <a:rPr dirty="0" sz="600" spc="40">
                <a:latin typeface="Arial Narrow"/>
                <a:cs typeface="Arial Narrow"/>
              </a:rPr>
              <a:t>−</a:t>
            </a:r>
            <a:r>
              <a:rPr dirty="0" sz="600" spc="40"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700" spc="5" b="1">
                <a:latin typeface="Times New Roman"/>
                <a:cs typeface="Times New Roman"/>
              </a:rPr>
              <a:t>log[Cl</a:t>
            </a:r>
            <a:r>
              <a:rPr dirty="0" baseline="38888" sz="750" spc="7" b="1">
                <a:latin typeface="Times New Roman"/>
                <a:cs typeface="Times New Roman"/>
              </a:rPr>
              <a:t>−</a:t>
            </a:r>
            <a:r>
              <a:rPr dirty="0" sz="700" spc="5" b="1">
                <a:latin typeface="Times New Roman"/>
                <a:cs typeface="Times New Roman"/>
              </a:rPr>
              <a:t>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868085" y="1286104"/>
            <a:ext cx="173355" cy="81280"/>
          </a:xfrm>
          <a:prstGeom prst="rect">
            <a:avLst/>
          </a:prstGeom>
        </p:spPr>
        <p:txBody>
          <a:bodyPr wrap="square" lIns="0" tIns="1841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850">
                <a:latin typeface="Symbol"/>
                <a:cs typeface="Symbol"/>
              </a:rPr>
              <a:t></a:t>
            </a:r>
            <a:endParaRPr sz="850">
              <a:latin typeface="Symbol"/>
              <a:cs typeface="Symbo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400010" y="754631"/>
            <a:ext cx="24384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7777" sz="900" spc="22" b="1">
                <a:latin typeface="Times New Roman"/>
                <a:cs typeface="Times New Roman"/>
              </a:rPr>
              <a:t>Hg</a:t>
            </a:r>
            <a:r>
              <a:rPr dirty="0" sz="450" spc="15" b="1">
                <a:latin typeface="Times New Roman"/>
                <a:cs typeface="Times New Roman"/>
              </a:rPr>
              <a:t>2+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373176" y="1888252"/>
            <a:ext cx="20574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HgCl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384916" y="506170"/>
            <a:ext cx="236220" cy="1568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59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HgCl</a:t>
            </a:r>
            <a:endParaRPr sz="600">
              <a:latin typeface="Times New Roman"/>
              <a:cs typeface="Times New Roman"/>
            </a:endParaRPr>
          </a:p>
          <a:p>
            <a:pPr algn="r" marR="5080">
              <a:lnSpc>
                <a:spcPts val="409"/>
              </a:lnSpc>
            </a:pPr>
            <a:r>
              <a:rPr dirty="0" sz="450" spc="15" b="1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599971" y="1864252"/>
            <a:ext cx="236220" cy="1568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59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HgCl</a:t>
            </a:r>
            <a:endParaRPr sz="600">
              <a:latin typeface="Times New Roman"/>
              <a:cs typeface="Times New Roman"/>
            </a:endParaRPr>
          </a:p>
          <a:p>
            <a:pPr algn="r" marR="5080">
              <a:lnSpc>
                <a:spcPts val="409"/>
              </a:lnSpc>
            </a:pPr>
            <a:r>
              <a:rPr dirty="0" sz="450" spc="15" b="1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274309" y="776748"/>
            <a:ext cx="236220" cy="1568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59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HgCl</a:t>
            </a:r>
            <a:endParaRPr sz="600">
              <a:latin typeface="Times New Roman"/>
              <a:cs typeface="Times New Roman"/>
            </a:endParaRPr>
          </a:p>
          <a:p>
            <a:pPr algn="r" marR="5080">
              <a:lnSpc>
                <a:spcPts val="409"/>
              </a:lnSpc>
            </a:pPr>
            <a:r>
              <a:rPr dirty="0" sz="450" spc="15" b="1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67727" y="2726944"/>
            <a:ext cx="30727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4:</a:t>
            </a:r>
            <a:r>
              <a:rPr dirty="0" sz="1000" spc="-2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水</a:t>
            </a:r>
            <a:r>
              <a:rPr dirty="0" sz="1050" spc="-10">
                <a:latin typeface="Arial Unicode MS"/>
                <a:cs typeface="Arial Unicode MS"/>
              </a:rPr>
              <a:t>溶</a:t>
            </a:r>
            <a:r>
              <a:rPr dirty="0" sz="1050" spc="-5">
                <a:latin typeface="Arial Unicode MS"/>
                <a:cs typeface="Arial Unicode MS"/>
              </a:rPr>
              <a:t>液中汞</a:t>
            </a:r>
            <a:r>
              <a:rPr dirty="0" sz="1000" spc="-5">
                <a:latin typeface="Georgia"/>
                <a:cs typeface="Georgia"/>
              </a:rPr>
              <a:t>(II)</a:t>
            </a:r>
            <a:r>
              <a:rPr dirty="0" sz="1050" spc="-5">
                <a:latin typeface="Arial Unicode MS"/>
                <a:cs typeface="Arial Unicode MS"/>
              </a:rPr>
              <a:t>氯配合物</a:t>
            </a:r>
            <a:r>
              <a:rPr dirty="0" sz="1050" spc="-10">
                <a:latin typeface="Arial Unicode MS"/>
                <a:cs typeface="Arial Unicode MS"/>
              </a:rPr>
              <a:t>各</a:t>
            </a:r>
            <a:r>
              <a:rPr dirty="0" sz="1050" spc="-5">
                <a:latin typeface="Arial Unicode MS"/>
                <a:cs typeface="Arial Unicode MS"/>
              </a:rPr>
              <a:t>种型体</a:t>
            </a:r>
            <a:r>
              <a:rPr dirty="0" sz="1050" spc="-10">
                <a:latin typeface="Arial Unicode MS"/>
                <a:cs typeface="Arial Unicode MS"/>
              </a:rPr>
              <a:t>分</a:t>
            </a:r>
            <a:r>
              <a:rPr dirty="0" sz="1050" spc="-5">
                <a:latin typeface="Arial Unicode MS"/>
                <a:cs typeface="Arial Unicode MS"/>
              </a:rPr>
              <a:t>布分数曲线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3" name="object 1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4" name="object 1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5" name="object 1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24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74256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5.4</a:t>
            </a:r>
            <a:r>
              <a:rPr dirty="0" sz="14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副反应系数和条件稳定常数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44" y="884796"/>
            <a:ext cx="4432935" cy="17252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配位滴定法主要是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滴定金属离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</a:t>
            </a:r>
            <a:r>
              <a:rPr dirty="0" sz="1200" spc="175">
                <a:latin typeface="Arial Unicode MS"/>
                <a:cs typeface="Arial Unicode MS"/>
              </a:rPr>
              <a:t>按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: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方式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sz="1100" spc="-20">
                <a:latin typeface="Georgia"/>
                <a:cs typeface="Georgia"/>
              </a:rPr>
              <a:t>M </a:t>
            </a:r>
            <a:r>
              <a:rPr dirty="0" sz="1100" spc="140">
                <a:latin typeface="Georgia"/>
                <a:cs typeface="Georgia"/>
              </a:rPr>
              <a:t>+ Y 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6172" sz="675" spc="-262">
                <a:latin typeface="宋体"/>
                <a:cs typeface="宋体"/>
              </a:rPr>
              <a:t>     </a:t>
            </a:r>
            <a:r>
              <a:rPr dirty="0" baseline="-18518" sz="675" spc="-262">
                <a:latin typeface="宋体"/>
                <a:cs typeface="宋体"/>
              </a:rPr>
              <a:t>  </a:t>
            </a:r>
            <a:r>
              <a:rPr dirty="0" baseline="-18518" sz="675" spc="-202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75">
                <a:latin typeface="宋体"/>
                <a:cs typeface="宋体"/>
              </a:rPr>
              <a:t> </a:t>
            </a:r>
            <a:r>
              <a:rPr dirty="0" sz="1100" spc="60">
                <a:latin typeface="Georgia"/>
                <a:cs typeface="Georgia"/>
              </a:rPr>
              <a:t>MY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Georgia"/>
              <a:cs typeface="Georgia"/>
            </a:endParaRPr>
          </a:p>
          <a:p>
            <a:pPr marL="50800" marR="43180" indent="303530">
              <a:lnSpc>
                <a:spcPct val="122300"/>
              </a:lnSpc>
              <a:spcBef>
                <a:spcPts val="5"/>
              </a:spcBef>
            </a:pPr>
            <a:r>
              <a:rPr dirty="0" sz="1200" spc="-10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在滴定过程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如果溶液中存在有其它可与金属离子</a:t>
            </a:r>
            <a:r>
              <a:rPr dirty="0" sz="1200" spc="-5">
                <a:latin typeface="Arial Unicode MS"/>
                <a:cs typeface="Arial Unicode MS"/>
              </a:rPr>
              <a:t>起 </a:t>
            </a:r>
            <a:r>
              <a:rPr dirty="0" sz="1200" spc="-5">
                <a:latin typeface="Arial Unicode MS"/>
                <a:cs typeface="Arial Unicode MS"/>
              </a:rPr>
              <a:t>配位反应的配位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则会发生如下的副反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tabLst>
                <a:tab pos="1304925" algn="l"/>
              </a:tabLst>
            </a:pPr>
            <a:r>
              <a:rPr dirty="0" sz="1100" spc="-20">
                <a:latin typeface="Georgia"/>
                <a:cs typeface="Georgia"/>
              </a:rPr>
              <a:t>M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5">
                <a:latin typeface="Georgia"/>
                <a:cs typeface="Georgia"/>
              </a:rPr>
              <a:t>L 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6172" sz="675" spc="-262">
                <a:latin typeface="宋体"/>
                <a:cs typeface="宋体"/>
              </a:rPr>
              <a:t>        </a:t>
            </a:r>
            <a:r>
              <a:rPr dirty="0" baseline="-18518" sz="675" spc="-262">
                <a:latin typeface="宋体"/>
                <a:cs typeface="宋体"/>
              </a:rPr>
              <a:t>    </a:t>
            </a:r>
            <a:r>
              <a:rPr dirty="0" baseline="-18518" sz="675" spc="-225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97">
                <a:latin typeface="宋体"/>
                <a:cs typeface="宋体"/>
              </a:rPr>
              <a:t> </a:t>
            </a:r>
            <a:r>
              <a:rPr dirty="0" sz="1100" spc="40">
                <a:latin typeface="Georgia"/>
                <a:cs typeface="Georgia"/>
              </a:rPr>
              <a:t>ML</a:t>
            </a:r>
            <a:r>
              <a:rPr dirty="0" baseline="-13888" sz="900" spc="60" i="1">
                <a:latin typeface="Arial"/>
                <a:cs typeface="Arial"/>
              </a:rPr>
              <a:t>i	</a:t>
            </a:r>
            <a:r>
              <a:rPr dirty="0" sz="1100" spc="65" b="0" i="1">
                <a:latin typeface="Bookman Old Style"/>
                <a:cs typeface="Bookman Old Style"/>
              </a:rPr>
              <a:t>i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1</a:t>
            </a:r>
            <a:r>
              <a:rPr dirty="0" sz="1100" spc="20" b="0" i="1">
                <a:latin typeface="Bookman Old Style"/>
                <a:cs typeface="Bookman Old Style"/>
              </a:rPr>
              <a:t>,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55">
                <a:latin typeface="Georgia"/>
                <a:cs typeface="Georgia"/>
              </a:rPr>
              <a:t>2</a:t>
            </a:r>
            <a:r>
              <a:rPr dirty="0" sz="1100" spc="-55" b="0" i="1">
                <a:latin typeface="Bookman Old Style"/>
                <a:cs typeface="Bookman Old Style"/>
              </a:rPr>
              <a:t>,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25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828802"/>
            <a:ext cx="434848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作为滴定剂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本</a:t>
            </a:r>
            <a:r>
              <a:rPr dirty="0" sz="1200" spc="-80">
                <a:latin typeface="Arial Unicode MS"/>
                <a:cs typeface="Arial Unicode MS"/>
              </a:rPr>
              <a:t>身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既会受到溶液酸度的影</a:t>
            </a:r>
            <a:r>
              <a:rPr dirty="0" sz="1200" spc="-80">
                <a:latin typeface="Arial Unicode MS"/>
                <a:cs typeface="Arial Unicode MS"/>
              </a:rPr>
              <a:t>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又会受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到溶液中共存的其它金属离子的影</a:t>
            </a:r>
            <a:r>
              <a:rPr dirty="0" sz="1200" spc="-80">
                <a:latin typeface="Arial Unicode MS"/>
                <a:cs typeface="Arial Unicode MS"/>
              </a:rPr>
              <a:t>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如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9249" y="1470164"/>
            <a:ext cx="1166495" cy="554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Y + </a:t>
            </a:r>
            <a:r>
              <a:rPr dirty="0" sz="1100" spc="-10" b="0" i="1">
                <a:latin typeface="Bookman Old Style"/>
                <a:cs typeface="Bookman Old Style"/>
              </a:rPr>
              <a:t>i</a:t>
            </a:r>
            <a:r>
              <a:rPr dirty="0" sz="1100" spc="-10">
                <a:latin typeface="Georgia"/>
                <a:cs typeface="Georgia"/>
              </a:rPr>
              <a:t>H 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6172" sz="675" spc="-262">
                <a:latin typeface="宋体"/>
                <a:cs typeface="宋体"/>
              </a:rPr>
              <a:t>      </a:t>
            </a:r>
            <a:r>
              <a:rPr dirty="0" baseline="-18518" sz="675" spc="-262">
                <a:latin typeface="宋体"/>
                <a:cs typeface="宋体"/>
              </a:rPr>
              <a:t>   </a:t>
            </a:r>
            <a:r>
              <a:rPr dirty="0" baseline="-18518" sz="675" spc="-247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37">
                <a:latin typeface="宋体"/>
                <a:cs typeface="宋体"/>
              </a:rPr>
              <a:t> </a:t>
            </a:r>
            <a:r>
              <a:rPr dirty="0" sz="1100" spc="80">
                <a:latin typeface="Georgia"/>
                <a:cs typeface="Georgia"/>
              </a:rPr>
              <a:t>H</a:t>
            </a:r>
            <a:r>
              <a:rPr dirty="0" baseline="-13888" sz="900" spc="120" i="1">
                <a:latin typeface="Arial"/>
                <a:cs typeface="Arial"/>
              </a:rPr>
              <a:t>i</a:t>
            </a:r>
            <a:r>
              <a:rPr dirty="0" sz="1100" spc="80">
                <a:latin typeface="Georgia"/>
                <a:cs typeface="Georgia"/>
              </a:rPr>
              <a:t>Y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350">
              <a:latin typeface="Georgia"/>
              <a:cs typeface="Georgia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dirty="0" sz="1100" spc="140">
                <a:latin typeface="Georgia"/>
                <a:cs typeface="Georgia"/>
              </a:rPr>
              <a:t>Y + </a:t>
            </a:r>
            <a:r>
              <a:rPr dirty="0" sz="1100" spc="-30">
                <a:latin typeface="Georgia"/>
                <a:cs typeface="Georgia"/>
              </a:rPr>
              <a:t>N 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6172" sz="675" spc="-262">
                <a:latin typeface="宋体"/>
                <a:cs typeface="宋体"/>
              </a:rPr>
              <a:t>       </a:t>
            </a:r>
            <a:r>
              <a:rPr dirty="0" baseline="-18518" sz="675" spc="-262">
                <a:latin typeface="宋体"/>
                <a:cs typeface="宋体"/>
              </a:rPr>
              <a:t>   </a:t>
            </a:r>
            <a:r>
              <a:rPr dirty="0" baseline="-18518" sz="675" spc="-247">
                <a:latin typeface="宋体"/>
                <a:cs typeface="宋体"/>
              </a:rPr>
              <a:t> </a:t>
            </a:r>
            <a:r>
              <a:rPr dirty="0" baseline="6172" sz="675" spc="-480">
                <a:latin typeface="宋体"/>
                <a:cs typeface="宋体"/>
              </a:rPr>
              <a:t>、</a:t>
            </a:r>
            <a:r>
              <a:rPr dirty="0" baseline="-18518" sz="675" spc="1829">
                <a:latin typeface="宋体"/>
                <a:cs typeface="宋体"/>
              </a:rPr>
              <a:t> </a:t>
            </a:r>
            <a:r>
              <a:rPr dirty="0" sz="1100" spc="55">
                <a:latin typeface="Georgia"/>
                <a:cs typeface="Georgia"/>
              </a:rPr>
              <a:t>NY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26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203581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Georgia"/>
                <a:cs typeface="Georgia"/>
              </a:rPr>
              <a:t>5.4.1</a:t>
            </a:r>
            <a:r>
              <a:rPr dirty="0" sz="1000" spc="5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EDTA</a:t>
            </a:r>
            <a:r>
              <a:rPr dirty="0" sz="1000" spc="-9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的副反应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与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副反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应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系数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4006" y="1017033"/>
            <a:ext cx="2879921" cy="12003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5267" y="2400731"/>
            <a:ext cx="179768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35">
                <a:solidFill>
                  <a:srgbClr val="3333B2"/>
                </a:solidFill>
                <a:latin typeface="Georgia"/>
                <a:cs typeface="Georgia"/>
              </a:rPr>
              <a:t>5: 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各类反</a:t>
            </a:r>
            <a:r>
              <a:rPr dirty="0" sz="1050" spc="-10">
                <a:latin typeface="Arial Unicode MS"/>
                <a:cs typeface="Arial Unicode MS"/>
              </a:rPr>
              <a:t>应</a:t>
            </a:r>
            <a:r>
              <a:rPr dirty="0" sz="1050" spc="-5">
                <a:latin typeface="Arial Unicode MS"/>
                <a:cs typeface="Arial Unicode MS"/>
              </a:rPr>
              <a:t>示意图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27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9366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EDTA</a:t>
            </a:r>
            <a:r>
              <a:rPr dirty="0" sz="1000" spc="-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酸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效应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632904"/>
            <a:ext cx="4356735" cy="11442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如</a:t>
            </a:r>
            <a:r>
              <a:rPr dirty="0" spc="-10"/>
              <a:t>上所</a:t>
            </a:r>
            <a:r>
              <a:rPr dirty="0" spc="-80"/>
              <a:t>述</a:t>
            </a:r>
            <a:r>
              <a:rPr dirty="0" spc="-15"/>
              <a:t>，</a:t>
            </a:r>
            <a:r>
              <a:rPr dirty="0" sz="1100" spc="-15">
                <a:latin typeface="Georgia"/>
                <a:cs typeface="Georgia"/>
              </a:rPr>
              <a:t>EDTA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pc="-5"/>
              <a:t>主</a:t>
            </a:r>
            <a:r>
              <a:rPr dirty="0" spc="-10"/>
              <a:t>要受到溶液的酸度</a:t>
            </a:r>
            <a:r>
              <a:rPr dirty="0" spc="-5"/>
              <a:t>和</a:t>
            </a:r>
            <a:r>
              <a:rPr dirty="0" spc="-10"/>
              <a:t>溶液中共存离子的</a:t>
            </a:r>
            <a:r>
              <a:rPr dirty="0" spc="-5"/>
              <a:t>影 </a:t>
            </a:r>
            <a:r>
              <a:rPr dirty="0" spc="-20"/>
              <a:t>响</a:t>
            </a:r>
            <a:r>
              <a:rPr dirty="0" spc="-235"/>
              <a:t>。</a:t>
            </a:r>
            <a:r>
              <a:rPr dirty="0" spc="-5"/>
              <a:t>当溶液中的氢离子浓度</a:t>
            </a:r>
            <a:r>
              <a:rPr dirty="0" spc="2165"/>
              <a:t>比</a:t>
            </a:r>
            <a:r>
              <a:rPr dirty="0" spc="-5"/>
              <a:t>较高</a:t>
            </a:r>
            <a:r>
              <a:rPr dirty="0" spc="-80"/>
              <a:t>时</a:t>
            </a:r>
            <a:r>
              <a:rPr dirty="0" spc="-185"/>
              <a:t>，</a:t>
            </a:r>
            <a:r>
              <a:rPr dirty="0" spc="-5"/>
              <a:t>氢离子易</a:t>
            </a:r>
            <a:r>
              <a:rPr dirty="0" spc="175"/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50">
                <a:latin typeface="Georgia"/>
                <a:cs typeface="Georgia"/>
              </a:rPr>
              <a:t> </a:t>
            </a:r>
            <a:r>
              <a:rPr dirty="0" spc="-5"/>
              <a:t>发生</a:t>
            </a:r>
            <a:r>
              <a:rPr dirty="0" spc="-950"/>
              <a:t>反 </a:t>
            </a:r>
            <a:r>
              <a:rPr dirty="0" spc="-80"/>
              <a:t>应</a:t>
            </a:r>
            <a:r>
              <a:rPr dirty="0" spc="-185"/>
              <a:t>，</a:t>
            </a:r>
            <a:r>
              <a:rPr dirty="0" spc="-5"/>
              <a:t>使溶液中游离</a:t>
            </a:r>
            <a:r>
              <a:rPr dirty="0" spc="175"/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pc="-5"/>
              <a:t>浓度降</a:t>
            </a:r>
            <a:r>
              <a:rPr dirty="0" spc="-80"/>
              <a:t>低</a:t>
            </a:r>
            <a:r>
              <a:rPr dirty="0" spc="-185"/>
              <a:t>，</a:t>
            </a:r>
            <a:r>
              <a:rPr dirty="0" spc="-5"/>
              <a:t>从而使其进行主反应的能力 降</a:t>
            </a:r>
            <a:r>
              <a:rPr dirty="0" spc="-20"/>
              <a:t>低</a:t>
            </a:r>
            <a:r>
              <a:rPr dirty="0" spc="-235"/>
              <a:t>。</a:t>
            </a:r>
            <a:r>
              <a:rPr dirty="0" spc="-5"/>
              <a:t>这种由于氢离子的影响而</a:t>
            </a:r>
            <a:r>
              <a:rPr dirty="0" spc="175"/>
              <a:t>使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pc="-5"/>
              <a:t>参加主反应能力降低的 现</a:t>
            </a:r>
            <a:r>
              <a:rPr dirty="0" spc="-80"/>
              <a:t>象</a:t>
            </a:r>
            <a:r>
              <a:rPr dirty="0" spc="-185"/>
              <a:t>，</a:t>
            </a:r>
            <a:r>
              <a:rPr dirty="0" spc="-5"/>
              <a:t>称为酸效</a:t>
            </a:r>
            <a:r>
              <a:rPr dirty="0" spc="-20"/>
              <a:t>应</a:t>
            </a:r>
            <a:r>
              <a:rPr dirty="0" spc="-5"/>
              <a:t>。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43378" y="2439035"/>
            <a:ext cx="218440" cy="0"/>
          </a:xfrm>
          <a:custGeom>
            <a:avLst/>
            <a:gdLst/>
            <a:ahLst/>
            <a:cxnLst/>
            <a:rect l="l" t="t" r="r" b="b"/>
            <a:pathLst>
              <a:path w="218439" h="0">
                <a:moveTo>
                  <a:pt x="0" y="0"/>
                </a:moveTo>
                <a:lnTo>
                  <a:pt x="21844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044" y="1931441"/>
            <a:ext cx="4471035" cy="1205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酸效应的大小用酸效应系数来表</a:t>
            </a:r>
            <a:r>
              <a:rPr dirty="0" sz="1200" spc="-80">
                <a:latin typeface="Arial Unicode MS"/>
                <a:cs typeface="Arial Unicode MS"/>
              </a:rPr>
              <a:t>征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其定义如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683895">
              <a:lnSpc>
                <a:spcPts val="1030"/>
              </a:lnSpc>
              <a:spcBef>
                <a:spcPts val="894"/>
              </a:spcBef>
            </a:pPr>
            <a:r>
              <a:rPr dirty="0" sz="1100" spc="-5">
                <a:latin typeface="Georgia"/>
                <a:cs typeface="Georgia"/>
              </a:rPr>
              <a:t>[Y</a:t>
            </a:r>
            <a:r>
              <a:rPr dirty="0" baseline="37037" sz="900" spc="-7">
                <a:latin typeface="Lucida Sans Unicode"/>
                <a:cs typeface="Lucida Sans Unicode"/>
              </a:rPr>
              <a:t>t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1755775">
              <a:lnSpc>
                <a:spcPts val="1030"/>
              </a:lnSpc>
              <a:tabLst>
                <a:tab pos="4217035" algn="l"/>
              </a:tabLst>
            </a:pP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15">
                <a:latin typeface="Georgia"/>
                <a:cs typeface="Georgia"/>
              </a:rPr>
              <a:t> </a:t>
            </a:r>
            <a:r>
              <a:rPr dirty="0" baseline="-37878" sz="1650" spc="-44">
                <a:latin typeface="Georgia"/>
                <a:cs typeface="Georgia"/>
              </a:rPr>
              <a:t>[Y]	</a:t>
            </a:r>
            <a:r>
              <a:rPr dirty="0" sz="1100" spc="-20">
                <a:latin typeface="Georgia"/>
                <a:cs typeface="Georgia"/>
              </a:rPr>
              <a:t>(2)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1705"/>
              </a:spcBef>
            </a:pP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40">
                <a:latin typeface="Arial Unicode MS"/>
                <a:cs typeface="Arial Unicode MS"/>
              </a:rPr>
              <a:t>，</a:t>
            </a:r>
            <a:r>
              <a:rPr dirty="0" sz="1100" spc="-40">
                <a:latin typeface="Georgia"/>
                <a:cs typeface="Georgia"/>
              </a:rPr>
              <a:t>[Y</a:t>
            </a:r>
            <a:r>
              <a:rPr dirty="0" baseline="37037" sz="900" spc="-60">
                <a:latin typeface="Lucida Sans Unicode"/>
                <a:cs typeface="Lucida Sans Unicode"/>
              </a:rPr>
              <a:t>t</a:t>
            </a:r>
            <a:r>
              <a:rPr dirty="0" sz="1100" spc="-4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[Y]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[HY]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-13888" sz="900" spc="-15">
                <a:latin typeface="Times New Roman"/>
                <a:cs typeface="Times New Roman"/>
              </a:rPr>
              <a:t>2</a:t>
            </a:r>
            <a:r>
              <a:rPr dirty="0" sz="1100" spc="-10">
                <a:latin typeface="Georgia"/>
                <a:cs typeface="Georgia"/>
              </a:rPr>
              <a:t>Y]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[H</a:t>
            </a:r>
            <a:r>
              <a:rPr dirty="0" baseline="-13888" sz="900" spc="-82">
                <a:latin typeface="Times New Roman"/>
                <a:cs typeface="Times New Roman"/>
              </a:rPr>
              <a:t>6</a:t>
            </a:r>
            <a:r>
              <a:rPr dirty="0" sz="1100" spc="-55">
                <a:latin typeface="Georgia"/>
                <a:cs typeface="Georgia"/>
              </a:rPr>
              <a:t>Y]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是指没有参加主反应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的总浓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28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844" y="569010"/>
            <a:ext cx="4283710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271780">
              <a:lnSpc>
                <a:spcPct val="122300"/>
              </a:lnSpc>
              <a:spcBef>
                <a:spcPts val="100"/>
              </a:spcBef>
            </a:pPr>
            <a:r>
              <a:rPr dirty="0" spc="-110"/>
              <a:t>（</a:t>
            </a:r>
            <a:r>
              <a:rPr dirty="0" sz="1100" spc="-110">
                <a:latin typeface="Georgia"/>
                <a:cs typeface="Georgia"/>
                <a:hlinkClick r:id="rId2" action="ppaction://hlinksldjump"/>
              </a:rPr>
              <a:t>2</a:t>
            </a:r>
            <a:r>
              <a:rPr dirty="0" spc="-110"/>
              <a:t>）</a:t>
            </a:r>
            <a:r>
              <a:rPr dirty="0" spc="-5"/>
              <a:t>式表</a:t>
            </a:r>
            <a:r>
              <a:rPr dirty="0" spc="-80"/>
              <a:t>明</a:t>
            </a:r>
            <a:r>
              <a:rPr dirty="0" spc="-10"/>
              <a:t>，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-10">
                <a:latin typeface="Georgia"/>
                <a:cs typeface="Georgia"/>
              </a:rPr>
              <a:t>(Y(H))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pc="-5"/>
              <a:t>越</a:t>
            </a:r>
            <a:r>
              <a:rPr dirty="0" spc="-80"/>
              <a:t>大</a:t>
            </a:r>
            <a:r>
              <a:rPr dirty="0" spc="-185"/>
              <a:t>，</a:t>
            </a:r>
            <a:r>
              <a:rPr dirty="0" spc="-5"/>
              <a:t>则没有参加主反应</a:t>
            </a:r>
            <a:r>
              <a:rPr dirty="0" spc="175"/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pc="-5"/>
              <a:t>的总 浓度越</a:t>
            </a:r>
            <a:r>
              <a:rPr dirty="0" spc="-80"/>
              <a:t>大</a:t>
            </a:r>
            <a:r>
              <a:rPr dirty="0" spc="-185"/>
              <a:t>，</a:t>
            </a:r>
            <a:r>
              <a:rPr dirty="0" spc="-5"/>
              <a:t>溶液中游离</a:t>
            </a:r>
            <a:r>
              <a:rPr dirty="0" spc="175"/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pc="-5"/>
              <a:t>浓度越</a:t>
            </a:r>
            <a:r>
              <a:rPr dirty="0" spc="-80"/>
              <a:t>小</a:t>
            </a:r>
            <a:r>
              <a:rPr dirty="0" spc="-185"/>
              <a:t>，</a:t>
            </a:r>
            <a:r>
              <a:rPr dirty="0" spc="-5"/>
              <a:t>越不利于主反应的进 </a:t>
            </a:r>
            <a:r>
              <a:rPr dirty="0" spc="-20"/>
              <a:t>行</a:t>
            </a:r>
            <a:r>
              <a:rPr dirty="0" spc="-235"/>
              <a:t>。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pc="-5"/>
              <a:t>是</a:t>
            </a:r>
            <a:r>
              <a:rPr dirty="0" spc="175"/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pc="-5"/>
              <a:t>的分布分数有关的</a:t>
            </a:r>
            <a:r>
              <a:rPr dirty="0" spc="-80"/>
              <a:t>量</a:t>
            </a:r>
            <a:r>
              <a:rPr dirty="0" spc="-185"/>
              <a:t>，</a:t>
            </a:r>
            <a:r>
              <a:rPr dirty="0" spc="175"/>
              <a:t>将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pc="-5"/>
              <a:t>的分布分 数带</a:t>
            </a:r>
            <a:r>
              <a:rPr dirty="0" spc="-260"/>
              <a:t>入</a:t>
            </a:r>
            <a:r>
              <a:rPr dirty="0" spc="-110"/>
              <a:t>（</a:t>
            </a:r>
            <a:r>
              <a:rPr dirty="0" sz="1100" spc="-110">
                <a:latin typeface="Georgia"/>
                <a:cs typeface="Georgia"/>
                <a:hlinkClick r:id="rId2" action="ppaction://hlinksldjump"/>
              </a:rPr>
              <a:t>2</a:t>
            </a:r>
            <a:r>
              <a:rPr dirty="0" spc="-110"/>
              <a:t>）</a:t>
            </a:r>
            <a:r>
              <a:rPr dirty="0" spc="-80"/>
              <a:t>式</a:t>
            </a:r>
            <a:r>
              <a:rPr dirty="0" spc="-185"/>
              <a:t>，</a:t>
            </a:r>
            <a:r>
              <a:rPr dirty="0" spc="-5"/>
              <a:t>可</a:t>
            </a:r>
            <a:r>
              <a:rPr dirty="0" spc="-90"/>
              <a:t>得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463" y="1673364"/>
            <a:ext cx="7727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1630" y="1789976"/>
            <a:ext cx="218440" cy="0"/>
          </a:xfrm>
          <a:custGeom>
            <a:avLst/>
            <a:gdLst/>
            <a:ahLst/>
            <a:cxnLst/>
            <a:rect l="l" t="t" r="r" b="b"/>
            <a:pathLst>
              <a:path w="218439" h="0">
                <a:moveTo>
                  <a:pt x="0" y="0"/>
                </a:moveTo>
                <a:lnTo>
                  <a:pt x="21844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10830" y="1579638"/>
            <a:ext cx="791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83895" algn="l"/>
              </a:tabLst>
            </a:pPr>
            <a:r>
              <a:rPr dirty="0" sz="1100" spc="-5">
                <a:latin typeface="Georgia"/>
                <a:cs typeface="Georgia"/>
              </a:rPr>
              <a:t>[Y</a:t>
            </a:r>
            <a:r>
              <a:rPr dirty="0" baseline="37037" sz="900" spc="-7">
                <a:latin typeface="Lucida Sans Unicode"/>
                <a:cs typeface="Lucida Sans Unicode"/>
              </a:rPr>
              <a:t>t</a:t>
            </a:r>
            <a:r>
              <a:rPr dirty="0" sz="1100" spc="-5">
                <a:latin typeface="Georgia"/>
                <a:cs typeface="Georgia"/>
              </a:rPr>
              <a:t>]	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95157" y="1789976"/>
            <a:ext cx="468630" cy="0"/>
          </a:xfrm>
          <a:custGeom>
            <a:avLst/>
            <a:gdLst/>
            <a:ahLst/>
            <a:cxnLst/>
            <a:rect l="l" t="t" r="r" b="b"/>
            <a:pathLst>
              <a:path w="468630" h="0">
                <a:moveTo>
                  <a:pt x="0" y="0"/>
                </a:moveTo>
                <a:lnTo>
                  <a:pt x="46859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21027" y="1673364"/>
            <a:ext cx="81724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95960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0733" y="1579638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78836" y="1789976"/>
            <a:ext cx="278765" cy="0"/>
          </a:xfrm>
          <a:custGeom>
            <a:avLst/>
            <a:gdLst/>
            <a:ahLst/>
            <a:cxnLst/>
            <a:rect l="l" t="t" r="r" b="b"/>
            <a:pathLst>
              <a:path w="278764" h="0">
                <a:moveTo>
                  <a:pt x="0" y="0"/>
                </a:moveTo>
                <a:lnTo>
                  <a:pt x="27848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442300" y="1768398"/>
            <a:ext cx="1453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52755" algn="l"/>
                <a:tab pos="1136015" algn="l"/>
              </a:tabLst>
            </a:pPr>
            <a:r>
              <a:rPr dirty="0" sz="1100" spc="-30">
                <a:latin typeface="Georgia"/>
                <a:cs typeface="Georgia"/>
              </a:rPr>
              <a:t>[Y]	[Y]</a:t>
            </a:r>
            <a:r>
              <a:rPr dirty="0" sz="1100" spc="-30" b="0" i="1">
                <a:latin typeface="Bookman Old Style"/>
                <a:cs typeface="Bookman Old Style"/>
              </a:rPr>
              <a:t>/</a:t>
            </a:r>
            <a:r>
              <a:rPr dirty="0" sz="1100" spc="-30">
                <a:latin typeface="Georgia"/>
                <a:cs typeface="Georgia"/>
              </a:rPr>
              <a:t>[Y</a:t>
            </a:r>
            <a:r>
              <a:rPr dirty="0" baseline="27777" sz="900" spc="-44">
                <a:latin typeface="Lucida Sans Unicode"/>
                <a:cs typeface="Lucida Sans Unicode"/>
              </a:rPr>
              <a:t>t</a:t>
            </a:r>
            <a:r>
              <a:rPr dirty="0" sz="1100" spc="-30">
                <a:latin typeface="Georgia"/>
                <a:cs typeface="Georgia"/>
              </a:rPr>
              <a:t>]	</a:t>
            </a:r>
            <a:r>
              <a:rPr dirty="0" sz="1100" spc="15" b="0" i="1">
                <a:latin typeface="Bookman Old Style"/>
                <a:cs typeface="Bookman Old Style"/>
              </a:rPr>
              <a:t>δ</a:t>
            </a:r>
            <a:r>
              <a:rPr dirty="0" sz="1100" spc="15">
                <a:latin typeface="Georgia"/>
                <a:cs typeface="Georgia"/>
              </a:rPr>
              <a:t>(Y)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9464" y="205127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00237" y="2167890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4" h="0">
                <a:moveTo>
                  <a:pt x="0" y="0"/>
                </a:moveTo>
                <a:lnTo>
                  <a:pt x="25820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08342" y="1957552"/>
            <a:ext cx="1162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104">
                <a:latin typeface="Georgia"/>
                <a:cs typeface="Georgia"/>
              </a:rPr>
              <a:t>1 </a:t>
            </a:r>
            <a:r>
              <a:rPr dirty="0" baseline="-37878" sz="1650" spc="209">
                <a:latin typeface="Georgia"/>
                <a:cs typeface="Georgia"/>
              </a:rPr>
              <a:t>+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434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3703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37037" sz="900">
                <a:latin typeface="Times New Roman"/>
                <a:cs typeface="Times New Roman"/>
              </a:rPr>
              <a:t>2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58136" y="216789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80" h="0">
                <a:moveTo>
                  <a:pt x="0" y="0"/>
                </a:moveTo>
                <a:lnTo>
                  <a:pt x="44921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678927" y="2146312"/>
            <a:ext cx="9544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78790" algn="l"/>
              </a:tabLst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6</a:t>
            </a:r>
            <a:r>
              <a:rPr dirty="0" baseline="-33333" sz="750">
                <a:latin typeface="Book Antiqua"/>
                <a:cs typeface="Book Antiqua"/>
              </a:rPr>
              <a:t>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5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97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6</a:t>
            </a:r>
            <a:endParaRPr baseline="-33333" sz="75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40622" y="2051278"/>
            <a:ext cx="46418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9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3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85273" y="1957552"/>
            <a:ext cx="381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[H</a:t>
            </a:r>
            <a:r>
              <a:rPr dirty="0" baseline="37037" sz="900" spc="7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]</a:t>
            </a:r>
            <a:r>
              <a:rPr dirty="0" baseline="37037" sz="900" spc="7">
                <a:latin typeface="Times New Roman"/>
                <a:cs typeface="Times New Roman"/>
              </a:rPr>
              <a:t>6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38017" y="2167890"/>
            <a:ext cx="882015" cy="0"/>
          </a:xfrm>
          <a:custGeom>
            <a:avLst/>
            <a:gdLst/>
            <a:ahLst/>
            <a:cxnLst/>
            <a:rect l="l" t="t" r="r" b="b"/>
            <a:pathLst>
              <a:path w="882014" h="0">
                <a:moveTo>
                  <a:pt x="0" y="0"/>
                </a:moveTo>
                <a:lnTo>
                  <a:pt x="881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099917" y="2146312"/>
            <a:ext cx="945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>
                <a:latin typeface="Book Antiqua"/>
                <a:cs typeface="Book Antiqua"/>
              </a:rPr>
              <a:t> </a:t>
            </a:r>
            <a:r>
              <a:rPr dirty="0" baseline="-33333" sz="750" spc="44">
                <a:latin typeface="Book Antiqua"/>
                <a:cs typeface="Book Antiqu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6</a:t>
            </a:r>
            <a:endParaRPr baseline="-33333" sz="750">
              <a:latin typeface="Book Antiqua"/>
              <a:cs typeface="Book Antiqu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29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9364" y="293598"/>
            <a:ext cx="2615565" cy="0"/>
          </a:xfrm>
          <a:custGeom>
            <a:avLst/>
            <a:gdLst/>
            <a:ahLst/>
            <a:cxnLst/>
            <a:rect l="l" t="t" r="r" b="b"/>
            <a:pathLst>
              <a:path w="2615565" h="0">
                <a:moveTo>
                  <a:pt x="0" y="0"/>
                </a:moveTo>
                <a:lnTo>
                  <a:pt x="261550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09364" y="2355469"/>
            <a:ext cx="2615565" cy="0"/>
          </a:xfrm>
          <a:custGeom>
            <a:avLst/>
            <a:gdLst/>
            <a:ahLst/>
            <a:cxnLst/>
            <a:rect l="l" t="t" r="r" b="b"/>
            <a:pathLst>
              <a:path w="2615565" h="0">
                <a:moveTo>
                  <a:pt x="0" y="0"/>
                </a:moveTo>
                <a:lnTo>
                  <a:pt x="261550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24870" y="293598"/>
            <a:ext cx="0" cy="2062480"/>
          </a:xfrm>
          <a:custGeom>
            <a:avLst/>
            <a:gdLst/>
            <a:ahLst/>
            <a:cxnLst/>
            <a:rect l="l" t="t" r="r" b="b"/>
            <a:pathLst>
              <a:path w="0" h="2062480">
                <a:moveTo>
                  <a:pt x="0" y="206187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09364" y="293598"/>
            <a:ext cx="0" cy="2062480"/>
          </a:xfrm>
          <a:custGeom>
            <a:avLst/>
            <a:gdLst/>
            <a:ahLst/>
            <a:cxnLst/>
            <a:rect l="l" t="t" r="r" b="b"/>
            <a:pathLst>
              <a:path w="0" h="2062480">
                <a:moveTo>
                  <a:pt x="0" y="206187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9364" y="2355469"/>
            <a:ext cx="2615565" cy="0"/>
          </a:xfrm>
          <a:custGeom>
            <a:avLst/>
            <a:gdLst/>
            <a:ahLst/>
            <a:cxnLst/>
            <a:rect l="l" t="t" r="r" b="b"/>
            <a:pathLst>
              <a:path w="2615565" h="0">
                <a:moveTo>
                  <a:pt x="0" y="0"/>
                </a:moveTo>
                <a:lnTo>
                  <a:pt x="261550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9364" y="293598"/>
            <a:ext cx="0" cy="2062480"/>
          </a:xfrm>
          <a:custGeom>
            <a:avLst/>
            <a:gdLst/>
            <a:ahLst/>
            <a:cxnLst/>
            <a:rect l="l" t="t" r="r" b="b"/>
            <a:pathLst>
              <a:path w="0" h="2062480">
                <a:moveTo>
                  <a:pt x="0" y="206187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09364" y="2329128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3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09364" y="29359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8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76175" y="2353986"/>
            <a:ext cx="6667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63977" y="2329128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3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63977" y="29359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8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30791" y="2353986"/>
            <a:ext cx="6667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19081" y="2329128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3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019081" y="29359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8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85896" y="2353986"/>
            <a:ext cx="6667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4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73699" y="2329128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3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73699" y="29359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8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28803" y="2329128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3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28803" y="29359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8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895616" y="2353986"/>
            <a:ext cx="6667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8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83422" y="2329128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3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383422" y="29359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84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329746" y="2353986"/>
            <a:ext cx="1079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10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9364" y="2355469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8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98530" y="2355469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34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038616" y="2291061"/>
            <a:ext cx="6667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09364" y="193450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8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698530" y="1934508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34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038616" y="1870102"/>
            <a:ext cx="6667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5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09364" y="151354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8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98530" y="1513547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34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997642" y="1449143"/>
            <a:ext cx="1079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10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09364" y="109307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8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98530" y="1093077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34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997642" y="1028671"/>
            <a:ext cx="1079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15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09364" y="67211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8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98530" y="672116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34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997642" y="607713"/>
            <a:ext cx="1079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20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09364" y="293598"/>
            <a:ext cx="2615565" cy="0"/>
          </a:xfrm>
          <a:custGeom>
            <a:avLst/>
            <a:gdLst/>
            <a:ahLst/>
            <a:cxnLst/>
            <a:rect l="l" t="t" r="r" b="b"/>
            <a:pathLst>
              <a:path w="2615565" h="0">
                <a:moveTo>
                  <a:pt x="0" y="0"/>
                </a:moveTo>
                <a:lnTo>
                  <a:pt x="261550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09364" y="2355469"/>
            <a:ext cx="2615565" cy="0"/>
          </a:xfrm>
          <a:custGeom>
            <a:avLst/>
            <a:gdLst/>
            <a:ahLst/>
            <a:cxnLst/>
            <a:rect l="l" t="t" r="r" b="b"/>
            <a:pathLst>
              <a:path w="2615565" h="0">
                <a:moveTo>
                  <a:pt x="0" y="0"/>
                </a:moveTo>
                <a:lnTo>
                  <a:pt x="261550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724870" y="293598"/>
            <a:ext cx="0" cy="2062480"/>
          </a:xfrm>
          <a:custGeom>
            <a:avLst/>
            <a:gdLst/>
            <a:ahLst/>
            <a:cxnLst/>
            <a:rect l="l" t="t" r="r" b="b"/>
            <a:pathLst>
              <a:path w="0" h="2062480">
                <a:moveTo>
                  <a:pt x="0" y="206187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09364" y="293598"/>
            <a:ext cx="0" cy="2062480"/>
          </a:xfrm>
          <a:custGeom>
            <a:avLst/>
            <a:gdLst/>
            <a:ahLst/>
            <a:cxnLst/>
            <a:rect l="l" t="t" r="r" b="b"/>
            <a:pathLst>
              <a:path w="0" h="2062480">
                <a:moveTo>
                  <a:pt x="0" y="206187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495690" y="1095518"/>
            <a:ext cx="2230120" cy="1257935"/>
          </a:xfrm>
          <a:custGeom>
            <a:avLst/>
            <a:gdLst/>
            <a:ahLst/>
            <a:cxnLst/>
            <a:rect l="l" t="t" r="r" b="b"/>
            <a:pathLst>
              <a:path w="2230120" h="1257935">
                <a:moveTo>
                  <a:pt x="0" y="0"/>
                </a:moveTo>
                <a:lnTo>
                  <a:pt x="26456" y="40469"/>
                </a:lnTo>
                <a:lnTo>
                  <a:pt x="53730" y="80241"/>
                </a:lnTo>
                <a:lnTo>
                  <a:pt x="81890" y="119267"/>
                </a:lnTo>
                <a:lnTo>
                  <a:pt x="111001" y="157501"/>
                </a:lnTo>
                <a:lnTo>
                  <a:pt x="141130" y="194894"/>
                </a:lnTo>
                <a:lnTo>
                  <a:pt x="172343" y="231399"/>
                </a:lnTo>
                <a:lnTo>
                  <a:pt x="204708" y="266968"/>
                </a:lnTo>
                <a:lnTo>
                  <a:pt x="238290" y="301554"/>
                </a:lnTo>
                <a:lnTo>
                  <a:pt x="273156" y="335108"/>
                </a:lnTo>
                <a:lnTo>
                  <a:pt x="310092" y="369232"/>
                </a:lnTo>
                <a:lnTo>
                  <a:pt x="348033" y="402417"/>
                </a:lnTo>
                <a:lnTo>
                  <a:pt x="386779" y="434798"/>
                </a:lnTo>
                <a:lnTo>
                  <a:pt x="426132" y="466511"/>
                </a:lnTo>
                <a:lnTo>
                  <a:pt x="465891" y="497693"/>
                </a:lnTo>
                <a:lnTo>
                  <a:pt x="505857" y="528478"/>
                </a:lnTo>
                <a:lnTo>
                  <a:pt x="545832" y="559002"/>
                </a:lnTo>
                <a:lnTo>
                  <a:pt x="585058" y="587922"/>
                </a:lnTo>
                <a:lnTo>
                  <a:pt x="624227" y="617030"/>
                </a:lnTo>
                <a:lnTo>
                  <a:pt x="663405" y="646201"/>
                </a:lnTo>
                <a:lnTo>
                  <a:pt x="702661" y="675314"/>
                </a:lnTo>
                <a:lnTo>
                  <a:pt x="742064" y="704244"/>
                </a:lnTo>
                <a:lnTo>
                  <a:pt x="781683" y="732869"/>
                </a:lnTo>
                <a:lnTo>
                  <a:pt x="821585" y="761064"/>
                </a:lnTo>
                <a:lnTo>
                  <a:pt x="861839" y="788707"/>
                </a:lnTo>
                <a:lnTo>
                  <a:pt x="902513" y="815674"/>
                </a:lnTo>
                <a:lnTo>
                  <a:pt x="943677" y="841842"/>
                </a:lnTo>
                <a:lnTo>
                  <a:pt x="985397" y="867088"/>
                </a:lnTo>
                <a:lnTo>
                  <a:pt x="1027743" y="891288"/>
                </a:lnTo>
                <a:lnTo>
                  <a:pt x="1070784" y="914318"/>
                </a:lnTo>
                <a:lnTo>
                  <a:pt x="1114586" y="936057"/>
                </a:lnTo>
                <a:lnTo>
                  <a:pt x="1160570" y="956755"/>
                </a:lnTo>
                <a:lnTo>
                  <a:pt x="1207037" y="976812"/>
                </a:lnTo>
                <a:lnTo>
                  <a:pt x="1253916" y="996293"/>
                </a:lnTo>
                <a:lnTo>
                  <a:pt x="1301137" y="1015264"/>
                </a:lnTo>
                <a:lnTo>
                  <a:pt x="1348632" y="1033789"/>
                </a:lnTo>
                <a:lnTo>
                  <a:pt x="1396329" y="1051936"/>
                </a:lnTo>
                <a:lnTo>
                  <a:pt x="1444159" y="1069770"/>
                </a:lnTo>
                <a:lnTo>
                  <a:pt x="1492052" y="1087356"/>
                </a:lnTo>
                <a:lnTo>
                  <a:pt x="1539939" y="1104760"/>
                </a:lnTo>
                <a:lnTo>
                  <a:pt x="1587749" y="1122048"/>
                </a:lnTo>
                <a:lnTo>
                  <a:pt x="1635413" y="1139285"/>
                </a:lnTo>
                <a:lnTo>
                  <a:pt x="1682861" y="1156538"/>
                </a:lnTo>
                <a:lnTo>
                  <a:pt x="1728063" y="1171893"/>
                </a:lnTo>
                <a:lnTo>
                  <a:pt x="1773028" y="1186601"/>
                </a:lnTo>
                <a:lnTo>
                  <a:pt x="1818030" y="1200444"/>
                </a:lnTo>
                <a:lnTo>
                  <a:pt x="1863344" y="1213201"/>
                </a:lnTo>
                <a:lnTo>
                  <a:pt x="1909248" y="1224653"/>
                </a:lnTo>
                <a:lnTo>
                  <a:pt x="1956017" y="1234582"/>
                </a:lnTo>
                <a:lnTo>
                  <a:pt x="2010350" y="1243103"/>
                </a:lnTo>
                <a:lnTo>
                  <a:pt x="2064970" y="1249196"/>
                </a:lnTo>
                <a:lnTo>
                  <a:pt x="2119789" y="1253321"/>
                </a:lnTo>
                <a:lnTo>
                  <a:pt x="2174717" y="1255939"/>
                </a:lnTo>
                <a:lnTo>
                  <a:pt x="2229665" y="1257509"/>
                </a:lnTo>
              </a:path>
            </a:pathLst>
          </a:custGeom>
          <a:ln w="117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09364" y="339448"/>
            <a:ext cx="386715" cy="756285"/>
          </a:xfrm>
          <a:custGeom>
            <a:avLst/>
            <a:gdLst/>
            <a:ahLst/>
            <a:cxnLst/>
            <a:rect l="l" t="t" r="r" b="b"/>
            <a:pathLst>
              <a:path w="386715" h="756285">
                <a:moveTo>
                  <a:pt x="0" y="0"/>
                </a:moveTo>
                <a:lnTo>
                  <a:pt x="20856" y="45115"/>
                </a:lnTo>
                <a:lnTo>
                  <a:pt x="41767" y="90334"/>
                </a:lnTo>
                <a:lnTo>
                  <a:pt x="62767" y="135621"/>
                </a:lnTo>
                <a:lnTo>
                  <a:pt x="83892" y="180937"/>
                </a:lnTo>
                <a:lnTo>
                  <a:pt x="105179" y="226247"/>
                </a:lnTo>
                <a:lnTo>
                  <a:pt x="126664" y="271513"/>
                </a:lnTo>
                <a:lnTo>
                  <a:pt x="148382" y="316700"/>
                </a:lnTo>
                <a:lnTo>
                  <a:pt x="170370" y="361769"/>
                </a:lnTo>
                <a:lnTo>
                  <a:pt x="192663" y="406685"/>
                </a:lnTo>
                <a:lnTo>
                  <a:pt x="215298" y="451411"/>
                </a:lnTo>
                <a:lnTo>
                  <a:pt x="238310" y="495909"/>
                </a:lnTo>
                <a:lnTo>
                  <a:pt x="261736" y="540143"/>
                </a:lnTo>
                <a:lnTo>
                  <a:pt x="285611" y="584077"/>
                </a:lnTo>
                <a:lnTo>
                  <a:pt x="309972" y="627673"/>
                </a:lnTo>
                <a:lnTo>
                  <a:pt x="334854" y="670895"/>
                </a:lnTo>
                <a:lnTo>
                  <a:pt x="360293" y="713706"/>
                </a:lnTo>
                <a:lnTo>
                  <a:pt x="386326" y="756070"/>
                </a:lnTo>
              </a:path>
            </a:pathLst>
          </a:custGeom>
          <a:ln w="117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2349296" y="2353986"/>
            <a:ext cx="1581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3505">
              <a:lnSpc>
                <a:spcPts val="720"/>
              </a:lnSpc>
              <a:spcBef>
                <a:spcPts val="95"/>
              </a:spcBef>
            </a:pPr>
            <a:r>
              <a:rPr dirty="0" sz="650" spc="-5" b="1">
                <a:latin typeface="Times New Roman"/>
                <a:cs typeface="Times New Roman"/>
              </a:rPr>
              <a:t>6</a:t>
            </a: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ts val="720"/>
              </a:lnSpc>
            </a:pPr>
            <a:r>
              <a:rPr dirty="0" sz="650" spc="-10" b="1">
                <a:latin typeface="Times New Roman"/>
                <a:cs typeface="Times New Roman"/>
              </a:rPr>
              <a:t>pH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64163" y="1106825"/>
            <a:ext cx="132715" cy="434340"/>
          </a:xfrm>
          <a:prstGeom prst="rect">
            <a:avLst/>
          </a:prstGeom>
        </p:spPr>
        <p:txBody>
          <a:bodyPr wrap="square" lIns="0" tIns="1270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" b="1">
                <a:latin typeface="Times New Roman"/>
                <a:cs typeface="Times New Roman"/>
              </a:rPr>
              <a:t>log</a:t>
            </a:r>
            <a:r>
              <a:rPr dirty="0" sz="650" spc="-50" b="1">
                <a:latin typeface="Times New Roman"/>
                <a:cs typeface="Times New Roman"/>
              </a:rPr>
              <a:t> </a:t>
            </a:r>
            <a:r>
              <a:rPr dirty="0" sz="650" spc="-5">
                <a:latin typeface="Symbol"/>
                <a:cs typeface="Symbol"/>
              </a:rPr>
              <a:t></a:t>
            </a:r>
            <a:r>
              <a:rPr dirty="0" sz="650" spc="-5" b="1">
                <a:latin typeface="Times New Roman"/>
                <a:cs typeface="Times New Roman"/>
              </a:rPr>
              <a:t>(Y(H))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38122" y="2728988"/>
            <a:ext cx="15322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6:</a:t>
            </a:r>
            <a:r>
              <a:rPr dirty="0" sz="1000" spc="-1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的酸效</a:t>
            </a:r>
            <a:r>
              <a:rPr dirty="0" sz="1050" spc="-10">
                <a:latin typeface="Arial Unicode MS"/>
                <a:cs typeface="Arial Unicode MS"/>
              </a:rPr>
              <a:t>应</a:t>
            </a:r>
            <a:r>
              <a:rPr dirty="0" sz="1050" spc="-5">
                <a:latin typeface="Arial Unicode MS"/>
                <a:cs typeface="Arial Unicode MS"/>
              </a:rPr>
              <a:t>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3354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EDTA</a:t>
            </a:r>
            <a:r>
              <a:rPr dirty="0" sz="1000" spc="-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共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存离子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效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应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634758"/>
            <a:ext cx="4394835" cy="150622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如果溶液中除了被滴定的金属离</a:t>
            </a: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外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还同时存在可</a:t>
            </a:r>
            <a:endParaRPr sz="1200">
              <a:latin typeface="Arial Unicode MS"/>
              <a:cs typeface="Arial Unicode MS"/>
            </a:endParaRPr>
          </a:p>
          <a:p>
            <a:pPr marL="12700" marR="71755">
              <a:lnSpc>
                <a:spcPct val="122300"/>
              </a:lnSpc>
            </a:pP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发生配位反应的其它金属离</a:t>
            </a: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145">
                <a:latin typeface="Georgia"/>
                <a:cs typeface="Georgia"/>
              </a:rPr>
              <a:t>N</a:t>
            </a:r>
            <a:r>
              <a:rPr dirty="0" sz="1200" spc="-14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则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将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，  这样就出现</a:t>
            </a:r>
            <a:r>
              <a:rPr dirty="0" sz="1200" spc="175">
                <a:latin typeface="Arial Unicode MS"/>
                <a:cs typeface="Arial Unicode MS"/>
              </a:rPr>
              <a:t>了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同时争</a:t>
            </a:r>
            <a:r>
              <a:rPr dirty="0" sz="1200" spc="175">
                <a:latin typeface="Arial Unicode MS"/>
                <a:cs typeface="Arial Unicode MS"/>
              </a:rPr>
              <a:t>夺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必然会</a:t>
            </a:r>
            <a:r>
              <a:rPr dirty="0" sz="1200" spc="175">
                <a:latin typeface="Arial Unicode MS"/>
                <a:cs typeface="Arial Unicode MS"/>
              </a:rPr>
              <a:t>对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的滴定 产生一定的影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离子对滴定过程产生的影响用共存离子副反应系数来表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定义如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5583" y="2215731"/>
            <a:ext cx="2952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[Y</a:t>
            </a:r>
            <a:r>
              <a:rPr dirty="0" baseline="37037" sz="900" spc="-7">
                <a:latin typeface="Lucida Sans Unicode"/>
                <a:cs typeface="Lucida Sans Unicode"/>
              </a:rPr>
              <a:t>t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23683" y="2426068"/>
            <a:ext cx="218440" cy="0"/>
          </a:xfrm>
          <a:custGeom>
            <a:avLst/>
            <a:gdLst/>
            <a:ahLst/>
            <a:cxnLst/>
            <a:rect l="l" t="t" r="r" b="b"/>
            <a:pathLst>
              <a:path w="218440" h="0">
                <a:moveTo>
                  <a:pt x="0" y="0"/>
                </a:moveTo>
                <a:lnTo>
                  <a:pt x="21844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3201" y="2309456"/>
            <a:ext cx="1169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0" b="0" i="1">
                <a:latin typeface="Bookman Old Style"/>
                <a:cs typeface="Bookman Old Style"/>
              </a:rPr>
              <a:t>α</a:t>
            </a:r>
            <a:r>
              <a:rPr dirty="0" sz="1100" spc="20">
                <a:latin typeface="Georgia"/>
                <a:cs typeface="Georgia"/>
              </a:rPr>
              <a:t>(Y(N))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 spc="-44">
                <a:latin typeface="Georgia"/>
                <a:cs typeface="Georgia"/>
              </a:rPr>
              <a:t>[Y]</a:t>
            </a:r>
            <a:r>
              <a:rPr dirty="0" baseline="-37878" sz="1650" spc="22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57210" y="2426068"/>
            <a:ext cx="635000" cy="0"/>
          </a:xfrm>
          <a:custGeom>
            <a:avLst/>
            <a:gdLst/>
            <a:ahLst/>
            <a:cxnLst/>
            <a:rect l="l" t="t" r="r" b="b"/>
            <a:pathLst>
              <a:path w="635000" h="0">
                <a:moveTo>
                  <a:pt x="0" y="0"/>
                </a:moveTo>
                <a:lnTo>
                  <a:pt x="63500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44510" y="2193224"/>
            <a:ext cx="66103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marR="5080" indent="-227329">
              <a:lnSpc>
                <a:spcPct val="112599"/>
              </a:lnSpc>
              <a:spcBef>
                <a:spcPts val="100"/>
              </a:spcBef>
            </a:pPr>
            <a:r>
              <a:rPr dirty="0" sz="1100" spc="-30">
                <a:latin typeface="Georgia"/>
                <a:cs typeface="Georgia"/>
              </a:rPr>
              <a:t>[Y]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[NY]  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3180" y="2309456"/>
            <a:ext cx="379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45905" y="2426068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4" h="0">
                <a:moveTo>
                  <a:pt x="0" y="0"/>
                </a:moveTo>
                <a:lnTo>
                  <a:pt x="28478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33205" y="2193224"/>
            <a:ext cx="31051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-30">
                <a:latin typeface="Georgia"/>
                <a:cs typeface="Georgia"/>
              </a:rPr>
              <a:t>[NY]</a:t>
            </a:r>
            <a:endParaRPr sz="1100">
              <a:latin typeface="Georgia"/>
              <a:cs typeface="Georgia"/>
            </a:endParaRPr>
          </a:p>
          <a:p>
            <a:pPr marL="64135">
              <a:lnSpc>
                <a:spcPct val="100000"/>
              </a:lnSpc>
              <a:spcBef>
                <a:spcPts val="170"/>
              </a:spcBef>
            </a:pPr>
            <a:r>
              <a:rPr dirty="0" sz="1100" spc="-30">
                <a:latin typeface="Georgia"/>
                <a:cs typeface="Georgia"/>
              </a:rPr>
              <a:t>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71660" y="2309456"/>
            <a:ext cx="14109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20470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40">
                <a:latin typeface="Georgia"/>
                <a:cs typeface="Georgia"/>
              </a:rPr>
              <a:t>(N</a:t>
            </a:r>
            <a:r>
              <a:rPr dirty="0" sz="1100" spc="65">
                <a:latin typeface="Georgia"/>
                <a:cs typeface="Georgia"/>
              </a:rPr>
              <a:t>Y</a:t>
            </a:r>
            <a:r>
              <a:rPr dirty="0" sz="1100" spc="-60">
                <a:latin typeface="Georgia"/>
                <a:cs typeface="Georgia"/>
              </a:rPr>
              <a:t>)[N]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15"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4" y="2652484"/>
            <a:ext cx="426085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sz="1100" spc="30">
                <a:latin typeface="Georgia"/>
                <a:cs typeface="Georgia"/>
              </a:rPr>
              <a:t>(NY)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配位的稳定常</a:t>
            </a:r>
            <a:r>
              <a:rPr dirty="0" sz="1200" spc="-65">
                <a:latin typeface="Arial Unicode MS"/>
                <a:cs typeface="Arial Unicode MS"/>
              </a:rPr>
              <a:t>数</a:t>
            </a:r>
            <a:r>
              <a:rPr dirty="0" sz="1200" spc="-114">
                <a:latin typeface="Arial Unicode MS"/>
                <a:cs typeface="Arial Unicode MS"/>
              </a:rPr>
              <a:t>；</a:t>
            </a:r>
            <a:r>
              <a:rPr dirty="0" sz="1100" spc="-114">
                <a:latin typeface="Georgia"/>
                <a:cs typeface="Georgia"/>
              </a:rPr>
              <a:t>[N]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为当溶液中反应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达平衡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的平衡浓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3354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EDTA</a:t>
            </a:r>
            <a:r>
              <a:rPr dirty="0" sz="1000" spc="-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总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副反应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系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数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653338"/>
            <a:ext cx="421322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当溶液中既存在酸效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又同时存在共存离子效应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我们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的总副反应系数来描</a:t>
            </a:r>
            <a:r>
              <a:rPr dirty="0" sz="1200" spc="-80">
                <a:latin typeface="Arial Unicode MS"/>
                <a:cs typeface="Arial Unicode MS"/>
              </a:rPr>
              <a:t>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5784" y="1672971"/>
            <a:ext cx="218440" cy="0"/>
          </a:xfrm>
          <a:custGeom>
            <a:avLst/>
            <a:gdLst/>
            <a:ahLst/>
            <a:cxnLst/>
            <a:rect l="l" t="t" r="r" b="b"/>
            <a:pathLst>
              <a:path w="218440" h="0">
                <a:moveTo>
                  <a:pt x="0" y="0"/>
                </a:moveTo>
                <a:lnTo>
                  <a:pt x="21844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27684" y="1462633"/>
            <a:ext cx="635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27050" algn="l"/>
              </a:tabLst>
            </a:pPr>
            <a:r>
              <a:rPr dirty="0" sz="1100" spc="-5">
                <a:latin typeface="Georgia"/>
                <a:cs typeface="Georgia"/>
              </a:rPr>
              <a:t>[Y</a:t>
            </a:r>
            <a:r>
              <a:rPr dirty="0" baseline="37037" sz="900" spc="-7">
                <a:latin typeface="Lucida Sans Unicode"/>
                <a:cs typeface="Lucida Sans Unicode"/>
              </a:rPr>
              <a:t>t</a:t>
            </a:r>
            <a:r>
              <a:rPr dirty="0" sz="1100" spc="-5">
                <a:latin typeface="Georgia"/>
                <a:cs typeface="Georgia"/>
              </a:rPr>
              <a:t>]	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99311" y="1672971"/>
            <a:ext cx="180975" cy="0"/>
          </a:xfrm>
          <a:custGeom>
            <a:avLst/>
            <a:gdLst/>
            <a:ahLst/>
            <a:cxnLst/>
            <a:rect l="l" t="t" r="r" b="b"/>
            <a:pathLst>
              <a:path w="180975" h="0">
                <a:moveTo>
                  <a:pt x="0" y="0"/>
                </a:moveTo>
                <a:lnTo>
                  <a:pt x="180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26974" y="1556359"/>
            <a:ext cx="4154170" cy="8940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528955">
              <a:lnSpc>
                <a:spcPct val="100000"/>
              </a:lnSpc>
              <a:spcBef>
                <a:spcPts val="90"/>
              </a:spcBef>
            </a:pP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(Y)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0">
                <a:latin typeface="Georgia"/>
                <a:cs typeface="Georgia"/>
              </a:rPr>
              <a:t> </a:t>
            </a:r>
            <a:r>
              <a:rPr dirty="0" baseline="-37878" sz="1650" spc="-44">
                <a:latin typeface="Georgia"/>
                <a:cs typeface="Georgia"/>
              </a:rPr>
              <a:t>[Y]</a:t>
            </a:r>
            <a:r>
              <a:rPr dirty="0" baseline="-37878" sz="1650" spc="97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55">
                <a:latin typeface="Georgia"/>
                <a:cs typeface="Georgia"/>
              </a:rPr>
              <a:t> </a:t>
            </a:r>
            <a:r>
              <a:rPr dirty="0" baseline="-37878" sz="1650" spc="-44">
                <a:latin typeface="Georgia"/>
                <a:cs typeface="Georgia"/>
              </a:rPr>
              <a:t>[Y]</a:t>
            </a:r>
            <a:r>
              <a:rPr dirty="0" baseline="-37878" sz="1650" spc="52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[Y]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[HY]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-13888" sz="900" spc="-15">
                <a:latin typeface="Times New Roman"/>
                <a:cs typeface="Times New Roman"/>
              </a:rPr>
              <a:t>2</a:t>
            </a:r>
            <a:r>
              <a:rPr dirty="0" sz="1100" spc="-10">
                <a:latin typeface="Georgia"/>
                <a:cs typeface="Georgia"/>
              </a:rPr>
              <a:t>Y]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-13888" sz="900" spc="-15">
                <a:latin typeface="Times New Roman"/>
                <a:cs typeface="Times New Roman"/>
              </a:rPr>
              <a:t>6</a:t>
            </a:r>
            <a:r>
              <a:rPr dirty="0" sz="1100" spc="-10">
                <a:latin typeface="Georgia"/>
                <a:cs typeface="Georgia"/>
              </a:rPr>
              <a:t>Y]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2212340">
              <a:lnSpc>
                <a:spcPct val="100000"/>
              </a:lnSpc>
              <a:spcBef>
                <a:spcPts val="1330"/>
              </a:spcBef>
            </a:pPr>
            <a:r>
              <a:rPr dirty="0" sz="1100" spc="20">
                <a:latin typeface="Georgia"/>
                <a:cs typeface="Georgia"/>
              </a:rPr>
              <a:t>+[N</a:t>
            </a:r>
            <a:r>
              <a:rPr dirty="0" baseline="-13888" sz="900" spc="30">
                <a:latin typeface="Times New Roman"/>
                <a:cs typeface="Times New Roman"/>
              </a:rPr>
              <a:t>1</a:t>
            </a:r>
            <a:r>
              <a:rPr dirty="0" sz="1100" spc="20">
                <a:latin typeface="Georgia"/>
                <a:cs typeface="Georgia"/>
              </a:rPr>
              <a:t>Y]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[N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Y]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[N</a:t>
            </a:r>
            <a:r>
              <a:rPr dirty="0" baseline="-13888" sz="900" spc="22" i="1">
                <a:latin typeface="Arial"/>
                <a:cs typeface="Arial"/>
              </a:rPr>
              <a:t>m</a:t>
            </a:r>
            <a:r>
              <a:rPr dirty="0" sz="1100" spc="15">
                <a:latin typeface="Georgia"/>
                <a:cs typeface="Georgia"/>
              </a:rPr>
              <a:t>Y]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algn="ctr" marR="538480">
              <a:lnSpc>
                <a:spcPct val="100000"/>
              </a:lnSpc>
              <a:spcBef>
                <a:spcPts val="1440"/>
              </a:spcBef>
            </a:pPr>
            <a:r>
              <a:rPr dirty="0" sz="1200" spc="-5">
                <a:latin typeface="Arial Unicode MS"/>
                <a:cs typeface="Arial Unicode MS"/>
              </a:rPr>
              <a:t>对上式分子项加</a:t>
            </a:r>
            <a:r>
              <a:rPr dirty="0" sz="1200" spc="-260">
                <a:latin typeface="Arial Unicode MS"/>
                <a:cs typeface="Arial Unicode MS"/>
              </a:rPr>
              <a:t>入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200" spc="-160">
                <a:latin typeface="Arial Unicode MS"/>
                <a:cs typeface="Arial Unicode MS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m</a:t>
            </a:r>
            <a:r>
              <a:rPr dirty="0" sz="1100" spc="-25">
                <a:latin typeface="Georgia"/>
                <a:cs typeface="Georgia"/>
              </a:rPr>
              <a:t>[Y]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m</a:t>
            </a:r>
            <a:r>
              <a:rPr dirty="0" sz="1100" spc="-25">
                <a:latin typeface="Georgia"/>
                <a:cs typeface="Georgia"/>
              </a:rPr>
              <a:t>[Y]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项并整理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404" y="2618981"/>
            <a:ext cx="3711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495675" algn="l"/>
              </a:tabLst>
            </a:pP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(Y)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α</a:t>
            </a:r>
            <a:r>
              <a:rPr dirty="0" sz="1100" spc="40">
                <a:latin typeface="Georgia"/>
                <a:cs typeface="Georgia"/>
              </a:rPr>
              <a:t>(N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Y)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55" b="0" i="1">
                <a:latin typeface="Bookman Old Style"/>
                <a:cs typeface="Bookman Old Style"/>
              </a:rPr>
              <a:t>α</a:t>
            </a:r>
            <a:r>
              <a:rPr dirty="0" sz="1100" spc="55">
                <a:latin typeface="Georgia"/>
                <a:cs typeface="Georgia"/>
              </a:rPr>
              <a:t>(N</a:t>
            </a:r>
            <a:r>
              <a:rPr dirty="0" baseline="-13888" sz="900" spc="82" i="1">
                <a:latin typeface="Arial"/>
                <a:cs typeface="Arial"/>
              </a:rPr>
              <a:t>m</a:t>
            </a:r>
            <a:r>
              <a:rPr dirty="0" sz="1100" spc="55">
                <a:latin typeface="Georgia"/>
                <a:cs typeface="Georgia"/>
              </a:rPr>
              <a:t>Y)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m	</a:t>
            </a:r>
            <a:r>
              <a:rPr dirty="0" sz="1100" spc="-20">
                <a:latin typeface="Georgia"/>
                <a:cs typeface="Georgia"/>
              </a:rPr>
              <a:t>(4)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218821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5.4.2</a:t>
            </a: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金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属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离子的副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应和副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应系数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654304"/>
            <a:ext cx="4272280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175"/>
              <a:t>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pc="-5"/>
              <a:t>滴定金属离</a:t>
            </a:r>
            <a:r>
              <a:rPr dirty="0" spc="175"/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pc="-5"/>
              <a:t>的过程</a:t>
            </a:r>
            <a:r>
              <a:rPr dirty="0" spc="-80"/>
              <a:t>中</a:t>
            </a:r>
            <a:r>
              <a:rPr dirty="0" spc="-185"/>
              <a:t>，</a:t>
            </a:r>
            <a:r>
              <a:rPr dirty="0" spc="-5"/>
              <a:t>如果同时存在另一种能 </a:t>
            </a:r>
            <a:r>
              <a:rPr dirty="0" spc="175"/>
              <a:t>与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pc="-5"/>
              <a:t>形成配合物的配位</a:t>
            </a:r>
            <a:r>
              <a:rPr dirty="0" spc="175"/>
              <a:t>剂</a:t>
            </a:r>
            <a:r>
              <a:rPr dirty="0" sz="1100" spc="15">
                <a:latin typeface="Georgia"/>
                <a:cs typeface="Georgia"/>
              </a:rPr>
              <a:t>L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pc="-5"/>
              <a:t>存</a:t>
            </a:r>
            <a:r>
              <a:rPr dirty="0" spc="-80"/>
              <a:t>在</a:t>
            </a:r>
            <a:r>
              <a:rPr dirty="0" spc="-185"/>
              <a:t>，</a:t>
            </a:r>
            <a:r>
              <a:rPr dirty="0" spc="175"/>
              <a:t>则</a:t>
            </a:r>
            <a:r>
              <a:rPr dirty="0" sz="1100" spc="15">
                <a:latin typeface="Georgia"/>
                <a:cs typeface="Georgia"/>
              </a:rPr>
              <a:t>L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pc="175"/>
              <a:t>与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pc="-5"/>
              <a:t>的反应必然会影响 </a:t>
            </a:r>
            <a:r>
              <a:rPr dirty="0" spc="175"/>
              <a:t>到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pc="175"/>
              <a:t>与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pc="-5"/>
              <a:t>的反</a:t>
            </a:r>
            <a:r>
              <a:rPr dirty="0" spc="-20"/>
              <a:t>应</a:t>
            </a:r>
            <a:r>
              <a:rPr dirty="0" spc="-235"/>
              <a:t>。</a:t>
            </a:r>
            <a:r>
              <a:rPr dirty="0" spc="-5"/>
              <a:t>我们称这种由于其它配位剂存在</a:t>
            </a:r>
            <a:r>
              <a:rPr dirty="0" spc="175"/>
              <a:t>使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pc="-5"/>
              <a:t>参加 主反应的能力降低的现象为配位效</a:t>
            </a:r>
            <a:r>
              <a:rPr dirty="0" spc="-20"/>
              <a:t>应</a:t>
            </a:r>
            <a:r>
              <a:rPr dirty="0" spc="-5"/>
              <a:t>。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13" y="1729143"/>
            <a:ext cx="39306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配位效应的大小用金属离子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副反应系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来表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定义如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12862" y="2258529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 h="0">
                <a:moveTo>
                  <a:pt x="0" y="0"/>
                </a:moveTo>
                <a:lnTo>
                  <a:pt x="23806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66023" y="2258529"/>
            <a:ext cx="2032635" cy="0"/>
          </a:xfrm>
          <a:custGeom>
            <a:avLst/>
            <a:gdLst/>
            <a:ahLst/>
            <a:cxnLst/>
            <a:rect l="l" t="t" r="r" b="b"/>
            <a:pathLst>
              <a:path w="2032635" h="0">
                <a:moveTo>
                  <a:pt x="0" y="0"/>
                </a:moveTo>
                <a:lnTo>
                  <a:pt x="203208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3902" y="2025685"/>
            <a:ext cx="330517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265"/>
              </a:spcBef>
            </a:pPr>
            <a:r>
              <a:rPr dirty="0" baseline="-37878" sz="1650" spc="7" b="0" i="1">
                <a:latin typeface="Bookman Old Style"/>
                <a:cs typeface="Bookman Old Style"/>
              </a:rPr>
              <a:t>α</a:t>
            </a:r>
            <a:r>
              <a:rPr dirty="0" baseline="-37878" sz="1650" spc="7">
                <a:latin typeface="Georgia"/>
                <a:cs typeface="Georgia"/>
              </a:rPr>
              <a:t>(M(L))</a:t>
            </a:r>
            <a:r>
              <a:rPr dirty="0" baseline="-37878" sz="1650" spc="44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232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[M</a:t>
            </a:r>
            <a:r>
              <a:rPr dirty="0" baseline="37037" sz="900" spc="-82">
                <a:latin typeface="Lucida Sans Unicode"/>
                <a:cs typeface="Lucida Sans Unicode"/>
              </a:rPr>
              <a:t>t</a:t>
            </a:r>
            <a:r>
              <a:rPr dirty="0" sz="1100" spc="-55">
                <a:latin typeface="Georgia"/>
                <a:cs typeface="Georgia"/>
              </a:rPr>
              <a:t>]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232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[M]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[ML]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[ML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[ML</a:t>
            </a:r>
            <a:r>
              <a:rPr dirty="0" baseline="-13888" sz="900" spc="-22" i="1">
                <a:latin typeface="Arial"/>
                <a:cs typeface="Arial"/>
              </a:rPr>
              <a:t>n</a:t>
            </a:r>
            <a:r>
              <a:rPr dirty="0" sz="1100" spc="-1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785495">
              <a:lnSpc>
                <a:spcPct val="100000"/>
              </a:lnSpc>
              <a:spcBef>
                <a:spcPts val="170"/>
              </a:spcBef>
              <a:tabLst>
                <a:tab pos="2135505" algn="l"/>
              </a:tabLst>
            </a:pPr>
            <a:r>
              <a:rPr dirty="0" sz="1100" spc="-85">
                <a:latin typeface="Georgia"/>
                <a:cs typeface="Georgia"/>
              </a:rPr>
              <a:t>[M]	[M]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9722" y="214191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(5)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2622423"/>
            <a:ext cx="432752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83845">
              <a:lnSpc>
                <a:spcPct val="100000"/>
              </a:lnSpc>
              <a:spcBef>
                <a:spcPts val="420"/>
              </a:spcBef>
            </a:pPr>
            <a:r>
              <a:rPr dirty="0" sz="1200" spc="-95">
                <a:latin typeface="Arial Unicode MS"/>
                <a:cs typeface="Arial Unicode MS"/>
              </a:rPr>
              <a:t>（</a:t>
            </a:r>
            <a:r>
              <a:rPr dirty="0" sz="1100" spc="-95">
                <a:latin typeface="Georgia"/>
                <a:cs typeface="Georgia"/>
                <a:hlinkClick r:id="rId2" action="ppaction://hlinksldjump"/>
              </a:rPr>
              <a:t>5</a:t>
            </a:r>
            <a:r>
              <a:rPr dirty="0" sz="1200" spc="-9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式表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 b="0" i="1">
                <a:latin typeface="Bookman Old Style"/>
                <a:cs typeface="Bookman Old Style"/>
              </a:rPr>
              <a:t>α</a:t>
            </a:r>
            <a:r>
              <a:rPr dirty="0" sz="1100" spc="-20">
                <a:latin typeface="Georgia"/>
                <a:cs typeface="Georgia"/>
              </a:rPr>
              <a:t>(M(L))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越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则没有参加主反应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的总浓度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越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溶液中游离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浓度越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越不利于主反应的进</a:t>
            </a:r>
            <a:r>
              <a:rPr dirty="0" sz="1200" spc="-20">
                <a:latin typeface="Arial Unicode MS"/>
                <a:cs typeface="Arial Unicode MS"/>
              </a:rPr>
              <a:t>行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8717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金属离子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总副反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应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系数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833742"/>
            <a:ext cx="317881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60"/>
              <a:t>将</a:t>
            </a:r>
            <a:r>
              <a:rPr dirty="0" spc="-5"/>
              <a:t>（</a:t>
            </a:r>
            <a:r>
              <a:rPr dirty="0" sz="1100" spc="-5">
                <a:latin typeface="Georgia"/>
                <a:cs typeface="Georgia"/>
                <a:hlinkClick r:id="rId2" action="ppaction://hlinksldjump"/>
              </a:rPr>
              <a:t>5</a:t>
            </a:r>
            <a:r>
              <a:rPr dirty="0" spc="-280"/>
              <a:t>）</a:t>
            </a:r>
            <a:r>
              <a:rPr dirty="0" spc="-5"/>
              <a:t>式中的各项用累积平衡常数表</a:t>
            </a:r>
            <a:r>
              <a:rPr dirty="0" spc="-80"/>
              <a:t>示</a:t>
            </a:r>
            <a:r>
              <a:rPr dirty="0" spc="-185"/>
              <a:t>，</a:t>
            </a:r>
            <a:r>
              <a:rPr dirty="0" spc="-5"/>
              <a:t>则</a:t>
            </a:r>
            <a:r>
              <a:rPr dirty="0" spc="-90"/>
              <a:t>得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9722" y="1294422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(6)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44" y="1284414"/>
            <a:ext cx="3547745" cy="51054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890905">
              <a:lnSpc>
                <a:spcPts val="305"/>
              </a:lnSpc>
              <a:spcBef>
                <a:spcPts val="170"/>
              </a:spcBef>
            </a:pPr>
            <a:r>
              <a:rPr dirty="0" sz="1100" spc="5" b="0" i="1">
                <a:latin typeface="Bookman Old Style"/>
                <a:cs typeface="Bookman Old Style"/>
              </a:rPr>
              <a:t>α</a:t>
            </a:r>
            <a:r>
              <a:rPr dirty="0" sz="1100" spc="5">
                <a:latin typeface="Georgia"/>
                <a:cs typeface="Georgia"/>
              </a:rPr>
              <a:t>(M(L))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β</a:t>
            </a:r>
            <a:r>
              <a:rPr dirty="0" baseline="-13888" sz="900" spc="-44">
                <a:latin typeface="Times New Roman"/>
                <a:cs typeface="Times New Roman"/>
              </a:rPr>
              <a:t>1</a:t>
            </a:r>
            <a:r>
              <a:rPr dirty="0" sz="1100" spc="-30">
                <a:latin typeface="Georgia"/>
                <a:cs typeface="Georgia"/>
              </a:rPr>
              <a:t>[L]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β</a:t>
            </a:r>
            <a:r>
              <a:rPr dirty="0" baseline="-13888" sz="900" spc="-44">
                <a:latin typeface="Times New Roman"/>
                <a:cs typeface="Times New Roman"/>
              </a:rPr>
              <a:t>2</a:t>
            </a:r>
            <a:r>
              <a:rPr dirty="0" sz="1100" spc="-30">
                <a:latin typeface="Georgia"/>
                <a:cs typeface="Georgia"/>
              </a:rPr>
              <a:t>[L]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170" b="0" i="1">
                <a:latin typeface="Bookman Old Style"/>
                <a:cs typeface="Bookman Old Style"/>
              </a:rPr>
              <a:t> </a:t>
            </a:r>
            <a:r>
              <a:rPr dirty="0" sz="1100" spc="-70">
                <a:latin typeface="Georgia"/>
                <a:cs typeface="Georgia"/>
              </a:rPr>
              <a:t>[L]</a:t>
            </a:r>
            <a:endParaRPr sz="1100">
              <a:latin typeface="Georgia"/>
              <a:cs typeface="Georgia"/>
            </a:endParaRPr>
          </a:p>
          <a:p>
            <a:pPr algn="r" marR="30480">
              <a:lnSpc>
                <a:spcPts val="345"/>
              </a:lnSpc>
              <a:tabLst>
                <a:tab pos="85915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  <a:p>
            <a:pPr algn="r" marR="258445">
              <a:lnSpc>
                <a:spcPct val="100000"/>
              </a:lnSpc>
              <a:spcBef>
                <a:spcPts val="1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式中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70">
                <a:latin typeface="Georgia"/>
                <a:cs typeface="Georgia"/>
              </a:rPr>
              <a:t>[L]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为平衡态时溶液中游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15">
                <a:latin typeface="Georgia"/>
                <a:cs typeface="Georgia"/>
              </a:rPr>
              <a:t>L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44" y="1907819"/>
            <a:ext cx="4420235" cy="833119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上式可以推广到溶液中存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15" b="0" i="1">
                <a:latin typeface="Bookman Old Style"/>
                <a:cs typeface="Bookman Old Style"/>
              </a:rPr>
              <a:t>m</a:t>
            </a:r>
            <a:r>
              <a:rPr dirty="0" sz="1100" spc="-16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种配位剂的情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此时金属离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的总副反应系数如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marL="420370">
              <a:lnSpc>
                <a:spcPct val="100000"/>
              </a:lnSpc>
              <a:tabLst>
                <a:tab pos="4191635" algn="l"/>
              </a:tabLst>
            </a:pPr>
            <a:r>
              <a:rPr dirty="0" sz="1100" spc="-5" b="0" i="1">
                <a:latin typeface="Bookman Old Style"/>
                <a:cs typeface="Bookman Old Style"/>
              </a:rPr>
              <a:t>α</a:t>
            </a:r>
            <a:r>
              <a:rPr dirty="0" sz="1100" spc="-5">
                <a:latin typeface="Georgia"/>
                <a:cs typeface="Georgia"/>
              </a:rPr>
              <a:t>(M)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α</a:t>
            </a:r>
            <a:r>
              <a:rPr dirty="0" sz="1100" spc="15">
                <a:latin typeface="Georgia"/>
                <a:cs typeface="Georgia"/>
              </a:rPr>
              <a:t>(M(L</a:t>
            </a:r>
            <a:r>
              <a:rPr dirty="0" baseline="-13888" sz="900" spc="22">
                <a:latin typeface="Times New Roman"/>
                <a:cs typeface="Times New Roman"/>
              </a:rPr>
              <a:t>1</a:t>
            </a:r>
            <a:r>
              <a:rPr dirty="0" sz="1100" spc="15">
                <a:latin typeface="Georgia"/>
                <a:cs typeface="Georgia"/>
              </a:rPr>
              <a:t>))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α</a:t>
            </a:r>
            <a:r>
              <a:rPr dirty="0" sz="1100" spc="15">
                <a:latin typeface="Georgia"/>
                <a:cs typeface="Georgia"/>
              </a:rPr>
              <a:t>(M(L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))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α</a:t>
            </a:r>
            <a:r>
              <a:rPr dirty="0" sz="1100" spc="25">
                <a:latin typeface="Georgia"/>
                <a:cs typeface="Georgia"/>
              </a:rPr>
              <a:t>(M(L</a:t>
            </a:r>
            <a:r>
              <a:rPr dirty="0" baseline="-13888" sz="900" spc="37" i="1">
                <a:latin typeface="Arial"/>
                <a:cs typeface="Arial"/>
              </a:rPr>
              <a:t>m</a:t>
            </a:r>
            <a:r>
              <a:rPr dirty="0" sz="1100" spc="25">
                <a:latin typeface="Georgia"/>
                <a:cs typeface="Georgia"/>
              </a:rPr>
              <a:t>))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5">
                <a:latin typeface="Georgia"/>
                <a:cs typeface="Georgia"/>
              </a:rPr>
              <a:t>(</a:t>
            </a:r>
            <a:r>
              <a:rPr dirty="0" sz="1100" spc="-5" b="0" i="1">
                <a:latin typeface="Bookman Old Style"/>
                <a:cs typeface="Bookman Old Style"/>
              </a:rPr>
              <a:t>m</a:t>
            </a:r>
            <a:r>
              <a:rPr dirty="0" sz="1100" spc="-80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40">
                <a:latin typeface="Georgia"/>
                <a:cs typeface="Georgia"/>
              </a:rPr>
              <a:t>1)	</a:t>
            </a:r>
            <a:r>
              <a:rPr dirty="0" sz="1100" spc="5">
                <a:latin typeface="Georgia"/>
                <a:cs typeface="Georgia"/>
              </a:rPr>
              <a:t>(7)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4104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16610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5218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3948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85292"/>
            <a:ext cx="50749" cy="5668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60887"/>
            <a:ext cx="4432935" cy="442595"/>
          </a:xfrm>
          <a:custGeom>
            <a:avLst/>
            <a:gdLst/>
            <a:ahLst/>
            <a:cxnLst/>
            <a:rect l="l" t="t" r="r" b="b"/>
            <a:pathLst>
              <a:path w="4432935" h="442594">
                <a:moveTo>
                  <a:pt x="4432566" y="0"/>
                </a:moveTo>
                <a:lnTo>
                  <a:pt x="0" y="0"/>
                </a:lnTo>
                <a:lnTo>
                  <a:pt x="0" y="391295"/>
                </a:lnTo>
                <a:lnTo>
                  <a:pt x="4008" y="411019"/>
                </a:lnTo>
                <a:lnTo>
                  <a:pt x="14922" y="427172"/>
                </a:lnTo>
                <a:lnTo>
                  <a:pt x="31075" y="438087"/>
                </a:lnTo>
                <a:lnTo>
                  <a:pt x="50800" y="442095"/>
                </a:lnTo>
                <a:lnTo>
                  <a:pt x="4381765" y="442095"/>
                </a:lnTo>
                <a:lnTo>
                  <a:pt x="4401490" y="438087"/>
                </a:lnTo>
                <a:lnTo>
                  <a:pt x="4417643" y="427172"/>
                </a:lnTo>
                <a:lnTo>
                  <a:pt x="4428558" y="411019"/>
                </a:lnTo>
                <a:lnTo>
                  <a:pt x="4432566" y="391295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23381"/>
            <a:ext cx="0" cy="548005"/>
          </a:xfrm>
          <a:custGeom>
            <a:avLst/>
            <a:gdLst/>
            <a:ahLst/>
            <a:cxnLst/>
            <a:rect l="l" t="t" r="r" b="b"/>
            <a:pathLst>
              <a:path w="0" h="548005">
                <a:moveTo>
                  <a:pt x="0" y="54785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1068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9798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8528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279184"/>
            <a:ext cx="4398645" cy="6883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8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5.2</a:t>
            </a:r>
            <a:endParaRPr sz="1200">
              <a:latin typeface="Calibri"/>
              <a:cs typeface="Calibri"/>
            </a:endParaRPr>
          </a:p>
          <a:p>
            <a:pPr marL="50800" marR="43180">
              <a:lnSpc>
                <a:spcPts val="1760"/>
              </a:lnSpc>
              <a:spcBef>
                <a:spcPts val="80"/>
              </a:spcBef>
            </a:pPr>
            <a:r>
              <a:rPr dirty="0" sz="1200" spc="175">
                <a:latin typeface="Arial Unicode MS"/>
                <a:cs typeface="Arial Unicode MS"/>
              </a:rPr>
              <a:t>设</a:t>
            </a:r>
            <a:r>
              <a:rPr dirty="0" sz="1100" spc="30">
                <a:latin typeface="Georgia"/>
                <a:cs typeface="Georgia"/>
              </a:rPr>
              <a:t>Al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70">
                <a:latin typeface="Georgia"/>
                <a:cs typeface="Georgia"/>
              </a:rPr>
              <a:t>F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生成的配合物的分析浓度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mol</a:t>
            </a:r>
            <a:r>
              <a:rPr dirty="0" sz="1100" spc="-85" b="0" i="1">
                <a:latin typeface="Bookman Old Style"/>
                <a:cs typeface="Bookman Old Style"/>
              </a:rPr>
              <a:t>/</a:t>
            </a:r>
            <a:r>
              <a:rPr dirty="0" sz="1100" spc="-85">
                <a:latin typeface="Georgia"/>
                <a:cs typeface="Georgia"/>
              </a:rPr>
              <a:t>L</a:t>
            </a:r>
            <a:r>
              <a:rPr dirty="0" sz="1200" spc="-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70">
                <a:latin typeface="Georgia"/>
                <a:cs typeface="Georgia"/>
              </a:rPr>
              <a:t>F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 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010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求溶液中游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4104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16610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5218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3948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85292"/>
            <a:ext cx="50749" cy="5668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60887"/>
            <a:ext cx="4432935" cy="442595"/>
          </a:xfrm>
          <a:custGeom>
            <a:avLst/>
            <a:gdLst/>
            <a:ahLst/>
            <a:cxnLst/>
            <a:rect l="l" t="t" r="r" b="b"/>
            <a:pathLst>
              <a:path w="4432935" h="442594">
                <a:moveTo>
                  <a:pt x="4432566" y="0"/>
                </a:moveTo>
                <a:lnTo>
                  <a:pt x="0" y="0"/>
                </a:lnTo>
                <a:lnTo>
                  <a:pt x="0" y="391295"/>
                </a:lnTo>
                <a:lnTo>
                  <a:pt x="4008" y="411019"/>
                </a:lnTo>
                <a:lnTo>
                  <a:pt x="14922" y="427172"/>
                </a:lnTo>
                <a:lnTo>
                  <a:pt x="31075" y="438087"/>
                </a:lnTo>
                <a:lnTo>
                  <a:pt x="50800" y="442095"/>
                </a:lnTo>
                <a:lnTo>
                  <a:pt x="4381765" y="442095"/>
                </a:lnTo>
                <a:lnTo>
                  <a:pt x="4401490" y="438087"/>
                </a:lnTo>
                <a:lnTo>
                  <a:pt x="4417643" y="427172"/>
                </a:lnTo>
                <a:lnTo>
                  <a:pt x="4428558" y="411019"/>
                </a:lnTo>
                <a:lnTo>
                  <a:pt x="4432566" y="391295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23381"/>
            <a:ext cx="0" cy="548005"/>
          </a:xfrm>
          <a:custGeom>
            <a:avLst/>
            <a:gdLst/>
            <a:ahLst/>
            <a:cxnLst/>
            <a:rect l="l" t="t" r="r" b="b"/>
            <a:pathLst>
              <a:path w="0" h="548005">
                <a:moveTo>
                  <a:pt x="0" y="54785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1068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9798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8528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279184"/>
            <a:ext cx="4398645" cy="6883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8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5.2</a:t>
            </a:r>
            <a:endParaRPr sz="1200">
              <a:latin typeface="Calibri"/>
              <a:cs typeface="Calibri"/>
            </a:endParaRPr>
          </a:p>
          <a:p>
            <a:pPr marL="50800" marR="43180">
              <a:lnSpc>
                <a:spcPts val="1760"/>
              </a:lnSpc>
              <a:spcBef>
                <a:spcPts val="80"/>
              </a:spcBef>
            </a:pPr>
            <a:r>
              <a:rPr dirty="0" sz="1200" spc="175">
                <a:latin typeface="Arial Unicode MS"/>
                <a:cs typeface="Arial Unicode MS"/>
              </a:rPr>
              <a:t>设</a:t>
            </a:r>
            <a:r>
              <a:rPr dirty="0" sz="1100" spc="30">
                <a:latin typeface="Georgia"/>
                <a:cs typeface="Georgia"/>
              </a:rPr>
              <a:t>Al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70">
                <a:latin typeface="Georgia"/>
                <a:cs typeface="Georgia"/>
              </a:rPr>
              <a:t>F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生成的配合物的分析浓度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mol</a:t>
            </a:r>
            <a:r>
              <a:rPr dirty="0" sz="1100" spc="-85" b="0" i="1">
                <a:latin typeface="Bookman Old Style"/>
                <a:cs typeface="Bookman Old Style"/>
              </a:rPr>
              <a:t>/</a:t>
            </a:r>
            <a:r>
              <a:rPr dirty="0" sz="1100" spc="-85">
                <a:latin typeface="Georgia"/>
                <a:cs typeface="Georgia"/>
              </a:rPr>
              <a:t>L</a:t>
            </a:r>
            <a:r>
              <a:rPr dirty="0" sz="1200" spc="-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70">
                <a:latin typeface="Georgia"/>
                <a:cs typeface="Georgia"/>
              </a:rPr>
              <a:t>F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 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010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求溶液中游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44" y="1112812"/>
            <a:ext cx="52578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5">
                <a:latin typeface="Arial Unicode MS"/>
                <a:cs typeface="Arial Unicode MS"/>
              </a:rPr>
              <a:t>解</a:t>
            </a:r>
            <a:r>
              <a:rPr dirty="0" sz="1200" spc="-204">
                <a:latin typeface="Arial Unicode MS"/>
                <a:cs typeface="Arial Unicode MS"/>
              </a:rPr>
              <a:t>：</a:t>
            </a:r>
            <a:r>
              <a:rPr dirty="0" sz="1100" spc="40">
                <a:latin typeface="Georgia"/>
                <a:cs typeface="Georgia"/>
              </a:rPr>
              <a:t>AlF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6059" y="122297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659" y="1062532"/>
            <a:ext cx="3771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3</a:t>
            </a:r>
            <a:r>
              <a:rPr dirty="0" sz="600" spc="80">
                <a:latin typeface="Lucida Sans Unicode"/>
                <a:cs typeface="Lucida Sans Unicode"/>
              </a:rPr>
              <a:t>−</a:t>
            </a:r>
            <a:r>
              <a:rPr dirty="0" sz="600" spc="-5">
                <a:latin typeface="Lucida Sans Unicode"/>
                <a:cs typeface="Lucida Sans Unicode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的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61046" y="120949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9623" y="120949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9909" y="1112812"/>
            <a:ext cx="14357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90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80">
                <a:latin typeface="Georgia"/>
                <a:cs typeface="Georgia"/>
              </a:rPr>
              <a:t>6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15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100" spc="-25">
                <a:latin typeface="Georgia"/>
                <a:cs typeface="Georgia"/>
              </a:rPr>
              <a:t>11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29638" y="1112812"/>
            <a:ext cx="17462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2595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.	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15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100" spc="-70">
                <a:latin typeface="Georgia"/>
                <a:cs typeface="Georgia"/>
              </a:rPr>
              <a:t>15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00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100" spc="-70">
                <a:latin typeface="Georgia"/>
                <a:cs typeface="Georgia"/>
              </a:rPr>
              <a:t>17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75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100" spc="-70">
                <a:latin typeface="Georgia"/>
                <a:cs typeface="Georgia"/>
              </a:rPr>
              <a:t>19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50069" y="1112812"/>
            <a:ext cx="8667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36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50">
                <a:latin typeface="Georgia"/>
                <a:cs typeface="Georgia"/>
              </a:rPr>
              <a:t>19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84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0248" y="1475054"/>
            <a:ext cx="4081779" cy="568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利</a:t>
            </a:r>
            <a:r>
              <a:rPr dirty="0" sz="1200" spc="-260">
                <a:latin typeface="Arial Unicode MS"/>
                <a:cs typeface="Arial Unicode MS"/>
              </a:rPr>
              <a:t>用</a:t>
            </a:r>
            <a:r>
              <a:rPr dirty="0" sz="1200" spc="-95">
                <a:latin typeface="Arial Unicode MS"/>
                <a:cs typeface="Arial Unicode MS"/>
              </a:rPr>
              <a:t>（</a:t>
            </a:r>
            <a:r>
              <a:rPr dirty="0" sz="1100" spc="-95">
                <a:latin typeface="Georgia"/>
                <a:cs typeface="Georgia"/>
                <a:hlinkClick r:id="rId6" action="ppaction://hlinksldjump"/>
              </a:rPr>
              <a:t>5</a:t>
            </a:r>
            <a:r>
              <a:rPr dirty="0" sz="1200" spc="-95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</a:pPr>
            <a:r>
              <a:rPr dirty="0" sz="1100" spc="15" b="0" i="1">
                <a:latin typeface="Bookman Old Style"/>
                <a:cs typeface="Bookman Old Style"/>
              </a:rPr>
              <a:t>α</a:t>
            </a:r>
            <a:r>
              <a:rPr dirty="0" sz="1100" spc="15">
                <a:latin typeface="Georgia"/>
                <a:cs typeface="Georgia"/>
              </a:rPr>
              <a:t>(Al(F))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41666" sz="900" spc="44">
                <a:latin typeface="Times New Roman"/>
                <a:cs typeface="Times New Roman"/>
              </a:rPr>
              <a:t>6</a:t>
            </a:r>
            <a:r>
              <a:rPr dirty="0" baseline="41666" sz="900" spc="44" i="1">
                <a:latin typeface="Arial"/>
                <a:cs typeface="Arial"/>
              </a:rPr>
              <a:t>.</a:t>
            </a:r>
            <a:r>
              <a:rPr dirty="0" baseline="41666" sz="900" spc="44">
                <a:latin typeface="Times New Roman"/>
                <a:cs typeface="Times New Roman"/>
              </a:rPr>
              <a:t>15</a:t>
            </a:r>
            <a:r>
              <a:rPr dirty="0" baseline="41666" sz="900" spc="209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010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10</a:t>
            </a:r>
            <a:r>
              <a:rPr dirty="0" baseline="41666" sz="900" spc="52">
                <a:latin typeface="Times New Roman"/>
                <a:cs typeface="Times New Roman"/>
              </a:rPr>
              <a:t>19</a:t>
            </a:r>
            <a:r>
              <a:rPr dirty="0" baseline="41666" sz="900" spc="52" i="1">
                <a:latin typeface="Arial"/>
                <a:cs typeface="Arial"/>
              </a:rPr>
              <a:t>.</a:t>
            </a:r>
            <a:r>
              <a:rPr dirty="0" baseline="41666" sz="900" spc="52">
                <a:latin typeface="Times New Roman"/>
                <a:cs typeface="Times New Roman"/>
              </a:rPr>
              <a:t>84</a:t>
            </a:r>
            <a:r>
              <a:rPr dirty="0" baseline="41666" sz="900" spc="217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(0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010)</a:t>
            </a:r>
            <a:r>
              <a:rPr dirty="0" baseline="41666" sz="900" spc="-52">
                <a:latin typeface="Times New Roman"/>
                <a:cs typeface="Times New Roman"/>
              </a:rPr>
              <a:t>6</a:t>
            </a:r>
            <a:r>
              <a:rPr dirty="0" baseline="41666" sz="900" spc="-44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8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9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baseline="41666" sz="900">
                <a:latin typeface="Times New Roman"/>
                <a:cs typeface="Times New Roman"/>
              </a:rPr>
              <a:t>9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1253" y="2437790"/>
            <a:ext cx="5657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5">
                <a:latin typeface="Georgia"/>
                <a:cs typeface="Georgia"/>
              </a:rPr>
              <a:t>[Al</a:t>
            </a:r>
            <a:r>
              <a:rPr dirty="0" baseline="41666" sz="900" spc="37">
                <a:latin typeface="Times New Roman"/>
                <a:cs typeface="Times New Roman"/>
              </a:rPr>
              <a:t>3+</a:t>
            </a:r>
            <a:r>
              <a:rPr dirty="0" sz="1100" spc="25">
                <a:latin typeface="Georgia"/>
                <a:cs typeface="Georgia"/>
              </a:rPr>
              <a:t>]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12329" y="2554401"/>
            <a:ext cx="537845" cy="0"/>
          </a:xfrm>
          <a:custGeom>
            <a:avLst/>
            <a:gdLst/>
            <a:ahLst/>
            <a:cxnLst/>
            <a:rect l="l" t="t" r="r" b="b"/>
            <a:pathLst>
              <a:path w="537844" h="0">
                <a:moveTo>
                  <a:pt x="0" y="0"/>
                </a:moveTo>
                <a:lnTo>
                  <a:pt x="53748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314221" y="2344064"/>
            <a:ext cx="1155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95985" algn="l"/>
              </a:tabLst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(Al(</a:t>
            </a:r>
            <a:r>
              <a:rPr dirty="0" sz="1100" spc="30">
                <a:latin typeface="Georgia"/>
                <a:cs typeface="Georgia"/>
              </a:rPr>
              <a:t>F</a:t>
            </a:r>
            <a:r>
              <a:rPr dirty="0" sz="1100" spc="10">
                <a:latin typeface="Georgia"/>
                <a:cs typeface="Georgia"/>
              </a:rPr>
              <a:t>))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64918" y="2554401"/>
            <a:ext cx="537845" cy="0"/>
          </a:xfrm>
          <a:custGeom>
            <a:avLst/>
            <a:gdLst/>
            <a:ahLst/>
            <a:cxnLst/>
            <a:rect l="l" t="t" r="r" b="b"/>
            <a:pathLst>
              <a:path w="537844" h="0">
                <a:moveTo>
                  <a:pt x="0" y="0"/>
                </a:moveTo>
                <a:lnTo>
                  <a:pt x="53762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261529" y="2532824"/>
            <a:ext cx="1326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α</a:t>
            </a:r>
            <a:r>
              <a:rPr dirty="0" sz="1100" spc="15">
                <a:latin typeface="Georgia"/>
                <a:cs typeface="Georgia"/>
              </a:rPr>
              <a:t>(Al(F)) </a:t>
            </a:r>
            <a:r>
              <a:rPr dirty="0" baseline="37878" sz="1650" spc="209">
                <a:latin typeface="Georgia"/>
                <a:cs typeface="Georgia"/>
              </a:rPr>
              <a:t>= </a:t>
            </a:r>
            <a:r>
              <a:rPr dirty="0" sz="1100" spc="-75">
                <a:latin typeface="Georgia"/>
                <a:cs typeface="Georgia"/>
              </a:rPr>
              <a:t>8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9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29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37129" y="25554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18117" y="2437790"/>
            <a:ext cx="12592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70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1</a:t>
            </a:r>
            <a:r>
              <a:rPr dirty="0" sz="1100" spc="35" b="0" i="1">
                <a:latin typeface="Bookman Old Style"/>
                <a:cs typeface="Bookman Old Style"/>
              </a:rPr>
              <a:t>.</a:t>
            </a:r>
            <a:r>
              <a:rPr dirty="0" sz="1100" spc="35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>
                <a:latin typeface="Georgia"/>
                <a:cs typeface="Georgia"/>
              </a:rPr>
              <a:t>10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baseline="41666" sz="900">
                <a:latin typeface="Times New Roman"/>
                <a:cs typeface="Times New Roman"/>
              </a:rPr>
              <a:t>11</a:t>
            </a:r>
            <a:r>
              <a:rPr dirty="0" sz="1100">
                <a:latin typeface="Georgia"/>
                <a:cs typeface="Georgia"/>
              </a:rPr>
              <a:t>mol</a:t>
            </a:r>
            <a:r>
              <a:rPr dirty="0" sz="1100" b="0" i="1">
                <a:latin typeface="Bookman Old Style"/>
                <a:cs typeface="Bookman Old Style"/>
              </a:rPr>
              <a:t>/</a:t>
            </a:r>
            <a:r>
              <a:rPr dirty="0" sz="1100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1252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5.4.3</a:t>
            </a: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条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件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稳定常数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737616"/>
            <a:ext cx="31762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75"/>
              <a:t>当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pc="-5"/>
              <a:t>滴定金属离</a:t>
            </a:r>
            <a:r>
              <a:rPr dirty="0" spc="175"/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pc="-80"/>
              <a:t>时</a:t>
            </a:r>
            <a:r>
              <a:rPr dirty="0" spc="-185"/>
              <a:t>，</a:t>
            </a:r>
            <a:r>
              <a:rPr dirty="0" spc="-5"/>
              <a:t>体系的主反应</a:t>
            </a:r>
            <a:r>
              <a:rPr dirty="0" spc="-90"/>
              <a:t>为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3864" y="1113777"/>
            <a:ext cx="10769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Y + </a:t>
            </a:r>
            <a:r>
              <a:rPr dirty="0" sz="1100" spc="-20">
                <a:latin typeface="Georgia"/>
                <a:cs typeface="Georgia"/>
              </a:rPr>
              <a:t>M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02">
                <a:latin typeface="宋体"/>
                <a:cs typeface="宋体"/>
              </a:rPr>
              <a:t> </a:t>
            </a:r>
            <a:r>
              <a:rPr dirty="0" baseline="6172" sz="675" spc="-622">
                <a:latin typeface="宋体"/>
                <a:cs typeface="宋体"/>
              </a:rPr>
              <a:t>、</a:t>
            </a:r>
            <a:r>
              <a:rPr dirty="0" baseline="-18518" sz="675" spc="1702">
                <a:latin typeface="宋体"/>
                <a:cs typeface="宋体"/>
              </a:rPr>
              <a:t> </a:t>
            </a:r>
            <a:r>
              <a:rPr dirty="0" sz="1100" spc="60">
                <a:latin typeface="Georgia"/>
                <a:cs typeface="Georgia"/>
              </a:rPr>
              <a:t>MY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501" y="1481518"/>
            <a:ext cx="13817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反应的平衡常数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64574" y="1776958"/>
            <a:ext cx="333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15">
                <a:latin typeface="Georgia"/>
                <a:cs typeface="Georgia"/>
              </a:rPr>
              <a:t>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38793" y="1987296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4" h="0">
                <a:moveTo>
                  <a:pt x="0" y="0"/>
                </a:moveTo>
                <a:lnTo>
                  <a:pt x="3848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31073" y="1870697"/>
            <a:ext cx="11309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(MY)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baseline="-37878" sz="1650" spc="-82">
                <a:latin typeface="Georgia"/>
                <a:cs typeface="Georgia"/>
              </a:rPr>
              <a:t>[M][Y]</a:t>
            </a:r>
            <a:endParaRPr baseline="-37878" sz="16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2252624"/>
            <a:ext cx="4246880" cy="793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100" spc="-70">
                <a:latin typeface="Georgia"/>
                <a:cs typeface="Georgia"/>
              </a:rPr>
              <a:t>[Y]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85">
                <a:latin typeface="Georgia"/>
                <a:cs typeface="Georgia"/>
              </a:rPr>
              <a:t>[M]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分别表示游离态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和金属离</a:t>
            </a: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(MY)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是衡量配位反应进行程度的量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称为绝对稳定常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737336"/>
            <a:ext cx="433070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如果此时溶液中存在别的金属离子和配位</a:t>
            </a:r>
            <a:r>
              <a:rPr dirty="0" spc="-80"/>
              <a:t>剂</a:t>
            </a:r>
            <a:r>
              <a:rPr dirty="0" spc="-185"/>
              <a:t>，</a:t>
            </a:r>
            <a:r>
              <a:rPr dirty="0" spc="-5"/>
              <a:t>设未参加主反 应</a:t>
            </a:r>
            <a:r>
              <a:rPr dirty="0" spc="175"/>
              <a:t>的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pc="-5"/>
              <a:t>的总浓度</a:t>
            </a:r>
            <a:r>
              <a:rPr dirty="0" spc="175"/>
              <a:t>为</a:t>
            </a:r>
            <a:r>
              <a:rPr dirty="0" sz="1100" spc="-95">
                <a:latin typeface="Georgia"/>
                <a:cs typeface="Georgia"/>
              </a:rPr>
              <a:t>[M</a:t>
            </a:r>
            <a:r>
              <a:rPr dirty="0" baseline="37037" sz="900" spc="-142">
                <a:latin typeface="Lucida Sans Unicode"/>
                <a:cs typeface="Lucida Sans Unicode"/>
              </a:rPr>
              <a:t>t</a:t>
            </a:r>
            <a:r>
              <a:rPr dirty="0" sz="1100" spc="-95">
                <a:latin typeface="Georgia"/>
                <a:cs typeface="Georgia"/>
              </a:rPr>
              <a:t>]</a:t>
            </a:r>
            <a:r>
              <a:rPr dirty="0" sz="1200" spc="-95"/>
              <a:t>，</a:t>
            </a:r>
            <a:r>
              <a:rPr dirty="0" sz="1200" spc="-5"/>
              <a:t>未参加主反应</a:t>
            </a:r>
            <a:r>
              <a:rPr dirty="0" sz="1200" spc="175"/>
              <a:t>的</a:t>
            </a:r>
            <a:r>
              <a:rPr dirty="0" sz="1100" spc="140">
                <a:latin typeface="Georgia"/>
                <a:cs typeface="Georgia"/>
              </a:rPr>
              <a:t>Y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/>
              <a:t>的总浓度</a:t>
            </a:r>
            <a:r>
              <a:rPr dirty="0" sz="1200" spc="175"/>
              <a:t>为</a:t>
            </a:r>
            <a:r>
              <a:rPr dirty="0" sz="1100" spc="-55">
                <a:latin typeface="Georgia"/>
                <a:cs typeface="Georgia"/>
              </a:rPr>
              <a:t>[Y</a:t>
            </a:r>
            <a:r>
              <a:rPr dirty="0" baseline="37037" sz="900" spc="-82">
                <a:latin typeface="Lucida Sans Unicode"/>
                <a:cs typeface="Lucida Sans Unicode"/>
              </a:rPr>
              <a:t>t</a:t>
            </a:r>
            <a:r>
              <a:rPr dirty="0" sz="1100" spc="-55">
                <a:latin typeface="Georgia"/>
                <a:cs typeface="Georgia"/>
              </a:rPr>
              <a:t>]</a:t>
            </a:r>
            <a:r>
              <a:rPr dirty="0" sz="1200" spc="-55"/>
              <a:t>，</a:t>
            </a:r>
            <a:r>
              <a:rPr dirty="0" sz="1200" spc="-5"/>
              <a:t>当反 应达到平衡</a:t>
            </a:r>
            <a:r>
              <a:rPr dirty="0" sz="1200" spc="-80"/>
              <a:t>时</a:t>
            </a:r>
            <a:r>
              <a:rPr dirty="0" sz="1200" spc="-185"/>
              <a:t>，</a:t>
            </a:r>
            <a:r>
              <a:rPr dirty="0" sz="1200" spc="-5"/>
              <a:t>定义一个新的稳定常</a:t>
            </a:r>
            <a:r>
              <a:rPr dirty="0" sz="1200" spc="-80"/>
              <a:t>数</a:t>
            </a:r>
            <a:r>
              <a:rPr dirty="0" sz="1200" spc="-185"/>
              <a:t>，</a:t>
            </a:r>
            <a:r>
              <a:rPr dirty="0" sz="1200" spc="-5"/>
              <a:t>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8216" y="1617230"/>
            <a:ext cx="726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baseline="41666" sz="900" spc="97">
                <a:latin typeface="Lucida Sans Unicode"/>
                <a:cs typeface="Lucida Sans Unicode"/>
              </a:rPr>
              <a:t>t</a:t>
            </a:r>
            <a:r>
              <a:rPr dirty="0" sz="1100" spc="65">
                <a:latin typeface="Georgia"/>
                <a:cs typeface="Georgia"/>
              </a:rPr>
              <a:t>(MY)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0010" y="1733842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 h="0">
                <a:moveTo>
                  <a:pt x="0" y="0"/>
                </a:moveTo>
                <a:lnTo>
                  <a:pt x="45650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81910" y="1500997"/>
            <a:ext cx="53276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74295">
              <a:lnSpc>
                <a:spcPct val="112599"/>
              </a:lnSpc>
              <a:spcBef>
                <a:spcPts val="100"/>
              </a:spcBef>
            </a:pPr>
            <a:r>
              <a:rPr dirty="0" sz="1100" spc="-30">
                <a:latin typeface="Georgia"/>
                <a:cs typeface="Georgia"/>
              </a:rPr>
              <a:t>[MY]  </a:t>
            </a: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baseline="27777" sz="900" spc="52">
                <a:latin typeface="Lucida Sans Unicode"/>
                <a:cs typeface="Lucida Sans Unicode"/>
              </a:rPr>
              <a:t>t</a:t>
            </a:r>
            <a:r>
              <a:rPr dirty="0" sz="1100" spc="-25">
                <a:latin typeface="Georgia"/>
                <a:cs typeface="Georgia"/>
              </a:rPr>
              <a:t>][</a:t>
            </a:r>
            <a:r>
              <a:rPr dirty="0" sz="1100" spc="-10">
                <a:latin typeface="Georgia"/>
                <a:cs typeface="Georgia"/>
              </a:rPr>
              <a:t>Y</a:t>
            </a:r>
            <a:r>
              <a:rPr dirty="0" baseline="27777" sz="900" spc="52">
                <a:latin typeface="Lucida Sans Unicode"/>
                <a:cs typeface="Lucida Sans Unicode"/>
              </a:rPr>
              <a:t>t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9722" y="1617230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36797" y="2211336"/>
            <a:ext cx="911225" cy="0"/>
          </a:xfrm>
          <a:custGeom>
            <a:avLst/>
            <a:gdLst/>
            <a:ahLst/>
            <a:cxnLst/>
            <a:rect l="l" t="t" r="r" b="b"/>
            <a:pathLst>
              <a:path w="911225" h="0">
                <a:moveTo>
                  <a:pt x="0" y="0"/>
                </a:moveTo>
                <a:lnTo>
                  <a:pt x="91098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0444" y="2001748"/>
            <a:ext cx="44361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baseline="37037" sz="900" spc="97">
                <a:latin typeface="Lucida Sans Unicode"/>
                <a:cs typeface="Lucida Sans Unicode"/>
              </a:rPr>
              <a:t>t</a:t>
            </a:r>
            <a:r>
              <a:rPr dirty="0" sz="1100" spc="65">
                <a:latin typeface="Georgia"/>
                <a:cs typeface="Georgia"/>
              </a:rPr>
              <a:t>(MY)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是有副反应存在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100" spc="-25">
                <a:latin typeface="Georgia"/>
                <a:cs typeface="Georgia"/>
              </a:rPr>
              <a:t>MY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的稳定常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称为条件稳定常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759422"/>
            <a:ext cx="257111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将相关的副反应系数带</a:t>
            </a:r>
            <a:r>
              <a:rPr dirty="0" spc="-260"/>
              <a:t>入</a:t>
            </a:r>
            <a:r>
              <a:rPr dirty="0" spc="-5"/>
              <a:t>（</a:t>
            </a:r>
            <a:r>
              <a:rPr dirty="0" sz="1100" spc="-80">
                <a:latin typeface="Georgia"/>
                <a:cs typeface="Georgia"/>
                <a:hlinkClick r:id="rId2" action="ppaction://hlinksldjump"/>
              </a:rPr>
              <a:t>8</a:t>
            </a:r>
            <a:r>
              <a:rPr dirty="0" spc="-280"/>
              <a:t>）</a:t>
            </a:r>
            <a:r>
              <a:rPr dirty="0" spc="-80"/>
              <a:t>式</a:t>
            </a:r>
            <a:r>
              <a:rPr dirty="0" spc="-185"/>
              <a:t>，</a:t>
            </a:r>
            <a:r>
              <a:rPr dirty="0" spc="-90"/>
              <a:t>得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5985" y="1151178"/>
            <a:ext cx="726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baseline="41666" sz="900" spc="97">
                <a:latin typeface="Lucida Sans Unicode"/>
                <a:cs typeface="Lucida Sans Unicode"/>
              </a:rPr>
              <a:t>t</a:t>
            </a:r>
            <a:r>
              <a:rPr dirty="0" sz="1100" spc="65">
                <a:latin typeface="Georgia"/>
                <a:cs typeface="Georgia"/>
              </a:rPr>
              <a:t>(MY)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7792" y="1267777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 h="0">
                <a:moveTo>
                  <a:pt x="0" y="0"/>
                </a:moveTo>
                <a:lnTo>
                  <a:pt x="45650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49400" y="1057440"/>
            <a:ext cx="12814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60755" algn="l"/>
              </a:tabLst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15">
                <a:latin typeface="Georgia"/>
                <a:cs typeface="Georgia"/>
              </a:rPr>
              <a:t>Y]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15">
                <a:latin typeface="Georgia"/>
                <a:cs typeface="Georgia"/>
              </a:rPr>
              <a:t>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59381" y="1267777"/>
            <a:ext cx="1009650" cy="0"/>
          </a:xfrm>
          <a:custGeom>
            <a:avLst/>
            <a:gdLst/>
            <a:ahLst/>
            <a:cxnLst/>
            <a:rect l="l" t="t" r="r" b="b"/>
            <a:pathLst>
              <a:path w="1009650" h="0">
                <a:moveTo>
                  <a:pt x="0" y="0"/>
                </a:moveTo>
                <a:lnTo>
                  <a:pt x="100956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85251" y="1151178"/>
            <a:ext cx="13582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36980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0564" y="1057440"/>
            <a:ext cx="4921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35">
                <a:latin typeface="Georgia"/>
                <a:cs typeface="Georgia"/>
              </a:rPr>
              <a:t>(MY)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84029" y="1267777"/>
            <a:ext cx="624840" cy="0"/>
          </a:xfrm>
          <a:custGeom>
            <a:avLst/>
            <a:gdLst/>
            <a:ahLst/>
            <a:cxnLst/>
            <a:rect l="l" t="t" r="r" b="b"/>
            <a:pathLst>
              <a:path w="624839" h="0">
                <a:moveTo>
                  <a:pt x="0" y="0"/>
                </a:moveTo>
                <a:lnTo>
                  <a:pt x="62470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49692" y="1246213"/>
            <a:ext cx="25977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09295" algn="l"/>
                <a:tab pos="1934210" algn="l"/>
              </a:tabLst>
            </a:pPr>
            <a:r>
              <a:rPr dirty="0" sz="1100" spc="-30">
                <a:latin typeface="Georgia"/>
                <a:cs typeface="Georgia"/>
              </a:rPr>
              <a:t>[M</a:t>
            </a:r>
            <a:r>
              <a:rPr dirty="0" baseline="27777" sz="900" spc="-44">
                <a:latin typeface="Lucida Sans Unicode"/>
                <a:cs typeface="Lucida Sans Unicode"/>
              </a:rPr>
              <a:t>t</a:t>
            </a:r>
            <a:r>
              <a:rPr dirty="0" sz="1100" spc="-30">
                <a:latin typeface="Georgia"/>
                <a:cs typeface="Georgia"/>
              </a:rPr>
              <a:t>][Y</a:t>
            </a:r>
            <a:r>
              <a:rPr dirty="0" baseline="27777" sz="900" spc="-44">
                <a:latin typeface="Lucida Sans Unicode"/>
                <a:cs typeface="Lucida Sans Unicode"/>
              </a:rPr>
              <a:t>t</a:t>
            </a:r>
            <a:r>
              <a:rPr dirty="0" sz="1100" spc="-30">
                <a:latin typeface="Georgia"/>
                <a:cs typeface="Georgia"/>
              </a:rPr>
              <a:t>]	</a:t>
            </a:r>
            <a:r>
              <a:rPr dirty="0" sz="1100" spc="-15" b="0" i="1">
                <a:latin typeface="Bookman Old Style"/>
                <a:cs typeface="Bookman Old Style"/>
              </a:rPr>
              <a:t>α</a:t>
            </a:r>
            <a:r>
              <a:rPr dirty="0" sz="1100" spc="-15">
                <a:latin typeface="Georgia"/>
                <a:cs typeface="Georgia"/>
              </a:rPr>
              <a:t>(M)[M]</a:t>
            </a:r>
            <a:r>
              <a:rPr dirty="0" sz="1100" spc="-15" b="0" i="1">
                <a:latin typeface="Bookman Old Style"/>
                <a:cs typeface="Bookman Old Style"/>
              </a:rPr>
              <a:t>α</a:t>
            </a:r>
            <a:r>
              <a:rPr dirty="0" sz="1100" spc="-15">
                <a:latin typeface="Georgia"/>
                <a:cs typeface="Georgia"/>
              </a:rPr>
              <a:t>(Y)[Y]	</a:t>
            </a:r>
            <a:r>
              <a:rPr dirty="0" sz="1100" spc="15" b="0" i="1">
                <a:latin typeface="Bookman Old Style"/>
                <a:cs typeface="Bookman Old Style"/>
              </a:rPr>
              <a:t>α</a:t>
            </a:r>
            <a:r>
              <a:rPr dirty="0" sz="1100" spc="15">
                <a:latin typeface="Georgia"/>
                <a:cs typeface="Georgia"/>
              </a:rPr>
              <a:t>(M)</a:t>
            </a:r>
            <a:r>
              <a:rPr dirty="0" sz="1100" spc="15" b="0" i="1">
                <a:latin typeface="Bookman Old Style"/>
                <a:cs typeface="Bookman Old Style"/>
              </a:rPr>
              <a:t>α</a:t>
            </a:r>
            <a:r>
              <a:rPr dirty="0" sz="1100" spc="15">
                <a:latin typeface="Georgia"/>
                <a:cs typeface="Georgia"/>
              </a:rPr>
              <a:t>(Y)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501" y="1531594"/>
            <a:ext cx="13493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将上式取对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7743" y="1825624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8544" y="2147316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9344" y="2134616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20310" y="1876196"/>
            <a:ext cx="50749" cy="2711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7743" y="1870047"/>
            <a:ext cx="4432935" cy="328295"/>
          </a:xfrm>
          <a:custGeom>
            <a:avLst/>
            <a:gdLst/>
            <a:ahLst/>
            <a:cxnLst/>
            <a:rect l="l" t="t" r="r" b="b"/>
            <a:pathLst>
              <a:path w="4432935" h="328294">
                <a:moveTo>
                  <a:pt x="4432566" y="0"/>
                </a:moveTo>
                <a:lnTo>
                  <a:pt x="0" y="0"/>
                </a:lnTo>
                <a:lnTo>
                  <a:pt x="0" y="277268"/>
                </a:lnTo>
                <a:lnTo>
                  <a:pt x="4008" y="296993"/>
                </a:lnTo>
                <a:lnTo>
                  <a:pt x="14922" y="313146"/>
                </a:lnTo>
                <a:lnTo>
                  <a:pt x="31075" y="324060"/>
                </a:lnTo>
                <a:lnTo>
                  <a:pt x="50800" y="328069"/>
                </a:lnTo>
                <a:lnTo>
                  <a:pt x="4381765" y="328069"/>
                </a:lnTo>
                <a:lnTo>
                  <a:pt x="4401490" y="324060"/>
                </a:lnTo>
                <a:lnTo>
                  <a:pt x="4417643" y="313146"/>
                </a:lnTo>
                <a:lnTo>
                  <a:pt x="4428558" y="296993"/>
                </a:lnTo>
                <a:lnTo>
                  <a:pt x="4432566" y="27726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20310" y="1914284"/>
            <a:ext cx="0" cy="252095"/>
          </a:xfrm>
          <a:custGeom>
            <a:avLst/>
            <a:gdLst/>
            <a:ahLst/>
            <a:cxnLst/>
            <a:rect l="l" t="t" r="r" b="b"/>
            <a:pathLst>
              <a:path w="0" h="252094">
                <a:moveTo>
                  <a:pt x="0" y="2520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20310" y="190158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20310" y="188888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20310" y="187618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51102" y="1967814"/>
            <a:ext cx="27292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baseline="41666" sz="900" spc="97">
                <a:latin typeface="Lucida Sans Unicode"/>
                <a:cs typeface="Lucida Sans Unicode"/>
              </a:rPr>
              <a:t>t</a:t>
            </a:r>
            <a:r>
              <a:rPr dirty="0" sz="1100" spc="65">
                <a:latin typeface="Georgia"/>
                <a:cs typeface="Georgia"/>
              </a:rPr>
              <a:t>(MY)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(MY)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5" b="0" i="1">
                <a:latin typeface="Bookman Old Style"/>
                <a:cs typeface="Bookman Old Style"/>
              </a:rPr>
              <a:t>α</a:t>
            </a:r>
            <a:r>
              <a:rPr dirty="0" sz="1100" spc="-5">
                <a:latin typeface="Georgia"/>
                <a:cs typeface="Georgia"/>
              </a:rPr>
              <a:t>(M)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(Y)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79693" y="1967814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(9)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03783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379336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17181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0448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48018"/>
            <a:ext cx="50749" cy="5691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23609"/>
            <a:ext cx="4432935" cy="444500"/>
          </a:xfrm>
          <a:custGeom>
            <a:avLst/>
            <a:gdLst/>
            <a:ahLst/>
            <a:cxnLst/>
            <a:rect l="l" t="t" r="r" b="b"/>
            <a:pathLst>
              <a:path w="4432935" h="444500">
                <a:moveTo>
                  <a:pt x="4432566" y="0"/>
                </a:moveTo>
                <a:lnTo>
                  <a:pt x="0" y="0"/>
                </a:lnTo>
                <a:lnTo>
                  <a:pt x="0" y="393572"/>
                </a:lnTo>
                <a:lnTo>
                  <a:pt x="4008" y="413297"/>
                </a:lnTo>
                <a:lnTo>
                  <a:pt x="14922" y="429450"/>
                </a:lnTo>
                <a:lnTo>
                  <a:pt x="31075" y="440364"/>
                </a:lnTo>
                <a:lnTo>
                  <a:pt x="50800" y="444372"/>
                </a:lnTo>
                <a:lnTo>
                  <a:pt x="4381765" y="444372"/>
                </a:lnTo>
                <a:lnTo>
                  <a:pt x="4401490" y="440364"/>
                </a:lnTo>
                <a:lnTo>
                  <a:pt x="4417643" y="429450"/>
                </a:lnTo>
                <a:lnTo>
                  <a:pt x="4428558" y="413297"/>
                </a:lnTo>
                <a:lnTo>
                  <a:pt x="4432566" y="39357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286102"/>
            <a:ext cx="0" cy="550545"/>
          </a:xfrm>
          <a:custGeom>
            <a:avLst/>
            <a:gdLst/>
            <a:ahLst/>
            <a:cxnLst/>
            <a:rect l="l" t="t" r="r" b="b"/>
            <a:pathLst>
              <a:path w="0" h="550544">
                <a:moveTo>
                  <a:pt x="0" y="55012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27340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26070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4800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5844" y="139636"/>
            <a:ext cx="4138929" cy="69278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5.3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200" spc="-5">
                <a:latin typeface="Arial Unicode MS"/>
                <a:cs typeface="Arial Unicode MS"/>
              </a:rPr>
              <a:t>计算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90">
                <a:latin typeface="Georgia"/>
                <a:cs typeface="Georgia"/>
              </a:rPr>
              <a:t>2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00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100" spc="-25">
                <a:latin typeface="Georgia"/>
                <a:cs typeface="Georgia"/>
              </a:rPr>
              <a:t>ZnY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的条件稳定常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(ZnY)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16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03783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379336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17181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0448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48018"/>
            <a:ext cx="50749" cy="5691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23609"/>
            <a:ext cx="4432935" cy="444500"/>
          </a:xfrm>
          <a:custGeom>
            <a:avLst/>
            <a:gdLst/>
            <a:ahLst/>
            <a:cxnLst/>
            <a:rect l="l" t="t" r="r" b="b"/>
            <a:pathLst>
              <a:path w="4432935" h="444500">
                <a:moveTo>
                  <a:pt x="4432566" y="0"/>
                </a:moveTo>
                <a:lnTo>
                  <a:pt x="0" y="0"/>
                </a:lnTo>
                <a:lnTo>
                  <a:pt x="0" y="393572"/>
                </a:lnTo>
                <a:lnTo>
                  <a:pt x="4008" y="413297"/>
                </a:lnTo>
                <a:lnTo>
                  <a:pt x="14922" y="429450"/>
                </a:lnTo>
                <a:lnTo>
                  <a:pt x="31075" y="440364"/>
                </a:lnTo>
                <a:lnTo>
                  <a:pt x="50800" y="444372"/>
                </a:lnTo>
                <a:lnTo>
                  <a:pt x="4381765" y="444372"/>
                </a:lnTo>
                <a:lnTo>
                  <a:pt x="4401490" y="440364"/>
                </a:lnTo>
                <a:lnTo>
                  <a:pt x="4417643" y="429450"/>
                </a:lnTo>
                <a:lnTo>
                  <a:pt x="4428558" y="413297"/>
                </a:lnTo>
                <a:lnTo>
                  <a:pt x="4432566" y="39357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286102"/>
            <a:ext cx="0" cy="550545"/>
          </a:xfrm>
          <a:custGeom>
            <a:avLst/>
            <a:gdLst/>
            <a:ahLst/>
            <a:cxnLst/>
            <a:rect l="l" t="t" r="r" b="b"/>
            <a:pathLst>
              <a:path w="0" h="550544">
                <a:moveTo>
                  <a:pt x="0" y="55012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27340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26070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4800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139636"/>
            <a:ext cx="4514215" cy="302069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40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5.3</a:t>
            </a:r>
            <a:endParaRPr sz="12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305"/>
              </a:spcBef>
            </a:pPr>
            <a:r>
              <a:rPr dirty="0" sz="1200" spc="-5">
                <a:latin typeface="Arial Unicode MS"/>
                <a:cs typeface="Arial Unicode MS"/>
              </a:rPr>
              <a:t>计算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90">
                <a:latin typeface="Georgia"/>
                <a:cs typeface="Georgia"/>
              </a:rPr>
              <a:t>2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00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100" spc="-25">
                <a:latin typeface="Georgia"/>
                <a:cs typeface="Georgia"/>
              </a:rPr>
              <a:t>ZnY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的条件稳定常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(ZnY)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16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通过查表可</a:t>
            </a:r>
            <a:r>
              <a:rPr dirty="0" sz="1200" spc="-80">
                <a:latin typeface="Arial Unicode MS"/>
                <a:cs typeface="Arial Unicode MS"/>
              </a:rPr>
              <a:t>得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100" spc="-9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2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00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分别</a:t>
            </a:r>
            <a:endParaRPr sz="1200">
              <a:latin typeface="Arial Unicode MS"/>
              <a:cs typeface="Arial Unicode MS"/>
            </a:endParaRPr>
          </a:p>
          <a:p>
            <a:pPr marL="62865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10">
                <a:latin typeface="Georgia"/>
                <a:cs typeface="Georgia"/>
              </a:rPr>
              <a:t>13.51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50">
                <a:latin typeface="Georgia"/>
                <a:cs typeface="Georgia"/>
              </a:rPr>
              <a:t>6.45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919"/>
              </a:spcBef>
            </a:pPr>
            <a:r>
              <a:rPr dirty="0" sz="1200" spc="175">
                <a:solidFill>
                  <a:srgbClr val="3333B2"/>
                </a:solidFill>
                <a:latin typeface="Arial Unicode MS"/>
                <a:cs typeface="Arial Unicode MS"/>
              </a:rPr>
              <a:t>当</a:t>
            </a:r>
            <a:r>
              <a:rPr dirty="0" sz="1100" spc="-55">
                <a:solidFill>
                  <a:srgbClr val="3333B2"/>
                </a:solidFill>
                <a:latin typeface="Georgia"/>
                <a:cs typeface="Georgia"/>
              </a:rPr>
              <a:t>pH</a:t>
            </a:r>
            <a:r>
              <a:rPr dirty="0" sz="1100" spc="3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100" spc="140">
                <a:solidFill>
                  <a:srgbClr val="3333B2"/>
                </a:solidFill>
                <a:latin typeface="Georgia"/>
                <a:cs typeface="Georgia"/>
              </a:rPr>
              <a:t>=</a:t>
            </a:r>
            <a:r>
              <a:rPr dirty="0" sz="1100" spc="3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100" spc="-95">
                <a:solidFill>
                  <a:srgbClr val="3333B2"/>
                </a:solidFill>
                <a:latin typeface="Georgia"/>
                <a:cs typeface="Georgia"/>
              </a:rPr>
              <a:t>2</a:t>
            </a:r>
            <a:r>
              <a:rPr dirty="0" sz="1100" spc="-95" b="0" i="1">
                <a:solidFill>
                  <a:srgbClr val="3333B2"/>
                </a:solidFill>
                <a:latin typeface="Bookman Old Style"/>
                <a:cs typeface="Bookman Old Style"/>
              </a:rPr>
              <a:t>.</a:t>
            </a:r>
            <a:r>
              <a:rPr dirty="0" sz="1100" spc="-95">
                <a:solidFill>
                  <a:srgbClr val="3333B2"/>
                </a:solidFill>
                <a:latin typeface="Georgia"/>
                <a:cs typeface="Georgia"/>
              </a:rPr>
              <a:t>00</a:t>
            </a:r>
            <a:r>
              <a:rPr dirty="0" sz="1100" spc="-8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200" spc="-5">
                <a:solidFill>
                  <a:srgbClr val="3333B2"/>
                </a:solidFill>
                <a:latin typeface="Arial Unicode MS"/>
                <a:cs typeface="Arial Unicode MS"/>
              </a:rPr>
              <a:t>时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849630">
              <a:lnSpc>
                <a:spcPct val="100000"/>
              </a:lnSpc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41666" sz="900" spc="82">
                <a:latin typeface="Lucida Sans Unicode"/>
                <a:cs typeface="Lucida Sans Unicode"/>
              </a:rPr>
              <a:t>t</a:t>
            </a:r>
            <a:r>
              <a:rPr dirty="0" sz="1100" spc="55">
                <a:latin typeface="Georgia"/>
                <a:cs typeface="Georgia"/>
              </a:rPr>
              <a:t>(ZnY)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sz="1100" spc="30">
                <a:latin typeface="Georgia"/>
                <a:cs typeface="Georgia"/>
              </a:rPr>
              <a:t>(ZnY)</a:t>
            </a:r>
            <a:r>
              <a:rPr dirty="0" sz="1100" spc="30">
                <a:latin typeface="Lucida Sans Unicode"/>
                <a:cs typeface="Lucida Sans Unicode"/>
              </a:rPr>
              <a:t>−</a:t>
            </a:r>
            <a:r>
              <a:rPr dirty="0" sz="1100" spc="30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16</a:t>
            </a:r>
            <a:r>
              <a:rPr dirty="0" sz="1100" spc="-20" b="0" i="1">
                <a:latin typeface="Bookman Old Style"/>
                <a:cs typeface="Bookman Old Style"/>
              </a:rPr>
              <a:t>.</a:t>
            </a:r>
            <a:r>
              <a:rPr dirty="0" sz="1100" spc="-20">
                <a:latin typeface="Georgia"/>
                <a:cs typeface="Georgia"/>
              </a:rPr>
              <a:t>50</a:t>
            </a:r>
            <a:r>
              <a:rPr dirty="0" sz="1100" spc="-2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13</a:t>
            </a:r>
            <a:r>
              <a:rPr dirty="0" sz="1100" spc="-20" b="0" i="1">
                <a:latin typeface="Bookman Old Style"/>
                <a:cs typeface="Bookman Old Style"/>
              </a:rPr>
              <a:t>.</a:t>
            </a:r>
            <a:r>
              <a:rPr dirty="0" sz="1100" spc="-20">
                <a:latin typeface="Georgia"/>
                <a:cs typeface="Georgia"/>
              </a:rPr>
              <a:t>51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2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99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1440"/>
              </a:spcBef>
            </a:pPr>
            <a:r>
              <a:rPr dirty="0" sz="1200" spc="175">
                <a:solidFill>
                  <a:srgbClr val="3333B2"/>
                </a:solidFill>
                <a:latin typeface="Arial Unicode MS"/>
                <a:cs typeface="Arial Unicode MS"/>
              </a:rPr>
              <a:t>当</a:t>
            </a:r>
            <a:r>
              <a:rPr dirty="0" sz="1100" spc="-55">
                <a:solidFill>
                  <a:srgbClr val="3333B2"/>
                </a:solidFill>
                <a:latin typeface="Georgia"/>
                <a:cs typeface="Georgia"/>
              </a:rPr>
              <a:t>pH</a:t>
            </a:r>
            <a:r>
              <a:rPr dirty="0" sz="1100" spc="3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100" spc="140">
                <a:solidFill>
                  <a:srgbClr val="3333B2"/>
                </a:solidFill>
                <a:latin typeface="Georgia"/>
                <a:cs typeface="Georgia"/>
              </a:rPr>
              <a:t>=</a:t>
            </a:r>
            <a:r>
              <a:rPr dirty="0" sz="1100" spc="3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100" spc="-85">
                <a:solidFill>
                  <a:srgbClr val="3333B2"/>
                </a:solidFill>
                <a:latin typeface="Georgia"/>
                <a:cs typeface="Georgia"/>
              </a:rPr>
              <a:t>5</a:t>
            </a:r>
            <a:r>
              <a:rPr dirty="0" sz="1100" spc="-85" b="0" i="1">
                <a:solidFill>
                  <a:srgbClr val="3333B2"/>
                </a:solidFill>
                <a:latin typeface="Bookman Old Style"/>
                <a:cs typeface="Bookman Old Style"/>
              </a:rPr>
              <a:t>.</a:t>
            </a:r>
            <a:r>
              <a:rPr dirty="0" sz="1100" spc="-85">
                <a:solidFill>
                  <a:srgbClr val="3333B2"/>
                </a:solidFill>
                <a:latin typeface="Georgia"/>
                <a:cs typeface="Georgia"/>
              </a:rPr>
              <a:t>00 </a:t>
            </a:r>
            <a:r>
              <a:rPr dirty="0" sz="1200" spc="-5">
                <a:solidFill>
                  <a:srgbClr val="3333B2"/>
                </a:solidFill>
                <a:latin typeface="Arial Unicode MS"/>
                <a:cs typeface="Arial Unicode MS"/>
              </a:rPr>
              <a:t>时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849630">
              <a:lnSpc>
                <a:spcPct val="100000"/>
              </a:lnSpc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41666" sz="900" spc="82">
                <a:latin typeface="Lucida Sans Unicode"/>
                <a:cs typeface="Lucida Sans Unicode"/>
              </a:rPr>
              <a:t>t</a:t>
            </a:r>
            <a:r>
              <a:rPr dirty="0" sz="1100" spc="55">
                <a:latin typeface="Georgia"/>
                <a:cs typeface="Georgia"/>
              </a:rPr>
              <a:t>(ZnY)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sz="1100" spc="30">
                <a:latin typeface="Georgia"/>
                <a:cs typeface="Georgia"/>
              </a:rPr>
              <a:t>(ZnY)</a:t>
            </a:r>
            <a:r>
              <a:rPr dirty="0" sz="1100" spc="30">
                <a:latin typeface="Lucida Sans Unicode"/>
                <a:cs typeface="Lucida Sans Unicode"/>
              </a:rPr>
              <a:t>−</a:t>
            </a:r>
            <a:r>
              <a:rPr dirty="0" sz="1100" spc="30">
                <a:latin typeface="Georgia"/>
                <a:cs typeface="Georgia"/>
              </a:rPr>
              <a:t>lg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16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50</a:t>
            </a:r>
            <a:r>
              <a:rPr dirty="0" sz="1100" spc="-50">
                <a:latin typeface="Lucida Sans Unicode"/>
                <a:cs typeface="Lucida Sans Unicode"/>
              </a:rPr>
              <a:t>−</a:t>
            </a:r>
            <a:r>
              <a:rPr dirty="0" sz="1100" spc="-50">
                <a:latin typeface="Georgia"/>
                <a:cs typeface="Georgia"/>
              </a:rPr>
              <a:t>6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45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10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05</a:t>
            </a:r>
            <a:endParaRPr sz="1100">
              <a:latin typeface="Georgia"/>
              <a:cs typeface="Georgia"/>
            </a:endParaRPr>
          </a:p>
          <a:p>
            <a:pPr marL="367030">
              <a:lnSpc>
                <a:spcPct val="100000"/>
              </a:lnSpc>
              <a:spcBef>
                <a:spcPts val="1440"/>
              </a:spcBef>
            </a:pPr>
            <a:r>
              <a:rPr dirty="0" sz="1200" spc="-5">
                <a:latin typeface="Arial Unicode MS"/>
                <a:cs typeface="Arial Unicode MS"/>
              </a:rPr>
              <a:t>计算结果表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酸度对配合物的稳定性影响极</a:t>
            </a:r>
            <a:r>
              <a:rPr dirty="0" sz="1200" spc="-20">
                <a:latin typeface="Arial Unicode MS"/>
                <a:cs typeface="Arial Unicode MS"/>
              </a:rPr>
              <a:t>大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6499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6205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9474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82040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30733"/>
            <a:ext cx="50749" cy="564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06330"/>
            <a:ext cx="4432935" cy="439420"/>
          </a:xfrm>
          <a:custGeom>
            <a:avLst/>
            <a:gdLst/>
            <a:ahLst/>
            <a:cxnLst/>
            <a:rect l="l" t="t" r="r" b="b"/>
            <a:pathLst>
              <a:path w="4432935" h="439420">
                <a:moveTo>
                  <a:pt x="4432566" y="0"/>
                </a:moveTo>
                <a:lnTo>
                  <a:pt x="0" y="0"/>
                </a:lnTo>
                <a:lnTo>
                  <a:pt x="0" y="388410"/>
                </a:lnTo>
                <a:lnTo>
                  <a:pt x="4008" y="408134"/>
                </a:lnTo>
                <a:lnTo>
                  <a:pt x="14922" y="424287"/>
                </a:lnTo>
                <a:lnTo>
                  <a:pt x="31075" y="435202"/>
                </a:lnTo>
                <a:lnTo>
                  <a:pt x="50800" y="439210"/>
                </a:lnTo>
                <a:lnTo>
                  <a:pt x="4381765" y="439210"/>
                </a:lnTo>
                <a:lnTo>
                  <a:pt x="4401490" y="435202"/>
                </a:lnTo>
                <a:lnTo>
                  <a:pt x="4417643" y="424287"/>
                </a:lnTo>
                <a:lnTo>
                  <a:pt x="4428558" y="408134"/>
                </a:lnTo>
                <a:lnTo>
                  <a:pt x="4432566" y="388410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68824"/>
            <a:ext cx="0" cy="545465"/>
          </a:xfrm>
          <a:custGeom>
            <a:avLst/>
            <a:gdLst/>
            <a:ahLst/>
            <a:cxnLst/>
            <a:rect l="l" t="t" r="r" b="b"/>
            <a:pathLst>
              <a:path w="0" h="545465">
                <a:moveTo>
                  <a:pt x="0" y="54496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561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434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307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27533"/>
            <a:ext cx="4386580" cy="68262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6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5.4</a:t>
            </a:r>
            <a:endParaRPr sz="12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65"/>
              </a:spcBef>
            </a:pPr>
            <a:r>
              <a:rPr dirty="0" sz="1200" spc="175">
                <a:latin typeface="Arial Unicode MS"/>
                <a:cs typeface="Arial Unicode MS"/>
              </a:rPr>
              <a:t>往</a:t>
            </a:r>
            <a:r>
              <a:rPr dirty="0" sz="1100" spc="10">
                <a:latin typeface="Georgia"/>
                <a:cs typeface="Georgia"/>
              </a:rPr>
              <a:t>pH=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45">
                <a:latin typeface="Georgia"/>
                <a:cs typeface="Georgia"/>
              </a:rPr>
              <a:t>0.10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AlY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溶液中加</a:t>
            </a:r>
            <a:r>
              <a:rPr dirty="0" sz="1200" spc="175">
                <a:latin typeface="Arial Unicode MS"/>
                <a:cs typeface="Arial Unicode MS"/>
              </a:rPr>
              <a:t>入</a:t>
            </a:r>
            <a:r>
              <a:rPr dirty="0" sz="1100" spc="-25">
                <a:latin typeface="Georgia"/>
                <a:cs typeface="Georgia"/>
              </a:rPr>
              <a:t>F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当溶液中游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70">
                <a:latin typeface="Georgia"/>
                <a:cs typeface="Georgia"/>
              </a:rPr>
              <a:t>F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5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度达</a:t>
            </a:r>
            <a:r>
              <a:rPr dirty="0" sz="1200" spc="175">
                <a:latin typeface="Arial Unicode MS"/>
                <a:cs typeface="Arial Unicode MS"/>
              </a:rPr>
              <a:t>到</a:t>
            </a:r>
            <a:r>
              <a:rPr dirty="0" sz="1100" spc="-65">
                <a:latin typeface="Georgia"/>
                <a:cs typeface="Georgia"/>
              </a:rPr>
              <a:t>0.010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</a:t>
            </a:r>
            <a:r>
              <a:rPr dirty="0" sz="1200" spc="175">
                <a:latin typeface="Arial Unicode MS"/>
                <a:cs typeface="Arial Unicode MS"/>
              </a:rPr>
              <a:t>算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baseline="37037" sz="900" spc="104">
                <a:latin typeface="Lucida Sans Unicode"/>
                <a:cs typeface="Lucida Sans Unicode"/>
              </a:rPr>
              <a:t>t</a:t>
            </a:r>
            <a:r>
              <a:rPr dirty="0" sz="1100" spc="70">
                <a:latin typeface="Georgia"/>
                <a:cs typeface="Georgia"/>
              </a:rPr>
              <a:t>(AlY)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200" spc="-320">
                <a:latin typeface="Arial Unicode MS"/>
                <a:cs typeface="Arial Unicode MS"/>
              </a:rPr>
              <a:t>？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65">
                <a:latin typeface="Arial Unicode MS"/>
                <a:cs typeface="Arial Unicode MS"/>
              </a:rPr>
              <a:t>：</a:t>
            </a:r>
            <a:r>
              <a:rPr dirty="0" sz="1100" spc="-6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(AlY)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16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3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6499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6205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9474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82040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30733"/>
            <a:ext cx="50749" cy="564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06330"/>
            <a:ext cx="4432935" cy="439420"/>
          </a:xfrm>
          <a:custGeom>
            <a:avLst/>
            <a:gdLst/>
            <a:ahLst/>
            <a:cxnLst/>
            <a:rect l="l" t="t" r="r" b="b"/>
            <a:pathLst>
              <a:path w="4432935" h="439420">
                <a:moveTo>
                  <a:pt x="4432566" y="0"/>
                </a:moveTo>
                <a:lnTo>
                  <a:pt x="0" y="0"/>
                </a:lnTo>
                <a:lnTo>
                  <a:pt x="0" y="388410"/>
                </a:lnTo>
                <a:lnTo>
                  <a:pt x="4008" y="408134"/>
                </a:lnTo>
                <a:lnTo>
                  <a:pt x="14922" y="424287"/>
                </a:lnTo>
                <a:lnTo>
                  <a:pt x="31075" y="435202"/>
                </a:lnTo>
                <a:lnTo>
                  <a:pt x="50800" y="439210"/>
                </a:lnTo>
                <a:lnTo>
                  <a:pt x="4381765" y="439210"/>
                </a:lnTo>
                <a:lnTo>
                  <a:pt x="4401490" y="435202"/>
                </a:lnTo>
                <a:lnTo>
                  <a:pt x="4417643" y="424287"/>
                </a:lnTo>
                <a:lnTo>
                  <a:pt x="4428558" y="408134"/>
                </a:lnTo>
                <a:lnTo>
                  <a:pt x="4432566" y="388410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68824"/>
            <a:ext cx="0" cy="545465"/>
          </a:xfrm>
          <a:custGeom>
            <a:avLst/>
            <a:gdLst/>
            <a:ahLst/>
            <a:cxnLst/>
            <a:rect l="l" t="t" r="r" b="b"/>
            <a:pathLst>
              <a:path w="0" h="545465">
                <a:moveTo>
                  <a:pt x="0" y="54496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561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434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307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27533"/>
            <a:ext cx="4411980" cy="119570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6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5.4</a:t>
            </a:r>
            <a:endParaRPr sz="12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65"/>
              </a:spcBef>
            </a:pPr>
            <a:r>
              <a:rPr dirty="0" sz="1200" spc="175">
                <a:latin typeface="Arial Unicode MS"/>
                <a:cs typeface="Arial Unicode MS"/>
              </a:rPr>
              <a:t>往</a:t>
            </a:r>
            <a:r>
              <a:rPr dirty="0" sz="1100" spc="10">
                <a:latin typeface="Georgia"/>
                <a:cs typeface="Georgia"/>
              </a:rPr>
              <a:t>pH=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45">
                <a:latin typeface="Georgia"/>
                <a:cs typeface="Georgia"/>
              </a:rPr>
              <a:t>0.10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AlY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溶液中加</a:t>
            </a:r>
            <a:r>
              <a:rPr dirty="0" sz="1200" spc="175">
                <a:latin typeface="Arial Unicode MS"/>
                <a:cs typeface="Arial Unicode MS"/>
              </a:rPr>
              <a:t>入</a:t>
            </a:r>
            <a:r>
              <a:rPr dirty="0" sz="1100" spc="-25">
                <a:latin typeface="Georgia"/>
                <a:cs typeface="Georgia"/>
              </a:rPr>
              <a:t>F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当溶液中游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70">
                <a:latin typeface="Georgia"/>
                <a:cs typeface="Georgia"/>
              </a:rPr>
              <a:t>F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5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度达</a:t>
            </a:r>
            <a:r>
              <a:rPr dirty="0" sz="1200" spc="175">
                <a:latin typeface="Arial Unicode MS"/>
                <a:cs typeface="Arial Unicode MS"/>
              </a:rPr>
              <a:t>到</a:t>
            </a:r>
            <a:r>
              <a:rPr dirty="0" sz="1100" spc="-65">
                <a:latin typeface="Georgia"/>
                <a:cs typeface="Georgia"/>
              </a:rPr>
              <a:t>0.010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</a:t>
            </a:r>
            <a:r>
              <a:rPr dirty="0" sz="1200" spc="175">
                <a:latin typeface="Arial Unicode MS"/>
                <a:cs typeface="Arial Unicode MS"/>
              </a:rPr>
              <a:t>算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baseline="37037" sz="900" spc="104">
                <a:latin typeface="Lucida Sans Unicode"/>
                <a:cs typeface="Lucida Sans Unicode"/>
              </a:rPr>
              <a:t>t</a:t>
            </a:r>
            <a:r>
              <a:rPr dirty="0" sz="1100" spc="70">
                <a:latin typeface="Georgia"/>
                <a:cs typeface="Georgia"/>
              </a:rPr>
              <a:t>(AlY)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200" spc="-320">
                <a:latin typeface="Arial Unicode MS"/>
                <a:cs typeface="Arial Unicode MS"/>
              </a:rPr>
              <a:t>？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65">
                <a:latin typeface="Arial Unicode MS"/>
                <a:cs typeface="Arial Unicode MS"/>
              </a:rPr>
              <a:t>：</a:t>
            </a:r>
            <a:r>
              <a:rPr dirty="0" sz="1100" spc="-6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(AlY)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16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3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28930" marR="379730" indent="-266065">
              <a:lnSpc>
                <a:spcPct val="123300"/>
              </a:lnSpc>
              <a:spcBef>
                <a:spcPts val="935"/>
              </a:spcBef>
            </a:pPr>
            <a:r>
              <a:rPr dirty="0" sz="1050" spc="-80">
                <a:latin typeface="Arial Unicode MS"/>
                <a:cs typeface="Arial Unicode MS"/>
              </a:rPr>
              <a:t>解</a:t>
            </a:r>
            <a:r>
              <a:rPr dirty="0" sz="1050" spc="-145">
                <a:latin typeface="Arial Unicode MS"/>
                <a:cs typeface="Arial Unicode MS"/>
              </a:rPr>
              <a:t>：</a:t>
            </a:r>
            <a:r>
              <a:rPr dirty="0" sz="1050" spc="-5">
                <a:latin typeface="Arial Unicode MS"/>
                <a:cs typeface="Arial Unicode MS"/>
              </a:rPr>
              <a:t>查表可</a:t>
            </a:r>
            <a:r>
              <a:rPr dirty="0" sz="1050" spc="-70">
                <a:latin typeface="Arial Unicode MS"/>
                <a:cs typeface="Arial Unicode MS"/>
              </a:rPr>
              <a:t>得</a:t>
            </a:r>
            <a:r>
              <a:rPr dirty="0" sz="1050" spc="-85">
                <a:latin typeface="Arial Unicode MS"/>
                <a:cs typeface="Arial Unicode MS"/>
              </a:rPr>
              <a:t>，</a:t>
            </a:r>
            <a:r>
              <a:rPr dirty="0" sz="1000" spc="-85">
                <a:latin typeface="Georgia"/>
                <a:cs typeface="Georgia"/>
              </a:rPr>
              <a:t>pH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5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00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65">
                <a:latin typeface="Arial Unicode MS"/>
                <a:cs typeface="Arial Unicode MS"/>
              </a:rPr>
              <a:t>，</a:t>
            </a:r>
            <a:r>
              <a:rPr dirty="0" sz="1000" spc="-65">
                <a:latin typeface="Georgia"/>
                <a:cs typeface="Georgia"/>
              </a:rPr>
              <a:t>lg </a:t>
            </a:r>
            <a:r>
              <a:rPr dirty="0" sz="1000" spc="15" b="0" i="1">
                <a:latin typeface="Bookman Old Style"/>
                <a:cs typeface="Bookman Old Style"/>
              </a:rPr>
              <a:t>α</a:t>
            </a:r>
            <a:r>
              <a:rPr dirty="0" sz="1000" spc="15">
                <a:latin typeface="Georgia"/>
                <a:cs typeface="Georgia"/>
              </a:rPr>
              <a:t>(Y(H))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6</a:t>
            </a:r>
            <a:r>
              <a:rPr dirty="0" sz="1000" spc="-65" b="0" i="1">
                <a:latin typeface="Bookman Old Style"/>
                <a:cs typeface="Bookman Old Style"/>
              </a:rPr>
              <a:t>.</a:t>
            </a:r>
            <a:r>
              <a:rPr dirty="0" sz="1000" spc="-65">
                <a:latin typeface="Georgia"/>
                <a:cs typeface="Georgia"/>
              </a:rPr>
              <a:t>45</a:t>
            </a:r>
            <a:r>
              <a:rPr dirty="0" sz="1050" spc="-65">
                <a:latin typeface="Arial Unicode MS"/>
                <a:cs typeface="Arial Unicode MS"/>
              </a:rPr>
              <a:t>，</a:t>
            </a:r>
            <a:r>
              <a:rPr dirty="0" sz="1000" spc="-65">
                <a:latin typeface="Georgia"/>
                <a:cs typeface="Georgia"/>
              </a:rPr>
              <a:t>lg </a:t>
            </a: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(Al(OH))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0</a:t>
            </a:r>
            <a:r>
              <a:rPr dirty="0" sz="1000" spc="-70" b="0" i="1">
                <a:latin typeface="Bookman Old Style"/>
                <a:cs typeface="Bookman Old Style"/>
              </a:rPr>
              <a:t>.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50" spc="-70">
                <a:latin typeface="Arial Unicode MS"/>
                <a:cs typeface="Arial Unicode MS"/>
              </a:rPr>
              <a:t>；  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65">
                <a:latin typeface="Georgia"/>
                <a:cs typeface="Georgia"/>
              </a:rPr>
              <a:t> </a:t>
            </a:r>
            <a:r>
              <a:rPr dirty="0" sz="1000" spc="-5" b="0" i="1">
                <a:latin typeface="Bookman Old Style"/>
                <a:cs typeface="Bookman Old Style"/>
              </a:rPr>
              <a:t>β</a:t>
            </a:r>
            <a:r>
              <a:rPr dirty="0" baseline="-11904" sz="1050" spc="-7">
                <a:latin typeface="Times New Roman"/>
                <a:cs typeface="Times New Roman"/>
              </a:rPr>
              <a:t>1</a:t>
            </a:r>
            <a:r>
              <a:rPr dirty="0" baseline="-11904" sz="1050" spc="232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35">
                <a:latin typeface="Lucida Sans Unicode"/>
                <a:cs typeface="Lucida Sans Unicode"/>
              </a:rPr>
              <a:t> 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60">
                <a:latin typeface="Georgia"/>
                <a:cs typeface="Georgia"/>
              </a:rPr>
              <a:t> </a:t>
            </a:r>
            <a:r>
              <a:rPr dirty="0" sz="1000" spc="-5" b="0" i="1">
                <a:latin typeface="Bookman Old Style"/>
                <a:cs typeface="Bookman Old Style"/>
              </a:rPr>
              <a:t>β</a:t>
            </a:r>
            <a:r>
              <a:rPr dirty="0" baseline="-11904" sz="1050" spc="-7">
                <a:latin typeface="Times New Roman"/>
                <a:cs typeface="Times New Roman"/>
              </a:rPr>
              <a:t>6</a:t>
            </a:r>
            <a:r>
              <a:rPr dirty="0" baseline="-11904" sz="1050" spc="60">
                <a:latin typeface="Times New Roman"/>
                <a:cs typeface="Times New Roman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45">
                <a:latin typeface="Georgia"/>
                <a:cs typeface="Georgia"/>
              </a:rPr>
              <a:t>6.13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11.15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15.00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17.75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19.37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19.84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6499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6205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9474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82040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30733"/>
            <a:ext cx="50749" cy="564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06330"/>
            <a:ext cx="4432935" cy="439420"/>
          </a:xfrm>
          <a:custGeom>
            <a:avLst/>
            <a:gdLst/>
            <a:ahLst/>
            <a:cxnLst/>
            <a:rect l="l" t="t" r="r" b="b"/>
            <a:pathLst>
              <a:path w="4432935" h="439420">
                <a:moveTo>
                  <a:pt x="4432566" y="0"/>
                </a:moveTo>
                <a:lnTo>
                  <a:pt x="0" y="0"/>
                </a:lnTo>
                <a:lnTo>
                  <a:pt x="0" y="388410"/>
                </a:lnTo>
                <a:lnTo>
                  <a:pt x="4008" y="408134"/>
                </a:lnTo>
                <a:lnTo>
                  <a:pt x="14922" y="424287"/>
                </a:lnTo>
                <a:lnTo>
                  <a:pt x="31075" y="435202"/>
                </a:lnTo>
                <a:lnTo>
                  <a:pt x="50800" y="439210"/>
                </a:lnTo>
                <a:lnTo>
                  <a:pt x="4381765" y="439210"/>
                </a:lnTo>
                <a:lnTo>
                  <a:pt x="4401490" y="435202"/>
                </a:lnTo>
                <a:lnTo>
                  <a:pt x="4417643" y="424287"/>
                </a:lnTo>
                <a:lnTo>
                  <a:pt x="4428558" y="408134"/>
                </a:lnTo>
                <a:lnTo>
                  <a:pt x="4432566" y="388410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68824"/>
            <a:ext cx="0" cy="545465"/>
          </a:xfrm>
          <a:custGeom>
            <a:avLst/>
            <a:gdLst/>
            <a:ahLst/>
            <a:cxnLst/>
            <a:rect l="l" t="t" r="r" b="b"/>
            <a:pathLst>
              <a:path w="0" h="545465">
                <a:moveTo>
                  <a:pt x="0" y="54496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561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434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307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27533"/>
            <a:ext cx="4411980" cy="171640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6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5.4</a:t>
            </a:r>
            <a:endParaRPr sz="12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65"/>
              </a:spcBef>
            </a:pPr>
            <a:r>
              <a:rPr dirty="0" sz="1200" spc="175">
                <a:latin typeface="Arial Unicode MS"/>
                <a:cs typeface="Arial Unicode MS"/>
              </a:rPr>
              <a:t>往</a:t>
            </a:r>
            <a:r>
              <a:rPr dirty="0" sz="1100" spc="10">
                <a:latin typeface="Georgia"/>
                <a:cs typeface="Georgia"/>
              </a:rPr>
              <a:t>pH=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45">
                <a:latin typeface="Georgia"/>
                <a:cs typeface="Georgia"/>
              </a:rPr>
              <a:t>0.10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AlY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溶液中加</a:t>
            </a:r>
            <a:r>
              <a:rPr dirty="0" sz="1200" spc="175">
                <a:latin typeface="Arial Unicode MS"/>
                <a:cs typeface="Arial Unicode MS"/>
              </a:rPr>
              <a:t>入</a:t>
            </a:r>
            <a:r>
              <a:rPr dirty="0" sz="1100" spc="-25">
                <a:latin typeface="Georgia"/>
                <a:cs typeface="Georgia"/>
              </a:rPr>
              <a:t>F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当溶液中游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70">
                <a:latin typeface="Georgia"/>
                <a:cs typeface="Georgia"/>
              </a:rPr>
              <a:t>F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5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度达</a:t>
            </a:r>
            <a:r>
              <a:rPr dirty="0" sz="1200" spc="175">
                <a:latin typeface="Arial Unicode MS"/>
                <a:cs typeface="Arial Unicode MS"/>
              </a:rPr>
              <a:t>到</a:t>
            </a:r>
            <a:r>
              <a:rPr dirty="0" sz="1100" spc="-65">
                <a:latin typeface="Georgia"/>
                <a:cs typeface="Georgia"/>
              </a:rPr>
              <a:t>0.010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</a:t>
            </a:r>
            <a:r>
              <a:rPr dirty="0" sz="1200" spc="175">
                <a:latin typeface="Arial Unicode MS"/>
                <a:cs typeface="Arial Unicode MS"/>
              </a:rPr>
              <a:t>算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baseline="37037" sz="900" spc="104">
                <a:latin typeface="Lucida Sans Unicode"/>
                <a:cs typeface="Lucida Sans Unicode"/>
              </a:rPr>
              <a:t>t</a:t>
            </a:r>
            <a:r>
              <a:rPr dirty="0" sz="1100" spc="70">
                <a:latin typeface="Georgia"/>
                <a:cs typeface="Georgia"/>
              </a:rPr>
              <a:t>(AlY)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200" spc="-320">
                <a:latin typeface="Arial Unicode MS"/>
                <a:cs typeface="Arial Unicode MS"/>
              </a:rPr>
              <a:t>？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65">
                <a:latin typeface="Arial Unicode MS"/>
                <a:cs typeface="Arial Unicode MS"/>
              </a:rPr>
              <a:t>：</a:t>
            </a:r>
            <a:r>
              <a:rPr dirty="0" sz="1100" spc="-6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(AlY)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16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3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28930" marR="379730" indent="-266065">
              <a:lnSpc>
                <a:spcPct val="123300"/>
              </a:lnSpc>
              <a:spcBef>
                <a:spcPts val="935"/>
              </a:spcBef>
            </a:pPr>
            <a:r>
              <a:rPr dirty="0" sz="1050" spc="-80">
                <a:latin typeface="Arial Unicode MS"/>
                <a:cs typeface="Arial Unicode MS"/>
              </a:rPr>
              <a:t>解</a:t>
            </a:r>
            <a:r>
              <a:rPr dirty="0" sz="1050" spc="-145">
                <a:latin typeface="Arial Unicode MS"/>
                <a:cs typeface="Arial Unicode MS"/>
              </a:rPr>
              <a:t>：</a:t>
            </a:r>
            <a:r>
              <a:rPr dirty="0" sz="1050" spc="-5">
                <a:latin typeface="Arial Unicode MS"/>
                <a:cs typeface="Arial Unicode MS"/>
              </a:rPr>
              <a:t>查表可</a:t>
            </a:r>
            <a:r>
              <a:rPr dirty="0" sz="1050" spc="-70">
                <a:latin typeface="Arial Unicode MS"/>
                <a:cs typeface="Arial Unicode MS"/>
              </a:rPr>
              <a:t>得</a:t>
            </a:r>
            <a:r>
              <a:rPr dirty="0" sz="1050" spc="-85">
                <a:latin typeface="Arial Unicode MS"/>
                <a:cs typeface="Arial Unicode MS"/>
              </a:rPr>
              <a:t>，</a:t>
            </a:r>
            <a:r>
              <a:rPr dirty="0" sz="1000" spc="-85">
                <a:latin typeface="Georgia"/>
                <a:cs typeface="Georgia"/>
              </a:rPr>
              <a:t>pH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5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00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65">
                <a:latin typeface="Arial Unicode MS"/>
                <a:cs typeface="Arial Unicode MS"/>
              </a:rPr>
              <a:t>，</a:t>
            </a:r>
            <a:r>
              <a:rPr dirty="0" sz="1000" spc="-65">
                <a:latin typeface="Georgia"/>
                <a:cs typeface="Georgia"/>
              </a:rPr>
              <a:t>lg </a:t>
            </a:r>
            <a:r>
              <a:rPr dirty="0" sz="1000" spc="15" b="0" i="1">
                <a:latin typeface="Bookman Old Style"/>
                <a:cs typeface="Bookman Old Style"/>
              </a:rPr>
              <a:t>α</a:t>
            </a:r>
            <a:r>
              <a:rPr dirty="0" sz="1000" spc="15">
                <a:latin typeface="Georgia"/>
                <a:cs typeface="Georgia"/>
              </a:rPr>
              <a:t>(Y(H))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6</a:t>
            </a:r>
            <a:r>
              <a:rPr dirty="0" sz="1000" spc="-65" b="0" i="1">
                <a:latin typeface="Bookman Old Style"/>
                <a:cs typeface="Bookman Old Style"/>
              </a:rPr>
              <a:t>.</a:t>
            </a:r>
            <a:r>
              <a:rPr dirty="0" sz="1000" spc="-65">
                <a:latin typeface="Georgia"/>
                <a:cs typeface="Georgia"/>
              </a:rPr>
              <a:t>45</a:t>
            </a:r>
            <a:r>
              <a:rPr dirty="0" sz="1050" spc="-65">
                <a:latin typeface="Arial Unicode MS"/>
                <a:cs typeface="Arial Unicode MS"/>
              </a:rPr>
              <a:t>，</a:t>
            </a:r>
            <a:r>
              <a:rPr dirty="0" sz="1000" spc="-65">
                <a:latin typeface="Georgia"/>
                <a:cs typeface="Georgia"/>
              </a:rPr>
              <a:t>lg </a:t>
            </a: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(Al(OH))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0</a:t>
            </a:r>
            <a:r>
              <a:rPr dirty="0" sz="1000" spc="-70" b="0" i="1">
                <a:latin typeface="Bookman Old Style"/>
                <a:cs typeface="Bookman Old Style"/>
              </a:rPr>
              <a:t>.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50" spc="-70">
                <a:latin typeface="Arial Unicode MS"/>
                <a:cs typeface="Arial Unicode MS"/>
              </a:rPr>
              <a:t>；  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65">
                <a:latin typeface="Georgia"/>
                <a:cs typeface="Georgia"/>
              </a:rPr>
              <a:t> </a:t>
            </a:r>
            <a:r>
              <a:rPr dirty="0" sz="1000" spc="-5" b="0" i="1">
                <a:latin typeface="Bookman Old Style"/>
                <a:cs typeface="Bookman Old Style"/>
              </a:rPr>
              <a:t>β</a:t>
            </a:r>
            <a:r>
              <a:rPr dirty="0" baseline="-11904" sz="1050" spc="-7">
                <a:latin typeface="Times New Roman"/>
                <a:cs typeface="Times New Roman"/>
              </a:rPr>
              <a:t>1</a:t>
            </a:r>
            <a:r>
              <a:rPr dirty="0" baseline="-11904" sz="1050" spc="232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35">
                <a:latin typeface="Lucida Sans Unicode"/>
                <a:cs typeface="Lucida Sans Unicode"/>
              </a:rPr>
              <a:t> 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60">
                <a:latin typeface="Georgia"/>
                <a:cs typeface="Georgia"/>
              </a:rPr>
              <a:t> </a:t>
            </a:r>
            <a:r>
              <a:rPr dirty="0" sz="1000" spc="-5" b="0" i="1">
                <a:latin typeface="Bookman Old Style"/>
                <a:cs typeface="Bookman Old Style"/>
              </a:rPr>
              <a:t>β</a:t>
            </a:r>
            <a:r>
              <a:rPr dirty="0" baseline="-11904" sz="1050" spc="-7">
                <a:latin typeface="Times New Roman"/>
                <a:cs typeface="Times New Roman"/>
              </a:rPr>
              <a:t>6</a:t>
            </a:r>
            <a:r>
              <a:rPr dirty="0" baseline="-11904" sz="1050" spc="60">
                <a:latin typeface="Times New Roman"/>
                <a:cs typeface="Times New Roman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45">
                <a:latin typeface="Georgia"/>
                <a:cs typeface="Georgia"/>
              </a:rPr>
              <a:t>6.13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11.15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15.00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17.75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19.37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19.84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algn="ctr" marR="205104">
              <a:lnSpc>
                <a:spcPct val="100000"/>
              </a:lnSpc>
              <a:spcBef>
                <a:spcPts val="1050"/>
              </a:spcBef>
            </a:pPr>
            <a:r>
              <a:rPr dirty="0" sz="1000" spc="20" b="0" i="1">
                <a:latin typeface="Bookman Old Style"/>
                <a:cs typeface="Bookman Old Style"/>
              </a:rPr>
              <a:t>α</a:t>
            </a:r>
            <a:r>
              <a:rPr dirty="0" sz="1000" spc="20">
                <a:latin typeface="Georgia"/>
                <a:cs typeface="Georgia"/>
              </a:rPr>
              <a:t>(Al(F))   </a:t>
            </a:r>
            <a:r>
              <a:rPr dirty="0" sz="1000" spc="130">
                <a:latin typeface="Georgia"/>
                <a:cs typeface="Georgia"/>
              </a:rPr>
              <a:t>=  </a:t>
            </a:r>
            <a:r>
              <a:rPr dirty="0" sz="1000" spc="65">
                <a:latin typeface="Georgia"/>
                <a:cs typeface="Georgia"/>
              </a:rPr>
              <a:t>1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35" b="0" i="1">
                <a:latin typeface="Bookman Old Style"/>
                <a:cs typeface="Bookman Old Style"/>
              </a:rPr>
              <a:t>β</a:t>
            </a:r>
            <a:r>
              <a:rPr dirty="0" baseline="-11904" sz="1050" spc="52">
                <a:latin typeface="Times New Roman"/>
                <a:cs typeface="Times New Roman"/>
              </a:rPr>
              <a:t>1</a:t>
            </a:r>
            <a:r>
              <a:rPr dirty="0" sz="1000" spc="35">
                <a:latin typeface="Georgia"/>
                <a:cs typeface="Georgia"/>
              </a:rPr>
              <a:t>[F</a:t>
            </a:r>
            <a:r>
              <a:rPr dirty="0" baseline="31746" sz="1050" spc="52" b="0" i="1">
                <a:latin typeface="Calibri Light"/>
                <a:cs typeface="Calibri Light"/>
              </a:rPr>
              <a:t>−</a:t>
            </a:r>
            <a:r>
              <a:rPr dirty="0" sz="1000" spc="35">
                <a:latin typeface="Georgia"/>
                <a:cs typeface="Georgia"/>
              </a:rPr>
              <a:t>]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35" b="0" i="1">
                <a:latin typeface="Bookman Old Style"/>
                <a:cs typeface="Bookman Old Style"/>
              </a:rPr>
              <a:t>β</a:t>
            </a:r>
            <a:r>
              <a:rPr dirty="0" baseline="-11904" sz="1050" spc="52">
                <a:latin typeface="Times New Roman"/>
                <a:cs typeface="Times New Roman"/>
              </a:rPr>
              <a:t>2</a:t>
            </a:r>
            <a:r>
              <a:rPr dirty="0" sz="1000" spc="35">
                <a:latin typeface="Georgia"/>
                <a:cs typeface="Georgia"/>
              </a:rPr>
              <a:t>[F</a:t>
            </a:r>
            <a:r>
              <a:rPr dirty="0" baseline="31746" sz="1050" spc="52" b="0" i="1">
                <a:latin typeface="Calibri Light"/>
                <a:cs typeface="Calibri Light"/>
              </a:rPr>
              <a:t>−</a:t>
            </a:r>
            <a:r>
              <a:rPr dirty="0" sz="1000" spc="35">
                <a:latin typeface="Georgia"/>
                <a:cs typeface="Georgia"/>
              </a:rPr>
              <a:t>]</a:t>
            </a:r>
            <a:r>
              <a:rPr dirty="0" baseline="31746" sz="1050" spc="52">
                <a:latin typeface="Times New Roman"/>
                <a:cs typeface="Times New Roman"/>
              </a:rPr>
              <a:t>2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6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130">
                <a:latin typeface="Georgia"/>
                <a:cs typeface="Georgia"/>
              </a:rPr>
              <a:t> </a:t>
            </a:r>
            <a:r>
              <a:rPr dirty="0" sz="1000" spc="35" b="0" i="1">
                <a:latin typeface="Bookman Old Style"/>
                <a:cs typeface="Bookman Old Style"/>
              </a:rPr>
              <a:t>β</a:t>
            </a:r>
            <a:r>
              <a:rPr dirty="0" baseline="-11904" sz="1050" spc="52">
                <a:latin typeface="Times New Roman"/>
                <a:cs typeface="Times New Roman"/>
              </a:rPr>
              <a:t>6</a:t>
            </a:r>
            <a:r>
              <a:rPr dirty="0" sz="1000" spc="35">
                <a:latin typeface="Georgia"/>
                <a:cs typeface="Georgia"/>
              </a:rPr>
              <a:t>[F</a:t>
            </a:r>
            <a:r>
              <a:rPr dirty="0" baseline="31746" sz="1050" spc="52" b="0" i="1">
                <a:latin typeface="Calibri Light"/>
                <a:cs typeface="Calibri Light"/>
              </a:rPr>
              <a:t>−</a:t>
            </a:r>
            <a:r>
              <a:rPr dirty="0" sz="1000" spc="35">
                <a:latin typeface="Georgia"/>
                <a:cs typeface="Georgia"/>
              </a:rPr>
              <a:t>]</a:t>
            </a:r>
            <a:r>
              <a:rPr dirty="0" baseline="31746" sz="1050" spc="52">
                <a:latin typeface="Times New Roman"/>
                <a:cs typeface="Times New Roman"/>
              </a:rPr>
              <a:t>6</a:t>
            </a:r>
            <a:endParaRPr baseline="31746" sz="1050">
              <a:latin typeface="Times New Roman"/>
              <a:cs typeface="Times New Roman"/>
            </a:endParaRPr>
          </a:p>
          <a:p>
            <a:pPr marL="1276985">
              <a:lnSpc>
                <a:spcPct val="100000"/>
              </a:lnSpc>
              <a:spcBef>
                <a:spcPts val="650"/>
              </a:spcBef>
            </a:pP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65">
                <a:latin typeface="Georgia"/>
                <a:cs typeface="Georgia"/>
              </a:rPr>
              <a:t>1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15">
                <a:latin typeface="Georgia"/>
                <a:cs typeface="Georgia"/>
              </a:rPr>
              <a:t>10</a:t>
            </a:r>
            <a:r>
              <a:rPr dirty="0" baseline="31746" sz="1050" spc="22">
                <a:latin typeface="Times New Roman"/>
                <a:cs typeface="Times New Roman"/>
              </a:rPr>
              <a:t>6</a:t>
            </a:r>
            <a:r>
              <a:rPr dirty="0" baseline="31746" sz="1050" spc="22" i="1">
                <a:latin typeface="Lucida Sans"/>
                <a:cs typeface="Lucida Sans"/>
              </a:rPr>
              <a:t>.</a:t>
            </a:r>
            <a:r>
              <a:rPr dirty="0" baseline="31746" sz="1050" spc="22">
                <a:latin typeface="Times New Roman"/>
                <a:cs typeface="Times New Roman"/>
              </a:rPr>
              <a:t>13 </a:t>
            </a:r>
            <a:r>
              <a:rPr dirty="0" sz="1000" spc="-20">
                <a:latin typeface="Lucida Sans Unicode"/>
                <a:cs typeface="Lucida Sans Unicode"/>
              </a:rPr>
              <a:t>× </a:t>
            </a:r>
            <a:r>
              <a:rPr dirty="0" sz="1000" spc="-65">
                <a:latin typeface="Georgia"/>
                <a:cs typeface="Georgia"/>
              </a:rPr>
              <a:t>0</a:t>
            </a:r>
            <a:r>
              <a:rPr dirty="0" sz="1000" spc="-65" b="0" i="1">
                <a:latin typeface="Bookman Old Style"/>
                <a:cs typeface="Bookman Old Style"/>
              </a:rPr>
              <a:t>.</a:t>
            </a:r>
            <a:r>
              <a:rPr dirty="0" sz="1000" spc="-65">
                <a:latin typeface="Georgia"/>
                <a:cs typeface="Georgia"/>
              </a:rPr>
              <a:t>010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6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120">
                <a:latin typeface="Georgia"/>
                <a:cs typeface="Georgia"/>
              </a:rPr>
              <a:t> </a:t>
            </a:r>
            <a:r>
              <a:rPr dirty="0" sz="1000" spc="20">
                <a:latin typeface="Georgia"/>
                <a:cs typeface="Georgia"/>
              </a:rPr>
              <a:t>10</a:t>
            </a:r>
            <a:r>
              <a:rPr dirty="0" baseline="31746" sz="1050" spc="30">
                <a:latin typeface="Times New Roman"/>
                <a:cs typeface="Times New Roman"/>
              </a:rPr>
              <a:t>19</a:t>
            </a:r>
            <a:r>
              <a:rPr dirty="0" baseline="31746" sz="1050" spc="30" i="1">
                <a:latin typeface="Lucida Sans"/>
                <a:cs typeface="Lucida Sans"/>
              </a:rPr>
              <a:t>.</a:t>
            </a:r>
            <a:r>
              <a:rPr dirty="0" baseline="31746" sz="1050" spc="30">
                <a:latin typeface="Times New Roman"/>
                <a:cs typeface="Times New Roman"/>
              </a:rPr>
              <a:t>84 </a:t>
            </a:r>
            <a:r>
              <a:rPr dirty="0" sz="1000" spc="-20">
                <a:latin typeface="Lucida Sans Unicode"/>
                <a:cs typeface="Lucida Sans Unicode"/>
              </a:rPr>
              <a:t>× </a:t>
            </a:r>
            <a:r>
              <a:rPr dirty="0" sz="1000" spc="-45">
                <a:latin typeface="Georgia"/>
                <a:cs typeface="Georgia"/>
              </a:rPr>
              <a:t>0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010</a:t>
            </a:r>
            <a:r>
              <a:rPr dirty="0" baseline="31746" sz="1050" spc="-67">
                <a:latin typeface="Times New Roman"/>
                <a:cs typeface="Times New Roman"/>
              </a:rPr>
              <a:t>6</a:t>
            </a:r>
            <a:endParaRPr baseline="31746"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9481" y="1801990"/>
            <a:ext cx="1244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39052" y="1749755"/>
            <a:ext cx="3841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2222" sz="1500" spc="22">
                <a:latin typeface="Georgia"/>
                <a:cs typeface="Georgia"/>
              </a:rPr>
              <a:t>10</a:t>
            </a:r>
            <a:r>
              <a:rPr dirty="0" sz="700" spc="15">
                <a:latin typeface="Times New Roman"/>
                <a:cs typeface="Times New Roman"/>
              </a:rPr>
              <a:t>9</a:t>
            </a:r>
            <a:r>
              <a:rPr dirty="0" sz="700" spc="15" i="1">
                <a:latin typeface="Lucida Sans"/>
                <a:cs typeface="Lucida Sans"/>
              </a:rPr>
              <a:t>.</a:t>
            </a:r>
            <a:r>
              <a:rPr dirty="0" sz="700" spc="15">
                <a:latin typeface="Times New Roman"/>
                <a:cs typeface="Times New Roman"/>
              </a:rPr>
              <a:t>90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6499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6205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9474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82040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30733"/>
            <a:ext cx="50749" cy="564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06330"/>
            <a:ext cx="4432935" cy="439420"/>
          </a:xfrm>
          <a:custGeom>
            <a:avLst/>
            <a:gdLst/>
            <a:ahLst/>
            <a:cxnLst/>
            <a:rect l="l" t="t" r="r" b="b"/>
            <a:pathLst>
              <a:path w="4432935" h="439420">
                <a:moveTo>
                  <a:pt x="4432566" y="0"/>
                </a:moveTo>
                <a:lnTo>
                  <a:pt x="0" y="0"/>
                </a:lnTo>
                <a:lnTo>
                  <a:pt x="0" y="388410"/>
                </a:lnTo>
                <a:lnTo>
                  <a:pt x="4008" y="408134"/>
                </a:lnTo>
                <a:lnTo>
                  <a:pt x="14922" y="424287"/>
                </a:lnTo>
                <a:lnTo>
                  <a:pt x="31075" y="435202"/>
                </a:lnTo>
                <a:lnTo>
                  <a:pt x="50800" y="439210"/>
                </a:lnTo>
                <a:lnTo>
                  <a:pt x="4381765" y="439210"/>
                </a:lnTo>
                <a:lnTo>
                  <a:pt x="4401490" y="435202"/>
                </a:lnTo>
                <a:lnTo>
                  <a:pt x="4417643" y="424287"/>
                </a:lnTo>
                <a:lnTo>
                  <a:pt x="4428558" y="408134"/>
                </a:lnTo>
                <a:lnTo>
                  <a:pt x="4432566" y="388410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68824"/>
            <a:ext cx="0" cy="545465"/>
          </a:xfrm>
          <a:custGeom>
            <a:avLst/>
            <a:gdLst/>
            <a:ahLst/>
            <a:cxnLst/>
            <a:rect l="l" t="t" r="r" b="b"/>
            <a:pathLst>
              <a:path w="0" h="545465">
                <a:moveTo>
                  <a:pt x="0" y="54496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561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434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307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27533"/>
            <a:ext cx="4411980" cy="171640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6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5.4</a:t>
            </a:r>
            <a:endParaRPr sz="12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65"/>
              </a:spcBef>
            </a:pPr>
            <a:r>
              <a:rPr dirty="0" sz="1200" spc="175">
                <a:latin typeface="Arial Unicode MS"/>
                <a:cs typeface="Arial Unicode MS"/>
              </a:rPr>
              <a:t>往</a:t>
            </a:r>
            <a:r>
              <a:rPr dirty="0" sz="1100" spc="10">
                <a:latin typeface="Georgia"/>
                <a:cs typeface="Georgia"/>
              </a:rPr>
              <a:t>pH=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45">
                <a:latin typeface="Georgia"/>
                <a:cs typeface="Georgia"/>
              </a:rPr>
              <a:t>0.10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AlY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溶液中加</a:t>
            </a:r>
            <a:r>
              <a:rPr dirty="0" sz="1200" spc="175">
                <a:latin typeface="Arial Unicode MS"/>
                <a:cs typeface="Arial Unicode MS"/>
              </a:rPr>
              <a:t>入</a:t>
            </a:r>
            <a:r>
              <a:rPr dirty="0" sz="1100" spc="-25">
                <a:latin typeface="Georgia"/>
                <a:cs typeface="Georgia"/>
              </a:rPr>
              <a:t>F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当溶液中游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70">
                <a:latin typeface="Georgia"/>
                <a:cs typeface="Georgia"/>
              </a:rPr>
              <a:t>F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5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度达</a:t>
            </a:r>
            <a:r>
              <a:rPr dirty="0" sz="1200" spc="175">
                <a:latin typeface="Arial Unicode MS"/>
                <a:cs typeface="Arial Unicode MS"/>
              </a:rPr>
              <a:t>到</a:t>
            </a:r>
            <a:r>
              <a:rPr dirty="0" sz="1100" spc="-65">
                <a:latin typeface="Georgia"/>
                <a:cs typeface="Georgia"/>
              </a:rPr>
              <a:t>0.010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</a:t>
            </a:r>
            <a:r>
              <a:rPr dirty="0" sz="1200" spc="175">
                <a:latin typeface="Arial Unicode MS"/>
                <a:cs typeface="Arial Unicode MS"/>
              </a:rPr>
              <a:t>算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baseline="37037" sz="900" spc="104">
                <a:latin typeface="Lucida Sans Unicode"/>
                <a:cs typeface="Lucida Sans Unicode"/>
              </a:rPr>
              <a:t>t</a:t>
            </a:r>
            <a:r>
              <a:rPr dirty="0" sz="1100" spc="70">
                <a:latin typeface="Georgia"/>
                <a:cs typeface="Georgia"/>
              </a:rPr>
              <a:t>(AlY)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200" spc="-320">
                <a:latin typeface="Arial Unicode MS"/>
                <a:cs typeface="Arial Unicode MS"/>
              </a:rPr>
              <a:t>？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65">
                <a:latin typeface="Arial Unicode MS"/>
                <a:cs typeface="Arial Unicode MS"/>
              </a:rPr>
              <a:t>：</a:t>
            </a:r>
            <a:r>
              <a:rPr dirty="0" sz="1100" spc="-6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(AlY)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16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3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28930" marR="379730" indent="-266065">
              <a:lnSpc>
                <a:spcPct val="123300"/>
              </a:lnSpc>
              <a:spcBef>
                <a:spcPts val="935"/>
              </a:spcBef>
            </a:pPr>
            <a:r>
              <a:rPr dirty="0" sz="1050" spc="-80">
                <a:latin typeface="Arial Unicode MS"/>
                <a:cs typeface="Arial Unicode MS"/>
              </a:rPr>
              <a:t>解</a:t>
            </a:r>
            <a:r>
              <a:rPr dirty="0" sz="1050" spc="-145">
                <a:latin typeface="Arial Unicode MS"/>
                <a:cs typeface="Arial Unicode MS"/>
              </a:rPr>
              <a:t>：</a:t>
            </a:r>
            <a:r>
              <a:rPr dirty="0" sz="1050" spc="-5">
                <a:latin typeface="Arial Unicode MS"/>
                <a:cs typeface="Arial Unicode MS"/>
              </a:rPr>
              <a:t>查表可</a:t>
            </a:r>
            <a:r>
              <a:rPr dirty="0" sz="1050" spc="-70">
                <a:latin typeface="Arial Unicode MS"/>
                <a:cs typeface="Arial Unicode MS"/>
              </a:rPr>
              <a:t>得</a:t>
            </a:r>
            <a:r>
              <a:rPr dirty="0" sz="1050" spc="-85">
                <a:latin typeface="Arial Unicode MS"/>
                <a:cs typeface="Arial Unicode MS"/>
              </a:rPr>
              <a:t>，</a:t>
            </a:r>
            <a:r>
              <a:rPr dirty="0" sz="1000" spc="-85">
                <a:latin typeface="Georgia"/>
                <a:cs typeface="Georgia"/>
              </a:rPr>
              <a:t>pH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5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00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65">
                <a:latin typeface="Arial Unicode MS"/>
                <a:cs typeface="Arial Unicode MS"/>
              </a:rPr>
              <a:t>，</a:t>
            </a:r>
            <a:r>
              <a:rPr dirty="0" sz="1000" spc="-65">
                <a:latin typeface="Georgia"/>
                <a:cs typeface="Georgia"/>
              </a:rPr>
              <a:t>lg </a:t>
            </a:r>
            <a:r>
              <a:rPr dirty="0" sz="1000" spc="15" b="0" i="1">
                <a:latin typeface="Bookman Old Style"/>
                <a:cs typeface="Bookman Old Style"/>
              </a:rPr>
              <a:t>α</a:t>
            </a:r>
            <a:r>
              <a:rPr dirty="0" sz="1000" spc="15">
                <a:latin typeface="Georgia"/>
                <a:cs typeface="Georgia"/>
              </a:rPr>
              <a:t>(Y(H))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6</a:t>
            </a:r>
            <a:r>
              <a:rPr dirty="0" sz="1000" spc="-65" b="0" i="1">
                <a:latin typeface="Bookman Old Style"/>
                <a:cs typeface="Bookman Old Style"/>
              </a:rPr>
              <a:t>.</a:t>
            </a:r>
            <a:r>
              <a:rPr dirty="0" sz="1000" spc="-65">
                <a:latin typeface="Georgia"/>
                <a:cs typeface="Georgia"/>
              </a:rPr>
              <a:t>45</a:t>
            </a:r>
            <a:r>
              <a:rPr dirty="0" sz="1050" spc="-65">
                <a:latin typeface="Arial Unicode MS"/>
                <a:cs typeface="Arial Unicode MS"/>
              </a:rPr>
              <a:t>，</a:t>
            </a:r>
            <a:r>
              <a:rPr dirty="0" sz="1000" spc="-65">
                <a:latin typeface="Georgia"/>
                <a:cs typeface="Georgia"/>
              </a:rPr>
              <a:t>lg </a:t>
            </a: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(Al(OH))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0</a:t>
            </a:r>
            <a:r>
              <a:rPr dirty="0" sz="1000" spc="-70" b="0" i="1">
                <a:latin typeface="Bookman Old Style"/>
                <a:cs typeface="Bookman Old Style"/>
              </a:rPr>
              <a:t>.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50" spc="-70">
                <a:latin typeface="Arial Unicode MS"/>
                <a:cs typeface="Arial Unicode MS"/>
              </a:rPr>
              <a:t>；  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65">
                <a:latin typeface="Georgia"/>
                <a:cs typeface="Georgia"/>
              </a:rPr>
              <a:t> </a:t>
            </a:r>
            <a:r>
              <a:rPr dirty="0" sz="1000" spc="-5" b="0" i="1">
                <a:latin typeface="Bookman Old Style"/>
                <a:cs typeface="Bookman Old Style"/>
              </a:rPr>
              <a:t>β</a:t>
            </a:r>
            <a:r>
              <a:rPr dirty="0" baseline="-11904" sz="1050" spc="-7">
                <a:latin typeface="Times New Roman"/>
                <a:cs typeface="Times New Roman"/>
              </a:rPr>
              <a:t>1</a:t>
            </a:r>
            <a:r>
              <a:rPr dirty="0" baseline="-11904" sz="1050" spc="232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35">
                <a:latin typeface="Lucida Sans Unicode"/>
                <a:cs typeface="Lucida Sans Unicode"/>
              </a:rPr>
              <a:t> 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60">
                <a:latin typeface="Georgia"/>
                <a:cs typeface="Georgia"/>
              </a:rPr>
              <a:t> </a:t>
            </a:r>
            <a:r>
              <a:rPr dirty="0" sz="1000" spc="-5" b="0" i="1">
                <a:latin typeface="Bookman Old Style"/>
                <a:cs typeface="Bookman Old Style"/>
              </a:rPr>
              <a:t>β</a:t>
            </a:r>
            <a:r>
              <a:rPr dirty="0" baseline="-11904" sz="1050" spc="-7">
                <a:latin typeface="Times New Roman"/>
                <a:cs typeface="Times New Roman"/>
              </a:rPr>
              <a:t>6</a:t>
            </a:r>
            <a:r>
              <a:rPr dirty="0" baseline="-11904" sz="1050" spc="60">
                <a:latin typeface="Times New Roman"/>
                <a:cs typeface="Times New Roman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45">
                <a:latin typeface="Georgia"/>
                <a:cs typeface="Georgia"/>
              </a:rPr>
              <a:t>6.13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11.15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15.00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17.75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19.37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19.84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algn="ctr" marR="205104">
              <a:lnSpc>
                <a:spcPct val="100000"/>
              </a:lnSpc>
              <a:spcBef>
                <a:spcPts val="1050"/>
              </a:spcBef>
            </a:pPr>
            <a:r>
              <a:rPr dirty="0" sz="1000" spc="20" b="0" i="1">
                <a:latin typeface="Bookman Old Style"/>
                <a:cs typeface="Bookman Old Style"/>
              </a:rPr>
              <a:t>α</a:t>
            </a:r>
            <a:r>
              <a:rPr dirty="0" sz="1000" spc="20">
                <a:latin typeface="Georgia"/>
                <a:cs typeface="Georgia"/>
              </a:rPr>
              <a:t>(Al(F))   </a:t>
            </a:r>
            <a:r>
              <a:rPr dirty="0" sz="1000" spc="130">
                <a:latin typeface="Georgia"/>
                <a:cs typeface="Georgia"/>
              </a:rPr>
              <a:t>=  </a:t>
            </a:r>
            <a:r>
              <a:rPr dirty="0" sz="1000" spc="65">
                <a:latin typeface="Georgia"/>
                <a:cs typeface="Georgia"/>
              </a:rPr>
              <a:t>1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35" b="0" i="1">
                <a:latin typeface="Bookman Old Style"/>
                <a:cs typeface="Bookman Old Style"/>
              </a:rPr>
              <a:t>β</a:t>
            </a:r>
            <a:r>
              <a:rPr dirty="0" baseline="-11904" sz="1050" spc="52">
                <a:latin typeface="Times New Roman"/>
                <a:cs typeface="Times New Roman"/>
              </a:rPr>
              <a:t>1</a:t>
            </a:r>
            <a:r>
              <a:rPr dirty="0" sz="1000" spc="35">
                <a:latin typeface="Georgia"/>
                <a:cs typeface="Georgia"/>
              </a:rPr>
              <a:t>[F</a:t>
            </a:r>
            <a:r>
              <a:rPr dirty="0" baseline="31746" sz="1050" spc="52" b="0" i="1">
                <a:latin typeface="Calibri Light"/>
                <a:cs typeface="Calibri Light"/>
              </a:rPr>
              <a:t>−</a:t>
            </a:r>
            <a:r>
              <a:rPr dirty="0" sz="1000" spc="35">
                <a:latin typeface="Georgia"/>
                <a:cs typeface="Georgia"/>
              </a:rPr>
              <a:t>]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35" b="0" i="1">
                <a:latin typeface="Bookman Old Style"/>
                <a:cs typeface="Bookman Old Style"/>
              </a:rPr>
              <a:t>β</a:t>
            </a:r>
            <a:r>
              <a:rPr dirty="0" baseline="-11904" sz="1050" spc="52">
                <a:latin typeface="Times New Roman"/>
                <a:cs typeface="Times New Roman"/>
              </a:rPr>
              <a:t>2</a:t>
            </a:r>
            <a:r>
              <a:rPr dirty="0" sz="1000" spc="35">
                <a:latin typeface="Georgia"/>
                <a:cs typeface="Georgia"/>
              </a:rPr>
              <a:t>[F</a:t>
            </a:r>
            <a:r>
              <a:rPr dirty="0" baseline="31746" sz="1050" spc="52" b="0" i="1">
                <a:latin typeface="Calibri Light"/>
                <a:cs typeface="Calibri Light"/>
              </a:rPr>
              <a:t>−</a:t>
            </a:r>
            <a:r>
              <a:rPr dirty="0" sz="1000" spc="35">
                <a:latin typeface="Georgia"/>
                <a:cs typeface="Georgia"/>
              </a:rPr>
              <a:t>]</a:t>
            </a:r>
            <a:r>
              <a:rPr dirty="0" baseline="31746" sz="1050" spc="52">
                <a:latin typeface="Times New Roman"/>
                <a:cs typeface="Times New Roman"/>
              </a:rPr>
              <a:t>2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6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130">
                <a:latin typeface="Georgia"/>
                <a:cs typeface="Georgia"/>
              </a:rPr>
              <a:t> </a:t>
            </a:r>
            <a:r>
              <a:rPr dirty="0" sz="1000" spc="35" b="0" i="1">
                <a:latin typeface="Bookman Old Style"/>
                <a:cs typeface="Bookman Old Style"/>
              </a:rPr>
              <a:t>β</a:t>
            </a:r>
            <a:r>
              <a:rPr dirty="0" baseline="-11904" sz="1050" spc="52">
                <a:latin typeface="Times New Roman"/>
                <a:cs typeface="Times New Roman"/>
              </a:rPr>
              <a:t>6</a:t>
            </a:r>
            <a:r>
              <a:rPr dirty="0" sz="1000" spc="35">
                <a:latin typeface="Georgia"/>
                <a:cs typeface="Georgia"/>
              </a:rPr>
              <a:t>[F</a:t>
            </a:r>
            <a:r>
              <a:rPr dirty="0" baseline="31746" sz="1050" spc="52" b="0" i="1">
                <a:latin typeface="Calibri Light"/>
                <a:cs typeface="Calibri Light"/>
              </a:rPr>
              <a:t>−</a:t>
            </a:r>
            <a:r>
              <a:rPr dirty="0" sz="1000" spc="35">
                <a:latin typeface="Georgia"/>
                <a:cs typeface="Georgia"/>
              </a:rPr>
              <a:t>]</a:t>
            </a:r>
            <a:r>
              <a:rPr dirty="0" baseline="31746" sz="1050" spc="52">
                <a:latin typeface="Times New Roman"/>
                <a:cs typeface="Times New Roman"/>
              </a:rPr>
              <a:t>6</a:t>
            </a:r>
            <a:endParaRPr baseline="31746" sz="1050">
              <a:latin typeface="Times New Roman"/>
              <a:cs typeface="Times New Roman"/>
            </a:endParaRPr>
          </a:p>
          <a:p>
            <a:pPr marL="1276985">
              <a:lnSpc>
                <a:spcPct val="100000"/>
              </a:lnSpc>
              <a:spcBef>
                <a:spcPts val="650"/>
              </a:spcBef>
            </a:pP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65">
                <a:latin typeface="Georgia"/>
                <a:cs typeface="Georgia"/>
              </a:rPr>
              <a:t>1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15">
                <a:latin typeface="Georgia"/>
                <a:cs typeface="Georgia"/>
              </a:rPr>
              <a:t>10</a:t>
            </a:r>
            <a:r>
              <a:rPr dirty="0" baseline="31746" sz="1050" spc="22">
                <a:latin typeface="Times New Roman"/>
                <a:cs typeface="Times New Roman"/>
              </a:rPr>
              <a:t>6</a:t>
            </a:r>
            <a:r>
              <a:rPr dirty="0" baseline="31746" sz="1050" spc="22" i="1">
                <a:latin typeface="Lucida Sans"/>
                <a:cs typeface="Lucida Sans"/>
              </a:rPr>
              <a:t>.</a:t>
            </a:r>
            <a:r>
              <a:rPr dirty="0" baseline="31746" sz="1050" spc="22">
                <a:latin typeface="Times New Roman"/>
                <a:cs typeface="Times New Roman"/>
              </a:rPr>
              <a:t>13 </a:t>
            </a:r>
            <a:r>
              <a:rPr dirty="0" sz="1000" spc="-20">
                <a:latin typeface="Lucida Sans Unicode"/>
                <a:cs typeface="Lucida Sans Unicode"/>
              </a:rPr>
              <a:t>× </a:t>
            </a:r>
            <a:r>
              <a:rPr dirty="0" sz="1000" spc="-65">
                <a:latin typeface="Georgia"/>
                <a:cs typeface="Georgia"/>
              </a:rPr>
              <a:t>0</a:t>
            </a:r>
            <a:r>
              <a:rPr dirty="0" sz="1000" spc="-65" b="0" i="1">
                <a:latin typeface="Bookman Old Style"/>
                <a:cs typeface="Bookman Old Style"/>
              </a:rPr>
              <a:t>.</a:t>
            </a:r>
            <a:r>
              <a:rPr dirty="0" sz="1000" spc="-65">
                <a:latin typeface="Georgia"/>
                <a:cs typeface="Georgia"/>
              </a:rPr>
              <a:t>010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6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120">
                <a:latin typeface="Georgia"/>
                <a:cs typeface="Georgia"/>
              </a:rPr>
              <a:t> </a:t>
            </a:r>
            <a:r>
              <a:rPr dirty="0" sz="1000" spc="20">
                <a:latin typeface="Georgia"/>
                <a:cs typeface="Georgia"/>
              </a:rPr>
              <a:t>10</a:t>
            </a:r>
            <a:r>
              <a:rPr dirty="0" baseline="31746" sz="1050" spc="30">
                <a:latin typeface="Times New Roman"/>
                <a:cs typeface="Times New Roman"/>
              </a:rPr>
              <a:t>19</a:t>
            </a:r>
            <a:r>
              <a:rPr dirty="0" baseline="31746" sz="1050" spc="30" i="1">
                <a:latin typeface="Lucida Sans"/>
                <a:cs typeface="Lucida Sans"/>
              </a:rPr>
              <a:t>.</a:t>
            </a:r>
            <a:r>
              <a:rPr dirty="0" baseline="31746" sz="1050" spc="30">
                <a:latin typeface="Times New Roman"/>
                <a:cs typeface="Times New Roman"/>
              </a:rPr>
              <a:t>84 </a:t>
            </a:r>
            <a:r>
              <a:rPr dirty="0" sz="1000" spc="-20">
                <a:latin typeface="Lucida Sans Unicode"/>
                <a:cs typeface="Lucida Sans Unicode"/>
              </a:rPr>
              <a:t>× </a:t>
            </a:r>
            <a:r>
              <a:rPr dirty="0" sz="1000" spc="-45">
                <a:latin typeface="Georgia"/>
                <a:cs typeface="Georgia"/>
              </a:rPr>
              <a:t>0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010</a:t>
            </a:r>
            <a:r>
              <a:rPr dirty="0" baseline="31746" sz="1050" spc="-67">
                <a:latin typeface="Times New Roman"/>
                <a:cs typeface="Times New Roman"/>
              </a:rPr>
              <a:t>6</a:t>
            </a:r>
            <a:endParaRPr baseline="31746"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9481" y="1801990"/>
            <a:ext cx="1244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39052" y="1749755"/>
            <a:ext cx="3841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2222" sz="1500" spc="22">
                <a:latin typeface="Georgia"/>
                <a:cs typeface="Georgia"/>
              </a:rPr>
              <a:t>10</a:t>
            </a:r>
            <a:r>
              <a:rPr dirty="0" sz="700" spc="15">
                <a:latin typeface="Times New Roman"/>
                <a:cs typeface="Times New Roman"/>
              </a:rPr>
              <a:t>9</a:t>
            </a:r>
            <a:r>
              <a:rPr dirty="0" sz="700" spc="15" i="1">
                <a:latin typeface="Lucida Sans"/>
                <a:cs typeface="Lucida Sans"/>
              </a:rPr>
              <a:t>.</a:t>
            </a:r>
            <a:r>
              <a:rPr dirty="0" sz="700" spc="15">
                <a:latin typeface="Times New Roman"/>
                <a:cs typeface="Times New Roman"/>
              </a:rPr>
              <a:t>90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077" y="2286343"/>
            <a:ext cx="36156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15" b="0" i="1">
                <a:latin typeface="Bookman Old Style"/>
                <a:cs typeface="Bookman Old Style"/>
              </a:rPr>
              <a:t>α</a:t>
            </a:r>
            <a:r>
              <a:rPr dirty="0" sz="1000" spc="15">
                <a:latin typeface="Georgia"/>
                <a:cs typeface="Georgia"/>
              </a:rPr>
              <a:t>(Al)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(Al(OH))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20" b="0" i="1">
                <a:latin typeface="Bookman Old Style"/>
                <a:cs typeface="Bookman Old Style"/>
              </a:rPr>
              <a:t>α</a:t>
            </a:r>
            <a:r>
              <a:rPr dirty="0" sz="1000" spc="20">
                <a:latin typeface="Georgia"/>
                <a:cs typeface="Georgia"/>
              </a:rPr>
              <a:t>(Al(F))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−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65">
                <a:latin typeface="Georgia"/>
                <a:cs typeface="Georgia"/>
              </a:rPr>
              <a:t>1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0">
                <a:latin typeface="Georgia"/>
                <a:cs typeface="Georgia"/>
              </a:rPr>
              <a:t>10</a:t>
            </a:r>
            <a:r>
              <a:rPr dirty="0" baseline="31746" sz="1050" spc="15">
                <a:latin typeface="Times New Roman"/>
                <a:cs typeface="Times New Roman"/>
              </a:rPr>
              <a:t>0</a:t>
            </a:r>
            <a:r>
              <a:rPr dirty="0" baseline="31746" sz="1050" spc="15" i="1">
                <a:latin typeface="Lucida Sans"/>
                <a:cs typeface="Lucida Sans"/>
              </a:rPr>
              <a:t>.</a:t>
            </a:r>
            <a:r>
              <a:rPr dirty="0" baseline="31746" sz="1050" spc="15">
                <a:latin typeface="Times New Roman"/>
                <a:cs typeface="Times New Roman"/>
              </a:rPr>
              <a:t>4</a:t>
            </a:r>
            <a:r>
              <a:rPr dirty="0" baseline="31746" sz="1050" spc="142">
                <a:latin typeface="Times New Roman"/>
                <a:cs typeface="Times New Roman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15">
                <a:latin typeface="Georgia"/>
                <a:cs typeface="Georgia"/>
              </a:rPr>
              <a:t>10</a:t>
            </a:r>
            <a:r>
              <a:rPr dirty="0" baseline="31746" sz="1050" spc="22">
                <a:latin typeface="Times New Roman"/>
                <a:cs typeface="Times New Roman"/>
              </a:rPr>
              <a:t>9</a:t>
            </a:r>
            <a:r>
              <a:rPr dirty="0" baseline="31746" sz="1050" spc="22" i="1">
                <a:latin typeface="Lucida Sans"/>
                <a:cs typeface="Lucida Sans"/>
              </a:rPr>
              <a:t>.</a:t>
            </a:r>
            <a:r>
              <a:rPr dirty="0" baseline="31746" sz="1050" spc="22">
                <a:latin typeface="Times New Roman"/>
                <a:cs typeface="Times New Roman"/>
              </a:rPr>
              <a:t>90</a:t>
            </a:r>
            <a:r>
              <a:rPr dirty="0" baseline="31746" sz="1050" spc="142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−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65">
                <a:latin typeface="Georgia"/>
                <a:cs typeface="Georgia"/>
              </a:rPr>
              <a:t>1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5">
                <a:latin typeface="Georgia"/>
                <a:cs typeface="Georgia"/>
              </a:rPr>
              <a:t>10</a:t>
            </a:r>
            <a:r>
              <a:rPr dirty="0" baseline="31746" sz="1050" spc="22">
                <a:latin typeface="Times New Roman"/>
                <a:cs typeface="Times New Roman"/>
              </a:rPr>
              <a:t>9</a:t>
            </a:r>
            <a:r>
              <a:rPr dirty="0" baseline="31746" sz="1050" spc="22" i="1">
                <a:latin typeface="Lucida Sans"/>
                <a:cs typeface="Lucida Sans"/>
              </a:rPr>
              <a:t>.</a:t>
            </a:r>
            <a:r>
              <a:rPr dirty="0" baseline="31746" sz="1050" spc="22">
                <a:latin typeface="Times New Roman"/>
                <a:cs typeface="Times New Roman"/>
              </a:rPr>
              <a:t>90</a:t>
            </a:r>
            <a:endParaRPr baseline="31746" sz="1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6499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62051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9474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82040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30733"/>
            <a:ext cx="50749" cy="564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06330"/>
            <a:ext cx="4432935" cy="439420"/>
          </a:xfrm>
          <a:custGeom>
            <a:avLst/>
            <a:gdLst/>
            <a:ahLst/>
            <a:cxnLst/>
            <a:rect l="l" t="t" r="r" b="b"/>
            <a:pathLst>
              <a:path w="4432935" h="439420">
                <a:moveTo>
                  <a:pt x="4432566" y="0"/>
                </a:moveTo>
                <a:lnTo>
                  <a:pt x="0" y="0"/>
                </a:lnTo>
                <a:lnTo>
                  <a:pt x="0" y="388410"/>
                </a:lnTo>
                <a:lnTo>
                  <a:pt x="4008" y="408134"/>
                </a:lnTo>
                <a:lnTo>
                  <a:pt x="14922" y="424287"/>
                </a:lnTo>
                <a:lnTo>
                  <a:pt x="31075" y="435202"/>
                </a:lnTo>
                <a:lnTo>
                  <a:pt x="50800" y="439210"/>
                </a:lnTo>
                <a:lnTo>
                  <a:pt x="4381765" y="439210"/>
                </a:lnTo>
                <a:lnTo>
                  <a:pt x="4401490" y="435202"/>
                </a:lnTo>
                <a:lnTo>
                  <a:pt x="4417643" y="424287"/>
                </a:lnTo>
                <a:lnTo>
                  <a:pt x="4428558" y="408134"/>
                </a:lnTo>
                <a:lnTo>
                  <a:pt x="4432566" y="388410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68824"/>
            <a:ext cx="0" cy="545465"/>
          </a:xfrm>
          <a:custGeom>
            <a:avLst/>
            <a:gdLst/>
            <a:ahLst/>
            <a:cxnLst/>
            <a:rect l="l" t="t" r="r" b="b"/>
            <a:pathLst>
              <a:path w="0" h="545465">
                <a:moveTo>
                  <a:pt x="0" y="54496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561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434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3072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27533"/>
            <a:ext cx="4411980" cy="171640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6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5.4</a:t>
            </a:r>
            <a:endParaRPr sz="12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65"/>
              </a:spcBef>
            </a:pPr>
            <a:r>
              <a:rPr dirty="0" sz="1200" spc="175">
                <a:latin typeface="Arial Unicode MS"/>
                <a:cs typeface="Arial Unicode MS"/>
              </a:rPr>
              <a:t>往</a:t>
            </a:r>
            <a:r>
              <a:rPr dirty="0" sz="1100" spc="10">
                <a:latin typeface="Georgia"/>
                <a:cs typeface="Georgia"/>
              </a:rPr>
              <a:t>pH=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45">
                <a:latin typeface="Georgia"/>
                <a:cs typeface="Georgia"/>
              </a:rPr>
              <a:t>0.10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AlY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溶液中加</a:t>
            </a:r>
            <a:r>
              <a:rPr dirty="0" sz="1200" spc="175">
                <a:latin typeface="Arial Unicode MS"/>
                <a:cs typeface="Arial Unicode MS"/>
              </a:rPr>
              <a:t>入</a:t>
            </a:r>
            <a:r>
              <a:rPr dirty="0" sz="1100" spc="-25">
                <a:latin typeface="Georgia"/>
                <a:cs typeface="Georgia"/>
              </a:rPr>
              <a:t>F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当溶液中游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70">
                <a:latin typeface="Georgia"/>
                <a:cs typeface="Georgia"/>
              </a:rPr>
              <a:t>F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5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度达</a:t>
            </a:r>
            <a:r>
              <a:rPr dirty="0" sz="1200" spc="175">
                <a:latin typeface="Arial Unicode MS"/>
                <a:cs typeface="Arial Unicode MS"/>
              </a:rPr>
              <a:t>到</a:t>
            </a:r>
            <a:r>
              <a:rPr dirty="0" sz="1100" spc="-65">
                <a:latin typeface="Georgia"/>
                <a:cs typeface="Georgia"/>
              </a:rPr>
              <a:t>0.010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</a:t>
            </a:r>
            <a:r>
              <a:rPr dirty="0" sz="1200" spc="175">
                <a:latin typeface="Arial Unicode MS"/>
                <a:cs typeface="Arial Unicode MS"/>
              </a:rPr>
              <a:t>算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baseline="37037" sz="900" spc="104">
                <a:latin typeface="Lucida Sans Unicode"/>
                <a:cs typeface="Lucida Sans Unicode"/>
              </a:rPr>
              <a:t>t</a:t>
            </a:r>
            <a:r>
              <a:rPr dirty="0" sz="1100" spc="70">
                <a:latin typeface="Georgia"/>
                <a:cs typeface="Georgia"/>
              </a:rPr>
              <a:t>(AlY)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200" spc="-320">
                <a:latin typeface="Arial Unicode MS"/>
                <a:cs typeface="Arial Unicode MS"/>
              </a:rPr>
              <a:t>？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65">
                <a:latin typeface="Arial Unicode MS"/>
                <a:cs typeface="Arial Unicode MS"/>
              </a:rPr>
              <a:t>：</a:t>
            </a:r>
            <a:r>
              <a:rPr dirty="0" sz="1100" spc="-6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(AlY)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16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3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28930" marR="379730" indent="-266065">
              <a:lnSpc>
                <a:spcPct val="123300"/>
              </a:lnSpc>
              <a:spcBef>
                <a:spcPts val="935"/>
              </a:spcBef>
            </a:pPr>
            <a:r>
              <a:rPr dirty="0" sz="1050" spc="-80">
                <a:latin typeface="Arial Unicode MS"/>
                <a:cs typeface="Arial Unicode MS"/>
              </a:rPr>
              <a:t>解</a:t>
            </a:r>
            <a:r>
              <a:rPr dirty="0" sz="1050" spc="-145">
                <a:latin typeface="Arial Unicode MS"/>
                <a:cs typeface="Arial Unicode MS"/>
              </a:rPr>
              <a:t>：</a:t>
            </a:r>
            <a:r>
              <a:rPr dirty="0" sz="1050" spc="-5">
                <a:latin typeface="Arial Unicode MS"/>
                <a:cs typeface="Arial Unicode MS"/>
              </a:rPr>
              <a:t>查表可</a:t>
            </a:r>
            <a:r>
              <a:rPr dirty="0" sz="1050" spc="-70">
                <a:latin typeface="Arial Unicode MS"/>
                <a:cs typeface="Arial Unicode MS"/>
              </a:rPr>
              <a:t>得</a:t>
            </a:r>
            <a:r>
              <a:rPr dirty="0" sz="1050" spc="-85">
                <a:latin typeface="Arial Unicode MS"/>
                <a:cs typeface="Arial Unicode MS"/>
              </a:rPr>
              <a:t>，</a:t>
            </a:r>
            <a:r>
              <a:rPr dirty="0" sz="1000" spc="-85">
                <a:latin typeface="Georgia"/>
                <a:cs typeface="Georgia"/>
              </a:rPr>
              <a:t>pH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5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00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65">
                <a:latin typeface="Arial Unicode MS"/>
                <a:cs typeface="Arial Unicode MS"/>
              </a:rPr>
              <a:t>，</a:t>
            </a:r>
            <a:r>
              <a:rPr dirty="0" sz="1000" spc="-65">
                <a:latin typeface="Georgia"/>
                <a:cs typeface="Georgia"/>
              </a:rPr>
              <a:t>lg </a:t>
            </a:r>
            <a:r>
              <a:rPr dirty="0" sz="1000" spc="15" b="0" i="1">
                <a:latin typeface="Bookman Old Style"/>
                <a:cs typeface="Bookman Old Style"/>
              </a:rPr>
              <a:t>α</a:t>
            </a:r>
            <a:r>
              <a:rPr dirty="0" sz="1000" spc="15">
                <a:latin typeface="Georgia"/>
                <a:cs typeface="Georgia"/>
              </a:rPr>
              <a:t>(Y(H))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6</a:t>
            </a:r>
            <a:r>
              <a:rPr dirty="0" sz="1000" spc="-65" b="0" i="1">
                <a:latin typeface="Bookman Old Style"/>
                <a:cs typeface="Bookman Old Style"/>
              </a:rPr>
              <a:t>.</a:t>
            </a:r>
            <a:r>
              <a:rPr dirty="0" sz="1000" spc="-65">
                <a:latin typeface="Georgia"/>
                <a:cs typeface="Georgia"/>
              </a:rPr>
              <a:t>45</a:t>
            </a:r>
            <a:r>
              <a:rPr dirty="0" sz="1050" spc="-65">
                <a:latin typeface="Arial Unicode MS"/>
                <a:cs typeface="Arial Unicode MS"/>
              </a:rPr>
              <a:t>，</a:t>
            </a:r>
            <a:r>
              <a:rPr dirty="0" sz="1000" spc="-65">
                <a:latin typeface="Georgia"/>
                <a:cs typeface="Georgia"/>
              </a:rPr>
              <a:t>lg </a:t>
            </a: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(Al(OH))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0</a:t>
            </a:r>
            <a:r>
              <a:rPr dirty="0" sz="1000" spc="-70" b="0" i="1">
                <a:latin typeface="Bookman Old Style"/>
                <a:cs typeface="Bookman Old Style"/>
              </a:rPr>
              <a:t>.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50" spc="-70">
                <a:latin typeface="Arial Unicode MS"/>
                <a:cs typeface="Arial Unicode MS"/>
              </a:rPr>
              <a:t>；  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65">
                <a:latin typeface="Georgia"/>
                <a:cs typeface="Georgia"/>
              </a:rPr>
              <a:t> </a:t>
            </a:r>
            <a:r>
              <a:rPr dirty="0" sz="1000" spc="-5" b="0" i="1">
                <a:latin typeface="Bookman Old Style"/>
                <a:cs typeface="Bookman Old Style"/>
              </a:rPr>
              <a:t>β</a:t>
            </a:r>
            <a:r>
              <a:rPr dirty="0" baseline="-11904" sz="1050" spc="-7">
                <a:latin typeface="Times New Roman"/>
                <a:cs typeface="Times New Roman"/>
              </a:rPr>
              <a:t>1</a:t>
            </a:r>
            <a:r>
              <a:rPr dirty="0" baseline="-11904" sz="1050" spc="232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35">
                <a:latin typeface="Lucida Sans Unicode"/>
                <a:cs typeface="Lucida Sans Unicode"/>
              </a:rPr>
              <a:t> 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60">
                <a:latin typeface="Georgia"/>
                <a:cs typeface="Georgia"/>
              </a:rPr>
              <a:t> </a:t>
            </a:r>
            <a:r>
              <a:rPr dirty="0" sz="1000" spc="-5" b="0" i="1">
                <a:latin typeface="Bookman Old Style"/>
                <a:cs typeface="Bookman Old Style"/>
              </a:rPr>
              <a:t>β</a:t>
            </a:r>
            <a:r>
              <a:rPr dirty="0" baseline="-11904" sz="1050" spc="-7">
                <a:latin typeface="Times New Roman"/>
                <a:cs typeface="Times New Roman"/>
              </a:rPr>
              <a:t>6</a:t>
            </a:r>
            <a:r>
              <a:rPr dirty="0" baseline="-11904" sz="1050" spc="60">
                <a:latin typeface="Times New Roman"/>
                <a:cs typeface="Times New Roman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45">
                <a:latin typeface="Georgia"/>
                <a:cs typeface="Georgia"/>
              </a:rPr>
              <a:t>6.13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11.15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15.00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17.75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19.37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19.84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algn="ctr" marR="205104">
              <a:lnSpc>
                <a:spcPct val="100000"/>
              </a:lnSpc>
              <a:spcBef>
                <a:spcPts val="1050"/>
              </a:spcBef>
            </a:pPr>
            <a:r>
              <a:rPr dirty="0" sz="1000" spc="20" b="0" i="1">
                <a:latin typeface="Bookman Old Style"/>
                <a:cs typeface="Bookman Old Style"/>
              </a:rPr>
              <a:t>α</a:t>
            </a:r>
            <a:r>
              <a:rPr dirty="0" sz="1000" spc="20">
                <a:latin typeface="Georgia"/>
                <a:cs typeface="Georgia"/>
              </a:rPr>
              <a:t>(Al(F))   </a:t>
            </a:r>
            <a:r>
              <a:rPr dirty="0" sz="1000" spc="130">
                <a:latin typeface="Georgia"/>
                <a:cs typeface="Georgia"/>
              </a:rPr>
              <a:t>=  </a:t>
            </a:r>
            <a:r>
              <a:rPr dirty="0" sz="1000" spc="65">
                <a:latin typeface="Georgia"/>
                <a:cs typeface="Georgia"/>
              </a:rPr>
              <a:t>1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35" b="0" i="1">
                <a:latin typeface="Bookman Old Style"/>
                <a:cs typeface="Bookman Old Style"/>
              </a:rPr>
              <a:t>β</a:t>
            </a:r>
            <a:r>
              <a:rPr dirty="0" baseline="-11904" sz="1050" spc="52">
                <a:latin typeface="Times New Roman"/>
                <a:cs typeface="Times New Roman"/>
              </a:rPr>
              <a:t>1</a:t>
            </a:r>
            <a:r>
              <a:rPr dirty="0" sz="1000" spc="35">
                <a:latin typeface="Georgia"/>
                <a:cs typeface="Georgia"/>
              </a:rPr>
              <a:t>[F</a:t>
            </a:r>
            <a:r>
              <a:rPr dirty="0" baseline="31746" sz="1050" spc="52" b="0" i="1">
                <a:latin typeface="Calibri Light"/>
                <a:cs typeface="Calibri Light"/>
              </a:rPr>
              <a:t>−</a:t>
            </a:r>
            <a:r>
              <a:rPr dirty="0" sz="1000" spc="35">
                <a:latin typeface="Georgia"/>
                <a:cs typeface="Georgia"/>
              </a:rPr>
              <a:t>]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35" b="0" i="1">
                <a:latin typeface="Bookman Old Style"/>
                <a:cs typeface="Bookman Old Style"/>
              </a:rPr>
              <a:t>β</a:t>
            </a:r>
            <a:r>
              <a:rPr dirty="0" baseline="-11904" sz="1050" spc="52">
                <a:latin typeface="Times New Roman"/>
                <a:cs typeface="Times New Roman"/>
              </a:rPr>
              <a:t>2</a:t>
            </a:r>
            <a:r>
              <a:rPr dirty="0" sz="1000" spc="35">
                <a:latin typeface="Georgia"/>
                <a:cs typeface="Georgia"/>
              </a:rPr>
              <a:t>[F</a:t>
            </a:r>
            <a:r>
              <a:rPr dirty="0" baseline="31746" sz="1050" spc="52" b="0" i="1">
                <a:latin typeface="Calibri Light"/>
                <a:cs typeface="Calibri Light"/>
              </a:rPr>
              <a:t>−</a:t>
            </a:r>
            <a:r>
              <a:rPr dirty="0" sz="1000" spc="35">
                <a:latin typeface="Georgia"/>
                <a:cs typeface="Georgia"/>
              </a:rPr>
              <a:t>]</a:t>
            </a:r>
            <a:r>
              <a:rPr dirty="0" baseline="31746" sz="1050" spc="52">
                <a:latin typeface="Times New Roman"/>
                <a:cs typeface="Times New Roman"/>
              </a:rPr>
              <a:t>2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6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130">
                <a:latin typeface="Georgia"/>
                <a:cs typeface="Georgia"/>
              </a:rPr>
              <a:t> </a:t>
            </a:r>
            <a:r>
              <a:rPr dirty="0" sz="1000" spc="35" b="0" i="1">
                <a:latin typeface="Bookman Old Style"/>
                <a:cs typeface="Bookman Old Style"/>
              </a:rPr>
              <a:t>β</a:t>
            </a:r>
            <a:r>
              <a:rPr dirty="0" baseline="-11904" sz="1050" spc="52">
                <a:latin typeface="Times New Roman"/>
                <a:cs typeface="Times New Roman"/>
              </a:rPr>
              <a:t>6</a:t>
            </a:r>
            <a:r>
              <a:rPr dirty="0" sz="1000" spc="35">
                <a:latin typeface="Georgia"/>
                <a:cs typeface="Georgia"/>
              </a:rPr>
              <a:t>[F</a:t>
            </a:r>
            <a:r>
              <a:rPr dirty="0" baseline="31746" sz="1050" spc="52" b="0" i="1">
                <a:latin typeface="Calibri Light"/>
                <a:cs typeface="Calibri Light"/>
              </a:rPr>
              <a:t>−</a:t>
            </a:r>
            <a:r>
              <a:rPr dirty="0" sz="1000" spc="35">
                <a:latin typeface="Georgia"/>
                <a:cs typeface="Georgia"/>
              </a:rPr>
              <a:t>]</a:t>
            </a:r>
            <a:r>
              <a:rPr dirty="0" baseline="31746" sz="1050" spc="52">
                <a:latin typeface="Times New Roman"/>
                <a:cs typeface="Times New Roman"/>
              </a:rPr>
              <a:t>6</a:t>
            </a:r>
            <a:endParaRPr baseline="31746" sz="1050">
              <a:latin typeface="Times New Roman"/>
              <a:cs typeface="Times New Roman"/>
            </a:endParaRPr>
          </a:p>
          <a:p>
            <a:pPr marL="1276985">
              <a:lnSpc>
                <a:spcPct val="100000"/>
              </a:lnSpc>
              <a:spcBef>
                <a:spcPts val="650"/>
              </a:spcBef>
            </a:pP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65">
                <a:latin typeface="Georgia"/>
                <a:cs typeface="Georgia"/>
              </a:rPr>
              <a:t>1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15">
                <a:latin typeface="Georgia"/>
                <a:cs typeface="Georgia"/>
              </a:rPr>
              <a:t>10</a:t>
            </a:r>
            <a:r>
              <a:rPr dirty="0" baseline="31746" sz="1050" spc="22">
                <a:latin typeface="Times New Roman"/>
                <a:cs typeface="Times New Roman"/>
              </a:rPr>
              <a:t>6</a:t>
            </a:r>
            <a:r>
              <a:rPr dirty="0" baseline="31746" sz="1050" spc="22" i="1">
                <a:latin typeface="Lucida Sans"/>
                <a:cs typeface="Lucida Sans"/>
              </a:rPr>
              <a:t>.</a:t>
            </a:r>
            <a:r>
              <a:rPr dirty="0" baseline="31746" sz="1050" spc="22">
                <a:latin typeface="Times New Roman"/>
                <a:cs typeface="Times New Roman"/>
              </a:rPr>
              <a:t>13 </a:t>
            </a:r>
            <a:r>
              <a:rPr dirty="0" sz="1000" spc="-20">
                <a:latin typeface="Lucida Sans Unicode"/>
                <a:cs typeface="Lucida Sans Unicode"/>
              </a:rPr>
              <a:t>× </a:t>
            </a:r>
            <a:r>
              <a:rPr dirty="0" sz="1000" spc="-65">
                <a:latin typeface="Georgia"/>
                <a:cs typeface="Georgia"/>
              </a:rPr>
              <a:t>0</a:t>
            </a:r>
            <a:r>
              <a:rPr dirty="0" sz="1000" spc="-65" b="0" i="1">
                <a:latin typeface="Bookman Old Style"/>
                <a:cs typeface="Bookman Old Style"/>
              </a:rPr>
              <a:t>.</a:t>
            </a:r>
            <a:r>
              <a:rPr dirty="0" sz="1000" spc="-65">
                <a:latin typeface="Georgia"/>
                <a:cs typeface="Georgia"/>
              </a:rPr>
              <a:t>010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6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120">
                <a:latin typeface="Georgia"/>
                <a:cs typeface="Georgia"/>
              </a:rPr>
              <a:t> </a:t>
            </a:r>
            <a:r>
              <a:rPr dirty="0" sz="1000" spc="20">
                <a:latin typeface="Georgia"/>
                <a:cs typeface="Georgia"/>
              </a:rPr>
              <a:t>10</a:t>
            </a:r>
            <a:r>
              <a:rPr dirty="0" baseline="31746" sz="1050" spc="30">
                <a:latin typeface="Times New Roman"/>
                <a:cs typeface="Times New Roman"/>
              </a:rPr>
              <a:t>19</a:t>
            </a:r>
            <a:r>
              <a:rPr dirty="0" baseline="31746" sz="1050" spc="30" i="1">
                <a:latin typeface="Lucida Sans"/>
                <a:cs typeface="Lucida Sans"/>
              </a:rPr>
              <a:t>.</a:t>
            </a:r>
            <a:r>
              <a:rPr dirty="0" baseline="31746" sz="1050" spc="30">
                <a:latin typeface="Times New Roman"/>
                <a:cs typeface="Times New Roman"/>
              </a:rPr>
              <a:t>84 </a:t>
            </a:r>
            <a:r>
              <a:rPr dirty="0" sz="1000" spc="-20">
                <a:latin typeface="Lucida Sans Unicode"/>
                <a:cs typeface="Lucida Sans Unicode"/>
              </a:rPr>
              <a:t>× </a:t>
            </a:r>
            <a:r>
              <a:rPr dirty="0" sz="1000" spc="-45">
                <a:latin typeface="Georgia"/>
                <a:cs typeface="Georgia"/>
              </a:rPr>
              <a:t>0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010</a:t>
            </a:r>
            <a:r>
              <a:rPr dirty="0" baseline="31746" sz="1050" spc="-67">
                <a:latin typeface="Times New Roman"/>
                <a:cs typeface="Times New Roman"/>
              </a:rPr>
              <a:t>6</a:t>
            </a:r>
            <a:endParaRPr baseline="31746"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9481" y="1801990"/>
            <a:ext cx="1244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39052" y="1749755"/>
            <a:ext cx="3841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2222" sz="1500" spc="22">
                <a:latin typeface="Georgia"/>
                <a:cs typeface="Georgia"/>
              </a:rPr>
              <a:t>10</a:t>
            </a:r>
            <a:r>
              <a:rPr dirty="0" sz="700" spc="15">
                <a:latin typeface="Times New Roman"/>
                <a:cs typeface="Times New Roman"/>
              </a:rPr>
              <a:t>9</a:t>
            </a:r>
            <a:r>
              <a:rPr dirty="0" sz="700" spc="15" i="1">
                <a:latin typeface="Lucida Sans"/>
                <a:cs typeface="Lucida Sans"/>
              </a:rPr>
              <a:t>.</a:t>
            </a:r>
            <a:r>
              <a:rPr dirty="0" sz="700" spc="15">
                <a:latin typeface="Times New Roman"/>
                <a:cs typeface="Times New Roman"/>
              </a:rPr>
              <a:t>90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0377" y="2286343"/>
            <a:ext cx="3641090" cy="951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15" b="0" i="1">
                <a:latin typeface="Bookman Old Style"/>
                <a:cs typeface="Bookman Old Style"/>
              </a:rPr>
              <a:t>α</a:t>
            </a:r>
            <a:r>
              <a:rPr dirty="0" sz="1000" spc="15">
                <a:latin typeface="Georgia"/>
                <a:cs typeface="Georgia"/>
              </a:rPr>
              <a:t>(Al)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(Al(OH))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20" b="0" i="1">
                <a:latin typeface="Bookman Old Style"/>
                <a:cs typeface="Bookman Old Style"/>
              </a:rPr>
              <a:t>α</a:t>
            </a:r>
            <a:r>
              <a:rPr dirty="0" sz="1000" spc="20">
                <a:latin typeface="Georgia"/>
                <a:cs typeface="Georgia"/>
              </a:rPr>
              <a:t>(Al(F))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−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65">
                <a:latin typeface="Georgia"/>
                <a:cs typeface="Georgia"/>
              </a:rPr>
              <a:t>1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0">
                <a:latin typeface="Georgia"/>
                <a:cs typeface="Georgia"/>
              </a:rPr>
              <a:t>10</a:t>
            </a:r>
            <a:r>
              <a:rPr dirty="0" baseline="31746" sz="1050" spc="15">
                <a:latin typeface="Times New Roman"/>
                <a:cs typeface="Times New Roman"/>
              </a:rPr>
              <a:t>0</a:t>
            </a:r>
            <a:r>
              <a:rPr dirty="0" baseline="31746" sz="1050" spc="15" i="1">
                <a:latin typeface="Lucida Sans"/>
                <a:cs typeface="Lucida Sans"/>
              </a:rPr>
              <a:t>.</a:t>
            </a:r>
            <a:r>
              <a:rPr dirty="0" baseline="31746" sz="1050" spc="15">
                <a:latin typeface="Times New Roman"/>
                <a:cs typeface="Times New Roman"/>
              </a:rPr>
              <a:t>4</a:t>
            </a:r>
            <a:r>
              <a:rPr dirty="0" baseline="31746" sz="1050" spc="142">
                <a:latin typeface="Times New Roman"/>
                <a:cs typeface="Times New Roman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15">
                <a:latin typeface="Georgia"/>
                <a:cs typeface="Georgia"/>
              </a:rPr>
              <a:t>10</a:t>
            </a:r>
            <a:r>
              <a:rPr dirty="0" baseline="31746" sz="1050" spc="22">
                <a:latin typeface="Times New Roman"/>
                <a:cs typeface="Times New Roman"/>
              </a:rPr>
              <a:t>9</a:t>
            </a:r>
            <a:r>
              <a:rPr dirty="0" baseline="31746" sz="1050" spc="22" i="1">
                <a:latin typeface="Lucida Sans"/>
                <a:cs typeface="Lucida Sans"/>
              </a:rPr>
              <a:t>.</a:t>
            </a:r>
            <a:r>
              <a:rPr dirty="0" baseline="31746" sz="1050" spc="22">
                <a:latin typeface="Times New Roman"/>
                <a:cs typeface="Times New Roman"/>
              </a:rPr>
              <a:t>90</a:t>
            </a:r>
            <a:r>
              <a:rPr dirty="0" baseline="31746" sz="1050" spc="142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−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65">
                <a:latin typeface="Georgia"/>
                <a:cs typeface="Georgia"/>
              </a:rPr>
              <a:t>1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5">
                <a:latin typeface="Georgia"/>
                <a:cs typeface="Georgia"/>
              </a:rPr>
              <a:t>10</a:t>
            </a:r>
            <a:r>
              <a:rPr dirty="0" baseline="31746" sz="1050" spc="22">
                <a:latin typeface="Times New Roman"/>
                <a:cs typeface="Times New Roman"/>
              </a:rPr>
              <a:t>9</a:t>
            </a:r>
            <a:r>
              <a:rPr dirty="0" baseline="31746" sz="1050" spc="22" i="1">
                <a:latin typeface="Lucida Sans"/>
                <a:cs typeface="Lucida Sans"/>
              </a:rPr>
              <a:t>.</a:t>
            </a:r>
            <a:r>
              <a:rPr dirty="0" baseline="31746" sz="1050" spc="22">
                <a:latin typeface="Times New Roman"/>
                <a:cs typeface="Times New Roman"/>
              </a:rPr>
              <a:t>90</a:t>
            </a:r>
            <a:endParaRPr baseline="31746"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Times New Roman"/>
              <a:cs typeface="Times New Roman"/>
            </a:endParaRPr>
          </a:p>
          <a:p>
            <a:pPr algn="ctr" marL="6350">
              <a:lnSpc>
                <a:spcPct val="100000"/>
              </a:lnSpc>
            </a:pPr>
            <a:r>
              <a:rPr dirty="0" sz="1000" spc="-15">
                <a:latin typeface="Georgia"/>
                <a:cs typeface="Georgia"/>
              </a:rPr>
              <a:t>lg </a:t>
            </a:r>
            <a:r>
              <a:rPr dirty="0" sz="1000" spc="65" b="0" i="1">
                <a:latin typeface="Bookman Old Style"/>
                <a:cs typeface="Bookman Old Style"/>
              </a:rPr>
              <a:t>K</a:t>
            </a:r>
            <a:r>
              <a:rPr dirty="0" baseline="31746" sz="1050" spc="97" b="0" i="1">
                <a:latin typeface="Calibri Light"/>
                <a:cs typeface="Calibri Light"/>
              </a:rPr>
              <a:t>t</a:t>
            </a:r>
            <a:r>
              <a:rPr dirty="0" sz="1000" spc="65">
                <a:latin typeface="Georgia"/>
                <a:cs typeface="Georgia"/>
              </a:rPr>
              <a:t>(AlY)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15">
                <a:latin typeface="Georgia"/>
                <a:cs typeface="Georgia"/>
              </a:rPr>
              <a:t>lg </a:t>
            </a:r>
            <a:r>
              <a:rPr dirty="0" sz="1000" spc="70" b="0" i="1">
                <a:latin typeface="Bookman Old Style"/>
                <a:cs typeface="Bookman Old Style"/>
              </a:rPr>
              <a:t>K</a:t>
            </a:r>
            <a:r>
              <a:rPr dirty="0" sz="1000" spc="70">
                <a:latin typeface="Georgia"/>
                <a:cs typeface="Georgia"/>
              </a:rPr>
              <a:t>(AlY) </a:t>
            </a:r>
            <a:r>
              <a:rPr dirty="0" sz="1000" spc="-20">
                <a:latin typeface="Lucida Sans Unicode"/>
                <a:cs typeface="Lucida Sans Unicode"/>
              </a:rPr>
              <a:t>− </a:t>
            </a:r>
            <a:r>
              <a:rPr dirty="0" sz="1000" spc="-15">
                <a:latin typeface="Georgia"/>
                <a:cs typeface="Georgia"/>
              </a:rPr>
              <a:t>lg </a:t>
            </a:r>
            <a:r>
              <a:rPr dirty="0" sz="1000" spc="15" b="0" i="1">
                <a:latin typeface="Bookman Old Style"/>
                <a:cs typeface="Bookman Old Style"/>
              </a:rPr>
              <a:t>α</a:t>
            </a:r>
            <a:r>
              <a:rPr dirty="0" sz="1000" spc="15">
                <a:latin typeface="Georgia"/>
                <a:cs typeface="Georgia"/>
              </a:rPr>
              <a:t>(Al) </a:t>
            </a:r>
            <a:r>
              <a:rPr dirty="0" sz="1000" spc="-20">
                <a:latin typeface="Lucida Sans Unicode"/>
                <a:cs typeface="Lucida Sans Unicode"/>
              </a:rPr>
              <a:t>− 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175">
                <a:latin typeface="Georgia"/>
                <a:cs typeface="Georgia"/>
              </a:rPr>
              <a:t> </a:t>
            </a:r>
            <a:r>
              <a:rPr dirty="0" sz="1000" spc="15" b="0" i="1">
                <a:latin typeface="Bookman Old Style"/>
                <a:cs typeface="Bookman Old Style"/>
              </a:rPr>
              <a:t>α</a:t>
            </a:r>
            <a:r>
              <a:rPr dirty="0" sz="1000" spc="15">
                <a:latin typeface="Georgia"/>
                <a:cs typeface="Georgia"/>
              </a:rPr>
              <a:t>(Y(H))</a:t>
            </a:r>
            <a:endParaRPr sz="1000">
              <a:latin typeface="Georgia"/>
              <a:cs typeface="Georgia"/>
            </a:endParaRPr>
          </a:p>
          <a:p>
            <a:pPr marL="1127125">
              <a:lnSpc>
                <a:spcPct val="100000"/>
              </a:lnSpc>
              <a:spcBef>
                <a:spcPts val="655"/>
              </a:spcBef>
            </a:pP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50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16</a:t>
            </a:r>
            <a:r>
              <a:rPr dirty="0" sz="1000" spc="-25" b="0" i="1">
                <a:latin typeface="Bookman Old Style"/>
                <a:cs typeface="Bookman Old Style"/>
              </a:rPr>
              <a:t>.</a:t>
            </a:r>
            <a:r>
              <a:rPr dirty="0" sz="1000" spc="-25">
                <a:latin typeface="Georgia"/>
                <a:cs typeface="Georgia"/>
              </a:rPr>
              <a:t>3 </a:t>
            </a:r>
            <a:r>
              <a:rPr dirty="0" sz="1000" spc="-20">
                <a:latin typeface="Lucida Sans Unicode"/>
                <a:cs typeface="Lucida Sans Unicode"/>
              </a:rPr>
              <a:t>− </a:t>
            </a:r>
            <a:r>
              <a:rPr dirty="0" sz="1000" spc="-75">
                <a:latin typeface="Georgia"/>
                <a:cs typeface="Georgia"/>
              </a:rPr>
              <a:t>9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90 </a:t>
            </a:r>
            <a:r>
              <a:rPr dirty="0" sz="1000" spc="-20">
                <a:latin typeface="Lucida Sans Unicode"/>
                <a:cs typeface="Lucida Sans Unicode"/>
              </a:rPr>
              <a:t>− </a:t>
            </a:r>
            <a:r>
              <a:rPr dirty="0" sz="1000" spc="-50">
                <a:latin typeface="Georgia"/>
                <a:cs typeface="Georgia"/>
              </a:rPr>
              <a:t>6</a:t>
            </a:r>
            <a:r>
              <a:rPr dirty="0" sz="1000" spc="-50" b="0" i="1">
                <a:latin typeface="Bookman Old Style"/>
                <a:cs typeface="Bookman Old Style"/>
              </a:rPr>
              <a:t>.</a:t>
            </a:r>
            <a:r>
              <a:rPr dirty="0" sz="1000" spc="-50">
                <a:latin typeface="Georgia"/>
                <a:cs typeface="Georgia"/>
              </a:rPr>
              <a:t>45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-114">
                <a:latin typeface="Georgia"/>
                <a:cs typeface="Georgia"/>
              </a:rPr>
              <a:t> </a:t>
            </a:r>
            <a:r>
              <a:rPr dirty="0" sz="1000" spc="-65">
                <a:latin typeface="Lucida Sans Unicode"/>
                <a:cs typeface="Lucida Sans Unicode"/>
              </a:rPr>
              <a:t>−</a:t>
            </a:r>
            <a:r>
              <a:rPr dirty="0" sz="1000" spc="-65">
                <a:latin typeface="Georgia"/>
                <a:cs typeface="Georgia"/>
              </a:rPr>
              <a:t>0</a:t>
            </a:r>
            <a:r>
              <a:rPr dirty="0" sz="1000" spc="-65" b="0" i="1">
                <a:latin typeface="Bookman Old Style"/>
                <a:cs typeface="Bookman Old Style"/>
              </a:rPr>
              <a:t>.</a:t>
            </a:r>
            <a:r>
              <a:rPr dirty="0" sz="1000" spc="-65">
                <a:latin typeface="Georgia"/>
                <a:cs typeface="Georgia"/>
              </a:rPr>
              <a:t>05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73037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5.5</a:t>
            </a:r>
            <a:r>
              <a:rPr dirty="0" sz="14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金属离子指示剂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89152"/>
            <a:ext cx="4356735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6205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检测配位滴定终点的最初方法是金属离子指示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而目前采 </a:t>
            </a:r>
            <a:r>
              <a:rPr dirty="0" sz="1200" spc="-5">
                <a:latin typeface="Arial Unicode MS"/>
                <a:cs typeface="Arial Unicode MS"/>
              </a:rPr>
              <a:t>用仪器的方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如光度滴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电位滴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电导滴定等方法也很普 </a:t>
            </a:r>
            <a:r>
              <a:rPr dirty="0" sz="1200" spc="-20">
                <a:latin typeface="Arial Unicode MS"/>
                <a:cs typeface="Arial Unicode MS"/>
              </a:rPr>
              <a:t>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12700" marR="50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金属离子指示剂既具有酸碱指示剂的性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能在一定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 </a:t>
            </a:r>
            <a:r>
              <a:rPr dirty="0" sz="1200" spc="-10">
                <a:latin typeface="Arial Unicode MS"/>
                <a:cs typeface="Arial Unicode MS"/>
              </a:rPr>
              <a:t>范围内变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又具有配位基团的性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能与金属离子反应形成配</a:t>
            </a:r>
            <a:r>
              <a:rPr dirty="0" sz="1200" spc="-5">
                <a:latin typeface="Arial Unicode MS"/>
                <a:cs typeface="Arial Unicode MS"/>
              </a:rPr>
              <a:t>合 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9221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Georgia"/>
                <a:cs typeface="Georgia"/>
              </a:rPr>
              <a:t>5.5.1</a:t>
            </a:r>
            <a:r>
              <a:rPr dirty="0" sz="1000" spc="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金</a:t>
            </a:r>
            <a:r>
              <a:rPr dirty="0" sz="1050" spc="-10">
                <a:solidFill>
                  <a:srgbClr val="FFFFFF"/>
                </a:solidFill>
              </a:rPr>
              <a:t>属</a:t>
            </a:r>
            <a:r>
              <a:rPr dirty="0" sz="1050" spc="-5">
                <a:solidFill>
                  <a:srgbClr val="FFFFFF"/>
                </a:solidFill>
              </a:rPr>
              <a:t>离子指示</a:t>
            </a:r>
            <a:r>
              <a:rPr dirty="0" sz="1050" spc="-10">
                <a:solidFill>
                  <a:srgbClr val="FFFFFF"/>
                </a:solidFill>
              </a:rPr>
              <a:t>剂</a:t>
            </a:r>
            <a:r>
              <a:rPr dirty="0" sz="1050" spc="-5">
                <a:solidFill>
                  <a:srgbClr val="FFFFFF"/>
                </a:solidFill>
              </a:rPr>
              <a:t>的作用</a:t>
            </a:r>
            <a:r>
              <a:rPr dirty="0" sz="1050" spc="-10">
                <a:solidFill>
                  <a:srgbClr val="FFFFFF"/>
                </a:solidFill>
              </a:rPr>
              <a:t>原</a:t>
            </a:r>
            <a:r>
              <a:rPr dirty="0" sz="1050" spc="-5">
                <a:solidFill>
                  <a:srgbClr val="FFFFFF"/>
                </a:solidFill>
              </a:rPr>
              <a:t>理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669950"/>
            <a:ext cx="44075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金属离子指示剂能与金属离子反应生成与指示剂本身颜色不 </a:t>
            </a:r>
            <a:r>
              <a:rPr dirty="0" sz="1200" spc="-10">
                <a:latin typeface="Arial Unicode MS"/>
                <a:cs typeface="Arial Unicode MS"/>
              </a:rPr>
              <a:t>同的配合</a:t>
            </a:r>
            <a:r>
              <a:rPr dirty="0" sz="1200" spc="-25">
                <a:latin typeface="Arial Unicode MS"/>
                <a:cs typeface="Arial Unicode MS"/>
              </a:rPr>
              <a:t>物</a:t>
            </a:r>
            <a:r>
              <a:rPr dirty="0" sz="1200" spc="-27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以铬</a:t>
            </a:r>
            <a:r>
              <a:rPr dirty="0" sz="1200" spc="175">
                <a:latin typeface="Arial Unicode MS"/>
                <a:cs typeface="Arial Unicode MS"/>
              </a:rPr>
              <a:t>黑</a:t>
            </a:r>
            <a:r>
              <a:rPr dirty="0" sz="1100" spc="-20">
                <a:latin typeface="Georgia"/>
                <a:cs typeface="Georgia"/>
              </a:rPr>
              <a:t>T</a:t>
            </a:r>
            <a:r>
              <a:rPr dirty="0" sz="1200" spc="-20">
                <a:latin typeface="Arial Unicode MS"/>
                <a:cs typeface="Arial Unicode MS"/>
              </a:rPr>
              <a:t>（</a:t>
            </a:r>
            <a:r>
              <a:rPr dirty="0" sz="1100" spc="-20">
                <a:latin typeface="Georgia"/>
                <a:cs typeface="Georgia"/>
              </a:rPr>
              <a:t>EBT</a:t>
            </a:r>
            <a:r>
              <a:rPr dirty="0" sz="1200" spc="-20">
                <a:latin typeface="Arial Unicode MS"/>
                <a:cs typeface="Arial Unicode MS"/>
              </a:rPr>
              <a:t>）</a:t>
            </a:r>
            <a:r>
              <a:rPr dirty="0" sz="1200" spc="-10">
                <a:latin typeface="Arial Unicode MS"/>
                <a:cs typeface="Arial Unicode MS"/>
              </a:rPr>
              <a:t>为</a:t>
            </a:r>
            <a:r>
              <a:rPr dirty="0" sz="1200" spc="-85">
                <a:latin typeface="Arial Unicode MS"/>
                <a:cs typeface="Arial Unicode MS"/>
              </a:rPr>
              <a:t>例</a:t>
            </a:r>
            <a:r>
              <a:rPr dirty="0" sz="1200" spc="-229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当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10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5">
                <a:latin typeface="Arial Unicode MS"/>
                <a:cs typeface="Arial Unicode MS"/>
              </a:rPr>
              <a:t>时</a:t>
            </a:r>
            <a:r>
              <a:rPr dirty="0" sz="1200" spc="-10">
                <a:latin typeface="Arial Unicode MS"/>
                <a:cs typeface="Arial Unicode MS"/>
              </a:rPr>
              <a:t>，</a:t>
            </a:r>
            <a:r>
              <a:rPr dirty="0" sz="1100" spc="-10">
                <a:latin typeface="Georgia"/>
                <a:cs typeface="Georgia"/>
              </a:rPr>
              <a:t>EBT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本身</a:t>
            </a:r>
            <a:r>
              <a:rPr dirty="0" sz="1200" spc="-5">
                <a:latin typeface="Arial Unicode MS"/>
                <a:cs typeface="Arial Unicode MS"/>
              </a:rPr>
              <a:t>为 蓝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175">
                <a:latin typeface="Arial Unicode MS"/>
                <a:cs typeface="Arial Unicode MS"/>
              </a:rPr>
              <a:t>把</a:t>
            </a:r>
            <a:r>
              <a:rPr dirty="0" sz="1100" spc="60">
                <a:latin typeface="Georgia"/>
                <a:cs typeface="Georgia"/>
              </a:rPr>
              <a:t>EBT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加入到含</a:t>
            </a:r>
            <a:r>
              <a:rPr dirty="0" sz="1200" spc="175">
                <a:latin typeface="Arial Unicode MS"/>
                <a:cs typeface="Arial Unicode MS"/>
              </a:rPr>
              <a:t>有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的溶液中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它能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 </a:t>
            </a:r>
            <a:r>
              <a:rPr dirty="0" sz="1200" spc="-5">
                <a:latin typeface="Arial Unicode MS"/>
                <a:cs typeface="Arial Unicode MS"/>
              </a:rPr>
              <a:t>生成 酒红色的配合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7925" y="1705978"/>
            <a:ext cx="4845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>
                <a:latin typeface="Times New Roman"/>
                <a:cs typeface="Times New Roman"/>
              </a:rPr>
              <a:t>pH </a:t>
            </a:r>
            <a:r>
              <a:rPr dirty="0" sz="600" spc="220">
                <a:latin typeface="Times New Roman"/>
                <a:cs typeface="Times New Roman"/>
              </a:rPr>
              <a:t>=</a:t>
            </a:r>
            <a:r>
              <a:rPr dirty="0" sz="600" spc="-45">
                <a:latin typeface="Times New Roman"/>
                <a:cs typeface="Times New Roman"/>
              </a:rPr>
              <a:t> </a:t>
            </a:r>
            <a:r>
              <a:rPr dirty="0" sz="600" spc="60">
                <a:latin typeface="Times New Roman"/>
                <a:cs typeface="Times New Roman"/>
              </a:rPr>
              <a:t>10</a:t>
            </a:r>
            <a:r>
              <a:rPr dirty="0" sz="600" spc="60" i="1">
                <a:latin typeface="Arial"/>
                <a:cs typeface="Arial"/>
              </a:rPr>
              <a:t>.</a:t>
            </a:r>
            <a:r>
              <a:rPr dirty="0" sz="600" spc="60"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9569" y="1745424"/>
            <a:ext cx="33693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41666" sz="900" spc="97">
                <a:latin typeface="Times New Roman"/>
                <a:cs typeface="Times New Roman"/>
              </a:rPr>
              <a:t>2+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5">
                <a:latin typeface="Georgia"/>
                <a:cs typeface="Georgia"/>
              </a:rPr>
              <a:t>EBT( </a:t>
            </a:r>
            <a:r>
              <a:rPr dirty="0" sz="1200" spc="-5">
                <a:latin typeface="Arial Unicode MS"/>
                <a:cs typeface="Arial Unicode MS"/>
              </a:rPr>
              <a:t>蓝 色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502">
                <a:latin typeface="宋体"/>
                <a:cs typeface="宋体"/>
              </a:rPr>
              <a:t>、</a:t>
            </a:r>
            <a:r>
              <a:rPr dirty="0" baseline="-18518" sz="675" spc="1897">
                <a:latin typeface="宋体"/>
                <a:cs typeface="宋体"/>
              </a:rPr>
              <a:t> </a:t>
            </a:r>
            <a:r>
              <a:rPr dirty="0" sz="1100" spc="-20">
                <a:latin typeface="Georgia"/>
                <a:cs typeface="Georgia"/>
              </a:rPr>
              <a:t>Mg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45">
                <a:latin typeface="Georgia"/>
                <a:cs typeface="Georgia"/>
              </a:rPr>
              <a:t>EBT( </a:t>
            </a:r>
            <a:r>
              <a:rPr dirty="0" sz="1200" spc="-5">
                <a:latin typeface="Arial Unicode MS"/>
                <a:cs typeface="Arial Unicode MS"/>
              </a:rPr>
              <a:t>酒 红 色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9221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Georgia"/>
                <a:cs typeface="Georgia"/>
              </a:rPr>
              <a:t>5.5.1</a:t>
            </a:r>
            <a:r>
              <a:rPr dirty="0" sz="1000" spc="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金</a:t>
            </a:r>
            <a:r>
              <a:rPr dirty="0" sz="1050" spc="-10">
                <a:solidFill>
                  <a:srgbClr val="FFFFFF"/>
                </a:solidFill>
              </a:rPr>
              <a:t>属</a:t>
            </a:r>
            <a:r>
              <a:rPr dirty="0" sz="1050" spc="-5">
                <a:solidFill>
                  <a:srgbClr val="FFFFFF"/>
                </a:solidFill>
              </a:rPr>
              <a:t>离子指示</a:t>
            </a:r>
            <a:r>
              <a:rPr dirty="0" sz="1050" spc="-10">
                <a:solidFill>
                  <a:srgbClr val="FFFFFF"/>
                </a:solidFill>
              </a:rPr>
              <a:t>剂</a:t>
            </a:r>
            <a:r>
              <a:rPr dirty="0" sz="1050" spc="-5">
                <a:solidFill>
                  <a:srgbClr val="FFFFFF"/>
                </a:solidFill>
              </a:rPr>
              <a:t>的作用</a:t>
            </a:r>
            <a:r>
              <a:rPr dirty="0" sz="1050" spc="-10">
                <a:solidFill>
                  <a:srgbClr val="FFFFFF"/>
                </a:solidFill>
              </a:rPr>
              <a:t>原</a:t>
            </a:r>
            <a:r>
              <a:rPr dirty="0" sz="1050" spc="-5">
                <a:solidFill>
                  <a:srgbClr val="FFFFFF"/>
                </a:solidFill>
              </a:rPr>
              <a:t>理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669950"/>
            <a:ext cx="44075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金属离子指示剂能与金属离子反应生成与指示剂本身颜色不 </a:t>
            </a:r>
            <a:r>
              <a:rPr dirty="0" sz="1200" spc="-10">
                <a:latin typeface="Arial Unicode MS"/>
                <a:cs typeface="Arial Unicode MS"/>
              </a:rPr>
              <a:t>同的配合</a:t>
            </a:r>
            <a:r>
              <a:rPr dirty="0" sz="1200" spc="-25">
                <a:latin typeface="Arial Unicode MS"/>
                <a:cs typeface="Arial Unicode MS"/>
              </a:rPr>
              <a:t>物</a:t>
            </a:r>
            <a:r>
              <a:rPr dirty="0" sz="1200" spc="-27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以铬</a:t>
            </a:r>
            <a:r>
              <a:rPr dirty="0" sz="1200" spc="175">
                <a:latin typeface="Arial Unicode MS"/>
                <a:cs typeface="Arial Unicode MS"/>
              </a:rPr>
              <a:t>黑</a:t>
            </a:r>
            <a:r>
              <a:rPr dirty="0" sz="1100" spc="-20">
                <a:latin typeface="Georgia"/>
                <a:cs typeface="Georgia"/>
              </a:rPr>
              <a:t>T</a:t>
            </a:r>
            <a:r>
              <a:rPr dirty="0" sz="1200" spc="-20">
                <a:latin typeface="Arial Unicode MS"/>
                <a:cs typeface="Arial Unicode MS"/>
              </a:rPr>
              <a:t>（</a:t>
            </a:r>
            <a:r>
              <a:rPr dirty="0" sz="1100" spc="-20">
                <a:latin typeface="Georgia"/>
                <a:cs typeface="Georgia"/>
              </a:rPr>
              <a:t>EBT</a:t>
            </a:r>
            <a:r>
              <a:rPr dirty="0" sz="1200" spc="-20">
                <a:latin typeface="Arial Unicode MS"/>
                <a:cs typeface="Arial Unicode MS"/>
              </a:rPr>
              <a:t>）</a:t>
            </a:r>
            <a:r>
              <a:rPr dirty="0" sz="1200" spc="-10">
                <a:latin typeface="Arial Unicode MS"/>
                <a:cs typeface="Arial Unicode MS"/>
              </a:rPr>
              <a:t>为</a:t>
            </a:r>
            <a:r>
              <a:rPr dirty="0" sz="1200" spc="-85">
                <a:latin typeface="Arial Unicode MS"/>
                <a:cs typeface="Arial Unicode MS"/>
              </a:rPr>
              <a:t>例</a:t>
            </a:r>
            <a:r>
              <a:rPr dirty="0" sz="1200" spc="-229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当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10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5">
                <a:latin typeface="Arial Unicode MS"/>
                <a:cs typeface="Arial Unicode MS"/>
              </a:rPr>
              <a:t>时</a:t>
            </a:r>
            <a:r>
              <a:rPr dirty="0" sz="1200" spc="-10">
                <a:latin typeface="Arial Unicode MS"/>
                <a:cs typeface="Arial Unicode MS"/>
              </a:rPr>
              <a:t>，</a:t>
            </a:r>
            <a:r>
              <a:rPr dirty="0" sz="1100" spc="-10">
                <a:latin typeface="Georgia"/>
                <a:cs typeface="Georgia"/>
              </a:rPr>
              <a:t>EBT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本身</a:t>
            </a:r>
            <a:r>
              <a:rPr dirty="0" sz="1200" spc="-5">
                <a:latin typeface="Arial Unicode MS"/>
                <a:cs typeface="Arial Unicode MS"/>
              </a:rPr>
              <a:t>为 蓝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175">
                <a:latin typeface="Arial Unicode MS"/>
                <a:cs typeface="Arial Unicode MS"/>
              </a:rPr>
              <a:t>把</a:t>
            </a:r>
            <a:r>
              <a:rPr dirty="0" sz="1100" spc="60">
                <a:latin typeface="Georgia"/>
                <a:cs typeface="Georgia"/>
              </a:rPr>
              <a:t>EBT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加入到含</a:t>
            </a:r>
            <a:r>
              <a:rPr dirty="0" sz="1200" spc="175">
                <a:latin typeface="Arial Unicode MS"/>
                <a:cs typeface="Arial Unicode MS"/>
              </a:rPr>
              <a:t>有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的溶液中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它能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 </a:t>
            </a:r>
            <a:r>
              <a:rPr dirty="0" sz="1200" spc="-5">
                <a:latin typeface="Arial Unicode MS"/>
                <a:cs typeface="Arial Unicode MS"/>
              </a:rPr>
              <a:t>生成 酒红色的配合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7925" y="1705978"/>
            <a:ext cx="4845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>
                <a:latin typeface="Times New Roman"/>
                <a:cs typeface="Times New Roman"/>
              </a:rPr>
              <a:t>pH </a:t>
            </a:r>
            <a:r>
              <a:rPr dirty="0" sz="600" spc="220">
                <a:latin typeface="Times New Roman"/>
                <a:cs typeface="Times New Roman"/>
              </a:rPr>
              <a:t>=</a:t>
            </a:r>
            <a:r>
              <a:rPr dirty="0" sz="600" spc="-45">
                <a:latin typeface="Times New Roman"/>
                <a:cs typeface="Times New Roman"/>
              </a:rPr>
              <a:t> </a:t>
            </a:r>
            <a:r>
              <a:rPr dirty="0" sz="600" spc="60">
                <a:latin typeface="Times New Roman"/>
                <a:cs typeface="Times New Roman"/>
              </a:rPr>
              <a:t>10</a:t>
            </a:r>
            <a:r>
              <a:rPr dirty="0" sz="600" spc="60" i="1">
                <a:latin typeface="Arial"/>
                <a:cs typeface="Arial"/>
              </a:rPr>
              <a:t>.</a:t>
            </a:r>
            <a:r>
              <a:rPr dirty="0" sz="600" spc="60"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6156" y="1745424"/>
            <a:ext cx="4039235" cy="1326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1310">
              <a:lnSpc>
                <a:spcPct val="100000"/>
              </a:lnSpc>
              <a:spcBef>
                <a:spcPts val="95"/>
              </a:spcBef>
            </a:pP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41666" sz="900" spc="97">
                <a:latin typeface="Times New Roman"/>
                <a:cs typeface="Times New Roman"/>
              </a:rPr>
              <a:t>2+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5">
                <a:latin typeface="Georgia"/>
                <a:cs typeface="Georgia"/>
              </a:rPr>
              <a:t>EBT( </a:t>
            </a:r>
            <a:r>
              <a:rPr dirty="0" sz="1200" spc="-5">
                <a:latin typeface="Arial Unicode MS"/>
                <a:cs typeface="Arial Unicode MS"/>
              </a:rPr>
              <a:t>蓝 色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47">
                <a:latin typeface="宋体"/>
                <a:cs typeface="宋体"/>
              </a:rPr>
              <a:t> </a:t>
            </a:r>
            <a:r>
              <a:rPr dirty="0" baseline="6172" sz="675" spc="-502">
                <a:latin typeface="宋体"/>
                <a:cs typeface="宋体"/>
              </a:rPr>
              <a:t>、</a:t>
            </a:r>
            <a:r>
              <a:rPr dirty="0" baseline="-18518" sz="675" spc="1897">
                <a:latin typeface="宋体"/>
                <a:cs typeface="宋体"/>
              </a:rPr>
              <a:t> </a:t>
            </a:r>
            <a:r>
              <a:rPr dirty="0" sz="1100" spc="-20">
                <a:latin typeface="Georgia"/>
                <a:cs typeface="Georgia"/>
              </a:rPr>
              <a:t>Mg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45">
                <a:latin typeface="Georgia"/>
                <a:cs typeface="Georgia"/>
              </a:rPr>
              <a:t>EBT( </a:t>
            </a:r>
            <a:r>
              <a:rPr dirty="0" sz="1200" spc="-5">
                <a:latin typeface="Arial Unicode MS"/>
                <a:cs typeface="Arial Unicode MS"/>
              </a:rPr>
              <a:t>酒 红 色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105410">
              <a:lnSpc>
                <a:spcPct val="100000"/>
              </a:lnSpc>
              <a:spcBef>
                <a:spcPts val="1530"/>
              </a:spcBef>
            </a:pPr>
            <a:r>
              <a:rPr dirty="0" sz="1200" spc="-5">
                <a:latin typeface="Arial Unicode MS"/>
                <a:cs typeface="Arial Unicode MS"/>
              </a:rPr>
              <a:t>当滴定进行到化学计量点附近</a:t>
            </a:r>
            <a:r>
              <a:rPr dirty="0" sz="1200" spc="-9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sz="1100" spc="-20">
                <a:latin typeface="Georgia"/>
                <a:cs typeface="Georgia"/>
              </a:rPr>
              <a:t>Mg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45">
                <a:latin typeface="Georgia"/>
                <a:cs typeface="Georgia"/>
              </a:rPr>
              <a:t>EBT(</a:t>
            </a:r>
            <a:r>
              <a:rPr dirty="0" sz="1200" spc="-5">
                <a:latin typeface="Arial Unicode MS"/>
                <a:cs typeface="Arial Unicode MS"/>
              </a:rPr>
              <a:t>酒红色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280">
                <a:latin typeface="Georgia"/>
                <a:cs typeface="Georgia"/>
              </a:rPr>
              <a:t>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195">
                <a:latin typeface="宋体"/>
                <a:cs typeface="宋体"/>
              </a:rPr>
              <a:t> </a:t>
            </a:r>
            <a:r>
              <a:rPr dirty="0" baseline="6172" sz="675" spc="-622">
                <a:latin typeface="宋体"/>
                <a:cs typeface="宋体"/>
              </a:rPr>
              <a:t>、</a:t>
            </a:r>
            <a:r>
              <a:rPr dirty="0" baseline="-18518" sz="675" spc="2010">
                <a:latin typeface="宋体"/>
                <a:cs typeface="宋体"/>
              </a:rPr>
              <a:t> </a:t>
            </a:r>
            <a:r>
              <a:rPr dirty="0" sz="1100" spc="-20">
                <a:latin typeface="Georgia"/>
                <a:cs typeface="Georgia"/>
              </a:rPr>
              <a:t>Mg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EBT(</a:t>
            </a:r>
            <a:r>
              <a:rPr dirty="0" sz="1200" spc="-5">
                <a:latin typeface="Arial Unicode MS"/>
                <a:cs typeface="Arial Unicode MS"/>
              </a:rPr>
              <a:t>蓝色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106045">
              <a:lnSpc>
                <a:spcPct val="100000"/>
              </a:lnSpc>
              <a:spcBef>
                <a:spcPts val="1540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当溶液从酒红色变为蓝色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表示已达到滴定终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酸度的影响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679119"/>
            <a:ext cx="4394835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金属离子指示剂本身是有机弱酸或弱</a:t>
            </a:r>
            <a:r>
              <a:rPr dirty="0" sz="1200" spc="-80">
                <a:latin typeface="Arial Unicode MS"/>
                <a:cs typeface="Arial Unicode MS"/>
              </a:rPr>
              <a:t>碱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溶液的酸度</a:t>
            </a:r>
            <a:r>
              <a:rPr dirty="0" sz="1200" spc="-5">
                <a:latin typeface="Arial Unicode MS"/>
                <a:cs typeface="Arial Unicode MS"/>
              </a:rPr>
              <a:t>对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于指示剂的显色会产生一定的影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仍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60">
                <a:latin typeface="Georgia"/>
                <a:cs typeface="Georgia"/>
              </a:rPr>
              <a:t>EBT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80">
                <a:latin typeface="Arial Unicode MS"/>
                <a:cs typeface="Arial Unicode MS"/>
              </a:rPr>
              <a:t>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它通常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-15">
                <a:latin typeface="Georgia"/>
                <a:cs typeface="Georgia"/>
              </a:rPr>
              <a:t>NaH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In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的方式表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在溶液中存在如下平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4677" y="164348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766" y="1560080"/>
            <a:ext cx="442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40">
                <a:latin typeface="Georgia"/>
                <a:cs typeface="Georgia"/>
              </a:rPr>
              <a:t>In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6295" y="1546796"/>
            <a:ext cx="5803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baseline="41666" sz="900" spc="142">
                <a:latin typeface="Lucida Sans Unicode"/>
                <a:cs typeface="Lucida Sans Unicode"/>
              </a:rPr>
              <a:t>−</a:t>
            </a:r>
            <a:r>
              <a:rPr dirty="0" sz="600" spc="210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红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7660" y="1503134"/>
            <a:ext cx="5568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9259" sz="900" spc="187">
                <a:latin typeface="Times New Roman"/>
                <a:cs typeface="Times New Roman"/>
              </a:rPr>
              <a:t>p</a:t>
            </a:r>
            <a:r>
              <a:rPr dirty="0" baseline="9259" sz="900" spc="187" i="1">
                <a:latin typeface="Arial"/>
                <a:cs typeface="Arial"/>
              </a:rPr>
              <a:t>K</a:t>
            </a:r>
            <a:r>
              <a:rPr dirty="0" sz="500" spc="125" i="1">
                <a:latin typeface="Arial"/>
                <a:cs typeface="Arial"/>
              </a:rPr>
              <a:t>a</a:t>
            </a:r>
            <a:r>
              <a:rPr dirty="0" baseline="-16666" sz="750" spc="187">
                <a:latin typeface="Book Antiqua"/>
                <a:cs typeface="Book Antiqua"/>
              </a:rPr>
              <a:t>2 </a:t>
            </a:r>
            <a:r>
              <a:rPr dirty="0" baseline="9259" sz="900" spc="330">
                <a:latin typeface="Times New Roman"/>
                <a:cs typeface="Times New Roman"/>
              </a:rPr>
              <a:t>=</a:t>
            </a:r>
            <a:r>
              <a:rPr dirty="0" baseline="9259" sz="900" spc="97">
                <a:latin typeface="Times New Roman"/>
                <a:cs typeface="Times New Roman"/>
              </a:rPr>
              <a:t> </a:t>
            </a:r>
            <a:r>
              <a:rPr dirty="0" baseline="9259" sz="900" spc="89">
                <a:latin typeface="Times New Roman"/>
                <a:cs typeface="Times New Roman"/>
              </a:rPr>
              <a:t>6</a:t>
            </a:r>
            <a:r>
              <a:rPr dirty="0" baseline="9259" sz="900" spc="89" i="1">
                <a:latin typeface="Arial"/>
                <a:cs typeface="Arial"/>
              </a:rPr>
              <a:t>.</a:t>
            </a:r>
            <a:r>
              <a:rPr dirty="0" baseline="9259" sz="900" spc="89">
                <a:latin typeface="Times New Roman"/>
                <a:cs typeface="Times New Roman"/>
              </a:rPr>
              <a:t>3</a:t>
            </a:r>
            <a:endParaRPr baseline="9259"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9116" y="1658163"/>
            <a:ext cx="826769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175">
                <a:latin typeface="宋体"/>
                <a:cs typeface="宋体"/>
              </a:rPr>
              <a:t>`</a:t>
            </a:r>
            <a:r>
              <a:rPr dirty="0" sz="450" spc="-140">
                <a:latin typeface="宋体"/>
                <a:cs typeface="宋体"/>
              </a:rPr>
              <a:t> </a:t>
            </a:r>
            <a:r>
              <a:rPr dirty="0" baseline="24691" sz="675" spc="-630">
                <a:latin typeface="宋体"/>
                <a:cs typeface="宋体"/>
              </a:rPr>
              <a:t>、</a:t>
            </a: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2159" y="156550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1248" y="1546796"/>
            <a:ext cx="7937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5">
                <a:latin typeface="Georgia"/>
                <a:cs typeface="Georgia"/>
              </a:rPr>
              <a:t>HIn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200" spc="-5">
                <a:latin typeface="Arial Unicode MS"/>
                <a:cs typeface="Arial Unicode MS"/>
              </a:rPr>
              <a:t>蓝色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65627" y="1503134"/>
            <a:ext cx="6032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9259" sz="900" spc="187">
                <a:latin typeface="Times New Roman"/>
                <a:cs typeface="Times New Roman"/>
              </a:rPr>
              <a:t>p</a:t>
            </a:r>
            <a:r>
              <a:rPr dirty="0" baseline="9259" sz="900" spc="187" i="1">
                <a:latin typeface="Arial"/>
                <a:cs typeface="Arial"/>
              </a:rPr>
              <a:t>K</a:t>
            </a:r>
            <a:r>
              <a:rPr dirty="0" sz="500" spc="125" i="1">
                <a:latin typeface="Arial"/>
                <a:cs typeface="Arial"/>
              </a:rPr>
              <a:t>a</a:t>
            </a:r>
            <a:r>
              <a:rPr dirty="0" baseline="-16666" sz="750" spc="187">
                <a:latin typeface="Book Antiqua"/>
                <a:cs typeface="Book Antiqua"/>
              </a:rPr>
              <a:t>3 </a:t>
            </a:r>
            <a:r>
              <a:rPr dirty="0" baseline="9259" sz="900" spc="330">
                <a:latin typeface="Times New Roman"/>
                <a:cs typeface="Times New Roman"/>
              </a:rPr>
              <a:t>=</a:t>
            </a:r>
            <a:r>
              <a:rPr dirty="0" baseline="9259" sz="900" spc="104">
                <a:latin typeface="Times New Roman"/>
                <a:cs typeface="Times New Roman"/>
              </a:rPr>
              <a:t> </a:t>
            </a:r>
            <a:r>
              <a:rPr dirty="0" baseline="9259" sz="900" spc="89">
                <a:latin typeface="Times New Roman"/>
                <a:cs typeface="Times New Roman"/>
              </a:rPr>
              <a:t>11</a:t>
            </a:r>
            <a:r>
              <a:rPr dirty="0" baseline="9259" sz="900" spc="89" i="1">
                <a:latin typeface="Arial"/>
                <a:cs typeface="Arial"/>
              </a:rPr>
              <a:t>.</a:t>
            </a:r>
            <a:r>
              <a:rPr dirty="0" baseline="9259" sz="900" spc="89">
                <a:latin typeface="Times New Roman"/>
                <a:cs typeface="Times New Roman"/>
              </a:rPr>
              <a:t>6</a:t>
            </a:r>
            <a:endParaRPr baseline="9259"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7083" y="1658163"/>
            <a:ext cx="873125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175">
                <a:latin typeface="宋体"/>
                <a:cs typeface="宋体"/>
              </a:rPr>
              <a:t>`</a:t>
            </a:r>
            <a:r>
              <a:rPr dirty="0" sz="450" spc="-130">
                <a:latin typeface="宋体"/>
                <a:cs typeface="宋体"/>
              </a:rPr>
              <a:t> </a:t>
            </a:r>
            <a:r>
              <a:rPr dirty="0" baseline="24691" sz="675" spc="-585">
                <a:latin typeface="宋体"/>
                <a:cs typeface="宋体"/>
              </a:rPr>
              <a:t>、</a:t>
            </a:r>
            <a:r>
              <a:rPr dirty="0" sz="450" spc="65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6418" y="156550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9418" y="1546796"/>
            <a:ext cx="5378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40">
                <a:latin typeface="Georgia"/>
                <a:cs typeface="Georgia"/>
              </a:rPr>
              <a:t>In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( </a:t>
            </a:r>
            <a:r>
              <a:rPr dirty="0" sz="1200" spc="-5">
                <a:latin typeface="Arial Unicode MS"/>
                <a:cs typeface="Arial Unicode MS"/>
              </a:rPr>
              <a:t>橙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513" y="2009165"/>
            <a:ext cx="1778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2320" y="2139061"/>
            <a:ext cx="440055" cy="0"/>
          </a:xfrm>
          <a:custGeom>
            <a:avLst/>
            <a:gdLst/>
            <a:ahLst/>
            <a:cxnLst/>
            <a:rect l="l" t="t" r="r" b="b"/>
            <a:pathLst>
              <a:path w="440055" h="0">
                <a:moveTo>
                  <a:pt x="0" y="0"/>
                </a:moveTo>
                <a:lnTo>
                  <a:pt x="44002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87437" y="213906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 h="0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54365" y="2139061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5" h="0">
                <a:moveTo>
                  <a:pt x="0" y="0"/>
                </a:moveTo>
                <a:lnTo>
                  <a:pt x="43370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68820" y="1928723"/>
            <a:ext cx="1911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753110" algn="l"/>
                <a:tab pos="1085215" algn="l"/>
                <a:tab pos="1734185" algn="l"/>
              </a:tabLst>
            </a:pPr>
            <a:r>
              <a:rPr dirty="0" sz="1100" spc="-20">
                <a:latin typeface="Georgia"/>
                <a:cs typeface="Georgia"/>
              </a:rPr>
              <a:t>[H</a:t>
            </a:r>
            <a:r>
              <a:rPr dirty="0" baseline="-13888" sz="900" spc="-30">
                <a:latin typeface="Times New Roman"/>
                <a:cs typeface="Times New Roman"/>
              </a:rPr>
              <a:t>2</a:t>
            </a:r>
            <a:r>
              <a:rPr dirty="0" sz="1100" spc="-20">
                <a:latin typeface="Georgia"/>
                <a:cs typeface="Georgia"/>
              </a:rPr>
              <a:t>In</a:t>
            </a:r>
            <a:r>
              <a:rPr dirty="0" baseline="37037" sz="900" spc="-3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]	</a:t>
            </a:r>
            <a:r>
              <a:rPr dirty="0" sz="1100" spc="70">
                <a:latin typeface="Georgia"/>
                <a:cs typeface="Georgia"/>
              </a:rPr>
              <a:t>1	</a:t>
            </a:r>
            <a:r>
              <a:rPr dirty="0" sz="1100" spc="-25">
                <a:latin typeface="Georgia"/>
                <a:cs typeface="Georgia"/>
              </a:rPr>
              <a:t>[HIn</a:t>
            </a:r>
            <a:r>
              <a:rPr dirty="0" baseline="37037" sz="900" spc="-37">
                <a:latin typeface="Times New Roman"/>
                <a:cs typeface="Times New Roman"/>
              </a:rPr>
              <a:t>2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sz="1100" spc="-25">
                <a:latin typeface="Georgia"/>
                <a:cs typeface="Georgia"/>
              </a:rPr>
              <a:t>]	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03157" y="213906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 h="0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7382" y="2117483"/>
            <a:ext cx="18478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89610" algn="l"/>
                <a:tab pos="1108710" algn="l"/>
                <a:tab pos="1739900" algn="l"/>
              </a:tabLst>
            </a:pPr>
            <a:r>
              <a:rPr dirty="0" sz="1100" spc="-25">
                <a:latin typeface="Georgia"/>
                <a:cs typeface="Georgia"/>
              </a:rPr>
              <a:t>[HIn</a:t>
            </a:r>
            <a:r>
              <a:rPr dirty="0" baseline="27777" sz="900" spc="-37">
                <a:latin typeface="Times New Roman"/>
                <a:cs typeface="Times New Roman"/>
              </a:rPr>
              <a:t>2</a:t>
            </a:r>
            <a:r>
              <a:rPr dirty="0" baseline="27777" sz="900" spc="-37">
                <a:latin typeface="Lucida Sans Unicode"/>
                <a:cs typeface="Lucida Sans Unicode"/>
              </a:rPr>
              <a:t>−</a:t>
            </a:r>
            <a:r>
              <a:rPr dirty="0" sz="1100" spc="-25">
                <a:latin typeface="Georgia"/>
                <a:cs typeface="Georgia"/>
              </a:rPr>
              <a:t>]	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20">
                <a:latin typeface="Georgia"/>
                <a:cs typeface="Georgia"/>
              </a:rPr>
              <a:t>[In</a:t>
            </a:r>
            <a:r>
              <a:rPr dirty="0" baseline="27777" sz="900" spc="-30">
                <a:latin typeface="Times New Roman"/>
                <a:cs typeface="Times New Roman"/>
              </a:rPr>
              <a:t>3</a:t>
            </a:r>
            <a:r>
              <a:rPr dirty="0" baseline="27777" sz="900" spc="-3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]	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7907" y="2009165"/>
            <a:ext cx="34093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75920" algn="l"/>
                <a:tab pos="1053465" algn="l"/>
                <a:tab pos="1391920" algn="l"/>
              </a:tabLst>
            </a:pP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200" spc="-5">
                <a:latin typeface="Arial Unicode MS"/>
                <a:cs typeface="Arial Unicode MS"/>
              </a:rPr>
              <a:t>和	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我们看到的</a:t>
            </a:r>
            <a:r>
              <a:rPr dirty="0" sz="1200" spc="175">
                <a:latin typeface="Arial Unicode MS"/>
                <a:cs typeface="Arial Unicode MS"/>
              </a:rPr>
              <a:t>是</a:t>
            </a:r>
            <a:r>
              <a:rPr dirty="0" sz="1100" spc="-25">
                <a:latin typeface="Georgia"/>
                <a:cs typeface="Georgia"/>
              </a:rPr>
              <a:t>[HIn</a:t>
            </a:r>
            <a:r>
              <a:rPr dirty="0" baseline="37037" sz="900" spc="-37">
                <a:latin typeface="Times New Roman"/>
                <a:cs typeface="Times New Roman"/>
              </a:rPr>
              <a:t>2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sz="1100" spc="-25">
                <a:latin typeface="Georgia"/>
                <a:cs typeface="Georgia"/>
              </a:rPr>
              <a:t>]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的蓝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844" y="2265210"/>
            <a:ext cx="4066540" cy="793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对应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值范围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35">
                <a:latin typeface="Georgia"/>
                <a:cs typeface="Georgia"/>
              </a:rPr>
              <a:t>7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3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Georgia"/>
                <a:cs typeface="Georgia"/>
              </a:rPr>
              <a:t>10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6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1410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45">
                <a:latin typeface="Arial Unicode MS"/>
                <a:cs typeface="Arial Unicode MS"/>
              </a:rPr>
              <a:t>，</a:t>
            </a:r>
            <a:r>
              <a:rPr dirty="0" sz="1100" spc="45">
                <a:latin typeface="Georgia"/>
                <a:cs typeface="Georgia"/>
              </a:rPr>
              <a:t>EBT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通常只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0">
                <a:latin typeface="Georgia"/>
                <a:cs typeface="Georgia"/>
              </a:rPr>
              <a:t>7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5">
                <a:latin typeface="Lucida Sans Unicode"/>
                <a:cs typeface="Lucida Sans Unicode"/>
              </a:rPr>
              <a:t> </a:t>
            </a:r>
            <a:r>
              <a:rPr dirty="0" sz="1100" spc="-5">
                <a:latin typeface="Georgia"/>
                <a:cs typeface="Georgia"/>
              </a:rPr>
              <a:t>11</a:t>
            </a:r>
            <a:r>
              <a:rPr dirty="0" sz="1100" spc="-5" b="0" i="1">
                <a:latin typeface="Bookman Old Style"/>
                <a:cs typeface="Bookman Old Style"/>
              </a:rPr>
              <a:t>.</a:t>
            </a:r>
            <a:r>
              <a:rPr dirty="0" sz="1100" spc="-5">
                <a:latin typeface="Georgia"/>
                <a:cs typeface="Georgia"/>
              </a:rPr>
              <a:t>0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的范围内使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Georgia"/>
                <a:cs typeface="Georgia"/>
              </a:rPr>
              <a:t>EBT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呈蓝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而</a:t>
            </a:r>
            <a:r>
              <a:rPr dirty="0" sz="1100" spc="20">
                <a:latin typeface="Georgia"/>
                <a:cs typeface="Georgia"/>
              </a:rPr>
              <a:t>M-EBT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呈红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5567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指示剂选择原则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274599" y="957275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42795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49077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764066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553" y="839548"/>
            <a:ext cx="4120515" cy="203009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50" spc="-10">
                <a:latin typeface="Arial Unicode MS"/>
                <a:cs typeface="Arial Unicode MS"/>
              </a:rPr>
              <a:t>金</a:t>
            </a:r>
            <a:r>
              <a:rPr dirty="0" sz="1050" spc="-5">
                <a:latin typeface="Arial Unicode MS"/>
                <a:cs typeface="Arial Unicode MS"/>
              </a:rPr>
              <a:t>属离子指</a:t>
            </a:r>
            <a:r>
              <a:rPr dirty="0" sz="1050" spc="-10">
                <a:latin typeface="Arial Unicode MS"/>
                <a:cs typeface="Arial Unicode MS"/>
              </a:rPr>
              <a:t>示</a:t>
            </a:r>
            <a:r>
              <a:rPr dirty="0" sz="1050" spc="-5">
                <a:latin typeface="Arial Unicode MS"/>
                <a:cs typeface="Arial Unicode MS"/>
              </a:rPr>
              <a:t>剂配合</a:t>
            </a:r>
            <a:r>
              <a:rPr dirty="0" sz="1050" spc="160">
                <a:latin typeface="Arial Unicode MS"/>
                <a:cs typeface="Arial Unicode MS"/>
              </a:rPr>
              <a:t>物</a:t>
            </a:r>
            <a:r>
              <a:rPr dirty="0" sz="1000" spc="-30">
                <a:latin typeface="Georgia"/>
                <a:cs typeface="Georgia"/>
              </a:rPr>
              <a:t>MIn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</a:t>
            </a:r>
            <a:r>
              <a:rPr dirty="0" sz="1050" spc="-10">
                <a:latin typeface="Arial Unicode MS"/>
                <a:cs typeface="Arial Unicode MS"/>
              </a:rPr>
              <a:t>颜</a:t>
            </a:r>
            <a:r>
              <a:rPr dirty="0" sz="1050" spc="-5">
                <a:latin typeface="Arial Unicode MS"/>
                <a:cs typeface="Arial Unicode MS"/>
              </a:rPr>
              <a:t>色应与该</a:t>
            </a:r>
            <a:r>
              <a:rPr dirty="0" sz="1050" spc="-10">
                <a:latin typeface="Arial Unicode MS"/>
                <a:cs typeface="Arial Unicode MS"/>
              </a:rPr>
              <a:t>指</a:t>
            </a:r>
            <a:r>
              <a:rPr dirty="0" sz="1050" spc="-5">
                <a:latin typeface="Arial Unicode MS"/>
                <a:cs typeface="Arial Unicode MS"/>
              </a:rPr>
              <a:t>示</a:t>
            </a:r>
            <a:r>
              <a:rPr dirty="0" sz="1050" spc="160">
                <a:latin typeface="Arial Unicode MS"/>
                <a:cs typeface="Arial Unicode MS"/>
              </a:rPr>
              <a:t>剂</a:t>
            </a:r>
            <a:r>
              <a:rPr dirty="0" sz="1000" spc="-35">
                <a:latin typeface="Georgia"/>
                <a:cs typeface="Georgia"/>
              </a:rPr>
              <a:t>In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</a:t>
            </a:r>
            <a:r>
              <a:rPr dirty="0" sz="1050" spc="-10">
                <a:latin typeface="Arial Unicode MS"/>
                <a:cs typeface="Arial Unicode MS"/>
              </a:rPr>
              <a:t>颜</a:t>
            </a:r>
            <a:r>
              <a:rPr dirty="0" sz="1050" spc="-5">
                <a:latin typeface="Arial Unicode MS"/>
                <a:cs typeface="Arial Unicode MS"/>
              </a:rPr>
              <a:t>色有显著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区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050" spc="-60">
                <a:latin typeface="Arial Unicode MS"/>
                <a:cs typeface="Arial Unicode MS"/>
              </a:rPr>
              <a:t>别</a:t>
            </a:r>
            <a:r>
              <a:rPr dirty="0" sz="1050" spc="-5">
                <a:latin typeface="Arial Unicode MS"/>
                <a:cs typeface="Arial Unicode MS"/>
              </a:rPr>
              <a:t>；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1000" spc="-30">
                <a:latin typeface="Georgia"/>
                <a:cs typeface="Georgia"/>
              </a:rPr>
              <a:t>MIn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的稳定</a:t>
            </a:r>
            <a:r>
              <a:rPr dirty="0" sz="1050" spc="-10">
                <a:latin typeface="Arial Unicode MS"/>
                <a:cs typeface="Arial Unicode MS"/>
              </a:rPr>
              <a:t>性</a:t>
            </a:r>
            <a:r>
              <a:rPr dirty="0" sz="1050" spc="-5">
                <a:latin typeface="Arial Unicode MS"/>
                <a:cs typeface="Arial Unicode MS"/>
              </a:rPr>
              <a:t>应该适</a:t>
            </a:r>
            <a:r>
              <a:rPr dirty="0" sz="1050" spc="-20">
                <a:latin typeface="Arial Unicode MS"/>
                <a:cs typeface="Arial Unicode MS"/>
              </a:rPr>
              <a:t>中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它既要</a:t>
            </a:r>
            <a:r>
              <a:rPr dirty="0" sz="1050" spc="-10">
                <a:latin typeface="Arial Unicode MS"/>
                <a:cs typeface="Arial Unicode MS"/>
              </a:rPr>
              <a:t>有</a:t>
            </a:r>
            <a:r>
              <a:rPr dirty="0" sz="1050" spc="-5">
                <a:latin typeface="Arial Unicode MS"/>
                <a:cs typeface="Arial Unicode MS"/>
              </a:rPr>
              <a:t>足够的稳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70">
                <a:latin typeface="Arial Unicode MS"/>
                <a:cs typeface="Arial Unicode MS"/>
              </a:rPr>
              <a:t>性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又必</a:t>
            </a:r>
            <a:r>
              <a:rPr dirty="0" sz="1050" spc="-10">
                <a:latin typeface="Arial Unicode MS"/>
                <a:cs typeface="Arial Unicode MS"/>
              </a:rPr>
              <a:t>须</a:t>
            </a:r>
            <a:r>
              <a:rPr dirty="0" sz="1050" spc="1895">
                <a:latin typeface="Arial Unicode MS"/>
                <a:cs typeface="Arial Unicode MS"/>
              </a:rPr>
              <a:t>比</a:t>
            </a:r>
            <a:r>
              <a:rPr dirty="0" sz="1050" spc="-5">
                <a:latin typeface="Arial Unicode MS"/>
                <a:cs typeface="Arial Unicode MS"/>
              </a:rPr>
              <a:t>相应</a:t>
            </a:r>
            <a:endParaRPr sz="1050">
              <a:latin typeface="Arial Unicode MS"/>
              <a:cs typeface="Arial Unicode MS"/>
            </a:endParaRPr>
          </a:p>
          <a:p>
            <a:pPr marL="12700" marR="5080">
              <a:lnSpc>
                <a:spcPct val="123300"/>
              </a:lnSpc>
            </a:pPr>
            <a:r>
              <a:rPr dirty="0" sz="1050" spc="160">
                <a:latin typeface="Arial Unicode MS"/>
                <a:cs typeface="Arial Unicode MS"/>
              </a:rPr>
              <a:t>的</a:t>
            </a:r>
            <a:r>
              <a:rPr dirty="0" sz="1000" spc="10">
                <a:latin typeface="Georgia"/>
                <a:cs typeface="Georgia"/>
              </a:rPr>
              <a:t>M-EDTA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配合</a:t>
            </a:r>
            <a:r>
              <a:rPr dirty="0" sz="1050" spc="-10">
                <a:latin typeface="Arial Unicode MS"/>
                <a:cs typeface="Arial Unicode MS"/>
              </a:rPr>
              <a:t>物</a:t>
            </a:r>
            <a:r>
              <a:rPr dirty="0" sz="1050" spc="-5">
                <a:latin typeface="Arial Unicode MS"/>
                <a:cs typeface="Arial Unicode MS"/>
              </a:rPr>
              <a:t>的稳定性</a:t>
            </a:r>
            <a:r>
              <a:rPr dirty="0" sz="1050" spc="-20">
                <a:latin typeface="Arial Unicode MS"/>
                <a:cs typeface="Arial Unicode MS"/>
              </a:rPr>
              <a:t>小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如</a:t>
            </a:r>
            <a:r>
              <a:rPr dirty="0" sz="1050" spc="160">
                <a:latin typeface="Arial Unicode MS"/>
                <a:cs typeface="Arial Unicode MS"/>
              </a:rPr>
              <a:t>果</a:t>
            </a:r>
            <a:r>
              <a:rPr dirty="0" sz="1000" spc="-30">
                <a:latin typeface="Georgia"/>
                <a:cs typeface="Georgia"/>
              </a:rPr>
              <a:t>MIn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的稳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性太</a:t>
            </a:r>
            <a:r>
              <a:rPr dirty="0" sz="1050" spc="-70">
                <a:latin typeface="Arial Unicode MS"/>
                <a:cs typeface="Arial Unicode MS"/>
              </a:rPr>
              <a:t>低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则</a:t>
            </a:r>
            <a:r>
              <a:rPr dirty="0" sz="1050" spc="-5">
                <a:latin typeface="Arial Unicode MS"/>
                <a:cs typeface="Arial Unicode MS"/>
              </a:rPr>
              <a:t>变色不敏 </a:t>
            </a:r>
            <a:r>
              <a:rPr dirty="0" sz="1050" spc="-70">
                <a:latin typeface="Arial Unicode MS"/>
                <a:cs typeface="Arial Unicode MS"/>
              </a:rPr>
              <a:t>锐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并</a:t>
            </a:r>
            <a:r>
              <a:rPr dirty="0" sz="1050" spc="-5">
                <a:latin typeface="Arial Unicode MS"/>
                <a:cs typeface="Arial Unicode MS"/>
              </a:rPr>
              <a:t>使滴定</a:t>
            </a:r>
            <a:r>
              <a:rPr dirty="0" sz="1050" spc="-10">
                <a:latin typeface="Arial Unicode MS"/>
                <a:cs typeface="Arial Unicode MS"/>
              </a:rPr>
              <a:t>终</a:t>
            </a:r>
            <a:r>
              <a:rPr dirty="0" sz="1050" spc="-5">
                <a:latin typeface="Arial Unicode MS"/>
                <a:cs typeface="Arial Unicode MS"/>
              </a:rPr>
              <a:t>点过早出</a:t>
            </a:r>
            <a:r>
              <a:rPr dirty="0" sz="1050" spc="-60">
                <a:latin typeface="Arial Unicode MS"/>
                <a:cs typeface="Arial Unicode MS"/>
              </a:rPr>
              <a:t>现</a:t>
            </a:r>
            <a:r>
              <a:rPr dirty="0" sz="1050" spc="-175">
                <a:latin typeface="Arial Unicode MS"/>
                <a:cs typeface="Arial Unicode MS"/>
              </a:rPr>
              <a:t>；</a:t>
            </a:r>
            <a:r>
              <a:rPr dirty="0" sz="1050" spc="-5">
                <a:latin typeface="Arial Unicode MS"/>
                <a:cs typeface="Arial Unicode MS"/>
              </a:rPr>
              <a:t>而如</a:t>
            </a:r>
            <a:r>
              <a:rPr dirty="0" sz="1050" spc="160">
                <a:latin typeface="Arial Unicode MS"/>
                <a:cs typeface="Arial Unicode MS"/>
              </a:rPr>
              <a:t>果</a:t>
            </a:r>
            <a:r>
              <a:rPr dirty="0" sz="1000" spc="-30">
                <a:latin typeface="Georgia"/>
                <a:cs typeface="Georgia"/>
              </a:rPr>
              <a:t>MIn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的稳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性大</a:t>
            </a:r>
            <a:r>
              <a:rPr dirty="0" sz="1050" spc="160">
                <a:latin typeface="Arial Unicode MS"/>
                <a:cs typeface="Arial Unicode MS"/>
              </a:rPr>
              <a:t>于</a:t>
            </a:r>
            <a:r>
              <a:rPr dirty="0" sz="1000" spc="10">
                <a:latin typeface="Georgia"/>
                <a:cs typeface="Georgia"/>
              </a:rPr>
              <a:t>M-EDTA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配合 物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稳定</a:t>
            </a:r>
            <a:r>
              <a:rPr dirty="0" sz="1050" spc="-70">
                <a:latin typeface="Arial Unicode MS"/>
                <a:cs typeface="Arial Unicode MS"/>
              </a:rPr>
              <a:t>性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则</a:t>
            </a:r>
            <a:r>
              <a:rPr dirty="0" sz="1050" spc="-10">
                <a:latin typeface="Arial Unicode MS"/>
                <a:cs typeface="Arial Unicode MS"/>
              </a:rPr>
              <a:t>终</a:t>
            </a:r>
            <a:r>
              <a:rPr dirty="0" sz="1050" spc="-5">
                <a:latin typeface="Arial Unicode MS"/>
                <a:cs typeface="Arial Unicode MS"/>
              </a:rPr>
              <a:t>点</a:t>
            </a:r>
            <a:r>
              <a:rPr dirty="0" sz="1050" spc="160">
                <a:latin typeface="Arial Unicode MS"/>
                <a:cs typeface="Arial Unicode MS"/>
              </a:rPr>
              <a:t>时</a:t>
            </a:r>
            <a:r>
              <a:rPr dirty="0" sz="1000" spc="-30">
                <a:latin typeface="Georgia"/>
                <a:cs typeface="Georgia"/>
              </a:rPr>
              <a:t>MIn</a:t>
            </a:r>
            <a:r>
              <a:rPr dirty="0" sz="1000" spc="-105">
                <a:latin typeface="Georgia"/>
                <a:cs typeface="Georgia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的</a:t>
            </a:r>
            <a:r>
              <a:rPr dirty="0" sz="1000" spc="-35">
                <a:latin typeface="Georgia"/>
                <a:cs typeface="Georgia"/>
              </a:rPr>
              <a:t>In</a:t>
            </a:r>
            <a:r>
              <a:rPr dirty="0" sz="1000" spc="-10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不能</a:t>
            </a:r>
            <a:r>
              <a:rPr dirty="0" sz="1050" spc="-10">
                <a:latin typeface="Arial Unicode MS"/>
                <a:cs typeface="Arial Unicode MS"/>
              </a:rPr>
              <a:t>被</a:t>
            </a:r>
            <a:r>
              <a:rPr dirty="0" sz="1050" spc="-5">
                <a:latin typeface="Arial Unicode MS"/>
                <a:cs typeface="Arial Unicode MS"/>
              </a:rPr>
              <a:t>置换出</a:t>
            </a:r>
            <a:r>
              <a:rPr dirty="0" sz="1050" spc="-70">
                <a:latin typeface="Arial Unicode MS"/>
                <a:cs typeface="Arial Unicode MS"/>
              </a:rPr>
              <a:t>来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导</a:t>
            </a:r>
            <a:r>
              <a:rPr dirty="0" sz="1050" spc="-5">
                <a:latin typeface="Arial Unicode MS"/>
                <a:cs typeface="Arial Unicode MS"/>
              </a:rPr>
              <a:t>致终点</a:t>
            </a:r>
            <a:r>
              <a:rPr dirty="0" sz="1050" spc="-10">
                <a:latin typeface="Arial Unicode MS"/>
                <a:cs typeface="Arial Unicode MS"/>
              </a:rPr>
              <a:t>推</a:t>
            </a:r>
            <a:r>
              <a:rPr dirty="0" sz="1050" spc="-5">
                <a:latin typeface="Arial Unicode MS"/>
                <a:cs typeface="Arial Unicode MS"/>
              </a:rPr>
              <a:t>迟出</a:t>
            </a:r>
            <a:r>
              <a:rPr dirty="0" sz="1050" spc="-20">
                <a:latin typeface="Arial Unicode MS"/>
                <a:cs typeface="Arial Unicode MS"/>
              </a:rPr>
              <a:t>现</a:t>
            </a:r>
            <a:r>
              <a:rPr dirty="0" sz="1050" spc="-5">
                <a:latin typeface="Arial Unicode MS"/>
                <a:cs typeface="Arial Unicode MS"/>
              </a:rPr>
              <a:t>。 这种现</a:t>
            </a:r>
            <a:r>
              <a:rPr dirty="0" sz="1050" spc="-10">
                <a:latin typeface="Arial Unicode MS"/>
                <a:cs typeface="Arial Unicode MS"/>
              </a:rPr>
              <a:t>象</a:t>
            </a:r>
            <a:r>
              <a:rPr dirty="0" sz="1050" spc="-5">
                <a:latin typeface="Arial Unicode MS"/>
                <a:cs typeface="Arial Unicode MS"/>
              </a:rPr>
              <a:t>亦称</a:t>
            </a:r>
            <a:r>
              <a:rPr dirty="0" sz="1050" spc="-10">
                <a:latin typeface="Arial Unicode MS"/>
                <a:cs typeface="Arial Unicode MS"/>
              </a:rPr>
              <a:t>为</a:t>
            </a:r>
            <a:r>
              <a:rPr dirty="0" sz="1050" spc="-5">
                <a:latin typeface="Arial Unicode MS"/>
                <a:cs typeface="Arial Unicode MS"/>
              </a:rPr>
              <a:t>指示剂的</a:t>
            </a:r>
            <a:r>
              <a:rPr dirty="0" sz="1050" spc="-10">
                <a:latin typeface="Arial Unicode MS"/>
                <a:cs typeface="Arial Unicode MS"/>
              </a:rPr>
              <a:t>封</a:t>
            </a:r>
            <a:r>
              <a:rPr dirty="0" sz="1050" spc="-5">
                <a:latin typeface="Arial Unicode MS"/>
                <a:cs typeface="Arial Unicode MS"/>
              </a:rPr>
              <a:t>闭现</a:t>
            </a:r>
            <a:r>
              <a:rPr dirty="0" sz="1050" spc="-60">
                <a:latin typeface="Arial Unicode MS"/>
                <a:cs typeface="Arial Unicode MS"/>
              </a:rPr>
              <a:t>象</a:t>
            </a:r>
            <a:r>
              <a:rPr dirty="0" sz="1050" spc="-5">
                <a:latin typeface="Arial Unicode MS"/>
                <a:cs typeface="Arial Unicode MS"/>
              </a:rPr>
              <a:t>；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050" spc="-10">
                <a:latin typeface="Arial Unicode MS"/>
                <a:cs typeface="Arial Unicode MS"/>
              </a:rPr>
              <a:t>指</a:t>
            </a:r>
            <a:r>
              <a:rPr dirty="0" sz="1050" spc="-5">
                <a:latin typeface="Arial Unicode MS"/>
                <a:cs typeface="Arial Unicode MS"/>
              </a:rPr>
              <a:t>示剂与金</a:t>
            </a:r>
            <a:r>
              <a:rPr dirty="0" sz="1050" spc="-10">
                <a:latin typeface="Arial Unicode MS"/>
                <a:cs typeface="Arial Unicode MS"/>
              </a:rPr>
              <a:t>属</a:t>
            </a:r>
            <a:r>
              <a:rPr dirty="0" sz="1050" spc="-5">
                <a:latin typeface="Arial Unicode MS"/>
                <a:cs typeface="Arial Unicode MS"/>
              </a:rPr>
              <a:t>离子的</a:t>
            </a:r>
            <a:r>
              <a:rPr dirty="0" sz="1050" spc="-10">
                <a:latin typeface="Arial Unicode MS"/>
                <a:cs typeface="Arial Unicode MS"/>
              </a:rPr>
              <a:t>反</a:t>
            </a:r>
            <a:r>
              <a:rPr dirty="0" sz="1050" spc="-5">
                <a:latin typeface="Arial Unicode MS"/>
                <a:cs typeface="Arial Unicode MS"/>
              </a:rPr>
              <a:t>应必须迅</a:t>
            </a:r>
            <a:r>
              <a:rPr dirty="0" sz="1050" spc="-70">
                <a:latin typeface="Arial Unicode MS"/>
                <a:cs typeface="Arial Unicode MS"/>
              </a:rPr>
              <a:t>速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并有良</a:t>
            </a:r>
            <a:r>
              <a:rPr dirty="0" sz="1050" spc="-10">
                <a:latin typeface="Arial Unicode MS"/>
                <a:cs typeface="Arial Unicode MS"/>
              </a:rPr>
              <a:t>好</a:t>
            </a:r>
            <a:r>
              <a:rPr dirty="0" sz="1050" spc="-5">
                <a:latin typeface="Arial Unicode MS"/>
                <a:cs typeface="Arial Unicode MS"/>
              </a:rPr>
              <a:t>的变色</a:t>
            </a:r>
            <a:r>
              <a:rPr dirty="0" sz="1050" spc="-10">
                <a:latin typeface="Arial Unicode MS"/>
                <a:cs typeface="Arial Unicode MS"/>
              </a:rPr>
              <a:t>可</a:t>
            </a:r>
            <a:r>
              <a:rPr dirty="0" sz="1050" spc="-5">
                <a:latin typeface="Arial Unicode MS"/>
                <a:cs typeface="Arial Unicode MS"/>
              </a:rPr>
              <a:t>逆</a:t>
            </a:r>
            <a:r>
              <a:rPr dirty="0" sz="1050" spc="-20">
                <a:latin typeface="Arial Unicode MS"/>
                <a:cs typeface="Arial Unicode MS"/>
              </a:rPr>
              <a:t>性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1050" spc="-10">
                <a:latin typeface="Arial Unicode MS"/>
                <a:cs typeface="Arial Unicode MS"/>
              </a:rPr>
              <a:t>金</a:t>
            </a:r>
            <a:r>
              <a:rPr dirty="0" sz="1050" spc="-5">
                <a:latin typeface="Arial Unicode MS"/>
                <a:cs typeface="Arial Unicode MS"/>
              </a:rPr>
              <a:t>属离子指</a:t>
            </a:r>
            <a:r>
              <a:rPr dirty="0" sz="1050" spc="-10">
                <a:latin typeface="Arial Unicode MS"/>
                <a:cs typeface="Arial Unicode MS"/>
              </a:rPr>
              <a:t>示</a:t>
            </a:r>
            <a:r>
              <a:rPr dirty="0" sz="1050" spc="-5">
                <a:latin typeface="Arial Unicode MS"/>
                <a:cs typeface="Arial Unicode MS"/>
              </a:rPr>
              <a:t>剂应较</a:t>
            </a:r>
            <a:r>
              <a:rPr dirty="0" sz="1050" spc="-10">
                <a:latin typeface="Arial Unicode MS"/>
                <a:cs typeface="Arial Unicode MS"/>
              </a:rPr>
              <a:t>稳</a:t>
            </a:r>
            <a:r>
              <a:rPr dirty="0" sz="1050" spc="-70">
                <a:latin typeface="Arial Unicode MS"/>
                <a:cs typeface="Arial Unicode MS"/>
              </a:rPr>
              <a:t>定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便于贮</a:t>
            </a:r>
            <a:r>
              <a:rPr dirty="0" sz="1050" spc="-10">
                <a:latin typeface="Arial Unicode MS"/>
                <a:cs typeface="Arial Unicode MS"/>
              </a:rPr>
              <a:t>存</a:t>
            </a:r>
            <a:r>
              <a:rPr dirty="0" sz="1050" spc="-5">
                <a:latin typeface="Arial Unicode MS"/>
                <a:cs typeface="Arial Unicode MS"/>
              </a:rPr>
              <a:t>和使</a:t>
            </a:r>
            <a:r>
              <a:rPr dirty="0" sz="1050" spc="-20">
                <a:latin typeface="Arial Unicode MS"/>
                <a:cs typeface="Arial Unicode MS"/>
              </a:rPr>
              <a:t>用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使用技巧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00444" y="910729"/>
            <a:ext cx="436562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175">
                <a:latin typeface="Arial Unicode MS"/>
                <a:cs typeface="Arial Unicode MS"/>
              </a:rPr>
              <a:t>当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时单独滴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25">
                <a:latin typeface="Georgia"/>
                <a:cs typeface="Georgia"/>
              </a:rPr>
              <a:t>Ca</a:t>
            </a:r>
            <a:r>
              <a:rPr dirty="0" baseline="37037" sz="900" spc="37">
                <a:latin typeface="Times New Roman"/>
                <a:cs typeface="Times New Roman"/>
              </a:rPr>
              <a:t>2+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如果采用铬</a:t>
            </a:r>
            <a:r>
              <a:rPr dirty="0" sz="1200" spc="175">
                <a:latin typeface="Arial Unicode MS"/>
                <a:cs typeface="Arial Unicode MS"/>
              </a:rPr>
              <a:t>黑</a:t>
            </a:r>
            <a:r>
              <a:rPr dirty="0" sz="1100" spc="105">
                <a:latin typeface="Georgia"/>
                <a:cs typeface="Georgia"/>
              </a:rPr>
              <a:t>T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做指示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则变 色不敏</a:t>
            </a:r>
            <a:r>
              <a:rPr dirty="0" sz="1200" spc="-20">
                <a:latin typeface="Arial Unicode MS"/>
                <a:cs typeface="Arial Unicode MS"/>
              </a:rPr>
              <a:t>锐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原因在</a:t>
            </a:r>
            <a:r>
              <a:rPr dirty="0" sz="1200" spc="-80">
                <a:latin typeface="Arial Unicode MS"/>
                <a:cs typeface="Arial Unicode MS"/>
              </a:rPr>
              <a:t>于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Georgia"/>
                <a:cs typeface="Georgia"/>
              </a:rPr>
              <a:t>Ca-EBT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的稳定性较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20">
                <a:latin typeface="Georgia"/>
                <a:cs typeface="Georgia"/>
              </a:rPr>
              <a:t>Ca-EDTA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的稳 定性相差太大</a:t>
            </a:r>
            <a:r>
              <a:rPr dirty="0" baseline="37037" sz="900" spc="-112">
                <a:latin typeface="Times New Roman"/>
                <a:cs typeface="Times New Roman"/>
              </a:rPr>
              <a:t>2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这就导致滴定过程中出现颜色的渐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不利于终 点的判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3794" y="3181153"/>
            <a:ext cx="2722245" cy="24002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37037" sz="900" spc="104">
                <a:latin typeface="Times New Roman"/>
                <a:cs typeface="Times New Roman"/>
              </a:rPr>
              <a:t>2</a:t>
            </a:r>
            <a:r>
              <a:rPr dirty="0" sz="900" spc="70">
                <a:latin typeface="Garamond"/>
                <a:cs typeface="Garamond"/>
              </a:rPr>
              <a:t>lg</a:t>
            </a:r>
            <a:r>
              <a:rPr dirty="0" sz="900" spc="-65">
                <a:latin typeface="Garamond"/>
                <a:cs typeface="Garamond"/>
              </a:rPr>
              <a:t> </a:t>
            </a:r>
            <a:r>
              <a:rPr dirty="0" sz="900" spc="114" b="0" i="1">
                <a:latin typeface="Bookman Old Style"/>
                <a:cs typeface="Bookman Old Style"/>
              </a:rPr>
              <a:t>K</a:t>
            </a:r>
            <a:r>
              <a:rPr dirty="0" sz="900" spc="114">
                <a:latin typeface="Garamond"/>
                <a:cs typeface="Garamond"/>
              </a:rPr>
              <a:t>(Ca</a:t>
            </a:r>
            <a:r>
              <a:rPr dirty="0" sz="900" spc="-30">
                <a:latin typeface="Garamond"/>
                <a:cs typeface="Garamond"/>
              </a:rPr>
              <a:t> </a:t>
            </a:r>
            <a:r>
              <a:rPr dirty="0" sz="900" spc="190" i="1">
                <a:latin typeface="Arial"/>
                <a:cs typeface="Arial"/>
              </a:rPr>
              <a:t>−</a:t>
            </a:r>
            <a:r>
              <a:rPr dirty="0" sz="900" spc="-45" i="1">
                <a:latin typeface="Arial"/>
                <a:cs typeface="Arial"/>
              </a:rPr>
              <a:t> </a:t>
            </a:r>
            <a:r>
              <a:rPr dirty="0" sz="900" spc="85">
                <a:latin typeface="Garamond"/>
                <a:cs typeface="Garamond"/>
              </a:rPr>
              <a:t>EBT)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114">
                <a:latin typeface="Garamond"/>
                <a:cs typeface="Garamond"/>
              </a:rPr>
              <a:t>=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-5">
                <a:latin typeface="Garamond"/>
                <a:cs typeface="Garamond"/>
              </a:rPr>
              <a:t>3</a:t>
            </a:r>
            <a:r>
              <a:rPr dirty="0" sz="900" spc="-5" b="0" i="1">
                <a:latin typeface="Bookman Old Style"/>
                <a:cs typeface="Bookman Old Style"/>
              </a:rPr>
              <a:t>.</a:t>
            </a:r>
            <a:r>
              <a:rPr dirty="0" sz="900" spc="-5">
                <a:latin typeface="Garamond"/>
                <a:cs typeface="Garamond"/>
              </a:rPr>
              <a:t>8</a:t>
            </a:r>
            <a:r>
              <a:rPr dirty="0" sz="900" spc="-5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Garamond"/>
                <a:cs typeface="Garamond"/>
              </a:rPr>
              <a:t>lg</a:t>
            </a:r>
            <a:r>
              <a:rPr dirty="0" sz="900" spc="-60">
                <a:latin typeface="Garamond"/>
                <a:cs typeface="Garamond"/>
              </a:rPr>
              <a:t> </a:t>
            </a:r>
            <a:r>
              <a:rPr dirty="0" sz="900" spc="114" b="0" i="1">
                <a:latin typeface="Bookman Old Style"/>
                <a:cs typeface="Bookman Old Style"/>
              </a:rPr>
              <a:t>K</a:t>
            </a:r>
            <a:r>
              <a:rPr dirty="0" sz="900" spc="114">
                <a:latin typeface="Garamond"/>
                <a:cs typeface="Garamond"/>
              </a:rPr>
              <a:t>(Ca</a:t>
            </a:r>
            <a:r>
              <a:rPr dirty="0" sz="900" spc="-30">
                <a:latin typeface="Garamond"/>
                <a:cs typeface="Garamond"/>
              </a:rPr>
              <a:t> </a:t>
            </a:r>
            <a:r>
              <a:rPr dirty="0" sz="900" spc="190" i="1">
                <a:latin typeface="Arial"/>
                <a:cs typeface="Arial"/>
              </a:rPr>
              <a:t>−</a:t>
            </a:r>
            <a:r>
              <a:rPr dirty="0" sz="900" spc="-45" i="1">
                <a:latin typeface="Arial"/>
                <a:cs typeface="Arial"/>
              </a:rPr>
              <a:t> </a:t>
            </a:r>
            <a:r>
              <a:rPr dirty="0" sz="900" spc="50">
                <a:latin typeface="Garamond"/>
                <a:cs typeface="Garamond"/>
              </a:rPr>
              <a:t>EDTA)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114">
                <a:latin typeface="Garamond"/>
                <a:cs typeface="Garamond"/>
              </a:rPr>
              <a:t>=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20">
                <a:latin typeface="Garamond"/>
                <a:cs typeface="Garamond"/>
              </a:rPr>
              <a:t>10</a:t>
            </a:r>
            <a:r>
              <a:rPr dirty="0" sz="900" spc="20" b="0" i="1">
                <a:latin typeface="Bookman Old Style"/>
                <a:cs typeface="Bookman Old Style"/>
              </a:rPr>
              <a:t>.</a:t>
            </a:r>
            <a:r>
              <a:rPr dirty="0" sz="900" spc="20">
                <a:latin typeface="Garamond"/>
                <a:cs typeface="Garamond"/>
              </a:rPr>
              <a:t>7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使用技巧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910729"/>
            <a:ext cx="436562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175">
                <a:latin typeface="Arial Unicode MS"/>
                <a:cs typeface="Arial Unicode MS"/>
              </a:rPr>
              <a:t>当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时单独滴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25">
                <a:latin typeface="Georgia"/>
                <a:cs typeface="Georgia"/>
              </a:rPr>
              <a:t>Ca</a:t>
            </a:r>
            <a:r>
              <a:rPr dirty="0" baseline="37037" sz="900" spc="37">
                <a:latin typeface="Times New Roman"/>
                <a:cs typeface="Times New Roman"/>
              </a:rPr>
              <a:t>2+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如果采用铬</a:t>
            </a:r>
            <a:r>
              <a:rPr dirty="0" sz="1200" spc="175">
                <a:latin typeface="Arial Unicode MS"/>
                <a:cs typeface="Arial Unicode MS"/>
              </a:rPr>
              <a:t>黑</a:t>
            </a:r>
            <a:r>
              <a:rPr dirty="0" sz="1100" spc="105">
                <a:latin typeface="Georgia"/>
                <a:cs typeface="Georgia"/>
              </a:rPr>
              <a:t>T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做指示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则变 色不敏</a:t>
            </a:r>
            <a:r>
              <a:rPr dirty="0" sz="1200" spc="-20">
                <a:latin typeface="Arial Unicode MS"/>
                <a:cs typeface="Arial Unicode MS"/>
              </a:rPr>
              <a:t>锐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原因在</a:t>
            </a:r>
            <a:r>
              <a:rPr dirty="0" sz="1200" spc="-80">
                <a:latin typeface="Arial Unicode MS"/>
                <a:cs typeface="Arial Unicode MS"/>
              </a:rPr>
              <a:t>于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Georgia"/>
                <a:cs typeface="Georgia"/>
              </a:rPr>
              <a:t>Ca-EBT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的稳定性较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20">
                <a:latin typeface="Georgia"/>
                <a:cs typeface="Georgia"/>
              </a:rPr>
              <a:t>Ca-EDTA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的稳 定性相差太大</a:t>
            </a:r>
            <a:r>
              <a:rPr dirty="0" baseline="37037" sz="900" spc="-112">
                <a:latin typeface="Times New Roman"/>
                <a:cs typeface="Times New Roman"/>
              </a:rPr>
              <a:t>2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这就导致滴定过程中出现颜色的渐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不利于终 点的判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6663" y="2211666"/>
            <a:ext cx="84772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怎么</a:t>
            </a:r>
            <a:r>
              <a:rPr dirty="0" sz="1600" spc="85">
                <a:latin typeface="Arial Unicode MS"/>
                <a:cs typeface="Arial Unicode MS"/>
              </a:rPr>
              <a:t>办</a:t>
            </a:r>
            <a:r>
              <a:rPr dirty="0" sz="1600" spc="-10">
                <a:latin typeface="Arial Unicode MS"/>
                <a:cs typeface="Arial Unicode MS"/>
              </a:rPr>
              <a:t>？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3794" y="3181153"/>
            <a:ext cx="2722245" cy="24002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37037" sz="900" spc="104">
                <a:latin typeface="Times New Roman"/>
                <a:cs typeface="Times New Roman"/>
              </a:rPr>
              <a:t>2</a:t>
            </a:r>
            <a:r>
              <a:rPr dirty="0" sz="900" spc="70">
                <a:latin typeface="Garamond"/>
                <a:cs typeface="Garamond"/>
              </a:rPr>
              <a:t>lg</a:t>
            </a:r>
            <a:r>
              <a:rPr dirty="0" sz="900" spc="-65">
                <a:latin typeface="Garamond"/>
                <a:cs typeface="Garamond"/>
              </a:rPr>
              <a:t> </a:t>
            </a:r>
            <a:r>
              <a:rPr dirty="0" sz="900" spc="114" b="0" i="1">
                <a:latin typeface="Bookman Old Style"/>
                <a:cs typeface="Bookman Old Style"/>
              </a:rPr>
              <a:t>K</a:t>
            </a:r>
            <a:r>
              <a:rPr dirty="0" sz="900" spc="114">
                <a:latin typeface="Garamond"/>
                <a:cs typeface="Garamond"/>
              </a:rPr>
              <a:t>(Ca</a:t>
            </a:r>
            <a:r>
              <a:rPr dirty="0" sz="900" spc="-30">
                <a:latin typeface="Garamond"/>
                <a:cs typeface="Garamond"/>
              </a:rPr>
              <a:t> </a:t>
            </a:r>
            <a:r>
              <a:rPr dirty="0" sz="900" spc="190" i="1">
                <a:latin typeface="Arial"/>
                <a:cs typeface="Arial"/>
              </a:rPr>
              <a:t>−</a:t>
            </a:r>
            <a:r>
              <a:rPr dirty="0" sz="900" spc="-45" i="1">
                <a:latin typeface="Arial"/>
                <a:cs typeface="Arial"/>
              </a:rPr>
              <a:t> </a:t>
            </a:r>
            <a:r>
              <a:rPr dirty="0" sz="900" spc="85">
                <a:latin typeface="Garamond"/>
                <a:cs typeface="Garamond"/>
              </a:rPr>
              <a:t>EBT)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114">
                <a:latin typeface="Garamond"/>
                <a:cs typeface="Garamond"/>
              </a:rPr>
              <a:t>=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-5">
                <a:latin typeface="Garamond"/>
                <a:cs typeface="Garamond"/>
              </a:rPr>
              <a:t>3</a:t>
            </a:r>
            <a:r>
              <a:rPr dirty="0" sz="900" spc="-5" b="0" i="1">
                <a:latin typeface="Bookman Old Style"/>
                <a:cs typeface="Bookman Old Style"/>
              </a:rPr>
              <a:t>.</a:t>
            </a:r>
            <a:r>
              <a:rPr dirty="0" sz="900" spc="-5">
                <a:latin typeface="Garamond"/>
                <a:cs typeface="Garamond"/>
              </a:rPr>
              <a:t>8</a:t>
            </a:r>
            <a:r>
              <a:rPr dirty="0" sz="900" spc="-5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Garamond"/>
                <a:cs typeface="Garamond"/>
              </a:rPr>
              <a:t>lg</a:t>
            </a:r>
            <a:r>
              <a:rPr dirty="0" sz="900" spc="-60">
                <a:latin typeface="Garamond"/>
                <a:cs typeface="Garamond"/>
              </a:rPr>
              <a:t> </a:t>
            </a:r>
            <a:r>
              <a:rPr dirty="0" sz="900" spc="114" b="0" i="1">
                <a:latin typeface="Bookman Old Style"/>
                <a:cs typeface="Bookman Old Style"/>
              </a:rPr>
              <a:t>K</a:t>
            </a:r>
            <a:r>
              <a:rPr dirty="0" sz="900" spc="114">
                <a:latin typeface="Garamond"/>
                <a:cs typeface="Garamond"/>
              </a:rPr>
              <a:t>(Ca</a:t>
            </a:r>
            <a:r>
              <a:rPr dirty="0" sz="900" spc="-30">
                <a:latin typeface="Garamond"/>
                <a:cs typeface="Garamond"/>
              </a:rPr>
              <a:t> </a:t>
            </a:r>
            <a:r>
              <a:rPr dirty="0" sz="900" spc="190" i="1">
                <a:latin typeface="Arial"/>
                <a:cs typeface="Arial"/>
              </a:rPr>
              <a:t>−</a:t>
            </a:r>
            <a:r>
              <a:rPr dirty="0" sz="900" spc="-45" i="1">
                <a:latin typeface="Arial"/>
                <a:cs typeface="Arial"/>
              </a:rPr>
              <a:t> </a:t>
            </a:r>
            <a:r>
              <a:rPr dirty="0" sz="900" spc="50">
                <a:latin typeface="Garamond"/>
                <a:cs typeface="Garamond"/>
              </a:rPr>
              <a:t>EDTA)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114">
                <a:latin typeface="Garamond"/>
                <a:cs typeface="Garamond"/>
              </a:rPr>
              <a:t>=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20">
                <a:latin typeface="Garamond"/>
                <a:cs typeface="Garamond"/>
              </a:rPr>
              <a:t>10</a:t>
            </a:r>
            <a:r>
              <a:rPr dirty="0" sz="900" spc="20" b="0" i="1">
                <a:latin typeface="Bookman Old Style"/>
                <a:cs typeface="Bookman Old Style"/>
              </a:rPr>
              <a:t>.</a:t>
            </a:r>
            <a:r>
              <a:rPr dirty="0" sz="900" spc="20">
                <a:latin typeface="Garamond"/>
                <a:cs typeface="Garamond"/>
              </a:rPr>
              <a:t>7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44" y="397865"/>
            <a:ext cx="4382135" cy="2025014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在滴定</a:t>
            </a:r>
            <a:r>
              <a:rPr dirty="0" sz="1200" spc="-80">
                <a:latin typeface="Arial Unicode MS"/>
                <a:cs typeface="Arial Unicode MS"/>
              </a:rPr>
              <a:t>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加入一</a:t>
            </a:r>
            <a:r>
              <a:rPr dirty="0" sz="1200" spc="175">
                <a:latin typeface="Arial Unicode MS"/>
                <a:cs typeface="Arial Unicode MS"/>
              </a:rPr>
              <a:t>些</a:t>
            </a:r>
            <a:r>
              <a:rPr dirty="0" sz="1100">
                <a:latin typeface="Georgia"/>
                <a:cs typeface="Georgia"/>
              </a:rPr>
              <a:t>Mg-EDTA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在滴定开始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加入的</a:t>
            </a:r>
            <a:r>
              <a:rPr dirty="0" sz="1100" spc="-20">
                <a:latin typeface="Georgia"/>
                <a:cs typeface="Georgia"/>
              </a:rPr>
              <a:t>Mg</a:t>
            </a:r>
            <a:endParaRPr sz="1100">
              <a:latin typeface="Georgia"/>
              <a:cs typeface="Georgia"/>
            </a:endParaRPr>
          </a:p>
          <a:p>
            <a:pPr marL="6286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100" spc="60">
                <a:latin typeface="Georgia"/>
                <a:cs typeface="Georgia"/>
              </a:rPr>
              <a:t>EBT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结</a:t>
            </a:r>
            <a:r>
              <a:rPr dirty="0" sz="1200" spc="-80">
                <a:latin typeface="Arial Unicode MS"/>
                <a:cs typeface="Arial Unicode MS"/>
              </a:rPr>
              <a:t>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使溶液呈现红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由于</a:t>
            </a:r>
            <a:r>
              <a:rPr dirty="0" sz="1100" spc="20">
                <a:latin typeface="Georgia"/>
                <a:cs typeface="Georgia"/>
              </a:rPr>
              <a:t>Ca-EDTA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的稳定性大</a:t>
            </a:r>
            <a:endParaRPr sz="1200">
              <a:latin typeface="Arial Unicode MS"/>
              <a:cs typeface="Arial Unicode MS"/>
            </a:endParaRPr>
          </a:p>
          <a:p>
            <a:pPr marL="62865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于</a:t>
            </a:r>
            <a:r>
              <a:rPr dirty="0" sz="1100" spc="5">
                <a:latin typeface="Georgia"/>
                <a:cs typeface="Georgia"/>
              </a:rPr>
              <a:t>Mg-EDTA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的稳定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所以首先进行如下的反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75565">
              <a:lnSpc>
                <a:spcPct val="100000"/>
              </a:lnSpc>
            </a:pP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41666" sz="900" spc="127">
                <a:latin typeface="Times New Roman"/>
                <a:cs typeface="Times New Roman"/>
              </a:rPr>
              <a:t>2+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0">
                <a:latin typeface="Georgia"/>
                <a:cs typeface="Georgia"/>
              </a:rPr>
              <a:t>EDTA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62">
                <a:latin typeface="宋体"/>
                <a:cs typeface="宋体"/>
              </a:rPr>
              <a:t> </a:t>
            </a:r>
            <a:r>
              <a:rPr dirty="0" baseline="6172" sz="675" spc="-622">
                <a:latin typeface="宋体"/>
                <a:cs typeface="宋体"/>
              </a:rPr>
              <a:t>、</a:t>
            </a:r>
            <a:r>
              <a:rPr dirty="0" baseline="-18518" sz="675" spc="2010">
                <a:latin typeface="宋体"/>
                <a:cs typeface="宋体"/>
              </a:rPr>
              <a:t> </a:t>
            </a:r>
            <a:r>
              <a:rPr dirty="0" sz="1100" spc="35">
                <a:latin typeface="Georgia"/>
                <a:cs typeface="Georgia"/>
              </a:rPr>
              <a:t>Ca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45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endParaRPr sz="1100">
              <a:latin typeface="Georgia"/>
              <a:cs typeface="Georgia"/>
            </a:endParaRPr>
          </a:p>
          <a:p>
            <a:pPr marL="367030">
              <a:lnSpc>
                <a:spcPct val="100000"/>
              </a:lnSpc>
              <a:spcBef>
                <a:spcPts val="1565"/>
              </a:spcBef>
            </a:pPr>
            <a:r>
              <a:rPr dirty="0" sz="1200" spc="-5">
                <a:latin typeface="Arial Unicode MS"/>
                <a:cs typeface="Arial Unicode MS"/>
              </a:rPr>
              <a:t>当滴定进行到接近化学计量点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此时溶液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的浓度非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常之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此时加入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将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15">
                <a:latin typeface="Georgia"/>
                <a:cs typeface="Georgia"/>
              </a:rPr>
              <a:t>Mg-EBT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发生置换反应</a:t>
            </a:r>
            <a:r>
              <a:rPr dirty="0" baseline="37037" sz="900" spc="-112">
                <a:latin typeface="Times New Roman"/>
                <a:cs typeface="Times New Roman"/>
              </a:rPr>
              <a:t>3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Arial Unicode MS"/>
              <a:cs typeface="Arial Unicode MS"/>
            </a:endParaRPr>
          </a:p>
          <a:p>
            <a:pPr algn="ctr" marL="75565">
              <a:lnSpc>
                <a:spcPct val="100000"/>
              </a:lnSpc>
            </a:pPr>
            <a:r>
              <a:rPr dirty="0" sz="1100" spc="-20">
                <a:latin typeface="Georgia"/>
                <a:cs typeface="Georgia"/>
              </a:rPr>
              <a:t>Mg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45">
                <a:latin typeface="Georgia"/>
                <a:cs typeface="Georgia"/>
              </a:rPr>
              <a:t>EBT(</a:t>
            </a:r>
            <a:r>
              <a:rPr dirty="0" sz="1200" spc="-5">
                <a:latin typeface="Arial Unicode MS"/>
                <a:cs typeface="Arial Unicode MS"/>
              </a:rPr>
              <a:t>酒红色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275">
                <a:latin typeface="Georgia"/>
                <a:cs typeface="Georgia"/>
              </a:rPr>
              <a:t>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195">
                <a:latin typeface="宋体"/>
                <a:cs typeface="宋体"/>
              </a:rPr>
              <a:t> </a:t>
            </a:r>
            <a:r>
              <a:rPr dirty="0" baseline="6172" sz="675" spc="-622">
                <a:latin typeface="宋体"/>
                <a:cs typeface="宋体"/>
              </a:rPr>
              <a:t>、</a:t>
            </a:r>
            <a:r>
              <a:rPr dirty="0" baseline="-18518" sz="675" spc="2010">
                <a:latin typeface="宋体"/>
                <a:cs typeface="宋体"/>
              </a:rPr>
              <a:t> </a:t>
            </a:r>
            <a:r>
              <a:rPr dirty="0" sz="1100" spc="-20">
                <a:latin typeface="Georgia"/>
                <a:cs typeface="Georgia"/>
              </a:rPr>
              <a:t>Mg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EBT(</a:t>
            </a:r>
            <a:r>
              <a:rPr dirty="0" sz="1200" spc="-5">
                <a:latin typeface="Arial Unicode MS"/>
                <a:cs typeface="Arial Unicode MS"/>
              </a:rPr>
              <a:t>蓝色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8394" y="3172599"/>
            <a:ext cx="237807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04">
                <a:latin typeface="Times New Roman"/>
                <a:cs typeface="Times New Roman"/>
              </a:rPr>
              <a:t>3</a:t>
            </a:r>
            <a:r>
              <a:rPr dirty="0" sz="900" spc="70">
                <a:latin typeface="Garamond"/>
                <a:cs typeface="Garamond"/>
              </a:rPr>
              <a:t>lg</a:t>
            </a:r>
            <a:r>
              <a:rPr dirty="0" sz="900" spc="-65">
                <a:latin typeface="Garamond"/>
                <a:cs typeface="Garamond"/>
              </a:rPr>
              <a:t> </a:t>
            </a:r>
            <a:r>
              <a:rPr dirty="0" sz="900" spc="110" b="0" i="1">
                <a:latin typeface="Bookman Old Style"/>
                <a:cs typeface="Bookman Old Style"/>
              </a:rPr>
              <a:t>K</a:t>
            </a:r>
            <a:r>
              <a:rPr dirty="0" sz="900" spc="110">
                <a:latin typeface="Garamond"/>
                <a:cs typeface="Garamond"/>
              </a:rPr>
              <a:t>(Mg</a:t>
            </a:r>
            <a:r>
              <a:rPr dirty="0" sz="900" spc="-15">
                <a:latin typeface="Garamond"/>
                <a:cs typeface="Garamond"/>
              </a:rPr>
              <a:t> </a:t>
            </a:r>
            <a:r>
              <a:rPr dirty="0" sz="900" spc="190" i="1">
                <a:latin typeface="Arial"/>
                <a:cs typeface="Arial"/>
              </a:rPr>
              <a:t>−</a:t>
            </a:r>
            <a:r>
              <a:rPr dirty="0" sz="900" spc="-50" i="1">
                <a:latin typeface="Arial"/>
                <a:cs typeface="Arial"/>
              </a:rPr>
              <a:t> </a:t>
            </a:r>
            <a:r>
              <a:rPr dirty="0" sz="900" spc="85">
                <a:latin typeface="Garamond"/>
                <a:cs typeface="Garamond"/>
              </a:rPr>
              <a:t>EBT)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114">
                <a:latin typeface="Garamond"/>
                <a:cs typeface="Garamond"/>
              </a:rPr>
              <a:t>=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-5">
                <a:latin typeface="Garamond"/>
                <a:cs typeface="Garamond"/>
              </a:rPr>
              <a:t>5</a:t>
            </a:r>
            <a:r>
              <a:rPr dirty="0" sz="900" spc="-5" b="0" i="1">
                <a:latin typeface="Bookman Old Style"/>
                <a:cs typeface="Bookman Old Style"/>
              </a:rPr>
              <a:t>.</a:t>
            </a:r>
            <a:r>
              <a:rPr dirty="0" sz="900" spc="-5">
                <a:latin typeface="Garamond"/>
                <a:cs typeface="Garamond"/>
              </a:rPr>
              <a:t>4</a:t>
            </a:r>
            <a:r>
              <a:rPr dirty="0" sz="900" spc="-5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Garamond"/>
                <a:cs typeface="Garamond"/>
              </a:rPr>
              <a:t>lg</a:t>
            </a:r>
            <a:r>
              <a:rPr dirty="0" sz="900" spc="-65">
                <a:latin typeface="Garamond"/>
                <a:cs typeface="Garamond"/>
              </a:rPr>
              <a:t> </a:t>
            </a:r>
            <a:r>
              <a:rPr dirty="0" sz="900" spc="105" b="0" i="1">
                <a:latin typeface="Bookman Old Style"/>
                <a:cs typeface="Bookman Old Style"/>
              </a:rPr>
              <a:t>K</a:t>
            </a:r>
            <a:r>
              <a:rPr dirty="0" sz="900" spc="105">
                <a:latin typeface="Garamond"/>
                <a:cs typeface="Garamond"/>
              </a:rPr>
              <a:t>(MgY)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114">
                <a:latin typeface="Garamond"/>
                <a:cs typeface="Garamond"/>
              </a:rPr>
              <a:t>=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15">
                <a:latin typeface="Garamond"/>
                <a:cs typeface="Garamond"/>
              </a:rPr>
              <a:t>8</a:t>
            </a:r>
            <a:r>
              <a:rPr dirty="0" sz="900" spc="15" b="0" i="1">
                <a:latin typeface="Bookman Old Style"/>
                <a:cs typeface="Bookman Old Style"/>
              </a:rPr>
              <a:t>.</a:t>
            </a:r>
            <a:r>
              <a:rPr dirty="0" sz="900" spc="15">
                <a:latin typeface="Garamond"/>
                <a:cs typeface="Garamond"/>
              </a:rPr>
              <a:t>7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5680" y="1052275"/>
            <a:ext cx="2669540" cy="77152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306070">
              <a:lnSpc>
                <a:spcPct val="100000"/>
              </a:lnSpc>
              <a:spcBef>
                <a:spcPts val="1105"/>
              </a:spcBef>
            </a:pPr>
            <a:r>
              <a:rPr dirty="0" sz="1600" spc="-10">
                <a:latin typeface="Arial Unicode MS"/>
                <a:cs typeface="Arial Unicode MS"/>
              </a:rPr>
              <a:t>开始加入</a:t>
            </a:r>
            <a:r>
              <a:rPr dirty="0" sz="1600" spc="250">
                <a:latin typeface="Arial Unicode MS"/>
                <a:cs typeface="Arial Unicode MS"/>
              </a:rPr>
              <a:t>的</a:t>
            </a:r>
            <a:r>
              <a:rPr dirty="0" sz="1700" spc="-30">
                <a:latin typeface="Times New Roman"/>
                <a:cs typeface="Times New Roman"/>
              </a:rPr>
              <a:t>Mg-EDTA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600" spc="-10">
                <a:latin typeface="Arial Unicode MS"/>
                <a:cs typeface="Arial Unicode MS"/>
              </a:rPr>
              <a:t>是否会对滴定过程产生影</a:t>
            </a:r>
            <a:r>
              <a:rPr dirty="0" sz="1600" spc="85">
                <a:latin typeface="Arial Unicode MS"/>
                <a:cs typeface="Arial Unicode MS"/>
              </a:rPr>
              <a:t>响</a:t>
            </a:r>
            <a:r>
              <a:rPr dirty="0" sz="1600" spc="-10">
                <a:latin typeface="Arial Unicode MS"/>
                <a:cs typeface="Arial Unicode MS"/>
              </a:rPr>
              <a:t>？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7894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5.5.2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金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属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离子指示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剂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的变色点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44" y="751179"/>
            <a:ext cx="4303395" cy="10210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设被滴定的金属离</a:t>
            </a: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与指示剂形成有色配合</a:t>
            </a:r>
            <a:r>
              <a:rPr dirty="0" sz="1200" spc="175">
                <a:latin typeface="Arial Unicode MS"/>
                <a:cs typeface="Arial Unicode MS"/>
              </a:rPr>
              <a:t>物</a:t>
            </a:r>
            <a:r>
              <a:rPr dirty="0" sz="1100" spc="-90">
                <a:latin typeface="Georgia"/>
                <a:cs typeface="Georgia"/>
              </a:rPr>
              <a:t>MIn</a:t>
            </a:r>
            <a:r>
              <a:rPr dirty="0" sz="1200" spc="-9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在溶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液中存在如下平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128905">
              <a:lnSpc>
                <a:spcPct val="100000"/>
              </a:lnSpc>
              <a:spcBef>
                <a:spcPts val="425"/>
              </a:spcBef>
            </a:pPr>
            <a:r>
              <a:rPr dirty="0" sz="1100" spc="-35">
                <a:latin typeface="Georgia"/>
                <a:cs typeface="Georgia"/>
              </a:rPr>
              <a:t>MIn  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6172" sz="675" spc="-262">
                <a:latin typeface="宋体"/>
                <a:cs typeface="宋体"/>
              </a:rPr>
              <a:t>              </a:t>
            </a:r>
            <a:r>
              <a:rPr dirty="0" baseline="-18518" sz="675" spc="-262">
                <a:latin typeface="宋体"/>
                <a:cs typeface="宋体"/>
              </a:rPr>
              <a:t>       </a:t>
            </a:r>
            <a:r>
              <a:rPr dirty="0" baseline="6172" sz="675" spc="-622">
                <a:latin typeface="宋体"/>
                <a:cs typeface="宋体"/>
              </a:rPr>
              <a:t>、</a:t>
            </a:r>
            <a:r>
              <a:rPr dirty="0" baseline="-18518" sz="675" spc="2010">
                <a:latin typeface="宋体"/>
                <a:cs typeface="宋体"/>
              </a:rPr>
              <a:t> </a:t>
            </a:r>
            <a:r>
              <a:rPr dirty="0" sz="1100" spc="-20">
                <a:latin typeface="Georgia"/>
                <a:cs typeface="Georgia"/>
              </a:rPr>
              <a:t>M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In</a:t>
            </a:r>
            <a:endParaRPr sz="1100">
              <a:latin typeface="Georgia"/>
              <a:cs typeface="Georgia"/>
            </a:endParaRPr>
          </a:p>
          <a:p>
            <a:pPr marL="354330">
              <a:lnSpc>
                <a:spcPct val="100000"/>
              </a:lnSpc>
              <a:spcBef>
                <a:spcPts val="1130"/>
              </a:spcBef>
            </a:pPr>
            <a:r>
              <a:rPr dirty="0" sz="1200" spc="-5">
                <a:latin typeface="Arial Unicode MS"/>
                <a:cs typeface="Arial Unicode MS"/>
              </a:rPr>
              <a:t>如果考虑到指示剂的酸效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则上述平衡的平衡常数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5625" y="1955165"/>
            <a:ext cx="7461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baseline="41666" sz="900" spc="30">
                <a:latin typeface="Lucida Sans Unicode"/>
                <a:cs typeface="Lucida Sans Unicode"/>
              </a:rPr>
              <a:t>t</a:t>
            </a:r>
            <a:r>
              <a:rPr dirty="0" sz="1100" spc="20">
                <a:latin typeface="Georgia"/>
                <a:cs typeface="Georgia"/>
              </a:rPr>
              <a:t>(MIn)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37066" y="2071776"/>
            <a:ext cx="442595" cy="0"/>
          </a:xfrm>
          <a:custGeom>
            <a:avLst/>
            <a:gdLst/>
            <a:ahLst/>
            <a:cxnLst/>
            <a:rect l="l" t="t" r="r" b="b"/>
            <a:pathLst>
              <a:path w="442594" h="0">
                <a:moveTo>
                  <a:pt x="0" y="0"/>
                </a:moveTo>
                <a:lnTo>
                  <a:pt x="44203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98966" y="1838931"/>
            <a:ext cx="51879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55244">
              <a:lnSpc>
                <a:spcPct val="112599"/>
              </a:lnSpc>
              <a:spcBef>
                <a:spcPts val="100"/>
              </a:spcBef>
            </a:pPr>
            <a:r>
              <a:rPr dirty="0" sz="1100" spc="-70">
                <a:latin typeface="Georgia"/>
                <a:cs typeface="Georgia"/>
              </a:rPr>
              <a:t>[MIn]  </a:t>
            </a: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70">
                <a:latin typeface="Georgia"/>
                <a:cs typeface="Georgia"/>
              </a:rPr>
              <a:t>][I</a:t>
            </a:r>
            <a:r>
              <a:rPr dirty="0" sz="1100" spc="-110">
                <a:latin typeface="Georgia"/>
                <a:cs typeface="Georgia"/>
              </a:rPr>
              <a:t>n</a:t>
            </a:r>
            <a:r>
              <a:rPr dirty="0" baseline="27777" sz="900" spc="52">
                <a:latin typeface="Lucida Sans Unicode"/>
                <a:cs typeface="Lucida Sans Unicode"/>
              </a:rPr>
              <a:t>t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501" y="2320556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即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1732" y="2572677"/>
            <a:ext cx="17697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 </a:t>
            </a: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baseline="41666" sz="900" spc="30">
                <a:latin typeface="Lucida Sans Unicode"/>
                <a:cs typeface="Lucida Sans Unicode"/>
              </a:rPr>
              <a:t>t</a:t>
            </a:r>
            <a:r>
              <a:rPr dirty="0" sz="1100" spc="20">
                <a:latin typeface="Georgia"/>
                <a:cs typeface="Georgia"/>
              </a:rPr>
              <a:t>(MIn)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5">
                <a:latin typeface="Georgia"/>
                <a:cs typeface="Georgia"/>
              </a:rPr>
              <a:t>pM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 </a:t>
            </a:r>
            <a:r>
              <a:rPr dirty="0" baseline="37878" sz="1650" spc="-104">
                <a:latin typeface="Georgia"/>
                <a:cs typeface="Georgia"/>
              </a:rPr>
              <a:t>[MIn]</a:t>
            </a:r>
            <a:endParaRPr baseline="37878" sz="16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12021" y="2689288"/>
            <a:ext cx="331470" cy="0"/>
          </a:xfrm>
          <a:custGeom>
            <a:avLst/>
            <a:gdLst/>
            <a:ahLst/>
            <a:cxnLst/>
            <a:rect l="l" t="t" r="r" b="b"/>
            <a:pathLst>
              <a:path w="331469" h="0">
                <a:moveTo>
                  <a:pt x="0" y="0"/>
                </a:moveTo>
                <a:lnTo>
                  <a:pt x="33097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20365" y="2667711"/>
            <a:ext cx="314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[In</a:t>
            </a:r>
            <a:r>
              <a:rPr dirty="0" baseline="27777" sz="900" spc="-82">
                <a:latin typeface="Lucida Sans Unicode"/>
                <a:cs typeface="Lucida Sans Unicode"/>
              </a:rPr>
              <a:t>t</a:t>
            </a:r>
            <a:r>
              <a:rPr dirty="0" sz="1100" spc="-5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149119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544" y="1826272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344" y="1813572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20310" y="1541754"/>
            <a:ext cx="50749" cy="2845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3" y="1535613"/>
            <a:ext cx="4432935" cy="341630"/>
          </a:xfrm>
          <a:custGeom>
            <a:avLst/>
            <a:gdLst/>
            <a:ahLst/>
            <a:cxnLst/>
            <a:rect l="l" t="t" r="r" b="b"/>
            <a:pathLst>
              <a:path w="4432935" h="341630">
                <a:moveTo>
                  <a:pt x="4432566" y="0"/>
                </a:moveTo>
                <a:lnTo>
                  <a:pt x="0" y="0"/>
                </a:lnTo>
                <a:lnTo>
                  <a:pt x="0" y="290659"/>
                </a:lnTo>
                <a:lnTo>
                  <a:pt x="4008" y="310384"/>
                </a:lnTo>
                <a:lnTo>
                  <a:pt x="14922" y="326537"/>
                </a:lnTo>
                <a:lnTo>
                  <a:pt x="31075" y="337451"/>
                </a:lnTo>
                <a:lnTo>
                  <a:pt x="50800" y="341459"/>
                </a:lnTo>
                <a:lnTo>
                  <a:pt x="4381765" y="341459"/>
                </a:lnTo>
                <a:lnTo>
                  <a:pt x="4401490" y="337451"/>
                </a:lnTo>
                <a:lnTo>
                  <a:pt x="4417643" y="326537"/>
                </a:lnTo>
                <a:lnTo>
                  <a:pt x="4428558" y="310384"/>
                </a:lnTo>
                <a:lnTo>
                  <a:pt x="4432566" y="290659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1579850"/>
            <a:ext cx="0" cy="266065"/>
          </a:xfrm>
          <a:custGeom>
            <a:avLst/>
            <a:gdLst/>
            <a:ahLst/>
            <a:cxnLst/>
            <a:rect l="l" t="t" r="r" b="b"/>
            <a:pathLst>
              <a:path w="0" h="266064">
                <a:moveTo>
                  <a:pt x="0" y="26547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6715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55445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54175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7744" y="931951"/>
            <a:ext cx="4432935" cy="893444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定</a:t>
            </a:r>
            <a:r>
              <a:rPr dirty="0" sz="1200" spc="175">
                <a:latin typeface="Arial Unicode MS"/>
                <a:cs typeface="Arial Unicode MS"/>
              </a:rPr>
              <a:t>义</a:t>
            </a:r>
            <a:r>
              <a:rPr dirty="0" sz="1100" spc="-70">
                <a:latin typeface="Georgia"/>
                <a:cs typeface="Georgia"/>
              </a:rPr>
              <a:t>[MIn]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[In</a:t>
            </a:r>
            <a:r>
              <a:rPr dirty="0" baseline="37037" sz="900" spc="-82">
                <a:latin typeface="Lucida Sans Unicode"/>
                <a:cs typeface="Lucida Sans Unicode"/>
              </a:rPr>
              <a:t>t</a:t>
            </a:r>
            <a:r>
              <a:rPr dirty="0" sz="1100" spc="-55">
                <a:latin typeface="Georgia"/>
                <a:cs typeface="Georgia"/>
              </a:rPr>
              <a:t>]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时为指示剂的变色</a:t>
            </a:r>
            <a:r>
              <a:rPr dirty="0" sz="1200" spc="-80">
                <a:latin typeface="Arial Unicode MS"/>
                <a:cs typeface="Arial Unicode MS"/>
              </a:rPr>
              <a:t>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则以指示剂的变色点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为终点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Arial Unicode MS"/>
              <a:cs typeface="Arial Unicode MS"/>
            </a:endParaRPr>
          </a:p>
          <a:p>
            <a:pPr marL="1655445">
              <a:lnSpc>
                <a:spcPct val="100000"/>
              </a:lnSpc>
              <a:spcBef>
                <a:spcPts val="5"/>
              </a:spcBef>
              <a:tabLst>
                <a:tab pos="4135120" algn="l"/>
              </a:tabLst>
            </a:pPr>
            <a:r>
              <a:rPr dirty="0" sz="1100" spc="-15">
                <a:latin typeface="Georgia"/>
                <a:cs typeface="Georgia"/>
              </a:rPr>
              <a:t>lg </a:t>
            </a: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baseline="41666" sz="900" spc="30">
                <a:latin typeface="Lucida Sans Unicode"/>
                <a:cs typeface="Lucida Sans Unicode"/>
              </a:rPr>
              <a:t>t</a:t>
            </a:r>
            <a:r>
              <a:rPr dirty="0" sz="1100" spc="20">
                <a:latin typeface="Georgia"/>
                <a:cs typeface="Georgia"/>
              </a:rPr>
              <a:t>(MIn)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23148" sz="900" spc="37">
                <a:latin typeface="Times New Roman"/>
                <a:cs typeface="Times New Roman"/>
              </a:rPr>
              <a:t>ep	</a:t>
            </a:r>
            <a:r>
              <a:rPr dirty="0" sz="1100" spc="-10">
                <a:latin typeface="Georgia"/>
                <a:cs typeface="Georgia"/>
              </a:rPr>
              <a:t>(10)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932939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5.6</a:t>
            </a:r>
            <a:r>
              <a:rPr dirty="0" sz="14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配位滴定基本原理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59650"/>
            <a:ext cx="390144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定量分析中常用的配位滴定剂</a:t>
            </a:r>
            <a:r>
              <a:rPr dirty="0" sz="1200" spc="175">
                <a:latin typeface="Arial Unicode MS"/>
                <a:cs typeface="Arial Unicode MS"/>
              </a:rPr>
              <a:t>是</a:t>
            </a:r>
            <a:r>
              <a:rPr dirty="0" sz="1100" spc="15">
                <a:latin typeface="Georgia"/>
                <a:cs typeface="Georgia"/>
              </a:rPr>
              <a:t>E</a:t>
            </a:r>
            <a:r>
              <a:rPr dirty="0" sz="1100" spc="10">
                <a:latin typeface="Georgia"/>
                <a:cs typeface="Georgia"/>
              </a:rPr>
              <a:t>D</a:t>
            </a:r>
            <a:r>
              <a:rPr dirty="0" sz="1100" spc="10">
                <a:latin typeface="Georgia"/>
                <a:cs typeface="Georgia"/>
              </a:rPr>
              <a:t>T</a:t>
            </a:r>
            <a:r>
              <a:rPr dirty="0" sz="1100" spc="5">
                <a:latin typeface="Georgia"/>
                <a:cs typeface="Georgia"/>
              </a:rPr>
              <a:t>A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其滴定金属离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的反应可用下式表</a:t>
            </a:r>
            <a:r>
              <a:rPr dirty="0" sz="1200" spc="-90">
                <a:latin typeface="Arial Unicode MS"/>
                <a:cs typeface="Arial Unicode MS"/>
              </a:rPr>
              <a:t>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8478" y="1601012"/>
            <a:ext cx="1123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Y + </a:t>
            </a:r>
            <a:r>
              <a:rPr dirty="0" sz="1100" spc="-20">
                <a:latin typeface="Georgia"/>
                <a:cs typeface="Georgia"/>
              </a:rPr>
              <a:t>M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32">
                <a:latin typeface="宋体"/>
                <a:cs typeface="宋体"/>
              </a:rPr>
              <a:t> </a:t>
            </a:r>
            <a:r>
              <a:rPr dirty="0" baseline="6172" sz="675" spc="-622">
                <a:latin typeface="宋体"/>
                <a:cs typeface="宋体"/>
              </a:rPr>
              <a:t>、</a:t>
            </a:r>
            <a:r>
              <a:rPr dirty="0" baseline="-18518" sz="675" spc="1972">
                <a:latin typeface="宋体"/>
                <a:cs typeface="宋体"/>
              </a:rPr>
              <a:t> </a:t>
            </a:r>
            <a:r>
              <a:rPr dirty="0" sz="1100" spc="60">
                <a:latin typeface="Georgia"/>
                <a:cs typeface="Georgia"/>
              </a:rPr>
              <a:t>MY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7182" y="1507286"/>
            <a:ext cx="333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15">
                <a:latin typeface="Georgia"/>
                <a:cs typeface="Georgia"/>
              </a:rPr>
              <a:t>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31401" y="1717624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 h="0">
                <a:moveTo>
                  <a:pt x="0" y="0"/>
                </a:moveTo>
                <a:lnTo>
                  <a:pt x="3848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65819" y="1696047"/>
            <a:ext cx="7886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37878" sz="1650" spc="195" b="0" i="1">
                <a:latin typeface="Bookman Old Style"/>
                <a:cs typeface="Bookman Old Style"/>
              </a:rPr>
              <a:t>K </a:t>
            </a:r>
            <a:r>
              <a:rPr dirty="0" baseline="37878" sz="1650" spc="209">
                <a:latin typeface="Georgia"/>
                <a:cs typeface="Georgia"/>
              </a:rPr>
              <a:t>=</a:t>
            </a:r>
            <a:r>
              <a:rPr dirty="0" baseline="37878" sz="1650" spc="1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[M][Y]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944484"/>
            <a:ext cx="43567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随</a:t>
            </a:r>
            <a:r>
              <a:rPr dirty="0" sz="1200" spc="175">
                <a:latin typeface="Arial Unicode MS"/>
                <a:cs typeface="Arial Unicode MS"/>
              </a:rPr>
              <a:t>着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的加</a:t>
            </a:r>
            <a:r>
              <a:rPr dirty="0" sz="1200" spc="-80">
                <a:latin typeface="Arial Unicode MS"/>
                <a:cs typeface="Arial Unicode MS"/>
              </a:rPr>
              <a:t>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金属离子的浓度不断降</a:t>
            </a:r>
            <a:r>
              <a:rPr dirty="0" sz="1200" spc="-80">
                <a:latin typeface="Arial Unicode MS"/>
                <a:cs typeface="Arial Unicode MS"/>
              </a:rPr>
              <a:t>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如果在化学计 </a:t>
            </a:r>
            <a:r>
              <a:rPr dirty="0" sz="1200" spc="-10">
                <a:latin typeface="Arial Unicode MS"/>
                <a:cs typeface="Arial Unicode MS"/>
              </a:rPr>
              <a:t>量点附</a:t>
            </a:r>
            <a:r>
              <a:rPr dirty="0" sz="1200" spc="-80">
                <a:latin typeface="Arial Unicode MS"/>
                <a:cs typeface="Arial Unicode MS"/>
              </a:rPr>
              <a:t>近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金属离子浓度发生一个突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则上述反应可以用作定</a:t>
            </a:r>
            <a:r>
              <a:rPr dirty="0" sz="1200" spc="-5">
                <a:latin typeface="Arial Unicode MS"/>
                <a:cs typeface="Arial Unicode MS"/>
              </a:rPr>
              <a:t>量 </a:t>
            </a:r>
            <a:r>
              <a:rPr dirty="0" sz="1200" spc="-5">
                <a:latin typeface="Arial Unicode MS"/>
                <a:cs typeface="Arial Unicode MS"/>
              </a:rPr>
              <a:t>分</a:t>
            </a:r>
            <a:r>
              <a:rPr dirty="0" sz="1200" spc="-20">
                <a:latin typeface="Arial Unicode MS"/>
                <a:cs typeface="Arial Unicode MS"/>
              </a:rPr>
              <a:t>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1252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Georgia"/>
                <a:cs typeface="Georgia"/>
              </a:rPr>
              <a:t>5.6.1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配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911326"/>
            <a:ext cx="44075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设金属离</a:t>
            </a:r>
            <a:r>
              <a:rPr dirty="0" spc="175"/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pc="-5"/>
              <a:t>的分析浓度和体积分别</a:t>
            </a:r>
            <a:r>
              <a:rPr dirty="0" spc="175"/>
              <a:t>为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pc="175"/>
              <a:t>和</a:t>
            </a:r>
            <a:r>
              <a:rPr dirty="0" sz="1100" spc="-20" b="0" i="1">
                <a:latin typeface="Bookman Old Style"/>
                <a:cs typeface="Bookman Old Style"/>
              </a:rPr>
              <a:t>V</a:t>
            </a:r>
            <a:r>
              <a:rPr dirty="0" baseline="-13888" sz="900" spc="-30">
                <a:latin typeface="Times New Roman"/>
                <a:cs typeface="Times New Roman"/>
              </a:rPr>
              <a:t>0</a:t>
            </a:r>
            <a:r>
              <a:rPr dirty="0" sz="1200" spc="-20"/>
              <a:t>，</a:t>
            </a:r>
            <a:r>
              <a:rPr dirty="0" sz="1100" spc="-2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/>
              <a:t>标 </a:t>
            </a:r>
            <a:r>
              <a:rPr dirty="0" sz="1200" spc="-10"/>
              <a:t>准溶液的分析浓度</a:t>
            </a:r>
            <a:r>
              <a:rPr dirty="0" sz="1200" spc="175"/>
              <a:t>为</a:t>
            </a: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(Y)</a:t>
            </a:r>
            <a:r>
              <a:rPr dirty="0" sz="1200" spc="-240"/>
              <a:t>。</a:t>
            </a:r>
            <a:r>
              <a:rPr dirty="0" sz="1200" spc="-10"/>
              <a:t>当加入</a:t>
            </a:r>
            <a:r>
              <a:rPr dirty="0" sz="1200" spc="175"/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10"/>
              <a:t>的体积</a:t>
            </a:r>
            <a:r>
              <a:rPr dirty="0" sz="1200" spc="175"/>
              <a:t>为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r>
              <a:rPr dirty="0" baseline="-13888" sz="900" spc="44" i="1">
                <a:latin typeface="Arial"/>
                <a:cs typeface="Arial"/>
              </a:rPr>
              <a:t> </a:t>
            </a:r>
            <a:r>
              <a:rPr dirty="0" sz="1200" spc="-80"/>
              <a:t>时</a:t>
            </a:r>
            <a:r>
              <a:rPr dirty="0" sz="1200" spc="-190"/>
              <a:t>，</a:t>
            </a:r>
            <a:r>
              <a:rPr dirty="0" sz="1200" spc="-10"/>
              <a:t>质量</a:t>
            </a:r>
            <a:r>
              <a:rPr dirty="0" sz="1200" spc="-5"/>
              <a:t>平 衡如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688032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2594152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2581452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1738604"/>
            <a:ext cx="50749" cy="8555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1732454"/>
            <a:ext cx="4432935" cy="912494"/>
          </a:xfrm>
          <a:custGeom>
            <a:avLst/>
            <a:gdLst/>
            <a:ahLst/>
            <a:cxnLst/>
            <a:rect l="l" t="t" r="r" b="b"/>
            <a:pathLst>
              <a:path w="4432935" h="912494">
                <a:moveTo>
                  <a:pt x="4432566" y="0"/>
                </a:moveTo>
                <a:lnTo>
                  <a:pt x="0" y="0"/>
                </a:lnTo>
                <a:lnTo>
                  <a:pt x="0" y="861698"/>
                </a:lnTo>
                <a:lnTo>
                  <a:pt x="4008" y="881422"/>
                </a:lnTo>
                <a:lnTo>
                  <a:pt x="14922" y="897575"/>
                </a:lnTo>
                <a:lnTo>
                  <a:pt x="31075" y="908490"/>
                </a:lnTo>
                <a:lnTo>
                  <a:pt x="50800" y="912498"/>
                </a:lnTo>
                <a:lnTo>
                  <a:pt x="4381765" y="912498"/>
                </a:lnTo>
                <a:lnTo>
                  <a:pt x="4401490" y="908490"/>
                </a:lnTo>
                <a:lnTo>
                  <a:pt x="4417643" y="897575"/>
                </a:lnTo>
                <a:lnTo>
                  <a:pt x="4428558" y="881422"/>
                </a:lnTo>
                <a:lnTo>
                  <a:pt x="4432566" y="86169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776691"/>
            <a:ext cx="0" cy="836930"/>
          </a:xfrm>
          <a:custGeom>
            <a:avLst/>
            <a:gdLst/>
            <a:ahLst/>
            <a:cxnLst/>
            <a:rect l="l" t="t" r="r" b="b"/>
            <a:pathLst>
              <a:path w="0" h="836930">
                <a:moveTo>
                  <a:pt x="0" y="83651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76399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75129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73859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19847" y="1969401"/>
            <a:ext cx="2307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30">
                <a:latin typeface="Georgia"/>
                <a:cs typeface="Georgia"/>
              </a:rPr>
              <a:t>[Y]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[MY]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30">
                <a:latin typeface="Georgia"/>
                <a:cs typeface="Georgia"/>
              </a:rPr>
              <a:t>[Y]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sz="1100" spc="5">
                <a:latin typeface="Georgia"/>
                <a:cs typeface="Georgia"/>
              </a:rPr>
              <a:t>(MY)[M][Y]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0456" y="1969401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0">
                <a:latin typeface="Georgia"/>
                <a:cs typeface="Georgia"/>
              </a:rPr>
              <a:t>(11)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4483" y="1853168"/>
            <a:ext cx="504825" cy="7670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265"/>
              </a:spcBef>
            </a:pPr>
            <a:r>
              <a:rPr dirty="0" u="sng" sz="1100" spc="-1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-13888" sz="900" spc="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-13888" sz="9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  <a:spcBef>
                <a:spcPts val="165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9847" y="2333459"/>
            <a:ext cx="23539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85">
                <a:latin typeface="Georgia"/>
                <a:cs typeface="Georgia"/>
              </a:rPr>
              <a:t>[M]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5">
                <a:latin typeface="Georgia"/>
                <a:cs typeface="Georgia"/>
              </a:rPr>
              <a:t>[MY]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80">
                <a:latin typeface="Georgia"/>
                <a:cs typeface="Georgia"/>
              </a:rPr>
              <a:t>[M]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sz="1100" spc="5">
                <a:latin typeface="Georgia"/>
                <a:cs typeface="Georgia"/>
              </a:rPr>
              <a:t>(MY)[</a:t>
            </a:r>
            <a:r>
              <a:rPr dirty="0" sz="1100" spc="5">
                <a:latin typeface="Georgia"/>
                <a:cs typeface="Georgia"/>
              </a:rPr>
              <a:t>M][Y]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0456" y="2333459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4101" y="667105"/>
            <a:ext cx="2844800" cy="678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上述两式相</a:t>
            </a:r>
            <a:r>
              <a:rPr dirty="0" sz="1200" spc="-80">
                <a:latin typeface="Arial Unicode MS"/>
                <a:cs typeface="Arial Unicode MS"/>
              </a:rPr>
              <a:t>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018540">
              <a:lnSpc>
                <a:spcPct val="100000"/>
              </a:lnSpc>
              <a:spcBef>
                <a:spcPts val="894"/>
              </a:spcBef>
            </a:pPr>
            <a:r>
              <a:rPr dirty="0" baseline="-37878" sz="1650" spc="-44">
                <a:latin typeface="Georgia"/>
                <a:cs typeface="Georgia"/>
              </a:rPr>
              <a:t>[Y]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 </a:t>
            </a:r>
            <a:r>
              <a:rPr dirty="0" u="sng" sz="1100" spc="-2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r>
              <a:rPr dirty="0" u="sng" sz="1100" spc="-2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baseline="-13888" sz="900" spc="-30">
                <a:latin typeface="Times New Roman"/>
                <a:cs typeface="Times New Roman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-247">
                <a:latin typeface="Georgia"/>
                <a:cs typeface="Georgia"/>
              </a:rPr>
              <a:t> </a:t>
            </a:r>
            <a:r>
              <a:rPr dirty="0" baseline="-37878" sz="1650" spc="-127">
                <a:latin typeface="Georgia"/>
                <a:cs typeface="Georgia"/>
              </a:rPr>
              <a:t>[M]</a:t>
            </a:r>
            <a:endParaRPr baseline="-37878" sz="1650">
              <a:latin typeface="Georgia"/>
              <a:cs typeface="Georgia"/>
            </a:endParaRPr>
          </a:p>
          <a:p>
            <a:pPr marL="1682750">
              <a:lnSpc>
                <a:spcPct val="100000"/>
              </a:lnSpc>
              <a:spcBef>
                <a:spcPts val="165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667105"/>
            <a:ext cx="150177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上述两式相</a:t>
            </a:r>
            <a:r>
              <a:rPr dirty="0" spc="-80"/>
              <a:t>减</a:t>
            </a:r>
            <a:r>
              <a:rPr dirty="0" spc="-185"/>
              <a:t>，</a:t>
            </a:r>
            <a:r>
              <a:rPr dirty="0" spc="-5"/>
              <a:t>可</a:t>
            </a:r>
            <a:r>
              <a:rPr dirty="0" spc="-90"/>
              <a:t>得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401" y="941842"/>
            <a:ext cx="2987040" cy="8305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031240">
              <a:lnSpc>
                <a:spcPct val="100000"/>
              </a:lnSpc>
              <a:spcBef>
                <a:spcPts val="265"/>
              </a:spcBef>
            </a:pPr>
            <a:r>
              <a:rPr dirty="0" baseline="-37878" sz="1650" spc="-44">
                <a:latin typeface="Georgia"/>
                <a:cs typeface="Georgia"/>
              </a:rPr>
              <a:t>[Y]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 </a:t>
            </a:r>
            <a:r>
              <a:rPr dirty="0" u="sng" sz="1100" spc="-2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r>
              <a:rPr dirty="0" u="sng" sz="1100" spc="-2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baseline="-13888" sz="900" spc="-30">
                <a:latin typeface="Times New Roman"/>
                <a:cs typeface="Times New Roman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-232">
                <a:latin typeface="Georgia"/>
                <a:cs typeface="Georgia"/>
              </a:rPr>
              <a:t> </a:t>
            </a:r>
            <a:r>
              <a:rPr dirty="0" baseline="-37878" sz="1650" spc="-127">
                <a:latin typeface="Georgia"/>
                <a:cs typeface="Georgia"/>
              </a:rPr>
              <a:t>[M]</a:t>
            </a:r>
            <a:endParaRPr baseline="-37878" sz="1650">
              <a:latin typeface="Georgia"/>
              <a:cs typeface="Georgia"/>
            </a:endParaRPr>
          </a:p>
          <a:p>
            <a:pPr marL="1695450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将上式带</a:t>
            </a:r>
            <a:r>
              <a:rPr dirty="0" sz="1200" spc="-260">
                <a:latin typeface="Arial Unicode MS"/>
                <a:cs typeface="Arial Unicode MS"/>
              </a:rPr>
              <a:t>入</a:t>
            </a:r>
            <a:r>
              <a:rPr dirty="0" sz="1200" spc="-65">
                <a:latin typeface="Arial Unicode MS"/>
                <a:cs typeface="Arial Unicode MS"/>
              </a:rPr>
              <a:t>（</a:t>
            </a:r>
            <a:r>
              <a:rPr dirty="0" sz="1100" spc="-65">
                <a:latin typeface="Georgia"/>
                <a:cs typeface="Georgia"/>
                <a:hlinkClick r:id="rId2" action="ppaction://hlinksldjump"/>
              </a:rPr>
              <a:t>12</a:t>
            </a:r>
            <a:r>
              <a:rPr dirty="0" sz="1200" spc="-65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</a:t>
            </a:r>
            <a:r>
              <a:rPr dirty="0" sz="1200" spc="175">
                <a:latin typeface="Arial Unicode MS"/>
                <a:cs typeface="Arial Unicode MS"/>
              </a:rPr>
              <a:t>令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5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V</a:t>
            </a:r>
            <a:r>
              <a:rPr dirty="0" baseline="-13888" sz="900" spc="-82" i="1">
                <a:latin typeface="Arial"/>
                <a:cs typeface="Arial"/>
              </a:rPr>
              <a:t>t</a:t>
            </a:r>
            <a:r>
              <a:rPr dirty="0" sz="1100" spc="-55" b="0" i="1">
                <a:latin typeface="Bookman Old Style"/>
                <a:cs typeface="Bookman Old Style"/>
              </a:rPr>
              <a:t>/V</a:t>
            </a:r>
            <a:r>
              <a:rPr dirty="0" baseline="-13888" sz="900" spc="-82">
                <a:latin typeface="Times New Roman"/>
                <a:cs typeface="Times New Roman"/>
              </a:rPr>
              <a:t>0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619" y="195521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935" y="1965210"/>
            <a:ext cx="15627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10285" algn="l"/>
              </a:tabLst>
            </a:pP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(MY)[M] 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(MY)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5596" y="1871484"/>
            <a:ext cx="83311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u="sng" sz="1100" spc="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26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2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4135" y="2060257"/>
            <a:ext cx="335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8666" y="1769872"/>
            <a:ext cx="187578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760220" algn="l"/>
              </a:tabLst>
            </a:pPr>
            <a:r>
              <a:rPr dirty="0" sz="1100" spc="-300">
                <a:latin typeface="Arial Unicode MS"/>
                <a:cs typeface="Arial Unicode MS"/>
              </a:rPr>
              <a:t>（</a:t>
            </a:r>
            <a:r>
              <a:rPr dirty="0" sz="1100" spc="-300">
                <a:latin typeface="Arial Unicode MS"/>
                <a:cs typeface="Arial Unicode MS"/>
              </a:rPr>
              <a:t>	</a:t>
            </a:r>
            <a:r>
              <a:rPr dirty="0" sz="1100" spc="-300">
                <a:latin typeface="Arial Unicode MS"/>
                <a:cs typeface="Arial Unicode MS"/>
              </a:rPr>
              <a:t>＼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8871" y="1965210"/>
            <a:ext cx="7010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85">
                <a:latin typeface="Georgia"/>
                <a:cs typeface="Georgia"/>
              </a:rPr>
              <a:t>[M]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0244" y="1848965"/>
            <a:ext cx="33591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u="sng" sz="1100" spc="-2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4149" y="1965210"/>
            <a:ext cx="241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583742"/>
            <a:ext cx="9258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上式的解</a:t>
            </a:r>
            <a:r>
              <a:rPr dirty="0" spc="-90"/>
              <a:t>为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2374" y="1015034"/>
            <a:ext cx="3759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5">
                <a:latin typeface="Georgia"/>
                <a:cs typeface="Georgia"/>
              </a:rPr>
              <a:t>[M]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108" y="921308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247" y="1110081"/>
            <a:ext cx="564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</a:t>
            </a:r>
            <a:r>
              <a:rPr dirty="0" sz="1100" spc="65">
                <a:latin typeface="Georgia"/>
                <a:cs typeface="Georgia"/>
              </a:rPr>
              <a:t>Y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247" y="819683"/>
            <a:ext cx="7048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660"/>
              </a:lnSpc>
              <a:spcBef>
                <a:spcPts val="90"/>
              </a:spcBef>
              <a:tabLst>
                <a:tab pos="58293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00">
              <a:latin typeface="Times New Roman"/>
              <a:cs typeface="Times New Roman"/>
            </a:endParaRPr>
          </a:p>
          <a:p>
            <a:pPr algn="r" marR="5080">
              <a:lnSpc>
                <a:spcPts val="660"/>
              </a:lnSpc>
            </a:pPr>
            <a:r>
              <a:rPr dirty="0" sz="1100" spc="-300">
                <a:latin typeface="Arial Unicode MS"/>
                <a:cs typeface="Arial Unicode MS"/>
              </a:rPr>
              <a:t>（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5493" y="1015034"/>
            <a:ext cx="726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0">
                <a:latin typeface="Lucida Sans Unicode"/>
                <a:cs typeface="Lucida Sans Unicode"/>
              </a:rPr>
              <a:t>−</a:t>
            </a:r>
            <a:r>
              <a:rPr dirty="0" sz="1100" spc="50">
                <a:latin typeface="Georgia"/>
                <a:cs typeface="Georgia"/>
              </a:rPr>
              <a:t>(</a:t>
            </a:r>
            <a:r>
              <a:rPr dirty="0" sz="1100" spc="50" b="0" i="1">
                <a:latin typeface="Bookman Old Style"/>
                <a:cs typeface="Bookman Old Style"/>
              </a:rPr>
              <a:t>K</a:t>
            </a:r>
            <a:r>
              <a:rPr dirty="0" sz="1100" spc="50">
                <a:latin typeface="Georgia"/>
                <a:cs typeface="Georgia"/>
              </a:rPr>
              <a:t>(MY)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2076" y="819683"/>
            <a:ext cx="86423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1060"/>
              </a:lnSpc>
              <a:spcBef>
                <a:spcPts val="90"/>
              </a:spcBef>
              <a:tabLst>
                <a:tab pos="8382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00">
              <a:latin typeface="Times New Roman"/>
              <a:cs typeface="Times New Roman"/>
            </a:endParaRPr>
          </a:p>
          <a:p>
            <a:pPr algn="ctr" marR="23495">
              <a:lnSpc>
                <a:spcPts val="1060"/>
              </a:lnSpc>
            </a:pPr>
            <a:r>
              <a:rPr dirty="0" sz="1100" spc="10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(Y)</a:t>
            </a:r>
            <a:r>
              <a:rPr dirty="0" sz="1100" spc="10" b="0" i="1">
                <a:latin typeface="Bookman Old Style"/>
                <a:cs typeface="Bookman Old Style"/>
              </a:rPr>
              <a:t>ρ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70">
                <a:latin typeface="Lucida Sans Unicode"/>
                <a:cs typeface="Lucida Sans Unicode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endParaRPr sz="1100">
              <a:latin typeface="Georgia"/>
              <a:cs typeface="Georgia"/>
            </a:endParaRPr>
          </a:p>
          <a:p>
            <a:pPr algn="ctr" marR="23495">
              <a:lnSpc>
                <a:spcPct val="100000"/>
              </a:lnSpc>
              <a:spcBef>
                <a:spcPts val="165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5351" y="1015034"/>
            <a:ext cx="618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00671" y="1371028"/>
            <a:ext cx="2952115" cy="0"/>
          </a:xfrm>
          <a:custGeom>
            <a:avLst/>
            <a:gdLst/>
            <a:ahLst/>
            <a:cxnLst/>
            <a:rect l="l" t="t" r="r" b="b"/>
            <a:pathLst>
              <a:path w="2952115" h="0">
                <a:moveTo>
                  <a:pt x="0" y="0"/>
                </a:moveTo>
                <a:lnTo>
                  <a:pt x="295164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24014" y="1222552"/>
            <a:ext cx="3168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70">
                <a:latin typeface="Arial Unicode MS"/>
                <a:cs typeface="Arial Unicode MS"/>
              </a:rPr>
              <a:t>j</a:t>
            </a:r>
            <a:r>
              <a:rPr dirty="0" baseline="-25252" sz="1650" spc="405">
                <a:latin typeface="Arial Unicode MS"/>
                <a:cs typeface="Arial Unicode MS"/>
              </a:rPr>
              <a:t>（</a:t>
            </a:r>
            <a:endParaRPr baseline="-25252" sz="165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1667" y="1481290"/>
            <a:ext cx="913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0680" algn="l"/>
              </a:tabLst>
            </a:pP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(MY)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4901" y="1387563"/>
            <a:ext cx="83311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u="sng" sz="1100" spc="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26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2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3427" y="1576324"/>
            <a:ext cx="335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0586" y="1285938"/>
            <a:ext cx="224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latin typeface="Arial Unicode MS"/>
                <a:cs typeface="Arial Unicode MS"/>
              </a:rPr>
              <a:t>＼</a:t>
            </a:r>
            <a:r>
              <a:rPr dirty="0" baseline="-18518" sz="900" spc="-179">
                <a:latin typeface="Times New Roman"/>
                <a:cs typeface="Times New Roman"/>
              </a:rPr>
              <a:t>2</a:t>
            </a:r>
            <a:endParaRPr baseline="-18518"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88791" y="1387563"/>
            <a:ext cx="5461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2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baseline="73232" sz="1650" spc="-225">
                <a:latin typeface="Arial Unicode MS"/>
                <a:cs typeface="Arial Unicode MS"/>
              </a:rPr>
              <a:t></a:t>
            </a:r>
            <a:endParaRPr baseline="73232" sz="165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02776" y="1481290"/>
            <a:ext cx="2005330" cy="2870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1035"/>
              </a:lnSpc>
              <a:spcBef>
                <a:spcPts val="90"/>
              </a:spcBef>
              <a:tabLst>
                <a:tab pos="431165" algn="l"/>
                <a:tab pos="1472565" algn="l"/>
              </a:tabLst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4</a:t>
            </a:r>
            <a:r>
              <a:rPr dirty="0" sz="1100" spc="45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(MY)	</a:t>
            </a:r>
            <a:r>
              <a:rPr dirty="0" baseline="12626" sz="1650" spc="-225">
                <a:latin typeface="Arial Unicode MS"/>
                <a:cs typeface="Arial Unicode MS"/>
              </a:rPr>
              <a:t></a:t>
            </a:r>
            <a:r>
              <a:rPr dirty="0" baseline="12626" sz="165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(13)</a:t>
            </a:r>
            <a:endParaRPr sz="1100">
              <a:latin typeface="Georgia"/>
              <a:cs typeface="Georgia"/>
            </a:endParaRPr>
          </a:p>
          <a:p>
            <a:pPr marL="1123950">
              <a:lnSpc>
                <a:spcPts val="1035"/>
              </a:lnSpc>
            </a:pP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444" y="2047925"/>
            <a:ext cx="423862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如果考虑副反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则只需将条件稳定常</a:t>
            </a:r>
            <a:r>
              <a:rPr dirty="0" sz="1200" spc="175">
                <a:latin typeface="Arial Unicode MS"/>
                <a:cs typeface="Arial Unicode MS"/>
              </a:rPr>
              <a:t>数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baseline="37037" sz="900" spc="97">
                <a:latin typeface="Lucida Sans Unicode"/>
                <a:cs typeface="Lucida Sans Unicode"/>
              </a:rPr>
              <a:t>t</a:t>
            </a:r>
            <a:r>
              <a:rPr dirty="0" sz="1100" spc="65">
                <a:latin typeface="Georgia"/>
                <a:cs typeface="Georgia"/>
              </a:rPr>
              <a:t>(MY)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替换上式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(MY)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即</a:t>
            </a:r>
            <a:r>
              <a:rPr dirty="0" sz="1200" spc="-260">
                <a:latin typeface="Arial Unicode MS"/>
                <a:cs typeface="Arial Unicode MS"/>
              </a:rPr>
              <a:t>可</a:t>
            </a:r>
            <a:r>
              <a:rPr dirty="0" sz="1200" spc="-5">
                <a:latin typeface="Arial Unicode MS"/>
                <a:cs typeface="Arial Unicode MS"/>
              </a:rPr>
              <a:t>（下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不再赘</a:t>
            </a:r>
            <a:r>
              <a:rPr dirty="0" sz="1200" spc="30">
                <a:latin typeface="Arial Unicode MS"/>
                <a:cs typeface="Arial Unicode MS"/>
              </a:rPr>
              <a:t>述</a:t>
            </a:r>
            <a:r>
              <a:rPr dirty="0" sz="1200" spc="-65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滴定曲线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1117987" y="645874"/>
            <a:ext cx="2584450" cy="0"/>
          </a:xfrm>
          <a:custGeom>
            <a:avLst/>
            <a:gdLst/>
            <a:ahLst/>
            <a:cxnLst/>
            <a:rect l="l" t="t" r="r" b="b"/>
            <a:pathLst>
              <a:path w="2584450" h="0">
                <a:moveTo>
                  <a:pt x="0" y="0"/>
                </a:moveTo>
                <a:lnTo>
                  <a:pt x="25841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17987" y="2683005"/>
            <a:ext cx="2584450" cy="0"/>
          </a:xfrm>
          <a:custGeom>
            <a:avLst/>
            <a:gdLst/>
            <a:ahLst/>
            <a:cxnLst/>
            <a:rect l="l" t="t" r="r" b="b"/>
            <a:pathLst>
              <a:path w="2584450" h="0">
                <a:moveTo>
                  <a:pt x="0" y="0"/>
                </a:moveTo>
                <a:lnTo>
                  <a:pt x="25841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02111" y="645874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20371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17987" y="645874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20371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7987" y="2683005"/>
            <a:ext cx="2584450" cy="0"/>
          </a:xfrm>
          <a:custGeom>
            <a:avLst/>
            <a:gdLst/>
            <a:ahLst/>
            <a:cxnLst/>
            <a:rect l="l" t="t" r="r" b="b"/>
            <a:pathLst>
              <a:path w="2584450" h="0">
                <a:moveTo>
                  <a:pt x="0" y="0"/>
                </a:moveTo>
                <a:lnTo>
                  <a:pt x="25841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17987" y="645874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20371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7987" y="265698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17987" y="64587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4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83116" y="2680906"/>
            <a:ext cx="704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63773" y="265698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63773" y="64587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4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695171" y="2680906"/>
            <a:ext cx="1384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>
                <a:latin typeface="Arial"/>
                <a:cs typeface="Arial"/>
              </a:rPr>
              <a:t>0.5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10046" y="265698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10046" y="64587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4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55838" y="265698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55838" y="64587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4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987234" y="2680906"/>
            <a:ext cx="1384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>
                <a:latin typeface="Arial"/>
                <a:cs typeface="Arial"/>
              </a:rPr>
              <a:t>1.5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02111" y="265698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02111" y="64587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4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667242" y="2680906"/>
            <a:ext cx="704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17987" y="268300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76086" y="268300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43597" y="2619218"/>
            <a:ext cx="704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17987" y="249745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76086" y="249745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17987" y="231239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676086" y="231239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17987" y="2127332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76086" y="2127332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17987" y="194179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676086" y="194179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043597" y="1878005"/>
            <a:ext cx="70485" cy="678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20"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20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2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17987" y="175672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76086" y="175672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043597" y="1692942"/>
            <a:ext cx="704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17987" y="157166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76086" y="157166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043597" y="1507880"/>
            <a:ext cx="704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17987" y="138660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76086" y="138660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043597" y="1322818"/>
            <a:ext cx="704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7</a:t>
            </a:r>
            <a:endParaRPr sz="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17987" y="120106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76086" y="120106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043597" y="1137274"/>
            <a:ext cx="704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8</a:t>
            </a:r>
            <a:endParaRPr sz="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117987" y="101599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76086" y="101599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117987" y="83093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76086" y="83093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17987" y="645874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676086" y="64587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998777" y="582086"/>
            <a:ext cx="115570" cy="4927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Arial"/>
                <a:cs typeface="Arial"/>
              </a:rPr>
              <a:t>11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600" spc="15">
                <a:latin typeface="Arial"/>
                <a:cs typeface="Arial"/>
              </a:rPr>
              <a:t>10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"/>
              <a:cs typeface="Arial"/>
            </a:endParaRPr>
          </a:p>
          <a:p>
            <a:pPr marL="57150">
              <a:lnSpc>
                <a:spcPct val="100000"/>
              </a:lnSpc>
            </a:pPr>
            <a:r>
              <a:rPr dirty="0" sz="600" spc="20">
                <a:latin typeface="Arial"/>
                <a:cs typeface="Arial"/>
              </a:rPr>
              <a:t>9</a:t>
            </a:r>
            <a:endParaRPr sz="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17987" y="645874"/>
            <a:ext cx="2584450" cy="0"/>
          </a:xfrm>
          <a:custGeom>
            <a:avLst/>
            <a:gdLst/>
            <a:ahLst/>
            <a:cxnLst/>
            <a:rect l="l" t="t" r="r" b="b"/>
            <a:pathLst>
              <a:path w="2584450" h="0">
                <a:moveTo>
                  <a:pt x="0" y="0"/>
                </a:moveTo>
                <a:lnTo>
                  <a:pt x="25841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17987" y="2683005"/>
            <a:ext cx="2584450" cy="0"/>
          </a:xfrm>
          <a:custGeom>
            <a:avLst/>
            <a:gdLst/>
            <a:ahLst/>
            <a:cxnLst/>
            <a:rect l="l" t="t" r="r" b="b"/>
            <a:pathLst>
              <a:path w="2584450" h="0">
                <a:moveTo>
                  <a:pt x="0" y="0"/>
                </a:moveTo>
                <a:lnTo>
                  <a:pt x="25841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702111" y="645874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20371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17987" y="645874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20371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422578" y="704666"/>
            <a:ext cx="1280160" cy="370840"/>
          </a:xfrm>
          <a:custGeom>
            <a:avLst/>
            <a:gdLst/>
            <a:ahLst/>
            <a:cxnLst/>
            <a:rect l="l" t="t" r="r" b="b"/>
            <a:pathLst>
              <a:path w="1280160" h="370840">
                <a:moveTo>
                  <a:pt x="0" y="370610"/>
                </a:moveTo>
                <a:lnTo>
                  <a:pt x="13012" y="314704"/>
                </a:lnTo>
                <a:lnTo>
                  <a:pt x="33035" y="268463"/>
                </a:lnTo>
                <a:lnTo>
                  <a:pt x="61664" y="230046"/>
                </a:lnTo>
                <a:lnTo>
                  <a:pt x="97277" y="198463"/>
                </a:lnTo>
                <a:lnTo>
                  <a:pt x="138254" y="172726"/>
                </a:lnTo>
                <a:lnTo>
                  <a:pt x="182973" y="151843"/>
                </a:lnTo>
                <a:lnTo>
                  <a:pt x="229814" y="134827"/>
                </a:lnTo>
                <a:lnTo>
                  <a:pt x="277156" y="120687"/>
                </a:lnTo>
                <a:lnTo>
                  <a:pt x="323379" y="108434"/>
                </a:lnTo>
                <a:lnTo>
                  <a:pt x="376607" y="96753"/>
                </a:lnTo>
                <a:lnTo>
                  <a:pt x="430201" y="86332"/>
                </a:lnTo>
                <a:lnTo>
                  <a:pt x="484064" y="77032"/>
                </a:lnTo>
                <a:lnTo>
                  <a:pt x="538096" y="68713"/>
                </a:lnTo>
                <a:lnTo>
                  <a:pt x="592198" y="61236"/>
                </a:lnTo>
                <a:lnTo>
                  <a:pt x="646272" y="54460"/>
                </a:lnTo>
                <a:lnTo>
                  <a:pt x="694805" y="48699"/>
                </a:lnTo>
                <a:lnTo>
                  <a:pt x="743390" y="43310"/>
                </a:lnTo>
                <a:lnTo>
                  <a:pt x="792020" y="38265"/>
                </a:lnTo>
                <a:lnTo>
                  <a:pt x="840689" y="33531"/>
                </a:lnTo>
                <a:lnTo>
                  <a:pt x="889393" y="29080"/>
                </a:lnTo>
                <a:lnTo>
                  <a:pt x="938124" y="24881"/>
                </a:lnTo>
                <a:lnTo>
                  <a:pt x="986878" y="20903"/>
                </a:lnTo>
                <a:lnTo>
                  <a:pt x="1035648" y="17117"/>
                </a:lnTo>
                <a:lnTo>
                  <a:pt x="1084427" y="13492"/>
                </a:lnTo>
                <a:lnTo>
                  <a:pt x="1133212" y="9998"/>
                </a:lnTo>
                <a:lnTo>
                  <a:pt x="1181995" y="6605"/>
                </a:lnTo>
                <a:lnTo>
                  <a:pt x="1230770" y="3282"/>
                </a:lnTo>
                <a:lnTo>
                  <a:pt x="1279532" y="0"/>
                </a:lnTo>
              </a:path>
            </a:pathLst>
          </a:custGeom>
          <a:ln w="115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43525" y="1075276"/>
            <a:ext cx="1279525" cy="1233805"/>
          </a:xfrm>
          <a:custGeom>
            <a:avLst/>
            <a:gdLst/>
            <a:ahLst/>
            <a:cxnLst/>
            <a:rect l="l" t="t" r="r" b="b"/>
            <a:pathLst>
              <a:path w="1279525" h="1233805">
                <a:moveTo>
                  <a:pt x="0" y="1233747"/>
                </a:moveTo>
                <a:lnTo>
                  <a:pt x="51777" y="1227357"/>
                </a:lnTo>
                <a:lnTo>
                  <a:pt x="103552" y="1220925"/>
                </a:lnTo>
                <a:lnTo>
                  <a:pt x="155319" y="1214428"/>
                </a:lnTo>
                <a:lnTo>
                  <a:pt x="207074" y="1207840"/>
                </a:lnTo>
                <a:lnTo>
                  <a:pt x="258814" y="1201137"/>
                </a:lnTo>
                <a:lnTo>
                  <a:pt x="310536" y="1194294"/>
                </a:lnTo>
                <a:lnTo>
                  <a:pt x="362234" y="1187286"/>
                </a:lnTo>
                <a:lnTo>
                  <a:pt x="413906" y="1180090"/>
                </a:lnTo>
                <a:lnTo>
                  <a:pt x="465547" y="1172680"/>
                </a:lnTo>
                <a:lnTo>
                  <a:pt x="517153" y="1165033"/>
                </a:lnTo>
                <a:lnTo>
                  <a:pt x="568722" y="1157122"/>
                </a:lnTo>
                <a:lnTo>
                  <a:pt x="620248" y="1148925"/>
                </a:lnTo>
                <a:lnTo>
                  <a:pt x="672247" y="1139946"/>
                </a:lnTo>
                <a:lnTo>
                  <a:pt x="724169" y="1130463"/>
                </a:lnTo>
                <a:lnTo>
                  <a:pt x="775965" y="1120319"/>
                </a:lnTo>
                <a:lnTo>
                  <a:pt x="827590" y="1109357"/>
                </a:lnTo>
                <a:lnTo>
                  <a:pt x="878995" y="1097420"/>
                </a:lnTo>
                <a:lnTo>
                  <a:pt x="930135" y="1084349"/>
                </a:lnTo>
                <a:lnTo>
                  <a:pt x="976528" y="1070395"/>
                </a:lnTo>
                <a:lnTo>
                  <a:pt x="1024000" y="1054544"/>
                </a:lnTo>
                <a:lnTo>
                  <a:pt x="1070926" y="1035866"/>
                </a:lnTo>
                <a:lnTo>
                  <a:pt x="1115681" y="1013429"/>
                </a:lnTo>
                <a:lnTo>
                  <a:pt x="1156640" y="986302"/>
                </a:lnTo>
                <a:lnTo>
                  <a:pt x="1192179" y="953556"/>
                </a:lnTo>
                <a:lnTo>
                  <a:pt x="1220672" y="914258"/>
                </a:lnTo>
                <a:lnTo>
                  <a:pt x="1240496" y="867479"/>
                </a:lnTo>
                <a:lnTo>
                  <a:pt x="1253508" y="811573"/>
                </a:lnTo>
                <a:lnTo>
                  <a:pt x="1266520" y="405303"/>
                </a:lnTo>
                <a:lnTo>
                  <a:pt x="1279052" y="0"/>
                </a:lnTo>
              </a:path>
            </a:pathLst>
          </a:custGeom>
          <a:ln w="115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17987" y="2309023"/>
            <a:ext cx="26034" cy="3810"/>
          </a:xfrm>
          <a:custGeom>
            <a:avLst/>
            <a:gdLst/>
            <a:ahLst/>
            <a:cxnLst/>
            <a:rect l="l" t="t" r="r" b="b"/>
            <a:pathLst>
              <a:path w="26034" h="3810">
                <a:moveTo>
                  <a:pt x="0" y="3371"/>
                </a:moveTo>
                <a:lnTo>
                  <a:pt x="12526" y="1925"/>
                </a:lnTo>
                <a:lnTo>
                  <a:pt x="25538" y="0"/>
                </a:lnTo>
              </a:path>
            </a:pathLst>
          </a:custGeom>
          <a:ln w="115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371323" y="2680906"/>
            <a:ext cx="76200" cy="2152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6510">
              <a:lnSpc>
                <a:spcPts val="665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85"/>
              </a:lnSpc>
            </a:pPr>
            <a:r>
              <a:rPr dirty="0" sz="700" spc="15">
                <a:latin typeface="Symbol"/>
                <a:cs typeface="Symbol"/>
              </a:rPr>
              <a:t></a:t>
            </a:r>
            <a:endParaRPr sz="700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68204" y="1569399"/>
            <a:ext cx="130810" cy="190500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 spc="-5" b="1">
                <a:latin typeface="Times New Roman"/>
                <a:cs typeface="Times New Roman"/>
              </a:rPr>
              <a:t>pCa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392505" y="1463982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>
                <a:moveTo>
                  <a:pt x="34699" y="17349"/>
                </a:moveTo>
                <a:lnTo>
                  <a:pt x="34699" y="26926"/>
                </a:lnTo>
                <a:lnTo>
                  <a:pt x="26926" y="34699"/>
                </a:lnTo>
                <a:lnTo>
                  <a:pt x="17349" y="34699"/>
                </a:lnTo>
                <a:lnTo>
                  <a:pt x="7772" y="34699"/>
                </a:lnTo>
                <a:lnTo>
                  <a:pt x="0" y="26926"/>
                </a:lnTo>
                <a:lnTo>
                  <a:pt x="0" y="17349"/>
                </a:lnTo>
                <a:lnTo>
                  <a:pt x="0" y="7772"/>
                </a:lnTo>
                <a:lnTo>
                  <a:pt x="7772" y="0"/>
                </a:lnTo>
                <a:lnTo>
                  <a:pt x="17349" y="0"/>
                </a:lnTo>
                <a:lnTo>
                  <a:pt x="26926" y="0"/>
                </a:lnTo>
                <a:lnTo>
                  <a:pt x="34699" y="7772"/>
                </a:lnTo>
                <a:lnTo>
                  <a:pt x="34699" y="17349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393662" y="1260338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 h="0">
                <a:moveTo>
                  <a:pt x="0" y="0"/>
                </a:moveTo>
                <a:lnTo>
                  <a:pt x="34699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411012" y="1242989"/>
            <a:ext cx="0" cy="34925"/>
          </a:xfrm>
          <a:custGeom>
            <a:avLst/>
            <a:gdLst/>
            <a:ahLst/>
            <a:cxnLst/>
            <a:rect l="l" t="t" r="r" b="b"/>
            <a:pathLst>
              <a:path w="0" h="34925">
                <a:moveTo>
                  <a:pt x="0" y="0"/>
                </a:moveTo>
                <a:lnTo>
                  <a:pt x="0" y="34699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398965" y="1248286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0" y="0"/>
                </a:moveTo>
                <a:lnTo>
                  <a:pt x="24092" y="24098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398965" y="1248286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24092" y="0"/>
                </a:moveTo>
                <a:lnTo>
                  <a:pt x="0" y="24098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391250" y="1701307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 h="0">
                <a:moveTo>
                  <a:pt x="0" y="0"/>
                </a:moveTo>
                <a:lnTo>
                  <a:pt x="34699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408600" y="1683958"/>
            <a:ext cx="0" cy="34925"/>
          </a:xfrm>
          <a:custGeom>
            <a:avLst/>
            <a:gdLst/>
            <a:ahLst/>
            <a:cxnLst/>
            <a:rect l="l" t="t" r="r" b="b"/>
            <a:pathLst>
              <a:path w="0" h="34925">
                <a:moveTo>
                  <a:pt x="0" y="0"/>
                </a:moveTo>
                <a:lnTo>
                  <a:pt x="0" y="34699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396554" y="1689255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0" y="0"/>
                </a:moveTo>
                <a:lnTo>
                  <a:pt x="24098" y="24098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396554" y="1689255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24098" y="0"/>
                </a:moveTo>
                <a:lnTo>
                  <a:pt x="0" y="24098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1584326" y="1417277"/>
            <a:ext cx="35750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 b="1">
                <a:latin typeface="Times New Roman"/>
                <a:cs typeface="Times New Roman"/>
              </a:rPr>
              <a:t>pCa=6.50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751571" y="1626919"/>
            <a:ext cx="35750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 b="1">
                <a:latin typeface="Times New Roman"/>
                <a:cs typeface="Times New Roman"/>
              </a:rPr>
              <a:t>pCa=5.30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470260" y="1177759"/>
            <a:ext cx="65214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213995" algn="l"/>
              </a:tabLst>
            </a:pPr>
            <a:r>
              <a:rPr dirty="0" u="sng" baseline="27777" sz="90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27777" sz="90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baseline="27777" sz="900" spc="7">
                <a:latin typeface="Times New Roman"/>
                <a:cs typeface="Times New Roman"/>
              </a:rPr>
              <a:t>   </a:t>
            </a:r>
            <a:r>
              <a:rPr dirty="0" baseline="27777" sz="900" spc="-104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pCa=7.68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143059" y="1475763"/>
            <a:ext cx="153035" cy="5080"/>
          </a:xfrm>
          <a:custGeom>
            <a:avLst/>
            <a:gdLst/>
            <a:ahLst/>
            <a:cxnLst/>
            <a:rect l="l" t="t" r="r" b="b"/>
            <a:pathLst>
              <a:path w="153035" h="5080">
                <a:moveTo>
                  <a:pt x="0" y="0"/>
                </a:moveTo>
                <a:lnTo>
                  <a:pt x="152768" y="4817"/>
                </a:lnTo>
              </a:path>
            </a:pathLst>
          </a:custGeom>
          <a:ln w="115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275106" y="1458413"/>
            <a:ext cx="58419" cy="43815"/>
          </a:xfrm>
          <a:custGeom>
            <a:avLst/>
            <a:gdLst/>
            <a:ahLst/>
            <a:cxnLst/>
            <a:rect l="l" t="t" r="r" b="b"/>
            <a:pathLst>
              <a:path w="58419" h="43815">
                <a:moveTo>
                  <a:pt x="1445" y="0"/>
                </a:moveTo>
                <a:lnTo>
                  <a:pt x="20721" y="22167"/>
                </a:lnTo>
                <a:lnTo>
                  <a:pt x="0" y="43373"/>
                </a:lnTo>
                <a:lnTo>
                  <a:pt x="58311" y="23132"/>
                </a:lnTo>
                <a:lnTo>
                  <a:pt x="14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490051" y="1691187"/>
            <a:ext cx="165735" cy="5080"/>
          </a:xfrm>
          <a:custGeom>
            <a:avLst/>
            <a:gdLst/>
            <a:ahLst/>
            <a:cxnLst/>
            <a:rect l="l" t="t" r="r" b="b"/>
            <a:pathLst>
              <a:path w="165735" h="5080">
                <a:moveTo>
                  <a:pt x="165301" y="4817"/>
                </a:moveTo>
                <a:lnTo>
                  <a:pt x="0" y="0"/>
                </a:lnTo>
              </a:path>
            </a:pathLst>
          </a:custGeom>
          <a:ln w="115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452940" y="1669980"/>
            <a:ext cx="58419" cy="43815"/>
          </a:xfrm>
          <a:custGeom>
            <a:avLst/>
            <a:gdLst/>
            <a:ahLst/>
            <a:cxnLst/>
            <a:rect l="l" t="t" r="r" b="b"/>
            <a:pathLst>
              <a:path w="58419" h="43814">
                <a:moveTo>
                  <a:pt x="58311" y="0"/>
                </a:moveTo>
                <a:lnTo>
                  <a:pt x="0" y="19761"/>
                </a:lnTo>
                <a:lnTo>
                  <a:pt x="56866" y="43373"/>
                </a:lnTo>
                <a:lnTo>
                  <a:pt x="37110" y="21206"/>
                </a:lnTo>
                <a:lnTo>
                  <a:pt x="58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470769" y="1228045"/>
            <a:ext cx="58419" cy="43815"/>
          </a:xfrm>
          <a:custGeom>
            <a:avLst/>
            <a:gdLst/>
            <a:ahLst/>
            <a:cxnLst/>
            <a:rect l="l" t="t" r="r" b="b"/>
            <a:pathLst>
              <a:path w="58419" h="43815">
                <a:moveTo>
                  <a:pt x="57831" y="0"/>
                </a:moveTo>
                <a:lnTo>
                  <a:pt x="0" y="21686"/>
                </a:lnTo>
                <a:lnTo>
                  <a:pt x="57831" y="43373"/>
                </a:lnTo>
                <a:lnTo>
                  <a:pt x="37590" y="21686"/>
                </a:lnTo>
                <a:lnTo>
                  <a:pt x="578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477570" y="3071393"/>
            <a:ext cx="3653154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4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20">
                <a:solidFill>
                  <a:srgbClr val="3333B2"/>
                </a:solidFill>
                <a:latin typeface="Georgia"/>
                <a:cs typeface="Georgia"/>
              </a:rPr>
              <a:t>7: </a:t>
            </a:r>
            <a:r>
              <a:rPr dirty="0" sz="1000" spc="-75">
                <a:latin typeface="Georgia"/>
                <a:cs typeface="Georgia"/>
              </a:rPr>
              <a:t>0.01000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mol/L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160">
                <a:latin typeface="Arial Unicode MS"/>
                <a:cs typeface="Arial Unicode MS"/>
              </a:rPr>
              <a:t>定</a:t>
            </a:r>
            <a:r>
              <a:rPr dirty="0" sz="1000" spc="-75">
                <a:latin typeface="Georgia"/>
                <a:cs typeface="Georgia"/>
              </a:rPr>
              <a:t>0.01000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mol/L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00" spc="80">
                <a:latin typeface="Georgia"/>
                <a:cs typeface="Georgia"/>
              </a:rPr>
              <a:t>Ca</a:t>
            </a:r>
            <a:r>
              <a:rPr dirty="0" baseline="27777" sz="1050" spc="120">
                <a:latin typeface="Times New Roman"/>
                <a:cs typeface="Times New Roman"/>
              </a:rPr>
              <a:t>2+</a:t>
            </a:r>
            <a:r>
              <a:rPr dirty="0" baseline="27777" sz="1050" spc="60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的滴定</a:t>
            </a:r>
            <a:r>
              <a:rPr dirty="0" sz="1050" spc="-10">
                <a:latin typeface="Arial Unicode MS"/>
                <a:cs typeface="Arial Unicode MS"/>
              </a:rPr>
              <a:t>曲</a:t>
            </a:r>
            <a:r>
              <a:rPr dirty="0" sz="1050" spc="-5">
                <a:latin typeface="Arial Unicode MS"/>
                <a:cs typeface="Arial Unicode MS"/>
              </a:rPr>
              <a:t>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6" name="object 8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7" name="object 8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955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稳定常数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4488" y="645338"/>
            <a:ext cx="2564130" cy="0"/>
          </a:xfrm>
          <a:custGeom>
            <a:avLst/>
            <a:gdLst/>
            <a:ahLst/>
            <a:cxnLst/>
            <a:rect l="l" t="t" r="r" b="b"/>
            <a:pathLst>
              <a:path w="2564129" h="0">
                <a:moveTo>
                  <a:pt x="0" y="0"/>
                </a:moveTo>
                <a:lnTo>
                  <a:pt x="25635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04488" y="2666231"/>
            <a:ext cx="2564130" cy="0"/>
          </a:xfrm>
          <a:custGeom>
            <a:avLst/>
            <a:gdLst/>
            <a:ahLst/>
            <a:cxnLst/>
            <a:rect l="l" t="t" r="r" b="b"/>
            <a:pathLst>
              <a:path w="2564129" h="0">
                <a:moveTo>
                  <a:pt x="0" y="0"/>
                </a:moveTo>
                <a:lnTo>
                  <a:pt x="25635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68012" y="645338"/>
            <a:ext cx="0" cy="2021205"/>
          </a:xfrm>
          <a:custGeom>
            <a:avLst/>
            <a:gdLst/>
            <a:ahLst/>
            <a:cxnLst/>
            <a:rect l="l" t="t" r="r" b="b"/>
            <a:pathLst>
              <a:path w="0" h="2021205">
                <a:moveTo>
                  <a:pt x="0" y="202089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4488" y="645338"/>
            <a:ext cx="0" cy="2021205"/>
          </a:xfrm>
          <a:custGeom>
            <a:avLst/>
            <a:gdLst/>
            <a:ahLst/>
            <a:cxnLst/>
            <a:rect l="l" t="t" r="r" b="b"/>
            <a:pathLst>
              <a:path w="0" h="2021205">
                <a:moveTo>
                  <a:pt x="0" y="202089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04488" y="2666231"/>
            <a:ext cx="2564130" cy="0"/>
          </a:xfrm>
          <a:custGeom>
            <a:avLst/>
            <a:gdLst/>
            <a:ahLst/>
            <a:cxnLst/>
            <a:rect l="l" t="t" r="r" b="b"/>
            <a:pathLst>
              <a:path w="2564129" h="0">
                <a:moveTo>
                  <a:pt x="0" y="0"/>
                </a:moveTo>
                <a:lnTo>
                  <a:pt x="25635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04488" y="645338"/>
            <a:ext cx="0" cy="2021205"/>
          </a:xfrm>
          <a:custGeom>
            <a:avLst/>
            <a:gdLst/>
            <a:ahLst/>
            <a:cxnLst/>
            <a:rect l="l" t="t" r="r" b="b"/>
            <a:pathLst>
              <a:path w="0" h="2021205">
                <a:moveTo>
                  <a:pt x="0" y="202089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04488" y="264041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04488" y="645338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69794" y="2664047"/>
            <a:ext cx="7048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58833" y="264041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58833" y="645338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890677" y="2664047"/>
            <a:ext cx="13716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Arial"/>
                <a:cs typeface="Arial"/>
              </a:rPr>
              <a:t>0.5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13185" y="264041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13185" y="645338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778493" y="2664047"/>
            <a:ext cx="7048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68012" y="264041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68012" y="645338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599854" y="2664047"/>
            <a:ext cx="13716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Arial"/>
                <a:cs typeface="Arial"/>
              </a:rPr>
              <a:t>1.5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4488" y="2666231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42195" y="266623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1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30590" y="2602851"/>
            <a:ext cx="7048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4488" y="237746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42195" y="237746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1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04488" y="208869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42195" y="208869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1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04488" y="179992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642195" y="179992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1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030590" y="1736549"/>
            <a:ext cx="7048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04488" y="151115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642195" y="151115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1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030590" y="1447782"/>
            <a:ext cx="7048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8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04488" y="122239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42195" y="1222392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1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86128" y="1159014"/>
            <a:ext cx="11493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Arial"/>
                <a:cs typeface="Arial"/>
              </a:rPr>
              <a:t>10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04488" y="93362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42195" y="93362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1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986128" y="870247"/>
            <a:ext cx="11493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04488" y="64533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42195" y="64533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1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986128" y="581958"/>
            <a:ext cx="11493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04488" y="645338"/>
            <a:ext cx="2564130" cy="0"/>
          </a:xfrm>
          <a:custGeom>
            <a:avLst/>
            <a:gdLst/>
            <a:ahLst/>
            <a:cxnLst/>
            <a:rect l="l" t="t" r="r" b="b"/>
            <a:pathLst>
              <a:path w="2564129" h="0">
                <a:moveTo>
                  <a:pt x="0" y="0"/>
                </a:moveTo>
                <a:lnTo>
                  <a:pt x="25635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04488" y="2666231"/>
            <a:ext cx="2564130" cy="0"/>
          </a:xfrm>
          <a:custGeom>
            <a:avLst/>
            <a:gdLst/>
            <a:ahLst/>
            <a:cxnLst/>
            <a:rect l="l" t="t" r="r" b="b"/>
            <a:pathLst>
              <a:path w="2564129" h="0">
                <a:moveTo>
                  <a:pt x="0" y="0"/>
                </a:moveTo>
                <a:lnTo>
                  <a:pt x="25635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68012" y="645338"/>
            <a:ext cx="0" cy="2021205"/>
          </a:xfrm>
          <a:custGeom>
            <a:avLst/>
            <a:gdLst/>
            <a:ahLst/>
            <a:cxnLst/>
            <a:rect l="l" t="t" r="r" b="b"/>
            <a:pathLst>
              <a:path w="0" h="2021205">
                <a:moveTo>
                  <a:pt x="0" y="202089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104488" y="645338"/>
            <a:ext cx="0" cy="2021205"/>
          </a:xfrm>
          <a:custGeom>
            <a:avLst/>
            <a:gdLst/>
            <a:ahLst/>
            <a:cxnLst/>
            <a:rect l="l" t="t" r="r" b="b"/>
            <a:pathLst>
              <a:path w="0" h="2021205">
                <a:moveTo>
                  <a:pt x="0" y="202089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976045" y="2295706"/>
            <a:ext cx="1692275" cy="43815"/>
          </a:xfrm>
          <a:custGeom>
            <a:avLst/>
            <a:gdLst/>
            <a:ahLst/>
            <a:cxnLst/>
            <a:rect l="l" t="t" r="r" b="b"/>
            <a:pathLst>
              <a:path w="1692275" h="43814">
                <a:moveTo>
                  <a:pt x="0" y="43510"/>
                </a:moveTo>
                <a:lnTo>
                  <a:pt x="51249" y="41712"/>
                </a:lnTo>
                <a:lnTo>
                  <a:pt x="102502" y="39953"/>
                </a:lnTo>
                <a:lnTo>
                  <a:pt x="153758" y="38233"/>
                </a:lnTo>
                <a:lnTo>
                  <a:pt x="205016" y="36549"/>
                </a:lnTo>
                <a:lnTo>
                  <a:pt x="256277" y="34903"/>
                </a:lnTo>
                <a:lnTo>
                  <a:pt x="307540" y="33291"/>
                </a:lnTo>
                <a:lnTo>
                  <a:pt x="358805" y="31715"/>
                </a:lnTo>
                <a:lnTo>
                  <a:pt x="410072" y="30172"/>
                </a:lnTo>
                <a:lnTo>
                  <a:pt x="461341" y="28662"/>
                </a:lnTo>
                <a:lnTo>
                  <a:pt x="512611" y="27184"/>
                </a:lnTo>
                <a:lnTo>
                  <a:pt x="563883" y="25737"/>
                </a:lnTo>
                <a:lnTo>
                  <a:pt x="615157" y="24321"/>
                </a:lnTo>
                <a:lnTo>
                  <a:pt x="666432" y="22934"/>
                </a:lnTo>
                <a:lnTo>
                  <a:pt x="717708" y="21575"/>
                </a:lnTo>
                <a:lnTo>
                  <a:pt x="768985" y="20244"/>
                </a:lnTo>
                <a:lnTo>
                  <a:pt x="820262" y="18940"/>
                </a:lnTo>
                <a:lnTo>
                  <a:pt x="871541" y="17661"/>
                </a:lnTo>
                <a:lnTo>
                  <a:pt x="922820" y="16408"/>
                </a:lnTo>
                <a:lnTo>
                  <a:pt x="974099" y="15178"/>
                </a:lnTo>
                <a:lnTo>
                  <a:pt x="1025379" y="13972"/>
                </a:lnTo>
                <a:lnTo>
                  <a:pt x="1076658" y="12788"/>
                </a:lnTo>
                <a:lnTo>
                  <a:pt x="1127938" y="11625"/>
                </a:lnTo>
                <a:lnTo>
                  <a:pt x="1179217" y="10483"/>
                </a:lnTo>
                <a:lnTo>
                  <a:pt x="1230496" y="9361"/>
                </a:lnTo>
                <a:lnTo>
                  <a:pt x="1281775" y="8258"/>
                </a:lnTo>
                <a:lnTo>
                  <a:pt x="1333053" y="7172"/>
                </a:lnTo>
                <a:lnTo>
                  <a:pt x="1384330" y="6103"/>
                </a:lnTo>
                <a:lnTo>
                  <a:pt x="1435606" y="5051"/>
                </a:lnTo>
                <a:lnTo>
                  <a:pt x="1486881" y="4014"/>
                </a:lnTo>
                <a:lnTo>
                  <a:pt x="1538155" y="2991"/>
                </a:lnTo>
                <a:lnTo>
                  <a:pt x="1589427" y="1981"/>
                </a:lnTo>
                <a:lnTo>
                  <a:pt x="1640698" y="985"/>
                </a:lnTo>
                <a:lnTo>
                  <a:pt x="1691967" y="0"/>
                </a:lnTo>
              </a:path>
            </a:pathLst>
          </a:custGeom>
          <a:ln w="114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104488" y="2339216"/>
            <a:ext cx="871855" cy="38735"/>
          </a:xfrm>
          <a:custGeom>
            <a:avLst/>
            <a:gdLst/>
            <a:ahLst/>
            <a:cxnLst/>
            <a:rect l="l" t="t" r="r" b="b"/>
            <a:pathLst>
              <a:path w="871855" h="38735">
                <a:moveTo>
                  <a:pt x="0" y="38243"/>
                </a:moveTo>
                <a:lnTo>
                  <a:pt x="51227" y="35434"/>
                </a:lnTo>
                <a:lnTo>
                  <a:pt x="102463" y="32704"/>
                </a:lnTo>
                <a:lnTo>
                  <a:pt x="153709" y="30049"/>
                </a:lnTo>
                <a:lnTo>
                  <a:pt x="204963" y="27469"/>
                </a:lnTo>
                <a:lnTo>
                  <a:pt x="256223" y="24962"/>
                </a:lnTo>
                <a:lnTo>
                  <a:pt x="307490" y="22526"/>
                </a:lnTo>
                <a:lnTo>
                  <a:pt x="358762" y="20161"/>
                </a:lnTo>
                <a:lnTo>
                  <a:pt x="410038" y="17863"/>
                </a:lnTo>
                <a:lnTo>
                  <a:pt x="461317" y="15633"/>
                </a:lnTo>
                <a:lnTo>
                  <a:pt x="512598" y="13467"/>
                </a:lnTo>
                <a:lnTo>
                  <a:pt x="563881" y="11365"/>
                </a:lnTo>
                <a:lnTo>
                  <a:pt x="615165" y="9325"/>
                </a:lnTo>
                <a:lnTo>
                  <a:pt x="666448" y="7345"/>
                </a:lnTo>
                <a:lnTo>
                  <a:pt x="717729" y="5425"/>
                </a:lnTo>
                <a:lnTo>
                  <a:pt x="769009" y="3561"/>
                </a:lnTo>
                <a:lnTo>
                  <a:pt x="820285" y="1753"/>
                </a:lnTo>
                <a:lnTo>
                  <a:pt x="871556" y="0"/>
                </a:lnTo>
              </a:path>
            </a:pathLst>
          </a:custGeom>
          <a:ln w="114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976045" y="2124075"/>
            <a:ext cx="1692275" cy="184785"/>
          </a:xfrm>
          <a:custGeom>
            <a:avLst/>
            <a:gdLst/>
            <a:ahLst/>
            <a:cxnLst/>
            <a:rect l="l" t="t" r="r" b="b"/>
            <a:pathLst>
              <a:path w="1692275" h="184785">
                <a:moveTo>
                  <a:pt x="0" y="184539"/>
                </a:moveTo>
                <a:lnTo>
                  <a:pt x="49569" y="180042"/>
                </a:lnTo>
                <a:lnTo>
                  <a:pt x="99057" y="175320"/>
                </a:lnTo>
                <a:lnTo>
                  <a:pt x="148473" y="170381"/>
                </a:lnTo>
                <a:lnTo>
                  <a:pt x="197824" y="165233"/>
                </a:lnTo>
                <a:lnTo>
                  <a:pt x="247118" y="159882"/>
                </a:lnTo>
                <a:lnTo>
                  <a:pt x="296364" y="154337"/>
                </a:lnTo>
                <a:lnTo>
                  <a:pt x="345569" y="148605"/>
                </a:lnTo>
                <a:lnTo>
                  <a:pt x="394742" y="142694"/>
                </a:lnTo>
                <a:lnTo>
                  <a:pt x="443890" y="136612"/>
                </a:lnTo>
                <a:lnTo>
                  <a:pt x="493020" y="130366"/>
                </a:lnTo>
                <a:lnTo>
                  <a:pt x="542143" y="123965"/>
                </a:lnTo>
                <a:lnTo>
                  <a:pt x="591264" y="117414"/>
                </a:lnTo>
                <a:lnTo>
                  <a:pt x="640393" y="110723"/>
                </a:lnTo>
                <a:lnTo>
                  <a:pt x="689537" y="103899"/>
                </a:lnTo>
                <a:lnTo>
                  <a:pt x="738704" y="96950"/>
                </a:lnTo>
                <a:lnTo>
                  <a:pt x="787902" y="89883"/>
                </a:lnTo>
                <a:lnTo>
                  <a:pt x="837140" y="82706"/>
                </a:lnTo>
                <a:lnTo>
                  <a:pt x="887191" y="75714"/>
                </a:lnTo>
                <a:lnTo>
                  <a:pt x="937282" y="69031"/>
                </a:lnTo>
                <a:lnTo>
                  <a:pt x="987410" y="62650"/>
                </a:lnTo>
                <a:lnTo>
                  <a:pt x="1037573" y="56562"/>
                </a:lnTo>
                <a:lnTo>
                  <a:pt x="1087770" y="50756"/>
                </a:lnTo>
                <a:lnTo>
                  <a:pt x="1137997" y="45225"/>
                </a:lnTo>
                <a:lnTo>
                  <a:pt x="1188254" y="39961"/>
                </a:lnTo>
                <a:lnTo>
                  <a:pt x="1238537" y="34953"/>
                </a:lnTo>
                <a:lnTo>
                  <a:pt x="1288846" y="30193"/>
                </a:lnTo>
                <a:lnTo>
                  <a:pt x="1339177" y="25673"/>
                </a:lnTo>
                <a:lnTo>
                  <a:pt x="1389530" y="21384"/>
                </a:lnTo>
                <a:lnTo>
                  <a:pt x="1439901" y="17316"/>
                </a:lnTo>
                <a:lnTo>
                  <a:pt x="1490289" y="13462"/>
                </a:lnTo>
                <a:lnTo>
                  <a:pt x="1540691" y="9812"/>
                </a:lnTo>
                <a:lnTo>
                  <a:pt x="1591107" y="6357"/>
                </a:lnTo>
                <a:lnTo>
                  <a:pt x="1641533" y="3089"/>
                </a:lnTo>
                <a:lnTo>
                  <a:pt x="1691967" y="0"/>
                </a:lnTo>
              </a:path>
            </a:pathLst>
          </a:custGeom>
          <a:ln w="11474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04488" y="2308614"/>
            <a:ext cx="871855" cy="69215"/>
          </a:xfrm>
          <a:custGeom>
            <a:avLst/>
            <a:gdLst/>
            <a:ahLst/>
            <a:cxnLst/>
            <a:rect l="l" t="t" r="r" b="b"/>
            <a:pathLst>
              <a:path w="871855" h="69214">
                <a:moveTo>
                  <a:pt x="0" y="68845"/>
                </a:moveTo>
                <a:lnTo>
                  <a:pt x="51295" y="65056"/>
                </a:lnTo>
                <a:lnTo>
                  <a:pt x="102587" y="61271"/>
                </a:lnTo>
                <a:lnTo>
                  <a:pt x="153876" y="57483"/>
                </a:lnTo>
                <a:lnTo>
                  <a:pt x="205163" y="53683"/>
                </a:lnTo>
                <a:lnTo>
                  <a:pt x="256446" y="49865"/>
                </a:lnTo>
                <a:lnTo>
                  <a:pt x="307725" y="46022"/>
                </a:lnTo>
                <a:lnTo>
                  <a:pt x="359001" y="42146"/>
                </a:lnTo>
                <a:lnTo>
                  <a:pt x="410274" y="38230"/>
                </a:lnTo>
                <a:lnTo>
                  <a:pt x="461543" y="34267"/>
                </a:lnTo>
                <a:lnTo>
                  <a:pt x="512809" y="30250"/>
                </a:lnTo>
                <a:lnTo>
                  <a:pt x="564071" y="26171"/>
                </a:lnTo>
                <a:lnTo>
                  <a:pt x="615328" y="22023"/>
                </a:lnTo>
                <a:lnTo>
                  <a:pt x="666582" y="17800"/>
                </a:lnTo>
                <a:lnTo>
                  <a:pt x="717832" y="13493"/>
                </a:lnTo>
                <a:lnTo>
                  <a:pt x="769078" y="9095"/>
                </a:lnTo>
                <a:lnTo>
                  <a:pt x="820319" y="4600"/>
                </a:lnTo>
                <a:lnTo>
                  <a:pt x="871556" y="0"/>
                </a:lnTo>
              </a:path>
            </a:pathLst>
          </a:custGeom>
          <a:ln w="11474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976045" y="1843433"/>
            <a:ext cx="1692275" cy="463550"/>
          </a:xfrm>
          <a:custGeom>
            <a:avLst/>
            <a:gdLst/>
            <a:ahLst/>
            <a:cxnLst/>
            <a:rect l="l" t="t" r="r" b="b"/>
            <a:pathLst>
              <a:path w="1692275" h="463550">
                <a:moveTo>
                  <a:pt x="0" y="463270"/>
                </a:moveTo>
                <a:lnTo>
                  <a:pt x="51424" y="458150"/>
                </a:lnTo>
                <a:lnTo>
                  <a:pt x="102821" y="452732"/>
                </a:lnTo>
                <a:lnTo>
                  <a:pt x="154184" y="446984"/>
                </a:lnTo>
                <a:lnTo>
                  <a:pt x="205503" y="440871"/>
                </a:lnTo>
                <a:lnTo>
                  <a:pt x="256772" y="434361"/>
                </a:lnTo>
                <a:lnTo>
                  <a:pt x="307984" y="427420"/>
                </a:lnTo>
                <a:lnTo>
                  <a:pt x="359129" y="420015"/>
                </a:lnTo>
                <a:lnTo>
                  <a:pt x="410202" y="412112"/>
                </a:lnTo>
                <a:lnTo>
                  <a:pt x="461705" y="402838"/>
                </a:lnTo>
                <a:lnTo>
                  <a:pt x="513220" y="392707"/>
                </a:lnTo>
                <a:lnTo>
                  <a:pt x="564382" y="381043"/>
                </a:lnTo>
                <a:lnTo>
                  <a:pt x="614827" y="367174"/>
                </a:lnTo>
                <a:lnTo>
                  <a:pt x="667172" y="350112"/>
                </a:lnTo>
                <a:lnTo>
                  <a:pt x="717619" y="327972"/>
                </a:lnTo>
                <a:lnTo>
                  <a:pt x="754279" y="306809"/>
                </a:lnTo>
                <a:lnTo>
                  <a:pt x="810848" y="256070"/>
                </a:lnTo>
                <a:lnTo>
                  <a:pt x="837140" y="222788"/>
                </a:lnTo>
                <a:lnTo>
                  <a:pt x="870785" y="182037"/>
                </a:lnTo>
                <a:lnTo>
                  <a:pt x="907599" y="150005"/>
                </a:lnTo>
                <a:lnTo>
                  <a:pt x="948100" y="124914"/>
                </a:lnTo>
                <a:lnTo>
                  <a:pt x="992808" y="104988"/>
                </a:lnTo>
                <a:lnTo>
                  <a:pt x="1042241" y="88448"/>
                </a:lnTo>
                <a:lnTo>
                  <a:pt x="1096960" y="73910"/>
                </a:lnTo>
                <a:lnTo>
                  <a:pt x="1152571" y="61936"/>
                </a:lnTo>
                <a:lnTo>
                  <a:pt x="1208596" y="51863"/>
                </a:lnTo>
                <a:lnTo>
                  <a:pt x="1264553" y="43028"/>
                </a:lnTo>
                <a:lnTo>
                  <a:pt x="1317626" y="35834"/>
                </a:lnTo>
                <a:lnTo>
                  <a:pt x="1370903" y="29265"/>
                </a:lnTo>
                <a:lnTo>
                  <a:pt x="1424333" y="23267"/>
                </a:lnTo>
                <a:lnTo>
                  <a:pt x="1477864" y="17787"/>
                </a:lnTo>
                <a:lnTo>
                  <a:pt x="1531445" y="12774"/>
                </a:lnTo>
                <a:lnTo>
                  <a:pt x="1585024" y="8173"/>
                </a:lnTo>
                <a:lnTo>
                  <a:pt x="1638548" y="3933"/>
                </a:lnTo>
                <a:lnTo>
                  <a:pt x="1691967" y="0"/>
                </a:lnTo>
              </a:path>
            </a:pathLst>
          </a:custGeom>
          <a:ln w="1147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04488" y="2306704"/>
            <a:ext cx="871855" cy="71120"/>
          </a:xfrm>
          <a:custGeom>
            <a:avLst/>
            <a:gdLst/>
            <a:ahLst/>
            <a:cxnLst/>
            <a:rect l="l" t="t" r="r" b="b"/>
            <a:pathLst>
              <a:path w="871855" h="71119">
                <a:moveTo>
                  <a:pt x="0" y="70755"/>
                </a:moveTo>
                <a:lnTo>
                  <a:pt x="51287" y="66881"/>
                </a:lnTo>
                <a:lnTo>
                  <a:pt x="102579" y="63038"/>
                </a:lnTo>
                <a:lnTo>
                  <a:pt x="153874" y="59213"/>
                </a:lnTo>
                <a:lnTo>
                  <a:pt x="205169" y="55392"/>
                </a:lnTo>
                <a:lnTo>
                  <a:pt x="256465" y="51561"/>
                </a:lnTo>
                <a:lnTo>
                  <a:pt x="307760" y="47708"/>
                </a:lnTo>
                <a:lnTo>
                  <a:pt x="359052" y="43819"/>
                </a:lnTo>
                <a:lnTo>
                  <a:pt x="410340" y="39880"/>
                </a:lnTo>
                <a:lnTo>
                  <a:pt x="461623" y="35879"/>
                </a:lnTo>
                <a:lnTo>
                  <a:pt x="512900" y="31801"/>
                </a:lnTo>
                <a:lnTo>
                  <a:pt x="564170" y="27634"/>
                </a:lnTo>
                <a:lnTo>
                  <a:pt x="615430" y="23364"/>
                </a:lnTo>
                <a:lnTo>
                  <a:pt x="666681" y="18977"/>
                </a:lnTo>
                <a:lnTo>
                  <a:pt x="717920" y="14461"/>
                </a:lnTo>
                <a:lnTo>
                  <a:pt x="769146" y="9801"/>
                </a:lnTo>
                <a:lnTo>
                  <a:pt x="820359" y="4985"/>
                </a:lnTo>
                <a:lnTo>
                  <a:pt x="871556" y="0"/>
                </a:lnTo>
              </a:path>
            </a:pathLst>
          </a:custGeom>
          <a:ln w="1147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976045" y="1554668"/>
            <a:ext cx="1692275" cy="752475"/>
          </a:xfrm>
          <a:custGeom>
            <a:avLst/>
            <a:gdLst/>
            <a:ahLst/>
            <a:cxnLst/>
            <a:rect l="l" t="t" r="r" b="b"/>
            <a:pathLst>
              <a:path w="1692275" h="752475">
                <a:moveTo>
                  <a:pt x="0" y="752036"/>
                </a:moveTo>
                <a:lnTo>
                  <a:pt x="49220" y="747040"/>
                </a:lnTo>
                <a:lnTo>
                  <a:pt x="98455" y="741863"/>
                </a:lnTo>
                <a:lnTo>
                  <a:pt x="147682" y="736438"/>
                </a:lnTo>
                <a:lnTo>
                  <a:pt x="196882" y="730699"/>
                </a:lnTo>
                <a:lnTo>
                  <a:pt x="246034" y="724579"/>
                </a:lnTo>
                <a:lnTo>
                  <a:pt x="295116" y="718012"/>
                </a:lnTo>
                <a:lnTo>
                  <a:pt x="344109" y="710931"/>
                </a:lnTo>
                <a:lnTo>
                  <a:pt x="392991" y="703270"/>
                </a:lnTo>
                <a:lnTo>
                  <a:pt x="431885" y="696274"/>
                </a:lnTo>
                <a:lnTo>
                  <a:pt x="475644" y="688375"/>
                </a:lnTo>
                <a:lnTo>
                  <a:pt x="522621" y="679093"/>
                </a:lnTo>
                <a:lnTo>
                  <a:pt x="571168" y="667947"/>
                </a:lnTo>
                <a:lnTo>
                  <a:pt x="619638" y="654455"/>
                </a:lnTo>
                <a:lnTo>
                  <a:pt x="666385" y="638138"/>
                </a:lnTo>
                <a:lnTo>
                  <a:pt x="709761" y="618512"/>
                </a:lnTo>
                <a:lnTo>
                  <a:pt x="748119" y="595099"/>
                </a:lnTo>
                <a:lnTo>
                  <a:pt x="779812" y="567417"/>
                </a:lnTo>
                <a:lnTo>
                  <a:pt x="803193" y="534984"/>
                </a:lnTo>
                <a:lnTo>
                  <a:pt x="819928" y="491956"/>
                </a:lnTo>
                <a:lnTo>
                  <a:pt x="837140" y="367650"/>
                </a:lnTo>
                <a:lnTo>
                  <a:pt x="854351" y="243826"/>
                </a:lnTo>
                <a:lnTo>
                  <a:pt x="871562" y="201274"/>
                </a:lnTo>
                <a:lnTo>
                  <a:pt x="900264" y="163322"/>
                </a:lnTo>
                <a:lnTo>
                  <a:pt x="938959" y="133458"/>
                </a:lnTo>
                <a:lnTo>
                  <a:pt x="983813" y="110427"/>
                </a:lnTo>
                <a:lnTo>
                  <a:pt x="1030993" y="92972"/>
                </a:lnTo>
                <a:lnTo>
                  <a:pt x="1076663" y="79837"/>
                </a:lnTo>
                <a:lnTo>
                  <a:pt x="1127108" y="67705"/>
                </a:lnTo>
                <a:lnTo>
                  <a:pt x="1178590" y="57484"/>
                </a:lnTo>
                <a:lnTo>
                  <a:pt x="1230384" y="48758"/>
                </a:lnTo>
                <a:lnTo>
                  <a:pt x="1281765" y="41112"/>
                </a:lnTo>
                <a:lnTo>
                  <a:pt x="1332841" y="34192"/>
                </a:lnTo>
                <a:lnTo>
                  <a:pt x="1384000" y="27954"/>
                </a:lnTo>
                <a:lnTo>
                  <a:pt x="1435228" y="22310"/>
                </a:lnTo>
                <a:lnTo>
                  <a:pt x="1486513" y="17176"/>
                </a:lnTo>
                <a:lnTo>
                  <a:pt x="1537842" y="12464"/>
                </a:lnTo>
                <a:lnTo>
                  <a:pt x="1589203" y="8088"/>
                </a:lnTo>
                <a:lnTo>
                  <a:pt x="1640582" y="3962"/>
                </a:lnTo>
                <a:lnTo>
                  <a:pt x="1691967" y="0"/>
                </a:lnTo>
              </a:path>
            </a:pathLst>
          </a:custGeom>
          <a:ln w="11474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04488" y="2306704"/>
            <a:ext cx="871855" cy="71120"/>
          </a:xfrm>
          <a:custGeom>
            <a:avLst/>
            <a:gdLst/>
            <a:ahLst/>
            <a:cxnLst/>
            <a:rect l="l" t="t" r="r" b="b"/>
            <a:pathLst>
              <a:path w="871855" h="71119">
                <a:moveTo>
                  <a:pt x="0" y="70755"/>
                </a:moveTo>
                <a:lnTo>
                  <a:pt x="51288" y="66884"/>
                </a:lnTo>
                <a:lnTo>
                  <a:pt x="102581" y="63043"/>
                </a:lnTo>
                <a:lnTo>
                  <a:pt x="153876" y="59218"/>
                </a:lnTo>
                <a:lnTo>
                  <a:pt x="205172" y="55396"/>
                </a:lnTo>
                <a:lnTo>
                  <a:pt x="256468" y="51564"/>
                </a:lnTo>
                <a:lnTo>
                  <a:pt x="307762" y="47708"/>
                </a:lnTo>
                <a:lnTo>
                  <a:pt x="359054" y="43816"/>
                </a:lnTo>
                <a:lnTo>
                  <a:pt x="410342" y="39875"/>
                </a:lnTo>
                <a:lnTo>
                  <a:pt x="461625" y="35871"/>
                </a:lnTo>
                <a:lnTo>
                  <a:pt x="512902" y="31791"/>
                </a:lnTo>
                <a:lnTo>
                  <a:pt x="564171" y="27622"/>
                </a:lnTo>
                <a:lnTo>
                  <a:pt x="615431" y="23350"/>
                </a:lnTo>
                <a:lnTo>
                  <a:pt x="666682" y="18963"/>
                </a:lnTo>
                <a:lnTo>
                  <a:pt x="717920" y="14448"/>
                </a:lnTo>
                <a:lnTo>
                  <a:pt x="769147" y="9791"/>
                </a:lnTo>
                <a:lnTo>
                  <a:pt x="820359" y="4979"/>
                </a:lnTo>
                <a:lnTo>
                  <a:pt x="871556" y="0"/>
                </a:lnTo>
              </a:path>
            </a:pathLst>
          </a:custGeom>
          <a:ln w="11474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976045" y="1265897"/>
            <a:ext cx="1692275" cy="1041400"/>
          </a:xfrm>
          <a:custGeom>
            <a:avLst/>
            <a:gdLst/>
            <a:ahLst/>
            <a:cxnLst/>
            <a:rect l="l" t="t" r="r" b="b"/>
            <a:pathLst>
              <a:path w="1692275" h="1041400">
                <a:moveTo>
                  <a:pt x="0" y="1040807"/>
                </a:moveTo>
                <a:lnTo>
                  <a:pt x="49220" y="1035811"/>
                </a:lnTo>
                <a:lnTo>
                  <a:pt x="98455" y="1030634"/>
                </a:lnTo>
                <a:lnTo>
                  <a:pt x="147682" y="1025210"/>
                </a:lnTo>
                <a:lnTo>
                  <a:pt x="196882" y="1019470"/>
                </a:lnTo>
                <a:lnTo>
                  <a:pt x="246034" y="1013350"/>
                </a:lnTo>
                <a:lnTo>
                  <a:pt x="295116" y="1006783"/>
                </a:lnTo>
                <a:lnTo>
                  <a:pt x="344109" y="999702"/>
                </a:lnTo>
                <a:lnTo>
                  <a:pt x="392991" y="992041"/>
                </a:lnTo>
                <a:lnTo>
                  <a:pt x="433748" y="984904"/>
                </a:lnTo>
                <a:lnTo>
                  <a:pt x="479580" y="976565"/>
                </a:lnTo>
                <a:lnTo>
                  <a:pt x="528623" y="966601"/>
                </a:lnTo>
                <a:lnTo>
                  <a:pt x="579014" y="954590"/>
                </a:lnTo>
                <a:lnTo>
                  <a:pt x="628890" y="940113"/>
                </a:lnTo>
                <a:lnTo>
                  <a:pt x="676388" y="922745"/>
                </a:lnTo>
                <a:lnTo>
                  <a:pt x="719645" y="902067"/>
                </a:lnTo>
                <a:lnTo>
                  <a:pt x="756797" y="877656"/>
                </a:lnTo>
                <a:lnTo>
                  <a:pt x="785982" y="849090"/>
                </a:lnTo>
                <a:lnTo>
                  <a:pt x="819928" y="779769"/>
                </a:lnTo>
                <a:lnTo>
                  <a:pt x="837140" y="512035"/>
                </a:lnTo>
                <a:lnTo>
                  <a:pt x="854351" y="245260"/>
                </a:lnTo>
                <a:lnTo>
                  <a:pt x="871562" y="201756"/>
                </a:lnTo>
                <a:lnTo>
                  <a:pt x="927226" y="141129"/>
                </a:lnTo>
                <a:lnTo>
                  <a:pt x="974638" y="114536"/>
                </a:lnTo>
                <a:lnTo>
                  <a:pt x="1025972" y="94740"/>
                </a:lnTo>
                <a:lnTo>
                  <a:pt x="1076663" y="79843"/>
                </a:lnTo>
                <a:lnTo>
                  <a:pt x="1127443" y="67860"/>
                </a:lnTo>
                <a:lnTo>
                  <a:pt x="1178653" y="57569"/>
                </a:lnTo>
                <a:lnTo>
                  <a:pt x="1230143" y="48734"/>
                </a:lnTo>
                <a:lnTo>
                  <a:pt x="1281765" y="41117"/>
                </a:lnTo>
                <a:lnTo>
                  <a:pt x="1332859" y="34341"/>
                </a:lnTo>
                <a:lnTo>
                  <a:pt x="1384024" y="28150"/>
                </a:lnTo>
                <a:lnTo>
                  <a:pt x="1435251" y="22485"/>
                </a:lnTo>
                <a:lnTo>
                  <a:pt x="1486530" y="17288"/>
                </a:lnTo>
                <a:lnTo>
                  <a:pt x="1537851" y="12500"/>
                </a:lnTo>
                <a:lnTo>
                  <a:pt x="1589204" y="8062"/>
                </a:lnTo>
                <a:lnTo>
                  <a:pt x="1640579" y="3915"/>
                </a:lnTo>
                <a:lnTo>
                  <a:pt x="1691967" y="0"/>
                </a:lnTo>
              </a:path>
            </a:pathLst>
          </a:custGeom>
          <a:ln w="11474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04488" y="2306704"/>
            <a:ext cx="871855" cy="71120"/>
          </a:xfrm>
          <a:custGeom>
            <a:avLst/>
            <a:gdLst/>
            <a:ahLst/>
            <a:cxnLst/>
            <a:rect l="l" t="t" r="r" b="b"/>
            <a:pathLst>
              <a:path w="871855" h="71119">
                <a:moveTo>
                  <a:pt x="0" y="70755"/>
                </a:moveTo>
                <a:lnTo>
                  <a:pt x="51288" y="66884"/>
                </a:lnTo>
                <a:lnTo>
                  <a:pt x="102581" y="63043"/>
                </a:lnTo>
                <a:lnTo>
                  <a:pt x="153876" y="59218"/>
                </a:lnTo>
                <a:lnTo>
                  <a:pt x="205172" y="55396"/>
                </a:lnTo>
                <a:lnTo>
                  <a:pt x="256468" y="51564"/>
                </a:lnTo>
                <a:lnTo>
                  <a:pt x="307762" y="47708"/>
                </a:lnTo>
                <a:lnTo>
                  <a:pt x="359054" y="43816"/>
                </a:lnTo>
                <a:lnTo>
                  <a:pt x="410342" y="39875"/>
                </a:lnTo>
                <a:lnTo>
                  <a:pt x="461625" y="35871"/>
                </a:lnTo>
                <a:lnTo>
                  <a:pt x="512902" y="31791"/>
                </a:lnTo>
                <a:lnTo>
                  <a:pt x="564171" y="27622"/>
                </a:lnTo>
                <a:lnTo>
                  <a:pt x="615431" y="23350"/>
                </a:lnTo>
                <a:lnTo>
                  <a:pt x="666682" y="18963"/>
                </a:lnTo>
                <a:lnTo>
                  <a:pt x="717920" y="14448"/>
                </a:lnTo>
                <a:lnTo>
                  <a:pt x="769147" y="9791"/>
                </a:lnTo>
                <a:lnTo>
                  <a:pt x="820359" y="4979"/>
                </a:lnTo>
                <a:lnTo>
                  <a:pt x="871556" y="0"/>
                </a:lnTo>
              </a:path>
            </a:pathLst>
          </a:custGeom>
          <a:ln w="11474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976045" y="977131"/>
            <a:ext cx="1692275" cy="1329690"/>
          </a:xfrm>
          <a:custGeom>
            <a:avLst/>
            <a:gdLst/>
            <a:ahLst/>
            <a:cxnLst/>
            <a:rect l="l" t="t" r="r" b="b"/>
            <a:pathLst>
              <a:path w="1692275" h="1329689">
                <a:moveTo>
                  <a:pt x="0" y="1329572"/>
                </a:moveTo>
                <a:lnTo>
                  <a:pt x="49220" y="1324577"/>
                </a:lnTo>
                <a:lnTo>
                  <a:pt x="98455" y="1319400"/>
                </a:lnTo>
                <a:lnTo>
                  <a:pt x="147682" y="1313975"/>
                </a:lnTo>
                <a:lnTo>
                  <a:pt x="196882" y="1308236"/>
                </a:lnTo>
                <a:lnTo>
                  <a:pt x="246034" y="1302116"/>
                </a:lnTo>
                <a:lnTo>
                  <a:pt x="295116" y="1295548"/>
                </a:lnTo>
                <a:lnTo>
                  <a:pt x="344109" y="1288468"/>
                </a:lnTo>
                <a:lnTo>
                  <a:pt x="392991" y="1280807"/>
                </a:lnTo>
                <a:lnTo>
                  <a:pt x="433748" y="1273670"/>
                </a:lnTo>
                <a:lnTo>
                  <a:pt x="479580" y="1265330"/>
                </a:lnTo>
                <a:lnTo>
                  <a:pt x="528623" y="1255366"/>
                </a:lnTo>
                <a:lnTo>
                  <a:pt x="579014" y="1243356"/>
                </a:lnTo>
                <a:lnTo>
                  <a:pt x="628890" y="1228878"/>
                </a:lnTo>
                <a:lnTo>
                  <a:pt x="676388" y="1211511"/>
                </a:lnTo>
                <a:lnTo>
                  <a:pt x="719645" y="1190832"/>
                </a:lnTo>
                <a:lnTo>
                  <a:pt x="756797" y="1166421"/>
                </a:lnTo>
                <a:lnTo>
                  <a:pt x="785982" y="1137855"/>
                </a:lnTo>
                <a:lnTo>
                  <a:pt x="819928" y="1068534"/>
                </a:lnTo>
                <a:lnTo>
                  <a:pt x="854351" y="245260"/>
                </a:lnTo>
                <a:lnTo>
                  <a:pt x="871562" y="201756"/>
                </a:lnTo>
                <a:lnTo>
                  <a:pt x="926874" y="141413"/>
                </a:lnTo>
                <a:lnTo>
                  <a:pt x="974608" y="114674"/>
                </a:lnTo>
                <a:lnTo>
                  <a:pt x="1026278" y="94663"/>
                </a:lnTo>
                <a:lnTo>
                  <a:pt x="1076663" y="79843"/>
                </a:lnTo>
                <a:lnTo>
                  <a:pt x="1127443" y="67859"/>
                </a:lnTo>
                <a:lnTo>
                  <a:pt x="1178653" y="57567"/>
                </a:lnTo>
                <a:lnTo>
                  <a:pt x="1230143" y="48732"/>
                </a:lnTo>
                <a:lnTo>
                  <a:pt x="1281765" y="41117"/>
                </a:lnTo>
                <a:lnTo>
                  <a:pt x="1332822" y="34331"/>
                </a:lnTo>
                <a:lnTo>
                  <a:pt x="1383982" y="28150"/>
                </a:lnTo>
                <a:lnTo>
                  <a:pt x="1435225" y="22509"/>
                </a:lnTo>
                <a:lnTo>
                  <a:pt x="1486530" y="17338"/>
                </a:lnTo>
                <a:lnTo>
                  <a:pt x="1537877" y="12569"/>
                </a:lnTo>
                <a:lnTo>
                  <a:pt x="1589246" y="8135"/>
                </a:lnTo>
                <a:lnTo>
                  <a:pt x="1640616" y="3968"/>
                </a:lnTo>
                <a:lnTo>
                  <a:pt x="1691967" y="0"/>
                </a:lnTo>
              </a:path>
            </a:pathLst>
          </a:custGeom>
          <a:ln w="11474">
            <a:solidFill>
              <a:srgbClr val="BFB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04488" y="2306704"/>
            <a:ext cx="871855" cy="71120"/>
          </a:xfrm>
          <a:custGeom>
            <a:avLst/>
            <a:gdLst/>
            <a:ahLst/>
            <a:cxnLst/>
            <a:rect l="l" t="t" r="r" b="b"/>
            <a:pathLst>
              <a:path w="871855" h="71119">
                <a:moveTo>
                  <a:pt x="0" y="70755"/>
                </a:moveTo>
                <a:lnTo>
                  <a:pt x="51288" y="66884"/>
                </a:lnTo>
                <a:lnTo>
                  <a:pt x="102581" y="63043"/>
                </a:lnTo>
                <a:lnTo>
                  <a:pt x="153876" y="59218"/>
                </a:lnTo>
                <a:lnTo>
                  <a:pt x="205172" y="55396"/>
                </a:lnTo>
                <a:lnTo>
                  <a:pt x="256468" y="51564"/>
                </a:lnTo>
                <a:lnTo>
                  <a:pt x="307762" y="47708"/>
                </a:lnTo>
                <a:lnTo>
                  <a:pt x="359054" y="43816"/>
                </a:lnTo>
                <a:lnTo>
                  <a:pt x="410342" y="39875"/>
                </a:lnTo>
                <a:lnTo>
                  <a:pt x="461625" y="35871"/>
                </a:lnTo>
                <a:lnTo>
                  <a:pt x="512902" y="31791"/>
                </a:lnTo>
                <a:lnTo>
                  <a:pt x="564171" y="27622"/>
                </a:lnTo>
                <a:lnTo>
                  <a:pt x="615431" y="23350"/>
                </a:lnTo>
                <a:lnTo>
                  <a:pt x="666682" y="18963"/>
                </a:lnTo>
                <a:lnTo>
                  <a:pt x="717920" y="14448"/>
                </a:lnTo>
                <a:lnTo>
                  <a:pt x="769147" y="9791"/>
                </a:lnTo>
                <a:lnTo>
                  <a:pt x="820359" y="4979"/>
                </a:lnTo>
                <a:lnTo>
                  <a:pt x="871556" y="0"/>
                </a:lnTo>
              </a:path>
            </a:pathLst>
          </a:custGeom>
          <a:ln w="11474">
            <a:solidFill>
              <a:srgbClr val="BFB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976045" y="688366"/>
            <a:ext cx="1692275" cy="1618615"/>
          </a:xfrm>
          <a:custGeom>
            <a:avLst/>
            <a:gdLst/>
            <a:ahLst/>
            <a:cxnLst/>
            <a:rect l="l" t="t" r="r" b="b"/>
            <a:pathLst>
              <a:path w="1692275" h="1618614">
                <a:moveTo>
                  <a:pt x="0" y="1618337"/>
                </a:moveTo>
                <a:lnTo>
                  <a:pt x="49220" y="1613342"/>
                </a:lnTo>
                <a:lnTo>
                  <a:pt x="98455" y="1608165"/>
                </a:lnTo>
                <a:lnTo>
                  <a:pt x="147682" y="1602740"/>
                </a:lnTo>
                <a:lnTo>
                  <a:pt x="196882" y="1597001"/>
                </a:lnTo>
                <a:lnTo>
                  <a:pt x="246034" y="1590881"/>
                </a:lnTo>
                <a:lnTo>
                  <a:pt x="295116" y="1584314"/>
                </a:lnTo>
                <a:lnTo>
                  <a:pt x="344109" y="1577233"/>
                </a:lnTo>
                <a:lnTo>
                  <a:pt x="392991" y="1569572"/>
                </a:lnTo>
                <a:lnTo>
                  <a:pt x="433748" y="1562435"/>
                </a:lnTo>
                <a:lnTo>
                  <a:pt x="479580" y="1554095"/>
                </a:lnTo>
                <a:lnTo>
                  <a:pt x="528623" y="1544131"/>
                </a:lnTo>
                <a:lnTo>
                  <a:pt x="579014" y="1532121"/>
                </a:lnTo>
                <a:lnTo>
                  <a:pt x="628890" y="1517643"/>
                </a:lnTo>
                <a:lnTo>
                  <a:pt x="676388" y="1500276"/>
                </a:lnTo>
                <a:lnTo>
                  <a:pt x="719645" y="1479597"/>
                </a:lnTo>
                <a:lnTo>
                  <a:pt x="756797" y="1455186"/>
                </a:lnTo>
                <a:lnTo>
                  <a:pt x="785982" y="1426621"/>
                </a:lnTo>
                <a:lnTo>
                  <a:pt x="819928" y="1357299"/>
                </a:lnTo>
                <a:lnTo>
                  <a:pt x="854351" y="245260"/>
                </a:lnTo>
                <a:lnTo>
                  <a:pt x="871562" y="201750"/>
                </a:lnTo>
                <a:lnTo>
                  <a:pt x="917710" y="148347"/>
                </a:lnTo>
                <a:lnTo>
                  <a:pt x="955043" y="124620"/>
                </a:lnTo>
                <a:lnTo>
                  <a:pt x="998434" y="104771"/>
                </a:lnTo>
                <a:lnTo>
                  <a:pt x="1046022" y="88334"/>
                </a:lnTo>
                <a:lnTo>
                  <a:pt x="1095945" y="74847"/>
                </a:lnTo>
                <a:lnTo>
                  <a:pt x="1146343" y="63845"/>
                </a:lnTo>
                <a:lnTo>
                  <a:pt x="1195353" y="54865"/>
                </a:lnTo>
                <a:lnTo>
                  <a:pt x="1241114" y="47441"/>
                </a:lnTo>
                <a:lnTo>
                  <a:pt x="1281765" y="41112"/>
                </a:lnTo>
                <a:lnTo>
                  <a:pt x="1332863" y="34300"/>
                </a:lnTo>
                <a:lnTo>
                  <a:pt x="1384031" y="28121"/>
                </a:lnTo>
                <a:lnTo>
                  <a:pt x="1435260" y="22496"/>
                </a:lnTo>
                <a:lnTo>
                  <a:pt x="1486539" y="17350"/>
                </a:lnTo>
                <a:lnTo>
                  <a:pt x="1537859" y="12604"/>
                </a:lnTo>
                <a:lnTo>
                  <a:pt x="1589211" y="8182"/>
                </a:lnTo>
                <a:lnTo>
                  <a:pt x="1640583" y="4006"/>
                </a:lnTo>
                <a:lnTo>
                  <a:pt x="1691967" y="0"/>
                </a:lnTo>
              </a:path>
            </a:pathLst>
          </a:custGeom>
          <a:ln w="11474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04488" y="2306704"/>
            <a:ext cx="871855" cy="71120"/>
          </a:xfrm>
          <a:custGeom>
            <a:avLst/>
            <a:gdLst/>
            <a:ahLst/>
            <a:cxnLst/>
            <a:rect l="l" t="t" r="r" b="b"/>
            <a:pathLst>
              <a:path w="871855" h="71119">
                <a:moveTo>
                  <a:pt x="0" y="70755"/>
                </a:moveTo>
                <a:lnTo>
                  <a:pt x="51288" y="66884"/>
                </a:lnTo>
                <a:lnTo>
                  <a:pt x="102581" y="63043"/>
                </a:lnTo>
                <a:lnTo>
                  <a:pt x="153876" y="59218"/>
                </a:lnTo>
                <a:lnTo>
                  <a:pt x="205172" y="55396"/>
                </a:lnTo>
                <a:lnTo>
                  <a:pt x="256468" y="51564"/>
                </a:lnTo>
                <a:lnTo>
                  <a:pt x="307762" y="47708"/>
                </a:lnTo>
                <a:lnTo>
                  <a:pt x="359054" y="43816"/>
                </a:lnTo>
                <a:lnTo>
                  <a:pt x="410342" y="39875"/>
                </a:lnTo>
                <a:lnTo>
                  <a:pt x="461625" y="35871"/>
                </a:lnTo>
                <a:lnTo>
                  <a:pt x="512902" y="31791"/>
                </a:lnTo>
                <a:lnTo>
                  <a:pt x="564171" y="27622"/>
                </a:lnTo>
                <a:lnTo>
                  <a:pt x="615431" y="23350"/>
                </a:lnTo>
                <a:lnTo>
                  <a:pt x="666682" y="18963"/>
                </a:lnTo>
                <a:lnTo>
                  <a:pt x="717920" y="14448"/>
                </a:lnTo>
                <a:lnTo>
                  <a:pt x="769147" y="9791"/>
                </a:lnTo>
                <a:lnTo>
                  <a:pt x="820359" y="4979"/>
                </a:lnTo>
                <a:lnTo>
                  <a:pt x="871556" y="0"/>
                </a:lnTo>
              </a:path>
            </a:pathLst>
          </a:custGeom>
          <a:ln w="11474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869440" y="1583106"/>
            <a:ext cx="116839" cy="146050"/>
          </a:xfrm>
          <a:prstGeom prst="rect">
            <a:avLst/>
          </a:prstGeom>
        </p:spPr>
        <p:txBody>
          <a:bodyPr wrap="square" lIns="0" tIns="952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600" spc="-5" b="1">
                <a:latin typeface="Times New Roman"/>
                <a:cs typeface="Times New Roman"/>
              </a:rPr>
              <a:t>pM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448920" y="851602"/>
            <a:ext cx="35814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 b="1">
                <a:latin typeface="Times New Roman"/>
                <a:cs typeface="Times New Roman"/>
              </a:rPr>
              <a:t>lg</a:t>
            </a:r>
            <a:r>
              <a:rPr dirty="0" sz="600" spc="-55" b="1">
                <a:latin typeface="Times New Roman"/>
                <a:cs typeface="Times New Roman"/>
              </a:rPr>
              <a:t> </a:t>
            </a:r>
            <a:r>
              <a:rPr dirty="0" sz="600" spc="20" b="1">
                <a:latin typeface="Times New Roman"/>
                <a:cs typeface="Times New Roman"/>
              </a:rPr>
              <a:t>K(MY)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30590" y="2025317"/>
            <a:ext cx="830580" cy="5473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  <a:p>
            <a:pPr marL="200025">
              <a:lnSpc>
                <a:spcPct val="100000"/>
              </a:lnSpc>
              <a:spcBef>
                <a:spcPts val="355"/>
              </a:spcBef>
            </a:pPr>
            <a:r>
              <a:rPr dirty="0" sz="600" spc="15" b="1">
                <a:latin typeface="Times New Roman"/>
                <a:cs typeface="Times New Roman"/>
              </a:rPr>
              <a:t>c(M)=0.010</a:t>
            </a:r>
            <a:r>
              <a:rPr dirty="0" sz="600" spc="-45" b="1">
                <a:latin typeface="Times New Roman"/>
                <a:cs typeface="Times New Roman"/>
              </a:rPr>
              <a:t> </a:t>
            </a:r>
            <a:r>
              <a:rPr dirty="0" sz="600" spc="15" b="1">
                <a:latin typeface="Times New Roman"/>
                <a:cs typeface="Times New Roman"/>
              </a:rPr>
              <a:t>mol/L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468794" y="1029242"/>
            <a:ext cx="532130" cy="1005840"/>
          </a:xfrm>
          <a:custGeom>
            <a:avLst/>
            <a:gdLst/>
            <a:ahLst/>
            <a:cxnLst/>
            <a:rect l="l" t="t" r="r" b="b"/>
            <a:pathLst>
              <a:path w="532130" h="1005839">
                <a:moveTo>
                  <a:pt x="0" y="1005426"/>
                </a:moveTo>
                <a:lnTo>
                  <a:pt x="531639" y="1005426"/>
                </a:lnTo>
                <a:lnTo>
                  <a:pt x="531639" y="0"/>
                </a:lnTo>
                <a:lnTo>
                  <a:pt x="0" y="0"/>
                </a:lnTo>
                <a:lnTo>
                  <a:pt x="0" y="10054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468794" y="1029242"/>
            <a:ext cx="532130" cy="1005840"/>
          </a:xfrm>
          <a:custGeom>
            <a:avLst/>
            <a:gdLst/>
            <a:ahLst/>
            <a:cxnLst/>
            <a:rect l="l" t="t" r="r" b="b"/>
            <a:pathLst>
              <a:path w="532130" h="1005839">
                <a:moveTo>
                  <a:pt x="0" y="1005426"/>
                </a:moveTo>
                <a:lnTo>
                  <a:pt x="0" y="0"/>
                </a:lnTo>
                <a:lnTo>
                  <a:pt x="531633" y="0"/>
                </a:lnTo>
                <a:lnTo>
                  <a:pt x="531633" y="1005426"/>
                </a:lnTo>
                <a:lnTo>
                  <a:pt x="0" y="1005426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523296" y="1112429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0">
                <a:moveTo>
                  <a:pt x="0" y="0"/>
                </a:moveTo>
                <a:lnTo>
                  <a:pt x="272512" y="0"/>
                </a:lnTo>
              </a:path>
            </a:pathLst>
          </a:custGeom>
          <a:ln w="114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523296" y="1392113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0">
                <a:moveTo>
                  <a:pt x="0" y="0"/>
                </a:moveTo>
                <a:lnTo>
                  <a:pt x="272512" y="0"/>
                </a:lnTo>
              </a:path>
            </a:pathLst>
          </a:custGeom>
          <a:ln w="1147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523296" y="1671320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0">
                <a:moveTo>
                  <a:pt x="0" y="0"/>
                </a:moveTo>
                <a:lnTo>
                  <a:pt x="272512" y="0"/>
                </a:lnTo>
              </a:path>
            </a:pathLst>
          </a:custGeom>
          <a:ln w="11474">
            <a:solidFill>
              <a:srgbClr val="BF00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523296" y="1810921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0">
                <a:moveTo>
                  <a:pt x="0" y="0"/>
                </a:moveTo>
                <a:lnTo>
                  <a:pt x="272512" y="0"/>
                </a:lnTo>
              </a:path>
            </a:pathLst>
          </a:custGeom>
          <a:ln w="11474">
            <a:solidFill>
              <a:srgbClr val="BFB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1468794" y="1029242"/>
            <a:ext cx="532130" cy="10058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36194" rIns="0" bIns="0" rtlCol="0" vert="horz">
            <a:spAutoFit/>
          </a:bodyPr>
          <a:lstStyle/>
          <a:p>
            <a:pPr algn="r" marR="124460">
              <a:lnSpc>
                <a:spcPct val="100000"/>
              </a:lnSpc>
              <a:spcBef>
                <a:spcPts val="284"/>
              </a:spcBef>
            </a:pPr>
            <a:r>
              <a:rPr dirty="0" sz="600" spc="15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  <a:p>
            <a:pPr algn="r" marR="124460">
              <a:lnSpc>
                <a:spcPct val="100000"/>
              </a:lnSpc>
              <a:spcBef>
                <a:spcPts val="150"/>
              </a:spcBef>
              <a:tabLst>
                <a:tab pos="272415" algn="l"/>
              </a:tabLst>
            </a:pPr>
            <a:r>
              <a:rPr dirty="0" u="sng" sz="600" spc="5">
                <a:uFill>
                  <a:solidFill>
                    <a:srgbClr val="008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5">
                <a:uFill>
                  <a:solidFill>
                    <a:srgbClr val="008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 </a:t>
            </a:r>
            <a:r>
              <a:rPr dirty="0" baseline="-23148" sz="900" spc="22">
                <a:latin typeface="Arial"/>
                <a:cs typeface="Arial"/>
              </a:rPr>
              <a:t>4</a:t>
            </a:r>
            <a:endParaRPr baseline="-23148" sz="900">
              <a:latin typeface="Arial"/>
              <a:cs typeface="Arial"/>
            </a:endParaRPr>
          </a:p>
          <a:p>
            <a:pPr algn="r" marR="124460">
              <a:lnSpc>
                <a:spcPct val="100000"/>
              </a:lnSpc>
              <a:spcBef>
                <a:spcPts val="610"/>
              </a:spcBef>
            </a:pPr>
            <a:r>
              <a:rPr dirty="0" sz="600" spc="15"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  <a:p>
            <a:pPr algn="r" marR="124460">
              <a:lnSpc>
                <a:spcPct val="100000"/>
              </a:lnSpc>
              <a:spcBef>
                <a:spcPts val="220"/>
              </a:spcBef>
              <a:tabLst>
                <a:tab pos="272415" algn="l"/>
              </a:tabLst>
            </a:pPr>
            <a:r>
              <a:rPr dirty="0" u="sng" sz="600" spc="5">
                <a:uFill>
                  <a:solidFill>
                    <a:srgbClr val="00BFB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5">
                <a:uFill>
                  <a:solidFill>
                    <a:srgbClr val="00BFB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 </a:t>
            </a:r>
            <a:r>
              <a:rPr dirty="0" baseline="-13888" sz="900" spc="22">
                <a:latin typeface="Arial"/>
                <a:cs typeface="Arial"/>
              </a:rPr>
              <a:t>8</a:t>
            </a:r>
            <a:endParaRPr baseline="-13888" sz="900">
              <a:latin typeface="Arial"/>
              <a:cs typeface="Arial"/>
            </a:endParaRPr>
          </a:p>
          <a:p>
            <a:pPr algn="r" marR="79375">
              <a:lnSpc>
                <a:spcPct val="100000"/>
              </a:lnSpc>
              <a:spcBef>
                <a:spcPts val="540"/>
              </a:spcBef>
            </a:pPr>
            <a:r>
              <a:rPr dirty="0" sz="600" spc="10">
                <a:latin typeface="Arial"/>
                <a:cs typeface="Arial"/>
              </a:rPr>
              <a:t>10</a:t>
            </a:r>
            <a:endParaRPr sz="600">
              <a:latin typeface="Arial"/>
              <a:cs typeface="Arial"/>
            </a:endParaRPr>
          </a:p>
          <a:p>
            <a:pPr algn="r" marR="79375">
              <a:lnSpc>
                <a:spcPct val="100000"/>
              </a:lnSpc>
              <a:spcBef>
                <a:spcPts val="380"/>
              </a:spcBef>
            </a:pPr>
            <a:r>
              <a:rPr dirty="0" sz="600" spc="1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  <a:p>
            <a:pPr algn="r" marR="79375">
              <a:lnSpc>
                <a:spcPct val="100000"/>
              </a:lnSpc>
              <a:spcBef>
                <a:spcPts val="380"/>
              </a:spcBef>
            </a:pPr>
            <a:r>
              <a:rPr dirty="0" sz="600" spc="1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523296" y="1951004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 h="0">
                <a:moveTo>
                  <a:pt x="0" y="0"/>
                </a:moveTo>
                <a:lnTo>
                  <a:pt x="272512" y="0"/>
                </a:lnTo>
              </a:path>
            </a:pathLst>
          </a:custGeom>
          <a:ln w="11474">
            <a:solidFill>
              <a:srgbClr val="3F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1329359" y="2741976"/>
            <a:ext cx="1949450" cy="4959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63195">
              <a:lnSpc>
                <a:spcPct val="100000"/>
              </a:lnSpc>
              <a:spcBef>
                <a:spcPts val="120"/>
              </a:spcBef>
            </a:pPr>
            <a:r>
              <a:rPr dirty="0" sz="700" spc="10">
                <a:latin typeface="Symbol"/>
                <a:cs typeface="Symbol"/>
              </a:rPr>
              <a:t></a:t>
            </a:r>
            <a:endParaRPr sz="7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70">
                <a:solidFill>
                  <a:srgbClr val="3333B2"/>
                </a:solidFill>
                <a:latin typeface="Georgia"/>
                <a:cs typeface="Georgia"/>
              </a:rPr>
              <a:t>8: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不</a:t>
            </a:r>
            <a:r>
              <a:rPr dirty="0" sz="1050" spc="-10">
                <a:latin typeface="Arial Unicode MS"/>
                <a:cs typeface="Arial Unicode MS"/>
              </a:rPr>
              <a:t>同</a:t>
            </a:r>
            <a:r>
              <a:rPr dirty="0" sz="1050" spc="-5">
                <a:latin typeface="Arial Unicode MS"/>
                <a:cs typeface="Arial Unicode MS"/>
              </a:rPr>
              <a:t>稳定常数</a:t>
            </a:r>
            <a:r>
              <a:rPr dirty="0" sz="1050" spc="-10">
                <a:latin typeface="Arial Unicode MS"/>
                <a:cs typeface="Arial Unicode MS"/>
              </a:rPr>
              <a:t>时</a:t>
            </a:r>
            <a:r>
              <a:rPr dirty="0" sz="1050" spc="-5">
                <a:latin typeface="Arial Unicode MS"/>
                <a:cs typeface="Arial Unicode MS"/>
              </a:rPr>
              <a:t>的滴定</a:t>
            </a:r>
            <a:r>
              <a:rPr dirty="0" sz="1050" spc="-10">
                <a:latin typeface="Arial Unicode MS"/>
                <a:cs typeface="Arial Unicode MS"/>
              </a:rPr>
              <a:t>曲</a:t>
            </a:r>
            <a:r>
              <a:rPr dirty="0" sz="1050" spc="-5">
                <a:latin typeface="Arial Unicode MS"/>
                <a:cs typeface="Arial Unicode MS"/>
              </a:rPr>
              <a:t>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9" name="object 7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浓度的影响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4387" y="645763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94387" y="2678780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73291" y="645763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94387" y="645763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94387" y="2678780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94387" y="645763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94387" y="265280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94387" y="645763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4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61485" y="2673773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53858" y="265280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53858" y="645763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4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890659" y="2673773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13335" y="265280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13335" y="645763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4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780435" y="2673773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73291" y="265280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73291" y="645763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4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610090" y="2673773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94387" y="267878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47319" y="267878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24451" y="2614134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94387" y="238827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47319" y="238827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94387" y="2097779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47319" y="209777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024451" y="2033135"/>
            <a:ext cx="66040" cy="41338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94387" y="180728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47319" y="180728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24451" y="1742635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94387" y="151677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47319" y="151677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024451" y="1452136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94387" y="122628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47319" y="122628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984051" y="1161636"/>
            <a:ext cx="10668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94387" y="935782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47319" y="935782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84051" y="871136"/>
            <a:ext cx="10668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94387" y="64576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47319" y="64576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984051" y="581118"/>
            <a:ext cx="10668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94387" y="645763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94387" y="2678780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73291" y="645763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94387" y="645763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971173" y="689050"/>
            <a:ext cx="1702435" cy="1773555"/>
          </a:xfrm>
          <a:custGeom>
            <a:avLst/>
            <a:gdLst/>
            <a:ahLst/>
            <a:cxnLst/>
            <a:rect l="l" t="t" r="r" b="b"/>
            <a:pathLst>
              <a:path w="1702435" h="1773555">
                <a:moveTo>
                  <a:pt x="0" y="1773298"/>
                </a:moveTo>
                <a:lnTo>
                  <a:pt x="49480" y="1768255"/>
                </a:lnTo>
                <a:lnTo>
                  <a:pt x="99006" y="1763035"/>
                </a:lnTo>
                <a:lnTo>
                  <a:pt x="148545" y="1757570"/>
                </a:lnTo>
                <a:lnTo>
                  <a:pt x="198066" y="1751794"/>
                </a:lnTo>
                <a:lnTo>
                  <a:pt x="247538" y="1745640"/>
                </a:lnTo>
                <a:lnTo>
                  <a:pt x="296930" y="1739041"/>
                </a:lnTo>
                <a:lnTo>
                  <a:pt x="346210" y="1731930"/>
                </a:lnTo>
                <a:lnTo>
                  <a:pt x="395348" y="1724240"/>
                </a:lnTo>
                <a:lnTo>
                  <a:pt x="436349" y="1717027"/>
                </a:lnTo>
                <a:lnTo>
                  <a:pt x="482450" y="1708619"/>
                </a:lnTo>
                <a:lnTo>
                  <a:pt x="531779" y="1698589"/>
                </a:lnTo>
                <a:lnTo>
                  <a:pt x="582464" y="1686509"/>
                </a:lnTo>
                <a:lnTo>
                  <a:pt x="632632" y="1671952"/>
                </a:lnTo>
                <a:lnTo>
                  <a:pt x="680412" y="1654493"/>
                </a:lnTo>
                <a:lnTo>
                  <a:pt x="723930" y="1633704"/>
                </a:lnTo>
                <a:lnTo>
                  <a:pt x="761316" y="1609159"/>
                </a:lnTo>
                <a:lnTo>
                  <a:pt x="790697" y="1580431"/>
                </a:lnTo>
                <a:lnTo>
                  <a:pt x="824847" y="1510209"/>
                </a:lnTo>
                <a:lnTo>
                  <a:pt x="842162" y="878713"/>
                </a:lnTo>
                <a:lnTo>
                  <a:pt x="859476" y="246732"/>
                </a:lnTo>
                <a:lnTo>
                  <a:pt x="876791" y="202961"/>
                </a:lnTo>
                <a:lnTo>
                  <a:pt x="923215" y="149237"/>
                </a:lnTo>
                <a:lnTo>
                  <a:pt x="960772" y="125368"/>
                </a:lnTo>
                <a:lnTo>
                  <a:pt x="1004423" y="105399"/>
                </a:lnTo>
                <a:lnTo>
                  <a:pt x="1052297" y="88864"/>
                </a:lnTo>
                <a:lnTo>
                  <a:pt x="1102520" y="75296"/>
                </a:lnTo>
                <a:lnTo>
                  <a:pt x="1153220" y="64228"/>
                </a:lnTo>
                <a:lnTo>
                  <a:pt x="1202524" y="55194"/>
                </a:lnTo>
                <a:lnTo>
                  <a:pt x="1248560" y="47726"/>
                </a:lnTo>
                <a:lnTo>
                  <a:pt x="1289454" y="41358"/>
                </a:lnTo>
                <a:lnTo>
                  <a:pt x="1340818" y="34531"/>
                </a:lnTo>
                <a:lnTo>
                  <a:pt x="1392285" y="28314"/>
                </a:lnTo>
                <a:lnTo>
                  <a:pt x="1443835" y="22640"/>
                </a:lnTo>
                <a:lnTo>
                  <a:pt x="1495448" y="17439"/>
                </a:lnTo>
                <a:lnTo>
                  <a:pt x="1547103" y="12643"/>
                </a:lnTo>
                <a:lnTo>
                  <a:pt x="1598780" y="8183"/>
                </a:lnTo>
                <a:lnTo>
                  <a:pt x="1650458" y="3992"/>
                </a:lnTo>
                <a:lnTo>
                  <a:pt x="1702117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94387" y="2462342"/>
            <a:ext cx="876935" cy="71755"/>
          </a:xfrm>
          <a:custGeom>
            <a:avLst/>
            <a:gdLst/>
            <a:ahLst/>
            <a:cxnLst/>
            <a:rect l="l" t="t" r="r" b="b"/>
            <a:pathLst>
              <a:path w="876935" h="71755">
                <a:moveTo>
                  <a:pt x="0" y="71185"/>
                </a:moveTo>
                <a:lnTo>
                  <a:pt x="51603" y="67295"/>
                </a:lnTo>
                <a:lnTo>
                  <a:pt x="103206" y="63431"/>
                </a:lnTo>
                <a:lnTo>
                  <a:pt x="154810" y="59582"/>
                </a:lnTo>
                <a:lnTo>
                  <a:pt x="206413" y="55733"/>
                </a:lnTo>
                <a:lnTo>
                  <a:pt x="258014" y="51873"/>
                </a:lnTo>
                <a:lnTo>
                  <a:pt x="309612" y="47989"/>
                </a:lnTo>
                <a:lnTo>
                  <a:pt x="361207" y="44068"/>
                </a:lnTo>
                <a:lnTo>
                  <a:pt x="412798" y="40096"/>
                </a:lnTo>
                <a:lnTo>
                  <a:pt x="464383" y="36062"/>
                </a:lnTo>
                <a:lnTo>
                  <a:pt x="515963" y="31953"/>
                </a:lnTo>
                <a:lnTo>
                  <a:pt x="567536" y="27755"/>
                </a:lnTo>
                <a:lnTo>
                  <a:pt x="619101" y="23456"/>
                </a:lnTo>
                <a:lnTo>
                  <a:pt x="670658" y="19044"/>
                </a:lnTo>
                <a:lnTo>
                  <a:pt x="722206" y="14504"/>
                </a:lnTo>
                <a:lnTo>
                  <a:pt x="773743" y="9826"/>
                </a:lnTo>
                <a:lnTo>
                  <a:pt x="825270" y="4995"/>
                </a:lnTo>
                <a:lnTo>
                  <a:pt x="876785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971173" y="689050"/>
            <a:ext cx="1702435" cy="1628139"/>
          </a:xfrm>
          <a:custGeom>
            <a:avLst/>
            <a:gdLst/>
            <a:ahLst/>
            <a:cxnLst/>
            <a:rect l="l" t="t" r="r" b="b"/>
            <a:pathLst>
              <a:path w="1702435" h="1628139">
                <a:moveTo>
                  <a:pt x="0" y="1628046"/>
                </a:moveTo>
                <a:lnTo>
                  <a:pt x="49516" y="1623020"/>
                </a:lnTo>
                <a:lnTo>
                  <a:pt x="99046" y="1617813"/>
                </a:lnTo>
                <a:lnTo>
                  <a:pt x="148568" y="1612355"/>
                </a:lnTo>
                <a:lnTo>
                  <a:pt x="198063" y="1606582"/>
                </a:lnTo>
                <a:lnTo>
                  <a:pt x="247510" y="1600425"/>
                </a:lnTo>
                <a:lnTo>
                  <a:pt x="296887" y="1593818"/>
                </a:lnTo>
                <a:lnTo>
                  <a:pt x="346173" y="1586695"/>
                </a:lnTo>
                <a:lnTo>
                  <a:pt x="395348" y="1578988"/>
                </a:lnTo>
                <a:lnTo>
                  <a:pt x="436350" y="1571808"/>
                </a:lnTo>
                <a:lnTo>
                  <a:pt x="482457" y="1563419"/>
                </a:lnTo>
                <a:lnTo>
                  <a:pt x="531794" y="1553395"/>
                </a:lnTo>
                <a:lnTo>
                  <a:pt x="582488" y="1541312"/>
                </a:lnTo>
                <a:lnTo>
                  <a:pt x="632663" y="1526748"/>
                </a:lnTo>
                <a:lnTo>
                  <a:pt x="680446" y="1509276"/>
                </a:lnTo>
                <a:lnTo>
                  <a:pt x="723962" y="1488474"/>
                </a:lnTo>
                <a:lnTo>
                  <a:pt x="761337" y="1463916"/>
                </a:lnTo>
                <a:lnTo>
                  <a:pt x="790697" y="1435179"/>
                </a:lnTo>
                <a:lnTo>
                  <a:pt x="824847" y="1365442"/>
                </a:lnTo>
                <a:lnTo>
                  <a:pt x="859476" y="246732"/>
                </a:lnTo>
                <a:lnTo>
                  <a:pt x="876791" y="202961"/>
                </a:lnTo>
                <a:lnTo>
                  <a:pt x="923215" y="149237"/>
                </a:lnTo>
                <a:lnTo>
                  <a:pt x="960772" y="125368"/>
                </a:lnTo>
                <a:lnTo>
                  <a:pt x="1004423" y="105399"/>
                </a:lnTo>
                <a:lnTo>
                  <a:pt x="1052297" y="88864"/>
                </a:lnTo>
                <a:lnTo>
                  <a:pt x="1102520" y="75296"/>
                </a:lnTo>
                <a:lnTo>
                  <a:pt x="1153220" y="64228"/>
                </a:lnTo>
                <a:lnTo>
                  <a:pt x="1202524" y="55194"/>
                </a:lnTo>
                <a:lnTo>
                  <a:pt x="1248560" y="47726"/>
                </a:lnTo>
                <a:lnTo>
                  <a:pt x="1289454" y="41358"/>
                </a:lnTo>
                <a:lnTo>
                  <a:pt x="1340859" y="34506"/>
                </a:lnTo>
                <a:lnTo>
                  <a:pt x="1392334" y="28289"/>
                </a:lnTo>
                <a:lnTo>
                  <a:pt x="1443870" y="22631"/>
                </a:lnTo>
                <a:lnTo>
                  <a:pt x="1495457" y="17454"/>
                </a:lnTo>
                <a:lnTo>
                  <a:pt x="1547085" y="12680"/>
                </a:lnTo>
                <a:lnTo>
                  <a:pt x="1598744" y="8231"/>
                </a:lnTo>
                <a:lnTo>
                  <a:pt x="1650425" y="4030"/>
                </a:lnTo>
                <a:lnTo>
                  <a:pt x="1702117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094387" y="2317096"/>
            <a:ext cx="876935" cy="71755"/>
          </a:xfrm>
          <a:custGeom>
            <a:avLst/>
            <a:gdLst/>
            <a:ahLst/>
            <a:cxnLst/>
            <a:rect l="l" t="t" r="r" b="b"/>
            <a:pathLst>
              <a:path w="876935" h="71755">
                <a:moveTo>
                  <a:pt x="0" y="71180"/>
                </a:moveTo>
                <a:lnTo>
                  <a:pt x="51596" y="67286"/>
                </a:lnTo>
                <a:lnTo>
                  <a:pt x="103196" y="63421"/>
                </a:lnTo>
                <a:lnTo>
                  <a:pt x="154799" y="59573"/>
                </a:lnTo>
                <a:lnTo>
                  <a:pt x="206403" y="55728"/>
                </a:lnTo>
                <a:lnTo>
                  <a:pt x="258006" y="51873"/>
                </a:lnTo>
                <a:lnTo>
                  <a:pt x="309609" y="47995"/>
                </a:lnTo>
                <a:lnTo>
                  <a:pt x="361208" y="44079"/>
                </a:lnTo>
                <a:lnTo>
                  <a:pt x="412804" y="40114"/>
                </a:lnTo>
                <a:lnTo>
                  <a:pt x="464395" y="36086"/>
                </a:lnTo>
                <a:lnTo>
                  <a:pt x="515979" y="31981"/>
                </a:lnTo>
                <a:lnTo>
                  <a:pt x="567556" y="27787"/>
                </a:lnTo>
                <a:lnTo>
                  <a:pt x="619123" y="23490"/>
                </a:lnTo>
                <a:lnTo>
                  <a:pt x="670681" y="19077"/>
                </a:lnTo>
                <a:lnTo>
                  <a:pt x="722227" y="14535"/>
                </a:lnTo>
                <a:lnTo>
                  <a:pt x="773761" y="9850"/>
                </a:lnTo>
                <a:lnTo>
                  <a:pt x="825280" y="5009"/>
                </a:lnTo>
                <a:lnTo>
                  <a:pt x="876785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971173" y="689050"/>
            <a:ext cx="1702435" cy="1483360"/>
          </a:xfrm>
          <a:custGeom>
            <a:avLst/>
            <a:gdLst/>
            <a:ahLst/>
            <a:cxnLst/>
            <a:rect l="l" t="t" r="r" b="b"/>
            <a:pathLst>
              <a:path w="1702435" h="1483360">
                <a:moveTo>
                  <a:pt x="0" y="1482794"/>
                </a:moveTo>
                <a:lnTo>
                  <a:pt x="49463" y="1477836"/>
                </a:lnTo>
                <a:lnTo>
                  <a:pt x="98989" y="1472644"/>
                </a:lnTo>
                <a:lnTo>
                  <a:pt x="148539" y="1467169"/>
                </a:lnTo>
                <a:lnTo>
                  <a:pt x="198076" y="1461358"/>
                </a:lnTo>
                <a:lnTo>
                  <a:pt x="247564" y="1455160"/>
                </a:lnTo>
                <a:lnTo>
                  <a:pt x="296963" y="1448525"/>
                </a:lnTo>
                <a:lnTo>
                  <a:pt x="346237" y="1441401"/>
                </a:lnTo>
                <a:lnTo>
                  <a:pt x="395348" y="1433736"/>
                </a:lnTo>
                <a:lnTo>
                  <a:pt x="442947" y="1425909"/>
                </a:lnTo>
                <a:lnTo>
                  <a:pt x="490350" y="1416948"/>
                </a:lnTo>
                <a:lnTo>
                  <a:pt x="537507" y="1406762"/>
                </a:lnTo>
                <a:lnTo>
                  <a:pt x="584365" y="1395263"/>
                </a:lnTo>
                <a:lnTo>
                  <a:pt x="628482" y="1382696"/>
                </a:lnTo>
                <a:lnTo>
                  <a:pt x="673843" y="1366908"/>
                </a:lnTo>
                <a:lnTo>
                  <a:pt x="717779" y="1346870"/>
                </a:lnTo>
                <a:lnTo>
                  <a:pt x="757620" y="1321555"/>
                </a:lnTo>
                <a:lnTo>
                  <a:pt x="790697" y="1289933"/>
                </a:lnTo>
                <a:lnTo>
                  <a:pt x="824847" y="1220190"/>
                </a:lnTo>
                <a:lnTo>
                  <a:pt x="859476" y="246732"/>
                </a:lnTo>
                <a:lnTo>
                  <a:pt x="876791" y="202961"/>
                </a:lnTo>
                <a:lnTo>
                  <a:pt x="923215" y="149237"/>
                </a:lnTo>
                <a:lnTo>
                  <a:pt x="960772" y="125368"/>
                </a:lnTo>
                <a:lnTo>
                  <a:pt x="1004423" y="105399"/>
                </a:lnTo>
                <a:lnTo>
                  <a:pt x="1052297" y="88864"/>
                </a:lnTo>
                <a:lnTo>
                  <a:pt x="1102520" y="75296"/>
                </a:lnTo>
                <a:lnTo>
                  <a:pt x="1153220" y="64228"/>
                </a:lnTo>
                <a:lnTo>
                  <a:pt x="1202524" y="55194"/>
                </a:lnTo>
                <a:lnTo>
                  <a:pt x="1248560" y="47726"/>
                </a:lnTo>
                <a:lnTo>
                  <a:pt x="1289454" y="41358"/>
                </a:lnTo>
                <a:lnTo>
                  <a:pt x="1340859" y="34506"/>
                </a:lnTo>
                <a:lnTo>
                  <a:pt x="1392334" y="28289"/>
                </a:lnTo>
                <a:lnTo>
                  <a:pt x="1443870" y="22631"/>
                </a:lnTo>
                <a:lnTo>
                  <a:pt x="1495457" y="17454"/>
                </a:lnTo>
                <a:lnTo>
                  <a:pt x="1547085" y="12680"/>
                </a:lnTo>
                <a:lnTo>
                  <a:pt x="1598744" y="8231"/>
                </a:lnTo>
                <a:lnTo>
                  <a:pt x="1650425" y="4030"/>
                </a:lnTo>
                <a:lnTo>
                  <a:pt x="1702117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094387" y="2171844"/>
            <a:ext cx="876935" cy="71755"/>
          </a:xfrm>
          <a:custGeom>
            <a:avLst/>
            <a:gdLst/>
            <a:ahLst/>
            <a:cxnLst/>
            <a:rect l="l" t="t" r="r" b="b"/>
            <a:pathLst>
              <a:path w="876935" h="71755">
                <a:moveTo>
                  <a:pt x="0" y="71185"/>
                </a:moveTo>
                <a:lnTo>
                  <a:pt x="51596" y="67301"/>
                </a:lnTo>
                <a:lnTo>
                  <a:pt x="103196" y="63446"/>
                </a:lnTo>
                <a:lnTo>
                  <a:pt x="154799" y="59606"/>
                </a:lnTo>
                <a:lnTo>
                  <a:pt x="206403" y="55769"/>
                </a:lnTo>
                <a:lnTo>
                  <a:pt x="258007" y="51920"/>
                </a:lnTo>
                <a:lnTo>
                  <a:pt x="309610" y="48047"/>
                </a:lnTo>
                <a:lnTo>
                  <a:pt x="361210" y="44135"/>
                </a:lnTo>
                <a:lnTo>
                  <a:pt x="412806" y="40173"/>
                </a:lnTo>
                <a:lnTo>
                  <a:pt x="464397" y="36145"/>
                </a:lnTo>
                <a:lnTo>
                  <a:pt x="515981" y="32040"/>
                </a:lnTo>
                <a:lnTo>
                  <a:pt x="567558" y="27844"/>
                </a:lnTo>
                <a:lnTo>
                  <a:pt x="619126" y="23543"/>
                </a:lnTo>
                <a:lnTo>
                  <a:pt x="670683" y="19123"/>
                </a:lnTo>
                <a:lnTo>
                  <a:pt x="722229" y="14573"/>
                </a:lnTo>
                <a:lnTo>
                  <a:pt x="773762" y="9878"/>
                </a:lnTo>
                <a:lnTo>
                  <a:pt x="825281" y="5024"/>
                </a:lnTo>
                <a:lnTo>
                  <a:pt x="876785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971173" y="689050"/>
            <a:ext cx="1702435" cy="1337945"/>
          </a:xfrm>
          <a:custGeom>
            <a:avLst/>
            <a:gdLst/>
            <a:ahLst/>
            <a:cxnLst/>
            <a:rect l="l" t="t" r="r" b="b"/>
            <a:pathLst>
              <a:path w="1702435" h="1337945">
                <a:moveTo>
                  <a:pt x="0" y="1337548"/>
                </a:moveTo>
                <a:lnTo>
                  <a:pt x="49579" y="1332640"/>
                </a:lnTo>
                <a:lnTo>
                  <a:pt x="99107" y="1327434"/>
                </a:lnTo>
                <a:lnTo>
                  <a:pt x="148587" y="1321913"/>
                </a:lnTo>
                <a:lnTo>
                  <a:pt x="198020" y="1316059"/>
                </a:lnTo>
                <a:lnTo>
                  <a:pt x="247410" y="1309856"/>
                </a:lnTo>
                <a:lnTo>
                  <a:pt x="296760" y="1303285"/>
                </a:lnTo>
                <a:lnTo>
                  <a:pt x="346072" y="1296328"/>
                </a:lnTo>
                <a:lnTo>
                  <a:pt x="395348" y="1288969"/>
                </a:lnTo>
                <a:lnTo>
                  <a:pt x="436529" y="1281552"/>
                </a:lnTo>
                <a:lnTo>
                  <a:pt x="482667" y="1273037"/>
                </a:lnTo>
                <a:lnTo>
                  <a:pt x="531933" y="1262970"/>
                </a:lnTo>
                <a:lnTo>
                  <a:pt x="582495" y="1250900"/>
                </a:lnTo>
                <a:lnTo>
                  <a:pt x="632524" y="1236375"/>
                </a:lnTo>
                <a:lnTo>
                  <a:pt x="680188" y="1218942"/>
                </a:lnTo>
                <a:lnTo>
                  <a:pt x="723659" y="1198151"/>
                </a:lnTo>
                <a:lnTo>
                  <a:pt x="761105" y="1173548"/>
                </a:lnTo>
                <a:lnTo>
                  <a:pt x="790697" y="1144681"/>
                </a:lnTo>
                <a:lnTo>
                  <a:pt x="824847" y="1074944"/>
                </a:lnTo>
                <a:lnTo>
                  <a:pt x="859476" y="246732"/>
                </a:lnTo>
                <a:lnTo>
                  <a:pt x="876791" y="202961"/>
                </a:lnTo>
                <a:lnTo>
                  <a:pt x="923215" y="149237"/>
                </a:lnTo>
                <a:lnTo>
                  <a:pt x="960772" y="125368"/>
                </a:lnTo>
                <a:lnTo>
                  <a:pt x="1004423" y="105399"/>
                </a:lnTo>
                <a:lnTo>
                  <a:pt x="1052297" y="88864"/>
                </a:lnTo>
                <a:lnTo>
                  <a:pt x="1102520" y="75296"/>
                </a:lnTo>
                <a:lnTo>
                  <a:pt x="1153220" y="64228"/>
                </a:lnTo>
                <a:lnTo>
                  <a:pt x="1202524" y="55194"/>
                </a:lnTo>
                <a:lnTo>
                  <a:pt x="1248560" y="47726"/>
                </a:lnTo>
                <a:lnTo>
                  <a:pt x="1289454" y="41358"/>
                </a:lnTo>
                <a:lnTo>
                  <a:pt x="1340859" y="34506"/>
                </a:lnTo>
                <a:lnTo>
                  <a:pt x="1392334" y="28289"/>
                </a:lnTo>
                <a:lnTo>
                  <a:pt x="1443870" y="22631"/>
                </a:lnTo>
                <a:lnTo>
                  <a:pt x="1495457" y="17454"/>
                </a:lnTo>
                <a:lnTo>
                  <a:pt x="1547085" y="12680"/>
                </a:lnTo>
                <a:lnTo>
                  <a:pt x="1598744" y="8231"/>
                </a:lnTo>
                <a:lnTo>
                  <a:pt x="1650425" y="4030"/>
                </a:lnTo>
                <a:lnTo>
                  <a:pt x="1702117" y="0"/>
                </a:lnTo>
              </a:path>
            </a:pathLst>
          </a:custGeom>
          <a:ln w="1154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94387" y="2026598"/>
            <a:ext cx="876935" cy="71755"/>
          </a:xfrm>
          <a:custGeom>
            <a:avLst/>
            <a:gdLst/>
            <a:ahLst/>
            <a:cxnLst/>
            <a:rect l="l" t="t" r="r" b="b"/>
            <a:pathLst>
              <a:path w="876935" h="71755">
                <a:moveTo>
                  <a:pt x="0" y="71180"/>
                </a:moveTo>
                <a:lnTo>
                  <a:pt x="51596" y="67293"/>
                </a:lnTo>
                <a:lnTo>
                  <a:pt x="103197" y="63436"/>
                </a:lnTo>
                <a:lnTo>
                  <a:pt x="154800" y="59597"/>
                </a:lnTo>
                <a:lnTo>
                  <a:pt x="206404" y="55761"/>
                </a:lnTo>
                <a:lnTo>
                  <a:pt x="258008" y="51915"/>
                </a:lnTo>
                <a:lnTo>
                  <a:pt x="309611" y="48045"/>
                </a:lnTo>
                <a:lnTo>
                  <a:pt x="361212" y="44137"/>
                </a:lnTo>
                <a:lnTo>
                  <a:pt x="412808" y="40179"/>
                </a:lnTo>
                <a:lnTo>
                  <a:pt x="464399" y="36155"/>
                </a:lnTo>
                <a:lnTo>
                  <a:pt x="515984" y="32053"/>
                </a:lnTo>
                <a:lnTo>
                  <a:pt x="567561" y="27860"/>
                </a:lnTo>
                <a:lnTo>
                  <a:pt x="619128" y="23560"/>
                </a:lnTo>
                <a:lnTo>
                  <a:pt x="670686" y="19141"/>
                </a:lnTo>
                <a:lnTo>
                  <a:pt x="722231" y="14589"/>
                </a:lnTo>
                <a:lnTo>
                  <a:pt x="773764" y="9891"/>
                </a:lnTo>
                <a:lnTo>
                  <a:pt x="825282" y="5032"/>
                </a:lnTo>
                <a:lnTo>
                  <a:pt x="876785" y="0"/>
                </a:lnTo>
              </a:path>
            </a:pathLst>
          </a:custGeom>
          <a:ln w="1154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866663" y="1589234"/>
            <a:ext cx="117475" cy="146685"/>
          </a:xfrm>
          <a:prstGeom prst="rect">
            <a:avLst/>
          </a:prstGeom>
        </p:spPr>
        <p:txBody>
          <a:bodyPr wrap="square" lIns="0" tIns="101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 spc="-5" b="1">
                <a:latin typeface="Times New Roman"/>
                <a:cs typeface="Times New Roman"/>
              </a:rPr>
              <a:t>pM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536193" y="928371"/>
            <a:ext cx="4051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c(M)</a:t>
            </a:r>
            <a:r>
              <a:rPr dirty="0" sz="600" spc="-40">
                <a:latin typeface="Times New Roman"/>
                <a:cs typeface="Times New Roman"/>
              </a:rPr>
              <a:t> </a:t>
            </a:r>
            <a:r>
              <a:rPr dirty="0" sz="600" spc="15">
                <a:latin typeface="Times New Roman"/>
                <a:cs typeface="Times New Roman"/>
              </a:rPr>
              <a:t>mol/L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992061" y="1906162"/>
            <a:ext cx="4216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c(Y) </a:t>
            </a:r>
            <a:r>
              <a:rPr dirty="0" sz="600" spc="20">
                <a:latin typeface="Times New Roman"/>
                <a:cs typeface="Times New Roman"/>
              </a:rPr>
              <a:t>=</a:t>
            </a:r>
            <a:r>
              <a:rPr dirty="0" sz="600" spc="-65">
                <a:latin typeface="Times New Roman"/>
                <a:cs typeface="Times New Roman"/>
              </a:rPr>
              <a:t> </a:t>
            </a:r>
            <a:r>
              <a:rPr dirty="0" sz="600" spc="15">
                <a:latin typeface="Times New Roman"/>
                <a:cs typeface="Times New Roman"/>
              </a:rPr>
              <a:t>c(M)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997830" y="939917"/>
            <a:ext cx="33401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>
                <a:latin typeface="Times New Roman"/>
                <a:cs typeface="Times New Roman"/>
              </a:rPr>
              <a:t>lg </a:t>
            </a:r>
            <a:r>
              <a:rPr dirty="0" sz="600" spc="25">
                <a:latin typeface="Times New Roman"/>
                <a:cs typeface="Times New Roman"/>
              </a:rPr>
              <a:t>K </a:t>
            </a:r>
            <a:r>
              <a:rPr dirty="0" sz="600" spc="20">
                <a:latin typeface="Times New Roman"/>
                <a:cs typeface="Times New Roman"/>
              </a:rPr>
              <a:t>=</a:t>
            </a:r>
            <a:r>
              <a:rPr dirty="0" sz="600" spc="-90">
                <a:latin typeface="Times New Roman"/>
                <a:cs typeface="Times New Roman"/>
              </a:rPr>
              <a:t> </a:t>
            </a:r>
            <a:r>
              <a:rPr dirty="0" sz="600" spc="1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532059" y="1103150"/>
            <a:ext cx="642620" cy="589915"/>
          </a:xfrm>
          <a:custGeom>
            <a:avLst/>
            <a:gdLst/>
            <a:ahLst/>
            <a:cxnLst/>
            <a:rect l="l" t="t" r="r" b="b"/>
            <a:pathLst>
              <a:path w="642619" h="589914">
                <a:moveTo>
                  <a:pt x="0" y="589658"/>
                </a:moveTo>
                <a:lnTo>
                  <a:pt x="642081" y="589658"/>
                </a:lnTo>
                <a:lnTo>
                  <a:pt x="642081" y="0"/>
                </a:lnTo>
                <a:lnTo>
                  <a:pt x="0" y="0"/>
                </a:lnTo>
                <a:lnTo>
                  <a:pt x="0" y="5896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532059" y="1103156"/>
            <a:ext cx="642620" cy="589915"/>
          </a:xfrm>
          <a:custGeom>
            <a:avLst/>
            <a:gdLst/>
            <a:ahLst/>
            <a:cxnLst/>
            <a:rect l="l" t="t" r="r" b="b"/>
            <a:pathLst>
              <a:path w="642619" h="589914">
                <a:moveTo>
                  <a:pt x="0" y="589652"/>
                </a:moveTo>
                <a:lnTo>
                  <a:pt x="0" y="0"/>
                </a:lnTo>
                <a:lnTo>
                  <a:pt x="642081" y="0"/>
                </a:lnTo>
                <a:lnTo>
                  <a:pt x="642081" y="589652"/>
                </a:lnTo>
                <a:lnTo>
                  <a:pt x="0" y="589652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579195" y="1186843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 h="0">
                <a:moveTo>
                  <a:pt x="0" y="0"/>
                </a:moveTo>
                <a:lnTo>
                  <a:pt x="238074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579195" y="1327281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 h="0">
                <a:moveTo>
                  <a:pt x="0" y="0"/>
                </a:moveTo>
                <a:lnTo>
                  <a:pt x="238074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579195" y="1468204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 h="0">
                <a:moveTo>
                  <a:pt x="0" y="0"/>
                </a:moveTo>
                <a:lnTo>
                  <a:pt x="238074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1532059" y="1103156"/>
            <a:ext cx="642620" cy="58991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algn="ctr" marL="76835">
              <a:lnSpc>
                <a:spcPct val="100000"/>
              </a:lnSpc>
              <a:spcBef>
                <a:spcPts val="275"/>
              </a:spcBef>
            </a:pPr>
            <a:r>
              <a:rPr dirty="0" sz="600" spc="15">
                <a:latin typeface="Times New Roman"/>
                <a:cs typeface="Times New Roman"/>
              </a:rPr>
              <a:t>0.1</a:t>
            </a:r>
            <a:endParaRPr sz="600">
              <a:latin typeface="Times New Roman"/>
              <a:cs typeface="Times New Roman"/>
            </a:endParaRPr>
          </a:p>
          <a:p>
            <a:pPr algn="ctr" marL="117475">
              <a:lnSpc>
                <a:spcPct val="100000"/>
              </a:lnSpc>
              <a:spcBef>
                <a:spcPts val="390"/>
              </a:spcBef>
            </a:pPr>
            <a:r>
              <a:rPr dirty="0" sz="600" spc="15">
                <a:latin typeface="Times New Roman"/>
                <a:cs typeface="Times New Roman"/>
              </a:rPr>
              <a:t>0.01</a:t>
            </a:r>
            <a:endParaRPr sz="600">
              <a:latin typeface="Times New Roman"/>
              <a:cs typeface="Times New Roman"/>
            </a:endParaRPr>
          </a:p>
          <a:p>
            <a:pPr algn="ctr" marL="158115">
              <a:lnSpc>
                <a:spcPct val="100000"/>
              </a:lnSpc>
              <a:spcBef>
                <a:spcPts val="390"/>
              </a:spcBef>
            </a:pPr>
            <a:r>
              <a:rPr dirty="0" sz="600" spc="15">
                <a:latin typeface="Times New Roman"/>
                <a:cs typeface="Times New Roman"/>
              </a:rPr>
              <a:t>0.001</a:t>
            </a:r>
            <a:endParaRPr sz="600">
              <a:latin typeface="Times New Roman"/>
              <a:cs typeface="Times New Roman"/>
            </a:endParaRPr>
          </a:p>
          <a:p>
            <a:pPr algn="ctr" marL="198120">
              <a:lnSpc>
                <a:spcPct val="100000"/>
              </a:lnSpc>
              <a:spcBef>
                <a:spcPts val="384"/>
              </a:spcBef>
            </a:pPr>
            <a:r>
              <a:rPr dirty="0" sz="600" spc="15">
                <a:latin typeface="Times New Roman"/>
                <a:cs typeface="Times New Roman"/>
              </a:rPr>
              <a:t>0.0001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579195" y="1608643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 h="0">
                <a:moveTo>
                  <a:pt x="0" y="0"/>
                </a:moveTo>
                <a:lnTo>
                  <a:pt x="238074" y="0"/>
                </a:lnTo>
              </a:path>
            </a:pathLst>
          </a:custGeom>
          <a:ln w="11543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462201" y="2752169"/>
            <a:ext cx="1684020" cy="4997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58115">
              <a:lnSpc>
                <a:spcPct val="100000"/>
              </a:lnSpc>
              <a:spcBef>
                <a:spcPts val="125"/>
              </a:spcBef>
            </a:pPr>
            <a:r>
              <a:rPr dirty="0" sz="700" spc="10">
                <a:latin typeface="Symbol"/>
                <a:cs typeface="Symbol"/>
              </a:rPr>
              <a:t></a:t>
            </a:r>
            <a:endParaRPr sz="7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9:</a:t>
            </a:r>
            <a:r>
              <a:rPr dirty="0" sz="1000" spc="-2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不</a:t>
            </a:r>
            <a:r>
              <a:rPr dirty="0" sz="1050" spc="-5">
                <a:latin typeface="Arial Unicode MS"/>
                <a:cs typeface="Arial Unicode MS"/>
              </a:rPr>
              <a:t>同浓度时的滴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化学计量点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175232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1606753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159405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1225804"/>
            <a:ext cx="50749" cy="3809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1219663"/>
            <a:ext cx="4432935" cy="438150"/>
          </a:xfrm>
          <a:custGeom>
            <a:avLst/>
            <a:gdLst/>
            <a:ahLst/>
            <a:cxnLst/>
            <a:rect l="l" t="t" r="r" b="b"/>
            <a:pathLst>
              <a:path w="4432935" h="438150">
                <a:moveTo>
                  <a:pt x="4432566" y="0"/>
                </a:moveTo>
                <a:lnTo>
                  <a:pt x="0" y="0"/>
                </a:lnTo>
                <a:lnTo>
                  <a:pt x="0" y="387090"/>
                </a:lnTo>
                <a:lnTo>
                  <a:pt x="4008" y="406815"/>
                </a:lnTo>
                <a:lnTo>
                  <a:pt x="14922" y="422967"/>
                </a:lnTo>
                <a:lnTo>
                  <a:pt x="31075" y="433882"/>
                </a:lnTo>
                <a:lnTo>
                  <a:pt x="50800" y="437890"/>
                </a:lnTo>
                <a:lnTo>
                  <a:pt x="4381765" y="437890"/>
                </a:lnTo>
                <a:lnTo>
                  <a:pt x="4401490" y="433882"/>
                </a:lnTo>
                <a:lnTo>
                  <a:pt x="4417643" y="422967"/>
                </a:lnTo>
                <a:lnTo>
                  <a:pt x="4428558" y="406815"/>
                </a:lnTo>
                <a:lnTo>
                  <a:pt x="4432566" y="387090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263900"/>
            <a:ext cx="0" cy="361950"/>
          </a:xfrm>
          <a:custGeom>
            <a:avLst/>
            <a:gdLst/>
            <a:ahLst/>
            <a:cxnLst/>
            <a:rect l="l" t="t" r="r" b="b"/>
            <a:pathLst>
              <a:path w="0" h="361950">
                <a:moveTo>
                  <a:pt x="0" y="36190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25120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3850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22580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13674" y="1415618"/>
            <a:ext cx="1143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9700" y="1332204"/>
            <a:ext cx="4705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9250" algn="l"/>
              </a:tabLst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44" y="618121"/>
            <a:ext cx="4264025" cy="6915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如果是等浓度滴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即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5" b="0" i="1">
                <a:latin typeface="Bookman Old Style"/>
                <a:cs typeface="Bookman Old Style"/>
              </a:rPr>
              <a:t>c</a:t>
            </a:r>
            <a:r>
              <a:rPr dirty="0" sz="1100" spc="-35">
                <a:latin typeface="Georgia"/>
                <a:cs typeface="Georgia"/>
              </a:rPr>
              <a:t>(Y)</a:t>
            </a:r>
            <a:r>
              <a:rPr dirty="0" sz="1200" spc="-3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则化学计量点</a:t>
            </a:r>
            <a:r>
              <a:rPr dirty="0" sz="1200" spc="175">
                <a:latin typeface="Arial Unicode MS"/>
                <a:cs typeface="Arial Unicode MS"/>
              </a:rPr>
              <a:t>时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4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1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260">
                <a:latin typeface="Arial Unicode MS"/>
                <a:cs typeface="Arial Unicode MS"/>
              </a:rPr>
              <a:t>从</a:t>
            </a:r>
            <a:r>
              <a:rPr dirty="0" sz="1200" spc="-60">
                <a:latin typeface="Arial Unicode MS"/>
                <a:cs typeface="Arial Unicode MS"/>
              </a:rPr>
              <a:t>（</a:t>
            </a:r>
            <a:r>
              <a:rPr dirty="0" sz="1100" spc="-60">
                <a:latin typeface="Georgia"/>
                <a:cs typeface="Georgia"/>
                <a:hlinkClick r:id="rId5" action="ppaction://hlinksldjump"/>
              </a:rPr>
              <a:t>13</a:t>
            </a:r>
            <a:r>
              <a:rPr dirty="0" sz="1200" spc="-6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式可得化学计量点时金属离子浓度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R="727075">
              <a:lnSpc>
                <a:spcPct val="100000"/>
              </a:lnSpc>
              <a:spcBef>
                <a:spcPts val="40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59508" y="1265936"/>
            <a:ext cx="1072515" cy="0"/>
          </a:xfrm>
          <a:custGeom>
            <a:avLst/>
            <a:gdLst/>
            <a:ahLst/>
            <a:cxnLst/>
            <a:rect l="l" t="t" r="r" b="b"/>
            <a:pathLst>
              <a:path w="1072514" h="0">
                <a:moveTo>
                  <a:pt x="0" y="0"/>
                </a:moveTo>
                <a:lnTo>
                  <a:pt x="107229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46808" y="1235913"/>
            <a:ext cx="13366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2</a:t>
            </a: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sz="1100" spc="20">
                <a:latin typeface="Georgia"/>
                <a:cs typeface="Georgia"/>
              </a:rPr>
              <a:t>(MY)</a:t>
            </a: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(M)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20964" y="1448816"/>
            <a:ext cx="1449705" cy="0"/>
          </a:xfrm>
          <a:custGeom>
            <a:avLst/>
            <a:gdLst/>
            <a:ahLst/>
            <a:cxnLst/>
            <a:rect l="l" t="t" r="r" b="b"/>
            <a:pathLst>
              <a:path w="1449704" h="0">
                <a:moveTo>
                  <a:pt x="0" y="0"/>
                </a:moveTo>
                <a:lnTo>
                  <a:pt x="144945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63495" y="1427238"/>
            <a:ext cx="564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</a:t>
            </a:r>
            <a:r>
              <a:rPr dirty="0" sz="1100" spc="65">
                <a:latin typeface="Georgia"/>
                <a:cs typeface="Georgia"/>
              </a:rPr>
              <a:t>Y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57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化学计量点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175232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1606753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159405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1225804"/>
            <a:ext cx="50749" cy="3809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1219663"/>
            <a:ext cx="4432935" cy="438150"/>
          </a:xfrm>
          <a:custGeom>
            <a:avLst/>
            <a:gdLst/>
            <a:ahLst/>
            <a:cxnLst/>
            <a:rect l="l" t="t" r="r" b="b"/>
            <a:pathLst>
              <a:path w="4432935" h="438150">
                <a:moveTo>
                  <a:pt x="4432566" y="0"/>
                </a:moveTo>
                <a:lnTo>
                  <a:pt x="0" y="0"/>
                </a:lnTo>
                <a:lnTo>
                  <a:pt x="0" y="387090"/>
                </a:lnTo>
                <a:lnTo>
                  <a:pt x="4008" y="406815"/>
                </a:lnTo>
                <a:lnTo>
                  <a:pt x="14922" y="422967"/>
                </a:lnTo>
                <a:lnTo>
                  <a:pt x="31075" y="433882"/>
                </a:lnTo>
                <a:lnTo>
                  <a:pt x="50800" y="437890"/>
                </a:lnTo>
                <a:lnTo>
                  <a:pt x="4381765" y="437890"/>
                </a:lnTo>
                <a:lnTo>
                  <a:pt x="4401490" y="433882"/>
                </a:lnTo>
                <a:lnTo>
                  <a:pt x="4417643" y="422967"/>
                </a:lnTo>
                <a:lnTo>
                  <a:pt x="4428558" y="406815"/>
                </a:lnTo>
                <a:lnTo>
                  <a:pt x="4432566" y="387090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263900"/>
            <a:ext cx="0" cy="361950"/>
          </a:xfrm>
          <a:custGeom>
            <a:avLst/>
            <a:gdLst/>
            <a:ahLst/>
            <a:cxnLst/>
            <a:rect l="l" t="t" r="r" b="b"/>
            <a:pathLst>
              <a:path w="0" h="361950">
                <a:moveTo>
                  <a:pt x="0" y="36190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25120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3850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22580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13674" y="1415618"/>
            <a:ext cx="1143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9700" y="1332204"/>
            <a:ext cx="4705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9250" algn="l"/>
              </a:tabLst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44" y="618121"/>
            <a:ext cx="4264025" cy="6915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如果是等浓度滴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即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5" b="0" i="1">
                <a:latin typeface="Bookman Old Style"/>
                <a:cs typeface="Bookman Old Style"/>
              </a:rPr>
              <a:t>c</a:t>
            </a:r>
            <a:r>
              <a:rPr dirty="0" sz="1100" spc="-35">
                <a:latin typeface="Georgia"/>
                <a:cs typeface="Georgia"/>
              </a:rPr>
              <a:t>(Y)</a:t>
            </a:r>
            <a:r>
              <a:rPr dirty="0" sz="1200" spc="-3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则化学计量点</a:t>
            </a:r>
            <a:r>
              <a:rPr dirty="0" sz="1200" spc="175">
                <a:latin typeface="Arial Unicode MS"/>
                <a:cs typeface="Arial Unicode MS"/>
              </a:rPr>
              <a:t>时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4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1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260">
                <a:latin typeface="Arial Unicode MS"/>
                <a:cs typeface="Arial Unicode MS"/>
              </a:rPr>
              <a:t>从</a:t>
            </a:r>
            <a:r>
              <a:rPr dirty="0" sz="1200" spc="-60">
                <a:latin typeface="Arial Unicode MS"/>
                <a:cs typeface="Arial Unicode MS"/>
              </a:rPr>
              <a:t>（</a:t>
            </a:r>
            <a:r>
              <a:rPr dirty="0" sz="1100" spc="-60">
                <a:latin typeface="Georgia"/>
                <a:cs typeface="Georgia"/>
                <a:hlinkClick r:id="rId5" action="ppaction://hlinksldjump"/>
              </a:rPr>
              <a:t>13</a:t>
            </a:r>
            <a:r>
              <a:rPr dirty="0" sz="1200" spc="-6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式可得化学计量点时金属离子浓度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R="727075">
              <a:lnSpc>
                <a:spcPct val="100000"/>
              </a:lnSpc>
              <a:spcBef>
                <a:spcPts val="40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59508" y="1265936"/>
            <a:ext cx="1072515" cy="0"/>
          </a:xfrm>
          <a:custGeom>
            <a:avLst/>
            <a:gdLst/>
            <a:ahLst/>
            <a:cxnLst/>
            <a:rect l="l" t="t" r="r" b="b"/>
            <a:pathLst>
              <a:path w="1072514" h="0">
                <a:moveTo>
                  <a:pt x="0" y="0"/>
                </a:moveTo>
                <a:lnTo>
                  <a:pt x="107229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46808" y="1235913"/>
            <a:ext cx="13366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2</a:t>
            </a: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sz="1100" spc="20">
                <a:latin typeface="Georgia"/>
                <a:cs typeface="Georgia"/>
              </a:rPr>
              <a:t>(MY)</a:t>
            </a: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(M)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20964" y="1448816"/>
            <a:ext cx="1449705" cy="0"/>
          </a:xfrm>
          <a:custGeom>
            <a:avLst/>
            <a:gdLst/>
            <a:ahLst/>
            <a:cxnLst/>
            <a:rect l="l" t="t" r="r" b="b"/>
            <a:pathLst>
              <a:path w="1449704" h="0">
                <a:moveTo>
                  <a:pt x="0" y="0"/>
                </a:moveTo>
                <a:lnTo>
                  <a:pt x="144945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63495" y="1427238"/>
            <a:ext cx="564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</a:t>
            </a:r>
            <a:r>
              <a:rPr dirty="0" sz="1100" spc="65">
                <a:latin typeface="Georgia"/>
                <a:cs typeface="Georgia"/>
              </a:rPr>
              <a:t>Y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7743" y="227751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8544" y="2774708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9344" y="2762008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20310" y="2328075"/>
            <a:ext cx="50749" cy="4466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7743" y="2321936"/>
            <a:ext cx="4432935" cy="504190"/>
          </a:xfrm>
          <a:custGeom>
            <a:avLst/>
            <a:gdLst/>
            <a:ahLst/>
            <a:cxnLst/>
            <a:rect l="l" t="t" r="r" b="b"/>
            <a:pathLst>
              <a:path w="4432935" h="504189">
                <a:moveTo>
                  <a:pt x="4432566" y="0"/>
                </a:moveTo>
                <a:lnTo>
                  <a:pt x="0" y="0"/>
                </a:lnTo>
                <a:lnTo>
                  <a:pt x="0" y="452771"/>
                </a:lnTo>
                <a:lnTo>
                  <a:pt x="4008" y="472496"/>
                </a:lnTo>
                <a:lnTo>
                  <a:pt x="14922" y="488649"/>
                </a:lnTo>
                <a:lnTo>
                  <a:pt x="31075" y="499563"/>
                </a:lnTo>
                <a:lnTo>
                  <a:pt x="50800" y="503572"/>
                </a:lnTo>
                <a:lnTo>
                  <a:pt x="4381765" y="503572"/>
                </a:lnTo>
                <a:lnTo>
                  <a:pt x="4401490" y="499563"/>
                </a:lnTo>
                <a:lnTo>
                  <a:pt x="4417643" y="488649"/>
                </a:lnTo>
                <a:lnTo>
                  <a:pt x="4428558" y="472496"/>
                </a:lnTo>
                <a:lnTo>
                  <a:pt x="4432566" y="452771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20310" y="2366174"/>
            <a:ext cx="0" cy="427990"/>
          </a:xfrm>
          <a:custGeom>
            <a:avLst/>
            <a:gdLst/>
            <a:ahLst/>
            <a:cxnLst/>
            <a:rect l="l" t="t" r="r" b="b"/>
            <a:pathLst>
              <a:path w="0" h="427989">
                <a:moveTo>
                  <a:pt x="0" y="4275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20310" y="235347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20310" y="234077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20310" y="23280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934273" y="2552407"/>
            <a:ext cx="1143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30298" y="2468994"/>
            <a:ext cx="4705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9250" algn="l"/>
              </a:tabLst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5844" y="1725866"/>
            <a:ext cx="4241800" cy="6858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通常情况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175">
                <a:latin typeface="Arial Unicode MS"/>
                <a:cs typeface="Arial Unicode MS"/>
              </a:rPr>
              <a:t>于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(MY)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很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只要浓度不是太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上式可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简化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97790">
              <a:lnSpc>
                <a:spcPct val="100000"/>
              </a:lnSpc>
              <a:spcBef>
                <a:spcPts val="359"/>
              </a:spcBef>
            </a:pPr>
            <a:r>
              <a:rPr dirty="0" sz="1100" spc="844">
                <a:latin typeface="Arial Unicode MS"/>
                <a:cs typeface="Arial Unicode MS"/>
              </a:rPr>
              <a:t>j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364930" y="2368219"/>
            <a:ext cx="500380" cy="0"/>
          </a:xfrm>
          <a:custGeom>
            <a:avLst/>
            <a:gdLst/>
            <a:ahLst/>
            <a:cxnLst/>
            <a:rect l="l" t="t" r="r" b="b"/>
            <a:pathLst>
              <a:path w="500380" h="0">
                <a:moveTo>
                  <a:pt x="0" y="0"/>
                </a:moveTo>
                <a:lnTo>
                  <a:pt x="50007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367407" y="2375268"/>
            <a:ext cx="360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02280" y="2458681"/>
            <a:ext cx="1606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67407" y="2564041"/>
            <a:ext cx="495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</a:t>
            </a:r>
            <a:r>
              <a:rPr dirty="0" sz="1100" spc="65">
                <a:latin typeface="Georgia"/>
                <a:cs typeface="Georgia"/>
              </a:rPr>
              <a:t>Y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10456" y="2468994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0444" y="2935338"/>
            <a:ext cx="39693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r>
              <a:rPr dirty="0" baseline="-13888" sz="900" spc="-22">
                <a:latin typeface="Times New Roman"/>
                <a:cs typeface="Times New Roman"/>
              </a:rPr>
              <a:t>sp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是按化学计量点时体积折算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的分析浓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57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1252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5.6.2</a:t>
            </a:r>
            <a:r>
              <a:rPr dirty="0" sz="1000" spc="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配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滴定通式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698220"/>
            <a:ext cx="334772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首先考虑前述</a:t>
            </a:r>
            <a:r>
              <a:rPr dirty="0" spc="175"/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pc="-5"/>
              <a:t>滴定单一金属离子的情</a:t>
            </a:r>
            <a:r>
              <a:rPr dirty="0" spc="-20"/>
              <a:t>况</a:t>
            </a:r>
            <a:r>
              <a:rPr dirty="0" spc="-5"/>
              <a:t>。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8465" y="1087704"/>
            <a:ext cx="1123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Y + </a:t>
            </a:r>
            <a:r>
              <a:rPr dirty="0" sz="1100" spc="-20">
                <a:latin typeface="Georgia"/>
                <a:cs typeface="Georgia"/>
              </a:rPr>
              <a:t>M </a:t>
            </a:r>
            <a:r>
              <a:rPr dirty="0" baseline="-18518" sz="675" spc="-262">
                <a:latin typeface="宋体"/>
                <a:cs typeface="宋体"/>
              </a:rPr>
              <a:t>`</a:t>
            </a:r>
            <a:r>
              <a:rPr dirty="0" baseline="-18518" sz="675" spc="-232">
                <a:latin typeface="宋体"/>
                <a:cs typeface="宋体"/>
              </a:rPr>
              <a:t> </a:t>
            </a:r>
            <a:r>
              <a:rPr dirty="0" baseline="6172" sz="675" spc="-622">
                <a:latin typeface="宋体"/>
                <a:cs typeface="宋体"/>
              </a:rPr>
              <a:t>、</a:t>
            </a:r>
            <a:r>
              <a:rPr dirty="0" baseline="-18518" sz="675" spc="1972">
                <a:latin typeface="宋体"/>
                <a:cs typeface="宋体"/>
              </a:rPr>
              <a:t> </a:t>
            </a:r>
            <a:r>
              <a:rPr dirty="0" sz="1100" spc="60">
                <a:latin typeface="Georgia"/>
                <a:cs typeface="Georgia"/>
              </a:rPr>
              <a:t>MY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7182" y="993965"/>
            <a:ext cx="333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15">
                <a:latin typeface="Georgia"/>
                <a:cs typeface="Georgia"/>
              </a:rPr>
              <a:t>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31401" y="1204302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 h="0">
                <a:moveTo>
                  <a:pt x="0" y="0"/>
                </a:moveTo>
                <a:lnTo>
                  <a:pt x="3848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65819" y="1182738"/>
            <a:ext cx="7886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37878" sz="1650" spc="195" b="0" i="1">
                <a:latin typeface="Bookman Old Style"/>
                <a:cs typeface="Bookman Old Style"/>
              </a:rPr>
              <a:t>K </a:t>
            </a:r>
            <a:r>
              <a:rPr dirty="0" baseline="37878" sz="1650" spc="209">
                <a:latin typeface="Georgia"/>
                <a:cs typeface="Georgia"/>
              </a:rPr>
              <a:t>=</a:t>
            </a:r>
            <a:r>
              <a:rPr dirty="0" baseline="37878" sz="1650" spc="1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[M][Y]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1425549"/>
            <a:ext cx="44075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设金属离</a:t>
            </a: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的分析浓度和体积分别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20" b="0" i="1">
                <a:latin typeface="Bookman Old Style"/>
                <a:cs typeface="Bookman Old Style"/>
              </a:rPr>
              <a:t>V</a:t>
            </a:r>
            <a:r>
              <a:rPr dirty="0" baseline="-13888" sz="900" spc="-30">
                <a:latin typeface="Times New Roman"/>
                <a:cs typeface="Times New Roman"/>
              </a:rPr>
              <a:t>0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 </a:t>
            </a:r>
            <a:r>
              <a:rPr dirty="0" sz="1200" spc="-10">
                <a:latin typeface="Arial Unicode MS"/>
                <a:cs typeface="Arial Unicode MS"/>
              </a:rPr>
              <a:t>准溶液的分析浓度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(Y)</a:t>
            </a:r>
            <a:r>
              <a:rPr dirty="0" sz="1200" spc="-240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当加入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的体积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r>
              <a:rPr dirty="0" baseline="-13888" sz="900" spc="44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如果</a:t>
            </a:r>
            <a:r>
              <a:rPr dirty="0" sz="1200" spc="-5">
                <a:latin typeface="Arial Unicode MS"/>
                <a:cs typeface="Arial Unicode MS"/>
              </a:rPr>
              <a:t>不 考虑副反应影</a:t>
            </a:r>
            <a:r>
              <a:rPr dirty="0" sz="1200" spc="-80">
                <a:latin typeface="Arial Unicode MS"/>
                <a:cs typeface="Arial Unicode MS"/>
              </a:rPr>
              <a:t>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则质量平衡如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743" y="2208491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8544" y="2976054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9344" y="2963354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2259050"/>
            <a:ext cx="50749" cy="7170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7743" y="2252903"/>
            <a:ext cx="4432935" cy="774065"/>
          </a:xfrm>
          <a:custGeom>
            <a:avLst/>
            <a:gdLst/>
            <a:ahLst/>
            <a:cxnLst/>
            <a:rect l="l" t="t" r="r" b="b"/>
            <a:pathLst>
              <a:path w="4432935" h="774064">
                <a:moveTo>
                  <a:pt x="4432566" y="0"/>
                </a:moveTo>
                <a:lnTo>
                  <a:pt x="0" y="0"/>
                </a:lnTo>
                <a:lnTo>
                  <a:pt x="0" y="723150"/>
                </a:lnTo>
                <a:lnTo>
                  <a:pt x="4008" y="742875"/>
                </a:lnTo>
                <a:lnTo>
                  <a:pt x="14922" y="759028"/>
                </a:lnTo>
                <a:lnTo>
                  <a:pt x="31075" y="769942"/>
                </a:lnTo>
                <a:lnTo>
                  <a:pt x="50800" y="773951"/>
                </a:lnTo>
                <a:lnTo>
                  <a:pt x="4381765" y="773951"/>
                </a:lnTo>
                <a:lnTo>
                  <a:pt x="4401490" y="769942"/>
                </a:lnTo>
                <a:lnTo>
                  <a:pt x="4417643" y="759028"/>
                </a:lnTo>
                <a:lnTo>
                  <a:pt x="4428558" y="742875"/>
                </a:lnTo>
                <a:lnTo>
                  <a:pt x="4432566" y="723150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20310" y="2297141"/>
            <a:ext cx="0" cy="698500"/>
          </a:xfrm>
          <a:custGeom>
            <a:avLst/>
            <a:gdLst/>
            <a:ahLst/>
            <a:cxnLst/>
            <a:rect l="l" t="t" r="r" b="b"/>
            <a:pathLst>
              <a:path w="0" h="698500">
                <a:moveTo>
                  <a:pt x="0" y="69796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20310" y="228444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20310" y="227174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20310" y="225904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24483" y="2235070"/>
            <a:ext cx="504825" cy="7670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265"/>
              </a:spcBef>
            </a:pPr>
            <a:r>
              <a:rPr dirty="0" u="sng" sz="1100" spc="-1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-13888" sz="900" spc="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-13888" sz="9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  <a:spcBef>
                <a:spcPts val="165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19847" y="2351303"/>
            <a:ext cx="3062605" cy="556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02890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   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[Y]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15">
                <a:latin typeface="Georgia"/>
                <a:cs typeface="Georgia"/>
              </a:rPr>
              <a:t>Y]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[Y]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</a:t>
            </a:r>
            <a:r>
              <a:rPr dirty="0" sz="1100" spc="65">
                <a:latin typeface="Georgia"/>
                <a:cs typeface="Georgia"/>
              </a:rPr>
              <a:t>Y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55">
                <a:latin typeface="Georgia"/>
                <a:cs typeface="Georgia"/>
              </a:rPr>
              <a:t>[M][Y]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5">
                <a:latin typeface="Georgia"/>
                <a:cs typeface="Georgia"/>
              </a:rPr>
              <a:t>(15)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tabLst>
                <a:tab pos="2802890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   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[MY]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[M]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</a:t>
            </a:r>
            <a:r>
              <a:rPr dirty="0" sz="1100" spc="65">
                <a:latin typeface="Georgia"/>
                <a:cs typeface="Georgia"/>
              </a:rPr>
              <a:t>Y</a:t>
            </a:r>
            <a:r>
              <a:rPr dirty="0" sz="1100" spc="-50">
                <a:latin typeface="Georgia"/>
                <a:cs typeface="Georgia"/>
              </a:rPr>
              <a:t>)</a:t>
            </a:r>
            <a:r>
              <a:rPr dirty="0" sz="1100" spc="-55">
                <a:latin typeface="Georgia"/>
                <a:cs typeface="Georgia"/>
              </a:rPr>
              <a:t>[</a:t>
            </a:r>
            <a:r>
              <a:rPr dirty="0" sz="1100" spc="-45">
                <a:latin typeface="Georgia"/>
                <a:cs typeface="Georgia"/>
              </a:rPr>
              <a:t>M][Y]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>
                <a:latin typeface="Georgia"/>
                <a:cs typeface="Georgia"/>
              </a:rPr>
              <a:t>(16)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327342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设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4646" y="564324"/>
            <a:ext cx="652780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 i="1">
                <a:latin typeface="Arial"/>
                <a:cs typeface="Arial"/>
              </a:rPr>
              <a:t>t</a:t>
            </a:r>
            <a:r>
              <a:rPr dirty="0" sz="1100" spc="-25" b="0" i="1">
                <a:latin typeface="Bookman Old Style"/>
                <a:cs typeface="Bookman Old Style"/>
              </a:rPr>
              <a:t>/V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856970"/>
            <a:ext cx="12299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则上述两式变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743" y="114418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8544" y="1924062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9344" y="1911362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194739"/>
            <a:ext cx="50749" cy="7293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743" y="1188596"/>
            <a:ext cx="4432935" cy="786765"/>
          </a:xfrm>
          <a:custGeom>
            <a:avLst/>
            <a:gdLst/>
            <a:ahLst/>
            <a:cxnLst/>
            <a:rect l="l" t="t" r="r" b="b"/>
            <a:pathLst>
              <a:path w="4432935" h="786764">
                <a:moveTo>
                  <a:pt x="4432566" y="0"/>
                </a:moveTo>
                <a:lnTo>
                  <a:pt x="0" y="0"/>
                </a:lnTo>
                <a:lnTo>
                  <a:pt x="0" y="735466"/>
                </a:lnTo>
                <a:lnTo>
                  <a:pt x="4008" y="755191"/>
                </a:lnTo>
                <a:lnTo>
                  <a:pt x="14922" y="771344"/>
                </a:lnTo>
                <a:lnTo>
                  <a:pt x="31075" y="782258"/>
                </a:lnTo>
                <a:lnTo>
                  <a:pt x="50800" y="786266"/>
                </a:lnTo>
                <a:lnTo>
                  <a:pt x="4381765" y="786266"/>
                </a:lnTo>
                <a:lnTo>
                  <a:pt x="4401490" y="782258"/>
                </a:lnTo>
                <a:lnTo>
                  <a:pt x="4417643" y="771344"/>
                </a:lnTo>
                <a:lnTo>
                  <a:pt x="4428558" y="755191"/>
                </a:lnTo>
                <a:lnTo>
                  <a:pt x="4432566" y="735466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232833"/>
            <a:ext cx="0" cy="710565"/>
          </a:xfrm>
          <a:custGeom>
            <a:avLst/>
            <a:gdLst/>
            <a:ahLst/>
            <a:cxnLst/>
            <a:rect l="l" t="t" r="r" b="b"/>
            <a:pathLst>
              <a:path w="0" h="710564">
                <a:moveTo>
                  <a:pt x="0" y="71027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201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2074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20310" y="11947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38033" y="1403604"/>
            <a:ext cx="343535" cy="0"/>
          </a:xfrm>
          <a:custGeom>
            <a:avLst/>
            <a:gdLst/>
            <a:ahLst/>
            <a:cxnLst/>
            <a:rect l="l" t="t" r="r" b="b"/>
            <a:pathLst>
              <a:path w="343535" h="0">
                <a:moveTo>
                  <a:pt x="0" y="0"/>
                </a:moveTo>
                <a:lnTo>
                  <a:pt x="34325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25333" y="1170759"/>
            <a:ext cx="36893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 marR="5080" indent="-16510">
              <a:lnSpc>
                <a:spcPct val="112599"/>
              </a:lnSpc>
              <a:spcBef>
                <a:spcPts val="10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55">
                <a:latin typeface="Georgia"/>
                <a:cs typeface="Georgia"/>
              </a:rPr>
              <a:t>(Y</a:t>
            </a:r>
            <a:r>
              <a:rPr dirty="0" sz="1100" spc="40">
                <a:latin typeface="Georgia"/>
                <a:cs typeface="Georgia"/>
              </a:rPr>
              <a:t>)</a:t>
            </a:r>
            <a:r>
              <a:rPr dirty="0" sz="1100" spc="-25" b="0" i="1">
                <a:latin typeface="Bookman Old Style"/>
                <a:cs typeface="Bookman Old Style"/>
              </a:rPr>
              <a:t>ρ </a:t>
            </a:r>
            <a:r>
              <a:rPr dirty="0" sz="1100" spc="-2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0296" y="1286992"/>
            <a:ext cx="14649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30">
                <a:latin typeface="Georgia"/>
                <a:cs typeface="Georgia"/>
              </a:rPr>
              <a:t>[Y]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K</a:t>
            </a:r>
            <a:r>
              <a:rPr dirty="0" sz="1100">
                <a:latin typeface="Georgia"/>
                <a:cs typeface="Georgia"/>
              </a:rPr>
              <a:t>(MY)[M][Y]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0456" y="128699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">
                <a:latin typeface="Georgia"/>
                <a:cs typeface="Georgia"/>
              </a:rPr>
              <a:t>(17)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71053" y="1773821"/>
            <a:ext cx="310515" cy="0"/>
          </a:xfrm>
          <a:custGeom>
            <a:avLst/>
            <a:gdLst/>
            <a:ahLst/>
            <a:cxnLst/>
            <a:rect l="l" t="t" r="r" b="b"/>
            <a:pathLst>
              <a:path w="310514" h="0">
                <a:moveTo>
                  <a:pt x="0" y="0"/>
                </a:moveTo>
                <a:lnTo>
                  <a:pt x="31023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358353" y="1540964"/>
            <a:ext cx="33591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265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10296" y="1657210"/>
            <a:ext cx="14878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80">
                <a:latin typeface="Georgia"/>
                <a:cs typeface="Georgia"/>
              </a:rPr>
              <a:t>[M]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sz="1100" spc="5">
                <a:latin typeface="Georgia"/>
                <a:cs typeface="Georgia"/>
              </a:rPr>
              <a:t>(MY)</a:t>
            </a:r>
            <a:r>
              <a:rPr dirty="0" sz="1100" spc="5">
                <a:latin typeface="Georgia"/>
                <a:cs typeface="Georgia"/>
              </a:rPr>
              <a:t>[M][Y]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10456" y="1657210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(18)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9501" y="2084692"/>
            <a:ext cx="12744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根</a:t>
            </a:r>
            <a:r>
              <a:rPr dirty="0" sz="1200" spc="-260">
                <a:latin typeface="Arial Unicode MS"/>
                <a:cs typeface="Arial Unicode MS"/>
              </a:rPr>
              <a:t>据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-20">
                <a:latin typeface="Georgia"/>
                <a:cs typeface="Georgia"/>
                <a:hlinkClick r:id="rId5" action="ppaction://hlinksldjump"/>
              </a:rPr>
              <a:t>1</a:t>
            </a:r>
            <a:r>
              <a:rPr dirty="0" sz="1100" spc="10">
                <a:latin typeface="Georgia"/>
                <a:cs typeface="Georgia"/>
                <a:hlinkClick r:id="rId5" action="ppaction://hlinksldjump"/>
              </a:rPr>
              <a:t>8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7743" y="2378722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8544" y="2795447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9344" y="2782747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20310" y="2429281"/>
            <a:ext cx="50749" cy="36616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7743" y="2423142"/>
            <a:ext cx="4432935" cy="423545"/>
          </a:xfrm>
          <a:custGeom>
            <a:avLst/>
            <a:gdLst/>
            <a:ahLst/>
            <a:cxnLst/>
            <a:rect l="l" t="t" r="r" b="b"/>
            <a:pathLst>
              <a:path w="4432935" h="423544">
                <a:moveTo>
                  <a:pt x="4432566" y="0"/>
                </a:moveTo>
                <a:lnTo>
                  <a:pt x="0" y="0"/>
                </a:lnTo>
                <a:lnTo>
                  <a:pt x="0" y="372305"/>
                </a:lnTo>
                <a:lnTo>
                  <a:pt x="4008" y="392030"/>
                </a:lnTo>
                <a:lnTo>
                  <a:pt x="14922" y="408183"/>
                </a:lnTo>
                <a:lnTo>
                  <a:pt x="31075" y="419097"/>
                </a:lnTo>
                <a:lnTo>
                  <a:pt x="50800" y="423105"/>
                </a:lnTo>
                <a:lnTo>
                  <a:pt x="4381765" y="423105"/>
                </a:lnTo>
                <a:lnTo>
                  <a:pt x="4401490" y="419097"/>
                </a:lnTo>
                <a:lnTo>
                  <a:pt x="4417643" y="408183"/>
                </a:lnTo>
                <a:lnTo>
                  <a:pt x="4428558" y="392030"/>
                </a:lnTo>
                <a:lnTo>
                  <a:pt x="4432566" y="37230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20310" y="2467379"/>
            <a:ext cx="0" cy="347345"/>
          </a:xfrm>
          <a:custGeom>
            <a:avLst/>
            <a:gdLst/>
            <a:ahLst/>
            <a:cxnLst/>
            <a:rect l="l" t="t" r="r" b="b"/>
            <a:pathLst>
              <a:path w="0" h="347344">
                <a:moveTo>
                  <a:pt x="0" y="34711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520310" y="245467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520310" y="244197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20310" y="242927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374292" y="2520912"/>
            <a:ext cx="3759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5">
                <a:latin typeface="Georgia"/>
                <a:cs typeface="Georgia"/>
              </a:rPr>
              <a:t>[M]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790877" y="2637523"/>
            <a:ext cx="1415415" cy="0"/>
          </a:xfrm>
          <a:custGeom>
            <a:avLst/>
            <a:gdLst/>
            <a:ahLst/>
            <a:cxnLst/>
            <a:rect l="l" t="t" r="r" b="b"/>
            <a:pathLst>
              <a:path w="1415414" h="0">
                <a:moveTo>
                  <a:pt x="0" y="0"/>
                </a:moveTo>
                <a:lnTo>
                  <a:pt x="141494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778177" y="2404678"/>
            <a:ext cx="144081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sz="1100" spc="30">
                <a:latin typeface="Georgia"/>
                <a:cs typeface="Georgia"/>
              </a:rPr>
              <a:t>(MY)[Y])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598119"/>
            <a:ext cx="18815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将上式带入</a:t>
            </a:r>
            <a:r>
              <a:rPr dirty="0" sz="1200" spc="-260">
                <a:latin typeface="Arial Unicode MS"/>
                <a:cs typeface="Arial Unicode MS"/>
              </a:rPr>
              <a:t>到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30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100" spc="70">
                <a:latin typeface="Georgia"/>
                <a:cs typeface="Georgia"/>
                <a:hlinkClick r:id="rId2" action="ppaction://hlinksldjump"/>
              </a:rPr>
              <a:t>7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2250" y="1106474"/>
            <a:ext cx="343535" cy="0"/>
          </a:xfrm>
          <a:custGeom>
            <a:avLst/>
            <a:gdLst/>
            <a:ahLst/>
            <a:cxnLst/>
            <a:rect l="l" t="t" r="r" b="b"/>
            <a:pathLst>
              <a:path w="343534" h="0">
                <a:moveTo>
                  <a:pt x="0" y="0"/>
                </a:moveTo>
                <a:lnTo>
                  <a:pt x="34325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6060" y="1084897"/>
            <a:ext cx="335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0808" y="1106474"/>
            <a:ext cx="1415415" cy="0"/>
          </a:xfrm>
          <a:custGeom>
            <a:avLst/>
            <a:gdLst/>
            <a:ahLst/>
            <a:cxnLst/>
            <a:rect l="l" t="t" r="r" b="b"/>
            <a:pathLst>
              <a:path w="1415414" h="0">
                <a:moveTo>
                  <a:pt x="0" y="0"/>
                </a:moveTo>
                <a:lnTo>
                  <a:pt x="141494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91450" y="873630"/>
            <a:ext cx="241300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265"/>
              </a:spcBef>
              <a:tabLst>
                <a:tab pos="1193800" algn="l"/>
              </a:tabLst>
            </a:pPr>
            <a:r>
              <a:rPr dirty="0" sz="1100" spc="10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(Y)</a:t>
            </a:r>
            <a:r>
              <a:rPr dirty="0" sz="1100" spc="10" b="0" i="1">
                <a:latin typeface="Bookman Old Style"/>
                <a:cs typeface="Bookman Old Style"/>
              </a:rPr>
              <a:t>ρ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187">
                <a:latin typeface="Georgia"/>
                <a:cs typeface="Georgia"/>
              </a:rPr>
              <a:t> </a:t>
            </a:r>
            <a:r>
              <a:rPr dirty="0" baseline="-37878" sz="1650" spc="-44">
                <a:latin typeface="Georgia"/>
                <a:cs typeface="Georgia"/>
              </a:rPr>
              <a:t>[Y]</a:t>
            </a:r>
            <a:r>
              <a:rPr dirty="0" baseline="-37878" sz="1650" spc="-37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	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(M)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(MY)[Y]</a:t>
            </a:r>
            <a:endParaRPr sz="1100">
              <a:latin typeface="Georgia"/>
              <a:cs typeface="Georgia"/>
            </a:endParaRPr>
          </a:p>
          <a:p>
            <a:pPr marL="958850">
              <a:lnSpc>
                <a:spcPct val="100000"/>
              </a:lnSpc>
              <a:spcBef>
                <a:spcPts val="17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sz="1100" spc="30">
                <a:latin typeface="Georgia"/>
                <a:cs typeface="Georgia"/>
              </a:rPr>
              <a:t>(MY)[Y])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598119"/>
            <a:ext cx="188150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将上式带入</a:t>
            </a:r>
            <a:r>
              <a:rPr dirty="0" spc="-260"/>
              <a:t>到</a:t>
            </a:r>
            <a:r>
              <a:rPr dirty="0" spc="-5"/>
              <a:t>（</a:t>
            </a:r>
            <a:r>
              <a:rPr dirty="0" sz="1100" spc="30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100" spc="70">
                <a:latin typeface="Georgia"/>
                <a:cs typeface="Georgia"/>
                <a:hlinkClick r:id="rId2" action="ppaction://hlinksldjump"/>
              </a:rPr>
              <a:t>7</a:t>
            </a:r>
            <a:r>
              <a:rPr dirty="0" spc="-280"/>
              <a:t>）</a:t>
            </a:r>
            <a:r>
              <a:rPr dirty="0" spc="-80"/>
              <a:t>式</a:t>
            </a:r>
            <a:r>
              <a:rPr dirty="0" spc="-185"/>
              <a:t>，</a:t>
            </a:r>
            <a:r>
              <a:rPr dirty="0" spc="-90"/>
              <a:t>得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2250" y="1106474"/>
            <a:ext cx="343535" cy="0"/>
          </a:xfrm>
          <a:custGeom>
            <a:avLst/>
            <a:gdLst/>
            <a:ahLst/>
            <a:cxnLst/>
            <a:rect l="l" t="t" r="r" b="b"/>
            <a:pathLst>
              <a:path w="343534" h="0">
                <a:moveTo>
                  <a:pt x="0" y="0"/>
                </a:moveTo>
                <a:lnTo>
                  <a:pt x="34325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6060" y="1084897"/>
            <a:ext cx="335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0808" y="1106474"/>
            <a:ext cx="1415415" cy="0"/>
          </a:xfrm>
          <a:custGeom>
            <a:avLst/>
            <a:gdLst/>
            <a:ahLst/>
            <a:cxnLst/>
            <a:rect l="l" t="t" r="r" b="b"/>
            <a:pathLst>
              <a:path w="1415414" h="0">
                <a:moveTo>
                  <a:pt x="0" y="0"/>
                </a:moveTo>
                <a:lnTo>
                  <a:pt x="141494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91450" y="873630"/>
            <a:ext cx="241300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265"/>
              </a:spcBef>
              <a:tabLst>
                <a:tab pos="1193800" algn="l"/>
              </a:tabLst>
            </a:pPr>
            <a:r>
              <a:rPr dirty="0" sz="1100" spc="10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(Y)</a:t>
            </a:r>
            <a:r>
              <a:rPr dirty="0" sz="1100" spc="10" b="0" i="1">
                <a:latin typeface="Bookman Old Style"/>
                <a:cs typeface="Bookman Old Style"/>
              </a:rPr>
              <a:t>ρ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187">
                <a:latin typeface="Georgia"/>
                <a:cs typeface="Georgia"/>
              </a:rPr>
              <a:t> </a:t>
            </a:r>
            <a:r>
              <a:rPr dirty="0" baseline="-37878" sz="1650" spc="-44">
                <a:latin typeface="Georgia"/>
                <a:cs typeface="Georgia"/>
              </a:rPr>
              <a:t>[Y]</a:t>
            </a:r>
            <a:r>
              <a:rPr dirty="0" baseline="-37878" sz="1650" spc="-37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	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(M)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(MY)[Y]</a:t>
            </a:r>
            <a:endParaRPr sz="1100">
              <a:latin typeface="Georgia"/>
              <a:cs typeface="Georgia"/>
            </a:endParaRPr>
          </a:p>
          <a:p>
            <a:pPr marL="958850">
              <a:lnSpc>
                <a:spcPct val="100000"/>
              </a:lnSpc>
              <a:spcBef>
                <a:spcPts val="17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sz="1100" spc="30">
                <a:latin typeface="Georgia"/>
                <a:cs typeface="Georgia"/>
              </a:rPr>
              <a:t>(MY)[Y])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743" y="180225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8544" y="2389276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9344" y="2376576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852828"/>
            <a:ext cx="50749" cy="536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7743" y="1846674"/>
            <a:ext cx="4432935" cy="593725"/>
          </a:xfrm>
          <a:custGeom>
            <a:avLst/>
            <a:gdLst/>
            <a:ahLst/>
            <a:cxnLst/>
            <a:rect l="l" t="t" r="r" b="b"/>
            <a:pathLst>
              <a:path w="4432935" h="593725">
                <a:moveTo>
                  <a:pt x="4432566" y="0"/>
                </a:moveTo>
                <a:lnTo>
                  <a:pt x="0" y="0"/>
                </a:lnTo>
                <a:lnTo>
                  <a:pt x="0" y="542601"/>
                </a:lnTo>
                <a:lnTo>
                  <a:pt x="4008" y="562326"/>
                </a:lnTo>
                <a:lnTo>
                  <a:pt x="14922" y="578479"/>
                </a:lnTo>
                <a:lnTo>
                  <a:pt x="31075" y="589393"/>
                </a:lnTo>
                <a:lnTo>
                  <a:pt x="50800" y="593402"/>
                </a:lnTo>
                <a:lnTo>
                  <a:pt x="4381765" y="593402"/>
                </a:lnTo>
                <a:lnTo>
                  <a:pt x="4401490" y="589393"/>
                </a:lnTo>
                <a:lnTo>
                  <a:pt x="4417643" y="578479"/>
                </a:lnTo>
                <a:lnTo>
                  <a:pt x="4428558" y="562326"/>
                </a:lnTo>
                <a:lnTo>
                  <a:pt x="4432566" y="542601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890911"/>
            <a:ext cx="0" cy="517525"/>
          </a:xfrm>
          <a:custGeom>
            <a:avLst/>
            <a:gdLst/>
            <a:ahLst/>
            <a:cxnLst/>
            <a:rect l="l" t="t" r="r" b="b"/>
            <a:pathLst>
              <a:path w="0" h="517525">
                <a:moveTo>
                  <a:pt x="0" y="51741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20310" y="187821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20310" y="186551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20310" y="185281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484998" y="2114740"/>
            <a:ext cx="243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6801" y="1508226"/>
            <a:ext cx="2713990" cy="5213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将上式进行整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Arial Unicode MS"/>
              <a:cs typeface="Arial Unicode MS"/>
            </a:endParaRPr>
          </a:p>
          <a:p>
            <a:pPr marL="1351915">
              <a:lnSpc>
                <a:spcPct val="100000"/>
              </a:lnSpc>
            </a:pPr>
            <a:r>
              <a:rPr dirty="0" baseline="-37878" sz="1650" spc="-44">
                <a:latin typeface="Georgia"/>
                <a:cs typeface="Georgia"/>
              </a:rPr>
              <a:t>[Y]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120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(M)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(MY)[Y]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34628" y="2047646"/>
            <a:ext cx="945515" cy="0"/>
          </a:xfrm>
          <a:custGeom>
            <a:avLst/>
            <a:gdLst/>
            <a:ahLst/>
            <a:cxnLst/>
            <a:rect l="l" t="t" r="r" b="b"/>
            <a:pathLst>
              <a:path w="945514" h="0">
                <a:moveTo>
                  <a:pt x="0" y="0"/>
                </a:moveTo>
                <a:lnTo>
                  <a:pt x="94529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69236" y="2231351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108555" y="2008616"/>
            <a:ext cx="956310" cy="39306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225"/>
              </a:spcBef>
            </a:pP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sz="1100" spc="35">
                <a:latin typeface="Georgia"/>
                <a:cs typeface="Georgia"/>
              </a:rPr>
              <a:t>(MY)[Y]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(Y)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73355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EDTA</a:t>
            </a:r>
            <a:r>
              <a:rPr dirty="0" sz="1000" spc="-1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同</a:t>
            </a:r>
            <a:r>
              <a:rPr dirty="0" sz="1050" spc="-10">
                <a:solidFill>
                  <a:srgbClr val="FFFFFF"/>
                </a:solidFill>
              </a:rPr>
              <a:t>时</a:t>
            </a:r>
            <a:r>
              <a:rPr dirty="0" sz="1050" spc="-5">
                <a:solidFill>
                  <a:srgbClr val="FFFFFF"/>
                </a:solidFill>
              </a:rPr>
              <a:t>滴定多</a:t>
            </a:r>
            <a:r>
              <a:rPr dirty="0" sz="1050" spc="-10">
                <a:solidFill>
                  <a:srgbClr val="FFFFFF"/>
                </a:solidFill>
              </a:rPr>
              <a:t>个</a:t>
            </a:r>
            <a:r>
              <a:rPr dirty="0" sz="1050" spc="-5">
                <a:solidFill>
                  <a:srgbClr val="FFFFFF"/>
                </a:solidFill>
              </a:rPr>
              <a:t>金属离子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266050"/>
            <a:ext cx="4403090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设体积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的溶液中存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105">
                <a:latin typeface="Georgia"/>
                <a:cs typeface="Georgia"/>
              </a:rPr>
              <a:t>M</a:t>
            </a:r>
            <a:r>
              <a:rPr dirty="0" baseline="-13888" sz="900" spc="-157">
                <a:latin typeface="Times New Roman"/>
                <a:cs typeface="Times New Roman"/>
              </a:rPr>
              <a:t>1</a:t>
            </a:r>
            <a:r>
              <a:rPr dirty="0" sz="1200" spc="-105">
                <a:latin typeface="Arial Unicode MS"/>
                <a:cs typeface="Arial Unicode MS"/>
              </a:rPr>
              <a:t>，</a:t>
            </a:r>
            <a:r>
              <a:rPr dirty="0" sz="1100" spc="-105">
                <a:latin typeface="Georgia"/>
                <a:cs typeface="Georgia"/>
              </a:rPr>
              <a:t>M</a:t>
            </a:r>
            <a:r>
              <a:rPr dirty="0" baseline="-13888" sz="900" spc="-157">
                <a:latin typeface="Times New Roman"/>
                <a:cs typeface="Times New Roman"/>
              </a:rPr>
              <a:t>2</a:t>
            </a:r>
            <a:r>
              <a:rPr dirty="0" sz="1200" spc="-105">
                <a:latin typeface="Arial Unicode MS"/>
                <a:cs typeface="Arial Unicode MS"/>
              </a:rPr>
              <a:t>，</a:t>
            </a:r>
            <a:r>
              <a:rPr dirty="0" sz="1100" spc="-105">
                <a:latin typeface="Lucida Sans Unicode"/>
                <a:cs typeface="Lucida Sans Unicode"/>
              </a:rPr>
              <a:t>·</a:t>
            </a:r>
            <a:r>
              <a:rPr dirty="0" sz="1100" spc="-18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245">
                <a:latin typeface="Lucida Sans Unicode"/>
                <a:cs typeface="Lucida Sans Unicode"/>
              </a:rPr>
              <a:t> 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>
                <a:latin typeface="Georgia"/>
                <a:cs typeface="Georgia"/>
              </a:rPr>
              <a:t>M</a:t>
            </a:r>
            <a:r>
              <a:rPr dirty="0" baseline="-13888" sz="900" spc="-44" i="1">
                <a:latin typeface="Arial"/>
                <a:cs typeface="Arial"/>
              </a:rPr>
              <a:t>n</a:t>
            </a:r>
            <a:r>
              <a:rPr dirty="0" baseline="-13888" sz="900" spc="60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种金属离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分析 浓度分别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65">
                <a:latin typeface="Georgia"/>
                <a:cs typeface="Georgia"/>
              </a:rPr>
              <a:t>(M</a:t>
            </a:r>
            <a:r>
              <a:rPr dirty="0" baseline="-13888" sz="900" spc="-97">
                <a:latin typeface="Times New Roman"/>
                <a:cs typeface="Times New Roman"/>
              </a:rPr>
              <a:t>1</a:t>
            </a:r>
            <a:r>
              <a:rPr dirty="0" sz="1100" spc="-65">
                <a:latin typeface="Georgia"/>
                <a:cs typeface="Georgia"/>
              </a:rPr>
              <a:t>)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65">
                <a:latin typeface="Georgia"/>
                <a:cs typeface="Georgia"/>
              </a:rPr>
              <a:t>(M</a:t>
            </a:r>
            <a:r>
              <a:rPr dirty="0" baseline="-13888" sz="900" spc="-97">
                <a:latin typeface="Times New Roman"/>
                <a:cs typeface="Times New Roman"/>
              </a:rPr>
              <a:t>2</a:t>
            </a:r>
            <a:r>
              <a:rPr dirty="0" sz="1100" spc="-65">
                <a:latin typeface="Georgia"/>
                <a:cs typeface="Georgia"/>
              </a:rPr>
              <a:t>)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Lucida Sans Unicode"/>
                <a:cs typeface="Lucida Sans Unicode"/>
              </a:rPr>
              <a:t>·</a:t>
            </a:r>
            <a:r>
              <a:rPr dirty="0" sz="1100" spc="-18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245">
                <a:latin typeface="Lucida Sans Unicode"/>
                <a:cs typeface="Lucida Sans Unicode"/>
              </a:rPr>
              <a:t> </a:t>
            </a:r>
            <a:r>
              <a:rPr dirty="0" sz="1200" spc="-50">
                <a:latin typeface="Arial Unicode MS"/>
                <a:cs typeface="Arial Unicode MS"/>
              </a:rPr>
              <a:t>，</a:t>
            </a:r>
            <a:r>
              <a:rPr dirty="0" sz="1100" spc="-50" b="0" i="1">
                <a:latin typeface="Bookman Old Style"/>
                <a:cs typeface="Bookman Old Style"/>
              </a:rPr>
              <a:t>c</a:t>
            </a:r>
            <a:r>
              <a:rPr dirty="0" sz="1100" spc="-50">
                <a:latin typeface="Georgia"/>
                <a:cs typeface="Georgia"/>
              </a:rPr>
              <a:t>(M</a:t>
            </a:r>
            <a:r>
              <a:rPr dirty="0" baseline="-13888" sz="900" spc="-75" i="1">
                <a:latin typeface="Arial"/>
                <a:cs typeface="Arial"/>
              </a:rPr>
              <a:t>n</a:t>
            </a:r>
            <a:r>
              <a:rPr dirty="0" sz="1100" spc="-50">
                <a:latin typeface="Georgia"/>
                <a:cs typeface="Georgia"/>
              </a:rPr>
              <a:t>)</a:t>
            </a:r>
            <a:r>
              <a:rPr dirty="0" sz="1200" spc="-5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现用浓度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(Y)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 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当加入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的体积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r>
              <a:rPr dirty="0" baseline="-13888" sz="900" spc="44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根据质量平</a:t>
            </a:r>
            <a:r>
              <a:rPr dirty="0" sz="1200" spc="-80">
                <a:latin typeface="Arial Unicode MS"/>
                <a:cs typeface="Arial Unicode MS"/>
              </a:rPr>
              <a:t>衡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我们可以写出 如下的方程</a:t>
            </a:r>
            <a:r>
              <a:rPr dirty="0" sz="1200" spc="-90">
                <a:latin typeface="Arial Unicode MS"/>
                <a:cs typeface="Arial Unicode MS"/>
              </a:rPr>
              <a:t>组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61395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544" y="2428671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344" y="2415971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20310" y="664514"/>
            <a:ext cx="50749" cy="17641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3" y="658361"/>
            <a:ext cx="4432935" cy="1821180"/>
          </a:xfrm>
          <a:custGeom>
            <a:avLst/>
            <a:gdLst/>
            <a:ahLst/>
            <a:cxnLst/>
            <a:rect l="l" t="t" r="r" b="b"/>
            <a:pathLst>
              <a:path w="4432935" h="1821180">
                <a:moveTo>
                  <a:pt x="4432566" y="0"/>
                </a:moveTo>
                <a:lnTo>
                  <a:pt x="0" y="0"/>
                </a:lnTo>
                <a:lnTo>
                  <a:pt x="0" y="1770310"/>
                </a:lnTo>
                <a:lnTo>
                  <a:pt x="4008" y="1790035"/>
                </a:lnTo>
                <a:lnTo>
                  <a:pt x="14922" y="1806188"/>
                </a:lnTo>
                <a:lnTo>
                  <a:pt x="31075" y="1817102"/>
                </a:lnTo>
                <a:lnTo>
                  <a:pt x="50800" y="1821110"/>
                </a:lnTo>
                <a:lnTo>
                  <a:pt x="4381765" y="1821110"/>
                </a:lnTo>
                <a:lnTo>
                  <a:pt x="4401490" y="1817102"/>
                </a:lnTo>
                <a:lnTo>
                  <a:pt x="4417643" y="1806188"/>
                </a:lnTo>
                <a:lnTo>
                  <a:pt x="4428558" y="1790035"/>
                </a:lnTo>
                <a:lnTo>
                  <a:pt x="4432566" y="1770310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702598"/>
            <a:ext cx="0" cy="1745614"/>
          </a:xfrm>
          <a:custGeom>
            <a:avLst/>
            <a:gdLst/>
            <a:ahLst/>
            <a:cxnLst/>
            <a:rect l="l" t="t" r="r" b="b"/>
            <a:pathLst>
              <a:path w="0" h="1745614">
                <a:moveTo>
                  <a:pt x="0" y="174512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8989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67719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6449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8741" y="801598"/>
            <a:ext cx="5029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1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-13888" sz="900" spc="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4141" y="990358"/>
            <a:ext cx="399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964" y="1073759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600" spc="114" i="1">
                <a:latin typeface="Arial"/>
                <a:cs typeface="Arial"/>
              </a:rPr>
              <a:t>t</a:t>
            </a:r>
            <a:r>
              <a:rPr dirty="0" sz="600" spc="114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42045" y="97872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71978" y="97872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2873" y="978725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7582" y="1437817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600" spc="114" i="1">
                <a:latin typeface="Arial"/>
                <a:cs typeface="Arial"/>
              </a:rPr>
              <a:t>t</a:t>
            </a:r>
            <a:r>
              <a:rPr dirty="0" sz="600" spc="114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91830" y="134278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17851" y="134278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63177" y="134278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32175" y="134278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08158" y="134278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7582" y="1801888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600" spc="114" i="1">
                <a:latin typeface="Arial"/>
                <a:cs typeface="Arial"/>
              </a:rPr>
              <a:t>t</a:t>
            </a:r>
            <a:r>
              <a:rPr dirty="0" sz="600" spc="114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91830" y="17068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17851" y="17068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63177" y="17068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32175" y="17068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08158" y="17068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1563" y="2346426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600" spc="114" i="1">
                <a:latin typeface="Arial"/>
                <a:cs typeface="Arial"/>
              </a:rPr>
              <a:t>t</a:t>
            </a:r>
            <a:r>
              <a:rPr dirty="0" sz="600" spc="114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91830" y="2251392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29891" y="2251392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87256" y="2251392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68281" y="2251392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56317" y="2251392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1273009" y="912319"/>
          <a:ext cx="3228340" cy="1442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"/>
                <a:gridCol w="2612390"/>
                <a:gridCol w="412750"/>
              </a:tblGrid>
              <a:tr h="315655">
                <a:tc>
                  <a:txBody>
                    <a:bodyPr/>
                    <a:lstStyle/>
                    <a:p>
                      <a:pPr algn="ctr" marR="23495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75"/>
                        </a:lnSpc>
                      </a:pPr>
                      <a:r>
                        <a:rPr dirty="0" sz="1100" spc="-30">
                          <a:latin typeface="Georgia"/>
                          <a:cs typeface="Georgia"/>
                        </a:rPr>
                        <a:t>[Y]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-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65">
                          <a:latin typeface="Georgia"/>
                          <a:cs typeface="Georgia"/>
                        </a:rPr>
                        <a:t>[M</a:t>
                      </a:r>
                      <a:r>
                        <a:rPr dirty="0" sz="1100" spc="-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5">
                          <a:latin typeface="Georgia"/>
                          <a:cs typeface="Georgia"/>
                        </a:rPr>
                        <a:t>Y]</a:t>
                      </a:r>
                      <a:r>
                        <a:rPr dirty="0" sz="1100" spc="-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-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65">
                          <a:latin typeface="Georgia"/>
                          <a:cs typeface="Georgia"/>
                        </a:rPr>
                        <a:t>[M</a:t>
                      </a:r>
                      <a:r>
                        <a:rPr dirty="0" sz="1100" spc="-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5">
                          <a:latin typeface="Georgia"/>
                          <a:cs typeface="Georgia"/>
                        </a:rPr>
                        <a:t>Y]</a:t>
                      </a:r>
                      <a:r>
                        <a:rPr dirty="0" sz="1100" spc="-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-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14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-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65">
                          <a:latin typeface="Georgia"/>
                          <a:cs typeface="Georgia"/>
                        </a:rPr>
                        <a:t>[M</a:t>
                      </a:r>
                      <a:r>
                        <a:rPr dirty="0" sz="1100" spc="3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5">
                          <a:latin typeface="Georgia"/>
                          <a:cs typeface="Georgia"/>
                        </a:rPr>
                        <a:t>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(19)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314874"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254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00" spc="-65">
                          <a:latin typeface="Georgia"/>
                          <a:cs typeface="Georgia"/>
                        </a:rPr>
                        <a:t>[M </a:t>
                      </a:r>
                      <a:r>
                        <a:rPr dirty="0" sz="1100" spc="-110">
                          <a:latin typeface="Georgia"/>
                          <a:cs typeface="Georgia"/>
                        </a:rPr>
                        <a:t>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-65">
                          <a:latin typeface="Georgia"/>
                          <a:cs typeface="Georgia"/>
                        </a:rPr>
                        <a:t>[M </a:t>
                      </a:r>
                      <a:r>
                        <a:rPr dirty="0" sz="1100" spc="15">
                          <a:latin typeface="Georgia"/>
                          <a:cs typeface="Georgia"/>
                        </a:rPr>
                        <a:t>Y]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= </a:t>
                      </a:r>
                      <a:r>
                        <a:rPr dirty="0" sz="1100" spc="-65">
                          <a:latin typeface="Georgia"/>
                          <a:cs typeface="Georgia"/>
                        </a:rPr>
                        <a:t>[M </a:t>
                      </a:r>
                      <a:r>
                        <a:rPr dirty="0" sz="1100" spc="-110">
                          <a:latin typeface="Georgia"/>
                          <a:cs typeface="Georgia"/>
                        </a:rPr>
                        <a:t>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65" b="0" i="1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dirty="0" sz="1100" spc="6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Y)[M</a:t>
                      </a:r>
                      <a:r>
                        <a:rPr dirty="0" sz="1100" spc="-3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50">
                          <a:latin typeface="Georgia"/>
                          <a:cs typeface="Georgia"/>
                        </a:rPr>
                        <a:t>][Y]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254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(20)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2545"/>
                </a:tc>
              </a:tr>
              <a:tr h="312858"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 spc="-65">
                          <a:latin typeface="Georgia"/>
                          <a:cs typeface="Georgia"/>
                        </a:rPr>
                        <a:t>[M </a:t>
                      </a:r>
                      <a:r>
                        <a:rPr dirty="0" sz="1100" spc="-110">
                          <a:latin typeface="Georgia"/>
                          <a:cs typeface="Georgia"/>
                        </a:rPr>
                        <a:t>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-65">
                          <a:latin typeface="Georgia"/>
                          <a:cs typeface="Georgia"/>
                        </a:rPr>
                        <a:t>[M </a:t>
                      </a:r>
                      <a:r>
                        <a:rPr dirty="0" sz="1100" spc="15">
                          <a:latin typeface="Georgia"/>
                          <a:cs typeface="Georgia"/>
                        </a:rPr>
                        <a:t>Y]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= </a:t>
                      </a:r>
                      <a:r>
                        <a:rPr dirty="0" sz="1100" spc="-65">
                          <a:latin typeface="Georgia"/>
                          <a:cs typeface="Georgia"/>
                        </a:rPr>
                        <a:t>[M </a:t>
                      </a:r>
                      <a:r>
                        <a:rPr dirty="0" sz="1100" spc="-110">
                          <a:latin typeface="Georgia"/>
                          <a:cs typeface="Georgia"/>
                        </a:rPr>
                        <a:t>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65" b="0" i="1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dirty="0" sz="1100" spc="6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Y)[M</a:t>
                      </a:r>
                      <a:r>
                        <a:rPr dirty="0" sz="1100" spc="-3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50">
                          <a:latin typeface="Georgia"/>
                          <a:cs typeface="Georgia"/>
                        </a:rPr>
                        <a:t>][Y]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(21)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</a:tr>
              <a:tr h="272268"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endParaRPr sz="11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(22)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0640"/>
                </a:tc>
              </a:tr>
              <a:tr h="225882">
                <a:tc>
                  <a:txBody>
                    <a:bodyPr/>
                    <a:lstStyle/>
                    <a:p>
                      <a:pPr algn="ctr" marR="23495">
                        <a:lnSpc>
                          <a:spcPts val="1275"/>
                        </a:lnSpc>
                        <a:spcBef>
                          <a:spcPts val="40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5143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75"/>
                        </a:lnSpc>
                        <a:spcBef>
                          <a:spcPts val="405"/>
                        </a:spcBef>
                      </a:pPr>
                      <a:r>
                        <a:rPr dirty="0" sz="1100" spc="-65">
                          <a:latin typeface="Georgia"/>
                          <a:cs typeface="Georgia"/>
                        </a:rPr>
                        <a:t>[M </a:t>
                      </a:r>
                      <a:r>
                        <a:rPr dirty="0" sz="1100" spc="-110">
                          <a:latin typeface="Georgia"/>
                          <a:cs typeface="Georgia"/>
                        </a:rPr>
                        <a:t>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-65">
                          <a:latin typeface="Georgia"/>
                          <a:cs typeface="Georgia"/>
                        </a:rPr>
                        <a:t>[M </a:t>
                      </a:r>
                      <a:r>
                        <a:rPr dirty="0" sz="1100" spc="15">
                          <a:latin typeface="Georgia"/>
                          <a:cs typeface="Georgia"/>
                        </a:rPr>
                        <a:t>Y]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= </a:t>
                      </a:r>
                      <a:r>
                        <a:rPr dirty="0" sz="1100" spc="-65">
                          <a:latin typeface="Georgia"/>
                          <a:cs typeface="Georgia"/>
                        </a:rPr>
                        <a:t>[M </a:t>
                      </a:r>
                      <a:r>
                        <a:rPr dirty="0" sz="1100" spc="-110">
                          <a:latin typeface="Georgia"/>
                          <a:cs typeface="Georgia"/>
                        </a:rPr>
                        <a:t>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65" b="0" i="1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dirty="0" sz="1100" spc="6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Y)[M</a:t>
                      </a:r>
                      <a:r>
                        <a:rPr dirty="0" sz="11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50">
                          <a:latin typeface="Georgia"/>
                          <a:cs typeface="Georgia"/>
                        </a:rPr>
                        <a:t>][Y]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5143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75"/>
                        </a:lnSpc>
                        <a:spcBef>
                          <a:spcPts val="40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(23)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51435"/>
                </a:tc>
              </a:tr>
            </a:tbl>
          </a:graphicData>
        </a:graphic>
      </p:graphicFrame>
      <p:sp>
        <p:nvSpPr>
          <p:cNvPr id="36" name="object 36"/>
          <p:cNvSpPr txBox="1"/>
          <p:nvPr/>
        </p:nvSpPr>
        <p:spPr>
          <a:xfrm>
            <a:off x="643991" y="1165656"/>
            <a:ext cx="557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u="sng" baseline="-13888" sz="90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6760" y="1354416"/>
            <a:ext cx="399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3991" y="1529715"/>
            <a:ext cx="557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u="sng" baseline="-13888" sz="90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6760" y="1718475"/>
            <a:ext cx="399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9251" y="1862198"/>
            <a:ext cx="594995" cy="40386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12090">
              <a:lnSpc>
                <a:spcPct val="100000"/>
              </a:lnSpc>
              <a:spcBef>
                <a:spcPts val="270"/>
              </a:spcBef>
            </a:pP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9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9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17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u="sng" baseline="-13888" sz="900" spc="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90752" y="2263013"/>
            <a:ext cx="399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565518"/>
            <a:ext cx="3916679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首</a:t>
            </a:r>
            <a:r>
              <a:rPr dirty="0" spc="-80"/>
              <a:t>先</a:t>
            </a:r>
            <a:r>
              <a:rPr dirty="0" spc="-185"/>
              <a:t>，</a:t>
            </a:r>
            <a:r>
              <a:rPr dirty="0" spc="-5"/>
              <a:t>我们假</a:t>
            </a:r>
            <a:r>
              <a:rPr dirty="0" spc="175"/>
              <a:t>设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5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V</a:t>
            </a:r>
            <a:r>
              <a:rPr dirty="0" baseline="-13888" sz="900" spc="-82" i="1">
                <a:latin typeface="Arial"/>
                <a:cs typeface="Arial"/>
              </a:rPr>
              <a:t>t</a:t>
            </a:r>
            <a:r>
              <a:rPr dirty="0" sz="1100" spc="-55" b="0" i="1">
                <a:latin typeface="Bookman Old Style"/>
                <a:cs typeface="Bookman Old Style"/>
              </a:rPr>
              <a:t>/V</a:t>
            </a:r>
            <a:r>
              <a:rPr dirty="0" baseline="-13888" sz="900" spc="-82">
                <a:latin typeface="Times New Roman"/>
                <a:cs typeface="Times New Roman"/>
              </a:rPr>
              <a:t>0</a:t>
            </a:r>
            <a:r>
              <a:rPr dirty="0" sz="1200" spc="-55"/>
              <a:t>，</a:t>
            </a:r>
            <a:r>
              <a:rPr dirty="0" sz="1200" spc="-260"/>
              <a:t>从</a:t>
            </a:r>
            <a:r>
              <a:rPr dirty="0" sz="1200" spc="-114"/>
              <a:t>（</a:t>
            </a:r>
            <a:r>
              <a:rPr dirty="0" sz="1100" spc="-114">
                <a:latin typeface="Georgia"/>
                <a:cs typeface="Georgia"/>
                <a:hlinkClick r:id="rId2" action="ppaction://hlinksldjump"/>
              </a:rPr>
              <a:t>20</a:t>
            </a:r>
            <a:r>
              <a:rPr dirty="0" sz="1200" spc="-114"/>
              <a:t>）</a:t>
            </a:r>
            <a:r>
              <a:rPr dirty="0" sz="1200" spc="-5"/>
              <a:t>式</a:t>
            </a:r>
            <a:r>
              <a:rPr dirty="0" sz="1200" spc="-260"/>
              <a:t>至</a:t>
            </a:r>
            <a:r>
              <a:rPr dirty="0" sz="1200" spc="-95"/>
              <a:t>（</a:t>
            </a:r>
            <a:r>
              <a:rPr dirty="0" sz="1100" spc="-95">
                <a:latin typeface="Georgia"/>
                <a:cs typeface="Georgia"/>
                <a:hlinkClick r:id="rId2" action="ppaction://hlinksldjump"/>
              </a:rPr>
              <a:t>23</a:t>
            </a:r>
            <a:r>
              <a:rPr dirty="0" sz="1200" spc="-95"/>
              <a:t>）</a:t>
            </a:r>
            <a:r>
              <a:rPr dirty="0" sz="1200" spc="-5"/>
              <a:t>式</a:t>
            </a:r>
            <a:r>
              <a:rPr dirty="0" sz="1200" spc="-80"/>
              <a:t>中</a:t>
            </a:r>
            <a:r>
              <a:rPr dirty="0" sz="1200" spc="-185"/>
              <a:t>，</a:t>
            </a:r>
            <a:r>
              <a:rPr dirty="0" sz="1200" spc="-5"/>
              <a:t>可</a:t>
            </a:r>
            <a:r>
              <a:rPr dirty="0" sz="1200" spc="-90"/>
              <a:t>得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86594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282674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26997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916508"/>
            <a:ext cx="50749" cy="3661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910369"/>
            <a:ext cx="4432935" cy="423545"/>
          </a:xfrm>
          <a:custGeom>
            <a:avLst/>
            <a:gdLst/>
            <a:ahLst/>
            <a:cxnLst/>
            <a:rect l="l" t="t" r="r" b="b"/>
            <a:pathLst>
              <a:path w="4432935" h="423544">
                <a:moveTo>
                  <a:pt x="4432566" y="0"/>
                </a:moveTo>
                <a:lnTo>
                  <a:pt x="0" y="0"/>
                </a:lnTo>
                <a:lnTo>
                  <a:pt x="0" y="372305"/>
                </a:lnTo>
                <a:lnTo>
                  <a:pt x="4008" y="392030"/>
                </a:lnTo>
                <a:lnTo>
                  <a:pt x="14922" y="408183"/>
                </a:lnTo>
                <a:lnTo>
                  <a:pt x="31075" y="419097"/>
                </a:lnTo>
                <a:lnTo>
                  <a:pt x="50800" y="423105"/>
                </a:lnTo>
                <a:lnTo>
                  <a:pt x="4381765" y="423105"/>
                </a:lnTo>
                <a:lnTo>
                  <a:pt x="4401490" y="419097"/>
                </a:lnTo>
                <a:lnTo>
                  <a:pt x="4417643" y="408183"/>
                </a:lnTo>
                <a:lnTo>
                  <a:pt x="4428558" y="392030"/>
                </a:lnTo>
                <a:lnTo>
                  <a:pt x="4432566" y="37230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954606"/>
            <a:ext cx="0" cy="347345"/>
          </a:xfrm>
          <a:custGeom>
            <a:avLst/>
            <a:gdLst/>
            <a:ahLst/>
            <a:cxnLst/>
            <a:rect l="l" t="t" r="r" b="b"/>
            <a:pathLst>
              <a:path w="0" h="347344">
                <a:moveTo>
                  <a:pt x="0" y="34711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94190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92920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91650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39457" y="1091539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3976" y="1008138"/>
            <a:ext cx="4159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[M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7229" y="99781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8006" y="914400"/>
            <a:ext cx="1477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0865" algn="l"/>
                <a:tab pos="146367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6939" y="1186573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8006" y="1103172"/>
            <a:ext cx="14770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sz="1100" spc="65">
                <a:latin typeface="Georgia"/>
                <a:cs typeface="Georgia"/>
              </a:rPr>
              <a:t>(M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61919" y="1008138"/>
            <a:ext cx="1520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61110" algn="l"/>
              </a:tabLst>
            </a:pPr>
            <a:r>
              <a:rPr dirty="0" sz="1100" spc="65" b="0" i="1">
                <a:latin typeface="Bookman Old Style"/>
                <a:cs typeface="Bookman Old Style"/>
              </a:rPr>
              <a:t>i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,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75">
                <a:latin typeface="Georgia"/>
                <a:cs typeface="Georgia"/>
              </a:rPr>
              <a:t>2</a:t>
            </a:r>
            <a:r>
              <a:rPr dirty="0" sz="1100" spc="-30" b="0" i="1">
                <a:latin typeface="Bookman Old Style"/>
                <a:cs typeface="Bookman Old Style"/>
              </a:rPr>
              <a:t>,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15">
                <a:latin typeface="Lucida Sans Unicode"/>
                <a:cs typeface="Lucida Sans Unicod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,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sz="1100" b="0" i="1">
                <a:latin typeface="Bookman Old Style"/>
                <a:cs typeface="Bookman Old Style"/>
              </a:rPr>
              <a:t>	</a:t>
            </a:r>
            <a:r>
              <a:rPr dirty="0" sz="1100" spc="-35">
                <a:latin typeface="Georgia"/>
                <a:cs typeface="Georgia"/>
              </a:rPr>
              <a:t>(24)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4101" y="1581848"/>
            <a:ext cx="20707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将</a:t>
            </a:r>
            <a:r>
              <a:rPr dirty="0" sz="1200" spc="175">
                <a:latin typeface="Arial Unicode MS"/>
                <a:cs typeface="Arial Unicode MS"/>
              </a:rPr>
              <a:t>各</a:t>
            </a:r>
            <a:r>
              <a:rPr dirty="0" sz="1100" spc="-20">
                <a:latin typeface="Georgia"/>
                <a:cs typeface="Georgia"/>
              </a:rPr>
              <a:t>[M</a:t>
            </a:r>
            <a:r>
              <a:rPr dirty="0" baseline="-13888" sz="900" spc="-30" i="1">
                <a:latin typeface="Arial"/>
                <a:cs typeface="Arial"/>
              </a:rPr>
              <a:t>i</a:t>
            </a:r>
            <a:r>
              <a:rPr dirty="0" sz="1100" spc="-20">
                <a:latin typeface="Georgia"/>
                <a:cs typeface="Georgia"/>
              </a:rPr>
              <a:t>]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带入</a:t>
            </a:r>
            <a:r>
              <a:rPr dirty="0" sz="1200" spc="-260">
                <a:latin typeface="Arial Unicode MS"/>
                <a:cs typeface="Arial Unicode MS"/>
              </a:rPr>
              <a:t>到</a:t>
            </a:r>
            <a:r>
              <a:rPr dirty="0" sz="1200" spc="-65">
                <a:latin typeface="Arial Unicode MS"/>
                <a:cs typeface="Arial Unicode MS"/>
              </a:rPr>
              <a:t>（</a:t>
            </a:r>
            <a:r>
              <a:rPr dirty="0" sz="1100" spc="-65">
                <a:latin typeface="Georgia"/>
                <a:cs typeface="Georgia"/>
                <a:hlinkClick r:id="rId2" action="ppaction://hlinksldjump"/>
              </a:rPr>
              <a:t>19</a:t>
            </a:r>
            <a:r>
              <a:rPr dirty="0" sz="1200" spc="-65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7743" y="188227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8544" y="2438184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9344" y="2425484"/>
            <a:ext cx="4381715" cy="114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20310" y="1932838"/>
            <a:ext cx="50749" cy="50534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7743" y="1926698"/>
            <a:ext cx="4432935" cy="562610"/>
          </a:xfrm>
          <a:custGeom>
            <a:avLst/>
            <a:gdLst/>
            <a:ahLst/>
            <a:cxnLst/>
            <a:rect l="l" t="t" r="r" b="b"/>
            <a:pathLst>
              <a:path w="4432935" h="562610">
                <a:moveTo>
                  <a:pt x="4432566" y="0"/>
                </a:moveTo>
                <a:lnTo>
                  <a:pt x="0" y="0"/>
                </a:lnTo>
                <a:lnTo>
                  <a:pt x="0" y="511485"/>
                </a:lnTo>
                <a:lnTo>
                  <a:pt x="4008" y="531210"/>
                </a:lnTo>
                <a:lnTo>
                  <a:pt x="14922" y="547362"/>
                </a:lnTo>
                <a:lnTo>
                  <a:pt x="31075" y="558277"/>
                </a:lnTo>
                <a:lnTo>
                  <a:pt x="50800" y="562285"/>
                </a:lnTo>
                <a:lnTo>
                  <a:pt x="4381765" y="562285"/>
                </a:lnTo>
                <a:lnTo>
                  <a:pt x="4401490" y="558277"/>
                </a:lnTo>
                <a:lnTo>
                  <a:pt x="4417643" y="547362"/>
                </a:lnTo>
                <a:lnTo>
                  <a:pt x="4428558" y="531210"/>
                </a:lnTo>
                <a:lnTo>
                  <a:pt x="4432566" y="51148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20310" y="1970936"/>
            <a:ext cx="0" cy="486409"/>
          </a:xfrm>
          <a:custGeom>
            <a:avLst/>
            <a:gdLst/>
            <a:ahLst/>
            <a:cxnLst/>
            <a:rect l="l" t="t" r="r" b="b"/>
            <a:pathLst>
              <a:path w="0" h="486410">
                <a:moveTo>
                  <a:pt x="0" y="48629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20310" y="195823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20310" y="194553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20310" y="193283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41033" y="2047389"/>
            <a:ext cx="36893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 marR="5080" indent="-16510">
              <a:lnSpc>
                <a:spcPct val="112599"/>
              </a:lnSpc>
              <a:spcBef>
                <a:spcPts val="10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 </a:t>
            </a:r>
            <a:r>
              <a:rPr dirty="0" sz="1100" spc="-2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7946" y="2163648"/>
            <a:ext cx="478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[Y]+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3213" y="2069909"/>
            <a:ext cx="934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0979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sz="1100" spc="6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Y)[Y]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40128" y="2153323"/>
            <a:ext cx="7105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4525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31517" y="2069909"/>
            <a:ext cx="5816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8325" algn="l"/>
              </a:tabLst>
            </a:pP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97813" y="2258682"/>
            <a:ext cx="1540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sz="1100" spc="35">
                <a:latin typeface="Georgia"/>
                <a:cs typeface="Georgia"/>
              </a:rPr>
              <a:t>(M</a:t>
            </a:r>
            <a:r>
              <a:rPr dirty="0" baseline="-13888" sz="900" spc="52">
                <a:latin typeface="Times New Roman"/>
                <a:cs typeface="Times New Roman"/>
              </a:rPr>
              <a:t>1</a:t>
            </a:r>
            <a:r>
              <a:rPr dirty="0" sz="1100" spc="35">
                <a:latin typeface="Georgia"/>
                <a:cs typeface="Georgia"/>
              </a:rPr>
              <a:t>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20200" y="2163648"/>
            <a:ext cx="4381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+</a:t>
            </a:r>
            <a:r>
              <a:rPr dirty="0" sz="1100" spc="-60">
                <a:latin typeface="Lucida Sans Unicode"/>
                <a:cs typeface="Lucida Sans Unicode"/>
              </a:rPr>
              <a:t>·</a:t>
            </a:r>
            <a:r>
              <a:rPr dirty="0" sz="1100" spc="-20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9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229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65335" y="2069909"/>
            <a:ext cx="939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4629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sz="1100" spc="6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Y)[Y]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76231" y="2153323"/>
            <a:ext cx="7346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6590" algn="l"/>
              </a:tabLst>
            </a:pPr>
            <a:r>
              <a:rPr dirty="0" u="sng" sz="600" spc="1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sz="600" spc="125" i="1">
                <a:latin typeface="Arial"/>
                <a:cs typeface="Arial"/>
              </a:rPr>
              <a:t>	</a:t>
            </a:r>
            <a:r>
              <a:rPr dirty="0" u="sng" sz="600" spc="17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79659" y="2069909"/>
            <a:ext cx="587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4040" algn="l"/>
              </a:tabLst>
            </a:pP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39935" y="2258682"/>
            <a:ext cx="1552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45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</a:t>
            </a:r>
            <a:r>
              <a:rPr dirty="0" baseline="-13888" sz="900" spc="67" i="1">
                <a:latin typeface="Arial"/>
                <a:cs typeface="Arial"/>
              </a:rPr>
              <a:t>n</a:t>
            </a:r>
            <a:r>
              <a:rPr dirty="0" sz="1100" spc="45">
                <a:latin typeface="Georgia"/>
                <a:cs typeface="Georgia"/>
              </a:rPr>
              <a:t>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936764"/>
            <a:ext cx="12299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上式可以整理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2868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881301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868601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79245"/>
            <a:ext cx="50749" cy="602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1273101"/>
            <a:ext cx="4432935" cy="659130"/>
          </a:xfrm>
          <a:custGeom>
            <a:avLst/>
            <a:gdLst/>
            <a:ahLst/>
            <a:cxnLst/>
            <a:rect l="l" t="t" r="r" b="b"/>
            <a:pathLst>
              <a:path w="4432935" h="659130">
                <a:moveTo>
                  <a:pt x="4432566" y="0"/>
                </a:moveTo>
                <a:lnTo>
                  <a:pt x="0" y="0"/>
                </a:lnTo>
                <a:lnTo>
                  <a:pt x="0" y="608200"/>
                </a:lnTo>
                <a:lnTo>
                  <a:pt x="4008" y="627925"/>
                </a:lnTo>
                <a:lnTo>
                  <a:pt x="14922" y="644078"/>
                </a:lnTo>
                <a:lnTo>
                  <a:pt x="31075" y="654992"/>
                </a:lnTo>
                <a:lnTo>
                  <a:pt x="50800" y="659000"/>
                </a:lnTo>
                <a:lnTo>
                  <a:pt x="4381765" y="659000"/>
                </a:lnTo>
                <a:lnTo>
                  <a:pt x="4401490" y="654992"/>
                </a:lnTo>
                <a:lnTo>
                  <a:pt x="4417643" y="644078"/>
                </a:lnTo>
                <a:lnTo>
                  <a:pt x="4428558" y="627925"/>
                </a:lnTo>
                <a:lnTo>
                  <a:pt x="4432566" y="608200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317338"/>
            <a:ext cx="0" cy="583565"/>
          </a:xfrm>
          <a:custGeom>
            <a:avLst/>
            <a:gdLst/>
            <a:ahLst/>
            <a:cxnLst/>
            <a:rect l="l" t="t" r="r" b="b"/>
            <a:pathLst>
              <a:path w="0" h="583564">
                <a:moveTo>
                  <a:pt x="0" y="58301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30463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29193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7923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23428" y="1606766"/>
            <a:ext cx="243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94967" y="1379550"/>
            <a:ext cx="345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[Y]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6023" y="1268984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45182" y="1247927"/>
            <a:ext cx="213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45">
                <a:latin typeface="Arial Unicode MS"/>
                <a:cs typeface="Arial Unicode MS"/>
              </a:rPr>
              <a:t>区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69630" y="1601495"/>
            <a:ext cx="177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i</a:t>
            </a:r>
            <a:r>
              <a:rPr dirty="0" sz="600" spc="140">
                <a:latin typeface="Times New Roman"/>
                <a:cs typeface="Times New Roman"/>
              </a:rPr>
              <a:t>=1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68563" y="1263317"/>
            <a:ext cx="112395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8425" marR="43180" indent="-48260">
              <a:lnSpc>
                <a:spcPct val="112599"/>
              </a:lnSpc>
              <a:spcBef>
                <a:spcPts val="10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baseline="-13888" sz="900" spc="52" i="1">
                <a:latin typeface="Arial"/>
                <a:cs typeface="Arial"/>
              </a:rPr>
              <a:t>i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Y)[Y]</a:t>
            </a:r>
            <a:r>
              <a:rPr dirty="0" u="sng" sz="1100" spc="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baseline="-13888" sz="900" spc="52" i="1">
                <a:latin typeface="Arial"/>
                <a:cs typeface="Arial"/>
              </a:rPr>
              <a:t>i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 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75">
                <a:latin typeface="Georgia"/>
                <a:cs typeface="Georgia"/>
              </a:rPr>
              <a:t> </a:t>
            </a:r>
            <a:r>
              <a:rPr dirty="0" sz="1100" spc="50" b="0" i="1">
                <a:latin typeface="Bookman Old Style"/>
                <a:cs typeface="Bookman Old Style"/>
              </a:rPr>
              <a:t>K</a:t>
            </a:r>
            <a:r>
              <a:rPr dirty="0" sz="1100" spc="50">
                <a:latin typeface="Georgia"/>
                <a:cs typeface="Georgia"/>
              </a:rPr>
              <a:t>(M</a:t>
            </a:r>
            <a:r>
              <a:rPr dirty="0" baseline="-13888" sz="900" spc="75" i="1">
                <a:latin typeface="Arial"/>
                <a:cs typeface="Arial"/>
              </a:rPr>
              <a:t>i</a:t>
            </a:r>
            <a:r>
              <a:rPr dirty="0" sz="1100" spc="50">
                <a:latin typeface="Georgia"/>
                <a:cs typeface="Georgia"/>
              </a:rPr>
              <a:t>Y)[Y]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07667" y="1723364"/>
            <a:ext cx="1649095" cy="0"/>
          </a:xfrm>
          <a:custGeom>
            <a:avLst/>
            <a:gdLst/>
            <a:ahLst/>
            <a:cxnLst/>
            <a:rect l="l" t="t" r="r" b="b"/>
            <a:pathLst>
              <a:path w="1649095" h="0">
                <a:moveTo>
                  <a:pt x="0" y="0"/>
                </a:moveTo>
                <a:lnTo>
                  <a:pt x="16490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08555" y="1701800"/>
            <a:ext cx="647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(Y)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2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10456" y="1606753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Georgia"/>
                <a:cs typeface="Georgia"/>
              </a:rPr>
              <a:t>(25)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考虑副反应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6961" y="828090"/>
            <a:ext cx="502920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1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-13888" sz="900" spc="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361" y="1016851"/>
            <a:ext cx="399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183" y="1100251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600" spc="114" i="1">
                <a:latin typeface="Arial"/>
                <a:cs typeface="Arial"/>
              </a:rPr>
              <a:t>t</a:t>
            </a:r>
            <a:r>
              <a:rPr dirty="0" sz="600" spc="114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5611" y="10052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1595" y="10052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67036" y="1005217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55059" y="1005217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802" y="1464322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600" spc="114" i="1">
                <a:latin typeface="Arial"/>
                <a:cs typeface="Arial"/>
              </a:rPr>
              <a:t>t</a:t>
            </a:r>
            <a:r>
              <a:rPr dirty="0" sz="600" spc="114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4584" y="13692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46668" y="13692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7224" y="13692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6184" y="13692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72180" y="13692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5802" y="1828381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600" spc="114" i="1">
                <a:latin typeface="Arial"/>
                <a:cs typeface="Arial"/>
              </a:rPr>
              <a:t>t</a:t>
            </a:r>
            <a:r>
              <a:rPr dirty="0" sz="600" spc="114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74584" y="173334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46668" y="173334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77224" y="173334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96184" y="173334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72180" y="173334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9783" y="2372918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600" spc="114" i="1">
                <a:latin typeface="Arial"/>
                <a:cs typeface="Arial"/>
              </a:rPr>
              <a:t>t</a:t>
            </a:r>
            <a:r>
              <a:rPr dirty="0" sz="600" spc="114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74584" y="2277884"/>
            <a:ext cx="9105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6545" algn="l"/>
                <a:tab pos="838835" algn="l"/>
              </a:tabLst>
            </a:pPr>
            <a:r>
              <a:rPr dirty="0" sz="600" spc="125" i="1">
                <a:latin typeface="Arial"/>
                <a:cs typeface="Arial"/>
              </a:rPr>
              <a:t>n</a:t>
            </a:r>
            <a:r>
              <a:rPr dirty="0" sz="600" spc="125" i="1">
                <a:latin typeface="Arial"/>
                <a:cs typeface="Arial"/>
              </a:rPr>
              <a:t>	</a:t>
            </a:r>
            <a:r>
              <a:rPr dirty="0" sz="600" spc="125" i="1">
                <a:latin typeface="Arial"/>
                <a:cs typeface="Arial"/>
              </a:rPr>
              <a:t>n</a:t>
            </a:r>
            <a:r>
              <a:rPr dirty="0" sz="600" spc="125" i="1">
                <a:latin typeface="Arial"/>
                <a:cs typeface="Arial"/>
              </a:rPr>
              <a:t>	</a:t>
            </a: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32302" y="2277884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20338" y="2277884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1051242" y="938811"/>
          <a:ext cx="3450590" cy="1442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"/>
                <a:gridCol w="2944495"/>
                <a:gridCol w="301624"/>
              </a:tblGrid>
              <a:tr h="315655">
                <a:tc>
                  <a:txBody>
                    <a:bodyPr/>
                    <a:lstStyle/>
                    <a:p>
                      <a:pPr marL="317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75"/>
                        </a:lnSpc>
                      </a:pPr>
                      <a:r>
                        <a:rPr dirty="0" sz="1100" spc="10" b="0" i="1">
                          <a:latin typeface="Bookman Old Style"/>
                          <a:cs typeface="Bookman Old Style"/>
                        </a:rPr>
                        <a:t>α</a:t>
                      </a:r>
                      <a:r>
                        <a:rPr dirty="0" sz="1100" spc="10">
                          <a:latin typeface="Georgia"/>
                          <a:cs typeface="Georgia"/>
                        </a:rPr>
                        <a:t>(Y)[Y]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-5" b="0" i="1">
                          <a:latin typeface="Bookman Old Style"/>
                          <a:cs typeface="Bookman Old Style"/>
                        </a:rPr>
                        <a:t>α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Y)[M </a:t>
                      </a:r>
                      <a:r>
                        <a:rPr dirty="0" sz="1100" spc="15">
                          <a:latin typeface="Georgia"/>
                          <a:cs typeface="Georgia"/>
                        </a:rPr>
                        <a:t>Y]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-5" b="0" i="1">
                          <a:latin typeface="Bookman Old Style"/>
                          <a:cs typeface="Bookman Old Style"/>
                        </a:rPr>
                        <a:t>α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Y)[M</a:t>
                      </a:r>
                      <a:r>
                        <a:rPr dirty="0" sz="1100" spc="-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5">
                          <a:latin typeface="Georgia"/>
                          <a:cs typeface="Georgia"/>
                        </a:rPr>
                        <a:t>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1275"/>
                        </a:lnSpc>
                      </a:pPr>
                      <a:r>
                        <a:rPr dirty="0" sz="1100" spc="-35">
                          <a:latin typeface="Georgia"/>
                          <a:cs typeface="Georgia"/>
                        </a:rPr>
                        <a:t>(26)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31488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254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00" spc="-5" b="0" i="1">
                          <a:latin typeface="Bookman Old Style"/>
                          <a:cs typeface="Bookman Old Style"/>
                        </a:rPr>
                        <a:t>α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-40">
                          <a:latin typeface="Georgia"/>
                          <a:cs typeface="Georgia"/>
                        </a:rPr>
                        <a:t>)[M </a:t>
                      </a:r>
                      <a:r>
                        <a:rPr dirty="0" sz="1100" spc="-110">
                          <a:latin typeface="Georgia"/>
                          <a:cs typeface="Georgia"/>
                        </a:rPr>
                        <a:t>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-5" b="0" i="1">
                          <a:latin typeface="Bookman Old Style"/>
                          <a:cs typeface="Bookman Old Style"/>
                        </a:rPr>
                        <a:t>α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70">
                          <a:latin typeface="Georgia"/>
                          <a:cs typeface="Georgia"/>
                        </a:rPr>
                        <a:t>Y)</a:t>
                      </a:r>
                      <a:r>
                        <a:rPr dirty="0" sz="1100" spc="70" b="0" i="1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dirty="0" sz="1100" spc="70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Y)[M</a:t>
                      </a:r>
                      <a:r>
                        <a:rPr dirty="0" sz="11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50">
                          <a:latin typeface="Georgia"/>
                          <a:cs typeface="Georgia"/>
                        </a:rPr>
                        <a:t>][Y]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2545"/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100" spc="-15">
                          <a:latin typeface="Georgia"/>
                          <a:cs typeface="Georgia"/>
                        </a:rPr>
                        <a:t>(27)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2545"/>
                </a:tc>
              </a:tr>
              <a:tr h="31285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 spc="-5" b="0" i="1">
                          <a:latin typeface="Bookman Old Style"/>
                          <a:cs typeface="Bookman Old Style"/>
                        </a:rPr>
                        <a:t>α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-40">
                          <a:latin typeface="Georgia"/>
                          <a:cs typeface="Georgia"/>
                        </a:rPr>
                        <a:t>)[M </a:t>
                      </a:r>
                      <a:r>
                        <a:rPr dirty="0" sz="1100" spc="-110">
                          <a:latin typeface="Georgia"/>
                          <a:cs typeface="Georgia"/>
                        </a:rPr>
                        <a:t>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-5" b="0" i="1">
                          <a:latin typeface="Bookman Old Style"/>
                          <a:cs typeface="Bookman Old Style"/>
                        </a:rPr>
                        <a:t>α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70">
                          <a:latin typeface="Georgia"/>
                          <a:cs typeface="Georgia"/>
                        </a:rPr>
                        <a:t>Y)</a:t>
                      </a:r>
                      <a:r>
                        <a:rPr dirty="0" sz="1100" spc="70" b="0" i="1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dirty="0" sz="1100" spc="70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Y)[M</a:t>
                      </a:r>
                      <a:r>
                        <a:rPr dirty="0" sz="11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50">
                          <a:latin typeface="Georgia"/>
                          <a:cs typeface="Georgia"/>
                        </a:rPr>
                        <a:t>][Y]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 spc="-40">
                          <a:latin typeface="Georgia"/>
                          <a:cs typeface="Georgia"/>
                        </a:rPr>
                        <a:t>(28)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</a:tr>
              <a:tr h="27226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1100" spc="-1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395">
                          <a:latin typeface="Lucida Sans Unicode"/>
                          <a:cs typeface="Lucida Sans Unicode"/>
                        </a:rPr>
                        <a:t>·</a:t>
                      </a:r>
                      <a:endParaRPr sz="11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00" spc="-35">
                          <a:latin typeface="Georgia"/>
                          <a:cs typeface="Georgia"/>
                        </a:rPr>
                        <a:t>(29)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0640"/>
                </a:tc>
              </a:tr>
              <a:tr h="225895">
                <a:tc>
                  <a:txBody>
                    <a:bodyPr/>
                    <a:lstStyle/>
                    <a:p>
                      <a:pPr marL="31750">
                        <a:lnSpc>
                          <a:spcPts val="1275"/>
                        </a:lnSpc>
                        <a:spcBef>
                          <a:spcPts val="40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5143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75"/>
                        </a:lnSpc>
                        <a:spcBef>
                          <a:spcPts val="405"/>
                        </a:spcBef>
                      </a:pPr>
                      <a:r>
                        <a:rPr dirty="0" sz="1100" spc="-5" b="0" i="1">
                          <a:latin typeface="Bookman Old Style"/>
                          <a:cs typeface="Bookman Old Style"/>
                        </a:rPr>
                        <a:t>α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-40">
                          <a:latin typeface="Georgia"/>
                          <a:cs typeface="Georgia"/>
                        </a:rPr>
                        <a:t>)[M </a:t>
                      </a:r>
                      <a:r>
                        <a:rPr dirty="0" sz="1100" spc="-110">
                          <a:latin typeface="Georgia"/>
                          <a:cs typeface="Georgia"/>
                        </a:rPr>
                        <a:t>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-5" b="0" i="1">
                          <a:latin typeface="Bookman Old Style"/>
                          <a:cs typeface="Bookman Old Style"/>
                        </a:rPr>
                        <a:t>α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65">
                          <a:latin typeface="Georgia"/>
                          <a:cs typeface="Georgia"/>
                        </a:rPr>
                        <a:t>Y)</a:t>
                      </a:r>
                      <a:r>
                        <a:rPr dirty="0" sz="1100" spc="65" b="0" i="1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dirty="0" sz="1100" spc="65">
                          <a:latin typeface="Georgia"/>
                          <a:cs typeface="Georgia"/>
                        </a:rPr>
                        <a:t>(M 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Y)[M</a:t>
                      </a:r>
                      <a:r>
                        <a:rPr dirty="0" sz="1100" spc="7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50">
                          <a:latin typeface="Georgia"/>
                          <a:cs typeface="Georgia"/>
                        </a:rPr>
                        <a:t>][Y]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51435"/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1275"/>
                        </a:lnSpc>
                        <a:spcBef>
                          <a:spcPts val="405"/>
                        </a:spcBef>
                      </a:pPr>
                      <a:r>
                        <a:rPr dirty="0" sz="1100" spc="-45">
                          <a:latin typeface="Georgia"/>
                          <a:cs typeface="Georgia"/>
                        </a:rPr>
                        <a:t>(30)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51435"/>
                </a:tc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422211" y="1192149"/>
            <a:ext cx="557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u="sng" baseline="-13888" sz="90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4992" y="1380909"/>
            <a:ext cx="399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2211" y="1556207"/>
            <a:ext cx="557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u="sng" baseline="-13888" sz="90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4992" y="1744980"/>
            <a:ext cx="399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7471" y="1888690"/>
            <a:ext cx="594995" cy="40386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12090">
              <a:lnSpc>
                <a:spcPct val="100000"/>
              </a:lnSpc>
              <a:spcBef>
                <a:spcPts val="270"/>
              </a:spcBef>
            </a:pP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9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9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17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u="sng" baseline="-13888" sz="900" spc="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8972" y="2289518"/>
            <a:ext cx="399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74599" y="2915107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4599" y="3174365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25844" y="2479217"/>
            <a:ext cx="2550795" cy="80454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9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05"/>
              </a:spcBef>
            </a:pP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(Y)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专</a:t>
            </a:r>
            <a:r>
              <a:rPr dirty="0" sz="1200" spc="175">
                <a:latin typeface="Arial Unicode MS"/>
                <a:cs typeface="Arial Unicode MS"/>
              </a:rPr>
              <a:t>指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的酸效应系</a:t>
            </a:r>
            <a:r>
              <a:rPr dirty="0" sz="1200" spc="-65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0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175">
                <a:latin typeface="Arial Unicode MS"/>
                <a:cs typeface="Arial Unicode MS"/>
              </a:rPr>
              <a:t>它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-204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是各对应项的副反应系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滴定通式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87743" y="116171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2343975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2331275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12278"/>
            <a:ext cx="50749" cy="1131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1206131"/>
            <a:ext cx="4432935" cy="1188720"/>
          </a:xfrm>
          <a:custGeom>
            <a:avLst/>
            <a:gdLst/>
            <a:ahLst/>
            <a:cxnLst/>
            <a:rect l="l" t="t" r="r" b="b"/>
            <a:pathLst>
              <a:path w="4432935" h="1188720">
                <a:moveTo>
                  <a:pt x="4432566" y="0"/>
                </a:moveTo>
                <a:lnTo>
                  <a:pt x="0" y="0"/>
                </a:lnTo>
                <a:lnTo>
                  <a:pt x="0" y="1137844"/>
                </a:lnTo>
                <a:lnTo>
                  <a:pt x="4008" y="1157568"/>
                </a:lnTo>
                <a:lnTo>
                  <a:pt x="14922" y="1173721"/>
                </a:lnTo>
                <a:lnTo>
                  <a:pt x="31075" y="1184635"/>
                </a:lnTo>
                <a:lnTo>
                  <a:pt x="50800" y="1188644"/>
                </a:lnTo>
                <a:lnTo>
                  <a:pt x="4381765" y="1188644"/>
                </a:lnTo>
                <a:lnTo>
                  <a:pt x="4401490" y="1184635"/>
                </a:lnTo>
                <a:lnTo>
                  <a:pt x="4417643" y="1173721"/>
                </a:lnTo>
                <a:lnTo>
                  <a:pt x="4428558" y="1157568"/>
                </a:lnTo>
                <a:lnTo>
                  <a:pt x="4432566" y="1137844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250368"/>
            <a:ext cx="0" cy="1113155"/>
          </a:xfrm>
          <a:custGeom>
            <a:avLst/>
            <a:gdLst/>
            <a:ahLst/>
            <a:cxnLst/>
            <a:rect l="l" t="t" r="r" b="b"/>
            <a:pathLst>
              <a:path w="0" h="1113155">
                <a:moveTo>
                  <a:pt x="0" y="111265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23766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22496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1226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19987" y="1387310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4506" y="1303896"/>
            <a:ext cx="4159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[M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79128" y="1293584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8536" y="1210170"/>
            <a:ext cx="22402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51865" algn="l"/>
                <a:tab pos="222694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3136" y="1398930"/>
            <a:ext cx="22910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9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1)(</a:t>
            </a:r>
            <a:r>
              <a:rPr dirty="0" sz="1100" spc="30" b="0" i="1">
                <a:latin typeface="Bookman Old Style"/>
                <a:cs typeface="Bookman Old Style"/>
              </a:rPr>
              <a:t>α</a:t>
            </a:r>
            <a:r>
              <a:rPr dirty="0" sz="1100" spc="30">
                <a:latin typeface="Georgia"/>
                <a:cs typeface="Georgia"/>
              </a:rPr>
              <a:t>(M</a:t>
            </a:r>
            <a:r>
              <a:rPr dirty="0" baseline="-13888" sz="900" spc="44" i="1">
                <a:latin typeface="Arial"/>
                <a:cs typeface="Arial"/>
              </a:rPr>
              <a:t>i</a:t>
            </a:r>
            <a:r>
              <a:rPr dirty="0" sz="1100" spc="3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45" b="0" i="1">
                <a:latin typeface="Bookman Old Style"/>
                <a:cs typeface="Bookman Old Style"/>
              </a:rPr>
              <a:t>α</a:t>
            </a:r>
            <a:r>
              <a:rPr dirty="0" sz="1100" spc="45">
                <a:latin typeface="Georgia"/>
                <a:cs typeface="Georgia"/>
              </a:rPr>
              <a:t>(M</a:t>
            </a:r>
            <a:r>
              <a:rPr dirty="0" baseline="-13888" sz="900" spc="67" i="1">
                <a:latin typeface="Arial"/>
                <a:cs typeface="Arial"/>
              </a:rPr>
              <a:t>i</a:t>
            </a:r>
            <a:r>
              <a:rPr dirty="0" sz="1100" spc="45">
                <a:latin typeface="Georgia"/>
                <a:cs typeface="Georgia"/>
              </a:rPr>
              <a:t>Y)</a:t>
            </a:r>
            <a:r>
              <a:rPr dirty="0" sz="1100" spc="45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</a:t>
            </a:r>
            <a:r>
              <a:rPr dirty="0" baseline="-13888" sz="900" spc="67" i="1">
                <a:latin typeface="Arial"/>
                <a:cs typeface="Arial"/>
              </a:rPr>
              <a:t>i</a:t>
            </a:r>
            <a:r>
              <a:rPr dirty="0" sz="1100" spc="45">
                <a:latin typeface="Georgia"/>
                <a:cs typeface="Georgia"/>
              </a:rPr>
              <a:t>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0456" y="130389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(31)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9787" y="2069426"/>
            <a:ext cx="243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1326" y="1842211"/>
            <a:ext cx="6457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(Y)[Y]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33181" y="1731657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62340" y="1710601"/>
            <a:ext cx="213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45">
                <a:latin typeface="Arial Unicode MS"/>
                <a:cs typeface="Arial Unicode MS"/>
              </a:rPr>
              <a:t>区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86788" y="2064169"/>
            <a:ext cx="177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i</a:t>
            </a:r>
            <a:r>
              <a:rPr dirty="0" sz="600" spc="140">
                <a:latin typeface="Times New Roman"/>
                <a:cs typeface="Times New Roman"/>
              </a:rPr>
              <a:t>=1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93099" y="1831886"/>
            <a:ext cx="11855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8795" algn="l"/>
                <a:tab pos="1138555" algn="l"/>
              </a:tabLst>
            </a:pPr>
            <a:r>
              <a:rPr dirty="0" sz="600" spc="130" i="1">
                <a:latin typeface="Arial"/>
                <a:cs typeface="Arial"/>
              </a:rPr>
              <a:t>i</a:t>
            </a:r>
            <a:r>
              <a:rPr dirty="0" sz="600" spc="130" i="1">
                <a:latin typeface="Arial"/>
                <a:cs typeface="Arial"/>
              </a:rPr>
              <a:t>	</a:t>
            </a:r>
            <a:r>
              <a:rPr dirty="0" sz="600" spc="130" i="1">
                <a:latin typeface="Arial"/>
                <a:cs typeface="Arial"/>
              </a:rPr>
              <a:t>i</a:t>
            </a:r>
            <a:r>
              <a:rPr dirty="0" sz="600" spc="130" i="1">
                <a:latin typeface="Arial"/>
                <a:cs typeface="Arial"/>
              </a:rPr>
              <a:t>	</a:t>
            </a: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3821" y="1748485"/>
            <a:ext cx="17145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α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 </a:t>
            </a:r>
            <a:r>
              <a:rPr dirty="0" u="sng" sz="1100" spc="6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Y)</a:t>
            </a:r>
            <a:r>
              <a:rPr dirty="0" u="sng" sz="1100" spc="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sz="1100" spc="6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Y)[Y]</a:t>
            </a:r>
            <a:r>
              <a:rPr dirty="0" u="sng" sz="110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u="sng" sz="1100" spc="5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24026" y="2186038"/>
            <a:ext cx="2616835" cy="0"/>
          </a:xfrm>
          <a:custGeom>
            <a:avLst/>
            <a:gdLst/>
            <a:ahLst/>
            <a:cxnLst/>
            <a:rect l="l" t="t" r="r" b="b"/>
            <a:pathLst>
              <a:path w="2616835" h="0">
                <a:moveTo>
                  <a:pt x="0" y="0"/>
                </a:moveTo>
                <a:lnTo>
                  <a:pt x="261631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932762" y="1876282"/>
            <a:ext cx="1830705" cy="480059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570"/>
              </a:spcBef>
            </a:pPr>
            <a:r>
              <a:rPr dirty="0" sz="1100" spc="30" b="0" i="1">
                <a:latin typeface="Bookman Old Style"/>
                <a:cs typeface="Bookman Old Style"/>
              </a:rPr>
              <a:t>α</a:t>
            </a:r>
            <a:r>
              <a:rPr dirty="0" sz="1100" spc="30">
                <a:latin typeface="Georgia"/>
                <a:cs typeface="Georgia"/>
              </a:rPr>
              <a:t>(M</a:t>
            </a:r>
            <a:r>
              <a:rPr dirty="0" baseline="-13888" sz="900" spc="44" i="1">
                <a:latin typeface="Arial"/>
                <a:cs typeface="Arial"/>
              </a:rPr>
              <a:t>i</a:t>
            </a:r>
            <a:r>
              <a:rPr dirty="0" sz="1100" spc="3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50" b="0" i="1">
                <a:latin typeface="Bookman Old Style"/>
                <a:cs typeface="Bookman Old Style"/>
              </a:rPr>
              <a:t>α</a:t>
            </a:r>
            <a:r>
              <a:rPr dirty="0" sz="1100" spc="50">
                <a:latin typeface="Georgia"/>
                <a:cs typeface="Georgia"/>
              </a:rPr>
              <a:t>(M</a:t>
            </a:r>
            <a:r>
              <a:rPr dirty="0" baseline="-13888" sz="900" spc="75" i="1">
                <a:latin typeface="Arial"/>
                <a:cs typeface="Arial"/>
              </a:rPr>
              <a:t>i</a:t>
            </a:r>
            <a:r>
              <a:rPr dirty="0" sz="1100" spc="50">
                <a:latin typeface="Georgia"/>
                <a:cs typeface="Georgia"/>
              </a:rPr>
              <a:t>Y)</a:t>
            </a:r>
            <a:r>
              <a:rPr dirty="0" sz="1100" spc="50" b="0" i="1">
                <a:latin typeface="Bookman Old Style"/>
                <a:cs typeface="Bookman Old Style"/>
              </a:rPr>
              <a:t>K</a:t>
            </a:r>
            <a:r>
              <a:rPr dirty="0" sz="1100" spc="50">
                <a:latin typeface="Georgia"/>
                <a:cs typeface="Georgia"/>
              </a:rPr>
              <a:t>(M</a:t>
            </a:r>
            <a:r>
              <a:rPr dirty="0" baseline="-13888" sz="900" spc="75" i="1">
                <a:latin typeface="Arial"/>
                <a:cs typeface="Arial"/>
              </a:rPr>
              <a:t>i</a:t>
            </a:r>
            <a:r>
              <a:rPr dirty="0" sz="1100" spc="50">
                <a:latin typeface="Georgia"/>
                <a:cs typeface="Georgia"/>
              </a:rPr>
              <a:t>Y)[Y]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470"/>
              </a:spcBef>
            </a:pP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(Y)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(Y)[Y]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10456" y="206942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(32)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48717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混合离子的滴</a:t>
            </a:r>
            <a:r>
              <a:rPr dirty="0" sz="1050" spc="-10">
                <a:solidFill>
                  <a:srgbClr val="FFFFFF"/>
                </a:solidFill>
              </a:rPr>
              <a:t>定</a:t>
            </a:r>
            <a:r>
              <a:rPr dirty="0" sz="1050" spc="-5">
                <a:solidFill>
                  <a:srgbClr val="FFFFFF"/>
                </a:solidFill>
              </a:rPr>
              <a:t>曲</a:t>
            </a:r>
            <a:r>
              <a:rPr dirty="0" sz="1050" spc="-10">
                <a:solidFill>
                  <a:srgbClr val="FFFFFF"/>
                </a:solidFill>
              </a:rPr>
              <a:t>线</a:t>
            </a:r>
            <a:r>
              <a:rPr dirty="0" sz="1050" spc="-5">
                <a:solidFill>
                  <a:srgbClr val="FFFFFF"/>
                </a:solidFill>
              </a:rPr>
              <a:t>示例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1247628" y="597300"/>
            <a:ext cx="2279650" cy="0"/>
          </a:xfrm>
          <a:custGeom>
            <a:avLst/>
            <a:gdLst/>
            <a:ahLst/>
            <a:cxnLst/>
            <a:rect l="l" t="t" r="r" b="b"/>
            <a:pathLst>
              <a:path w="2279650" h="0">
                <a:moveTo>
                  <a:pt x="0" y="0"/>
                </a:moveTo>
                <a:lnTo>
                  <a:pt x="22793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47628" y="2394201"/>
            <a:ext cx="2279650" cy="0"/>
          </a:xfrm>
          <a:custGeom>
            <a:avLst/>
            <a:gdLst/>
            <a:ahLst/>
            <a:cxnLst/>
            <a:rect l="l" t="t" r="r" b="b"/>
            <a:pathLst>
              <a:path w="2279650" h="0">
                <a:moveTo>
                  <a:pt x="0" y="0"/>
                </a:moveTo>
                <a:lnTo>
                  <a:pt x="22793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27016" y="597300"/>
            <a:ext cx="0" cy="1797050"/>
          </a:xfrm>
          <a:custGeom>
            <a:avLst/>
            <a:gdLst/>
            <a:ahLst/>
            <a:cxnLst/>
            <a:rect l="l" t="t" r="r" b="b"/>
            <a:pathLst>
              <a:path w="0" h="1797050">
                <a:moveTo>
                  <a:pt x="0" y="179690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47628" y="597300"/>
            <a:ext cx="0" cy="1797050"/>
          </a:xfrm>
          <a:custGeom>
            <a:avLst/>
            <a:gdLst/>
            <a:ahLst/>
            <a:cxnLst/>
            <a:rect l="l" t="t" r="r" b="b"/>
            <a:pathLst>
              <a:path w="0" h="1797050">
                <a:moveTo>
                  <a:pt x="0" y="179690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47628" y="2394201"/>
            <a:ext cx="2279650" cy="0"/>
          </a:xfrm>
          <a:custGeom>
            <a:avLst/>
            <a:gdLst/>
            <a:ahLst/>
            <a:cxnLst/>
            <a:rect l="l" t="t" r="r" b="b"/>
            <a:pathLst>
              <a:path w="2279650" h="0">
                <a:moveTo>
                  <a:pt x="0" y="0"/>
                </a:moveTo>
                <a:lnTo>
                  <a:pt x="22793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47628" y="597300"/>
            <a:ext cx="0" cy="1797050"/>
          </a:xfrm>
          <a:custGeom>
            <a:avLst/>
            <a:gdLst/>
            <a:ahLst/>
            <a:cxnLst/>
            <a:rect l="l" t="t" r="r" b="b"/>
            <a:pathLst>
              <a:path w="0" h="1797050">
                <a:moveTo>
                  <a:pt x="0" y="179690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47628" y="2371245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4">
                <a:moveTo>
                  <a:pt x="0" y="2295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47628" y="5973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59">
                <a:moveTo>
                  <a:pt x="0" y="0"/>
                </a:moveTo>
                <a:lnTo>
                  <a:pt x="0" y="225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17072" y="2388301"/>
            <a:ext cx="61594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32444" y="2371245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4">
                <a:moveTo>
                  <a:pt x="0" y="2295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2444" y="5973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59">
                <a:moveTo>
                  <a:pt x="0" y="0"/>
                </a:moveTo>
                <a:lnTo>
                  <a:pt x="0" y="225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75108" y="2388301"/>
            <a:ext cx="11493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0.5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17260" y="2371245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4">
                <a:moveTo>
                  <a:pt x="0" y="2295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17260" y="5973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59">
                <a:moveTo>
                  <a:pt x="0" y="0"/>
                </a:moveTo>
                <a:lnTo>
                  <a:pt x="0" y="225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86707" y="2388301"/>
            <a:ext cx="61594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02080" y="2371245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4">
                <a:moveTo>
                  <a:pt x="0" y="2295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02080" y="5973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59">
                <a:moveTo>
                  <a:pt x="0" y="0"/>
                </a:moveTo>
                <a:lnTo>
                  <a:pt x="0" y="225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44743" y="2388301"/>
            <a:ext cx="11493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1.5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87320" y="2371245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4">
                <a:moveTo>
                  <a:pt x="0" y="2295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87320" y="5973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59">
                <a:moveTo>
                  <a:pt x="0" y="0"/>
                </a:moveTo>
                <a:lnTo>
                  <a:pt x="0" y="225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72141" y="2371245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4">
                <a:moveTo>
                  <a:pt x="0" y="2295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72141" y="5973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59">
                <a:moveTo>
                  <a:pt x="0" y="0"/>
                </a:moveTo>
                <a:lnTo>
                  <a:pt x="0" y="225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14803" y="2388301"/>
            <a:ext cx="11493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2.5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56956" y="2371245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4">
                <a:moveTo>
                  <a:pt x="0" y="2295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56956" y="5973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59">
                <a:moveTo>
                  <a:pt x="0" y="0"/>
                </a:moveTo>
                <a:lnTo>
                  <a:pt x="0" y="225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926402" y="2388301"/>
            <a:ext cx="61594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3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41772" y="2371245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4">
                <a:moveTo>
                  <a:pt x="0" y="2295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241772" y="5973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59">
                <a:moveTo>
                  <a:pt x="0" y="0"/>
                </a:moveTo>
                <a:lnTo>
                  <a:pt x="0" y="225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184438" y="2388301"/>
            <a:ext cx="11493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3.5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27016" y="2371245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4">
                <a:moveTo>
                  <a:pt x="0" y="2295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27016" y="5973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59">
                <a:moveTo>
                  <a:pt x="0" y="0"/>
                </a:moveTo>
                <a:lnTo>
                  <a:pt x="0" y="2252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496462" y="2388301"/>
            <a:ext cx="61594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4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247628" y="2394201"/>
            <a:ext cx="22860" cy="0"/>
          </a:xfrm>
          <a:custGeom>
            <a:avLst/>
            <a:gdLst/>
            <a:ahLst/>
            <a:cxnLst/>
            <a:rect l="l" t="t" r="r" b="b"/>
            <a:pathLst>
              <a:path w="22859" h="0">
                <a:moveTo>
                  <a:pt x="0" y="0"/>
                </a:moveTo>
                <a:lnTo>
                  <a:pt x="225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504061" y="2394201"/>
            <a:ext cx="23495" cy="0"/>
          </a:xfrm>
          <a:custGeom>
            <a:avLst/>
            <a:gdLst/>
            <a:ahLst/>
            <a:cxnLst/>
            <a:rect l="l" t="t" r="r" b="b"/>
            <a:pathLst>
              <a:path w="23495" h="0">
                <a:moveTo>
                  <a:pt x="2295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184339" y="2335589"/>
            <a:ext cx="61594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2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247628" y="2182501"/>
            <a:ext cx="22860" cy="0"/>
          </a:xfrm>
          <a:custGeom>
            <a:avLst/>
            <a:gdLst/>
            <a:ahLst/>
            <a:cxnLst/>
            <a:rect l="l" t="t" r="r" b="b"/>
            <a:pathLst>
              <a:path w="22859" h="0">
                <a:moveTo>
                  <a:pt x="0" y="0"/>
                </a:moveTo>
                <a:lnTo>
                  <a:pt x="225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504061" y="2182501"/>
            <a:ext cx="23495" cy="0"/>
          </a:xfrm>
          <a:custGeom>
            <a:avLst/>
            <a:gdLst/>
            <a:ahLst/>
            <a:cxnLst/>
            <a:rect l="l" t="t" r="r" b="b"/>
            <a:pathLst>
              <a:path w="23495" h="0">
                <a:moveTo>
                  <a:pt x="2295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7628" y="1971224"/>
            <a:ext cx="22860" cy="0"/>
          </a:xfrm>
          <a:custGeom>
            <a:avLst/>
            <a:gdLst/>
            <a:ahLst/>
            <a:cxnLst/>
            <a:rect l="l" t="t" r="r" b="b"/>
            <a:pathLst>
              <a:path w="22859" h="0">
                <a:moveTo>
                  <a:pt x="0" y="0"/>
                </a:moveTo>
                <a:lnTo>
                  <a:pt x="225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504061" y="1971224"/>
            <a:ext cx="23495" cy="0"/>
          </a:xfrm>
          <a:custGeom>
            <a:avLst/>
            <a:gdLst/>
            <a:ahLst/>
            <a:cxnLst/>
            <a:rect l="l" t="t" r="r" b="b"/>
            <a:pathLst>
              <a:path w="23495" h="0">
                <a:moveTo>
                  <a:pt x="2295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7628" y="1759947"/>
            <a:ext cx="22860" cy="0"/>
          </a:xfrm>
          <a:custGeom>
            <a:avLst/>
            <a:gdLst/>
            <a:ahLst/>
            <a:cxnLst/>
            <a:rect l="l" t="t" r="r" b="b"/>
            <a:pathLst>
              <a:path w="22859" h="0">
                <a:moveTo>
                  <a:pt x="0" y="0"/>
                </a:moveTo>
                <a:lnTo>
                  <a:pt x="225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504061" y="1759947"/>
            <a:ext cx="23495" cy="0"/>
          </a:xfrm>
          <a:custGeom>
            <a:avLst/>
            <a:gdLst/>
            <a:ahLst/>
            <a:cxnLst/>
            <a:rect l="l" t="t" r="r" b="b"/>
            <a:pathLst>
              <a:path w="23495" h="0">
                <a:moveTo>
                  <a:pt x="2295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47628" y="1548247"/>
            <a:ext cx="22860" cy="0"/>
          </a:xfrm>
          <a:custGeom>
            <a:avLst/>
            <a:gdLst/>
            <a:ahLst/>
            <a:cxnLst/>
            <a:rect l="l" t="t" r="r" b="b"/>
            <a:pathLst>
              <a:path w="22859" h="0">
                <a:moveTo>
                  <a:pt x="0" y="0"/>
                </a:moveTo>
                <a:lnTo>
                  <a:pt x="225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504061" y="1548247"/>
            <a:ext cx="23495" cy="0"/>
          </a:xfrm>
          <a:custGeom>
            <a:avLst/>
            <a:gdLst/>
            <a:ahLst/>
            <a:cxnLst/>
            <a:rect l="l" t="t" r="r" b="b"/>
            <a:pathLst>
              <a:path w="23495" h="0">
                <a:moveTo>
                  <a:pt x="2295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47628" y="1336975"/>
            <a:ext cx="22860" cy="0"/>
          </a:xfrm>
          <a:custGeom>
            <a:avLst/>
            <a:gdLst/>
            <a:ahLst/>
            <a:cxnLst/>
            <a:rect l="l" t="t" r="r" b="b"/>
            <a:pathLst>
              <a:path w="22859" h="0">
                <a:moveTo>
                  <a:pt x="0" y="0"/>
                </a:moveTo>
                <a:lnTo>
                  <a:pt x="225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504061" y="1336975"/>
            <a:ext cx="23495" cy="0"/>
          </a:xfrm>
          <a:custGeom>
            <a:avLst/>
            <a:gdLst/>
            <a:ahLst/>
            <a:cxnLst/>
            <a:rect l="l" t="t" r="r" b="b"/>
            <a:pathLst>
              <a:path w="23495" h="0">
                <a:moveTo>
                  <a:pt x="2295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47628" y="1125699"/>
            <a:ext cx="22860" cy="0"/>
          </a:xfrm>
          <a:custGeom>
            <a:avLst/>
            <a:gdLst/>
            <a:ahLst/>
            <a:cxnLst/>
            <a:rect l="l" t="t" r="r" b="b"/>
            <a:pathLst>
              <a:path w="22859" h="0">
                <a:moveTo>
                  <a:pt x="0" y="0"/>
                </a:moveTo>
                <a:lnTo>
                  <a:pt x="225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504061" y="1125699"/>
            <a:ext cx="23495" cy="0"/>
          </a:xfrm>
          <a:custGeom>
            <a:avLst/>
            <a:gdLst/>
            <a:ahLst/>
            <a:cxnLst/>
            <a:rect l="l" t="t" r="r" b="b"/>
            <a:pathLst>
              <a:path w="23495" h="0">
                <a:moveTo>
                  <a:pt x="2295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47628" y="913998"/>
            <a:ext cx="22860" cy="0"/>
          </a:xfrm>
          <a:custGeom>
            <a:avLst/>
            <a:gdLst/>
            <a:ahLst/>
            <a:cxnLst/>
            <a:rect l="l" t="t" r="r" b="b"/>
            <a:pathLst>
              <a:path w="22859" h="0">
                <a:moveTo>
                  <a:pt x="0" y="0"/>
                </a:moveTo>
                <a:lnTo>
                  <a:pt x="225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504061" y="913998"/>
            <a:ext cx="23495" cy="0"/>
          </a:xfrm>
          <a:custGeom>
            <a:avLst/>
            <a:gdLst/>
            <a:ahLst/>
            <a:cxnLst/>
            <a:rect l="l" t="t" r="r" b="b"/>
            <a:pathLst>
              <a:path w="23495" h="0">
                <a:moveTo>
                  <a:pt x="2295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47628" y="702722"/>
            <a:ext cx="22860" cy="0"/>
          </a:xfrm>
          <a:custGeom>
            <a:avLst/>
            <a:gdLst/>
            <a:ahLst/>
            <a:cxnLst/>
            <a:rect l="l" t="t" r="r" b="b"/>
            <a:pathLst>
              <a:path w="22859" h="0">
                <a:moveTo>
                  <a:pt x="0" y="0"/>
                </a:moveTo>
                <a:lnTo>
                  <a:pt x="225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504061" y="702722"/>
            <a:ext cx="23495" cy="0"/>
          </a:xfrm>
          <a:custGeom>
            <a:avLst/>
            <a:gdLst/>
            <a:ahLst/>
            <a:cxnLst/>
            <a:rect l="l" t="t" r="r" b="b"/>
            <a:pathLst>
              <a:path w="23495" h="0">
                <a:moveTo>
                  <a:pt x="2295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148631" y="644112"/>
            <a:ext cx="97155" cy="15913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18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550" spc="5">
                <a:latin typeface="Times New Roman"/>
                <a:cs typeface="Times New Roman"/>
              </a:rPr>
              <a:t>16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550" spc="5">
                <a:latin typeface="Times New Roman"/>
                <a:cs typeface="Times New Roman"/>
              </a:rPr>
              <a:t>14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550" spc="5">
                <a:latin typeface="Times New Roman"/>
                <a:cs typeface="Times New Roman"/>
              </a:rPr>
              <a:t>12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550" spc="5">
                <a:latin typeface="Times New Roman"/>
                <a:cs typeface="Times New Roman"/>
              </a:rPr>
              <a:t>10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5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5"/>
              </a:spcBef>
            </a:pPr>
            <a:r>
              <a:rPr dirty="0" sz="550" spc="5">
                <a:latin typeface="Times New Roman"/>
                <a:cs typeface="Times New Roman"/>
              </a:rPr>
              <a:t>8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5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</a:pPr>
            <a:r>
              <a:rPr dirty="0" sz="550" spc="5">
                <a:latin typeface="Times New Roman"/>
                <a:cs typeface="Times New Roman"/>
              </a:rPr>
              <a:t>6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5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</a:pPr>
            <a:r>
              <a:rPr dirty="0" sz="550" spc="5">
                <a:latin typeface="Times New Roman"/>
                <a:cs typeface="Times New Roman"/>
              </a:rPr>
              <a:t>4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247628" y="597300"/>
            <a:ext cx="2279650" cy="0"/>
          </a:xfrm>
          <a:custGeom>
            <a:avLst/>
            <a:gdLst/>
            <a:ahLst/>
            <a:cxnLst/>
            <a:rect l="l" t="t" r="r" b="b"/>
            <a:pathLst>
              <a:path w="2279650" h="0">
                <a:moveTo>
                  <a:pt x="0" y="0"/>
                </a:moveTo>
                <a:lnTo>
                  <a:pt x="22793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247628" y="2394201"/>
            <a:ext cx="2279650" cy="0"/>
          </a:xfrm>
          <a:custGeom>
            <a:avLst/>
            <a:gdLst/>
            <a:ahLst/>
            <a:cxnLst/>
            <a:rect l="l" t="t" r="r" b="b"/>
            <a:pathLst>
              <a:path w="2279650" h="0">
                <a:moveTo>
                  <a:pt x="0" y="0"/>
                </a:moveTo>
                <a:lnTo>
                  <a:pt x="22793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527016" y="597300"/>
            <a:ext cx="0" cy="1797050"/>
          </a:xfrm>
          <a:custGeom>
            <a:avLst/>
            <a:gdLst/>
            <a:ahLst/>
            <a:cxnLst/>
            <a:rect l="l" t="t" r="r" b="b"/>
            <a:pathLst>
              <a:path w="0" h="1797050">
                <a:moveTo>
                  <a:pt x="0" y="179690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247628" y="597300"/>
            <a:ext cx="0" cy="1797050"/>
          </a:xfrm>
          <a:custGeom>
            <a:avLst/>
            <a:gdLst/>
            <a:ahLst/>
            <a:cxnLst/>
            <a:rect l="l" t="t" r="r" b="b"/>
            <a:pathLst>
              <a:path w="0" h="1797050">
                <a:moveTo>
                  <a:pt x="0" y="179690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005418" y="2168896"/>
            <a:ext cx="522605" cy="104139"/>
          </a:xfrm>
          <a:custGeom>
            <a:avLst/>
            <a:gdLst/>
            <a:ahLst/>
            <a:cxnLst/>
            <a:rect l="l" t="t" r="r" b="b"/>
            <a:pathLst>
              <a:path w="522604" h="104139">
                <a:moveTo>
                  <a:pt x="0" y="0"/>
                </a:moveTo>
                <a:lnTo>
                  <a:pt x="51326" y="31965"/>
                </a:lnTo>
                <a:lnTo>
                  <a:pt x="108824" y="51863"/>
                </a:lnTo>
                <a:lnTo>
                  <a:pt x="158708" y="63235"/>
                </a:lnTo>
                <a:lnTo>
                  <a:pt x="209800" y="72601"/>
                </a:lnTo>
                <a:lnTo>
                  <a:pt x="261748" y="80266"/>
                </a:lnTo>
                <a:lnTo>
                  <a:pt x="314200" y="86534"/>
                </a:lnTo>
                <a:lnTo>
                  <a:pt x="366806" y="91709"/>
                </a:lnTo>
                <a:lnTo>
                  <a:pt x="419212" y="96097"/>
                </a:lnTo>
                <a:lnTo>
                  <a:pt x="471068" y="100002"/>
                </a:lnTo>
                <a:lnTo>
                  <a:pt x="522022" y="103727"/>
                </a:lnTo>
              </a:path>
            </a:pathLst>
          </a:custGeom>
          <a:ln w="10202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780541" y="1772700"/>
            <a:ext cx="229977" cy="40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489772" y="1673227"/>
            <a:ext cx="295910" cy="104775"/>
          </a:xfrm>
          <a:custGeom>
            <a:avLst/>
            <a:gdLst/>
            <a:ahLst/>
            <a:cxnLst/>
            <a:rect l="l" t="t" r="r" b="b"/>
            <a:pathLst>
              <a:path w="295910" h="104775">
                <a:moveTo>
                  <a:pt x="0" y="0"/>
                </a:moveTo>
                <a:lnTo>
                  <a:pt x="48090" y="20376"/>
                </a:lnTo>
                <a:lnTo>
                  <a:pt x="97207" y="38308"/>
                </a:lnTo>
                <a:lnTo>
                  <a:pt x="146946" y="54745"/>
                </a:lnTo>
                <a:lnTo>
                  <a:pt x="196904" y="70636"/>
                </a:lnTo>
                <a:lnTo>
                  <a:pt x="246680" y="86929"/>
                </a:lnTo>
                <a:lnTo>
                  <a:pt x="295870" y="104574"/>
                </a:lnTo>
              </a:path>
            </a:pathLst>
          </a:custGeom>
          <a:ln w="10202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30783" y="1563551"/>
            <a:ext cx="164090" cy="1147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071045" y="1463654"/>
            <a:ext cx="265430" cy="105410"/>
          </a:xfrm>
          <a:custGeom>
            <a:avLst/>
            <a:gdLst/>
            <a:ahLst/>
            <a:cxnLst/>
            <a:rect l="l" t="t" r="r" b="b"/>
            <a:pathLst>
              <a:path w="265430" h="105409">
                <a:moveTo>
                  <a:pt x="0" y="0"/>
                </a:moveTo>
                <a:lnTo>
                  <a:pt x="44643" y="14594"/>
                </a:lnTo>
                <a:lnTo>
                  <a:pt x="90285" y="29214"/>
                </a:lnTo>
                <a:lnTo>
                  <a:pt x="136025" y="44713"/>
                </a:lnTo>
                <a:lnTo>
                  <a:pt x="180964" y="61942"/>
                </a:lnTo>
                <a:lnTo>
                  <a:pt x="224202" y="81753"/>
                </a:lnTo>
                <a:lnTo>
                  <a:pt x="264839" y="104998"/>
                </a:lnTo>
              </a:path>
            </a:pathLst>
          </a:custGeom>
          <a:ln w="10202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815138" y="1225172"/>
            <a:ext cx="261008" cy="2435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793457" y="842158"/>
            <a:ext cx="27305" cy="388620"/>
          </a:xfrm>
          <a:custGeom>
            <a:avLst/>
            <a:gdLst/>
            <a:ahLst/>
            <a:cxnLst/>
            <a:rect l="l" t="t" r="r" b="b"/>
            <a:pathLst>
              <a:path w="27305" h="388619">
                <a:moveTo>
                  <a:pt x="0" y="0"/>
                </a:moveTo>
                <a:lnTo>
                  <a:pt x="13461" y="39496"/>
                </a:lnTo>
                <a:lnTo>
                  <a:pt x="19517" y="80404"/>
                </a:lnTo>
                <a:lnTo>
                  <a:pt x="21251" y="107977"/>
                </a:lnTo>
                <a:lnTo>
                  <a:pt x="21680" y="108824"/>
                </a:lnTo>
                <a:lnTo>
                  <a:pt x="21680" y="117327"/>
                </a:lnTo>
                <a:lnTo>
                  <a:pt x="22103" y="118603"/>
                </a:lnTo>
                <a:lnTo>
                  <a:pt x="22103" y="127953"/>
                </a:lnTo>
                <a:lnTo>
                  <a:pt x="22526" y="129228"/>
                </a:lnTo>
                <a:lnTo>
                  <a:pt x="22526" y="144109"/>
                </a:lnTo>
                <a:lnTo>
                  <a:pt x="22955" y="144961"/>
                </a:lnTo>
                <a:lnTo>
                  <a:pt x="22955" y="166212"/>
                </a:lnTo>
                <a:lnTo>
                  <a:pt x="23378" y="167064"/>
                </a:lnTo>
                <a:lnTo>
                  <a:pt x="23378" y="207450"/>
                </a:lnTo>
                <a:lnTo>
                  <a:pt x="23802" y="208297"/>
                </a:lnTo>
                <a:lnTo>
                  <a:pt x="23802" y="280143"/>
                </a:lnTo>
                <a:lnTo>
                  <a:pt x="24230" y="281418"/>
                </a:lnTo>
                <a:lnTo>
                  <a:pt x="24230" y="321376"/>
                </a:lnTo>
                <a:lnTo>
                  <a:pt x="24654" y="322651"/>
                </a:lnTo>
                <a:lnTo>
                  <a:pt x="24654" y="343479"/>
                </a:lnTo>
                <a:lnTo>
                  <a:pt x="25077" y="344755"/>
                </a:lnTo>
                <a:lnTo>
                  <a:pt x="25077" y="358359"/>
                </a:lnTo>
                <a:lnTo>
                  <a:pt x="25506" y="359635"/>
                </a:lnTo>
                <a:lnTo>
                  <a:pt x="25506" y="370261"/>
                </a:lnTo>
                <a:lnTo>
                  <a:pt x="25929" y="371112"/>
                </a:lnTo>
                <a:lnTo>
                  <a:pt x="25929" y="379616"/>
                </a:lnTo>
                <a:lnTo>
                  <a:pt x="26352" y="380463"/>
                </a:lnTo>
                <a:lnTo>
                  <a:pt x="26352" y="386839"/>
                </a:lnTo>
                <a:lnTo>
                  <a:pt x="26781" y="388115"/>
                </a:lnTo>
              </a:path>
            </a:pathLst>
          </a:custGeom>
          <a:ln w="10202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462726" y="672114"/>
            <a:ext cx="335833" cy="1751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044877" y="1415579"/>
            <a:ext cx="106680" cy="160655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550">
                <a:latin typeface="Times New Roman"/>
                <a:cs typeface="Times New Roman"/>
              </a:rPr>
              <a:t>p[Y]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351666" y="2388301"/>
            <a:ext cx="70485" cy="1930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780">
              <a:lnSpc>
                <a:spcPts val="595"/>
              </a:lnSpc>
              <a:spcBef>
                <a:spcPts val="110"/>
              </a:spcBef>
            </a:pPr>
            <a:r>
              <a:rPr dirty="0" sz="550" spc="5">
                <a:latin typeface="Times New Roman"/>
                <a:cs typeface="Times New Roman"/>
              </a:rPr>
              <a:t>2</a:t>
            </a: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dirty="0" sz="650" spc="-5">
                <a:latin typeface="Symbol"/>
                <a:cs typeface="Symbol"/>
              </a:rPr>
              <a:t></a:t>
            </a:r>
            <a:endParaRPr sz="650">
              <a:latin typeface="Symbol"/>
              <a:cs typeface="Symbo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044" y="2692174"/>
            <a:ext cx="4087495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55880">
              <a:lnSpc>
                <a:spcPct val="123300"/>
              </a:lnSpc>
              <a:spcBef>
                <a:spcPts val="100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30">
                <a:solidFill>
                  <a:srgbClr val="3333B2"/>
                </a:solidFill>
                <a:latin typeface="Georgia"/>
                <a:cs typeface="Georgia"/>
              </a:rPr>
              <a:t>10: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曲</a:t>
            </a:r>
            <a:r>
              <a:rPr dirty="0" sz="1050" spc="-20">
                <a:latin typeface="Arial Unicode MS"/>
                <a:cs typeface="Arial Unicode MS"/>
              </a:rPr>
              <a:t>线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160">
                <a:latin typeface="Arial Unicode MS"/>
                <a:cs typeface="Arial Unicode MS"/>
              </a:rPr>
              <a:t>以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60">
                <a:latin typeface="Times New Roman"/>
                <a:cs typeface="Times New Roman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由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Ca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45">
                <a:latin typeface="Georgia"/>
                <a:cs typeface="Georgia"/>
              </a:rPr>
              <a:t>10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7)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</a:t>
            </a:r>
            <a:r>
              <a:rPr dirty="0" sz="1000" spc="40">
                <a:latin typeface="Georgia"/>
                <a:cs typeface="Georgia"/>
              </a:rPr>
              <a:t>Mg</a:t>
            </a:r>
            <a:r>
              <a:rPr dirty="0" baseline="27777" sz="1050" spc="60">
                <a:latin typeface="Times New Roman"/>
                <a:cs typeface="Times New Roman"/>
              </a:rPr>
              <a:t>2+</a:t>
            </a:r>
            <a:r>
              <a:rPr dirty="0" sz="1000" spc="4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30">
                <a:latin typeface="Georgia"/>
                <a:cs typeface="Georgia"/>
              </a:rPr>
              <a:t>8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7) </a:t>
            </a:r>
            <a:r>
              <a:rPr dirty="0" sz="1050" spc="160">
                <a:latin typeface="Arial Unicode MS"/>
                <a:cs typeface="Arial Unicode MS"/>
              </a:rPr>
              <a:t>和 </a:t>
            </a:r>
            <a:r>
              <a:rPr dirty="0" sz="1000" spc="-40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Pb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00" spc="125" b="0" i="1">
                <a:latin typeface="Bookman Old Style"/>
                <a:cs typeface="Bookman Old Style"/>
              </a:rPr>
              <a:t>K</a:t>
            </a:r>
            <a:r>
              <a:rPr dirty="0" sz="1000" spc="45" b="0" i="1">
                <a:latin typeface="Bookman Old Style"/>
                <a:cs typeface="Bookman Old Style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18</a:t>
            </a:r>
            <a:r>
              <a:rPr dirty="0" sz="1000" spc="-40" b="0" i="1">
                <a:latin typeface="Bookman Old Style"/>
                <a:cs typeface="Bookman Old Style"/>
              </a:rPr>
              <a:t>.</a:t>
            </a:r>
            <a:r>
              <a:rPr dirty="0" sz="1000" spc="-40">
                <a:latin typeface="Georgia"/>
                <a:cs typeface="Georgia"/>
              </a:rPr>
              <a:t>04)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组</a:t>
            </a:r>
            <a:r>
              <a:rPr dirty="0" sz="1050" spc="-5">
                <a:latin typeface="Arial Unicode MS"/>
                <a:cs typeface="Arial Unicode MS"/>
              </a:rPr>
              <a:t>成的混</a:t>
            </a:r>
            <a:r>
              <a:rPr dirty="0" sz="1050" spc="-10">
                <a:latin typeface="Arial Unicode MS"/>
                <a:cs typeface="Arial Unicode MS"/>
              </a:rPr>
              <a:t>合</a:t>
            </a:r>
            <a:r>
              <a:rPr dirty="0" sz="1050" spc="-5">
                <a:latin typeface="Arial Unicode MS"/>
                <a:cs typeface="Arial Unicode MS"/>
              </a:rPr>
              <a:t>离子溶</a:t>
            </a:r>
            <a:r>
              <a:rPr dirty="0" sz="1050" spc="-20">
                <a:latin typeface="Arial Unicode MS"/>
                <a:cs typeface="Arial Unicode MS"/>
              </a:rPr>
              <a:t>液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00" spc="-45">
                <a:latin typeface="Georgia"/>
                <a:cs typeface="Georgia"/>
              </a:rPr>
              <a:t>10.0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4941" y="309117"/>
            <a:ext cx="2361565" cy="0"/>
          </a:xfrm>
          <a:custGeom>
            <a:avLst/>
            <a:gdLst/>
            <a:ahLst/>
            <a:cxnLst/>
            <a:rect l="l" t="t" r="r" b="b"/>
            <a:pathLst>
              <a:path w="2361565" h="0">
                <a:moveTo>
                  <a:pt x="0" y="0"/>
                </a:moveTo>
                <a:lnTo>
                  <a:pt x="2361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74941" y="2170527"/>
            <a:ext cx="2361565" cy="0"/>
          </a:xfrm>
          <a:custGeom>
            <a:avLst/>
            <a:gdLst/>
            <a:ahLst/>
            <a:cxnLst/>
            <a:rect l="l" t="t" r="r" b="b"/>
            <a:pathLst>
              <a:path w="2361565" h="0">
                <a:moveTo>
                  <a:pt x="0" y="0"/>
                </a:moveTo>
                <a:lnTo>
                  <a:pt x="2361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36160" y="309117"/>
            <a:ext cx="0" cy="1861820"/>
          </a:xfrm>
          <a:custGeom>
            <a:avLst/>
            <a:gdLst/>
            <a:ahLst/>
            <a:cxnLst/>
            <a:rect l="l" t="t" r="r" b="b"/>
            <a:pathLst>
              <a:path w="0" h="1861820">
                <a:moveTo>
                  <a:pt x="0" y="18614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74941" y="309117"/>
            <a:ext cx="0" cy="1861820"/>
          </a:xfrm>
          <a:custGeom>
            <a:avLst/>
            <a:gdLst/>
            <a:ahLst/>
            <a:cxnLst/>
            <a:rect l="l" t="t" r="r" b="b"/>
            <a:pathLst>
              <a:path w="0" h="1861820">
                <a:moveTo>
                  <a:pt x="0" y="18614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74941" y="2170527"/>
            <a:ext cx="2361565" cy="0"/>
          </a:xfrm>
          <a:custGeom>
            <a:avLst/>
            <a:gdLst/>
            <a:ahLst/>
            <a:cxnLst/>
            <a:rect l="l" t="t" r="r" b="b"/>
            <a:pathLst>
              <a:path w="2361565" h="0">
                <a:moveTo>
                  <a:pt x="0" y="0"/>
                </a:moveTo>
                <a:lnTo>
                  <a:pt x="2361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74941" y="309117"/>
            <a:ext cx="0" cy="1861820"/>
          </a:xfrm>
          <a:custGeom>
            <a:avLst/>
            <a:gdLst/>
            <a:ahLst/>
            <a:cxnLst/>
            <a:rect l="l" t="t" r="r" b="b"/>
            <a:pathLst>
              <a:path w="0" h="1861820">
                <a:moveTo>
                  <a:pt x="0" y="18614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74941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74941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43744" y="2164871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69982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69982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11044" y="2164871"/>
            <a:ext cx="11811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latin typeface="Times New Roman"/>
                <a:cs typeface="Times New Roman"/>
              </a:rPr>
              <a:t>0.5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65022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65022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33829" y="2164871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60068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60068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901129" y="2164871"/>
            <a:ext cx="11811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latin typeface="Times New Roman"/>
                <a:cs typeface="Times New Roman"/>
              </a:rPr>
              <a:t>1.5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55548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55548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50594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50594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491654" y="2164871"/>
            <a:ext cx="11811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latin typeface="Times New Roman"/>
                <a:cs typeface="Times New Roman"/>
              </a:rPr>
              <a:t>2.5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45635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45635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814439" y="2164871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3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40675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40675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081739" y="2164871"/>
            <a:ext cx="11811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latin typeface="Times New Roman"/>
                <a:cs typeface="Times New Roman"/>
              </a:rPr>
              <a:t>3.5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36160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436160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404965" y="2164871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4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74941" y="2170527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12380" y="2170527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009836" y="2110266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2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74941" y="1951227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412380" y="1951227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009836" y="1890965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4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74941" y="1732365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412380" y="1732365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009836" y="1672106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6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74941" y="1513503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412380" y="1513503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74941" y="1294203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412380" y="1294203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74941" y="1075347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12380" y="1075347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074941" y="856485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412380" y="856485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074941" y="637185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412380" y="637185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074941" y="418323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412380" y="418323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972846" y="358066"/>
            <a:ext cx="99695" cy="12096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18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550" spc="15">
                <a:latin typeface="Times New Roman"/>
                <a:cs typeface="Times New Roman"/>
              </a:rPr>
              <a:t>16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550" spc="15">
                <a:latin typeface="Times New Roman"/>
                <a:cs typeface="Times New Roman"/>
              </a:rPr>
              <a:t>14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550" spc="15">
                <a:latin typeface="Times New Roman"/>
                <a:cs typeface="Times New Roman"/>
              </a:rPr>
              <a:t>12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550" spc="15">
                <a:latin typeface="Times New Roman"/>
                <a:cs typeface="Times New Roman"/>
              </a:rPr>
              <a:t>10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75"/>
              </a:spcBef>
            </a:pPr>
            <a:r>
              <a:rPr dirty="0" sz="550" spc="15">
                <a:latin typeface="Times New Roman"/>
                <a:cs typeface="Times New Roman"/>
              </a:rPr>
              <a:t>8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074941" y="309117"/>
            <a:ext cx="2361565" cy="0"/>
          </a:xfrm>
          <a:custGeom>
            <a:avLst/>
            <a:gdLst/>
            <a:ahLst/>
            <a:cxnLst/>
            <a:rect l="l" t="t" r="r" b="b"/>
            <a:pathLst>
              <a:path w="2361565" h="0">
                <a:moveTo>
                  <a:pt x="0" y="0"/>
                </a:moveTo>
                <a:lnTo>
                  <a:pt x="2361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74941" y="2170527"/>
            <a:ext cx="2361565" cy="0"/>
          </a:xfrm>
          <a:custGeom>
            <a:avLst/>
            <a:gdLst/>
            <a:ahLst/>
            <a:cxnLst/>
            <a:rect l="l" t="t" r="r" b="b"/>
            <a:pathLst>
              <a:path w="2361565" h="0">
                <a:moveTo>
                  <a:pt x="0" y="0"/>
                </a:moveTo>
                <a:lnTo>
                  <a:pt x="2361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436160" y="309117"/>
            <a:ext cx="0" cy="1861820"/>
          </a:xfrm>
          <a:custGeom>
            <a:avLst/>
            <a:gdLst/>
            <a:ahLst/>
            <a:cxnLst/>
            <a:rect l="l" t="t" r="r" b="b"/>
            <a:pathLst>
              <a:path w="0" h="1861820">
                <a:moveTo>
                  <a:pt x="0" y="18614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074941" y="309117"/>
            <a:ext cx="0" cy="1861820"/>
          </a:xfrm>
          <a:custGeom>
            <a:avLst/>
            <a:gdLst/>
            <a:ahLst/>
            <a:cxnLst/>
            <a:rect l="l" t="t" r="r" b="b"/>
            <a:pathLst>
              <a:path w="0" h="1861820">
                <a:moveTo>
                  <a:pt x="0" y="18614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895836" y="1540808"/>
            <a:ext cx="541020" cy="117475"/>
          </a:xfrm>
          <a:custGeom>
            <a:avLst/>
            <a:gdLst/>
            <a:ahLst/>
            <a:cxnLst/>
            <a:rect l="l" t="t" r="r" b="b"/>
            <a:pathLst>
              <a:path w="541020" h="117475">
                <a:moveTo>
                  <a:pt x="0" y="117138"/>
                </a:moveTo>
                <a:lnTo>
                  <a:pt x="53000" y="82812"/>
                </a:lnTo>
                <a:lnTo>
                  <a:pt x="112730" y="61208"/>
                </a:lnTo>
                <a:lnTo>
                  <a:pt x="159373" y="49529"/>
                </a:lnTo>
                <a:lnTo>
                  <a:pt x="206401" y="39631"/>
                </a:lnTo>
                <a:lnTo>
                  <a:pt x="253747" y="31273"/>
                </a:lnTo>
                <a:lnTo>
                  <a:pt x="301344" y="24215"/>
                </a:lnTo>
                <a:lnTo>
                  <a:pt x="349126" y="18216"/>
                </a:lnTo>
                <a:lnTo>
                  <a:pt x="397026" y="13035"/>
                </a:lnTo>
                <a:lnTo>
                  <a:pt x="444976" y="8432"/>
                </a:lnTo>
                <a:lnTo>
                  <a:pt x="492910" y="4167"/>
                </a:lnTo>
                <a:lnTo>
                  <a:pt x="540762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62886" y="1652661"/>
            <a:ext cx="238234" cy="4033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61679" y="2050747"/>
            <a:ext cx="306705" cy="54610"/>
          </a:xfrm>
          <a:custGeom>
            <a:avLst/>
            <a:gdLst/>
            <a:ahLst/>
            <a:cxnLst/>
            <a:rect l="l" t="t" r="r" b="b"/>
            <a:pathLst>
              <a:path w="306705" h="54610">
                <a:moveTo>
                  <a:pt x="0" y="54164"/>
                </a:moveTo>
                <a:lnTo>
                  <a:pt x="51100" y="47888"/>
                </a:lnTo>
                <a:lnTo>
                  <a:pt x="102676" y="40879"/>
                </a:lnTo>
                <a:lnTo>
                  <a:pt x="154365" y="32860"/>
                </a:lnTo>
                <a:lnTo>
                  <a:pt x="205805" y="23557"/>
                </a:lnTo>
                <a:lnTo>
                  <a:pt x="256634" y="12696"/>
                </a:lnTo>
                <a:lnTo>
                  <a:pt x="306491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202266" y="2104911"/>
            <a:ext cx="160020" cy="13970"/>
          </a:xfrm>
          <a:custGeom>
            <a:avLst/>
            <a:gdLst/>
            <a:ahLst/>
            <a:cxnLst/>
            <a:rect l="l" t="t" r="r" b="b"/>
            <a:pathLst>
              <a:path w="160019" h="13969">
                <a:moveTo>
                  <a:pt x="0" y="13649"/>
                </a:moveTo>
                <a:lnTo>
                  <a:pt x="1321" y="13210"/>
                </a:lnTo>
                <a:lnTo>
                  <a:pt x="9686" y="13210"/>
                </a:lnTo>
                <a:lnTo>
                  <a:pt x="11815" y="12338"/>
                </a:lnTo>
                <a:lnTo>
                  <a:pt x="16392" y="12957"/>
                </a:lnTo>
                <a:lnTo>
                  <a:pt x="18933" y="12772"/>
                </a:lnTo>
                <a:lnTo>
                  <a:pt x="23351" y="11826"/>
                </a:lnTo>
                <a:lnTo>
                  <a:pt x="32303" y="12317"/>
                </a:lnTo>
                <a:lnTo>
                  <a:pt x="36551" y="11451"/>
                </a:lnTo>
                <a:lnTo>
                  <a:pt x="45123" y="11106"/>
                </a:lnTo>
                <a:lnTo>
                  <a:pt x="53747" y="10533"/>
                </a:lnTo>
                <a:lnTo>
                  <a:pt x="62360" y="9869"/>
                </a:lnTo>
                <a:lnTo>
                  <a:pt x="70900" y="9247"/>
                </a:lnTo>
                <a:lnTo>
                  <a:pt x="92983" y="7246"/>
                </a:lnTo>
                <a:lnTo>
                  <a:pt x="115134" y="5059"/>
                </a:lnTo>
                <a:lnTo>
                  <a:pt x="137296" y="2654"/>
                </a:lnTo>
                <a:lnTo>
                  <a:pt x="159412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927919" y="2118561"/>
            <a:ext cx="274955" cy="9525"/>
          </a:xfrm>
          <a:custGeom>
            <a:avLst/>
            <a:gdLst/>
            <a:ahLst/>
            <a:cxnLst/>
            <a:rect l="l" t="t" r="r" b="b"/>
            <a:pathLst>
              <a:path w="274955" h="9525">
                <a:moveTo>
                  <a:pt x="0" y="9247"/>
                </a:moveTo>
                <a:lnTo>
                  <a:pt x="54886" y="7330"/>
                </a:lnTo>
                <a:lnTo>
                  <a:pt x="109781" y="5491"/>
                </a:lnTo>
                <a:lnTo>
                  <a:pt x="164668" y="3687"/>
                </a:lnTo>
                <a:lnTo>
                  <a:pt x="219529" y="1871"/>
                </a:lnTo>
                <a:lnTo>
                  <a:pt x="274347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709501" y="2127808"/>
            <a:ext cx="218440" cy="8255"/>
          </a:xfrm>
          <a:custGeom>
            <a:avLst/>
            <a:gdLst/>
            <a:ahLst/>
            <a:cxnLst/>
            <a:rect l="l" t="t" r="r" b="b"/>
            <a:pathLst>
              <a:path w="218439" h="8255">
                <a:moveTo>
                  <a:pt x="0" y="7926"/>
                </a:moveTo>
                <a:lnTo>
                  <a:pt x="54421" y="5663"/>
                </a:lnTo>
                <a:lnTo>
                  <a:pt x="109052" y="3626"/>
                </a:lnTo>
                <a:lnTo>
                  <a:pt x="163761" y="1757"/>
                </a:lnTo>
                <a:lnTo>
                  <a:pt x="218417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657540" y="2135634"/>
            <a:ext cx="52069" cy="1905"/>
          </a:xfrm>
          <a:custGeom>
            <a:avLst/>
            <a:gdLst/>
            <a:ahLst/>
            <a:cxnLst/>
            <a:rect l="l" t="t" r="r" b="b"/>
            <a:pathLst>
              <a:path w="52069" h="1905">
                <a:moveTo>
                  <a:pt x="0" y="1865"/>
                </a:moveTo>
                <a:lnTo>
                  <a:pt x="0" y="1865"/>
                </a:lnTo>
                <a:lnTo>
                  <a:pt x="8803" y="1865"/>
                </a:lnTo>
                <a:lnTo>
                  <a:pt x="9247" y="1421"/>
                </a:lnTo>
                <a:lnTo>
                  <a:pt x="19816" y="1421"/>
                </a:lnTo>
                <a:lnTo>
                  <a:pt x="20254" y="982"/>
                </a:lnTo>
                <a:lnTo>
                  <a:pt x="30823" y="982"/>
                </a:lnTo>
                <a:lnTo>
                  <a:pt x="31262" y="544"/>
                </a:lnTo>
                <a:lnTo>
                  <a:pt x="33465" y="544"/>
                </a:lnTo>
                <a:lnTo>
                  <a:pt x="35959" y="544"/>
                </a:lnTo>
                <a:lnTo>
                  <a:pt x="38459" y="544"/>
                </a:lnTo>
                <a:lnTo>
                  <a:pt x="40953" y="544"/>
                </a:lnTo>
                <a:lnTo>
                  <a:pt x="43442" y="158"/>
                </a:lnTo>
                <a:lnTo>
                  <a:pt x="42808" y="0"/>
                </a:lnTo>
                <a:lnTo>
                  <a:pt x="45794" y="100"/>
                </a:lnTo>
                <a:lnTo>
                  <a:pt x="47849" y="100"/>
                </a:lnTo>
                <a:lnTo>
                  <a:pt x="49905" y="100"/>
                </a:lnTo>
                <a:lnTo>
                  <a:pt x="51960" y="10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576071" y="2137500"/>
            <a:ext cx="81915" cy="3810"/>
          </a:xfrm>
          <a:custGeom>
            <a:avLst/>
            <a:gdLst/>
            <a:ahLst/>
            <a:cxnLst/>
            <a:rect l="l" t="t" r="r" b="b"/>
            <a:pathLst>
              <a:path w="81914" h="3810">
                <a:moveTo>
                  <a:pt x="0" y="3519"/>
                </a:moveTo>
                <a:lnTo>
                  <a:pt x="8600" y="3217"/>
                </a:lnTo>
                <a:lnTo>
                  <a:pt x="17176" y="2809"/>
                </a:lnTo>
                <a:lnTo>
                  <a:pt x="25751" y="2426"/>
                </a:lnTo>
                <a:lnTo>
                  <a:pt x="34348" y="2198"/>
                </a:lnTo>
                <a:lnTo>
                  <a:pt x="38940" y="1675"/>
                </a:lnTo>
                <a:lnTo>
                  <a:pt x="41603" y="1722"/>
                </a:lnTo>
                <a:lnTo>
                  <a:pt x="46238" y="1759"/>
                </a:lnTo>
                <a:lnTo>
                  <a:pt x="47120" y="1759"/>
                </a:lnTo>
                <a:lnTo>
                  <a:pt x="48002" y="1321"/>
                </a:lnTo>
                <a:lnTo>
                  <a:pt x="51522" y="1321"/>
                </a:lnTo>
                <a:lnTo>
                  <a:pt x="53287" y="1321"/>
                </a:lnTo>
                <a:lnTo>
                  <a:pt x="55047" y="1321"/>
                </a:lnTo>
                <a:lnTo>
                  <a:pt x="56806" y="1321"/>
                </a:lnTo>
                <a:lnTo>
                  <a:pt x="58629" y="1167"/>
                </a:lnTo>
                <a:lnTo>
                  <a:pt x="57689" y="686"/>
                </a:lnTo>
                <a:lnTo>
                  <a:pt x="60769" y="877"/>
                </a:lnTo>
                <a:lnTo>
                  <a:pt x="61943" y="877"/>
                </a:lnTo>
                <a:lnTo>
                  <a:pt x="68696" y="877"/>
                </a:lnTo>
                <a:lnTo>
                  <a:pt x="69140" y="438"/>
                </a:lnTo>
                <a:lnTo>
                  <a:pt x="79265" y="438"/>
                </a:lnTo>
                <a:lnTo>
                  <a:pt x="79709" y="0"/>
                </a:lnTo>
                <a:lnTo>
                  <a:pt x="81468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03045" y="2141019"/>
            <a:ext cx="273050" cy="13970"/>
          </a:xfrm>
          <a:custGeom>
            <a:avLst/>
            <a:gdLst/>
            <a:ahLst/>
            <a:cxnLst/>
            <a:rect l="l" t="t" r="r" b="b"/>
            <a:pathLst>
              <a:path w="273050" h="13969">
                <a:moveTo>
                  <a:pt x="0" y="13654"/>
                </a:moveTo>
                <a:lnTo>
                  <a:pt x="54622" y="10628"/>
                </a:lnTo>
                <a:lnTo>
                  <a:pt x="109248" y="7768"/>
                </a:lnTo>
                <a:lnTo>
                  <a:pt x="163865" y="5056"/>
                </a:lnTo>
                <a:lnTo>
                  <a:pt x="218462" y="2473"/>
                </a:lnTo>
                <a:lnTo>
                  <a:pt x="273026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895836" y="1266904"/>
            <a:ext cx="541020" cy="117475"/>
          </a:xfrm>
          <a:custGeom>
            <a:avLst/>
            <a:gdLst/>
            <a:ahLst/>
            <a:cxnLst/>
            <a:rect l="l" t="t" r="r" b="b"/>
            <a:pathLst>
              <a:path w="541020" h="117475">
                <a:moveTo>
                  <a:pt x="0" y="117132"/>
                </a:moveTo>
                <a:lnTo>
                  <a:pt x="53046" y="82952"/>
                </a:lnTo>
                <a:lnTo>
                  <a:pt x="112730" y="61208"/>
                </a:lnTo>
                <a:lnTo>
                  <a:pt x="158650" y="49676"/>
                </a:lnTo>
                <a:lnTo>
                  <a:pt x="205510" y="39882"/>
                </a:lnTo>
                <a:lnTo>
                  <a:pt x="253084" y="31587"/>
                </a:lnTo>
                <a:lnTo>
                  <a:pt x="301143" y="24554"/>
                </a:lnTo>
                <a:lnTo>
                  <a:pt x="349461" y="18546"/>
                </a:lnTo>
                <a:lnTo>
                  <a:pt x="397809" y="13324"/>
                </a:lnTo>
                <a:lnTo>
                  <a:pt x="445960" y="8650"/>
                </a:lnTo>
                <a:lnTo>
                  <a:pt x="493687" y="4288"/>
                </a:lnTo>
                <a:lnTo>
                  <a:pt x="540762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662886" y="1378753"/>
            <a:ext cx="238234" cy="420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361679" y="1793574"/>
            <a:ext cx="306705" cy="115570"/>
          </a:xfrm>
          <a:custGeom>
            <a:avLst/>
            <a:gdLst/>
            <a:ahLst/>
            <a:cxnLst/>
            <a:rect l="l" t="t" r="r" b="b"/>
            <a:pathLst>
              <a:path w="306705" h="115569">
                <a:moveTo>
                  <a:pt x="0" y="115378"/>
                </a:moveTo>
                <a:lnTo>
                  <a:pt x="49630" y="93075"/>
                </a:lnTo>
                <a:lnTo>
                  <a:pt x="100517" y="73338"/>
                </a:lnTo>
                <a:lnTo>
                  <a:pt x="152154" y="55164"/>
                </a:lnTo>
                <a:lnTo>
                  <a:pt x="204033" y="37551"/>
                </a:lnTo>
                <a:lnTo>
                  <a:pt x="255648" y="19497"/>
                </a:lnTo>
                <a:lnTo>
                  <a:pt x="306491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196981" y="1903662"/>
            <a:ext cx="169981" cy="1180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27919" y="2016399"/>
            <a:ext cx="274955" cy="83820"/>
          </a:xfrm>
          <a:custGeom>
            <a:avLst/>
            <a:gdLst/>
            <a:ahLst/>
            <a:cxnLst/>
            <a:rect l="l" t="t" r="r" b="b"/>
            <a:pathLst>
              <a:path w="274955" h="83819">
                <a:moveTo>
                  <a:pt x="0" y="83667"/>
                </a:moveTo>
                <a:lnTo>
                  <a:pt x="46331" y="74822"/>
                </a:lnTo>
                <a:lnTo>
                  <a:pt x="93668" y="64919"/>
                </a:lnTo>
                <a:lnTo>
                  <a:pt x="141075" y="53221"/>
                </a:lnTo>
                <a:lnTo>
                  <a:pt x="187614" y="38993"/>
                </a:lnTo>
                <a:lnTo>
                  <a:pt x="232350" y="21498"/>
                </a:lnTo>
                <a:lnTo>
                  <a:pt x="274347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709501" y="2100066"/>
            <a:ext cx="218440" cy="31750"/>
          </a:xfrm>
          <a:custGeom>
            <a:avLst/>
            <a:gdLst/>
            <a:ahLst/>
            <a:cxnLst/>
            <a:rect l="l" t="t" r="r" b="b"/>
            <a:pathLst>
              <a:path w="218439" h="31750">
                <a:moveTo>
                  <a:pt x="0" y="31706"/>
                </a:moveTo>
                <a:lnTo>
                  <a:pt x="54354" y="24804"/>
                </a:lnTo>
                <a:lnTo>
                  <a:pt x="109036" y="17222"/>
                </a:lnTo>
                <a:lnTo>
                  <a:pt x="163804" y="8955"/>
                </a:lnTo>
                <a:lnTo>
                  <a:pt x="218417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657540" y="2131772"/>
            <a:ext cx="52069" cy="6350"/>
          </a:xfrm>
          <a:custGeom>
            <a:avLst/>
            <a:gdLst/>
            <a:ahLst/>
            <a:cxnLst/>
            <a:rect l="l" t="t" r="r" b="b"/>
            <a:pathLst>
              <a:path w="52069" h="6350">
                <a:moveTo>
                  <a:pt x="0" y="5728"/>
                </a:moveTo>
                <a:lnTo>
                  <a:pt x="1759" y="5728"/>
                </a:lnTo>
                <a:lnTo>
                  <a:pt x="3519" y="5728"/>
                </a:lnTo>
                <a:lnTo>
                  <a:pt x="5284" y="5728"/>
                </a:lnTo>
                <a:lnTo>
                  <a:pt x="9147" y="5929"/>
                </a:lnTo>
                <a:lnTo>
                  <a:pt x="6198" y="5057"/>
                </a:lnTo>
                <a:lnTo>
                  <a:pt x="10568" y="5284"/>
                </a:lnTo>
                <a:lnTo>
                  <a:pt x="11445" y="5284"/>
                </a:lnTo>
                <a:lnTo>
                  <a:pt x="11889" y="4845"/>
                </a:lnTo>
                <a:lnTo>
                  <a:pt x="14970" y="4845"/>
                </a:lnTo>
                <a:lnTo>
                  <a:pt x="15409" y="4407"/>
                </a:lnTo>
                <a:lnTo>
                  <a:pt x="15853" y="4407"/>
                </a:lnTo>
                <a:lnTo>
                  <a:pt x="19985" y="4634"/>
                </a:lnTo>
                <a:lnTo>
                  <a:pt x="17438" y="3736"/>
                </a:lnTo>
                <a:lnTo>
                  <a:pt x="21575" y="3963"/>
                </a:lnTo>
                <a:lnTo>
                  <a:pt x="22014" y="3963"/>
                </a:lnTo>
                <a:lnTo>
                  <a:pt x="22458" y="3524"/>
                </a:lnTo>
                <a:lnTo>
                  <a:pt x="25977" y="3524"/>
                </a:lnTo>
                <a:lnTo>
                  <a:pt x="26421" y="3086"/>
                </a:lnTo>
                <a:lnTo>
                  <a:pt x="26860" y="3086"/>
                </a:lnTo>
                <a:lnTo>
                  <a:pt x="27742" y="3086"/>
                </a:lnTo>
                <a:lnTo>
                  <a:pt x="28620" y="3086"/>
                </a:lnTo>
                <a:lnTo>
                  <a:pt x="29502" y="3086"/>
                </a:lnTo>
                <a:lnTo>
                  <a:pt x="29941" y="2642"/>
                </a:lnTo>
                <a:lnTo>
                  <a:pt x="33027" y="2642"/>
                </a:lnTo>
                <a:lnTo>
                  <a:pt x="33465" y="2203"/>
                </a:lnTo>
                <a:lnTo>
                  <a:pt x="36546" y="2203"/>
                </a:lnTo>
                <a:lnTo>
                  <a:pt x="36990" y="1764"/>
                </a:lnTo>
                <a:lnTo>
                  <a:pt x="39632" y="1764"/>
                </a:lnTo>
                <a:lnTo>
                  <a:pt x="40509" y="1321"/>
                </a:lnTo>
                <a:lnTo>
                  <a:pt x="40953" y="1321"/>
                </a:lnTo>
                <a:lnTo>
                  <a:pt x="46206" y="1537"/>
                </a:lnTo>
                <a:lnTo>
                  <a:pt x="41735" y="702"/>
                </a:lnTo>
                <a:lnTo>
                  <a:pt x="45794" y="882"/>
                </a:lnTo>
                <a:lnTo>
                  <a:pt x="46676" y="882"/>
                </a:lnTo>
                <a:lnTo>
                  <a:pt x="47559" y="443"/>
                </a:lnTo>
                <a:lnTo>
                  <a:pt x="50201" y="443"/>
                </a:lnTo>
                <a:lnTo>
                  <a:pt x="51083" y="0"/>
                </a:lnTo>
                <a:lnTo>
                  <a:pt x="51960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576071" y="2137500"/>
            <a:ext cx="81915" cy="3810"/>
          </a:xfrm>
          <a:custGeom>
            <a:avLst/>
            <a:gdLst/>
            <a:ahLst/>
            <a:cxnLst/>
            <a:rect l="l" t="t" r="r" b="b"/>
            <a:pathLst>
              <a:path w="81914" h="3810">
                <a:moveTo>
                  <a:pt x="0" y="3519"/>
                </a:moveTo>
                <a:lnTo>
                  <a:pt x="8600" y="3217"/>
                </a:lnTo>
                <a:lnTo>
                  <a:pt x="17176" y="2809"/>
                </a:lnTo>
                <a:lnTo>
                  <a:pt x="25751" y="2426"/>
                </a:lnTo>
                <a:lnTo>
                  <a:pt x="34348" y="2198"/>
                </a:lnTo>
                <a:lnTo>
                  <a:pt x="38940" y="1675"/>
                </a:lnTo>
                <a:lnTo>
                  <a:pt x="41603" y="1722"/>
                </a:lnTo>
                <a:lnTo>
                  <a:pt x="46238" y="1759"/>
                </a:lnTo>
                <a:lnTo>
                  <a:pt x="47120" y="1759"/>
                </a:lnTo>
                <a:lnTo>
                  <a:pt x="48002" y="1321"/>
                </a:lnTo>
                <a:lnTo>
                  <a:pt x="51522" y="1321"/>
                </a:lnTo>
                <a:lnTo>
                  <a:pt x="53287" y="1321"/>
                </a:lnTo>
                <a:lnTo>
                  <a:pt x="55047" y="1321"/>
                </a:lnTo>
                <a:lnTo>
                  <a:pt x="56806" y="1321"/>
                </a:lnTo>
                <a:lnTo>
                  <a:pt x="58629" y="1167"/>
                </a:lnTo>
                <a:lnTo>
                  <a:pt x="57689" y="686"/>
                </a:lnTo>
                <a:lnTo>
                  <a:pt x="60769" y="877"/>
                </a:lnTo>
                <a:lnTo>
                  <a:pt x="61943" y="877"/>
                </a:lnTo>
                <a:lnTo>
                  <a:pt x="68696" y="877"/>
                </a:lnTo>
                <a:lnTo>
                  <a:pt x="69140" y="438"/>
                </a:lnTo>
                <a:lnTo>
                  <a:pt x="79265" y="438"/>
                </a:lnTo>
                <a:lnTo>
                  <a:pt x="79709" y="0"/>
                </a:lnTo>
                <a:lnTo>
                  <a:pt x="81468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303045" y="2141019"/>
            <a:ext cx="273050" cy="13970"/>
          </a:xfrm>
          <a:custGeom>
            <a:avLst/>
            <a:gdLst/>
            <a:ahLst/>
            <a:cxnLst/>
            <a:rect l="l" t="t" r="r" b="b"/>
            <a:pathLst>
              <a:path w="273050" h="13969">
                <a:moveTo>
                  <a:pt x="0" y="13654"/>
                </a:moveTo>
                <a:lnTo>
                  <a:pt x="54622" y="10628"/>
                </a:lnTo>
                <a:lnTo>
                  <a:pt x="109248" y="7768"/>
                </a:lnTo>
                <a:lnTo>
                  <a:pt x="163865" y="5056"/>
                </a:lnTo>
                <a:lnTo>
                  <a:pt x="218462" y="2473"/>
                </a:lnTo>
                <a:lnTo>
                  <a:pt x="273026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895836" y="463240"/>
            <a:ext cx="541020" cy="117475"/>
          </a:xfrm>
          <a:custGeom>
            <a:avLst/>
            <a:gdLst/>
            <a:ahLst/>
            <a:cxnLst/>
            <a:rect l="l" t="t" r="r" b="b"/>
            <a:pathLst>
              <a:path w="541020" h="117475">
                <a:moveTo>
                  <a:pt x="0" y="117138"/>
                </a:moveTo>
                <a:lnTo>
                  <a:pt x="53044" y="82935"/>
                </a:lnTo>
                <a:lnTo>
                  <a:pt x="112730" y="61208"/>
                </a:lnTo>
                <a:lnTo>
                  <a:pt x="158709" y="49657"/>
                </a:lnTo>
                <a:lnTo>
                  <a:pt x="205584" y="39850"/>
                </a:lnTo>
                <a:lnTo>
                  <a:pt x="253140" y="31548"/>
                </a:lnTo>
                <a:lnTo>
                  <a:pt x="301163" y="24514"/>
                </a:lnTo>
                <a:lnTo>
                  <a:pt x="349437" y="18508"/>
                </a:lnTo>
                <a:lnTo>
                  <a:pt x="397749" y="13292"/>
                </a:lnTo>
                <a:lnTo>
                  <a:pt x="445884" y="8628"/>
                </a:lnTo>
                <a:lnTo>
                  <a:pt x="493626" y="4276"/>
                </a:lnTo>
                <a:lnTo>
                  <a:pt x="540762" y="0"/>
                </a:lnTo>
              </a:path>
            </a:pathLst>
          </a:custGeom>
          <a:ln w="105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662886" y="575094"/>
            <a:ext cx="238234" cy="4205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361679" y="990353"/>
            <a:ext cx="306705" cy="115570"/>
          </a:xfrm>
          <a:custGeom>
            <a:avLst/>
            <a:gdLst/>
            <a:ahLst/>
            <a:cxnLst/>
            <a:rect l="l" t="t" r="r" b="b"/>
            <a:pathLst>
              <a:path w="306705" h="115569">
                <a:moveTo>
                  <a:pt x="0" y="115378"/>
                </a:moveTo>
                <a:lnTo>
                  <a:pt x="49589" y="93076"/>
                </a:lnTo>
                <a:lnTo>
                  <a:pt x="100397" y="73232"/>
                </a:lnTo>
                <a:lnTo>
                  <a:pt x="151957" y="54924"/>
                </a:lnTo>
                <a:lnTo>
                  <a:pt x="203804" y="37231"/>
                </a:lnTo>
                <a:lnTo>
                  <a:pt x="255471" y="19230"/>
                </a:lnTo>
                <a:lnTo>
                  <a:pt x="306491" y="0"/>
                </a:lnTo>
              </a:path>
            </a:pathLst>
          </a:custGeom>
          <a:ln w="105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196981" y="1100447"/>
            <a:ext cx="169981" cy="1232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927919" y="1218463"/>
            <a:ext cx="274955" cy="116839"/>
          </a:xfrm>
          <a:custGeom>
            <a:avLst/>
            <a:gdLst/>
            <a:ahLst/>
            <a:cxnLst/>
            <a:rect l="l" t="t" r="r" b="b"/>
            <a:pathLst>
              <a:path w="274955" h="116840">
                <a:moveTo>
                  <a:pt x="0" y="116694"/>
                </a:moveTo>
                <a:lnTo>
                  <a:pt x="46515" y="100067"/>
                </a:lnTo>
                <a:lnTo>
                  <a:pt x="93731" y="83451"/>
                </a:lnTo>
                <a:lnTo>
                  <a:pt x="140885" y="65992"/>
                </a:lnTo>
                <a:lnTo>
                  <a:pt x="187214" y="46833"/>
                </a:lnTo>
                <a:lnTo>
                  <a:pt x="231956" y="25121"/>
                </a:lnTo>
                <a:lnTo>
                  <a:pt x="274347" y="0"/>
                </a:lnTo>
              </a:path>
            </a:pathLst>
          </a:custGeom>
          <a:ln w="105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662824" y="1329872"/>
            <a:ext cx="270378" cy="26201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640366" y="1586602"/>
            <a:ext cx="27940" cy="401320"/>
          </a:xfrm>
          <a:custGeom>
            <a:avLst/>
            <a:gdLst/>
            <a:ahLst/>
            <a:cxnLst/>
            <a:rect l="l" t="t" r="r" b="b"/>
            <a:pathLst>
              <a:path w="27939" h="401319">
                <a:moveTo>
                  <a:pt x="0" y="400732"/>
                </a:moveTo>
                <a:lnTo>
                  <a:pt x="3018" y="394461"/>
                </a:lnTo>
                <a:lnTo>
                  <a:pt x="5746" y="387998"/>
                </a:lnTo>
                <a:lnTo>
                  <a:pt x="8131" y="381407"/>
                </a:lnTo>
                <a:lnTo>
                  <a:pt x="10124" y="374749"/>
                </a:lnTo>
                <a:lnTo>
                  <a:pt x="11007" y="372990"/>
                </a:lnTo>
                <a:lnTo>
                  <a:pt x="11007" y="371668"/>
                </a:lnTo>
                <a:lnTo>
                  <a:pt x="11445" y="370786"/>
                </a:lnTo>
                <a:lnTo>
                  <a:pt x="11889" y="369465"/>
                </a:lnTo>
                <a:lnTo>
                  <a:pt x="11889" y="368588"/>
                </a:lnTo>
                <a:lnTo>
                  <a:pt x="13020" y="366453"/>
                </a:lnTo>
                <a:lnTo>
                  <a:pt x="12756" y="364107"/>
                </a:lnTo>
                <a:lnTo>
                  <a:pt x="13649" y="361977"/>
                </a:lnTo>
                <a:lnTo>
                  <a:pt x="13649" y="360656"/>
                </a:lnTo>
                <a:lnTo>
                  <a:pt x="14531" y="358896"/>
                </a:lnTo>
                <a:lnTo>
                  <a:pt x="14531" y="357575"/>
                </a:lnTo>
                <a:lnTo>
                  <a:pt x="14970" y="356693"/>
                </a:lnTo>
                <a:lnTo>
                  <a:pt x="14970" y="355372"/>
                </a:lnTo>
                <a:lnTo>
                  <a:pt x="16101" y="352603"/>
                </a:lnTo>
                <a:lnTo>
                  <a:pt x="15652" y="349437"/>
                </a:lnTo>
                <a:lnTo>
                  <a:pt x="16730" y="346568"/>
                </a:lnTo>
                <a:lnTo>
                  <a:pt x="18635" y="332585"/>
                </a:lnTo>
                <a:lnTo>
                  <a:pt x="20214" y="318511"/>
                </a:lnTo>
                <a:lnTo>
                  <a:pt x="21372" y="304373"/>
                </a:lnTo>
                <a:lnTo>
                  <a:pt x="22014" y="290200"/>
                </a:lnTo>
                <a:lnTo>
                  <a:pt x="22458" y="288879"/>
                </a:lnTo>
                <a:lnTo>
                  <a:pt x="22458" y="280070"/>
                </a:lnTo>
                <a:lnTo>
                  <a:pt x="22897" y="279192"/>
                </a:lnTo>
                <a:lnTo>
                  <a:pt x="22897" y="269062"/>
                </a:lnTo>
                <a:lnTo>
                  <a:pt x="23335" y="268180"/>
                </a:lnTo>
                <a:lnTo>
                  <a:pt x="23335" y="252771"/>
                </a:lnTo>
                <a:lnTo>
                  <a:pt x="23779" y="251888"/>
                </a:lnTo>
                <a:lnTo>
                  <a:pt x="23779" y="229868"/>
                </a:lnTo>
                <a:lnTo>
                  <a:pt x="24218" y="228991"/>
                </a:lnTo>
                <a:lnTo>
                  <a:pt x="24218" y="187155"/>
                </a:lnTo>
                <a:lnTo>
                  <a:pt x="24656" y="186273"/>
                </a:lnTo>
                <a:lnTo>
                  <a:pt x="24656" y="111853"/>
                </a:lnTo>
                <a:lnTo>
                  <a:pt x="25100" y="110532"/>
                </a:lnTo>
                <a:lnTo>
                  <a:pt x="25100" y="69140"/>
                </a:lnTo>
                <a:lnTo>
                  <a:pt x="25539" y="67819"/>
                </a:lnTo>
                <a:lnTo>
                  <a:pt x="25539" y="45799"/>
                </a:lnTo>
                <a:lnTo>
                  <a:pt x="25977" y="44916"/>
                </a:lnTo>
                <a:lnTo>
                  <a:pt x="25977" y="30384"/>
                </a:lnTo>
                <a:lnTo>
                  <a:pt x="26421" y="29507"/>
                </a:lnTo>
                <a:lnTo>
                  <a:pt x="26421" y="18495"/>
                </a:lnTo>
                <a:lnTo>
                  <a:pt x="26860" y="17618"/>
                </a:lnTo>
                <a:lnTo>
                  <a:pt x="26860" y="8809"/>
                </a:lnTo>
                <a:lnTo>
                  <a:pt x="27298" y="7487"/>
                </a:lnTo>
                <a:lnTo>
                  <a:pt x="27298" y="882"/>
                </a:lnTo>
                <a:lnTo>
                  <a:pt x="27742" y="0"/>
                </a:lnTo>
              </a:path>
            </a:pathLst>
          </a:custGeom>
          <a:ln w="105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97761" y="1982050"/>
            <a:ext cx="347889" cy="1545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865367" y="1151039"/>
            <a:ext cx="109855" cy="177800"/>
          </a:xfrm>
          <a:prstGeom prst="rect">
            <a:avLst/>
          </a:prstGeom>
        </p:spPr>
        <p:txBody>
          <a:bodyPr wrap="square" lIns="0" tIns="101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550">
                <a:latin typeface="Times New Roman"/>
                <a:cs typeface="Times New Roman"/>
              </a:rPr>
              <a:t>p[M]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219070" y="2164871"/>
            <a:ext cx="72390" cy="1987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780">
              <a:lnSpc>
                <a:spcPts val="605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2</a:t>
            </a: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ts val="725"/>
              </a:lnSpc>
            </a:pPr>
            <a:r>
              <a:rPr dirty="0" sz="650" spc="5">
                <a:latin typeface="Symbol"/>
                <a:cs typeface="Symbol"/>
              </a:rPr>
              <a:t></a:t>
            </a:r>
            <a:endParaRPr sz="650">
              <a:latin typeface="Symbol"/>
              <a:cs typeface="Symbo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861699" y="1802453"/>
            <a:ext cx="21717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750" spc="15">
                <a:latin typeface="Calibri"/>
                <a:cs typeface="Calibri"/>
              </a:rPr>
              <a:t>Mg</a:t>
            </a:r>
            <a:r>
              <a:rPr dirty="0" sz="350" spc="10">
                <a:latin typeface="Times New Roman"/>
                <a:cs typeface="Times New Roman"/>
              </a:rPr>
              <a:t>2+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279540" y="1698968"/>
            <a:ext cx="20891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750" spc="52">
                <a:latin typeface="Calibri"/>
                <a:cs typeface="Calibri"/>
              </a:rPr>
              <a:t>Ca</a:t>
            </a:r>
            <a:r>
              <a:rPr dirty="0" sz="350" spc="35">
                <a:latin typeface="Times New Roman"/>
                <a:cs typeface="Times New Roman"/>
              </a:rPr>
              <a:t>2+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392652" y="1644363"/>
            <a:ext cx="20891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750" spc="52">
                <a:latin typeface="Calibri"/>
                <a:cs typeface="Calibri"/>
              </a:rPr>
              <a:t>Pb</a:t>
            </a:r>
            <a:r>
              <a:rPr dirty="0" sz="350" spc="35">
                <a:latin typeface="Times New Roman"/>
                <a:cs typeface="Times New Roman"/>
              </a:rPr>
              <a:t>2+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5044" y="2496682"/>
            <a:ext cx="4239260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55880">
              <a:lnSpc>
                <a:spcPct val="123300"/>
              </a:lnSpc>
              <a:spcBef>
                <a:spcPts val="100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30">
                <a:solidFill>
                  <a:srgbClr val="3333B2"/>
                </a:solidFill>
                <a:latin typeface="Georgia"/>
                <a:cs typeface="Georgia"/>
              </a:rPr>
              <a:t>11:</a:t>
            </a:r>
            <a:r>
              <a:rPr dirty="0" sz="1000" spc="20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金</a:t>
            </a:r>
            <a:r>
              <a:rPr dirty="0" sz="1050" spc="-5">
                <a:latin typeface="Arial Unicode MS"/>
                <a:cs typeface="Arial Unicode MS"/>
              </a:rPr>
              <a:t>属离子的</a:t>
            </a:r>
            <a:r>
              <a:rPr dirty="0" sz="1050" spc="-10">
                <a:latin typeface="Arial Unicode MS"/>
                <a:cs typeface="Arial Unicode MS"/>
              </a:rPr>
              <a:t>浓</a:t>
            </a:r>
            <a:r>
              <a:rPr dirty="0" sz="1050" spc="-5">
                <a:latin typeface="Arial Unicode MS"/>
                <a:cs typeface="Arial Unicode MS"/>
              </a:rPr>
              <a:t>度曲</a:t>
            </a:r>
            <a:r>
              <a:rPr dirty="0" sz="1050" spc="-20">
                <a:latin typeface="Arial Unicode MS"/>
                <a:cs typeface="Arial Unicode MS"/>
              </a:rPr>
              <a:t>线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160">
                <a:latin typeface="Arial Unicode MS"/>
                <a:cs typeface="Arial Unicode MS"/>
              </a:rPr>
              <a:t>以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60">
                <a:latin typeface="Times New Roman"/>
                <a:cs typeface="Times New Roman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滴定由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Ca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45">
                <a:latin typeface="Georgia"/>
                <a:cs typeface="Georgia"/>
              </a:rPr>
              <a:t>10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7)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</a:t>
            </a:r>
            <a:r>
              <a:rPr dirty="0" sz="1000" spc="40">
                <a:latin typeface="Georgia"/>
                <a:cs typeface="Georgia"/>
              </a:rPr>
              <a:t>Mg</a:t>
            </a:r>
            <a:r>
              <a:rPr dirty="0" baseline="27777" sz="1050" spc="60">
                <a:latin typeface="Times New Roman"/>
                <a:cs typeface="Times New Roman"/>
              </a:rPr>
              <a:t>2+</a:t>
            </a:r>
            <a:r>
              <a:rPr dirty="0" sz="1000" spc="4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30">
                <a:latin typeface="Georgia"/>
                <a:cs typeface="Georgia"/>
              </a:rPr>
              <a:t>8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7) </a:t>
            </a:r>
            <a:r>
              <a:rPr dirty="0" sz="1050" spc="160">
                <a:latin typeface="Arial Unicode MS"/>
                <a:cs typeface="Arial Unicode MS"/>
              </a:rPr>
              <a:t>和 </a:t>
            </a:r>
            <a:r>
              <a:rPr dirty="0" sz="1000" spc="-40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Pb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00" spc="125" b="0" i="1">
                <a:latin typeface="Bookman Old Style"/>
                <a:cs typeface="Bookman Old Style"/>
              </a:rPr>
              <a:t>K</a:t>
            </a:r>
            <a:r>
              <a:rPr dirty="0" sz="1000" spc="45" b="0" i="1">
                <a:latin typeface="Bookman Old Style"/>
                <a:cs typeface="Bookman Old Style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18</a:t>
            </a:r>
            <a:r>
              <a:rPr dirty="0" sz="1000" spc="-40" b="0" i="1">
                <a:latin typeface="Bookman Old Style"/>
                <a:cs typeface="Bookman Old Style"/>
              </a:rPr>
              <a:t>.</a:t>
            </a:r>
            <a:r>
              <a:rPr dirty="0" sz="1000" spc="-40">
                <a:latin typeface="Georgia"/>
                <a:cs typeface="Georgia"/>
              </a:rPr>
              <a:t>04)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组</a:t>
            </a:r>
            <a:r>
              <a:rPr dirty="0" sz="1050" spc="-5">
                <a:latin typeface="Arial Unicode MS"/>
                <a:cs typeface="Arial Unicode MS"/>
              </a:rPr>
              <a:t>成的混</a:t>
            </a:r>
            <a:r>
              <a:rPr dirty="0" sz="1050" spc="-10">
                <a:latin typeface="Arial Unicode MS"/>
                <a:cs typeface="Arial Unicode MS"/>
              </a:rPr>
              <a:t>合</a:t>
            </a:r>
            <a:r>
              <a:rPr dirty="0" sz="1050" spc="-5">
                <a:latin typeface="Arial Unicode MS"/>
                <a:cs typeface="Arial Unicode MS"/>
              </a:rPr>
              <a:t>离子溶</a:t>
            </a:r>
            <a:r>
              <a:rPr dirty="0" sz="1050" spc="-20">
                <a:latin typeface="Arial Unicode MS"/>
                <a:cs typeface="Arial Unicode MS"/>
              </a:rPr>
              <a:t>液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00" spc="-45">
                <a:latin typeface="Georgia"/>
                <a:cs typeface="Georgia"/>
              </a:rPr>
              <a:t>10.0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7" name="object 9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8" name="object 9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2699" y="230070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 h="0">
                <a:moveTo>
                  <a:pt x="0" y="0"/>
                </a:moveTo>
                <a:lnTo>
                  <a:pt x="25892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12699" y="2271273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 h="0">
                <a:moveTo>
                  <a:pt x="0" y="0"/>
                </a:moveTo>
                <a:lnTo>
                  <a:pt x="25892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01987" y="230070"/>
            <a:ext cx="0" cy="2041525"/>
          </a:xfrm>
          <a:custGeom>
            <a:avLst/>
            <a:gdLst/>
            <a:ahLst/>
            <a:cxnLst/>
            <a:rect l="l" t="t" r="r" b="b"/>
            <a:pathLst>
              <a:path w="0" h="2041525">
                <a:moveTo>
                  <a:pt x="0" y="20412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12699" y="230070"/>
            <a:ext cx="0" cy="2041525"/>
          </a:xfrm>
          <a:custGeom>
            <a:avLst/>
            <a:gdLst/>
            <a:ahLst/>
            <a:cxnLst/>
            <a:rect l="l" t="t" r="r" b="b"/>
            <a:pathLst>
              <a:path w="0" h="2041525">
                <a:moveTo>
                  <a:pt x="0" y="20412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12699" y="2271273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 h="0">
                <a:moveTo>
                  <a:pt x="0" y="0"/>
                </a:moveTo>
                <a:lnTo>
                  <a:pt x="25892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2699" y="230070"/>
            <a:ext cx="0" cy="2041525"/>
          </a:xfrm>
          <a:custGeom>
            <a:avLst/>
            <a:gdLst/>
            <a:ahLst/>
            <a:cxnLst/>
            <a:rect l="l" t="t" r="r" b="b"/>
            <a:pathLst>
              <a:path w="0" h="2041525">
                <a:moveTo>
                  <a:pt x="0" y="20412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12699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2699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49294" y="2266297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82596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82596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49614" y="2266297"/>
            <a:ext cx="6604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52493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52493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789090" y="2266297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22395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22395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92292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92292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62188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62188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929209" y="2266297"/>
            <a:ext cx="6604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32091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332091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268685" y="2266297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3.5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01987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01987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669006" y="2266297"/>
            <a:ext cx="6604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12699" y="227127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75911" y="2271273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42533" y="2206418"/>
            <a:ext cx="6604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12699" y="2085354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75911" y="2085354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81688" y="2020503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12699" y="1899922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75911" y="1899922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042533" y="1835071"/>
            <a:ext cx="6604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12699" y="171449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75911" y="1714490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81688" y="1649639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12699" y="152857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75911" y="1528576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112699" y="1343144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75911" y="1343144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112699" y="1157712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75911" y="1157712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81688" y="1092859"/>
            <a:ext cx="127000" cy="4940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2.5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  <a:spcBef>
                <a:spcPts val="5"/>
              </a:spcBef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12699" y="97228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75911" y="972280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981688" y="907427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3.5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12699" y="78636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75911" y="786367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112699" y="60093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675911" y="600935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112699" y="415502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675911" y="415502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956288" y="110164"/>
            <a:ext cx="432434" cy="734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x</a:t>
            </a:r>
            <a:r>
              <a:rPr dirty="0" sz="600" spc="-15">
                <a:latin typeface="Times New Roman"/>
                <a:cs typeface="Times New Roman"/>
              </a:rPr>
              <a:t> </a:t>
            </a:r>
            <a:r>
              <a:rPr dirty="0" sz="600" spc="15">
                <a:latin typeface="Times New Roman"/>
                <a:cs typeface="Times New Roman"/>
              </a:rPr>
              <a:t>10</a:t>
            </a:r>
            <a:r>
              <a:rPr dirty="0" baseline="55555" sz="600" spc="22">
                <a:latin typeface="Times New Roman"/>
                <a:cs typeface="Times New Roman"/>
              </a:rPr>
              <a:t>−3</a:t>
            </a:r>
            <a:endParaRPr baseline="55555"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4.5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112699" y="230070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 h="0">
                <a:moveTo>
                  <a:pt x="0" y="0"/>
                </a:moveTo>
                <a:lnTo>
                  <a:pt x="25892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12699" y="2271273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 h="0">
                <a:moveTo>
                  <a:pt x="0" y="0"/>
                </a:moveTo>
                <a:lnTo>
                  <a:pt x="25892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701987" y="230070"/>
            <a:ext cx="0" cy="2041525"/>
          </a:xfrm>
          <a:custGeom>
            <a:avLst/>
            <a:gdLst/>
            <a:ahLst/>
            <a:cxnLst/>
            <a:rect l="l" t="t" r="r" b="b"/>
            <a:pathLst>
              <a:path w="0" h="2041525">
                <a:moveTo>
                  <a:pt x="0" y="20412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112699" y="230070"/>
            <a:ext cx="0" cy="2041525"/>
          </a:xfrm>
          <a:custGeom>
            <a:avLst/>
            <a:gdLst/>
            <a:ahLst/>
            <a:cxnLst/>
            <a:rect l="l" t="t" r="r" b="b"/>
            <a:pathLst>
              <a:path w="0" h="2041525">
                <a:moveTo>
                  <a:pt x="0" y="20412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024969" y="1362458"/>
            <a:ext cx="677545" cy="167005"/>
          </a:xfrm>
          <a:custGeom>
            <a:avLst/>
            <a:gdLst/>
            <a:ahLst/>
            <a:cxnLst/>
            <a:rect l="l" t="t" r="r" b="b"/>
            <a:pathLst>
              <a:path w="677545" h="167005">
                <a:moveTo>
                  <a:pt x="0" y="0"/>
                </a:moveTo>
                <a:lnTo>
                  <a:pt x="47679" y="14167"/>
                </a:lnTo>
                <a:lnTo>
                  <a:pt x="95514" y="27930"/>
                </a:lnTo>
                <a:lnTo>
                  <a:pt x="143493" y="41303"/>
                </a:lnTo>
                <a:lnTo>
                  <a:pt x="191604" y="54300"/>
                </a:lnTo>
                <a:lnTo>
                  <a:pt x="239837" y="66933"/>
                </a:lnTo>
                <a:lnTo>
                  <a:pt x="288179" y="79218"/>
                </a:lnTo>
                <a:lnTo>
                  <a:pt x="336620" y="91168"/>
                </a:lnTo>
                <a:lnTo>
                  <a:pt x="385147" y="102796"/>
                </a:lnTo>
                <a:lnTo>
                  <a:pt x="433750" y="114117"/>
                </a:lnTo>
                <a:lnTo>
                  <a:pt x="482417" y="125145"/>
                </a:lnTo>
                <a:lnTo>
                  <a:pt x="531137" y="135893"/>
                </a:lnTo>
                <a:lnTo>
                  <a:pt x="579899" y="146376"/>
                </a:lnTo>
                <a:lnTo>
                  <a:pt x="628690" y="156606"/>
                </a:lnTo>
                <a:lnTo>
                  <a:pt x="677499" y="166599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878165" y="1339766"/>
            <a:ext cx="152599" cy="84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563799" y="1418476"/>
            <a:ext cx="320675" cy="353695"/>
          </a:xfrm>
          <a:custGeom>
            <a:avLst/>
            <a:gdLst/>
            <a:ahLst/>
            <a:cxnLst/>
            <a:rect l="l" t="t" r="r" b="b"/>
            <a:pathLst>
              <a:path w="320675" h="353694">
                <a:moveTo>
                  <a:pt x="0" y="353480"/>
                </a:moveTo>
                <a:lnTo>
                  <a:pt x="33692" y="312513"/>
                </a:lnTo>
                <a:lnTo>
                  <a:pt x="67833" y="271898"/>
                </a:lnTo>
                <a:lnTo>
                  <a:pt x="102432" y="231667"/>
                </a:lnTo>
                <a:lnTo>
                  <a:pt x="137498" y="191848"/>
                </a:lnTo>
                <a:lnTo>
                  <a:pt x="173041" y="152472"/>
                </a:lnTo>
                <a:lnTo>
                  <a:pt x="209070" y="113569"/>
                </a:lnTo>
                <a:lnTo>
                  <a:pt x="245593" y="75169"/>
                </a:lnTo>
                <a:lnTo>
                  <a:pt x="282620" y="37302"/>
                </a:lnTo>
                <a:lnTo>
                  <a:pt x="320160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257164" y="1771956"/>
            <a:ext cx="306705" cy="399415"/>
          </a:xfrm>
          <a:custGeom>
            <a:avLst/>
            <a:gdLst/>
            <a:ahLst/>
            <a:cxnLst/>
            <a:rect l="l" t="t" r="r" b="b"/>
            <a:pathLst>
              <a:path w="306705" h="399414">
                <a:moveTo>
                  <a:pt x="0" y="399357"/>
                </a:moveTo>
                <a:lnTo>
                  <a:pt x="30623" y="363434"/>
                </a:lnTo>
                <a:lnTo>
                  <a:pt x="59778" y="325660"/>
                </a:lnTo>
                <a:lnTo>
                  <a:pt x="88138" y="287189"/>
                </a:lnTo>
                <a:lnTo>
                  <a:pt x="116376" y="249174"/>
                </a:lnTo>
                <a:lnTo>
                  <a:pt x="147220" y="207045"/>
                </a:lnTo>
                <a:lnTo>
                  <a:pt x="178376" y="165086"/>
                </a:lnTo>
                <a:lnTo>
                  <a:pt x="209869" y="123350"/>
                </a:lnTo>
                <a:lnTo>
                  <a:pt x="241726" y="81889"/>
                </a:lnTo>
                <a:lnTo>
                  <a:pt x="273972" y="40755"/>
                </a:lnTo>
                <a:lnTo>
                  <a:pt x="306635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038412" y="2171308"/>
            <a:ext cx="219075" cy="87630"/>
          </a:xfrm>
          <a:custGeom>
            <a:avLst/>
            <a:gdLst/>
            <a:ahLst/>
            <a:cxnLst/>
            <a:rect l="l" t="t" r="r" b="b"/>
            <a:pathLst>
              <a:path w="219075" h="87630">
                <a:moveTo>
                  <a:pt x="0" y="87408"/>
                </a:moveTo>
                <a:lnTo>
                  <a:pt x="51962" y="82368"/>
                </a:lnTo>
                <a:lnTo>
                  <a:pt x="98482" y="74344"/>
                </a:lnTo>
                <a:lnTo>
                  <a:pt x="140896" y="60100"/>
                </a:lnTo>
                <a:lnTo>
                  <a:pt x="180541" y="36398"/>
                </a:lnTo>
                <a:lnTo>
                  <a:pt x="218752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651612" y="2258716"/>
            <a:ext cx="387350" cy="10795"/>
          </a:xfrm>
          <a:custGeom>
            <a:avLst/>
            <a:gdLst/>
            <a:ahLst/>
            <a:cxnLst/>
            <a:rect l="l" t="t" r="r" b="b"/>
            <a:pathLst>
              <a:path w="387350" h="10794">
                <a:moveTo>
                  <a:pt x="0" y="10621"/>
                </a:moveTo>
                <a:lnTo>
                  <a:pt x="48241" y="10053"/>
                </a:lnTo>
                <a:lnTo>
                  <a:pt x="96633" y="9499"/>
                </a:lnTo>
                <a:lnTo>
                  <a:pt x="145116" y="8845"/>
                </a:lnTo>
                <a:lnTo>
                  <a:pt x="193630" y="7975"/>
                </a:lnTo>
                <a:lnTo>
                  <a:pt x="242115" y="6771"/>
                </a:lnTo>
                <a:lnTo>
                  <a:pt x="290512" y="5118"/>
                </a:lnTo>
                <a:lnTo>
                  <a:pt x="338760" y="2899"/>
                </a:lnTo>
                <a:lnTo>
                  <a:pt x="386799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504326" y="2269338"/>
            <a:ext cx="147320" cy="1905"/>
          </a:xfrm>
          <a:custGeom>
            <a:avLst/>
            <a:gdLst/>
            <a:ahLst/>
            <a:cxnLst/>
            <a:rect l="l" t="t" r="r" b="b"/>
            <a:pathLst>
              <a:path w="147319" h="1905">
                <a:moveTo>
                  <a:pt x="0" y="1448"/>
                </a:moveTo>
                <a:lnTo>
                  <a:pt x="10399" y="1435"/>
                </a:lnTo>
                <a:lnTo>
                  <a:pt x="20811" y="1490"/>
                </a:lnTo>
                <a:lnTo>
                  <a:pt x="31199" y="1404"/>
                </a:lnTo>
                <a:lnTo>
                  <a:pt x="41531" y="967"/>
                </a:lnTo>
                <a:lnTo>
                  <a:pt x="67964" y="928"/>
                </a:lnTo>
                <a:lnTo>
                  <a:pt x="94427" y="725"/>
                </a:lnTo>
                <a:lnTo>
                  <a:pt x="120880" y="401"/>
                </a:lnTo>
                <a:lnTo>
                  <a:pt x="147285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456039" y="2270786"/>
            <a:ext cx="48895" cy="0"/>
          </a:xfrm>
          <a:custGeom>
            <a:avLst/>
            <a:gdLst/>
            <a:ahLst/>
            <a:cxnLst/>
            <a:rect l="l" t="t" r="r" b="b"/>
            <a:pathLst>
              <a:path w="48894" h="0">
                <a:moveTo>
                  <a:pt x="0" y="0"/>
                </a:moveTo>
                <a:lnTo>
                  <a:pt x="12070" y="0"/>
                </a:lnTo>
                <a:lnTo>
                  <a:pt x="24141" y="0"/>
                </a:lnTo>
                <a:lnTo>
                  <a:pt x="36214" y="0"/>
                </a:lnTo>
                <a:lnTo>
                  <a:pt x="48287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79299" y="2270786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534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106905" y="2270786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 h="0">
                <a:moveTo>
                  <a:pt x="0" y="0"/>
                </a:moveTo>
                <a:lnTo>
                  <a:pt x="183983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024969" y="1362458"/>
            <a:ext cx="677545" cy="167005"/>
          </a:xfrm>
          <a:custGeom>
            <a:avLst/>
            <a:gdLst/>
            <a:ahLst/>
            <a:cxnLst/>
            <a:rect l="l" t="t" r="r" b="b"/>
            <a:pathLst>
              <a:path w="677545" h="167005">
                <a:moveTo>
                  <a:pt x="0" y="0"/>
                </a:moveTo>
                <a:lnTo>
                  <a:pt x="47702" y="14161"/>
                </a:lnTo>
                <a:lnTo>
                  <a:pt x="95550" y="27920"/>
                </a:lnTo>
                <a:lnTo>
                  <a:pt x="143533" y="41291"/>
                </a:lnTo>
                <a:lnTo>
                  <a:pt x="191642" y="54287"/>
                </a:lnTo>
                <a:lnTo>
                  <a:pt x="239867" y="66922"/>
                </a:lnTo>
                <a:lnTo>
                  <a:pt x="288199" y="79209"/>
                </a:lnTo>
                <a:lnTo>
                  <a:pt x="336626" y="91161"/>
                </a:lnTo>
                <a:lnTo>
                  <a:pt x="385141" y="102793"/>
                </a:lnTo>
                <a:lnTo>
                  <a:pt x="433732" y="114117"/>
                </a:lnTo>
                <a:lnTo>
                  <a:pt x="482390" y="125147"/>
                </a:lnTo>
                <a:lnTo>
                  <a:pt x="531106" y="135897"/>
                </a:lnTo>
                <a:lnTo>
                  <a:pt x="579869" y="146379"/>
                </a:lnTo>
                <a:lnTo>
                  <a:pt x="628670" y="156609"/>
                </a:lnTo>
                <a:lnTo>
                  <a:pt x="677499" y="166599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957842" y="1342176"/>
            <a:ext cx="67310" cy="20320"/>
          </a:xfrm>
          <a:custGeom>
            <a:avLst/>
            <a:gdLst/>
            <a:ahLst/>
            <a:cxnLst/>
            <a:rect l="l" t="t" r="r" b="b"/>
            <a:pathLst>
              <a:path w="67310" h="20319">
                <a:moveTo>
                  <a:pt x="0" y="0"/>
                </a:moveTo>
                <a:lnTo>
                  <a:pt x="967" y="0"/>
                </a:lnTo>
                <a:lnTo>
                  <a:pt x="1448" y="486"/>
                </a:lnTo>
                <a:lnTo>
                  <a:pt x="2897" y="486"/>
                </a:lnTo>
                <a:lnTo>
                  <a:pt x="3384" y="967"/>
                </a:lnTo>
                <a:lnTo>
                  <a:pt x="4346" y="967"/>
                </a:lnTo>
                <a:lnTo>
                  <a:pt x="4832" y="1448"/>
                </a:lnTo>
                <a:lnTo>
                  <a:pt x="5794" y="1448"/>
                </a:lnTo>
                <a:lnTo>
                  <a:pt x="6281" y="1935"/>
                </a:lnTo>
                <a:lnTo>
                  <a:pt x="7243" y="1935"/>
                </a:lnTo>
                <a:lnTo>
                  <a:pt x="7730" y="2416"/>
                </a:lnTo>
                <a:lnTo>
                  <a:pt x="8692" y="2416"/>
                </a:lnTo>
                <a:lnTo>
                  <a:pt x="9178" y="2897"/>
                </a:lnTo>
                <a:lnTo>
                  <a:pt x="10140" y="2897"/>
                </a:lnTo>
                <a:lnTo>
                  <a:pt x="10627" y="3384"/>
                </a:lnTo>
                <a:lnTo>
                  <a:pt x="12076" y="3384"/>
                </a:lnTo>
                <a:lnTo>
                  <a:pt x="12557" y="3865"/>
                </a:lnTo>
                <a:lnTo>
                  <a:pt x="13524" y="3865"/>
                </a:lnTo>
                <a:lnTo>
                  <a:pt x="14005" y="4346"/>
                </a:lnTo>
                <a:lnTo>
                  <a:pt x="14973" y="4346"/>
                </a:lnTo>
                <a:lnTo>
                  <a:pt x="15454" y="4832"/>
                </a:lnTo>
                <a:lnTo>
                  <a:pt x="16422" y="4832"/>
                </a:lnTo>
                <a:lnTo>
                  <a:pt x="16903" y="5313"/>
                </a:lnTo>
                <a:lnTo>
                  <a:pt x="18351" y="5313"/>
                </a:lnTo>
                <a:lnTo>
                  <a:pt x="18832" y="5794"/>
                </a:lnTo>
                <a:lnTo>
                  <a:pt x="19800" y="5794"/>
                </a:lnTo>
                <a:lnTo>
                  <a:pt x="20281" y="6281"/>
                </a:lnTo>
                <a:lnTo>
                  <a:pt x="21249" y="6281"/>
                </a:lnTo>
                <a:lnTo>
                  <a:pt x="21730" y="6762"/>
                </a:lnTo>
                <a:lnTo>
                  <a:pt x="23179" y="6762"/>
                </a:lnTo>
                <a:lnTo>
                  <a:pt x="23665" y="7243"/>
                </a:lnTo>
                <a:lnTo>
                  <a:pt x="24627" y="7243"/>
                </a:lnTo>
                <a:lnTo>
                  <a:pt x="25114" y="7730"/>
                </a:lnTo>
                <a:lnTo>
                  <a:pt x="26076" y="7730"/>
                </a:lnTo>
                <a:lnTo>
                  <a:pt x="26563" y="8211"/>
                </a:lnTo>
                <a:lnTo>
                  <a:pt x="27525" y="8211"/>
                </a:lnTo>
                <a:lnTo>
                  <a:pt x="28011" y="8692"/>
                </a:lnTo>
                <a:lnTo>
                  <a:pt x="29460" y="8692"/>
                </a:lnTo>
                <a:lnTo>
                  <a:pt x="29941" y="9178"/>
                </a:lnTo>
                <a:lnTo>
                  <a:pt x="30422" y="9178"/>
                </a:lnTo>
                <a:lnTo>
                  <a:pt x="31390" y="9659"/>
                </a:lnTo>
                <a:lnTo>
                  <a:pt x="32357" y="9659"/>
                </a:lnTo>
                <a:lnTo>
                  <a:pt x="33319" y="10140"/>
                </a:lnTo>
                <a:lnTo>
                  <a:pt x="33806" y="10140"/>
                </a:lnTo>
                <a:lnTo>
                  <a:pt x="35527" y="10963"/>
                </a:lnTo>
                <a:lnTo>
                  <a:pt x="37393" y="11253"/>
                </a:lnTo>
                <a:lnTo>
                  <a:pt x="39114" y="12076"/>
                </a:lnTo>
                <a:lnTo>
                  <a:pt x="40082" y="12076"/>
                </a:lnTo>
                <a:lnTo>
                  <a:pt x="41050" y="12557"/>
                </a:lnTo>
                <a:lnTo>
                  <a:pt x="41531" y="12557"/>
                </a:lnTo>
                <a:lnTo>
                  <a:pt x="42498" y="13038"/>
                </a:lnTo>
                <a:lnTo>
                  <a:pt x="43460" y="13038"/>
                </a:lnTo>
                <a:lnTo>
                  <a:pt x="44428" y="13524"/>
                </a:lnTo>
                <a:lnTo>
                  <a:pt x="46468" y="14388"/>
                </a:lnTo>
                <a:lnTo>
                  <a:pt x="48641" y="14440"/>
                </a:lnTo>
                <a:lnTo>
                  <a:pt x="50704" y="15454"/>
                </a:lnTo>
                <a:lnTo>
                  <a:pt x="52859" y="16323"/>
                </a:lnTo>
                <a:lnTo>
                  <a:pt x="55310" y="16630"/>
                </a:lnTo>
                <a:lnTo>
                  <a:pt x="57466" y="17384"/>
                </a:lnTo>
                <a:lnTo>
                  <a:pt x="61934" y="19250"/>
                </a:lnTo>
                <a:lnTo>
                  <a:pt x="63093" y="18989"/>
                </a:lnTo>
                <a:lnTo>
                  <a:pt x="67126" y="20281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877203" y="1316100"/>
            <a:ext cx="80645" cy="26670"/>
          </a:xfrm>
          <a:custGeom>
            <a:avLst/>
            <a:gdLst/>
            <a:ahLst/>
            <a:cxnLst/>
            <a:rect l="l" t="t" r="r" b="b"/>
            <a:pathLst>
              <a:path w="80644" h="26669">
                <a:moveTo>
                  <a:pt x="0" y="0"/>
                </a:moveTo>
                <a:lnTo>
                  <a:pt x="8398" y="2920"/>
                </a:lnTo>
                <a:lnTo>
                  <a:pt x="16889" y="5671"/>
                </a:lnTo>
                <a:lnTo>
                  <a:pt x="25386" y="8364"/>
                </a:lnTo>
                <a:lnTo>
                  <a:pt x="33800" y="11108"/>
                </a:lnTo>
                <a:lnTo>
                  <a:pt x="37277" y="12487"/>
                </a:lnTo>
                <a:lnTo>
                  <a:pt x="42209" y="13571"/>
                </a:lnTo>
                <a:lnTo>
                  <a:pt x="45390" y="14973"/>
                </a:lnTo>
                <a:lnTo>
                  <a:pt x="46995" y="15205"/>
                </a:lnTo>
                <a:lnTo>
                  <a:pt x="48623" y="15738"/>
                </a:lnTo>
                <a:lnTo>
                  <a:pt x="50217" y="16422"/>
                </a:lnTo>
                <a:lnTo>
                  <a:pt x="51185" y="16422"/>
                </a:lnTo>
                <a:lnTo>
                  <a:pt x="51666" y="16903"/>
                </a:lnTo>
                <a:lnTo>
                  <a:pt x="52633" y="16903"/>
                </a:lnTo>
                <a:lnTo>
                  <a:pt x="53114" y="17384"/>
                </a:lnTo>
                <a:lnTo>
                  <a:pt x="53601" y="17384"/>
                </a:lnTo>
                <a:lnTo>
                  <a:pt x="54563" y="17871"/>
                </a:lnTo>
                <a:lnTo>
                  <a:pt x="56012" y="17871"/>
                </a:lnTo>
                <a:lnTo>
                  <a:pt x="56498" y="18351"/>
                </a:lnTo>
                <a:lnTo>
                  <a:pt x="56979" y="18351"/>
                </a:lnTo>
                <a:lnTo>
                  <a:pt x="57460" y="18832"/>
                </a:lnTo>
                <a:lnTo>
                  <a:pt x="58909" y="18832"/>
                </a:lnTo>
                <a:lnTo>
                  <a:pt x="59396" y="19319"/>
                </a:lnTo>
                <a:lnTo>
                  <a:pt x="59877" y="19319"/>
                </a:lnTo>
                <a:lnTo>
                  <a:pt x="60358" y="19800"/>
                </a:lnTo>
                <a:lnTo>
                  <a:pt x="61806" y="19800"/>
                </a:lnTo>
                <a:lnTo>
                  <a:pt x="62293" y="20281"/>
                </a:lnTo>
                <a:lnTo>
                  <a:pt x="63255" y="20281"/>
                </a:lnTo>
                <a:lnTo>
                  <a:pt x="63742" y="20768"/>
                </a:lnTo>
                <a:lnTo>
                  <a:pt x="65191" y="20768"/>
                </a:lnTo>
                <a:lnTo>
                  <a:pt x="65671" y="21249"/>
                </a:lnTo>
                <a:lnTo>
                  <a:pt x="66152" y="21249"/>
                </a:lnTo>
                <a:lnTo>
                  <a:pt x="66639" y="21730"/>
                </a:lnTo>
                <a:lnTo>
                  <a:pt x="68088" y="21730"/>
                </a:lnTo>
                <a:lnTo>
                  <a:pt x="68569" y="22217"/>
                </a:lnTo>
                <a:lnTo>
                  <a:pt x="69537" y="22217"/>
                </a:lnTo>
                <a:lnTo>
                  <a:pt x="70018" y="22698"/>
                </a:lnTo>
                <a:lnTo>
                  <a:pt x="70985" y="22698"/>
                </a:lnTo>
                <a:lnTo>
                  <a:pt x="71466" y="23179"/>
                </a:lnTo>
                <a:lnTo>
                  <a:pt x="72434" y="23179"/>
                </a:lnTo>
                <a:lnTo>
                  <a:pt x="72915" y="23665"/>
                </a:lnTo>
                <a:lnTo>
                  <a:pt x="73883" y="23665"/>
                </a:lnTo>
                <a:lnTo>
                  <a:pt x="74364" y="24146"/>
                </a:lnTo>
                <a:lnTo>
                  <a:pt x="75812" y="24146"/>
                </a:lnTo>
                <a:lnTo>
                  <a:pt x="76293" y="24627"/>
                </a:lnTo>
                <a:lnTo>
                  <a:pt x="77261" y="24627"/>
                </a:lnTo>
                <a:lnTo>
                  <a:pt x="77742" y="25114"/>
                </a:lnTo>
                <a:lnTo>
                  <a:pt x="78710" y="25114"/>
                </a:lnTo>
                <a:lnTo>
                  <a:pt x="79191" y="25595"/>
                </a:lnTo>
                <a:lnTo>
                  <a:pt x="80158" y="25595"/>
                </a:lnTo>
                <a:lnTo>
                  <a:pt x="80639" y="26076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546902" y="1195859"/>
            <a:ext cx="330835" cy="120650"/>
          </a:xfrm>
          <a:custGeom>
            <a:avLst/>
            <a:gdLst/>
            <a:ahLst/>
            <a:cxnLst/>
            <a:rect l="l" t="t" r="r" b="b"/>
            <a:pathLst>
              <a:path w="330835" h="120650">
                <a:moveTo>
                  <a:pt x="0" y="0"/>
                </a:moveTo>
                <a:lnTo>
                  <a:pt x="46667" y="18621"/>
                </a:lnTo>
                <a:lnTo>
                  <a:pt x="93553" y="36779"/>
                </a:lnTo>
                <a:lnTo>
                  <a:pt x="140630" y="54463"/>
                </a:lnTo>
                <a:lnTo>
                  <a:pt x="187870" y="71661"/>
                </a:lnTo>
                <a:lnTo>
                  <a:pt x="235246" y="88364"/>
                </a:lnTo>
                <a:lnTo>
                  <a:pt x="282732" y="104561"/>
                </a:lnTo>
                <a:lnTo>
                  <a:pt x="330301" y="120241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249920" y="1094937"/>
            <a:ext cx="297180" cy="100965"/>
          </a:xfrm>
          <a:custGeom>
            <a:avLst/>
            <a:gdLst/>
            <a:ahLst/>
            <a:cxnLst/>
            <a:rect l="l" t="t" r="r" b="b"/>
            <a:pathLst>
              <a:path w="297180" h="100965">
                <a:moveTo>
                  <a:pt x="0" y="0"/>
                </a:moveTo>
                <a:lnTo>
                  <a:pt x="56737" y="8145"/>
                </a:lnTo>
                <a:lnTo>
                  <a:pt x="111549" y="26557"/>
                </a:lnTo>
                <a:lnTo>
                  <a:pt x="157976" y="44773"/>
                </a:lnTo>
                <a:lnTo>
                  <a:pt x="204291" y="63606"/>
                </a:lnTo>
                <a:lnTo>
                  <a:pt x="250593" y="82506"/>
                </a:lnTo>
                <a:lnTo>
                  <a:pt x="296981" y="100921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018611" y="1089143"/>
            <a:ext cx="237104" cy="2037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640022" y="1287126"/>
            <a:ext cx="384810" cy="628650"/>
          </a:xfrm>
          <a:custGeom>
            <a:avLst/>
            <a:gdLst/>
            <a:ahLst/>
            <a:cxnLst/>
            <a:rect l="l" t="t" r="r" b="b"/>
            <a:pathLst>
              <a:path w="384810" h="628650">
                <a:moveTo>
                  <a:pt x="0" y="628250"/>
                </a:moveTo>
                <a:lnTo>
                  <a:pt x="21750" y="584424"/>
                </a:lnTo>
                <a:lnTo>
                  <a:pt x="44029" y="540729"/>
                </a:lnTo>
                <a:lnTo>
                  <a:pt x="66843" y="497197"/>
                </a:lnTo>
                <a:lnTo>
                  <a:pt x="90197" y="453864"/>
                </a:lnTo>
                <a:lnTo>
                  <a:pt x="114096" y="410763"/>
                </a:lnTo>
                <a:lnTo>
                  <a:pt x="138548" y="367928"/>
                </a:lnTo>
                <a:lnTo>
                  <a:pt x="163556" y="325392"/>
                </a:lnTo>
                <a:lnTo>
                  <a:pt x="189128" y="283192"/>
                </a:lnTo>
                <a:lnTo>
                  <a:pt x="215269" y="241359"/>
                </a:lnTo>
                <a:lnTo>
                  <a:pt x="241985" y="199928"/>
                </a:lnTo>
                <a:lnTo>
                  <a:pt x="269281" y="158934"/>
                </a:lnTo>
                <a:lnTo>
                  <a:pt x="297163" y="118410"/>
                </a:lnTo>
                <a:lnTo>
                  <a:pt x="325636" y="78390"/>
                </a:lnTo>
                <a:lnTo>
                  <a:pt x="354708" y="38909"/>
                </a:lnTo>
                <a:lnTo>
                  <a:pt x="384383" y="0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502397" y="1915376"/>
            <a:ext cx="137795" cy="306705"/>
          </a:xfrm>
          <a:custGeom>
            <a:avLst/>
            <a:gdLst/>
            <a:ahLst/>
            <a:cxnLst/>
            <a:rect l="l" t="t" r="r" b="b"/>
            <a:pathLst>
              <a:path w="137794" h="306705">
                <a:moveTo>
                  <a:pt x="0" y="306641"/>
                </a:moveTo>
                <a:lnTo>
                  <a:pt x="18262" y="262455"/>
                </a:lnTo>
                <a:lnTo>
                  <a:pt x="37022" y="218312"/>
                </a:lnTo>
                <a:lnTo>
                  <a:pt x="56260" y="174262"/>
                </a:lnTo>
                <a:lnTo>
                  <a:pt x="75958" y="130356"/>
                </a:lnTo>
                <a:lnTo>
                  <a:pt x="96097" y="86643"/>
                </a:lnTo>
                <a:lnTo>
                  <a:pt x="116659" y="43174"/>
                </a:lnTo>
                <a:lnTo>
                  <a:pt x="137625" y="0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467141" y="2222018"/>
            <a:ext cx="35560" cy="48895"/>
          </a:xfrm>
          <a:custGeom>
            <a:avLst/>
            <a:gdLst/>
            <a:ahLst/>
            <a:cxnLst/>
            <a:rect l="l" t="t" r="r" b="b"/>
            <a:pathLst>
              <a:path w="35559" h="48894">
                <a:moveTo>
                  <a:pt x="0" y="48768"/>
                </a:moveTo>
                <a:lnTo>
                  <a:pt x="0" y="48768"/>
                </a:lnTo>
                <a:lnTo>
                  <a:pt x="14973" y="48768"/>
                </a:lnTo>
                <a:lnTo>
                  <a:pt x="15935" y="47806"/>
                </a:lnTo>
                <a:lnTo>
                  <a:pt x="15935" y="46358"/>
                </a:lnTo>
                <a:lnTo>
                  <a:pt x="16903" y="45390"/>
                </a:lnTo>
                <a:lnTo>
                  <a:pt x="16903" y="44422"/>
                </a:lnTo>
                <a:lnTo>
                  <a:pt x="17384" y="43941"/>
                </a:lnTo>
                <a:lnTo>
                  <a:pt x="17384" y="42973"/>
                </a:lnTo>
                <a:lnTo>
                  <a:pt x="17871" y="42492"/>
                </a:lnTo>
                <a:lnTo>
                  <a:pt x="17871" y="42011"/>
                </a:lnTo>
                <a:lnTo>
                  <a:pt x="18351" y="41525"/>
                </a:lnTo>
                <a:lnTo>
                  <a:pt x="18351" y="40563"/>
                </a:lnTo>
                <a:lnTo>
                  <a:pt x="18832" y="40076"/>
                </a:lnTo>
                <a:lnTo>
                  <a:pt x="18832" y="39595"/>
                </a:lnTo>
                <a:lnTo>
                  <a:pt x="19319" y="39114"/>
                </a:lnTo>
                <a:lnTo>
                  <a:pt x="19319" y="38146"/>
                </a:lnTo>
                <a:lnTo>
                  <a:pt x="19800" y="37665"/>
                </a:lnTo>
                <a:lnTo>
                  <a:pt x="19800" y="37179"/>
                </a:lnTo>
                <a:lnTo>
                  <a:pt x="20281" y="36698"/>
                </a:lnTo>
                <a:lnTo>
                  <a:pt x="20281" y="36217"/>
                </a:lnTo>
                <a:lnTo>
                  <a:pt x="20768" y="35730"/>
                </a:lnTo>
                <a:lnTo>
                  <a:pt x="20768" y="34768"/>
                </a:lnTo>
                <a:lnTo>
                  <a:pt x="21249" y="34281"/>
                </a:lnTo>
                <a:lnTo>
                  <a:pt x="21249" y="33319"/>
                </a:lnTo>
                <a:lnTo>
                  <a:pt x="21730" y="32833"/>
                </a:lnTo>
                <a:lnTo>
                  <a:pt x="21730" y="32352"/>
                </a:lnTo>
                <a:lnTo>
                  <a:pt x="22217" y="31871"/>
                </a:lnTo>
                <a:lnTo>
                  <a:pt x="22217" y="30903"/>
                </a:lnTo>
                <a:lnTo>
                  <a:pt x="22698" y="30422"/>
                </a:lnTo>
                <a:lnTo>
                  <a:pt x="22698" y="29935"/>
                </a:lnTo>
                <a:lnTo>
                  <a:pt x="23179" y="29454"/>
                </a:lnTo>
                <a:lnTo>
                  <a:pt x="23179" y="28973"/>
                </a:lnTo>
                <a:lnTo>
                  <a:pt x="23665" y="28487"/>
                </a:lnTo>
                <a:lnTo>
                  <a:pt x="23665" y="27525"/>
                </a:lnTo>
                <a:lnTo>
                  <a:pt x="24146" y="27038"/>
                </a:lnTo>
                <a:lnTo>
                  <a:pt x="24146" y="26557"/>
                </a:lnTo>
                <a:lnTo>
                  <a:pt x="24627" y="26076"/>
                </a:lnTo>
                <a:lnTo>
                  <a:pt x="24627" y="25108"/>
                </a:lnTo>
                <a:lnTo>
                  <a:pt x="25114" y="24627"/>
                </a:lnTo>
                <a:lnTo>
                  <a:pt x="25114" y="24140"/>
                </a:lnTo>
                <a:lnTo>
                  <a:pt x="25595" y="23179"/>
                </a:lnTo>
                <a:lnTo>
                  <a:pt x="25595" y="22692"/>
                </a:lnTo>
                <a:lnTo>
                  <a:pt x="26076" y="22211"/>
                </a:lnTo>
                <a:lnTo>
                  <a:pt x="26076" y="21730"/>
                </a:lnTo>
                <a:lnTo>
                  <a:pt x="26563" y="20762"/>
                </a:lnTo>
                <a:lnTo>
                  <a:pt x="26563" y="20281"/>
                </a:lnTo>
                <a:lnTo>
                  <a:pt x="27044" y="19794"/>
                </a:lnTo>
                <a:lnTo>
                  <a:pt x="27525" y="18832"/>
                </a:lnTo>
                <a:lnTo>
                  <a:pt x="27525" y="18346"/>
                </a:lnTo>
                <a:lnTo>
                  <a:pt x="28011" y="17384"/>
                </a:lnTo>
                <a:lnTo>
                  <a:pt x="28011" y="16897"/>
                </a:lnTo>
                <a:lnTo>
                  <a:pt x="28492" y="15935"/>
                </a:lnTo>
                <a:lnTo>
                  <a:pt x="28973" y="15448"/>
                </a:lnTo>
                <a:lnTo>
                  <a:pt x="28973" y="14486"/>
                </a:lnTo>
                <a:lnTo>
                  <a:pt x="29460" y="14000"/>
                </a:lnTo>
                <a:lnTo>
                  <a:pt x="29941" y="13038"/>
                </a:lnTo>
                <a:lnTo>
                  <a:pt x="29941" y="12070"/>
                </a:lnTo>
                <a:lnTo>
                  <a:pt x="31413" y="10853"/>
                </a:lnTo>
                <a:lnTo>
                  <a:pt x="30358" y="9781"/>
                </a:lnTo>
                <a:lnTo>
                  <a:pt x="32357" y="6756"/>
                </a:lnTo>
                <a:lnTo>
                  <a:pt x="32838" y="6275"/>
                </a:lnTo>
                <a:lnTo>
                  <a:pt x="32838" y="5307"/>
                </a:lnTo>
                <a:lnTo>
                  <a:pt x="33319" y="3859"/>
                </a:lnTo>
                <a:lnTo>
                  <a:pt x="35255" y="0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343522" y="2270786"/>
            <a:ext cx="129539" cy="0"/>
          </a:xfrm>
          <a:custGeom>
            <a:avLst/>
            <a:gdLst/>
            <a:ahLst/>
            <a:cxnLst/>
            <a:rect l="l" t="t" r="r" b="b"/>
            <a:pathLst>
              <a:path w="129540" h="0">
                <a:moveTo>
                  <a:pt x="0" y="0"/>
                </a:moveTo>
                <a:lnTo>
                  <a:pt x="129420" y="0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106905" y="2270786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 h="0">
                <a:moveTo>
                  <a:pt x="0" y="0"/>
                </a:moveTo>
                <a:lnTo>
                  <a:pt x="248206" y="0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024969" y="1362458"/>
            <a:ext cx="677545" cy="167005"/>
          </a:xfrm>
          <a:custGeom>
            <a:avLst/>
            <a:gdLst/>
            <a:ahLst/>
            <a:cxnLst/>
            <a:rect l="l" t="t" r="r" b="b"/>
            <a:pathLst>
              <a:path w="677545" h="167005">
                <a:moveTo>
                  <a:pt x="0" y="0"/>
                </a:moveTo>
                <a:lnTo>
                  <a:pt x="47702" y="14161"/>
                </a:lnTo>
                <a:lnTo>
                  <a:pt x="95550" y="27920"/>
                </a:lnTo>
                <a:lnTo>
                  <a:pt x="143533" y="41291"/>
                </a:lnTo>
                <a:lnTo>
                  <a:pt x="191642" y="54287"/>
                </a:lnTo>
                <a:lnTo>
                  <a:pt x="239867" y="66922"/>
                </a:lnTo>
                <a:lnTo>
                  <a:pt x="288199" y="79209"/>
                </a:lnTo>
                <a:lnTo>
                  <a:pt x="336626" y="91161"/>
                </a:lnTo>
                <a:lnTo>
                  <a:pt x="385141" y="102793"/>
                </a:lnTo>
                <a:lnTo>
                  <a:pt x="433732" y="114117"/>
                </a:lnTo>
                <a:lnTo>
                  <a:pt x="482390" y="125147"/>
                </a:lnTo>
                <a:lnTo>
                  <a:pt x="531106" y="135897"/>
                </a:lnTo>
                <a:lnTo>
                  <a:pt x="579869" y="146379"/>
                </a:lnTo>
                <a:lnTo>
                  <a:pt x="628670" y="156609"/>
                </a:lnTo>
                <a:lnTo>
                  <a:pt x="677499" y="166599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957842" y="1342176"/>
            <a:ext cx="67310" cy="20320"/>
          </a:xfrm>
          <a:custGeom>
            <a:avLst/>
            <a:gdLst/>
            <a:ahLst/>
            <a:cxnLst/>
            <a:rect l="l" t="t" r="r" b="b"/>
            <a:pathLst>
              <a:path w="67310" h="20319">
                <a:moveTo>
                  <a:pt x="0" y="0"/>
                </a:moveTo>
                <a:lnTo>
                  <a:pt x="967" y="0"/>
                </a:lnTo>
                <a:lnTo>
                  <a:pt x="1448" y="486"/>
                </a:lnTo>
                <a:lnTo>
                  <a:pt x="2897" y="486"/>
                </a:lnTo>
                <a:lnTo>
                  <a:pt x="3384" y="967"/>
                </a:lnTo>
                <a:lnTo>
                  <a:pt x="4346" y="967"/>
                </a:lnTo>
                <a:lnTo>
                  <a:pt x="4832" y="1448"/>
                </a:lnTo>
                <a:lnTo>
                  <a:pt x="5794" y="1448"/>
                </a:lnTo>
                <a:lnTo>
                  <a:pt x="6281" y="1935"/>
                </a:lnTo>
                <a:lnTo>
                  <a:pt x="7243" y="1935"/>
                </a:lnTo>
                <a:lnTo>
                  <a:pt x="7730" y="2416"/>
                </a:lnTo>
                <a:lnTo>
                  <a:pt x="8692" y="2416"/>
                </a:lnTo>
                <a:lnTo>
                  <a:pt x="9178" y="2897"/>
                </a:lnTo>
                <a:lnTo>
                  <a:pt x="10140" y="2897"/>
                </a:lnTo>
                <a:lnTo>
                  <a:pt x="10627" y="3384"/>
                </a:lnTo>
                <a:lnTo>
                  <a:pt x="12076" y="3384"/>
                </a:lnTo>
                <a:lnTo>
                  <a:pt x="12557" y="3865"/>
                </a:lnTo>
                <a:lnTo>
                  <a:pt x="13524" y="3865"/>
                </a:lnTo>
                <a:lnTo>
                  <a:pt x="14005" y="4346"/>
                </a:lnTo>
                <a:lnTo>
                  <a:pt x="14973" y="4346"/>
                </a:lnTo>
                <a:lnTo>
                  <a:pt x="15454" y="4832"/>
                </a:lnTo>
                <a:lnTo>
                  <a:pt x="16422" y="4832"/>
                </a:lnTo>
                <a:lnTo>
                  <a:pt x="16903" y="5313"/>
                </a:lnTo>
                <a:lnTo>
                  <a:pt x="18351" y="5313"/>
                </a:lnTo>
                <a:lnTo>
                  <a:pt x="18832" y="5794"/>
                </a:lnTo>
                <a:lnTo>
                  <a:pt x="19800" y="5794"/>
                </a:lnTo>
                <a:lnTo>
                  <a:pt x="20281" y="6281"/>
                </a:lnTo>
                <a:lnTo>
                  <a:pt x="21249" y="6281"/>
                </a:lnTo>
                <a:lnTo>
                  <a:pt x="21730" y="6762"/>
                </a:lnTo>
                <a:lnTo>
                  <a:pt x="23179" y="6762"/>
                </a:lnTo>
                <a:lnTo>
                  <a:pt x="23665" y="7243"/>
                </a:lnTo>
                <a:lnTo>
                  <a:pt x="24627" y="7243"/>
                </a:lnTo>
                <a:lnTo>
                  <a:pt x="25114" y="7730"/>
                </a:lnTo>
                <a:lnTo>
                  <a:pt x="26076" y="7730"/>
                </a:lnTo>
                <a:lnTo>
                  <a:pt x="26563" y="8211"/>
                </a:lnTo>
                <a:lnTo>
                  <a:pt x="27525" y="8211"/>
                </a:lnTo>
                <a:lnTo>
                  <a:pt x="28011" y="8692"/>
                </a:lnTo>
                <a:lnTo>
                  <a:pt x="29460" y="8692"/>
                </a:lnTo>
                <a:lnTo>
                  <a:pt x="29941" y="9178"/>
                </a:lnTo>
                <a:lnTo>
                  <a:pt x="30422" y="9178"/>
                </a:lnTo>
                <a:lnTo>
                  <a:pt x="31390" y="9659"/>
                </a:lnTo>
                <a:lnTo>
                  <a:pt x="32357" y="9659"/>
                </a:lnTo>
                <a:lnTo>
                  <a:pt x="33319" y="10140"/>
                </a:lnTo>
                <a:lnTo>
                  <a:pt x="33806" y="10140"/>
                </a:lnTo>
                <a:lnTo>
                  <a:pt x="35527" y="10963"/>
                </a:lnTo>
                <a:lnTo>
                  <a:pt x="37393" y="11253"/>
                </a:lnTo>
                <a:lnTo>
                  <a:pt x="39114" y="12076"/>
                </a:lnTo>
                <a:lnTo>
                  <a:pt x="40082" y="12076"/>
                </a:lnTo>
                <a:lnTo>
                  <a:pt x="41050" y="12557"/>
                </a:lnTo>
                <a:lnTo>
                  <a:pt x="41531" y="12557"/>
                </a:lnTo>
                <a:lnTo>
                  <a:pt x="42498" y="13038"/>
                </a:lnTo>
                <a:lnTo>
                  <a:pt x="43460" y="13038"/>
                </a:lnTo>
                <a:lnTo>
                  <a:pt x="44428" y="13524"/>
                </a:lnTo>
                <a:lnTo>
                  <a:pt x="46468" y="14388"/>
                </a:lnTo>
                <a:lnTo>
                  <a:pt x="48641" y="14440"/>
                </a:lnTo>
                <a:lnTo>
                  <a:pt x="50704" y="15454"/>
                </a:lnTo>
                <a:lnTo>
                  <a:pt x="52859" y="16323"/>
                </a:lnTo>
                <a:lnTo>
                  <a:pt x="55310" y="16630"/>
                </a:lnTo>
                <a:lnTo>
                  <a:pt x="57466" y="17384"/>
                </a:lnTo>
                <a:lnTo>
                  <a:pt x="61934" y="19250"/>
                </a:lnTo>
                <a:lnTo>
                  <a:pt x="63093" y="18989"/>
                </a:lnTo>
                <a:lnTo>
                  <a:pt x="67126" y="20281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877203" y="1316100"/>
            <a:ext cx="80645" cy="26670"/>
          </a:xfrm>
          <a:custGeom>
            <a:avLst/>
            <a:gdLst/>
            <a:ahLst/>
            <a:cxnLst/>
            <a:rect l="l" t="t" r="r" b="b"/>
            <a:pathLst>
              <a:path w="80644" h="26669">
                <a:moveTo>
                  <a:pt x="0" y="0"/>
                </a:moveTo>
                <a:lnTo>
                  <a:pt x="23972" y="7747"/>
                </a:lnTo>
                <a:lnTo>
                  <a:pt x="26557" y="8692"/>
                </a:lnTo>
                <a:lnTo>
                  <a:pt x="28006" y="8692"/>
                </a:lnTo>
                <a:lnTo>
                  <a:pt x="28973" y="9178"/>
                </a:lnTo>
                <a:lnTo>
                  <a:pt x="30422" y="9659"/>
                </a:lnTo>
                <a:lnTo>
                  <a:pt x="32352" y="10627"/>
                </a:lnTo>
                <a:lnTo>
                  <a:pt x="33800" y="10627"/>
                </a:lnTo>
                <a:lnTo>
                  <a:pt x="36831" y="12366"/>
                </a:lnTo>
                <a:lnTo>
                  <a:pt x="35771" y="10795"/>
                </a:lnTo>
                <a:lnTo>
                  <a:pt x="39595" y="13038"/>
                </a:lnTo>
                <a:lnTo>
                  <a:pt x="40563" y="13038"/>
                </a:lnTo>
                <a:lnTo>
                  <a:pt x="41525" y="13524"/>
                </a:lnTo>
                <a:lnTo>
                  <a:pt x="42492" y="13524"/>
                </a:lnTo>
                <a:lnTo>
                  <a:pt x="44422" y="14486"/>
                </a:lnTo>
                <a:lnTo>
                  <a:pt x="45390" y="14486"/>
                </a:lnTo>
                <a:lnTo>
                  <a:pt x="46989" y="15170"/>
                </a:lnTo>
                <a:lnTo>
                  <a:pt x="48612" y="15703"/>
                </a:lnTo>
                <a:lnTo>
                  <a:pt x="50217" y="15935"/>
                </a:lnTo>
                <a:lnTo>
                  <a:pt x="51185" y="16422"/>
                </a:lnTo>
                <a:lnTo>
                  <a:pt x="51666" y="16422"/>
                </a:lnTo>
                <a:lnTo>
                  <a:pt x="52633" y="16903"/>
                </a:lnTo>
                <a:lnTo>
                  <a:pt x="53114" y="16903"/>
                </a:lnTo>
                <a:lnTo>
                  <a:pt x="53601" y="17384"/>
                </a:lnTo>
                <a:lnTo>
                  <a:pt x="54563" y="17384"/>
                </a:lnTo>
                <a:lnTo>
                  <a:pt x="55050" y="17871"/>
                </a:lnTo>
                <a:lnTo>
                  <a:pt x="56012" y="17871"/>
                </a:lnTo>
                <a:lnTo>
                  <a:pt x="56498" y="18351"/>
                </a:lnTo>
                <a:lnTo>
                  <a:pt x="57460" y="18351"/>
                </a:lnTo>
                <a:lnTo>
                  <a:pt x="58428" y="18832"/>
                </a:lnTo>
                <a:lnTo>
                  <a:pt x="58909" y="18832"/>
                </a:lnTo>
                <a:lnTo>
                  <a:pt x="59396" y="19319"/>
                </a:lnTo>
                <a:lnTo>
                  <a:pt x="60358" y="19319"/>
                </a:lnTo>
                <a:lnTo>
                  <a:pt x="61325" y="19800"/>
                </a:lnTo>
                <a:lnTo>
                  <a:pt x="62293" y="19800"/>
                </a:lnTo>
                <a:lnTo>
                  <a:pt x="62774" y="20281"/>
                </a:lnTo>
                <a:lnTo>
                  <a:pt x="63742" y="20281"/>
                </a:lnTo>
                <a:lnTo>
                  <a:pt x="64223" y="20768"/>
                </a:lnTo>
                <a:lnTo>
                  <a:pt x="65191" y="20768"/>
                </a:lnTo>
                <a:lnTo>
                  <a:pt x="65671" y="21249"/>
                </a:lnTo>
                <a:lnTo>
                  <a:pt x="66639" y="21249"/>
                </a:lnTo>
                <a:lnTo>
                  <a:pt x="67120" y="21730"/>
                </a:lnTo>
                <a:lnTo>
                  <a:pt x="68088" y="21730"/>
                </a:lnTo>
                <a:lnTo>
                  <a:pt x="68569" y="22217"/>
                </a:lnTo>
                <a:lnTo>
                  <a:pt x="69537" y="22217"/>
                </a:lnTo>
                <a:lnTo>
                  <a:pt x="70018" y="22698"/>
                </a:lnTo>
                <a:lnTo>
                  <a:pt x="71466" y="22698"/>
                </a:lnTo>
                <a:lnTo>
                  <a:pt x="71947" y="23179"/>
                </a:lnTo>
                <a:lnTo>
                  <a:pt x="72915" y="23179"/>
                </a:lnTo>
                <a:lnTo>
                  <a:pt x="73396" y="23665"/>
                </a:lnTo>
                <a:lnTo>
                  <a:pt x="74364" y="23665"/>
                </a:lnTo>
                <a:lnTo>
                  <a:pt x="74845" y="24146"/>
                </a:lnTo>
                <a:lnTo>
                  <a:pt x="75812" y="24146"/>
                </a:lnTo>
                <a:lnTo>
                  <a:pt x="76293" y="24627"/>
                </a:lnTo>
                <a:lnTo>
                  <a:pt x="77261" y="24627"/>
                </a:lnTo>
                <a:lnTo>
                  <a:pt x="77742" y="25114"/>
                </a:lnTo>
                <a:lnTo>
                  <a:pt x="78710" y="25114"/>
                </a:lnTo>
                <a:lnTo>
                  <a:pt x="79191" y="25595"/>
                </a:lnTo>
                <a:lnTo>
                  <a:pt x="80158" y="25595"/>
                </a:lnTo>
                <a:lnTo>
                  <a:pt x="80639" y="26076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546902" y="1192000"/>
            <a:ext cx="330835" cy="124460"/>
          </a:xfrm>
          <a:custGeom>
            <a:avLst/>
            <a:gdLst/>
            <a:ahLst/>
            <a:cxnLst/>
            <a:rect l="l" t="t" r="r" b="b"/>
            <a:pathLst>
              <a:path w="330835" h="124459">
                <a:moveTo>
                  <a:pt x="0" y="0"/>
                </a:moveTo>
                <a:lnTo>
                  <a:pt x="49727" y="20557"/>
                </a:lnTo>
                <a:lnTo>
                  <a:pt x="99544" y="40395"/>
                </a:lnTo>
                <a:lnTo>
                  <a:pt x="149568" y="59714"/>
                </a:lnTo>
                <a:lnTo>
                  <a:pt x="199919" y="78710"/>
                </a:lnTo>
                <a:lnTo>
                  <a:pt x="219109" y="85388"/>
                </a:lnTo>
                <a:lnTo>
                  <a:pt x="238252" y="92223"/>
                </a:lnTo>
                <a:lnTo>
                  <a:pt x="257424" y="99062"/>
                </a:lnTo>
                <a:lnTo>
                  <a:pt x="276699" y="105754"/>
                </a:lnTo>
                <a:lnTo>
                  <a:pt x="283817" y="108190"/>
                </a:lnTo>
                <a:lnTo>
                  <a:pt x="290947" y="110555"/>
                </a:lnTo>
                <a:lnTo>
                  <a:pt x="298075" y="112933"/>
                </a:lnTo>
                <a:lnTo>
                  <a:pt x="305186" y="115408"/>
                </a:lnTo>
                <a:lnTo>
                  <a:pt x="309069" y="117187"/>
                </a:lnTo>
                <a:lnTo>
                  <a:pt x="313478" y="117633"/>
                </a:lnTo>
                <a:lnTo>
                  <a:pt x="317262" y="119754"/>
                </a:lnTo>
                <a:lnTo>
                  <a:pt x="319673" y="120571"/>
                </a:lnTo>
                <a:lnTo>
                  <a:pt x="328887" y="122912"/>
                </a:lnTo>
                <a:lnTo>
                  <a:pt x="330301" y="124100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249920" y="1049060"/>
            <a:ext cx="297180" cy="143510"/>
          </a:xfrm>
          <a:custGeom>
            <a:avLst/>
            <a:gdLst/>
            <a:ahLst/>
            <a:cxnLst/>
            <a:rect l="l" t="t" r="r" b="b"/>
            <a:pathLst>
              <a:path w="297180" h="143509">
                <a:moveTo>
                  <a:pt x="0" y="0"/>
                </a:moveTo>
                <a:lnTo>
                  <a:pt x="48379" y="25919"/>
                </a:lnTo>
                <a:lnTo>
                  <a:pt x="97297" y="50912"/>
                </a:lnTo>
                <a:lnTo>
                  <a:pt x="146684" y="75046"/>
                </a:lnTo>
                <a:lnTo>
                  <a:pt x="196473" y="98385"/>
                </a:lnTo>
                <a:lnTo>
                  <a:pt x="246595" y="120994"/>
                </a:lnTo>
                <a:lnTo>
                  <a:pt x="296981" y="142939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024406" y="912884"/>
            <a:ext cx="226060" cy="136525"/>
          </a:xfrm>
          <a:custGeom>
            <a:avLst/>
            <a:gdLst/>
            <a:ahLst/>
            <a:cxnLst/>
            <a:rect l="l" t="t" r="r" b="b"/>
            <a:pathLst>
              <a:path w="226060" h="136525">
                <a:moveTo>
                  <a:pt x="0" y="0"/>
                </a:moveTo>
                <a:lnTo>
                  <a:pt x="44028" y="28890"/>
                </a:lnTo>
                <a:lnTo>
                  <a:pt x="88678" y="57075"/>
                </a:lnTo>
                <a:lnTo>
                  <a:pt x="133865" y="84433"/>
                </a:lnTo>
                <a:lnTo>
                  <a:pt x="179505" y="110841"/>
                </a:lnTo>
                <a:lnTo>
                  <a:pt x="225514" y="136176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640022" y="594172"/>
            <a:ext cx="384810" cy="318770"/>
          </a:xfrm>
          <a:custGeom>
            <a:avLst/>
            <a:gdLst/>
            <a:ahLst/>
            <a:cxnLst/>
            <a:rect l="l" t="t" r="r" b="b"/>
            <a:pathLst>
              <a:path w="384810" h="318769">
                <a:moveTo>
                  <a:pt x="0" y="0"/>
                </a:moveTo>
                <a:lnTo>
                  <a:pt x="35335" y="35405"/>
                </a:lnTo>
                <a:lnTo>
                  <a:pt x="71422" y="70044"/>
                </a:lnTo>
                <a:lnTo>
                  <a:pt x="108237" y="103909"/>
                </a:lnTo>
                <a:lnTo>
                  <a:pt x="145756" y="136992"/>
                </a:lnTo>
                <a:lnTo>
                  <a:pt x="183958" y="169288"/>
                </a:lnTo>
                <a:lnTo>
                  <a:pt x="222818" y="200789"/>
                </a:lnTo>
                <a:lnTo>
                  <a:pt x="262313" y="231489"/>
                </a:lnTo>
                <a:lnTo>
                  <a:pt x="302421" y="261381"/>
                </a:lnTo>
                <a:lnTo>
                  <a:pt x="343119" y="290457"/>
                </a:lnTo>
                <a:lnTo>
                  <a:pt x="384383" y="318711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301991" y="410189"/>
            <a:ext cx="343826" cy="2593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112699" y="663709"/>
            <a:ext cx="195580" cy="370840"/>
          </a:xfrm>
          <a:custGeom>
            <a:avLst/>
            <a:gdLst/>
            <a:ahLst/>
            <a:cxnLst/>
            <a:rect l="l" t="t" r="r" b="b"/>
            <a:pathLst>
              <a:path w="195580" h="370840">
                <a:moveTo>
                  <a:pt x="0" y="370383"/>
                </a:moveTo>
                <a:lnTo>
                  <a:pt x="21516" y="322867"/>
                </a:lnTo>
                <a:lnTo>
                  <a:pt x="43892" y="275551"/>
                </a:lnTo>
                <a:lnTo>
                  <a:pt x="67106" y="228510"/>
                </a:lnTo>
                <a:lnTo>
                  <a:pt x="91141" y="181816"/>
                </a:lnTo>
                <a:lnTo>
                  <a:pt x="115976" y="135545"/>
                </a:lnTo>
                <a:lnTo>
                  <a:pt x="141591" y="89769"/>
                </a:lnTo>
                <a:lnTo>
                  <a:pt x="167968" y="44563"/>
                </a:lnTo>
                <a:lnTo>
                  <a:pt x="195086" y="0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2189412" y="2266297"/>
            <a:ext cx="466725" cy="2159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665"/>
              </a:lnSpc>
              <a:spcBef>
                <a:spcPts val="135"/>
              </a:spcBef>
              <a:tabLst>
                <a:tab pos="339090" algn="l"/>
              </a:tabLst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r>
              <a:rPr dirty="0" sz="600" spc="15">
                <a:latin typeface="Times New Roman"/>
                <a:cs typeface="Times New Roman"/>
              </a:rPr>
              <a:t>	</a:t>
            </a:r>
            <a:r>
              <a:rPr dirty="0" sz="600" spc="15">
                <a:latin typeface="Times New Roman"/>
                <a:cs typeface="Times New Roman"/>
              </a:rPr>
              <a:t>2.5</a:t>
            </a:r>
            <a:endParaRPr sz="600">
              <a:latin typeface="Times New Roman"/>
              <a:cs typeface="Times New Roman"/>
            </a:endParaRPr>
          </a:p>
          <a:p>
            <a:pPr algn="ctr" marR="23495">
              <a:lnSpc>
                <a:spcPts val="785"/>
              </a:lnSpc>
            </a:pPr>
            <a:r>
              <a:rPr dirty="0" sz="700" spc="15">
                <a:latin typeface="Symbol"/>
                <a:cs typeface="Symbol"/>
              </a:rPr>
              <a:t></a:t>
            </a:r>
            <a:endParaRPr sz="700">
              <a:latin typeface="Symbol"/>
              <a:cs typeface="Symbo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863827" y="1145210"/>
            <a:ext cx="117475" cy="210185"/>
          </a:xfrm>
          <a:prstGeom prst="rect">
            <a:avLst/>
          </a:prstGeom>
        </p:spPr>
        <p:txBody>
          <a:bodyPr wrap="square" lIns="0" tIns="101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latin typeface="Times New Roman"/>
                <a:cs typeface="Times New Roman"/>
              </a:rPr>
              <a:t>[MY]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237623" y="908393"/>
            <a:ext cx="13906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15">
                <a:latin typeface="Calibri"/>
                <a:cs typeface="Calibri"/>
              </a:rPr>
              <a:t>PbY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919475" y="1547265"/>
            <a:ext cx="147320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35">
                <a:latin typeface="Calibri"/>
                <a:cs typeface="Calibri"/>
              </a:rPr>
              <a:t>C</a:t>
            </a:r>
            <a:r>
              <a:rPr dirty="0" sz="550" spc="15">
                <a:latin typeface="Calibri"/>
                <a:cs typeface="Calibri"/>
              </a:rPr>
              <a:t>a</a:t>
            </a:r>
            <a:r>
              <a:rPr dirty="0" sz="550" spc="140">
                <a:latin typeface="Calibri"/>
                <a:cs typeface="Calibri"/>
              </a:rPr>
              <a:t>Y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573798" y="1886738"/>
            <a:ext cx="156210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100">
                <a:latin typeface="Calibri"/>
                <a:cs typeface="Calibri"/>
              </a:rPr>
              <a:t>M</a:t>
            </a:r>
            <a:r>
              <a:rPr dirty="0" sz="550" spc="-20">
                <a:latin typeface="Calibri"/>
                <a:cs typeface="Calibri"/>
              </a:rPr>
              <a:t>g</a:t>
            </a:r>
            <a:r>
              <a:rPr dirty="0" sz="550" spc="140">
                <a:latin typeface="Calibri"/>
                <a:cs typeface="Calibri"/>
              </a:rPr>
              <a:t>Y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5044" y="2595857"/>
            <a:ext cx="4106545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55880">
              <a:lnSpc>
                <a:spcPct val="123300"/>
              </a:lnSpc>
              <a:spcBef>
                <a:spcPts val="100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12:</a:t>
            </a:r>
            <a:r>
              <a:rPr dirty="0" sz="1000" spc="20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配</a:t>
            </a:r>
            <a:r>
              <a:rPr dirty="0" sz="1050" spc="-5">
                <a:latin typeface="Arial Unicode MS"/>
                <a:cs typeface="Arial Unicode MS"/>
              </a:rPr>
              <a:t>合物的浓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曲</a:t>
            </a:r>
            <a:r>
              <a:rPr dirty="0" sz="1050" spc="-20">
                <a:latin typeface="Arial Unicode MS"/>
                <a:cs typeface="Arial Unicode MS"/>
              </a:rPr>
              <a:t>线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160">
                <a:latin typeface="Arial Unicode MS"/>
                <a:cs typeface="Arial Unicode MS"/>
              </a:rPr>
              <a:t>以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60">
                <a:latin typeface="Times New Roman"/>
                <a:cs typeface="Times New Roman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由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Ca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45">
                <a:latin typeface="Georgia"/>
                <a:cs typeface="Georgia"/>
              </a:rPr>
              <a:t>10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7)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</a:t>
            </a:r>
            <a:r>
              <a:rPr dirty="0" sz="1000" spc="40">
                <a:latin typeface="Georgia"/>
                <a:cs typeface="Georgia"/>
              </a:rPr>
              <a:t>Mg</a:t>
            </a:r>
            <a:r>
              <a:rPr dirty="0" baseline="27777" sz="1050" spc="60">
                <a:latin typeface="Times New Roman"/>
                <a:cs typeface="Times New Roman"/>
              </a:rPr>
              <a:t>2+</a:t>
            </a:r>
            <a:r>
              <a:rPr dirty="0" sz="1000" spc="4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30">
                <a:latin typeface="Georgia"/>
                <a:cs typeface="Georgia"/>
              </a:rPr>
              <a:t>8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7) </a:t>
            </a:r>
            <a:r>
              <a:rPr dirty="0" sz="1050" spc="160">
                <a:latin typeface="Arial Unicode MS"/>
                <a:cs typeface="Arial Unicode MS"/>
              </a:rPr>
              <a:t>和 </a:t>
            </a:r>
            <a:r>
              <a:rPr dirty="0" sz="1000" spc="-40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Pb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00" spc="125" b="0" i="1">
                <a:latin typeface="Bookman Old Style"/>
                <a:cs typeface="Bookman Old Style"/>
              </a:rPr>
              <a:t>K</a:t>
            </a:r>
            <a:r>
              <a:rPr dirty="0" sz="1000" spc="45" b="0" i="1">
                <a:latin typeface="Bookman Old Style"/>
                <a:cs typeface="Bookman Old Style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18</a:t>
            </a:r>
            <a:r>
              <a:rPr dirty="0" sz="1000" spc="-40" b="0" i="1">
                <a:latin typeface="Bookman Old Style"/>
                <a:cs typeface="Bookman Old Style"/>
              </a:rPr>
              <a:t>.</a:t>
            </a:r>
            <a:r>
              <a:rPr dirty="0" sz="1000" spc="-40">
                <a:latin typeface="Georgia"/>
                <a:cs typeface="Georgia"/>
              </a:rPr>
              <a:t>04)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组</a:t>
            </a:r>
            <a:r>
              <a:rPr dirty="0" sz="1050" spc="-5">
                <a:latin typeface="Arial Unicode MS"/>
                <a:cs typeface="Arial Unicode MS"/>
              </a:rPr>
              <a:t>成的混</a:t>
            </a:r>
            <a:r>
              <a:rPr dirty="0" sz="1050" spc="-10">
                <a:latin typeface="Arial Unicode MS"/>
                <a:cs typeface="Arial Unicode MS"/>
              </a:rPr>
              <a:t>合</a:t>
            </a:r>
            <a:r>
              <a:rPr dirty="0" sz="1050" spc="-5">
                <a:latin typeface="Arial Unicode MS"/>
                <a:cs typeface="Arial Unicode MS"/>
              </a:rPr>
              <a:t>离子溶</a:t>
            </a:r>
            <a:r>
              <a:rPr dirty="0" sz="1050" spc="-20">
                <a:latin typeface="Arial Unicode MS"/>
                <a:cs typeface="Arial Unicode MS"/>
              </a:rPr>
              <a:t>液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00" spc="-45">
                <a:latin typeface="Georgia"/>
                <a:cs typeface="Georgia"/>
              </a:rPr>
              <a:t>10.0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4" name="object 10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387" y="161271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4387" y="2194287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73291" y="16127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94387" y="16127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94387" y="2194287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94387" y="16127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94387" y="216831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94387" y="1612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31185" y="2189281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23881" y="216831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23881" y="1612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90982" y="2189281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53858" y="216831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53858" y="1612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90659" y="2189281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83836" y="216831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83836" y="1612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13335" y="216831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13335" y="1612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750134" y="2189281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2.5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43313" y="216831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43313" y="1612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210413" y="2189281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73291" y="216831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73291" y="1612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610090" y="2189281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3.5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94387" y="219428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647319" y="219428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024451" y="2129642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94387" y="1903784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47319" y="190378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024451" y="1839142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94387" y="161328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47319" y="161328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024451" y="1548643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94387" y="1322789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47319" y="132278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94387" y="103228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47319" y="103228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094387" y="74178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47319" y="74178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94387" y="45129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47319" y="45129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94387" y="16127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47319" y="16127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984051" y="96625"/>
            <a:ext cx="106680" cy="1283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16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94387" y="161271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094387" y="2194287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73291" y="16127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094387" y="16127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196177" y="1817217"/>
            <a:ext cx="478155" cy="146050"/>
          </a:xfrm>
          <a:custGeom>
            <a:avLst/>
            <a:gdLst/>
            <a:ahLst/>
            <a:cxnLst/>
            <a:rect l="l" t="t" r="r" b="b"/>
            <a:pathLst>
              <a:path w="478154" h="146050">
                <a:moveTo>
                  <a:pt x="0" y="145724"/>
                </a:moveTo>
                <a:lnTo>
                  <a:pt x="35751" y="127412"/>
                </a:lnTo>
                <a:lnTo>
                  <a:pt x="71721" y="109191"/>
                </a:lnTo>
                <a:lnTo>
                  <a:pt x="108143" y="91922"/>
                </a:lnTo>
                <a:lnTo>
                  <a:pt x="145251" y="76466"/>
                </a:lnTo>
                <a:lnTo>
                  <a:pt x="190619" y="60148"/>
                </a:lnTo>
                <a:lnTo>
                  <a:pt x="237356" y="46172"/>
                </a:lnTo>
                <a:lnTo>
                  <a:pt x="285062" y="34213"/>
                </a:lnTo>
                <a:lnTo>
                  <a:pt x="333338" y="23943"/>
                </a:lnTo>
                <a:lnTo>
                  <a:pt x="381785" y="15035"/>
                </a:lnTo>
                <a:lnTo>
                  <a:pt x="430003" y="7163"/>
                </a:lnTo>
                <a:lnTo>
                  <a:pt x="477592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794099" y="1962942"/>
            <a:ext cx="402590" cy="111760"/>
          </a:xfrm>
          <a:custGeom>
            <a:avLst/>
            <a:gdLst/>
            <a:ahLst/>
            <a:cxnLst/>
            <a:rect l="l" t="t" r="r" b="b"/>
            <a:pathLst>
              <a:path w="402589" h="111760">
                <a:moveTo>
                  <a:pt x="0" y="111586"/>
                </a:moveTo>
                <a:lnTo>
                  <a:pt x="51788" y="102973"/>
                </a:lnTo>
                <a:lnTo>
                  <a:pt x="103430" y="93605"/>
                </a:lnTo>
                <a:lnTo>
                  <a:pt x="154779" y="83097"/>
                </a:lnTo>
                <a:lnTo>
                  <a:pt x="205692" y="71064"/>
                </a:lnTo>
                <a:lnTo>
                  <a:pt x="256023" y="57122"/>
                </a:lnTo>
                <a:lnTo>
                  <a:pt x="305628" y="40887"/>
                </a:lnTo>
                <a:lnTo>
                  <a:pt x="354361" y="21975"/>
                </a:lnTo>
                <a:lnTo>
                  <a:pt x="402078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429050" y="2074523"/>
            <a:ext cx="365125" cy="43815"/>
          </a:xfrm>
          <a:custGeom>
            <a:avLst/>
            <a:gdLst/>
            <a:ahLst/>
            <a:cxnLst/>
            <a:rect l="l" t="t" r="r" b="b"/>
            <a:pathLst>
              <a:path w="365125" h="43814">
                <a:moveTo>
                  <a:pt x="0" y="43292"/>
                </a:moveTo>
                <a:lnTo>
                  <a:pt x="52018" y="38805"/>
                </a:lnTo>
                <a:lnTo>
                  <a:pt x="104244" y="33695"/>
                </a:lnTo>
                <a:lnTo>
                  <a:pt x="156579" y="27995"/>
                </a:lnTo>
                <a:lnTo>
                  <a:pt x="208926" y="21741"/>
                </a:lnTo>
                <a:lnTo>
                  <a:pt x="261185" y="14967"/>
                </a:lnTo>
                <a:lnTo>
                  <a:pt x="313258" y="7709"/>
                </a:lnTo>
                <a:lnTo>
                  <a:pt x="365048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177989" y="2117815"/>
            <a:ext cx="251460" cy="12065"/>
          </a:xfrm>
          <a:custGeom>
            <a:avLst/>
            <a:gdLst/>
            <a:ahLst/>
            <a:cxnLst/>
            <a:rect l="l" t="t" r="r" b="b"/>
            <a:pathLst>
              <a:path w="251460" h="12064">
                <a:moveTo>
                  <a:pt x="0" y="11543"/>
                </a:moveTo>
                <a:lnTo>
                  <a:pt x="50229" y="9972"/>
                </a:lnTo>
                <a:lnTo>
                  <a:pt x="100621" y="8384"/>
                </a:lnTo>
                <a:lnTo>
                  <a:pt x="151004" y="6428"/>
                </a:lnTo>
                <a:lnTo>
                  <a:pt x="201208" y="3750"/>
                </a:lnTo>
                <a:lnTo>
                  <a:pt x="251060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727811" y="2129358"/>
            <a:ext cx="450215" cy="13970"/>
          </a:xfrm>
          <a:custGeom>
            <a:avLst/>
            <a:gdLst/>
            <a:ahLst/>
            <a:cxnLst/>
            <a:rect l="l" t="t" r="r" b="b"/>
            <a:pathLst>
              <a:path w="450214" h="13969">
                <a:moveTo>
                  <a:pt x="0" y="13943"/>
                </a:moveTo>
                <a:lnTo>
                  <a:pt x="49994" y="12221"/>
                </a:lnTo>
                <a:lnTo>
                  <a:pt x="100003" y="10580"/>
                </a:lnTo>
                <a:lnTo>
                  <a:pt x="150024" y="9003"/>
                </a:lnTo>
                <a:lnTo>
                  <a:pt x="200053" y="7476"/>
                </a:lnTo>
                <a:lnTo>
                  <a:pt x="250086" y="5980"/>
                </a:lnTo>
                <a:lnTo>
                  <a:pt x="300118" y="4501"/>
                </a:lnTo>
                <a:lnTo>
                  <a:pt x="350147" y="3022"/>
                </a:lnTo>
                <a:lnTo>
                  <a:pt x="400168" y="1527"/>
                </a:lnTo>
                <a:lnTo>
                  <a:pt x="450178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550337" y="2143302"/>
            <a:ext cx="177800" cy="6350"/>
          </a:xfrm>
          <a:custGeom>
            <a:avLst/>
            <a:gdLst/>
            <a:ahLst/>
            <a:cxnLst/>
            <a:rect l="l" t="t" r="r" b="b"/>
            <a:pathLst>
              <a:path w="177800" h="6350">
                <a:moveTo>
                  <a:pt x="0" y="6256"/>
                </a:moveTo>
                <a:lnTo>
                  <a:pt x="1442" y="6256"/>
                </a:lnTo>
                <a:lnTo>
                  <a:pt x="1921" y="5771"/>
                </a:lnTo>
                <a:lnTo>
                  <a:pt x="3843" y="5771"/>
                </a:lnTo>
                <a:lnTo>
                  <a:pt x="5286" y="5771"/>
                </a:lnTo>
                <a:lnTo>
                  <a:pt x="6729" y="5771"/>
                </a:lnTo>
                <a:lnTo>
                  <a:pt x="8172" y="5771"/>
                </a:lnTo>
                <a:lnTo>
                  <a:pt x="12922" y="6106"/>
                </a:lnTo>
                <a:lnTo>
                  <a:pt x="14544" y="5136"/>
                </a:lnTo>
                <a:lnTo>
                  <a:pt x="18757" y="5292"/>
                </a:lnTo>
                <a:lnTo>
                  <a:pt x="26702" y="5119"/>
                </a:lnTo>
                <a:lnTo>
                  <a:pt x="34629" y="4821"/>
                </a:lnTo>
                <a:lnTo>
                  <a:pt x="42555" y="4517"/>
                </a:lnTo>
                <a:lnTo>
                  <a:pt x="50500" y="4328"/>
                </a:lnTo>
                <a:lnTo>
                  <a:pt x="82178" y="3119"/>
                </a:lnTo>
                <a:lnTo>
                  <a:pt x="113926" y="2006"/>
                </a:lnTo>
                <a:lnTo>
                  <a:pt x="145705" y="972"/>
                </a:lnTo>
                <a:lnTo>
                  <a:pt x="177474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502237" y="2149558"/>
            <a:ext cx="48260" cy="1905"/>
          </a:xfrm>
          <a:custGeom>
            <a:avLst/>
            <a:gdLst/>
            <a:ahLst/>
            <a:cxnLst/>
            <a:rect l="l" t="t" r="r" b="b"/>
            <a:pathLst>
              <a:path w="48259" h="1905">
                <a:moveTo>
                  <a:pt x="0" y="1442"/>
                </a:moveTo>
                <a:lnTo>
                  <a:pt x="0" y="1442"/>
                </a:lnTo>
                <a:lnTo>
                  <a:pt x="9621" y="1442"/>
                </a:lnTo>
                <a:lnTo>
                  <a:pt x="10100" y="958"/>
                </a:lnTo>
                <a:lnTo>
                  <a:pt x="22607" y="958"/>
                </a:lnTo>
                <a:lnTo>
                  <a:pt x="23086" y="479"/>
                </a:lnTo>
                <a:lnTo>
                  <a:pt x="36071" y="479"/>
                </a:lnTo>
                <a:lnTo>
                  <a:pt x="36556" y="0"/>
                </a:lnTo>
                <a:lnTo>
                  <a:pt x="45854" y="0"/>
                </a:lnTo>
                <a:lnTo>
                  <a:pt x="48099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51220" y="2151001"/>
            <a:ext cx="151130" cy="6350"/>
          </a:xfrm>
          <a:custGeom>
            <a:avLst/>
            <a:gdLst/>
            <a:ahLst/>
            <a:cxnLst/>
            <a:rect l="l" t="t" r="r" b="b"/>
            <a:pathLst>
              <a:path w="151130" h="6350">
                <a:moveTo>
                  <a:pt x="0" y="5771"/>
                </a:moveTo>
                <a:lnTo>
                  <a:pt x="27065" y="4932"/>
                </a:lnTo>
                <a:lnTo>
                  <a:pt x="54142" y="3835"/>
                </a:lnTo>
                <a:lnTo>
                  <a:pt x="81202" y="2744"/>
                </a:lnTo>
                <a:lnTo>
                  <a:pt x="108215" y="1921"/>
                </a:lnTo>
                <a:lnTo>
                  <a:pt x="111736" y="1419"/>
                </a:lnTo>
                <a:lnTo>
                  <a:pt x="112157" y="1356"/>
                </a:lnTo>
                <a:lnTo>
                  <a:pt x="115909" y="1442"/>
                </a:lnTo>
                <a:lnTo>
                  <a:pt x="121680" y="1442"/>
                </a:lnTo>
                <a:lnTo>
                  <a:pt x="122644" y="958"/>
                </a:lnTo>
                <a:lnTo>
                  <a:pt x="126811" y="958"/>
                </a:lnTo>
                <a:lnTo>
                  <a:pt x="130978" y="958"/>
                </a:lnTo>
                <a:lnTo>
                  <a:pt x="135145" y="958"/>
                </a:lnTo>
                <a:lnTo>
                  <a:pt x="136109" y="479"/>
                </a:lnTo>
                <a:lnTo>
                  <a:pt x="148131" y="479"/>
                </a:lnTo>
                <a:lnTo>
                  <a:pt x="148616" y="0"/>
                </a:lnTo>
                <a:lnTo>
                  <a:pt x="151017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14103" y="2156773"/>
            <a:ext cx="237490" cy="10795"/>
          </a:xfrm>
          <a:custGeom>
            <a:avLst/>
            <a:gdLst/>
            <a:ahLst/>
            <a:cxnLst/>
            <a:rect l="l" t="t" r="r" b="b"/>
            <a:pathLst>
              <a:path w="237490" h="10794">
                <a:moveTo>
                  <a:pt x="0" y="10579"/>
                </a:moveTo>
                <a:lnTo>
                  <a:pt x="47435" y="8432"/>
                </a:lnTo>
                <a:lnTo>
                  <a:pt x="94876" y="6339"/>
                </a:lnTo>
                <a:lnTo>
                  <a:pt x="142311" y="4260"/>
                </a:lnTo>
                <a:lnTo>
                  <a:pt x="189729" y="2160"/>
                </a:lnTo>
                <a:lnTo>
                  <a:pt x="237116" y="0"/>
                </a:lnTo>
              </a:path>
            </a:pathLst>
          </a:custGeom>
          <a:ln w="1154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196177" y="1455049"/>
            <a:ext cx="478155" cy="151765"/>
          </a:xfrm>
          <a:custGeom>
            <a:avLst/>
            <a:gdLst/>
            <a:ahLst/>
            <a:cxnLst/>
            <a:rect l="l" t="t" r="r" b="b"/>
            <a:pathLst>
              <a:path w="478154" h="151765">
                <a:moveTo>
                  <a:pt x="0" y="151502"/>
                </a:moveTo>
                <a:lnTo>
                  <a:pt x="35654" y="131564"/>
                </a:lnTo>
                <a:lnTo>
                  <a:pt x="71476" y="112188"/>
                </a:lnTo>
                <a:lnTo>
                  <a:pt x="107873" y="93951"/>
                </a:lnTo>
                <a:lnTo>
                  <a:pt x="145251" y="77436"/>
                </a:lnTo>
                <a:lnTo>
                  <a:pt x="191047" y="60875"/>
                </a:lnTo>
                <a:lnTo>
                  <a:pt x="237752" y="46681"/>
                </a:lnTo>
                <a:lnTo>
                  <a:pt x="285155" y="34534"/>
                </a:lnTo>
                <a:lnTo>
                  <a:pt x="333050" y="24113"/>
                </a:lnTo>
                <a:lnTo>
                  <a:pt x="381226" y="15097"/>
                </a:lnTo>
                <a:lnTo>
                  <a:pt x="429477" y="7166"/>
                </a:lnTo>
                <a:lnTo>
                  <a:pt x="477592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794099" y="1606557"/>
            <a:ext cx="402590" cy="151765"/>
          </a:xfrm>
          <a:custGeom>
            <a:avLst/>
            <a:gdLst/>
            <a:ahLst/>
            <a:cxnLst/>
            <a:rect l="l" t="t" r="r" b="b"/>
            <a:pathLst>
              <a:path w="402589" h="151764">
                <a:moveTo>
                  <a:pt x="0" y="151496"/>
                </a:moveTo>
                <a:lnTo>
                  <a:pt x="46005" y="137462"/>
                </a:lnTo>
                <a:lnTo>
                  <a:pt x="91843" y="123427"/>
                </a:lnTo>
                <a:lnTo>
                  <a:pt x="137445" y="109094"/>
                </a:lnTo>
                <a:lnTo>
                  <a:pt x="182738" y="94160"/>
                </a:lnTo>
                <a:lnTo>
                  <a:pt x="227651" y="78327"/>
                </a:lnTo>
                <a:lnTo>
                  <a:pt x="272112" y="61294"/>
                </a:lnTo>
                <a:lnTo>
                  <a:pt x="316052" y="42762"/>
                </a:lnTo>
                <a:lnTo>
                  <a:pt x="359397" y="22430"/>
                </a:lnTo>
                <a:lnTo>
                  <a:pt x="402078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429050" y="1758059"/>
            <a:ext cx="365125" cy="150495"/>
          </a:xfrm>
          <a:custGeom>
            <a:avLst/>
            <a:gdLst/>
            <a:ahLst/>
            <a:cxnLst/>
            <a:rect l="l" t="t" r="r" b="b"/>
            <a:pathLst>
              <a:path w="365125" h="150494">
                <a:moveTo>
                  <a:pt x="0" y="150053"/>
                </a:moveTo>
                <a:lnTo>
                  <a:pt x="41792" y="124085"/>
                </a:lnTo>
                <a:lnTo>
                  <a:pt x="85425" y="101031"/>
                </a:lnTo>
                <a:lnTo>
                  <a:pt x="130528" y="80465"/>
                </a:lnTo>
                <a:lnTo>
                  <a:pt x="176728" y="61958"/>
                </a:lnTo>
                <a:lnTo>
                  <a:pt x="223652" y="45085"/>
                </a:lnTo>
                <a:lnTo>
                  <a:pt x="270928" y="29419"/>
                </a:lnTo>
                <a:lnTo>
                  <a:pt x="318184" y="14533"/>
                </a:lnTo>
                <a:lnTo>
                  <a:pt x="365048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177989" y="1908113"/>
            <a:ext cx="251460" cy="134620"/>
          </a:xfrm>
          <a:custGeom>
            <a:avLst/>
            <a:gdLst/>
            <a:ahLst/>
            <a:cxnLst/>
            <a:rect l="l" t="t" r="r" b="b"/>
            <a:pathLst>
              <a:path w="251460" h="134619">
                <a:moveTo>
                  <a:pt x="0" y="134187"/>
                </a:moveTo>
                <a:lnTo>
                  <a:pt x="38108" y="121506"/>
                </a:lnTo>
                <a:lnTo>
                  <a:pt x="75582" y="107002"/>
                </a:lnTo>
                <a:lnTo>
                  <a:pt x="112058" y="90219"/>
                </a:lnTo>
                <a:lnTo>
                  <a:pt x="147173" y="70701"/>
                </a:lnTo>
                <a:lnTo>
                  <a:pt x="199578" y="36127"/>
                </a:lnTo>
                <a:lnTo>
                  <a:pt x="225224" y="17871"/>
                </a:lnTo>
                <a:lnTo>
                  <a:pt x="251060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727811" y="2042300"/>
            <a:ext cx="450215" cy="84455"/>
          </a:xfrm>
          <a:custGeom>
            <a:avLst/>
            <a:gdLst/>
            <a:ahLst/>
            <a:cxnLst/>
            <a:rect l="l" t="t" r="r" b="b"/>
            <a:pathLst>
              <a:path w="450214" h="84455">
                <a:moveTo>
                  <a:pt x="0" y="84171"/>
                </a:moveTo>
                <a:lnTo>
                  <a:pt x="50104" y="77323"/>
                </a:lnTo>
                <a:lnTo>
                  <a:pt x="100498" y="70271"/>
                </a:lnTo>
                <a:lnTo>
                  <a:pt x="151048" y="62834"/>
                </a:lnTo>
                <a:lnTo>
                  <a:pt x="201621" y="54831"/>
                </a:lnTo>
                <a:lnTo>
                  <a:pt x="252084" y="46081"/>
                </a:lnTo>
                <a:lnTo>
                  <a:pt x="302304" y="36405"/>
                </a:lnTo>
                <a:lnTo>
                  <a:pt x="352148" y="25619"/>
                </a:lnTo>
                <a:lnTo>
                  <a:pt x="401484" y="13544"/>
                </a:lnTo>
                <a:lnTo>
                  <a:pt x="450178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550337" y="2126472"/>
            <a:ext cx="177800" cy="21590"/>
          </a:xfrm>
          <a:custGeom>
            <a:avLst/>
            <a:gdLst/>
            <a:ahLst/>
            <a:cxnLst/>
            <a:rect l="l" t="t" r="r" b="b"/>
            <a:pathLst>
              <a:path w="177800" h="21589">
                <a:moveTo>
                  <a:pt x="0" y="21158"/>
                </a:moveTo>
                <a:lnTo>
                  <a:pt x="479" y="20679"/>
                </a:lnTo>
                <a:lnTo>
                  <a:pt x="3843" y="20679"/>
                </a:lnTo>
                <a:lnTo>
                  <a:pt x="4328" y="20200"/>
                </a:lnTo>
                <a:lnTo>
                  <a:pt x="8172" y="20200"/>
                </a:lnTo>
                <a:lnTo>
                  <a:pt x="9136" y="19715"/>
                </a:lnTo>
                <a:lnTo>
                  <a:pt x="12985" y="19715"/>
                </a:lnTo>
                <a:lnTo>
                  <a:pt x="13943" y="19236"/>
                </a:lnTo>
                <a:lnTo>
                  <a:pt x="16829" y="19236"/>
                </a:lnTo>
                <a:lnTo>
                  <a:pt x="17793" y="18757"/>
                </a:lnTo>
                <a:lnTo>
                  <a:pt x="18757" y="18757"/>
                </a:lnTo>
                <a:lnTo>
                  <a:pt x="26625" y="17935"/>
                </a:lnTo>
                <a:lnTo>
                  <a:pt x="34613" y="16994"/>
                </a:lnTo>
                <a:lnTo>
                  <a:pt x="42610" y="16092"/>
                </a:lnTo>
                <a:lnTo>
                  <a:pt x="50500" y="15386"/>
                </a:lnTo>
                <a:lnTo>
                  <a:pt x="63159" y="13685"/>
                </a:lnTo>
                <a:lnTo>
                  <a:pt x="75938" y="12203"/>
                </a:lnTo>
                <a:lnTo>
                  <a:pt x="88744" y="10750"/>
                </a:lnTo>
                <a:lnTo>
                  <a:pt x="101480" y="9136"/>
                </a:lnTo>
                <a:lnTo>
                  <a:pt x="120437" y="6995"/>
                </a:lnTo>
                <a:lnTo>
                  <a:pt x="139470" y="4561"/>
                </a:lnTo>
                <a:lnTo>
                  <a:pt x="158507" y="2131"/>
                </a:lnTo>
                <a:lnTo>
                  <a:pt x="177474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502237" y="2147630"/>
            <a:ext cx="48260" cy="3810"/>
          </a:xfrm>
          <a:custGeom>
            <a:avLst/>
            <a:gdLst/>
            <a:ahLst/>
            <a:cxnLst/>
            <a:rect l="l" t="t" r="r" b="b"/>
            <a:pathLst>
              <a:path w="48259" h="3810">
                <a:moveTo>
                  <a:pt x="0" y="3370"/>
                </a:moveTo>
                <a:lnTo>
                  <a:pt x="0" y="3370"/>
                </a:lnTo>
                <a:lnTo>
                  <a:pt x="9621" y="3370"/>
                </a:lnTo>
                <a:lnTo>
                  <a:pt x="10100" y="2885"/>
                </a:lnTo>
                <a:lnTo>
                  <a:pt x="21643" y="2885"/>
                </a:lnTo>
                <a:lnTo>
                  <a:pt x="22127" y="2406"/>
                </a:lnTo>
                <a:lnTo>
                  <a:pt x="23570" y="2406"/>
                </a:lnTo>
                <a:lnTo>
                  <a:pt x="27789" y="2626"/>
                </a:lnTo>
                <a:lnTo>
                  <a:pt x="24575" y="1679"/>
                </a:lnTo>
                <a:lnTo>
                  <a:pt x="29342" y="1927"/>
                </a:lnTo>
                <a:lnTo>
                  <a:pt x="30785" y="1927"/>
                </a:lnTo>
                <a:lnTo>
                  <a:pt x="31264" y="1442"/>
                </a:lnTo>
                <a:lnTo>
                  <a:pt x="35113" y="1442"/>
                </a:lnTo>
                <a:lnTo>
                  <a:pt x="35592" y="963"/>
                </a:lnTo>
                <a:lnTo>
                  <a:pt x="36556" y="963"/>
                </a:lnTo>
                <a:lnTo>
                  <a:pt x="37514" y="963"/>
                </a:lnTo>
                <a:lnTo>
                  <a:pt x="38478" y="963"/>
                </a:lnTo>
                <a:lnTo>
                  <a:pt x="39442" y="963"/>
                </a:lnTo>
                <a:lnTo>
                  <a:pt x="39921" y="484"/>
                </a:lnTo>
                <a:lnTo>
                  <a:pt x="43771" y="484"/>
                </a:lnTo>
                <a:lnTo>
                  <a:pt x="44250" y="0"/>
                </a:lnTo>
                <a:lnTo>
                  <a:pt x="45531" y="0"/>
                </a:lnTo>
                <a:lnTo>
                  <a:pt x="46818" y="0"/>
                </a:lnTo>
                <a:lnTo>
                  <a:pt x="48099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51220" y="2151001"/>
            <a:ext cx="151130" cy="6350"/>
          </a:xfrm>
          <a:custGeom>
            <a:avLst/>
            <a:gdLst/>
            <a:ahLst/>
            <a:cxnLst/>
            <a:rect l="l" t="t" r="r" b="b"/>
            <a:pathLst>
              <a:path w="151130" h="6350">
                <a:moveTo>
                  <a:pt x="0" y="5771"/>
                </a:moveTo>
                <a:lnTo>
                  <a:pt x="27065" y="4932"/>
                </a:lnTo>
                <a:lnTo>
                  <a:pt x="54142" y="3835"/>
                </a:lnTo>
                <a:lnTo>
                  <a:pt x="81202" y="2744"/>
                </a:lnTo>
                <a:lnTo>
                  <a:pt x="108215" y="1921"/>
                </a:lnTo>
                <a:lnTo>
                  <a:pt x="111736" y="1419"/>
                </a:lnTo>
                <a:lnTo>
                  <a:pt x="112157" y="1356"/>
                </a:lnTo>
                <a:lnTo>
                  <a:pt x="115909" y="1442"/>
                </a:lnTo>
                <a:lnTo>
                  <a:pt x="121680" y="1442"/>
                </a:lnTo>
                <a:lnTo>
                  <a:pt x="122644" y="958"/>
                </a:lnTo>
                <a:lnTo>
                  <a:pt x="126811" y="958"/>
                </a:lnTo>
                <a:lnTo>
                  <a:pt x="130978" y="958"/>
                </a:lnTo>
                <a:lnTo>
                  <a:pt x="135145" y="958"/>
                </a:lnTo>
                <a:lnTo>
                  <a:pt x="136109" y="479"/>
                </a:lnTo>
                <a:lnTo>
                  <a:pt x="148131" y="479"/>
                </a:lnTo>
                <a:lnTo>
                  <a:pt x="148616" y="0"/>
                </a:lnTo>
                <a:lnTo>
                  <a:pt x="151017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114103" y="2156773"/>
            <a:ext cx="237490" cy="10795"/>
          </a:xfrm>
          <a:custGeom>
            <a:avLst/>
            <a:gdLst/>
            <a:ahLst/>
            <a:cxnLst/>
            <a:rect l="l" t="t" r="r" b="b"/>
            <a:pathLst>
              <a:path w="237490" h="10794">
                <a:moveTo>
                  <a:pt x="0" y="10579"/>
                </a:moveTo>
                <a:lnTo>
                  <a:pt x="47435" y="8432"/>
                </a:lnTo>
                <a:lnTo>
                  <a:pt x="94876" y="6339"/>
                </a:lnTo>
                <a:lnTo>
                  <a:pt x="142311" y="4260"/>
                </a:lnTo>
                <a:lnTo>
                  <a:pt x="189729" y="2160"/>
                </a:lnTo>
                <a:lnTo>
                  <a:pt x="237116" y="0"/>
                </a:lnTo>
              </a:path>
            </a:pathLst>
          </a:custGeom>
          <a:ln w="11543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196177" y="389240"/>
            <a:ext cx="478155" cy="151765"/>
          </a:xfrm>
          <a:custGeom>
            <a:avLst/>
            <a:gdLst/>
            <a:ahLst/>
            <a:cxnLst/>
            <a:rect l="l" t="t" r="r" b="b"/>
            <a:pathLst>
              <a:path w="478154" h="151765">
                <a:moveTo>
                  <a:pt x="0" y="151508"/>
                </a:moveTo>
                <a:lnTo>
                  <a:pt x="35566" y="131564"/>
                </a:lnTo>
                <a:lnTo>
                  <a:pt x="71448" y="112130"/>
                </a:lnTo>
                <a:lnTo>
                  <a:pt x="107919" y="93866"/>
                </a:lnTo>
                <a:lnTo>
                  <a:pt x="145251" y="77436"/>
                </a:lnTo>
                <a:lnTo>
                  <a:pt x="190840" y="60893"/>
                </a:lnTo>
                <a:lnTo>
                  <a:pt x="237542" y="46662"/>
                </a:lnTo>
                <a:lnTo>
                  <a:pt x="285065" y="34453"/>
                </a:lnTo>
                <a:lnTo>
                  <a:pt x="333122" y="23973"/>
                </a:lnTo>
                <a:lnTo>
                  <a:pt x="381422" y="14932"/>
                </a:lnTo>
                <a:lnTo>
                  <a:pt x="429675" y="7038"/>
                </a:lnTo>
                <a:lnTo>
                  <a:pt x="477592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794099" y="540748"/>
            <a:ext cx="402590" cy="151765"/>
          </a:xfrm>
          <a:custGeom>
            <a:avLst/>
            <a:gdLst/>
            <a:ahLst/>
            <a:cxnLst/>
            <a:rect l="l" t="t" r="r" b="b"/>
            <a:pathLst>
              <a:path w="402589" h="151765">
                <a:moveTo>
                  <a:pt x="0" y="151502"/>
                </a:moveTo>
                <a:lnTo>
                  <a:pt x="45728" y="137622"/>
                </a:lnTo>
                <a:lnTo>
                  <a:pt x="91503" y="123627"/>
                </a:lnTo>
                <a:lnTo>
                  <a:pt x="137190" y="109249"/>
                </a:lnTo>
                <a:lnTo>
                  <a:pt x="182657" y="94222"/>
                </a:lnTo>
                <a:lnTo>
                  <a:pt x="227774" y="78279"/>
                </a:lnTo>
                <a:lnTo>
                  <a:pt x="272406" y="61152"/>
                </a:lnTo>
                <a:lnTo>
                  <a:pt x="316422" y="42574"/>
                </a:lnTo>
                <a:lnTo>
                  <a:pt x="359690" y="22279"/>
                </a:lnTo>
                <a:lnTo>
                  <a:pt x="402078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429050" y="692251"/>
            <a:ext cx="365125" cy="152400"/>
          </a:xfrm>
          <a:custGeom>
            <a:avLst/>
            <a:gdLst/>
            <a:ahLst/>
            <a:cxnLst/>
            <a:rect l="l" t="t" r="r" b="b"/>
            <a:pathLst>
              <a:path w="365125" h="152400">
                <a:moveTo>
                  <a:pt x="0" y="151981"/>
                </a:moveTo>
                <a:lnTo>
                  <a:pt x="41941" y="125334"/>
                </a:lnTo>
                <a:lnTo>
                  <a:pt x="85525" y="101872"/>
                </a:lnTo>
                <a:lnTo>
                  <a:pt x="130458" y="81097"/>
                </a:lnTo>
                <a:lnTo>
                  <a:pt x="176444" y="62506"/>
                </a:lnTo>
                <a:lnTo>
                  <a:pt x="223190" y="45602"/>
                </a:lnTo>
                <a:lnTo>
                  <a:pt x="270403" y="29882"/>
                </a:lnTo>
                <a:lnTo>
                  <a:pt x="317786" y="14848"/>
                </a:lnTo>
                <a:lnTo>
                  <a:pt x="365048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177989" y="844232"/>
            <a:ext cx="251460" cy="150495"/>
          </a:xfrm>
          <a:custGeom>
            <a:avLst/>
            <a:gdLst/>
            <a:ahLst/>
            <a:cxnLst/>
            <a:rect l="l" t="t" r="r" b="b"/>
            <a:pathLst>
              <a:path w="251460" h="150494">
                <a:moveTo>
                  <a:pt x="0" y="150059"/>
                </a:moveTo>
                <a:lnTo>
                  <a:pt x="37945" y="134192"/>
                </a:lnTo>
                <a:lnTo>
                  <a:pt x="75636" y="116481"/>
                </a:lnTo>
                <a:lnTo>
                  <a:pt x="112302" y="96801"/>
                </a:lnTo>
                <a:lnTo>
                  <a:pt x="147173" y="75029"/>
                </a:lnTo>
                <a:lnTo>
                  <a:pt x="199383" y="37990"/>
                </a:lnTo>
                <a:lnTo>
                  <a:pt x="225106" y="18760"/>
                </a:lnTo>
                <a:lnTo>
                  <a:pt x="251060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727811" y="994291"/>
            <a:ext cx="450215" cy="157480"/>
          </a:xfrm>
          <a:custGeom>
            <a:avLst/>
            <a:gdLst/>
            <a:ahLst/>
            <a:cxnLst/>
            <a:rect l="l" t="t" r="r" b="b"/>
            <a:pathLst>
              <a:path w="450214" h="157480">
                <a:moveTo>
                  <a:pt x="0" y="157273"/>
                </a:moveTo>
                <a:lnTo>
                  <a:pt x="48864" y="137360"/>
                </a:lnTo>
                <a:lnTo>
                  <a:pt x="98468" y="119011"/>
                </a:lnTo>
                <a:lnTo>
                  <a:pt x="148617" y="101816"/>
                </a:lnTo>
                <a:lnTo>
                  <a:pt x="199120" y="85367"/>
                </a:lnTo>
                <a:lnTo>
                  <a:pt x="249783" y="69255"/>
                </a:lnTo>
                <a:lnTo>
                  <a:pt x="300413" y="53071"/>
                </a:lnTo>
                <a:lnTo>
                  <a:pt x="350818" y="36407"/>
                </a:lnTo>
                <a:lnTo>
                  <a:pt x="400804" y="18852"/>
                </a:lnTo>
                <a:lnTo>
                  <a:pt x="450178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550337" y="1151565"/>
            <a:ext cx="177800" cy="149860"/>
          </a:xfrm>
          <a:custGeom>
            <a:avLst/>
            <a:gdLst/>
            <a:ahLst/>
            <a:cxnLst/>
            <a:rect l="l" t="t" r="r" b="b"/>
            <a:pathLst>
              <a:path w="177800" h="149859">
                <a:moveTo>
                  <a:pt x="0" y="149580"/>
                </a:moveTo>
                <a:lnTo>
                  <a:pt x="23161" y="107646"/>
                </a:lnTo>
                <a:lnTo>
                  <a:pt x="54822" y="72910"/>
                </a:lnTo>
                <a:lnTo>
                  <a:pt x="92649" y="44182"/>
                </a:lnTo>
                <a:lnTo>
                  <a:pt x="134310" y="20275"/>
                </a:lnTo>
                <a:lnTo>
                  <a:pt x="177474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520516" y="1301145"/>
            <a:ext cx="29845" cy="505459"/>
          </a:xfrm>
          <a:custGeom>
            <a:avLst/>
            <a:gdLst/>
            <a:ahLst/>
            <a:cxnLst/>
            <a:rect l="l" t="t" r="r" b="b"/>
            <a:pathLst>
              <a:path w="29844" h="505460">
                <a:moveTo>
                  <a:pt x="0" y="505007"/>
                </a:moveTo>
                <a:lnTo>
                  <a:pt x="0" y="497793"/>
                </a:lnTo>
                <a:lnTo>
                  <a:pt x="479" y="496350"/>
                </a:lnTo>
                <a:lnTo>
                  <a:pt x="479" y="487693"/>
                </a:lnTo>
                <a:lnTo>
                  <a:pt x="963" y="486250"/>
                </a:lnTo>
                <a:lnTo>
                  <a:pt x="963" y="475665"/>
                </a:lnTo>
                <a:lnTo>
                  <a:pt x="1442" y="474222"/>
                </a:lnTo>
                <a:lnTo>
                  <a:pt x="1442" y="459793"/>
                </a:lnTo>
                <a:lnTo>
                  <a:pt x="1921" y="458350"/>
                </a:lnTo>
                <a:lnTo>
                  <a:pt x="1921" y="441036"/>
                </a:lnTo>
                <a:lnTo>
                  <a:pt x="2406" y="439593"/>
                </a:lnTo>
                <a:lnTo>
                  <a:pt x="2406" y="413621"/>
                </a:lnTo>
                <a:lnTo>
                  <a:pt x="2885" y="412178"/>
                </a:lnTo>
                <a:lnTo>
                  <a:pt x="2885" y="366970"/>
                </a:lnTo>
                <a:lnTo>
                  <a:pt x="3364" y="365527"/>
                </a:lnTo>
                <a:lnTo>
                  <a:pt x="3364" y="290018"/>
                </a:lnTo>
                <a:lnTo>
                  <a:pt x="3849" y="288575"/>
                </a:lnTo>
                <a:lnTo>
                  <a:pt x="3849" y="233261"/>
                </a:lnTo>
                <a:lnTo>
                  <a:pt x="4328" y="231818"/>
                </a:lnTo>
                <a:lnTo>
                  <a:pt x="4328" y="201518"/>
                </a:lnTo>
                <a:lnTo>
                  <a:pt x="4807" y="200075"/>
                </a:lnTo>
                <a:lnTo>
                  <a:pt x="4807" y="179875"/>
                </a:lnTo>
                <a:lnTo>
                  <a:pt x="5292" y="178432"/>
                </a:lnTo>
                <a:lnTo>
                  <a:pt x="5292" y="163524"/>
                </a:lnTo>
                <a:lnTo>
                  <a:pt x="5771" y="162081"/>
                </a:lnTo>
                <a:lnTo>
                  <a:pt x="7572" y="119114"/>
                </a:lnTo>
                <a:lnTo>
                  <a:pt x="11543" y="76472"/>
                </a:lnTo>
                <a:lnTo>
                  <a:pt x="12662" y="69656"/>
                </a:lnTo>
                <a:lnTo>
                  <a:pt x="13511" y="62644"/>
                </a:lnTo>
                <a:lnTo>
                  <a:pt x="14428" y="55787"/>
                </a:lnTo>
                <a:lnTo>
                  <a:pt x="15715" y="53011"/>
                </a:lnTo>
                <a:lnTo>
                  <a:pt x="15415" y="49964"/>
                </a:lnTo>
                <a:lnTo>
                  <a:pt x="16350" y="47130"/>
                </a:lnTo>
                <a:lnTo>
                  <a:pt x="16887" y="44267"/>
                </a:lnTo>
                <a:lnTo>
                  <a:pt x="17960" y="39684"/>
                </a:lnTo>
                <a:lnTo>
                  <a:pt x="18278" y="37030"/>
                </a:lnTo>
                <a:lnTo>
                  <a:pt x="20832" y="27445"/>
                </a:lnTo>
                <a:lnTo>
                  <a:pt x="23459" y="18372"/>
                </a:lnTo>
                <a:lnTo>
                  <a:pt x="26380" y="9370"/>
                </a:lnTo>
                <a:lnTo>
                  <a:pt x="29821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473865" y="1806153"/>
            <a:ext cx="46990" cy="167005"/>
          </a:xfrm>
          <a:custGeom>
            <a:avLst/>
            <a:gdLst/>
            <a:ahLst/>
            <a:cxnLst/>
            <a:rect l="l" t="t" r="r" b="b"/>
            <a:pathLst>
              <a:path w="46990" h="167005">
                <a:moveTo>
                  <a:pt x="0" y="166410"/>
                </a:moveTo>
                <a:lnTo>
                  <a:pt x="20255" y="133376"/>
                </a:lnTo>
                <a:lnTo>
                  <a:pt x="33186" y="96672"/>
                </a:lnTo>
                <a:lnTo>
                  <a:pt x="40400" y="60600"/>
                </a:lnTo>
                <a:lnTo>
                  <a:pt x="41826" y="52988"/>
                </a:lnTo>
                <a:lnTo>
                  <a:pt x="42714" y="45265"/>
                </a:lnTo>
                <a:lnTo>
                  <a:pt x="43286" y="37514"/>
                </a:lnTo>
                <a:lnTo>
                  <a:pt x="44204" y="33567"/>
                </a:lnTo>
                <a:lnTo>
                  <a:pt x="44573" y="25821"/>
                </a:lnTo>
                <a:lnTo>
                  <a:pt x="44729" y="21643"/>
                </a:lnTo>
                <a:lnTo>
                  <a:pt x="46097" y="14590"/>
                </a:lnTo>
                <a:lnTo>
                  <a:pt x="45416" y="7070"/>
                </a:lnTo>
                <a:lnTo>
                  <a:pt x="46651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00676" y="1972563"/>
            <a:ext cx="273685" cy="129539"/>
          </a:xfrm>
          <a:custGeom>
            <a:avLst/>
            <a:gdLst/>
            <a:ahLst/>
            <a:cxnLst/>
            <a:rect l="l" t="t" r="r" b="b"/>
            <a:pathLst>
              <a:path w="273684" h="129539">
                <a:moveTo>
                  <a:pt x="0" y="129380"/>
                </a:moveTo>
                <a:lnTo>
                  <a:pt x="45862" y="117462"/>
                </a:lnTo>
                <a:lnTo>
                  <a:pt x="96254" y="102771"/>
                </a:lnTo>
                <a:lnTo>
                  <a:pt x="147680" y="84493"/>
                </a:lnTo>
                <a:lnTo>
                  <a:pt x="196641" y="61814"/>
                </a:lnTo>
                <a:lnTo>
                  <a:pt x="239643" y="33921"/>
                </a:lnTo>
                <a:lnTo>
                  <a:pt x="273188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114103" y="2101943"/>
            <a:ext cx="86995" cy="19050"/>
          </a:xfrm>
          <a:custGeom>
            <a:avLst/>
            <a:gdLst/>
            <a:ahLst/>
            <a:cxnLst/>
            <a:rect l="l" t="t" r="r" b="b"/>
            <a:pathLst>
              <a:path w="86994" h="19050">
                <a:moveTo>
                  <a:pt x="0" y="18757"/>
                </a:moveTo>
                <a:lnTo>
                  <a:pt x="21723" y="14416"/>
                </a:lnTo>
                <a:lnTo>
                  <a:pt x="43375" y="9744"/>
                </a:lnTo>
                <a:lnTo>
                  <a:pt x="64982" y="4889"/>
                </a:lnTo>
                <a:lnTo>
                  <a:pt x="86572" y="0"/>
                </a:lnTo>
              </a:path>
            </a:pathLst>
          </a:custGeom>
          <a:ln w="1154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1260693" y="1416859"/>
            <a:ext cx="21971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750" spc="67">
                <a:latin typeface="Calibri"/>
                <a:cs typeface="Calibri"/>
              </a:rPr>
              <a:t>Pb</a:t>
            </a:r>
            <a:r>
              <a:rPr dirty="0" sz="350" spc="45">
                <a:latin typeface="Times New Roman"/>
                <a:cs typeface="Times New Roman"/>
              </a:rPr>
              <a:t>2+</a:t>
            </a:r>
            <a:r>
              <a:rPr dirty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697800" y="1545757"/>
            <a:ext cx="21971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750" spc="75">
                <a:latin typeface="Calibri"/>
                <a:cs typeface="Calibri"/>
              </a:rPr>
              <a:t>Ca</a:t>
            </a:r>
            <a:r>
              <a:rPr dirty="0" sz="350" spc="50">
                <a:latin typeface="Times New Roman"/>
                <a:cs typeface="Times New Roman"/>
              </a:rPr>
              <a:t>2+</a:t>
            </a:r>
            <a:r>
              <a:rPr dirty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871908" y="1831447"/>
            <a:ext cx="22860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750" spc="37">
                <a:latin typeface="Calibri"/>
                <a:cs typeface="Calibri"/>
              </a:rPr>
              <a:t>Mg</a:t>
            </a:r>
            <a:r>
              <a:rPr dirty="0" sz="350" spc="25">
                <a:latin typeface="Times New Roman"/>
                <a:cs typeface="Times New Roman"/>
              </a:rPr>
              <a:t>2+</a:t>
            </a:r>
            <a:r>
              <a:rPr dirty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66663" y="1081982"/>
            <a:ext cx="117475" cy="191770"/>
          </a:xfrm>
          <a:prstGeom prst="rect">
            <a:avLst/>
          </a:prstGeom>
        </p:spPr>
        <p:txBody>
          <a:bodyPr wrap="square" lIns="0" tIns="101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latin typeface="Times New Roman"/>
                <a:cs typeface="Times New Roman"/>
              </a:rPr>
              <a:t>p[M]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345166" y="2189281"/>
            <a:ext cx="7620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8415">
              <a:lnSpc>
                <a:spcPts val="665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ts val="785"/>
              </a:lnSpc>
            </a:pPr>
            <a:r>
              <a:rPr dirty="0" sz="700" spc="10">
                <a:latin typeface="Symbol"/>
                <a:cs typeface="Symbol"/>
              </a:rPr>
              <a:t></a:t>
            </a:r>
            <a:endParaRPr sz="700">
              <a:latin typeface="Symbol"/>
              <a:cs typeface="Symbo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5044" y="2517968"/>
            <a:ext cx="4106545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55880">
              <a:lnSpc>
                <a:spcPct val="123300"/>
              </a:lnSpc>
              <a:spcBef>
                <a:spcPts val="100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13:</a:t>
            </a:r>
            <a:r>
              <a:rPr dirty="0" sz="1000" spc="20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金</a:t>
            </a:r>
            <a:r>
              <a:rPr dirty="0" sz="1050" spc="-5">
                <a:latin typeface="Arial Unicode MS"/>
                <a:cs typeface="Arial Unicode MS"/>
              </a:rPr>
              <a:t>属离子浓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曲</a:t>
            </a:r>
            <a:r>
              <a:rPr dirty="0" sz="1050" spc="-20">
                <a:latin typeface="Arial Unicode MS"/>
                <a:cs typeface="Arial Unicode MS"/>
              </a:rPr>
              <a:t>线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160">
                <a:latin typeface="Arial Unicode MS"/>
                <a:cs typeface="Arial Unicode MS"/>
              </a:rPr>
              <a:t>以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60">
                <a:latin typeface="Times New Roman"/>
                <a:cs typeface="Times New Roman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由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Ca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45">
                <a:latin typeface="Georgia"/>
                <a:cs typeface="Georgia"/>
              </a:rPr>
              <a:t>10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7)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</a:t>
            </a:r>
            <a:r>
              <a:rPr dirty="0" sz="1000" spc="40">
                <a:latin typeface="Georgia"/>
                <a:cs typeface="Georgia"/>
              </a:rPr>
              <a:t>Mg</a:t>
            </a:r>
            <a:r>
              <a:rPr dirty="0" baseline="27777" sz="1050" spc="60">
                <a:latin typeface="Times New Roman"/>
                <a:cs typeface="Times New Roman"/>
              </a:rPr>
              <a:t>2+</a:t>
            </a:r>
            <a:r>
              <a:rPr dirty="0" sz="1000" spc="4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30">
                <a:latin typeface="Georgia"/>
                <a:cs typeface="Georgia"/>
              </a:rPr>
              <a:t>8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7) </a:t>
            </a:r>
            <a:r>
              <a:rPr dirty="0" sz="1050" spc="160">
                <a:latin typeface="Arial Unicode MS"/>
                <a:cs typeface="Arial Unicode MS"/>
              </a:rPr>
              <a:t>和 </a:t>
            </a:r>
            <a:r>
              <a:rPr dirty="0" sz="1000" spc="-40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Pb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00" spc="125" b="0" i="1">
                <a:latin typeface="Bookman Old Style"/>
                <a:cs typeface="Bookman Old Style"/>
              </a:rPr>
              <a:t>K</a:t>
            </a:r>
            <a:r>
              <a:rPr dirty="0" sz="1000" spc="45" b="0" i="1">
                <a:latin typeface="Bookman Old Style"/>
                <a:cs typeface="Bookman Old Style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18</a:t>
            </a:r>
            <a:r>
              <a:rPr dirty="0" sz="1000" spc="-40" b="0" i="1">
                <a:latin typeface="Bookman Old Style"/>
                <a:cs typeface="Bookman Old Style"/>
              </a:rPr>
              <a:t>.</a:t>
            </a:r>
            <a:r>
              <a:rPr dirty="0" sz="1000" spc="-40">
                <a:latin typeface="Georgia"/>
                <a:cs typeface="Georgia"/>
              </a:rPr>
              <a:t>04)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组</a:t>
            </a:r>
            <a:r>
              <a:rPr dirty="0" sz="1050" spc="-5">
                <a:latin typeface="Arial Unicode MS"/>
                <a:cs typeface="Arial Unicode MS"/>
              </a:rPr>
              <a:t>成的混</a:t>
            </a:r>
            <a:r>
              <a:rPr dirty="0" sz="1050" spc="-10">
                <a:latin typeface="Arial Unicode MS"/>
                <a:cs typeface="Arial Unicode MS"/>
              </a:rPr>
              <a:t>合</a:t>
            </a:r>
            <a:r>
              <a:rPr dirty="0" sz="1050" spc="-5">
                <a:latin typeface="Arial Unicode MS"/>
                <a:cs typeface="Arial Unicode MS"/>
              </a:rPr>
              <a:t>离子溶</a:t>
            </a:r>
            <a:r>
              <a:rPr dirty="0" sz="1050" spc="-20">
                <a:latin typeface="Arial Unicode MS"/>
                <a:cs typeface="Arial Unicode MS"/>
              </a:rPr>
              <a:t>液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00" spc="-45">
                <a:latin typeface="Georgia"/>
                <a:cs typeface="Georgia"/>
              </a:rPr>
              <a:t>7.0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25520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存在其它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位剂</a:t>
            </a:r>
            <a:r>
              <a:rPr dirty="0" sz="1050" spc="160">
                <a:solidFill>
                  <a:srgbClr val="FFFFFF"/>
                </a:solidFill>
                <a:latin typeface="Arial Unicode MS"/>
                <a:cs typeface="Arial Unicode MS"/>
              </a:rPr>
              <a:t>时</a:t>
            </a: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EDTA</a:t>
            </a:r>
            <a:r>
              <a:rPr dirty="0" sz="1000" spc="-1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单一金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属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离子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686307"/>
            <a:ext cx="433070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在体积</a:t>
            </a:r>
            <a:r>
              <a:rPr dirty="0" spc="175"/>
              <a:t>为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200" spc="-5"/>
              <a:t>的溶液中含有分析浓度</a:t>
            </a:r>
            <a:r>
              <a:rPr dirty="0" sz="1200" spc="175"/>
              <a:t>为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baseline="-13888" sz="900">
                <a:latin typeface="Times New Roman"/>
                <a:cs typeface="Times New Roman"/>
              </a:rPr>
              <a:t>0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/>
              <a:t>的金属离</a:t>
            </a:r>
            <a:r>
              <a:rPr dirty="0" sz="1200" spc="175"/>
              <a:t>子</a:t>
            </a:r>
            <a:r>
              <a:rPr dirty="0" sz="1100" spc="-35">
                <a:latin typeface="Georgia"/>
                <a:cs typeface="Georgia"/>
              </a:rPr>
              <a:t>M</a:t>
            </a:r>
            <a:r>
              <a:rPr dirty="0" sz="1200" spc="-235"/>
              <a:t>。</a:t>
            </a:r>
            <a:r>
              <a:rPr dirty="0" sz="1200" spc="-5"/>
              <a:t>在此 溶液中同时还存</a:t>
            </a:r>
            <a:r>
              <a:rPr dirty="0" sz="1200" spc="175"/>
              <a:t>在</a:t>
            </a: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200" spc="-5"/>
              <a:t>种配位</a:t>
            </a:r>
            <a:r>
              <a:rPr dirty="0" sz="1200" spc="-80"/>
              <a:t>剂</a:t>
            </a:r>
            <a:r>
              <a:rPr dirty="0" sz="1200" spc="-25"/>
              <a:t>，</a:t>
            </a:r>
            <a:r>
              <a:rPr dirty="0" sz="1100" spc="-25">
                <a:latin typeface="Georgia"/>
                <a:cs typeface="Georgia"/>
              </a:rPr>
              <a:t>L</a:t>
            </a:r>
            <a:r>
              <a:rPr dirty="0" baseline="-13888" sz="900" spc="-37">
                <a:latin typeface="Times New Roman"/>
                <a:cs typeface="Times New Roman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,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30">
                <a:latin typeface="Georgia"/>
                <a:cs typeface="Georgia"/>
              </a:rPr>
              <a:t>L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,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5">
                <a:latin typeface="Lucida Sans Unicode"/>
                <a:cs typeface="Lucida Sans Unicod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,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25">
                <a:latin typeface="Georgia"/>
                <a:cs typeface="Georgia"/>
              </a:rPr>
              <a:t>L</a:t>
            </a:r>
            <a:r>
              <a:rPr dirty="0" baseline="-13888" sz="900" spc="-37" i="1">
                <a:latin typeface="Arial"/>
                <a:cs typeface="Arial"/>
              </a:rPr>
              <a:t>n</a:t>
            </a:r>
            <a:r>
              <a:rPr dirty="0" sz="1200" spc="-25"/>
              <a:t>，</a:t>
            </a:r>
            <a:r>
              <a:rPr dirty="0" sz="1200" spc="-5"/>
              <a:t>它们的分析浓度分 别</a:t>
            </a:r>
            <a:r>
              <a:rPr dirty="0" sz="1200" spc="175"/>
              <a:t>为</a:t>
            </a: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baseline="-13888" sz="900" spc="7">
                <a:latin typeface="Times New Roman"/>
                <a:cs typeface="Times New Roman"/>
              </a:rPr>
              <a:t>1</a:t>
            </a:r>
            <a:r>
              <a:rPr dirty="0" sz="1100" spc="5" b="0" i="1">
                <a:latin typeface="Bookman Old Style"/>
                <a:cs typeface="Bookman Old Style"/>
              </a:rPr>
              <a:t>,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 b="0" i="1">
                <a:latin typeface="Bookman Old Style"/>
                <a:cs typeface="Bookman Old Style"/>
              </a:rPr>
              <a:t>,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10">
                <a:latin typeface="Lucida Sans Unicode"/>
                <a:cs typeface="Lucida Sans Unicod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,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50" b="0" i="1">
                <a:latin typeface="Bookman Old Style"/>
                <a:cs typeface="Bookman Old Style"/>
              </a:rPr>
              <a:t>c</a:t>
            </a:r>
            <a:r>
              <a:rPr dirty="0" baseline="-13888" sz="900" spc="-75" i="1">
                <a:latin typeface="Arial"/>
                <a:cs typeface="Arial"/>
              </a:rPr>
              <a:t>n</a:t>
            </a:r>
            <a:r>
              <a:rPr dirty="0" sz="1200" spc="-50"/>
              <a:t>，</a:t>
            </a:r>
            <a:r>
              <a:rPr dirty="0" sz="1200" spc="-5"/>
              <a:t>且它们均与金属离</a:t>
            </a:r>
            <a:r>
              <a:rPr dirty="0" sz="1200" spc="175"/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/>
              <a:t>均发</a:t>
            </a:r>
            <a:r>
              <a:rPr dirty="0" sz="1200" spc="175"/>
              <a:t>生</a:t>
            </a:r>
            <a:r>
              <a:rPr dirty="0" sz="1100" spc="35">
                <a:latin typeface="Georgia"/>
                <a:cs typeface="Georgia"/>
              </a:rPr>
              <a:t>1:1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/>
              <a:t>的反</a:t>
            </a:r>
            <a:r>
              <a:rPr dirty="0" sz="1200" spc="-80"/>
              <a:t>应</a:t>
            </a:r>
            <a:r>
              <a:rPr dirty="0" sz="1200" spc="-185"/>
              <a:t>，</a:t>
            </a:r>
            <a:r>
              <a:rPr dirty="0" sz="1200" spc="-5"/>
              <a:t>如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398905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8600" y="1635887"/>
            <a:ext cx="841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Y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60">
                <a:latin typeface="Georgia"/>
                <a:cs typeface="Georgia"/>
              </a:rPr>
              <a:t>MY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1084" y="1542161"/>
            <a:ext cx="751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195" b="0" i="1">
                <a:latin typeface="Bookman Old Style"/>
                <a:cs typeface="Bookman Old Style"/>
              </a:rPr>
              <a:t>K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434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[MY]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6667" y="1752498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4" h="0">
                <a:moveTo>
                  <a:pt x="0" y="0"/>
                </a:moveTo>
                <a:lnTo>
                  <a:pt x="3848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33967" y="1730921"/>
            <a:ext cx="410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50">
                <a:latin typeface="Georgia"/>
                <a:cs typeface="Georgia"/>
              </a:rPr>
              <a:t>][Y]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0429" y="2058085"/>
            <a:ext cx="12192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62990" algn="l"/>
              </a:tabLst>
            </a:pPr>
            <a:r>
              <a:rPr dirty="0" sz="1100" spc="-20">
                <a:latin typeface="Georgia"/>
                <a:cs typeface="Georgia"/>
              </a:rPr>
              <a:t>M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5">
                <a:latin typeface="Georgia"/>
                <a:cs typeface="Georgia"/>
              </a:rPr>
              <a:t>L</a:t>
            </a:r>
            <a:r>
              <a:rPr dirty="0" baseline="-13888" sz="900" spc="52">
                <a:latin typeface="Times New Roman"/>
                <a:cs typeface="Times New Roman"/>
              </a:rPr>
              <a:t>1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ML</a:t>
            </a:r>
            <a:r>
              <a:rPr dirty="0" baseline="-13888" sz="900" spc="22">
                <a:latin typeface="Times New Roman"/>
                <a:cs typeface="Times New Roman"/>
              </a:rPr>
              <a:t>1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8714" y="214149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84513" y="1964359"/>
            <a:ext cx="6584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409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[ML</a:t>
            </a:r>
            <a:r>
              <a:rPr dirty="0" u="sng" baseline="-13888" sz="900" spc="-3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00387" y="223653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71343" y="2153132"/>
            <a:ext cx="4457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[M][L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9219" y="2364028"/>
            <a:ext cx="18497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6349" y="2669971"/>
            <a:ext cx="12433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87120" algn="l"/>
              </a:tabLst>
            </a:pPr>
            <a:r>
              <a:rPr dirty="0" sz="1100" spc="-20">
                <a:latin typeface="Georgia"/>
                <a:cs typeface="Georgia"/>
              </a:rPr>
              <a:t>M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65">
                <a:latin typeface="Georgia"/>
                <a:cs typeface="Georgia"/>
              </a:rPr>
              <a:t>L</a:t>
            </a:r>
            <a:r>
              <a:rPr dirty="0" baseline="-13888" sz="900" spc="97" i="1">
                <a:latin typeface="Arial"/>
                <a:cs typeface="Arial"/>
              </a:rPr>
              <a:t>n</a:t>
            </a:r>
            <a:r>
              <a:rPr dirty="0" baseline="-13888" sz="900" spc="22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ML</a:t>
            </a:r>
            <a:r>
              <a:rPr dirty="0" baseline="-13888" sz="900" spc="60" i="1">
                <a:latin typeface="Arial"/>
                <a:cs typeface="Arial"/>
              </a:rPr>
              <a:t>n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18714" y="2753372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96553" y="2576245"/>
            <a:ext cx="6699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4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[ML</a:t>
            </a:r>
            <a:r>
              <a:rPr dirty="0" u="sng" baseline="-13888" sz="900" spc="-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12427" y="2848406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83382" y="2765006"/>
            <a:ext cx="4578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[M][L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500799"/>
            <a:ext cx="32232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当加入</a:t>
            </a:r>
            <a:r>
              <a:rPr dirty="0" spc="175"/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pc="-5"/>
              <a:t>的体积</a:t>
            </a:r>
            <a:r>
              <a:rPr dirty="0" spc="175"/>
              <a:t>为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r>
              <a:rPr dirty="0" baseline="-13888" sz="900" spc="52" i="1">
                <a:latin typeface="Arial"/>
                <a:cs typeface="Arial"/>
              </a:rPr>
              <a:t> </a:t>
            </a:r>
            <a:r>
              <a:rPr dirty="0" sz="1200" spc="-80"/>
              <a:t>时</a:t>
            </a:r>
            <a:r>
              <a:rPr dirty="0" sz="1200" spc="-185"/>
              <a:t>，</a:t>
            </a:r>
            <a:r>
              <a:rPr dirty="0" sz="1200" spc="-5"/>
              <a:t>质量平衡如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79482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2495791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2483091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845401"/>
            <a:ext cx="50749" cy="16503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839238"/>
            <a:ext cx="4432935" cy="1707514"/>
          </a:xfrm>
          <a:custGeom>
            <a:avLst/>
            <a:gdLst/>
            <a:ahLst/>
            <a:cxnLst/>
            <a:rect l="l" t="t" r="r" b="b"/>
            <a:pathLst>
              <a:path w="4432935" h="1707514">
                <a:moveTo>
                  <a:pt x="4432566" y="0"/>
                </a:moveTo>
                <a:lnTo>
                  <a:pt x="0" y="0"/>
                </a:lnTo>
                <a:lnTo>
                  <a:pt x="0" y="1656552"/>
                </a:lnTo>
                <a:lnTo>
                  <a:pt x="4008" y="1676277"/>
                </a:lnTo>
                <a:lnTo>
                  <a:pt x="14922" y="1692430"/>
                </a:lnTo>
                <a:lnTo>
                  <a:pt x="31075" y="1703344"/>
                </a:lnTo>
                <a:lnTo>
                  <a:pt x="50800" y="1707353"/>
                </a:lnTo>
                <a:lnTo>
                  <a:pt x="4381765" y="1707353"/>
                </a:lnTo>
                <a:lnTo>
                  <a:pt x="4401490" y="1703344"/>
                </a:lnTo>
                <a:lnTo>
                  <a:pt x="4417643" y="1692430"/>
                </a:lnTo>
                <a:lnTo>
                  <a:pt x="4428558" y="1676277"/>
                </a:lnTo>
                <a:lnTo>
                  <a:pt x="4432566" y="1656552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883475"/>
            <a:ext cx="0" cy="1631950"/>
          </a:xfrm>
          <a:custGeom>
            <a:avLst/>
            <a:gdLst/>
            <a:ahLst/>
            <a:cxnLst/>
            <a:rect l="l" t="t" r="r" b="b"/>
            <a:pathLst>
              <a:path w="0" h="1631950">
                <a:moveTo>
                  <a:pt x="0" y="1631365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87077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85807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84537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527363" y="953262"/>
            <a:ext cx="882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55" i="1">
                <a:latin typeface="Lucida Sans"/>
                <a:cs typeface="Lucida Sans"/>
              </a:rPr>
              <a:t>n</a:t>
            </a:r>
            <a:endParaRPr sz="7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7254" y="953249"/>
            <a:ext cx="20827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34">
                <a:latin typeface="Arial Unicode MS"/>
                <a:cs typeface="Arial Unicode MS"/>
              </a:rPr>
              <a:t>区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76677" y="1260703"/>
            <a:ext cx="1898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75" i="1">
                <a:latin typeface="Lucida Sans"/>
                <a:cs typeface="Lucida Sans"/>
              </a:rPr>
              <a:t>i</a:t>
            </a:r>
            <a:r>
              <a:rPr dirty="0" sz="700" spc="130">
                <a:latin typeface="Times New Roman"/>
                <a:cs typeface="Times New Roman"/>
              </a:rPr>
              <a:t>=1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96768" y="1130388"/>
            <a:ext cx="3829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4010" algn="l"/>
              </a:tabLst>
            </a:pPr>
            <a:r>
              <a:rPr dirty="0" sz="700" spc="75" i="1">
                <a:latin typeface="Lucida Sans"/>
                <a:cs typeface="Lucida Sans"/>
              </a:rPr>
              <a:t>i</a:t>
            </a:r>
            <a:r>
              <a:rPr dirty="0" sz="700" spc="75" i="1">
                <a:latin typeface="Lucida Sans"/>
                <a:cs typeface="Lucida Sans"/>
              </a:rPr>
              <a:t>	</a:t>
            </a:r>
            <a:r>
              <a:rPr dirty="0" sz="700" spc="75" i="1">
                <a:latin typeface="Lucida Sans"/>
                <a:cs typeface="Lucida Sans"/>
              </a:rPr>
              <a:t>i</a:t>
            </a:r>
            <a:endParaRPr sz="7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2769" y="1073454"/>
            <a:ext cx="26485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10714" algn="l"/>
              </a:tabLst>
            </a:pP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500">
                <a:latin typeface="Georgia"/>
                <a:cs typeface="Georgia"/>
              </a:rPr>
              <a:t> </a:t>
            </a:r>
            <a:r>
              <a:rPr dirty="0" sz="1000" spc="-30" b="0" i="1">
                <a:latin typeface="Bookman Old Style"/>
                <a:cs typeface="Bookman Old Style"/>
              </a:rPr>
              <a:t>α</a:t>
            </a:r>
            <a:r>
              <a:rPr dirty="0" sz="1000" spc="-30">
                <a:latin typeface="Georgia"/>
                <a:cs typeface="Georgia"/>
              </a:rPr>
              <a:t>(M)[M]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125">
                <a:latin typeface="Georgia"/>
                <a:cs typeface="Georgia"/>
              </a:rPr>
              <a:t> </a:t>
            </a:r>
            <a:r>
              <a:rPr dirty="0" sz="1000" spc="10" b="0" i="1">
                <a:latin typeface="Bookman Old Style"/>
                <a:cs typeface="Bookman Old Style"/>
              </a:rPr>
              <a:t>α</a:t>
            </a:r>
            <a:r>
              <a:rPr dirty="0" sz="1000" spc="10">
                <a:latin typeface="Georgia"/>
                <a:cs typeface="Georgia"/>
              </a:rPr>
              <a:t>(MY)[MY]</a:t>
            </a:r>
            <a:r>
              <a:rPr dirty="0" sz="1000" spc="-1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+	</a:t>
            </a:r>
            <a:r>
              <a:rPr dirty="0" sz="1000" b="0" i="1">
                <a:latin typeface="Bookman Old Style"/>
                <a:cs typeface="Bookman Old Style"/>
              </a:rPr>
              <a:t>α</a:t>
            </a:r>
            <a:r>
              <a:rPr dirty="0" sz="1000">
                <a:latin typeface="Georgia"/>
                <a:cs typeface="Georgia"/>
              </a:rPr>
              <a:t>(ML </a:t>
            </a:r>
            <a:r>
              <a:rPr dirty="0" sz="1000" spc="-25">
                <a:latin typeface="Georgia"/>
                <a:cs typeface="Georgia"/>
              </a:rPr>
              <a:t>)[ML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 spc="-10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2769" y="1458048"/>
            <a:ext cx="31483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10" b="0" i="1">
                <a:latin typeface="Bookman Old Style"/>
                <a:cs typeface="Bookman Old Style"/>
              </a:rPr>
              <a:t>α</a:t>
            </a:r>
            <a:r>
              <a:rPr dirty="0" sz="1000" spc="10">
                <a:latin typeface="Georgia"/>
                <a:cs typeface="Georgia"/>
              </a:rPr>
              <a:t>(Y)[Y]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10" b="0" i="1">
                <a:latin typeface="Bookman Old Style"/>
                <a:cs typeface="Bookman Old Style"/>
              </a:rPr>
              <a:t>α</a:t>
            </a:r>
            <a:r>
              <a:rPr dirty="0" sz="1000" spc="10">
                <a:latin typeface="Georgia"/>
                <a:cs typeface="Georgia"/>
              </a:rPr>
              <a:t>(MY)[MY]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10" b="0" i="1">
                <a:latin typeface="Bookman Old Style"/>
                <a:cs typeface="Bookman Old Style"/>
              </a:rPr>
              <a:t>α</a:t>
            </a:r>
            <a:r>
              <a:rPr dirty="0" sz="1000" spc="10">
                <a:latin typeface="Georgia"/>
                <a:cs typeface="Georgia"/>
              </a:rPr>
              <a:t>(Y)[Y]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(MY)</a:t>
            </a:r>
            <a:r>
              <a:rPr dirty="0" sz="1000" spc="5" b="0" i="1">
                <a:latin typeface="Bookman Old Style"/>
                <a:cs typeface="Bookman Old Style"/>
              </a:rPr>
              <a:t>K</a:t>
            </a:r>
            <a:r>
              <a:rPr dirty="0" sz="1000" spc="5">
                <a:latin typeface="Georgia"/>
                <a:cs typeface="Georgia"/>
              </a:rPr>
              <a:t>[M][Y]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2107" y="967303"/>
            <a:ext cx="480059" cy="108331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dirty="0" u="sng" sz="10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11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baseline="-11904" sz="1050" spc="-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1000" spc="-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1904" sz="1050" spc="-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baseline="-11904" sz="1050" spc="-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baseline="-11904"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z="1000" spc="-30" b="0" i="1">
                <a:latin typeface="Bookman Old Style"/>
                <a:cs typeface="Bookman Old Style"/>
              </a:rPr>
              <a:t>V</a:t>
            </a:r>
            <a:r>
              <a:rPr dirty="0" baseline="-11904" sz="1050" spc="-44">
                <a:latin typeface="Times New Roman"/>
                <a:cs typeface="Times New Roman"/>
              </a:rPr>
              <a:t>0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95">
                <a:latin typeface="Georgia"/>
                <a:cs typeface="Georgia"/>
              </a:rPr>
              <a:t> </a:t>
            </a:r>
            <a:r>
              <a:rPr dirty="0" sz="1000" spc="-35" b="0" i="1">
                <a:latin typeface="Bookman Old Style"/>
                <a:cs typeface="Bookman Old Style"/>
              </a:rPr>
              <a:t>V</a:t>
            </a:r>
            <a:r>
              <a:rPr dirty="0" baseline="-11904" sz="1050" spc="-52" i="1">
                <a:latin typeface="Lucida Sans"/>
                <a:cs typeface="Lucida Sans"/>
              </a:rPr>
              <a:t>t</a:t>
            </a:r>
            <a:endParaRPr baseline="-11904" sz="105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  <a:spcBef>
                <a:spcPts val="470"/>
              </a:spcBef>
            </a:pPr>
            <a:r>
              <a:rPr dirty="0" u="sng" sz="10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-9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4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cV</a:t>
            </a:r>
            <a:r>
              <a:rPr dirty="0" u="sng" baseline="-11904" sz="1050" spc="-60" i="1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t</a:t>
            </a:r>
            <a:r>
              <a:rPr dirty="0" u="sng" baseline="-11904" sz="1050" spc="104" i="1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 </a:t>
            </a:r>
            <a:endParaRPr baseline="-11904" sz="105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  <a:spcBef>
                <a:spcPts val="155"/>
              </a:spcBef>
            </a:pPr>
            <a:r>
              <a:rPr dirty="0" sz="1000" spc="-30" b="0" i="1">
                <a:latin typeface="Bookman Old Style"/>
                <a:cs typeface="Bookman Old Style"/>
              </a:rPr>
              <a:t>V</a:t>
            </a:r>
            <a:r>
              <a:rPr dirty="0" baseline="-11904" sz="1050" spc="-44">
                <a:latin typeface="Times New Roman"/>
                <a:cs typeface="Times New Roman"/>
              </a:rPr>
              <a:t>0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95">
                <a:latin typeface="Georgia"/>
                <a:cs typeface="Georgia"/>
              </a:rPr>
              <a:t> </a:t>
            </a:r>
            <a:r>
              <a:rPr dirty="0" sz="1000" spc="-35" b="0" i="1">
                <a:latin typeface="Bookman Old Style"/>
                <a:cs typeface="Bookman Old Style"/>
              </a:rPr>
              <a:t>V</a:t>
            </a:r>
            <a:r>
              <a:rPr dirty="0" baseline="-11904" sz="1050" spc="-52" i="1">
                <a:latin typeface="Lucida Sans"/>
                <a:cs typeface="Lucida Sans"/>
              </a:rPr>
              <a:t>t</a:t>
            </a:r>
            <a:endParaRPr baseline="-11904" sz="105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dirty="0" u="sng" sz="10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11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baseline="-11904" sz="1050" spc="-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000" spc="-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1904" sz="1050" spc="-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baseline="-11904" sz="1050" spc="-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baseline="-11904"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z="1000" spc="-30" b="0" i="1">
                <a:latin typeface="Bookman Old Style"/>
                <a:cs typeface="Bookman Old Style"/>
              </a:rPr>
              <a:t>V</a:t>
            </a:r>
            <a:r>
              <a:rPr dirty="0" baseline="-11904" sz="1050" spc="-44">
                <a:latin typeface="Times New Roman"/>
                <a:cs typeface="Times New Roman"/>
              </a:rPr>
              <a:t>0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95">
                <a:latin typeface="Georgia"/>
                <a:cs typeface="Georgia"/>
              </a:rPr>
              <a:t> </a:t>
            </a:r>
            <a:r>
              <a:rPr dirty="0" sz="1000" spc="-35" b="0" i="1">
                <a:latin typeface="Bookman Old Style"/>
                <a:cs typeface="Bookman Old Style"/>
              </a:rPr>
              <a:t>V</a:t>
            </a:r>
            <a:r>
              <a:rPr dirty="0" baseline="-11904" sz="1050" spc="-52" i="1">
                <a:latin typeface="Lucida Sans"/>
                <a:cs typeface="Lucida Sans"/>
              </a:rPr>
              <a:t>t</a:t>
            </a:r>
            <a:endParaRPr baseline="-11904" sz="105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9933" y="2021827"/>
            <a:ext cx="3422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7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6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6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6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6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107" y="2151032"/>
            <a:ext cx="480059" cy="3702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dirty="0" u="sng" sz="10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8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baseline="-11904" sz="1050" spc="-7" i="1">
                <a:uFill>
                  <a:solidFill>
                    <a:srgbClr val="000000"/>
                  </a:solidFill>
                </a:uFill>
                <a:latin typeface="Lucida Sans"/>
                <a:cs typeface="Lucida Sans"/>
              </a:rPr>
              <a:t>n</a:t>
            </a:r>
            <a:r>
              <a:rPr dirty="0" u="sng" sz="1000" spc="-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1904" sz="1050" spc="-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baseline="-11904" sz="1050" spc="-9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baseline="-11904" sz="1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z="1000" spc="-30" b="0" i="1">
                <a:latin typeface="Bookman Old Style"/>
                <a:cs typeface="Bookman Old Style"/>
              </a:rPr>
              <a:t>V</a:t>
            </a:r>
            <a:r>
              <a:rPr dirty="0" baseline="-11904" sz="1050" spc="-44">
                <a:latin typeface="Times New Roman"/>
                <a:cs typeface="Times New Roman"/>
              </a:rPr>
              <a:t>0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95">
                <a:latin typeface="Georgia"/>
                <a:cs typeface="Georgia"/>
              </a:rPr>
              <a:t> </a:t>
            </a:r>
            <a:r>
              <a:rPr dirty="0" sz="1000" spc="-35" b="0" i="1">
                <a:latin typeface="Bookman Old Style"/>
                <a:cs typeface="Bookman Old Style"/>
              </a:rPr>
              <a:t>V</a:t>
            </a:r>
            <a:r>
              <a:rPr dirty="0" baseline="-11904" sz="1050" spc="-52" i="1">
                <a:latin typeface="Lucida Sans"/>
                <a:cs typeface="Lucida Sans"/>
              </a:rPr>
              <a:t>t</a:t>
            </a:r>
            <a:endParaRPr baseline="-11904" sz="105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7369" y="1702976"/>
            <a:ext cx="3590290" cy="73152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0"/>
              </a:spcBef>
            </a:pP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(L</a:t>
            </a:r>
            <a:r>
              <a:rPr dirty="0" baseline="-11904" sz="1050" spc="7">
                <a:latin typeface="Times New Roman"/>
                <a:cs typeface="Times New Roman"/>
              </a:rPr>
              <a:t>1</a:t>
            </a:r>
            <a:r>
              <a:rPr dirty="0" sz="1000" spc="5">
                <a:latin typeface="Georgia"/>
                <a:cs typeface="Georgia"/>
              </a:rPr>
              <a:t>)[L</a:t>
            </a:r>
            <a:r>
              <a:rPr dirty="0" baseline="-11904" sz="1050" spc="7">
                <a:latin typeface="Times New Roman"/>
                <a:cs typeface="Times New Roman"/>
              </a:rPr>
              <a:t>1</a:t>
            </a:r>
            <a:r>
              <a:rPr dirty="0" sz="1000" spc="5">
                <a:latin typeface="Georgia"/>
                <a:cs typeface="Georgia"/>
              </a:rPr>
              <a:t>]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b="0" i="1">
                <a:latin typeface="Bookman Old Style"/>
                <a:cs typeface="Bookman Old Style"/>
              </a:rPr>
              <a:t>α</a:t>
            </a:r>
            <a:r>
              <a:rPr dirty="0" sz="1000">
                <a:latin typeface="Georgia"/>
                <a:cs typeface="Georgia"/>
              </a:rPr>
              <a:t>(ML</a:t>
            </a:r>
            <a:r>
              <a:rPr dirty="0" baseline="-11904" sz="1050">
                <a:latin typeface="Times New Roman"/>
                <a:cs typeface="Times New Roman"/>
              </a:rPr>
              <a:t>1</a:t>
            </a:r>
            <a:r>
              <a:rPr dirty="0" sz="1000">
                <a:latin typeface="Georgia"/>
                <a:cs typeface="Georgia"/>
              </a:rPr>
              <a:t>)[ML</a:t>
            </a:r>
            <a:r>
              <a:rPr dirty="0" baseline="-11904" sz="1050">
                <a:latin typeface="Times New Roman"/>
                <a:cs typeface="Times New Roman"/>
              </a:rPr>
              <a:t>1</a:t>
            </a:r>
            <a:r>
              <a:rPr dirty="0" sz="1000">
                <a:latin typeface="Georgia"/>
                <a:cs typeface="Georgia"/>
              </a:rPr>
              <a:t>]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(L</a:t>
            </a:r>
            <a:r>
              <a:rPr dirty="0" baseline="-11904" sz="1050" spc="7">
                <a:latin typeface="Times New Roman"/>
                <a:cs typeface="Times New Roman"/>
              </a:rPr>
              <a:t>1</a:t>
            </a:r>
            <a:r>
              <a:rPr dirty="0" sz="1000" spc="5">
                <a:latin typeface="Georgia"/>
                <a:cs typeface="Georgia"/>
              </a:rPr>
              <a:t>)[L</a:t>
            </a:r>
            <a:r>
              <a:rPr dirty="0" baseline="-11904" sz="1050" spc="7">
                <a:latin typeface="Times New Roman"/>
                <a:cs typeface="Times New Roman"/>
              </a:rPr>
              <a:t>1</a:t>
            </a:r>
            <a:r>
              <a:rPr dirty="0" sz="1000" spc="5">
                <a:latin typeface="Georgia"/>
                <a:cs typeface="Georgia"/>
              </a:rPr>
              <a:t>]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65">
                <a:latin typeface="Georgia"/>
                <a:cs typeface="Georgia"/>
              </a:rPr>
              <a:t> </a:t>
            </a:r>
            <a:r>
              <a:rPr dirty="0" sz="1000" b="0" i="1">
                <a:latin typeface="Bookman Old Style"/>
                <a:cs typeface="Bookman Old Style"/>
              </a:rPr>
              <a:t>α</a:t>
            </a:r>
            <a:r>
              <a:rPr dirty="0" sz="1000">
                <a:latin typeface="Georgia"/>
                <a:cs typeface="Georgia"/>
              </a:rPr>
              <a:t>(ML</a:t>
            </a:r>
            <a:r>
              <a:rPr dirty="0" baseline="-11904" sz="1050">
                <a:latin typeface="Times New Roman"/>
                <a:cs typeface="Times New Roman"/>
              </a:rPr>
              <a:t>1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b="0" i="1">
                <a:latin typeface="Bookman Old Style"/>
                <a:cs typeface="Bookman Old Style"/>
              </a:rPr>
              <a:t>K</a:t>
            </a:r>
            <a:r>
              <a:rPr dirty="0" baseline="-11904" sz="1050">
                <a:latin typeface="Times New Roman"/>
                <a:cs typeface="Times New Roman"/>
              </a:rPr>
              <a:t>1</a:t>
            </a:r>
            <a:r>
              <a:rPr dirty="0" sz="1000">
                <a:latin typeface="Georgia"/>
                <a:cs typeface="Georgia"/>
              </a:rPr>
              <a:t>[M][L</a:t>
            </a:r>
            <a:r>
              <a:rPr dirty="0" baseline="-11904" sz="1050">
                <a:latin typeface="Times New Roman"/>
                <a:cs typeface="Times New Roman"/>
              </a:rPr>
              <a:t>1</a:t>
            </a:r>
            <a:r>
              <a:rPr dirty="0" sz="100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655"/>
              </a:spcBef>
            </a:pP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8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0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55">
                <a:latin typeface="Lucida Sans Unicode"/>
                <a:cs typeface="Lucida Sans Unicode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endParaRPr sz="10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655"/>
              </a:spcBef>
            </a:pPr>
            <a:r>
              <a:rPr dirty="0" sz="1000" spc="13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72311" y="2257158"/>
            <a:ext cx="34493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(L</a:t>
            </a:r>
            <a:r>
              <a:rPr dirty="0" baseline="-11904" sz="1050" spc="7" i="1">
                <a:latin typeface="Lucida Sans"/>
                <a:cs typeface="Lucida Sans"/>
              </a:rPr>
              <a:t>n</a:t>
            </a:r>
            <a:r>
              <a:rPr dirty="0" sz="1000" spc="5">
                <a:latin typeface="Georgia"/>
                <a:cs typeface="Georgia"/>
              </a:rPr>
              <a:t>)[L</a:t>
            </a:r>
            <a:r>
              <a:rPr dirty="0" baseline="-11904" sz="1050" spc="7" i="1">
                <a:latin typeface="Lucida Sans"/>
                <a:cs typeface="Lucida Sans"/>
              </a:rPr>
              <a:t>n</a:t>
            </a:r>
            <a:r>
              <a:rPr dirty="0" sz="1000" spc="5">
                <a:latin typeface="Georgia"/>
                <a:cs typeface="Georgia"/>
              </a:rPr>
              <a:t>]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b="0" i="1">
                <a:latin typeface="Bookman Old Style"/>
                <a:cs typeface="Bookman Old Style"/>
              </a:rPr>
              <a:t>α</a:t>
            </a:r>
            <a:r>
              <a:rPr dirty="0" sz="1000">
                <a:latin typeface="Georgia"/>
                <a:cs typeface="Georgia"/>
              </a:rPr>
              <a:t>(ML</a:t>
            </a:r>
            <a:r>
              <a:rPr dirty="0" baseline="-11904" sz="1050" i="1">
                <a:latin typeface="Lucida Sans"/>
                <a:cs typeface="Lucida Sans"/>
              </a:rPr>
              <a:t>n</a:t>
            </a:r>
            <a:r>
              <a:rPr dirty="0" sz="1000">
                <a:latin typeface="Georgia"/>
                <a:cs typeface="Georgia"/>
              </a:rPr>
              <a:t>)[ML</a:t>
            </a:r>
            <a:r>
              <a:rPr dirty="0" baseline="-11904" sz="1050" i="1">
                <a:latin typeface="Lucida Sans"/>
                <a:cs typeface="Lucida Sans"/>
              </a:rPr>
              <a:t>n</a:t>
            </a:r>
            <a:r>
              <a:rPr dirty="0" sz="1000">
                <a:latin typeface="Georgia"/>
                <a:cs typeface="Georgia"/>
              </a:rPr>
              <a:t>]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5" b="0" i="1">
                <a:latin typeface="Bookman Old Style"/>
                <a:cs typeface="Bookman Old Style"/>
              </a:rPr>
              <a:t>α</a:t>
            </a:r>
            <a:r>
              <a:rPr dirty="0" sz="1000" spc="5">
                <a:latin typeface="Georgia"/>
                <a:cs typeface="Georgia"/>
              </a:rPr>
              <a:t>(L</a:t>
            </a:r>
            <a:r>
              <a:rPr dirty="0" baseline="-11904" sz="1050" spc="7" i="1">
                <a:latin typeface="Lucida Sans"/>
                <a:cs typeface="Lucida Sans"/>
              </a:rPr>
              <a:t>n</a:t>
            </a:r>
            <a:r>
              <a:rPr dirty="0" sz="1000" spc="5">
                <a:latin typeface="Georgia"/>
                <a:cs typeface="Georgia"/>
              </a:rPr>
              <a:t>)[L</a:t>
            </a:r>
            <a:r>
              <a:rPr dirty="0" baseline="-11904" sz="1050" spc="7" i="1">
                <a:latin typeface="Lucida Sans"/>
                <a:cs typeface="Lucida Sans"/>
              </a:rPr>
              <a:t>n</a:t>
            </a:r>
            <a:r>
              <a:rPr dirty="0" sz="1000" spc="5">
                <a:latin typeface="Georgia"/>
                <a:cs typeface="Georgia"/>
              </a:rPr>
              <a:t>]</a:t>
            </a:r>
            <a:r>
              <a:rPr dirty="0" sz="1000" spc="-1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b="0" i="1">
                <a:latin typeface="Bookman Old Style"/>
                <a:cs typeface="Bookman Old Style"/>
              </a:rPr>
              <a:t>α</a:t>
            </a:r>
            <a:r>
              <a:rPr dirty="0" sz="1000">
                <a:latin typeface="Georgia"/>
                <a:cs typeface="Georgia"/>
              </a:rPr>
              <a:t>(ML</a:t>
            </a:r>
            <a:r>
              <a:rPr dirty="0" baseline="-11904" sz="1050" i="1">
                <a:latin typeface="Lucida Sans"/>
                <a:cs typeface="Lucida Sans"/>
              </a:rPr>
              <a:t>n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b="0" i="1">
                <a:latin typeface="Bookman Old Style"/>
                <a:cs typeface="Bookman Old Style"/>
              </a:rPr>
              <a:t>K</a:t>
            </a:r>
            <a:r>
              <a:rPr dirty="0" baseline="-11904" sz="1050" i="1">
                <a:latin typeface="Lucida Sans"/>
                <a:cs typeface="Lucida Sans"/>
              </a:rPr>
              <a:t>n</a:t>
            </a:r>
            <a:r>
              <a:rPr dirty="0" sz="1000">
                <a:latin typeface="Georgia"/>
                <a:cs typeface="Georgia"/>
              </a:rPr>
              <a:t>[M][L</a:t>
            </a:r>
            <a:r>
              <a:rPr dirty="0" baseline="-11904" sz="1050" i="1">
                <a:latin typeface="Lucida Sans"/>
                <a:cs typeface="Lucida Sans"/>
              </a:rPr>
              <a:t>n</a:t>
            </a:r>
            <a:r>
              <a:rPr dirty="0" sz="100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715937"/>
            <a:ext cx="122999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从上述式子可</a:t>
            </a:r>
            <a:r>
              <a:rPr dirty="0" spc="-90"/>
              <a:t>得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0784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954212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941512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058418"/>
            <a:ext cx="50749" cy="8957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1052263"/>
            <a:ext cx="4432935" cy="953135"/>
          </a:xfrm>
          <a:custGeom>
            <a:avLst/>
            <a:gdLst/>
            <a:ahLst/>
            <a:cxnLst/>
            <a:rect l="l" t="t" r="r" b="b"/>
            <a:pathLst>
              <a:path w="4432935" h="953135">
                <a:moveTo>
                  <a:pt x="4432566" y="0"/>
                </a:moveTo>
                <a:lnTo>
                  <a:pt x="0" y="0"/>
                </a:lnTo>
                <a:lnTo>
                  <a:pt x="0" y="901948"/>
                </a:lnTo>
                <a:lnTo>
                  <a:pt x="4008" y="921673"/>
                </a:lnTo>
                <a:lnTo>
                  <a:pt x="14922" y="937826"/>
                </a:lnTo>
                <a:lnTo>
                  <a:pt x="31075" y="948740"/>
                </a:lnTo>
                <a:lnTo>
                  <a:pt x="50800" y="952749"/>
                </a:lnTo>
                <a:lnTo>
                  <a:pt x="4381765" y="952749"/>
                </a:lnTo>
                <a:lnTo>
                  <a:pt x="4401490" y="948740"/>
                </a:lnTo>
                <a:lnTo>
                  <a:pt x="4417643" y="937826"/>
                </a:lnTo>
                <a:lnTo>
                  <a:pt x="4428558" y="921673"/>
                </a:lnTo>
                <a:lnTo>
                  <a:pt x="4432566" y="90194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096500"/>
            <a:ext cx="0" cy="876935"/>
          </a:xfrm>
          <a:custGeom>
            <a:avLst/>
            <a:gdLst/>
            <a:ahLst/>
            <a:cxnLst/>
            <a:rect l="l" t="t" r="r" b="b"/>
            <a:pathLst>
              <a:path w="0" h="876935">
                <a:moveTo>
                  <a:pt x="0" y="8767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08380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07110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05840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13954" y="1150036"/>
            <a:ext cx="353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[Y]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07451" y="1266647"/>
            <a:ext cx="1758950" cy="0"/>
          </a:xfrm>
          <a:custGeom>
            <a:avLst/>
            <a:gdLst/>
            <a:ahLst/>
            <a:cxnLst/>
            <a:rect l="l" t="t" r="r" b="b"/>
            <a:pathLst>
              <a:path w="1758950" h="0">
                <a:moveTo>
                  <a:pt x="0" y="0"/>
                </a:moveTo>
                <a:lnTo>
                  <a:pt x="175870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594751" y="1033802"/>
            <a:ext cx="178435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100" spc="-45" b="0" i="1">
                <a:latin typeface="Bookman Old Style"/>
                <a:cs typeface="Bookman Old Style"/>
              </a:rPr>
              <a:t>cρ</a:t>
            </a:r>
            <a:endParaRPr sz="11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1)(</a:t>
            </a: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(Y)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(MY)</a:t>
            </a:r>
            <a:r>
              <a:rPr dirty="0" sz="1100" spc="10" b="0" i="1">
                <a:latin typeface="Bookman Old Style"/>
                <a:cs typeface="Bookman Old Style"/>
              </a:rPr>
              <a:t>K</a:t>
            </a:r>
            <a:r>
              <a:rPr dirty="0" sz="1100" spc="10">
                <a:latin typeface="Georgia"/>
                <a:cs typeface="Georgia"/>
              </a:rPr>
              <a:t>[M])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0456" y="115003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Georgia"/>
                <a:cs typeface="Georgia"/>
              </a:rPr>
              <a:t>(33)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1386" y="1763077"/>
            <a:ext cx="59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6317" y="1679676"/>
            <a:ext cx="3759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Georgia"/>
                <a:cs typeface="Georgia"/>
              </a:rPr>
              <a:t>[L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10066" y="1585950"/>
            <a:ext cx="1701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baseline="-13888" sz="900" spc="52" i="1">
                <a:latin typeface="Arial"/>
                <a:cs typeface="Arial"/>
              </a:rPr>
              <a:t>i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82635" y="1796288"/>
            <a:ext cx="1831339" cy="0"/>
          </a:xfrm>
          <a:custGeom>
            <a:avLst/>
            <a:gdLst/>
            <a:ahLst/>
            <a:cxnLst/>
            <a:rect l="l" t="t" r="r" b="b"/>
            <a:pathLst>
              <a:path w="1831339" h="0">
                <a:moveTo>
                  <a:pt x="0" y="0"/>
                </a:moveTo>
                <a:lnTo>
                  <a:pt x="183116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544535" y="1774710"/>
            <a:ext cx="190753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1)(</a:t>
            </a: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(L</a:t>
            </a:r>
            <a:r>
              <a:rPr dirty="0" baseline="-13888" sz="900" spc="52" i="1">
                <a:latin typeface="Arial"/>
                <a:cs typeface="Arial"/>
              </a:rPr>
              <a:t>i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20" b="0" i="1">
                <a:latin typeface="Bookman Old Style"/>
                <a:cs typeface="Bookman Old Style"/>
              </a:rPr>
              <a:t>α</a:t>
            </a:r>
            <a:r>
              <a:rPr dirty="0" sz="1100" spc="20">
                <a:latin typeface="Georgia"/>
                <a:cs typeface="Georgia"/>
              </a:rPr>
              <a:t>(ML</a:t>
            </a:r>
            <a:r>
              <a:rPr dirty="0" baseline="-13888" sz="900" spc="30" i="1">
                <a:latin typeface="Arial"/>
                <a:cs typeface="Arial"/>
              </a:rPr>
              <a:t>i</a:t>
            </a:r>
            <a:r>
              <a:rPr dirty="0" sz="1100" spc="20">
                <a:latin typeface="Georgia"/>
                <a:cs typeface="Georgia"/>
              </a:rPr>
              <a:t>)</a:t>
            </a: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baseline="-13888" sz="900" spc="30" i="1">
                <a:latin typeface="Arial"/>
                <a:cs typeface="Arial"/>
              </a:rPr>
              <a:t>i</a:t>
            </a:r>
            <a:r>
              <a:rPr dirty="0" sz="1100" spc="20">
                <a:latin typeface="Georgia"/>
                <a:cs typeface="Georgia"/>
              </a:rPr>
              <a:t>[M])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10456" y="167967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(34)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444" y="2114842"/>
            <a:ext cx="11360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5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20" b="0" i="1">
                <a:latin typeface="Bookman Old Style"/>
                <a:cs typeface="Bookman Old Style"/>
              </a:rPr>
              <a:t>V</a:t>
            </a:r>
            <a:r>
              <a:rPr dirty="0" baseline="-13888" sz="900" spc="-30" i="1">
                <a:latin typeface="Arial"/>
                <a:cs typeface="Arial"/>
              </a:rPr>
              <a:t>t</a:t>
            </a:r>
            <a:r>
              <a:rPr dirty="0" sz="1100" spc="-20" b="0" i="1">
                <a:latin typeface="Bookman Old Style"/>
                <a:cs typeface="Bookman Old Style"/>
              </a:rPr>
              <a:t>/V</a:t>
            </a:r>
            <a:r>
              <a:rPr dirty="0" baseline="-13888" sz="900" spc="-30">
                <a:latin typeface="Times New Roman"/>
                <a:cs typeface="Times New Roman"/>
              </a:rPr>
              <a:t>0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所</a:t>
            </a:r>
            <a:r>
              <a:rPr dirty="0" spc="-80"/>
              <a:t>以</a:t>
            </a:r>
            <a:r>
              <a:rPr dirty="0" spc="-185"/>
              <a:t>，</a:t>
            </a:r>
            <a:r>
              <a:rPr dirty="0" spc="-5"/>
              <a:t>存在其它配位剂</a:t>
            </a:r>
            <a:r>
              <a:rPr dirty="0" spc="175"/>
              <a:t>时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pc="-5"/>
              <a:t>滴定单一金属离子的通式</a:t>
            </a:r>
            <a:r>
              <a:rPr dirty="0" spc="-90"/>
              <a:t>为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82943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600809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588109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880008"/>
            <a:ext cx="50749" cy="7208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873862"/>
            <a:ext cx="4432935" cy="777875"/>
          </a:xfrm>
          <a:custGeom>
            <a:avLst/>
            <a:gdLst/>
            <a:ahLst/>
            <a:cxnLst/>
            <a:rect l="l" t="t" r="r" b="b"/>
            <a:pathLst>
              <a:path w="4432935" h="777875">
                <a:moveTo>
                  <a:pt x="4432566" y="0"/>
                </a:moveTo>
                <a:lnTo>
                  <a:pt x="0" y="0"/>
                </a:lnTo>
                <a:lnTo>
                  <a:pt x="0" y="726947"/>
                </a:lnTo>
                <a:lnTo>
                  <a:pt x="4008" y="746672"/>
                </a:lnTo>
                <a:lnTo>
                  <a:pt x="14922" y="762825"/>
                </a:lnTo>
                <a:lnTo>
                  <a:pt x="31075" y="773739"/>
                </a:lnTo>
                <a:lnTo>
                  <a:pt x="50800" y="777747"/>
                </a:lnTo>
                <a:lnTo>
                  <a:pt x="4381765" y="777747"/>
                </a:lnTo>
                <a:lnTo>
                  <a:pt x="4401490" y="773739"/>
                </a:lnTo>
                <a:lnTo>
                  <a:pt x="4417643" y="762825"/>
                </a:lnTo>
                <a:lnTo>
                  <a:pt x="4428558" y="746672"/>
                </a:lnTo>
                <a:lnTo>
                  <a:pt x="4432566" y="726947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918099"/>
            <a:ext cx="0" cy="702310"/>
          </a:xfrm>
          <a:custGeom>
            <a:avLst/>
            <a:gdLst/>
            <a:ahLst/>
            <a:cxnLst/>
            <a:rect l="l" t="t" r="r" b="b"/>
            <a:pathLst>
              <a:path w="0" h="702310">
                <a:moveTo>
                  <a:pt x="0" y="70175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90539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89269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87999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03287" y="1143863"/>
            <a:ext cx="243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9438" y="958215"/>
            <a:ext cx="10248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baseline="-13888" sz="900">
                <a:latin typeface="Times New Roman"/>
                <a:cs typeface="Times New Roman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35" b="0" i="1">
                <a:latin typeface="Bookman Old Style"/>
                <a:cs typeface="Bookman Old Style"/>
              </a:rPr>
              <a:t>α</a:t>
            </a:r>
            <a:r>
              <a:rPr dirty="0" sz="1100" spc="-35">
                <a:latin typeface="Georgia"/>
                <a:cs typeface="Georgia"/>
              </a:rPr>
              <a:t>(M)[M]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00440" y="889228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9918" y="947890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96679" y="947890"/>
            <a:ext cx="6781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4154" algn="l"/>
                <a:tab pos="664845" algn="l"/>
              </a:tabLst>
            </a:pPr>
            <a:r>
              <a:rPr dirty="0" u="sng" sz="600" spc="13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	i	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56523" y="854303"/>
            <a:ext cx="1322070" cy="20193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99390">
              <a:lnSpc>
                <a:spcPts val="620"/>
              </a:lnSpc>
              <a:spcBef>
                <a:spcPts val="170"/>
              </a:spcBef>
              <a:tabLst>
                <a:tab pos="39560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6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sz="1100" spc="-60" b="0" i="1">
                <a:latin typeface="Bookman Old Style"/>
                <a:cs typeface="Bookman Old Style"/>
              </a:rPr>
              <a:t> </a:t>
            </a:r>
            <a:r>
              <a:rPr dirty="0" u="sng" sz="110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α</a:t>
            </a:r>
            <a:r>
              <a:rPr dirty="0" sz="1100">
                <a:latin typeface="Georgia"/>
                <a:cs typeface="Georgia"/>
              </a:rPr>
              <a:t>(ML </a:t>
            </a:r>
            <a:r>
              <a:rPr dirty="0" sz="1100" spc="70">
                <a:latin typeface="Georgia"/>
                <a:cs typeface="Georgia"/>
              </a:rPr>
              <a:t>)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sz="1100" b="0" i="1">
                <a:latin typeface="Bookman Old Style"/>
                <a:cs typeface="Bookman Old Style"/>
              </a:rPr>
              <a:t> </a:t>
            </a:r>
            <a:r>
              <a:rPr dirty="0" sz="1100" spc="-80">
                <a:latin typeface="Georgia"/>
                <a:cs typeface="Georgia"/>
              </a:rPr>
              <a:t>[M]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620"/>
              </a:lnSpc>
            </a:pPr>
            <a:r>
              <a:rPr dirty="0" sz="1100" spc="-270">
                <a:latin typeface="Arial Unicode MS"/>
                <a:cs typeface="Arial Unicode MS"/>
              </a:rPr>
              <a:t>2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4047" y="1138605"/>
            <a:ext cx="13106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1165" algn="l"/>
                <a:tab pos="1051560" algn="l"/>
                <a:tab pos="1263015" algn="l"/>
              </a:tabLst>
            </a:pPr>
            <a:r>
              <a:rPr dirty="0" sz="600" spc="125" i="1">
                <a:latin typeface="Arial"/>
                <a:cs typeface="Arial"/>
              </a:rPr>
              <a:t>i</a:t>
            </a:r>
            <a:r>
              <a:rPr dirty="0" sz="600" spc="140">
                <a:latin typeface="Times New Roman"/>
                <a:cs typeface="Times New Roman"/>
              </a:rPr>
              <a:t>=1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130" i="1">
                <a:latin typeface="Arial"/>
                <a:cs typeface="Arial"/>
              </a:rPr>
              <a:t>i</a:t>
            </a:r>
            <a:r>
              <a:rPr dirty="0" sz="600" i="1">
                <a:latin typeface="Arial"/>
                <a:cs typeface="Arial"/>
              </a:rPr>
              <a:t>	</a:t>
            </a:r>
            <a:r>
              <a:rPr dirty="0" sz="600" spc="130" i="1">
                <a:latin typeface="Arial"/>
                <a:cs typeface="Arial"/>
              </a:rPr>
              <a:t>i</a:t>
            </a:r>
            <a:r>
              <a:rPr dirty="0" sz="600" i="1">
                <a:latin typeface="Arial"/>
                <a:cs typeface="Arial"/>
              </a:rPr>
              <a:t>	</a:t>
            </a: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3530" y="1053249"/>
            <a:ext cx="13309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 b="0" i="1">
                <a:latin typeface="Bookman Old Style"/>
                <a:cs typeface="Bookman Old Style"/>
              </a:rPr>
              <a:t>α</a:t>
            </a:r>
            <a:r>
              <a:rPr dirty="0" sz="1100" spc="5">
                <a:latin typeface="Georgia"/>
                <a:cs typeface="Georgia"/>
              </a:rPr>
              <a:t>(L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b="0" i="1">
                <a:latin typeface="Bookman Old Style"/>
                <a:cs typeface="Bookman Old Style"/>
              </a:rPr>
              <a:t>α</a:t>
            </a:r>
            <a:r>
              <a:rPr dirty="0" sz="1100">
                <a:latin typeface="Georgia"/>
                <a:cs typeface="Georgia"/>
              </a:rPr>
              <a:t>(ML </a:t>
            </a:r>
            <a:r>
              <a:rPr dirty="0" sz="1100" spc="70">
                <a:latin typeface="Georgia"/>
                <a:cs typeface="Georgia"/>
              </a:rPr>
              <a:t>)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sz="1100" spc="-190" b="0" i="1">
                <a:latin typeface="Bookman Old Style"/>
                <a:cs typeface="Bookman Old Style"/>
              </a:rPr>
              <a:t> </a:t>
            </a:r>
            <a:r>
              <a:rPr dirty="0" sz="1100" spc="-85">
                <a:latin typeface="Georgia"/>
                <a:cs typeface="Georgia"/>
              </a:rPr>
              <a:t>[M]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87538" y="1260475"/>
            <a:ext cx="2489835" cy="0"/>
          </a:xfrm>
          <a:custGeom>
            <a:avLst/>
            <a:gdLst/>
            <a:ahLst/>
            <a:cxnLst/>
            <a:rect l="l" t="t" r="r" b="b"/>
            <a:pathLst>
              <a:path w="2489835" h="0">
                <a:moveTo>
                  <a:pt x="0" y="0"/>
                </a:moveTo>
                <a:lnTo>
                  <a:pt x="248928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268145" y="1326261"/>
            <a:ext cx="6921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0" i="1">
                <a:latin typeface="Bookman Old Style"/>
                <a:cs typeface="Bookman Old Style"/>
              </a:rPr>
              <a:t>α</a:t>
            </a:r>
            <a:r>
              <a:rPr dirty="0" sz="1100" spc="-35">
                <a:latin typeface="Georgia"/>
                <a:cs typeface="Georgia"/>
              </a:rPr>
              <a:t>(M)[M]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5631" y="1232535"/>
            <a:ext cx="11906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cα</a:t>
            </a:r>
            <a:r>
              <a:rPr dirty="0" sz="1100" spc="15">
                <a:latin typeface="Georgia"/>
                <a:cs typeface="Georgia"/>
              </a:rPr>
              <a:t>(MY)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(MY)[M]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93239" y="1442872"/>
            <a:ext cx="1575435" cy="0"/>
          </a:xfrm>
          <a:custGeom>
            <a:avLst/>
            <a:gdLst/>
            <a:ahLst/>
            <a:cxnLst/>
            <a:rect l="l" t="t" r="r" b="b"/>
            <a:pathLst>
              <a:path w="1575435" h="0">
                <a:moveTo>
                  <a:pt x="0" y="0"/>
                </a:moveTo>
                <a:lnTo>
                  <a:pt x="157509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980539" y="1421295"/>
            <a:ext cx="16008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(Y)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20" b="0" i="1">
                <a:latin typeface="Bookman Old Style"/>
                <a:cs typeface="Bookman Old Style"/>
              </a:rPr>
              <a:t>α</a:t>
            </a:r>
            <a:r>
              <a:rPr dirty="0" sz="1100" spc="20">
                <a:latin typeface="Georgia"/>
                <a:cs typeface="Georgia"/>
              </a:rPr>
              <a:t>(MY)</a:t>
            </a: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sz="1100" spc="20">
                <a:latin typeface="Georgia"/>
                <a:cs typeface="Georgia"/>
              </a:rPr>
              <a:t>(MY)[M]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10456" y="1143863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(35)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74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所</a:t>
            </a:r>
            <a:r>
              <a:rPr dirty="0" spc="-80"/>
              <a:t>以</a:t>
            </a:r>
            <a:r>
              <a:rPr dirty="0" spc="-185"/>
              <a:t>，</a:t>
            </a:r>
            <a:r>
              <a:rPr dirty="0" spc="-5"/>
              <a:t>存在其它配位剂</a:t>
            </a:r>
            <a:r>
              <a:rPr dirty="0" spc="175"/>
              <a:t>时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pc="-5"/>
              <a:t>滴定单一金属离子的通式</a:t>
            </a:r>
            <a:r>
              <a:rPr dirty="0" spc="-90"/>
              <a:t>为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82943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600809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588109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880008"/>
            <a:ext cx="50749" cy="7208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873862"/>
            <a:ext cx="4432935" cy="777875"/>
          </a:xfrm>
          <a:custGeom>
            <a:avLst/>
            <a:gdLst/>
            <a:ahLst/>
            <a:cxnLst/>
            <a:rect l="l" t="t" r="r" b="b"/>
            <a:pathLst>
              <a:path w="4432935" h="777875">
                <a:moveTo>
                  <a:pt x="4432566" y="0"/>
                </a:moveTo>
                <a:lnTo>
                  <a:pt x="0" y="0"/>
                </a:lnTo>
                <a:lnTo>
                  <a:pt x="0" y="726947"/>
                </a:lnTo>
                <a:lnTo>
                  <a:pt x="4008" y="746672"/>
                </a:lnTo>
                <a:lnTo>
                  <a:pt x="14922" y="762825"/>
                </a:lnTo>
                <a:lnTo>
                  <a:pt x="31075" y="773739"/>
                </a:lnTo>
                <a:lnTo>
                  <a:pt x="50800" y="777747"/>
                </a:lnTo>
                <a:lnTo>
                  <a:pt x="4381765" y="777747"/>
                </a:lnTo>
                <a:lnTo>
                  <a:pt x="4401490" y="773739"/>
                </a:lnTo>
                <a:lnTo>
                  <a:pt x="4417643" y="762825"/>
                </a:lnTo>
                <a:lnTo>
                  <a:pt x="4428558" y="746672"/>
                </a:lnTo>
                <a:lnTo>
                  <a:pt x="4432566" y="726947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918099"/>
            <a:ext cx="0" cy="702310"/>
          </a:xfrm>
          <a:custGeom>
            <a:avLst/>
            <a:gdLst/>
            <a:ahLst/>
            <a:cxnLst/>
            <a:rect l="l" t="t" r="r" b="b"/>
            <a:pathLst>
              <a:path w="0" h="702310">
                <a:moveTo>
                  <a:pt x="0" y="70175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90539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89269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87999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03287" y="1143863"/>
            <a:ext cx="243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9438" y="958215"/>
            <a:ext cx="10248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baseline="-13888" sz="900">
                <a:latin typeface="Times New Roman"/>
                <a:cs typeface="Times New Roman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35" b="0" i="1">
                <a:latin typeface="Bookman Old Style"/>
                <a:cs typeface="Bookman Old Style"/>
              </a:rPr>
              <a:t>α</a:t>
            </a:r>
            <a:r>
              <a:rPr dirty="0" sz="1100" spc="-35">
                <a:latin typeface="Georgia"/>
                <a:cs typeface="Georgia"/>
              </a:rPr>
              <a:t>(M)[M]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00440" y="889228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9918" y="947890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7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96679" y="947890"/>
            <a:ext cx="6781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4154" algn="l"/>
                <a:tab pos="664845" algn="l"/>
              </a:tabLst>
            </a:pPr>
            <a:r>
              <a:rPr dirty="0" u="sng" sz="600" spc="13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	i	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56523" y="854303"/>
            <a:ext cx="1322070" cy="20193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99390">
              <a:lnSpc>
                <a:spcPts val="620"/>
              </a:lnSpc>
              <a:spcBef>
                <a:spcPts val="170"/>
              </a:spcBef>
              <a:tabLst>
                <a:tab pos="39560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6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sz="1100" spc="-60" b="0" i="1">
                <a:latin typeface="Bookman Old Style"/>
                <a:cs typeface="Bookman Old Style"/>
              </a:rPr>
              <a:t> </a:t>
            </a:r>
            <a:r>
              <a:rPr dirty="0" u="sng" sz="110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α</a:t>
            </a:r>
            <a:r>
              <a:rPr dirty="0" sz="1100">
                <a:latin typeface="Georgia"/>
                <a:cs typeface="Georgia"/>
              </a:rPr>
              <a:t>(ML </a:t>
            </a:r>
            <a:r>
              <a:rPr dirty="0" sz="1100" spc="70">
                <a:latin typeface="Georgia"/>
                <a:cs typeface="Georgia"/>
              </a:rPr>
              <a:t>)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sz="1100" b="0" i="1">
                <a:latin typeface="Bookman Old Style"/>
                <a:cs typeface="Bookman Old Style"/>
              </a:rPr>
              <a:t> </a:t>
            </a:r>
            <a:r>
              <a:rPr dirty="0" sz="1100" spc="-80">
                <a:latin typeface="Georgia"/>
                <a:cs typeface="Georgia"/>
              </a:rPr>
              <a:t>[M]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620"/>
              </a:lnSpc>
            </a:pPr>
            <a:r>
              <a:rPr dirty="0" sz="1100" spc="-270">
                <a:latin typeface="Arial Unicode MS"/>
                <a:cs typeface="Arial Unicode MS"/>
              </a:rPr>
              <a:t>2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4047" y="1138605"/>
            <a:ext cx="13106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1165" algn="l"/>
                <a:tab pos="1051560" algn="l"/>
                <a:tab pos="1263015" algn="l"/>
              </a:tabLst>
            </a:pPr>
            <a:r>
              <a:rPr dirty="0" sz="600" spc="125" i="1">
                <a:latin typeface="Arial"/>
                <a:cs typeface="Arial"/>
              </a:rPr>
              <a:t>i</a:t>
            </a:r>
            <a:r>
              <a:rPr dirty="0" sz="600" spc="140">
                <a:latin typeface="Times New Roman"/>
                <a:cs typeface="Times New Roman"/>
              </a:rPr>
              <a:t>=1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130" i="1">
                <a:latin typeface="Arial"/>
                <a:cs typeface="Arial"/>
              </a:rPr>
              <a:t>i</a:t>
            </a:r>
            <a:r>
              <a:rPr dirty="0" sz="600" i="1">
                <a:latin typeface="Arial"/>
                <a:cs typeface="Arial"/>
              </a:rPr>
              <a:t>	</a:t>
            </a:r>
            <a:r>
              <a:rPr dirty="0" sz="600" spc="130" i="1">
                <a:latin typeface="Arial"/>
                <a:cs typeface="Arial"/>
              </a:rPr>
              <a:t>i</a:t>
            </a:r>
            <a:r>
              <a:rPr dirty="0" sz="600" i="1">
                <a:latin typeface="Arial"/>
                <a:cs typeface="Arial"/>
              </a:rPr>
              <a:t>	</a:t>
            </a:r>
            <a:r>
              <a:rPr dirty="0" sz="600" spc="130" i="1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3530" y="1053249"/>
            <a:ext cx="13309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 b="0" i="1">
                <a:latin typeface="Bookman Old Style"/>
                <a:cs typeface="Bookman Old Style"/>
              </a:rPr>
              <a:t>α</a:t>
            </a:r>
            <a:r>
              <a:rPr dirty="0" sz="1100" spc="5">
                <a:latin typeface="Georgia"/>
                <a:cs typeface="Georgia"/>
              </a:rPr>
              <a:t>(L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b="0" i="1">
                <a:latin typeface="Bookman Old Style"/>
                <a:cs typeface="Bookman Old Style"/>
              </a:rPr>
              <a:t>α</a:t>
            </a:r>
            <a:r>
              <a:rPr dirty="0" sz="1100">
                <a:latin typeface="Georgia"/>
                <a:cs typeface="Georgia"/>
              </a:rPr>
              <a:t>(ML </a:t>
            </a:r>
            <a:r>
              <a:rPr dirty="0" sz="1100" spc="70">
                <a:latin typeface="Georgia"/>
                <a:cs typeface="Georgia"/>
              </a:rPr>
              <a:t>)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sz="1100" spc="-190" b="0" i="1">
                <a:latin typeface="Bookman Old Style"/>
                <a:cs typeface="Bookman Old Style"/>
              </a:rPr>
              <a:t> </a:t>
            </a:r>
            <a:r>
              <a:rPr dirty="0" sz="1100" spc="-85">
                <a:latin typeface="Georgia"/>
                <a:cs typeface="Georgia"/>
              </a:rPr>
              <a:t>[M]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87538" y="1260475"/>
            <a:ext cx="2489835" cy="0"/>
          </a:xfrm>
          <a:custGeom>
            <a:avLst/>
            <a:gdLst/>
            <a:ahLst/>
            <a:cxnLst/>
            <a:rect l="l" t="t" r="r" b="b"/>
            <a:pathLst>
              <a:path w="2489835" h="0">
                <a:moveTo>
                  <a:pt x="0" y="0"/>
                </a:moveTo>
                <a:lnTo>
                  <a:pt x="248928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268145" y="1326261"/>
            <a:ext cx="6921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0" i="1">
                <a:latin typeface="Bookman Old Style"/>
                <a:cs typeface="Bookman Old Style"/>
              </a:rPr>
              <a:t>α</a:t>
            </a:r>
            <a:r>
              <a:rPr dirty="0" sz="1100" spc="-35">
                <a:latin typeface="Georgia"/>
                <a:cs typeface="Georgia"/>
              </a:rPr>
              <a:t>(M)[M]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5631" y="1232535"/>
            <a:ext cx="11906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cα</a:t>
            </a:r>
            <a:r>
              <a:rPr dirty="0" sz="1100" spc="15">
                <a:latin typeface="Georgia"/>
                <a:cs typeface="Georgia"/>
              </a:rPr>
              <a:t>(MY)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(MY)[M]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93239" y="1442872"/>
            <a:ext cx="1575435" cy="0"/>
          </a:xfrm>
          <a:custGeom>
            <a:avLst/>
            <a:gdLst/>
            <a:ahLst/>
            <a:cxnLst/>
            <a:rect l="l" t="t" r="r" b="b"/>
            <a:pathLst>
              <a:path w="1575435" h="0">
                <a:moveTo>
                  <a:pt x="0" y="0"/>
                </a:moveTo>
                <a:lnTo>
                  <a:pt x="157509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980539" y="1421295"/>
            <a:ext cx="16008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(Y)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20" b="0" i="1">
                <a:latin typeface="Bookman Old Style"/>
                <a:cs typeface="Bookman Old Style"/>
              </a:rPr>
              <a:t>α</a:t>
            </a:r>
            <a:r>
              <a:rPr dirty="0" sz="1100" spc="20">
                <a:latin typeface="Georgia"/>
                <a:cs typeface="Georgia"/>
              </a:rPr>
              <a:t>(MY)</a:t>
            </a: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sz="1100" spc="20">
                <a:latin typeface="Georgia"/>
                <a:cs typeface="Georgia"/>
              </a:rPr>
              <a:t>(MY)[M]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10456" y="1143863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(35)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5844" y="2135568"/>
            <a:ext cx="441960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你愿意尝试一下如何推导多种金属离子与多种配位剂共存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200" spc="-5">
                <a:latin typeface="Arial Unicode MS"/>
                <a:cs typeface="Arial Unicode MS"/>
              </a:rPr>
              <a:t>滴定的通式</a:t>
            </a:r>
            <a:r>
              <a:rPr dirty="0" sz="1200" spc="65">
                <a:latin typeface="Arial Unicode MS"/>
                <a:cs typeface="Arial Unicode MS"/>
              </a:rPr>
              <a:t>吗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74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30909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1006462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2103247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2090547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875144"/>
            <a:ext cx="50749" cy="12281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1050738"/>
            <a:ext cx="4432935" cy="1103630"/>
          </a:xfrm>
          <a:custGeom>
            <a:avLst/>
            <a:gdLst/>
            <a:ahLst/>
            <a:cxnLst/>
            <a:rect l="l" t="t" r="r" b="b"/>
            <a:pathLst>
              <a:path w="4432935" h="1103630">
                <a:moveTo>
                  <a:pt x="4432566" y="0"/>
                </a:moveTo>
                <a:lnTo>
                  <a:pt x="0" y="0"/>
                </a:lnTo>
                <a:lnTo>
                  <a:pt x="0" y="1052508"/>
                </a:lnTo>
                <a:lnTo>
                  <a:pt x="4008" y="1072233"/>
                </a:lnTo>
                <a:lnTo>
                  <a:pt x="14922" y="1088386"/>
                </a:lnTo>
                <a:lnTo>
                  <a:pt x="31075" y="1099300"/>
                </a:lnTo>
                <a:lnTo>
                  <a:pt x="50800" y="1103309"/>
                </a:lnTo>
                <a:lnTo>
                  <a:pt x="4381765" y="1103309"/>
                </a:lnTo>
                <a:lnTo>
                  <a:pt x="4401490" y="1099300"/>
                </a:lnTo>
                <a:lnTo>
                  <a:pt x="4417643" y="1088386"/>
                </a:lnTo>
                <a:lnTo>
                  <a:pt x="4428558" y="1072233"/>
                </a:lnTo>
                <a:lnTo>
                  <a:pt x="4432566" y="1052508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913232"/>
            <a:ext cx="0" cy="1209675"/>
          </a:xfrm>
          <a:custGeom>
            <a:avLst/>
            <a:gdLst/>
            <a:ahLst/>
            <a:cxnLst/>
            <a:rect l="l" t="t" r="r" b="b"/>
            <a:pathLst>
              <a:path w="0" h="1209675">
                <a:moveTo>
                  <a:pt x="0" y="120906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90053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88783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87513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769823"/>
            <a:ext cx="4429125" cy="135763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5.5</a:t>
            </a:r>
            <a:endParaRPr sz="1200">
              <a:latin typeface="Calibri"/>
              <a:cs typeface="Calibri"/>
            </a:endParaRPr>
          </a:p>
          <a:p>
            <a:pPr marL="50800" marR="43180">
              <a:lnSpc>
                <a:spcPts val="1760"/>
              </a:lnSpc>
              <a:spcBef>
                <a:spcPts val="75"/>
              </a:spcBef>
            </a:pP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40">
                <a:latin typeface="Georgia"/>
                <a:cs typeface="Georgia"/>
              </a:rPr>
              <a:t>pH</a:t>
            </a:r>
            <a:r>
              <a:rPr dirty="0" sz="1100" spc="-40">
                <a:latin typeface="Lucida Sans Unicode"/>
                <a:cs typeface="Lucida Sans Unicode"/>
              </a:rPr>
              <a:t>≈</a:t>
            </a:r>
            <a:r>
              <a:rPr dirty="0" sz="1100" spc="-40">
                <a:latin typeface="Georgia"/>
                <a:cs typeface="Georgia"/>
              </a:rPr>
              <a:t>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的氨性溶液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65">
                <a:latin typeface="Georgia"/>
                <a:cs typeface="Georgia"/>
              </a:rPr>
              <a:t>0.02mol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65">
                <a:latin typeface="Georgia"/>
                <a:cs typeface="Georgia"/>
              </a:rPr>
              <a:t>0.02mol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  </a:t>
            </a:r>
            <a:r>
              <a:rPr dirty="0" sz="1100" spc="80">
                <a:latin typeface="Georgia"/>
                <a:cs typeface="Georgia"/>
              </a:rPr>
              <a:t>Cu</a:t>
            </a:r>
            <a:r>
              <a:rPr dirty="0" baseline="37037" sz="900" spc="120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65">
                <a:latin typeface="Georgia"/>
                <a:cs typeface="Georgia"/>
              </a:rPr>
              <a:t>0.02mol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37">
                <a:latin typeface="Times New Roman"/>
                <a:cs typeface="Times New Roman"/>
              </a:rPr>
              <a:t> 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的混合溶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以铜离子选择电极指示终 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实验结果表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若终点时游离氨的浓度控制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0.001mol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3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左 右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出现两个电位突</a:t>
            </a:r>
            <a:r>
              <a:rPr dirty="0" sz="1200" spc="-65">
                <a:latin typeface="Arial Unicode MS"/>
                <a:cs typeface="Arial Unicode MS"/>
              </a:rPr>
              <a:t>跃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若终点时游离氨浓度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0.2mol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Georgia"/>
                <a:cs typeface="Georgia"/>
              </a:rPr>
              <a:t>L</a:t>
            </a:r>
            <a:r>
              <a:rPr dirty="0" baseline="37037" sz="900" spc="-15">
                <a:latin typeface="Lucida Sans Unicode"/>
                <a:cs typeface="Lucida Sans Unicode"/>
              </a:rPr>
              <a:t>−</a:t>
            </a:r>
            <a:r>
              <a:rPr dirty="0" baseline="37037" sz="900" spc="-15">
                <a:latin typeface="Times New Roman"/>
                <a:cs typeface="Times New Roman"/>
              </a:rPr>
              <a:t>1</a:t>
            </a:r>
            <a:r>
              <a:rPr dirty="0" sz="1200" spc="-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只 有一个电位突</a:t>
            </a:r>
            <a:r>
              <a:rPr dirty="0" sz="1200" spc="-20">
                <a:latin typeface="Arial Unicode MS"/>
                <a:cs typeface="Arial Unicode MS"/>
              </a:rPr>
              <a:t>跃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试简要说明其原</a:t>
            </a:r>
            <a:r>
              <a:rPr dirty="0" sz="1200" spc="-20">
                <a:latin typeface="Arial Unicode MS"/>
                <a:cs typeface="Arial Unicode MS"/>
              </a:rPr>
              <a:t>因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557149"/>
            <a:ext cx="433641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300"/>
              </a:lnSpc>
              <a:spcBef>
                <a:spcPts val="100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本例涉及辅助配位剂存在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200" spc="-5">
                <a:latin typeface="Arial Unicode MS"/>
                <a:cs typeface="Arial Unicode MS"/>
              </a:rPr>
              <a:t>滴定两种金属离子的情 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建立这类体系的滴定方程是可以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但求解非常困</a:t>
            </a:r>
            <a:r>
              <a:rPr dirty="0" sz="1200" spc="-20">
                <a:latin typeface="Arial Unicode MS"/>
                <a:cs typeface="Arial Unicode MS"/>
              </a:rPr>
              <a:t>难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此处采 </a:t>
            </a:r>
            <a:r>
              <a:rPr dirty="0" sz="1200" spc="-5">
                <a:latin typeface="Arial Unicode MS"/>
                <a:cs typeface="Arial Unicode MS"/>
              </a:rPr>
              <a:t>用一种近似的处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即假定滴定过程中控制溶液中游离氨浓度不 </a:t>
            </a:r>
            <a:r>
              <a:rPr dirty="0" sz="1200" spc="-20">
                <a:latin typeface="Arial Unicode MS"/>
                <a:cs typeface="Arial Unicode MS"/>
              </a:rPr>
              <a:t>变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在这种情况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氨对滴定过程的影</a:t>
            </a:r>
            <a:r>
              <a:rPr dirty="0" sz="1200" spc="-80">
                <a:latin typeface="Arial Unicode MS"/>
                <a:cs typeface="Arial Unicode MS"/>
              </a:rPr>
              <a:t>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将反映到金属离子的副 </a:t>
            </a:r>
            <a:r>
              <a:rPr dirty="0" sz="1200" spc="-5">
                <a:latin typeface="Arial Unicode MS"/>
                <a:cs typeface="Arial Unicode MS"/>
              </a:rPr>
              <a:t>反应系数</a:t>
            </a:r>
            <a:r>
              <a:rPr dirty="0" sz="1200" spc="-20">
                <a:latin typeface="Arial Unicode MS"/>
                <a:cs typeface="Arial Unicode MS"/>
              </a:rPr>
              <a:t>上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76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44" y="557149"/>
            <a:ext cx="4418330" cy="195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165" marR="48260">
              <a:lnSpc>
                <a:spcPct val="122300"/>
              </a:lnSpc>
              <a:spcBef>
                <a:spcPts val="100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本例涉及辅助配位剂存在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200" spc="-5">
                <a:latin typeface="Arial Unicode MS"/>
                <a:cs typeface="Arial Unicode MS"/>
              </a:rPr>
              <a:t>滴定两种金属离子的情 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建立这类体系的滴定方程是可以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但求解非常困</a:t>
            </a:r>
            <a:r>
              <a:rPr dirty="0" sz="1200" spc="-20">
                <a:latin typeface="Arial Unicode MS"/>
                <a:cs typeface="Arial Unicode MS"/>
              </a:rPr>
              <a:t>难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此处采 </a:t>
            </a:r>
            <a:r>
              <a:rPr dirty="0" sz="1200" spc="-5">
                <a:latin typeface="Arial Unicode MS"/>
                <a:cs typeface="Arial Unicode MS"/>
              </a:rPr>
              <a:t>用一种近似的处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即假定滴定过程中控制溶液中游离氨浓度不 </a:t>
            </a:r>
            <a:r>
              <a:rPr dirty="0" sz="1200" spc="-20">
                <a:latin typeface="Arial Unicode MS"/>
                <a:cs typeface="Arial Unicode MS"/>
              </a:rPr>
              <a:t>变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在这种情况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氨对滴定过程的影</a:t>
            </a:r>
            <a:r>
              <a:rPr dirty="0" sz="1200" spc="-80">
                <a:latin typeface="Arial Unicode MS"/>
                <a:cs typeface="Arial Unicode MS"/>
              </a:rPr>
              <a:t>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将反映到金属离子的副 </a:t>
            </a:r>
            <a:r>
              <a:rPr dirty="0" sz="1200" spc="-5">
                <a:latin typeface="Arial Unicode MS"/>
                <a:cs typeface="Arial Unicode MS"/>
              </a:rPr>
              <a:t>反应系数</a:t>
            </a:r>
            <a:r>
              <a:rPr dirty="0" sz="1200" spc="-20">
                <a:latin typeface="Arial Unicode MS"/>
                <a:cs typeface="Arial Unicode MS"/>
              </a:rPr>
              <a:t>上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algn="r" marR="4699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通过计算可</a:t>
            </a:r>
            <a:r>
              <a:rPr dirty="0" sz="1200" spc="-80">
                <a:latin typeface="Arial Unicode MS"/>
                <a:cs typeface="Arial Unicode MS"/>
              </a:rPr>
              <a:t>得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当</a:t>
            </a:r>
            <a:r>
              <a:rPr dirty="0" sz="1100" spc="-45">
                <a:latin typeface="Georgia"/>
                <a:cs typeface="Georgia"/>
              </a:rPr>
              <a:t>[NH</a:t>
            </a:r>
            <a:r>
              <a:rPr dirty="0" baseline="-13888" sz="900" spc="-67">
                <a:latin typeface="Times New Roman"/>
                <a:cs typeface="Times New Roman"/>
              </a:rPr>
              <a:t>3</a:t>
            </a:r>
            <a:r>
              <a:rPr dirty="0" sz="1100" spc="-45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001mol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 b="0" i="1">
                <a:latin typeface="Bookman Old Style"/>
                <a:cs typeface="Bookman Old Style"/>
              </a:rPr>
              <a:t>α</a:t>
            </a:r>
            <a:r>
              <a:rPr dirty="0" sz="1100" spc="-20">
                <a:latin typeface="Georgia"/>
                <a:cs typeface="Georgia"/>
              </a:rPr>
              <a:t>(Cu)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242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53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algn="r" marR="4318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当</a:t>
            </a:r>
            <a:r>
              <a:rPr dirty="0" sz="1100" spc="-45">
                <a:latin typeface="Georgia"/>
                <a:cs typeface="Georgia"/>
              </a:rPr>
              <a:t>[NH</a:t>
            </a:r>
            <a:r>
              <a:rPr dirty="0" baseline="-13888" sz="900" spc="-67">
                <a:latin typeface="Times New Roman"/>
                <a:cs typeface="Times New Roman"/>
              </a:rPr>
              <a:t>3</a:t>
            </a:r>
            <a:r>
              <a:rPr dirty="0" sz="1100" spc="-45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2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127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 b="0" i="1">
                <a:latin typeface="Bookman Old Style"/>
                <a:cs typeface="Bookman Old Style"/>
              </a:rPr>
              <a:t>α</a:t>
            </a:r>
            <a:r>
              <a:rPr dirty="0" sz="1100" spc="-20">
                <a:latin typeface="Georgia"/>
                <a:cs typeface="Georgia"/>
              </a:rPr>
              <a:t>(Cu)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3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6588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37037" sz="900" spc="37">
                <a:latin typeface="Times New Roman"/>
                <a:cs typeface="Times New Roman"/>
              </a:rPr>
              <a:t>10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(Y)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Times New Roman"/>
                <a:cs typeface="Times New Roman"/>
              </a:rPr>
              <a:t>0</a:t>
            </a:r>
            <a:r>
              <a:rPr dirty="0" baseline="37037" sz="900" spc="44" i="1">
                <a:latin typeface="Arial"/>
                <a:cs typeface="Arial"/>
              </a:rPr>
              <a:t>.</a:t>
            </a:r>
            <a:r>
              <a:rPr dirty="0" baseline="37037" sz="900" spc="44">
                <a:latin typeface="Times New Roman"/>
                <a:cs typeface="Times New Roman"/>
              </a:rPr>
              <a:t>45</a:t>
            </a:r>
            <a:r>
              <a:rPr dirty="0" baseline="37037" sz="900" spc="284">
                <a:latin typeface="Times New Roman"/>
                <a:cs typeface="Times New Roman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它的副反应系数设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55">
                <a:latin typeface="Georgia"/>
                <a:cs typeface="Georgia"/>
              </a:rPr>
              <a:t>1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76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844" y="341464"/>
            <a:ext cx="4356735" cy="159131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4826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将上述副反应系数及各浓度值带入到滴定通</a:t>
            </a:r>
            <a:r>
              <a:rPr dirty="0" spc="-80"/>
              <a:t>式</a:t>
            </a:r>
            <a:r>
              <a:rPr dirty="0" spc="-185"/>
              <a:t>，</a:t>
            </a:r>
            <a:r>
              <a:rPr dirty="0" spc="-5"/>
              <a:t>计算得该体 系滴定过程的浓度曲</a:t>
            </a:r>
            <a:r>
              <a:rPr dirty="0" spc="-80"/>
              <a:t>线</a:t>
            </a:r>
            <a:r>
              <a:rPr dirty="0" spc="-185"/>
              <a:t>，</a:t>
            </a:r>
            <a:r>
              <a:rPr dirty="0" spc="-5"/>
              <a:t>如</a:t>
            </a:r>
            <a:r>
              <a:rPr dirty="0" spc="175"/>
              <a:t>图</a:t>
            </a:r>
            <a:r>
              <a:rPr dirty="0" sz="1100" spc="-5">
                <a:latin typeface="Georgia"/>
                <a:cs typeface="Georgia"/>
              </a:rPr>
              <a:t>14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pc="-5"/>
              <a:t>和</a:t>
            </a:r>
            <a:r>
              <a:rPr dirty="0" spc="175"/>
              <a:t>图</a:t>
            </a:r>
            <a:r>
              <a:rPr dirty="0" sz="1100" spc="15">
                <a:latin typeface="Georgia"/>
                <a:cs typeface="Georgia"/>
                <a:hlinkClick r:id="rId2" action="ppaction://hlinksldjump"/>
              </a:rPr>
              <a:t>15</a:t>
            </a:r>
            <a:r>
              <a:rPr dirty="0" sz="1100" spc="-105"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pc="-5"/>
              <a:t>所</a:t>
            </a:r>
            <a:r>
              <a:rPr dirty="0" spc="-20"/>
              <a:t>示</a:t>
            </a:r>
            <a:r>
              <a:rPr dirty="0" spc="-235"/>
              <a:t>。</a:t>
            </a:r>
            <a:r>
              <a:rPr dirty="0" spc="175"/>
              <a:t>图</a:t>
            </a:r>
            <a:r>
              <a:rPr dirty="0" sz="1100" spc="-5">
                <a:latin typeface="Georgia"/>
                <a:cs typeface="Georgia"/>
              </a:rPr>
              <a:t>14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pc="-5"/>
              <a:t>显示有两个滴 定突</a:t>
            </a:r>
            <a:r>
              <a:rPr dirty="0" spc="-80"/>
              <a:t>跃</a:t>
            </a:r>
            <a:r>
              <a:rPr dirty="0" spc="-185"/>
              <a:t>，</a:t>
            </a:r>
            <a:r>
              <a:rPr dirty="0" spc="-5"/>
              <a:t>而</a:t>
            </a:r>
            <a:r>
              <a:rPr dirty="0" spc="175"/>
              <a:t>图</a:t>
            </a:r>
            <a:r>
              <a:rPr dirty="0" sz="1100" spc="15">
                <a:latin typeface="Georgia"/>
                <a:cs typeface="Georgia"/>
                <a:hlinkClick r:id="rId2" action="ppaction://hlinksldjump"/>
              </a:rPr>
              <a:t>15</a:t>
            </a:r>
            <a:r>
              <a:rPr dirty="0" sz="1100" spc="-95"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pc="-5"/>
              <a:t>中只有一个滴定突</a:t>
            </a:r>
            <a:r>
              <a:rPr dirty="0" spc="-80"/>
              <a:t>跃</a:t>
            </a:r>
            <a:r>
              <a:rPr dirty="0" spc="-185"/>
              <a:t>，</a:t>
            </a:r>
            <a:r>
              <a:rPr dirty="0" spc="-5"/>
              <a:t>这都与实验结果一</a:t>
            </a:r>
            <a:r>
              <a:rPr dirty="0" spc="-20"/>
              <a:t>致</a:t>
            </a:r>
            <a:r>
              <a:rPr dirty="0" spc="-5"/>
              <a:t>。</a:t>
            </a:r>
            <a:endParaRPr sz="1100">
              <a:latin typeface="Georgia"/>
              <a:cs typeface="Georgia"/>
            </a:endParaRPr>
          </a:p>
          <a:p>
            <a:pPr marL="12700" marR="5080" indent="303530">
              <a:lnSpc>
                <a:spcPct val="122300"/>
              </a:lnSpc>
            </a:pPr>
            <a:r>
              <a:rPr dirty="0" spc="-5"/>
              <a:t>造成这种结果的原因是氨与铜离子形成了配合</a:t>
            </a:r>
            <a:r>
              <a:rPr dirty="0" spc="-80"/>
              <a:t>物</a:t>
            </a:r>
            <a:r>
              <a:rPr dirty="0" spc="-185"/>
              <a:t>，</a:t>
            </a:r>
            <a:r>
              <a:rPr dirty="0" spc="-5"/>
              <a:t>并且在游 </a:t>
            </a:r>
            <a:r>
              <a:rPr dirty="0" spc="-10"/>
              <a:t>离氨浓度很大</a:t>
            </a:r>
            <a:r>
              <a:rPr dirty="0" spc="-80"/>
              <a:t>时</a:t>
            </a:r>
            <a:r>
              <a:rPr dirty="0" spc="-204"/>
              <a:t>，</a:t>
            </a:r>
            <a:r>
              <a:rPr dirty="0" spc="-10"/>
              <a:t>使溶液中游离铜离子浓度锐</a:t>
            </a:r>
            <a:r>
              <a:rPr dirty="0" spc="-80"/>
              <a:t>减</a:t>
            </a:r>
            <a:r>
              <a:rPr dirty="0" spc="-204"/>
              <a:t>，</a:t>
            </a:r>
            <a:r>
              <a:rPr dirty="0" spc="-10"/>
              <a:t>从而改变了铜</a:t>
            </a:r>
            <a:r>
              <a:rPr dirty="0" spc="-5"/>
              <a:t>离 </a:t>
            </a:r>
            <a:r>
              <a:rPr dirty="0" spc="-5"/>
              <a:t>子的滴定进</a:t>
            </a:r>
            <a:r>
              <a:rPr dirty="0" spc="-20"/>
              <a:t>程</a:t>
            </a:r>
            <a:r>
              <a:rPr dirty="0" spc="-235"/>
              <a:t>。</a:t>
            </a:r>
            <a:r>
              <a:rPr dirty="0" spc="-5"/>
              <a:t>关于这一</a:t>
            </a:r>
            <a:r>
              <a:rPr dirty="0" spc="-80"/>
              <a:t>点</a:t>
            </a:r>
            <a:r>
              <a:rPr dirty="0" spc="-185"/>
              <a:t>，</a:t>
            </a:r>
            <a:r>
              <a:rPr dirty="0" spc="-5"/>
              <a:t>可以从</a:t>
            </a:r>
            <a:r>
              <a:rPr dirty="0" spc="175"/>
              <a:t>图</a:t>
            </a:r>
            <a:r>
              <a:rPr dirty="0" sz="1100" spc="15">
                <a:latin typeface="Georgia"/>
                <a:cs typeface="Georgia"/>
                <a:hlinkClick r:id="rId2" action="ppaction://hlinksldjump"/>
              </a:rPr>
              <a:t>15</a:t>
            </a:r>
            <a:r>
              <a:rPr dirty="0" sz="1100" spc="-100"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pc="-5"/>
              <a:t>中铜离子的浓度曲线的 起点被显著抬高而得到印</a:t>
            </a:r>
            <a:r>
              <a:rPr dirty="0" spc="-20"/>
              <a:t>证</a:t>
            </a:r>
            <a:r>
              <a:rPr dirty="0" spc="-5"/>
              <a:t>。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56" y="1948853"/>
            <a:ext cx="433959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8930">
              <a:lnSpc>
                <a:spcPts val="118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如果从条件稳定常数来</a:t>
            </a:r>
            <a:r>
              <a:rPr dirty="0" sz="1200" spc="-80">
                <a:latin typeface="Arial Unicode MS"/>
                <a:cs typeface="Arial Unicode MS"/>
              </a:rPr>
              <a:t>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175">
                <a:latin typeface="Arial Unicode MS"/>
                <a:cs typeface="Arial Unicode MS"/>
              </a:rPr>
              <a:t>于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37037" sz="900" spc="37">
                <a:latin typeface="Lucida Sans Unicode"/>
                <a:cs typeface="Lucida Sans Unicode"/>
              </a:rPr>
              <a:t>t</a:t>
            </a:r>
            <a:r>
              <a:rPr dirty="0" sz="1100" spc="25">
                <a:latin typeface="Georgia"/>
                <a:cs typeface="Georgia"/>
              </a:rPr>
              <a:t>(Cu(NH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8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24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algn="r" marR="1052195">
              <a:lnSpc>
                <a:spcPts val="459"/>
              </a:lnSpc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sz="1200" spc="765">
                <a:latin typeface="Arial Unicode MS"/>
                <a:cs typeface="Arial Unicode MS"/>
              </a:rPr>
              <a:t>"</a:t>
            </a:r>
            <a:r>
              <a:rPr dirty="0" sz="1200" spc="-16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(MgY)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8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70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略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故滴定过程中镁</a:t>
            </a:r>
            <a:r>
              <a:rPr dirty="0" sz="1200" spc="175">
                <a:latin typeface="Arial Unicode MS"/>
                <a:cs typeface="Arial Unicode MS"/>
              </a:rPr>
              <a:t>对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的竞争略占优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势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这也导致二者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5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处的浓度都不会发生显著的改</a:t>
            </a:r>
            <a:r>
              <a:rPr dirty="0" sz="1200" spc="-20">
                <a:latin typeface="Arial Unicode MS"/>
                <a:cs typeface="Arial Unicode MS"/>
              </a:rPr>
              <a:t>变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关于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这一点也可以从</a:t>
            </a:r>
            <a:r>
              <a:rPr dirty="0" sz="1200" spc="175">
                <a:latin typeface="Arial Unicode MS"/>
                <a:cs typeface="Arial Unicode MS"/>
              </a:rPr>
              <a:t>图</a:t>
            </a:r>
            <a:r>
              <a:rPr dirty="0" sz="1100" spc="15">
                <a:latin typeface="Georgia"/>
                <a:cs typeface="Georgia"/>
                <a:hlinkClick r:id="rId2" action="ppaction://hlinksldjump"/>
              </a:rPr>
              <a:t>15</a:t>
            </a:r>
            <a:r>
              <a:rPr dirty="0" sz="1100" spc="-90"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中得到很好的印</a:t>
            </a:r>
            <a:r>
              <a:rPr dirty="0" sz="1200" spc="-20">
                <a:latin typeface="Arial Unicode MS"/>
                <a:cs typeface="Arial Unicode MS"/>
              </a:rPr>
              <a:t>证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77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9814" y="368831"/>
            <a:ext cx="2247900" cy="0"/>
          </a:xfrm>
          <a:custGeom>
            <a:avLst/>
            <a:gdLst/>
            <a:ahLst/>
            <a:cxnLst/>
            <a:rect l="l" t="t" r="r" b="b"/>
            <a:pathLst>
              <a:path w="2247900" h="0">
                <a:moveTo>
                  <a:pt x="0" y="0"/>
                </a:moveTo>
                <a:lnTo>
                  <a:pt x="2247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49814" y="2140635"/>
            <a:ext cx="2247900" cy="0"/>
          </a:xfrm>
          <a:custGeom>
            <a:avLst/>
            <a:gdLst/>
            <a:ahLst/>
            <a:cxnLst/>
            <a:rect l="l" t="t" r="r" b="b"/>
            <a:pathLst>
              <a:path w="2247900" h="0">
                <a:moveTo>
                  <a:pt x="0" y="0"/>
                </a:moveTo>
                <a:lnTo>
                  <a:pt x="2247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97367" y="368831"/>
            <a:ext cx="0" cy="1772285"/>
          </a:xfrm>
          <a:custGeom>
            <a:avLst/>
            <a:gdLst/>
            <a:ahLst/>
            <a:cxnLst/>
            <a:rect l="l" t="t" r="r" b="b"/>
            <a:pathLst>
              <a:path w="0" h="1772285">
                <a:moveTo>
                  <a:pt x="0" y="177180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49814" y="368831"/>
            <a:ext cx="0" cy="1772285"/>
          </a:xfrm>
          <a:custGeom>
            <a:avLst/>
            <a:gdLst/>
            <a:ahLst/>
            <a:cxnLst/>
            <a:rect l="l" t="t" r="r" b="b"/>
            <a:pathLst>
              <a:path w="0" h="1772285">
                <a:moveTo>
                  <a:pt x="0" y="177180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49814" y="2140635"/>
            <a:ext cx="2247900" cy="0"/>
          </a:xfrm>
          <a:custGeom>
            <a:avLst/>
            <a:gdLst/>
            <a:ahLst/>
            <a:cxnLst/>
            <a:rect l="l" t="t" r="r" b="b"/>
            <a:pathLst>
              <a:path w="2247900" h="0">
                <a:moveTo>
                  <a:pt x="0" y="0"/>
                </a:moveTo>
                <a:lnTo>
                  <a:pt x="2247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49814" y="368831"/>
            <a:ext cx="0" cy="1772285"/>
          </a:xfrm>
          <a:custGeom>
            <a:avLst/>
            <a:gdLst/>
            <a:ahLst/>
            <a:cxnLst/>
            <a:rect l="l" t="t" r="r" b="b"/>
            <a:pathLst>
              <a:path w="0" h="1772285">
                <a:moveTo>
                  <a:pt x="0" y="177180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49814" y="21180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6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49814" y="36883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22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17831" y="2137155"/>
            <a:ext cx="64769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0892" y="21180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6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70892" y="36883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22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09569" y="2137155"/>
            <a:ext cx="12382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">
                <a:latin typeface="Arial"/>
                <a:cs typeface="Arial"/>
              </a:rPr>
              <a:t>0.5</a:t>
            </a:r>
            <a:endParaRPr sz="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91969" y="21180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6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91969" y="36883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22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989" y="2137155"/>
            <a:ext cx="64769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13052" y="21180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6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13052" y="36883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22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51727" y="2137155"/>
            <a:ext cx="12382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">
                <a:latin typeface="Arial"/>
                <a:cs typeface="Arial"/>
              </a:rPr>
              <a:t>1.5</a:t>
            </a:r>
            <a:endParaRPr sz="5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34129" y="21180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6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34129" y="36883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22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502148" y="2137155"/>
            <a:ext cx="64769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55207" y="21180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6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55207" y="36883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22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793886" y="2137155"/>
            <a:ext cx="12382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">
                <a:latin typeface="Arial"/>
                <a:cs typeface="Arial"/>
              </a:rPr>
              <a:t>2.5</a:t>
            </a:r>
            <a:endParaRPr sz="5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76289" y="21180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6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76289" y="36883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22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144306" y="2137155"/>
            <a:ext cx="64769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latin typeface="Arial"/>
                <a:cs typeface="Arial"/>
              </a:rPr>
              <a:t>3</a:t>
            </a:r>
            <a:endParaRPr sz="5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497367" y="2118000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6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97367" y="36883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221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436044" y="2137155"/>
            <a:ext cx="12382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">
                <a:latin typeface="Arial"/>
                <a:cs typeface="Arial"/>
              </a:rPr>
              <a:t>3.5</a:t>
            </a:r>
            <a:endParaRPr sz="5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49814" y="214063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474732" y="2140635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83459" y="2083502"/>
            <a:ext cx="64769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249814" y="1963329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474732" y="1963329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183459" y="1906195"/>
            <a:ext cx="64769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249814" y="1786022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74732" y="1786022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183459" y="1728889"/>
            <a:ext cx="64769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249814" y="1608716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74732" y="1608716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49814" y="1431828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474732" y="1431828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49814" y="1254521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474732" y="1254521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49814" y="107721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74732" y="1077215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144477" y="1020084"/>
            <a:ext cx="104139" cy="641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">
                <a:latin typeface="Arial"/>
                <a:cs typeface="Arial"/>
              </a:rPr>
              <a:t>12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-5">
                <a:latin typeface="Arial"/>
                <a:cs typeface="Arial"/>
              </a:rPr>
              <a:t>10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</a:pPr>
            <a:r>
              <a:rPr dirty="0" sz="550">
                <a:latin typeface="Arial"/>
                <a:cs typeface="Arial"/>
              </a:rPr>
              <a:t>8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  <a:spcBef>
                <a:spcPts val="5"/>
              </a:spcBef>
            </a:pPr>
            <a:r>
              <a:rPr dirty="0" sz="550">
                <a:latin typeface="Arial"/>
                <a:cs typeface="Arial"/>
              </a:rPr>
              <a:t>6</a:t>
            </a:r>
            <a:endParaRPr sz="5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249814" y="900327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474732" y="900327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144477" y="843197"/>
            <a:ext cx="104139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">
                <a:latin typeface="Arial"/>
                <a:cs typeface="Arial"/>
              </a:rPr>
              <a:t>14</a:t>
            </a:r>
            <a:endParaRPr sz="55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249814" y="723021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474732" y="723021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249814" y="545714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474732" y="545714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249814" y="368831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21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474732" y="368831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63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1144477" y="311697"/>
            <a:ext cx="104139" cy="46418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">
                <a:latin typeface="Arial"/>
                <a:cs typeface="Arial"/>
              </a:rPr>
              <a:t>20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-5">
                <a:latin typeface="Arial"/>
                <a:cs typeface="Arial"/>
              </a:rPr>
              <a:t>18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-5">
                <a:latin typeface="Arial"/>
                <a:cs typeface="Arial"/>
              </a:rPr>
              <a:t>16</a:t>
            </a:r>
            <a:endParaRPr sz="55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249814" y="368831"/>
            <a:ext cx="2247900" cy="0"/>
          </a:xfrm>
          <a:custGeom>
            <a:avLst/>
            <a:gdLst/>
            <a:ahLst/>
            <a:cxnLst/>
            <a:rect l="l" t="t" r="r" b="b"/>
            <a:pathLst>
              <a:path w="2247900" h="0">
                <a:moveTo>
                  <a:pt x="0" y="0"/>
                </a:moveTo>
                <a:lnTo>
                  <a:pt x="2247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249814" y="2140635"/>
            <a:ext cx="2247900" cy="0"/>
          </a:xfrm>
          <a:custGeom>
            <a:avLst/>
            <a:gdLst/>
            <a:ahLst/>
            <a:cxnLst/>
            <a:rect l="l" t="t" r="r" b="b"/>
            <a:pathLst>
              <a:path w="2247900" h="0">
                <a:moveTo>
                  <a:pt x="0" y="0"/>
                </a:moveTo>
                <a:lnTo>
                  <a:pt x="224755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497367" y="368831"/>
            <a:ext cx="0" cy="1772285"/>
          </a:xfrm>
          <a:custGeom>
            <a:avLst/>
            <a:gdLst/>
            <a:ahLst/>
            <a:cxnLst/>
            <a:rect l="l" t="t" r="r" b="b"/>
            <a:pathLst>
              <a:path w="0" h="1772285">
                <a:moveTo>
                  <a:pt x="0" y="177180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249814" y="368831"/>
            <a:ext cx="0" cy="1772285"/>
          </a:xfrm>
          <a:custGeom>
            <a:avLst/>
            <a:gdLst/>
            <a:ahLst/>
            <a:cxnLst/>
            <a:rect l="l" t="t" r="r" b="b"/>
            <a:pathLst>
              <a:path w="0" h="1772285">
                <a:moveTo>
                  <a:pt x="0" y="177180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598261" y="502120"/>
            <a:ext cx="824230" cy="101600"/>
          </a:xfrm>
          <a:custGeom>
            <a:avLst/>
            <a:gdLst/>
            <a:ahLst/>
            <a:cxnLst/>
            <a:rect l="l" t="t" r="r" b="b"/>
            <a:pathLst>
              <a:path w="824229" h="101600">
                <a:moveTo>
                  <a:pt x="0" y="101439"/>
                </a:moveTo>
                <a:lnTo>
                  <a:pt x="34441" y="84662"/>
                </a:lnTo>
                <a:lnTo>
                  <a:pt x="72503" y="72098"/>
                </a:lnTo>
                <a:lnTo>
                  <a:pt x="111619" y="62572"/>
                </a:lnTo>
                <a:lnTo>
                  <a:pt x="149223" y="54912"/>
                </a:lnTo>
                <a:lnTo>
                  <a:pt x="200699" y="47030"/>
                </a:lnTo>
                <a:lnTo>
                  <a:pt x="252295" y="40120"/>
                </a:lnTo>
                <a:lnTo>
                  <a:pt x="303996" y="34084"/>
                </a:lnTo>
                <a:lnTo>
                  <a:pt x="355788" y="28822"/>
                </a:lnTo>
                <a:lnTo>
                  <a:pt x="407657" y="24235"/>
                </a:lnTo>
                <a:lnTo>
                  <a:pt x="459589" y="20225"/>
                </a:lnTo>
                <a:lnTo>
                  <a:pt x="511569" y="16693"/>
                </a:lnTo>
                <a:lnTo>
                  <a:pt x="563582" y="13540"/>
                </a:lnTo>
                <a:lnTo>
                  <a:pt x="615615" y="10666"/>
                </a:lnTo>
                <a:lnTo>
                  <a:pt x="667653" y="7975"/>
                </a:lnTo>
                <a:lnTo>
                  <a:pt x="719683" y="5366"/>
                </a:lnTo>
                <a:lnTo>
                  <a:pt x="771688" y="2740"/>
                </a:lnTo>
                <a:lnTo>
                  <a:pt x="823656" y="0"/>
                </a:lnTo>
              </a:path>
            </a:pathLst>
          </a:custGeom>
          <a:ln w="1005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392873" y="598529"/>
            <a:ext cx="210418" cy="4116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068858" y="1005121"/>
            <a:ext cx="329565" cy="95885"/>
          </a:xfrm>
          <a:custGeom>
            <a:avLst/>
            <a:gdLst/>
            <a:ahLst/>
            <a:cxnLst/>
            <a:rect l="l" t="t" r="r" b="b"/>
            <a:pathLst>
              <a:path w="329564" h="95884">
                <a:moveTo>
                  <a:pt x="0" y="95569"/>
                </a:moveTo>
                <a:lnTo>
                  <a:pt x="46698" y="81222"/>
                </a:lnTo>
                <a:lnTo>
                  <a:pt x="93891" y="68056"/>
                </a:lnTo>
                <a:lnTo>
                  <a:pt x="141344" y="55501"/>
                </a:lnTo>
                <a:lnTo>
                  <a:pt x="188820" y="42987"/>
                </a:lnTo>
                <a:lnTo>
                  <a:pt x="236086" y="29945"/>
                </a:lnTo>
                <a:lnTo>
                  <a:pt x="282906" y="15806"/>
                </a:lnTo>
                <a:lnTo>
                  <a:pt x="329045" y="0"/>
                </a:lnTo>
              </a:path>
            </a:pathLst>
          </a:custGeom>
          <a:ln w="1005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910832" y="1095660"/>
            <a:ext cx="163056" cy="101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889037" y="1192487"/>
            <a:ext cx="27305" cy="347345"/>
          </a:xfrm>
          <a:custGeom>
            <a:avLst/>
            <a:gdLst/>
            <a:ahLst/>
            <a:cxnLst/>
            <a:rect l="l" t="t" r="r" b="b"/>
            <a:pathLst>
              <a:path w="27305" h="347344">
                <a:moveTo>
                  <a:pt x="0" y="347067"/>
                </a:moveTo>
                <a:lnTo>
                  <a:pt x="417" y="346227"/>
                </a:lnTo>
                <a:lnTo>
                  <a:pt x="417" y="339939"/>
                </a:lnTo>
                <a:lnTo>
                  <a:pt x="840" y="339099"/>
                </a:lnTo>
                <a:lnTo>
                  <a:pt x="840" y="331137"/>
                </a:lnTo>
                <a:lnTo>
                  <a:pt x="1257" y="330297"/>
                </a:lnTo>
                <a:lnTo>
                  <a:pt x="1257" y="320660"/>
                </a:lnTo>
                <a:lnTo>
                  <a:pt x="1674" y="319820"/>
                </a:lnTo>
                <a:lnTo>
                  <a:pt x="1674" y="304730"/>
                </a:lnTo>
                <a:lnTo>
                  <a:pt x="2097" y="303890"/>
                </a:lnTo>
                <a:lnTo>
                  <a:pt x="2097" y="279162"/>
                </a:lnTo>
                <a:lnTo>
                  <a:pt x="2514" y="278322"/>
                </a:lnTo>
                <a:lnTo>
                  <a:pt x="2514" y="217963"/>
                </a:lnTo>
                <a:lnTo>
                  <a:pt x="2932" y="217123"/>
                </a:lnTo>
                <a:lnTo>
                  <a:pt x="2932" y="156763"/>
                </a:lnTo>
                <a:lnTo>
                  <a:pt x="3354" y="155928"/>
                </a:lnTo>
                <a:lnTo>
                  <a:pt x="3354" y="131196"/>
                </a:lnTo>
                <a:lnTo>
                  <a:pt x="3772" y="130356"/>
                </a:lnTo>
                <a:lnTo>
                  <a:pt x="3772" y="116106"/>
                </a:lnTo>
                <a:lnTo>
                  <a:pt x="4189" y="115266"/>
                </a:lnTo>
                <a:lnTo>
                  <a:pt x="4189" y="105206"/>
                </a:lnTo>
                <a:lnTo>
                  <a:pt x="4612" y="104371"/>
                </a:lnTo>
                <a:lnTo>
                  <a:pt x="4612" y="96404"/>
                </a:lnTo>
                <a:lnTo>
                  <a:pt x="5029" y="95569"/>
                </a:lnTo>
                <a:lnTo>
                  <a:pt x="5029" y="89281"/>
                </a:lnTo>
                <a:lnTo>
                  <a:pt x="5447" y="88441"/>
                </a:lnTo>
                <a:lnTo>
                  <a:pt x="5447" y="83411"/>
                </a:lnTo>
                <a:lnTo>
                  <a:pt x="5869" y="82154"/>
                </a:lnTo>
                <a:lnTo>
                  <a:pt x="5869" y="77964"/>
                </a:lnTo>
                <a:lnTo>
                  <a:pt x="6287" y="77124"/>
                </a:lnTo>
                <a:lnTo>
                  <a:pt x="6287" y="73351"/>
                </a:lnTo>
                <a:lnTo>
                  <a:pt x="7021" y="70887"/>
                </a:lnTo>
                <a:lnTo>
                  <a:pt x="7333" y="65620"/>
                </a:lnTo>
                <a:lnTo>
                  <a:pt x="7544" y="62874"/>
                </a:lnTo>
                <a:lnTo>
                  <a:pt x="7962" y="62034"/>
                </a:lnTo>
                <a:lnTo>
                  <a:pt x="7962" y="59102"/>
                </a:lnTo>
                <a:lnTo>
                  <a:pt x="8384" y="58262"/>
                </a:lnTo>
                <a:lnTo>
                  <a:pt x="8384" y="56587"/>
                </a:lnTo>
                <a:lnTo>
                  <a:pt x="8802" y="55747"/>
                </a:lnTo>
                <a:lnTo>
                  <a:pt x="8802" y="54072"/>
                </a:lnTo>
                <a:lnTo>
                  <a:pt x="9597" y="51270"/>
                </a:lnTo>
                <a:lnTo>
                  <a:pt x="9506" y="48443"/>
                </a:lnTo>
                <a:lnTo>
                  <a:pt x="10477" y="45687"/>
                </a:lnTo>
                <a:lnTo>
                  <a:pt x="11121" y="41874"/>
                </a:lnTo>
                <a:lnTo>
                  <a:pt x="11800" y="38051"/>
                </a:lnTo>
                <a:lnTo>
                  <a:pt x="12992" y="34369"/>
                </a:lnTo>
                <a:lnTo>
                  <a:pt x="13797" y="32619"/>
                </a:lnTo>
                <a:lnTo>
                  <a:pt x="13470" y="30582"/>
                </a:lnTo>
                <a:lnTo>
                  <a:pt x="14672" y="28922"/>
                </a:lnTo>
                <a:lnTo>
                  <a:pt x="14652" y="26734"/>
                </a:lnTo>
                <a:lnTo>
                  <a:pt x="16085" y="24732"/>
                </a:lnTo>
                <a:lnTo>
                  <a:pt x="16347" y="22634"/>
                </a:lnTo>
                <a:lnTo>
                  <a:pt x="18857" y="18228"/>
                </a:lnTo>
                <a:lnTo>
                  <a:pt x="16478" y="20627"/>
                </a:lnTo>
                <a:lnTo>
                  <a:pt x="18444" y="17182"/>
                </a:lnTo>
                <a:lnTo>
                  <a:pt x="19923" y="14219"/>
                </a:lnTo>
                <a:lnTo>
                  <a:pt x="19787" y="14918"/>
                </a:lnTo>
                <a:lnTo>
                  <a:pt x="20537" y="11734"/>
                </a:lnTo>
                <a:lnTo>
                  <a:pt x="21819" y="9018"/>
                </a:lnTo>
                <a:lnTo>
                  <a:pt x="23474" y="6704"/>
                </a:lnTo>
                <a:lnTo>
                  <a:pt x="24088" y="4064"/>
                </a:lnTo>
                <a:lnTo>
                  <a:pt x="26160" y="1856"/>
                </a:lnTo>
                <a:lnTo>
                  <a:pt x="26824" y="0"/>
                </a:lnTo>
              </a:path>
            </a:pathLst>
          </a:custGeom>
          <a:ln w="1005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629576" y="1534524"/>
            <a:ext cx="264490" cy="1957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334901" y="1725240"/>
            <a:ext cx="299720" cy="43180"/>
          </a:xfrm>
          <a:custGeom>
            <a:avLst/>
            <a:gdLst/>
            <a:ahLst/>
            <a:cxnLst/>
            <a:rect l="l" t="t" r="r" b="b"/>
            <a:pathLst>
              <a:path w="299719" h="43180">
                <a:moveTo>
                  <a:pt x="0" y="43177"/>
                </a:moveTo>
                <a:lnTo>
                  <a:pt x="49893" y="36896"/>
                </a:lnTo>
                <a:lnTo>
                  <a:pt x="99977" y="30514"/>
                </a:lnTo>
                <a:lnTo>
                  <a:pt x="150125" y="23831"/>
                </a:lnTo>
                <a:lnTo>
                  <a:pt x="200212" y="16649"/>
                </a:lnTo>
                <a:lnTo>
                  <a:pt x="250112" y="8772"/>
                </a:lnTo>
                <a:lnTo>
                  <a:pt x="299700" y="0"/>
                </a:lnTo>
              </a:path>
            </a:pathLst>
          </a:custGeom>
          <a:ln w="1005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56519" y="1768418"/>
            <a:ext cx="78740" cy="9525"/>
          </a:xfrm>
          <a:custGeom>
            <a:avLst/>
            <a:gdLst/>
            <a:ahLst/>
            <a:cxnLst/>
            <a:rect l="l" t="t" r="r" b="b"/>
            <a:pathLst>
              <a:path w="78740" h="9525">
                <a:moveTo>
                  <a:pt x="0" y="9219"/>
                </a:moveTo>
                <a:lnTo>
                  <a:pt x="840" y="9219"/>
                </a:lnTo>
                <a:lnTo>
                  <a:pt x="1674" y="9219"/>
                </a:lnTo>
                <a:lnTo>
                  <a:pt x="2514" y="9219"/>
                </a:lnTo>
                <a:lnTo>
                  <a:pt x="2932" y="9219"/>
                </a:lnTo>
                <a:lnTo>
                  <a:pt x="3354" y="8802"/>
                </a:lnTo>
                <a:lnTo>
                  <a:pt x="6704" y="8802"/>
                </a:lnTo>
                <a:lnTo>
                  <a:pt x="7127" y="8379"/>
                </a:lnTo>
                <a:lnTo>
                  <a:pt x="7544" y="8379"/>
                </a:lnTo>
                <a:lnTo>
                  <a:pt x="8384" y="8379"/>
                </a:lnTo>
                <a:lnTo>
                  <a:pt x="9219" y="8379"/>
                </a:lnTo>
                <a:lnTo>
                  <a:pt x="10059" y="8379"/>
                </a:lnTo>
                <a:lnTo>
                  <a:pt x="10477" y="7962"/>
                </a:lnTo>
                <a:lnTo>
                  <a:pt x="13414" y="7962"/>
                </a:lnTo>
                <a:lnTo>
                  <a:pt x="13832" y="7544"/>
                </a:lnTo>
                <a:lnTo>
                  <a:pt x="15507" y="7544"/>
                </a:lnTo>
                <a:lnTo>
                  <a:pt x="18022" y="7690"/>
                </a:lnTo>
                <a:lnTo>
                  <a:pt x="16453" y="7001"/>
                </a:lnTo>
                <a:lnTo>
                  <a:pt x="18444" y="7122"/>
                </a:lnTo>
                <a:lnTo>
                  <a:pt x="21583" y="7308"/>
                </a:lnTo>
                <a:lnTo>
                  <a:pt x="19506" y="6508"/>
                </a:lnTo>
                <a:lnTo>
                  <a:pt x="22634" y="6704"/>
                </a:lnTo>
                <a:lnTo>
                  <a:pt x="25159" y="6870"/>
                </a:lnTo>
                <a:lnTo>
                  <a:pt x="23248" y="6081"/>
                </a:lnTo>
                <a:lnTo>
                  <a:pt x="26824" y="6287"/>
                </a:lnTo>
                <a:lnTo>
                  <a:pt x="27664" y="6287"/>
                </a:lnTo>
                <a:lnTo>
                  <a:pt x="28504" y="5864"/>
                </a:lnTo>
                <a:lnTo>
                  <a:pt x="30597" y="5864"/>
                </a:lnTo>
                <a:lnTo>
                  <a:pt x="31437" y="5447"/>
                </a:lnTo>
                <a:lnTo>
                  <a:pt x="35224" y="5553"/>
                </a:lnTo>
                <a:lnTo>
                  <a:pt x="40295" y="4255"/>
                </a:lnTo>
                <a:lnTo>
                  <a:pt x="44012" y="4189"/>
                </a:lnTo>
                <a:lnTo>
                  <a:pt x="45269" y="3772"/>
                </a:lnTo>
                <a:lnTo>
                  <a:pt x="48624" y="3772"/>
                </a:lnTo>
                <a:lnTo>
                  <a:pt x="49882" y="3349"/>
                </a:lnTo>
                <a:lnTo>
                  <a:pt x="50722" y="3349"/>
                </a:lnTo>
                <a:lnTo>
                  <a:pt x="51853" y="2902"/>
                </a:lnTo>
                <a:lnTo>
                  <a:pt x="57432" y="2434"/>
                </a:lnTo>
                <a:lnTo>
                  <a:pt x="58684" y="2514"/>
                </a:lnTo>
                <a:lnTo>
                  <a:pt x="65183" y="1403"/>
                </a:lnTo>
                <a:lnTo>
                  <a:pt x="71802" y="754"/>
                </a:lnTo>
                <a:lnTo>
                  <a:pt x="78386" y="0"/>
                </a:lnTo>
              </a:path>
            </a:pathLst>
          </a:custGeom>
          <a:ln w="1005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598261" y="1397035"/>
            <a:ext cx="824230" cy="101600"/>
          </a:xfrm>
          <a:custGeom>
            <a:avLst/>
            <a:gdLst/>
            <a:ahLst/>
            <a:cxnLst/>
            <a:rect l="l" t="t" r="r" b="b"/>
            <a:pathLst>
              <a:path w="824229" h="101600">
                <a:moveTo>
                  <a:pt x="0" y="101021"/>
                </a:moveTo>
                <a:lnTo>
                  <a:pt x="34763" y="84432"/>
                </a:lnTo>
                <a:lnTo>
                  <a:pt x="72559" y="71929"/>
                </a:lnTo>
                <a:lnTo>
                  <a:pt x="111381" y="62444"/>
                </a:lnTo>
                <a:lnTo>
                  <a:pt x="149223" y="54912"/>
                </a:lnTo>
                <a:lnTo>
                  <a:pt x="200688" y="46978"/>
                </a:lnTo>
                <a:lnTo>
                  <a:pt x="252276" y="40023"/>
                </a:lnTo>
                <a:lnTo>
                  <a:pt x="303973" y="33949"/>
                </a:lnTo>
                <a:lnTo>
                  <a:pt x="355763" y="28657"/>
                </a:lnTo>
                <a:lnTo>
                  <a:pt x="407632" y="24049"/>
                </a:lnTo>
                <a:lnTo>
                  <a:pt x="459565" y="20026"/>
                </a:lnTo>
                <a:lnTo>
                  <a:pt x="511548" y="16491"/>
                </a:lnTo>
                <a:lnTo>
                  <a:pt x="563565" y="13344"/>
                </a:lnTo>
                <a:lnTo>
                  <a:pt x="615602" y="10488"/>
                </a:lnTo>
                <a:lnTo>
                  <a:pt x="667645" y="7824"/>
                </a:lnTo>
                <a:lnTo>
                  <a:pt x="719678" y="5253"/>
                </a:lnTo>
                <a:lnTo>
                  <a:pt x="771686" y="2678"/>
                </a:lnTo>
                <a:lnTo>
                  <a:pt x="823656" y="0"/>
                </a:lnTo>
              </a:path>
            </a:pathLst>
          </a:custGeom>
          <a:ln w="1005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392873" y="1493027"/>
            <a:ext cx="210418" cy="4028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068858" y="1890812"/>
            <a:ext cx="329565" cy="55244"/>
          </a:xfrm>
          <a:custGeom>
            <a:avLst/>
            <a:gdLst/>
            <a:ahLst/>
            <a:cxnLst/>
            <a:rect l="l" t="t" r="r" b="b"/>
            <a:pathLst>
              <a:path w="329564" h="55244">
                <a:moveTo>
                  <a:pt x="0" y="54912"/>
                </a:moveTo>
                <a:lnTo>
                  <a:pt x="46841" y="49603"/>
                </a:lnTo>
                <a:lnTo>
                  <a:pt x="94306" y="43928"/>
                </a:lnTo>
                <a:lnTo>
                  <a:pt x="142053" y="37598"/>
                </a:lnTo>
                <a:lnTo>
                  <a:pt x="189741" y="30328"/>
                </a:lnTo>
                <a:lnTo>
                  <a:pt x="237029" y="21830"/>
                </a:lnTo>
                <a:lnTo>
                  <a:pt x="283578" y="11816"/>
                </a:lnTo>
                <a:lnTo>
                  <a:pt x="329045" y="0"/>
                </a:lnTo>
              </a:path>
            </a:pathLst>
          </a:custGeom>
          <a:ln w="1005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915861" y="1945724"/>
            <a:ext cx="153035" cy="15875"/>
          </a:xfrm>
          <a:custGeom>
            <a:avLst/>
            <a:gdLst/>
            <a:ahLst/>
            <a:cxnLst/>
            <a:rect l="l" t="t" r="r" b="b"/>
            <a:pathLst>
              <a:path w="153035" h="15875">
                <a:moveTo>
                  <a:pt x="0" y="15507"/>
                </a:moveTo>
                <a:lnTo>
                  <a:pt x="422" y="15089"/>
                </a:lnTo>
                <a:lnTo>
                  <a:pt x="3354" y="15089"/>
                </a:lnTo>
                <a:lnTo>
                  <a:pt x="6624" y="15230"/>
                </a:lnTo>
                <a:lnTo>
                  <a:pt x="2625" y="14496"/>
                </a:lnTo>
                <a:lnTo>
                  <a:pt x="7127" y="14667"/>
                </a:lnTo>
                <a:lnTo>
                  <a:pt x="10970" y="14883"/>
                </a:lnTo>
                <a:lnTo>
                  <a:pt x="8299" y="14068"/>
                </a:lnTo>
                <a:lnTo>
                  <a:pt x="11739" y="14249"/>
                </a:lnTo>
                <a:lnTo>
                  <a:pt x="13912" y="14380"/>
                </a:lnTo>
                <a:lnTo>
                  <a:pt x="13138" y="13535"/>
                </a:lnTo>
                <a:lnTo>
                  <a:pt x="16769" y="13832"/>
                </a:lnTo>
                <a:lnTo>
                  <a:pt x="23725" y="13157"/>
                </a:lnTo>
                <a:lnTo>
                  <a:pt x="30777" y="12473"/>
                </a:lnTo>
                <a:lnTo>
                  <a:pt x="37845" y="11839"/>
                </a:lnTo>
                <a:lnTo>
                  <a:pt x="44852" y="11317"/>
                </a:lnTo>
                <a:lnTo>
                  <a:pt x="50621" y="10391"/>
                </a:lnTo>
                <a:lnTo>
                  <a:pt x="57864" y="10105"/>
                </a:lnTo>
                <a:lnTo>
                  <a:pt x="63714" y="9219"/>
                </a:lnTo>
                <a:lnTo>
                  <a:pt x="72049" y="8651"/>
                </a:lnTo>
                <a:lnTo>
                  <a:pt x="80574" y="7720"/>
                </a:lnTo>
                <a:lnTo>
                  <a:pt x="88864" y="6704"/>
                </a:lnTo>
                <a:lnTo>
                  <a:pt x="104852" y="5203"/>
                </a:lnTo>
                <a:lnTo>
                  <a:pt x="120928" y="3580"/>
                </a:lnTo>
                <a:lnTo>
                  <a:pt x="137005" y="1843"/>
                </a:lnTo>
                <a:lnTo>
                  <a:pt x="152996" y="0"/>
                </a:lnTo>
              </a:path>
            </a:pathLst>
          </a:custGeom>
          <a:ln w="1005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873529" y="1961231"/>
            <a:ext cx="42545" cy="2540"/>
          </a:xfrm>
          <a:custGeom>
            <a:avLst/>
            <a:gdLst/>
            <a:ahLst/>
            <a:cxnLst/>
            <a:rect l="l" t="t" r="r" b="b"/>
            <a:pathLst>
              <a:path w="42544" h="2539">
                <a:moveTo>
                  <a:pt x="0" y="2514"/>
                </a:moveTo>
                <a:lnTo>
                  <a:pt x="0" y="2514"/>
                </a:lnTo>
                <a:lnTo>
                  <a:pt x="7962" y="2514"/>
                </a:lnTo>
                <a:lnTo>
                  <a:pt x="8379" y="2097"/>
                </a:lnTo>
                <a:lnTo>
                  <a:pt x="19279" y="2097"/>
                </a:lnTo>
                <a:lnTo>
                  <a:pt x="19697" y="1674"/>
                </a:lnTo>
                <a:lnTo>
                  <a:pt x="23892" y="1674"/>
                </a:lnTo>
                <a:lnTo>
                  <a:pt x="24309" y="1257"/>
                </a:lnTo>
                <a:lnTo>
                  <a:pt x="28499" y="1257"/>
                </a:lnTo>
                <a:lnTo>
                  <a:pt x="28922" y="840"/>
                </a:lnTo>
                <a:lnTo>
                  <a:pt x="31014" y="840"/>
                </a:lnTo>
                <a:lnTo>
                  <a:pt x="34696" y="1031"/>
                </a:lnTo>
                <a:lnTo>
                  <a:pt x="31889" y="201"/>
                </a:lnTo>
                <a:lnTo>
                  <a:pt x="36044" y="417"/>
                </a:lnTo>
                <a:lnTo>
                  <a:pt x="37724" y="417"/>
                </a:lnTo>
                <a:lnTo>
                  <a:pt x="38559" y="0"/>
                </a:lnTo>
                <a:lnTo>
                  <a:pt x="38982" y="0"/>
                </a:lnTo>
                <a:lnTo>
                  <a:pt x="40098" y="0"/>
                </a:lnTo>
                <a:lnTo>
                  <a:pt x="41215" y="0"/>
                </a:lnTo>
                <a:lnTo>
                  <a:pt x="42337" y="0"/>
                </a:lnTo>
              </a:path>
            </a:pathLst>
          </a:custGeom>
          <a:ln w="1005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749455" y="1963746"/>
            <a:ext cx="124460" cy="4445"/>
          </a:xfrm>
          <a:custGeom>
            <a:avLst/>
            <a:gdLst/>
            <a:ahLst/>
            <a:cxnLst/>
            <a:rect l="l" t="t" r="r" b="b"/>
            <a:pathLst>
              <a:path w="124460" h="4444">
                <a:moveTo>
                  <a:pt x="0" y="4189"/>
                </a:moveTo>
                <a:lnTo>
                  <a:pt x="44008" y="2536"/>
                </a:lnTo>
                <a:lnTo>
                  <a:pt x="88024" y="1257"/>
                </a:lnTo>
                <a:lnTo>
                  <a:pt x="92410" y="1166"/>
                </a:lnTo>
                <a:lnTo>
                  <a:pt x="95433" y="593"/>
                </a:lnTo>
                <a:lnTo>
                  <a:pt x="100181" y="840"/>
                </a:lnTo>
                <a:lnTo>
                  <a:pt x="104789" y="840"/>
                </a:lnTo>
                <a:lnTo>
                  <a:pt x="105629" y="417"/>
                </a:lnTo>
                <a:lnTo>
                  <a:pt x="107304" y="417"/>
                </a:lnTo>
                <a:lnTo>
                  <a:pt x="118621" y="417"/>
                </a:lnTo>
                <a:lnTo>
                  <a:pt x="119044" y="0"/>
                </a:lnTo>
                <a:lnTo>
                  <a:pt x="121136" y="0"/>
                </a:lnTo>
                <a:lnTo>
                  <a:pt x="122117" y="0"/>
                </a:lnTo>
                <a:lnTo>
                  <a:pt x="123093" y="0"/>
                </a:lnTo>
                <a:lnTo>
                  <a:pt x="124074" y="0"/>
                </a:lnTo>
              </a:path>
            </a:pathLst>
          </a:custGeom>
          <a:ln w="1005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419153" y="1967936"/>
            <a:ext cx="330835" cy="13335"/>
          </a:xfrm>
          <a:custGeom>
            <a:avLst/>
            <a:gdLst/>
            <a:ahLst/>
            <a:cxnLst/>
            <a:rect l="l" t="t" r="r" b="b"/>
            <a:pathLst>
              <a:path w="330835" h="13335">
                <a:moveTo>
                  <a:pt x="0" y="12997"/>
                </a:moveTo>
                <a:lnTo>
                  <a:pt x="47141" y="10819"/>
                </a:lnTo>
                <a:lnTo>
                  <a:pt x="94315" y="8738"/>
                </a:lnTo>
                <a:lnTo>
                  <a:pt x="141512" y="6760"/>
                </a:lnTo>
                <a:lnTo>
                  <a:pt x="188720" y="4891"/>
                </a:lnTo>
                <a:lnTo>
                  <a:pt x="235928" y="3138"/>
                </a:lnTo>
                <a:lnTo>
                  <a:pt x="283125" y="1505"/>
                </a:lnTo>
                <a:lnTo>
                  <a:pt x="330302" y="0"/>
                </a:lnTo>
              </a:path>
            </a:pathLst>
          </a:custGeom>
          <a:ln w="1005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272449" y="1980933"/>
            <a:ext cx="147320" cy="7620"/>
          </a:xfrm>
          <a:custGeom>
            <a:avLst/>
            <a:gdLst/>
            <a:ahLst/>
            <a:cxnLst/>
            <a:rect l="l" t="t" r="r" b="b"/>
            <a:pathLst>
              <a:path w="147319" h="7619">
                <a:moveTo>
                  <a:pt x="0" y="7544"/>
                </a:moveTo>
                <a:lnTo>
                  <a:pt x="1116" y="7544"/>
                </a:lnTo>
                <a:lnTo>
                  <a:pt x="2233" y="7544"/>
                </a:lnTo>
                <a:lnTo>
                  <a:pt x="3349" y="7544"/>
                </a:lnTo>
                <a:lnTo>
                  <a:pt x="5029" y="7544"/>
                </a:lnTo>
                <a:lnTo>
                  <a:pt x="5447" y="7122"/>
                </a:lnTo>
                <a:lnTo>
                  <a:pt x="6704" y="7122"/>
                </a:lnTo>
                <a:lnTo>
                  <a:pt x="10467" y="7303"/>
                </a:lnTo>
                <a:lnTo>
                  <a:pt x="12102" y="6936"/>
                </a:lnTo>
                <a:lnTo>
                  <a:pt x="15507" y="6704"/>
                </a:lnTo>
                <a:lnTo>
                  <a:pt x="19737" y="6765"/>
                </a:lnTo>
                <a:lnTo>
                  <a:pt x="22041" y="5970"/>
                </a:lnTo>
                <a:lnTo>
                  <a:pt x="26824" y="6287"/>
                </a:lnTo>
                <a:lnTo>
                  <a:pt x="30853" y="5683"/>
                </a:lnTo>
                <a:lnTo>
                  <a:pt x="38549" y="5472"/>
                </a:lnTo>
                <a:lnTo>
                  <a:pt x="42754" y="5447"/>
                </a:lnTo>
                <a:lnTo>
                  <a:pt x="47950" y="4587"/>
                </a:lnTo>
                <a:lnTo>
                  <a:pt x="55329" y="4848"/>
                </a:lnTo>
                <a:lnTo>
                  <a:pt x="60777" y="4189"/>
                </a:lnTo>
                <a:lnTo>
                  <a:pt x="68704" y="4049"/>
                </a:lnTo>
                <a:lnTo>
                  <a:pt x="77139" y="3329"/>
                </a:lnTo>
                <a:lnTo>
                  <a:pt x="85091" y="2932"/>
                </a:lnTo>
                <a:lnTo>
                  <a:pt x="100485" y="2221"/>
                </a:lnTo>
                <a:lnTo>
                  <a:pt x="115884" y="1436"/>
                </a:lnTo>
                <a:lnTo>
                  <a:pt x="131290" y="666"/>
                </a:lnTo>
                <a:lnTo>
                  <a:pt x="146703" y="0"/>
                </a:lnTo>
              </a:path>
            </a:pathLst>
          </a:custGeom>
          <a:ln w="1005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50231" y="1988479"/>
            <a:ext cx="22225" cy="1270"/>
          </a:xfrm>
          <a:custGeom>
            <a:avLst/>
            <a:gdLst/>
            <a:ahLst/>
            <a:cxnLst/>
            <a:rect l="l" t="t" r="r" b="b"/>
            <a:pathLst>
              <a:path w="22225" h="1269">
                <a:moveTo>
                  <a:pt x="0" y="1257"/>
                </a:moveTo>
                <a:lnTo>
                  <a:pt x="1815" y="1257"/>
                </a:lnTo>
                <a:lnTo>
                  <a:pt x="3631" y="1257"/>
                </a:lnTo>
                <a:lnTo>
                  <a:pt x="5447" y="1257"/>
                </a:lnTo>
                <a:lnTo>
                  <a:pt x="5869" y="834"/>
                </a:lnTo>
                <a:lnTo>
                  <a:pt x="12574" y="834"/>
                </a:lnTo>
                <a:lnTo>
                  <a:pt x="12992" y="417"/>
                </a:lnTo>
                <a:lnTo>
                  <a:pt x="19702" y="417"/>
                </a:lnTo>
                <a:lnTo>
                  <a:pt x="20119" y="0"/>
                </a:lnTo>
                <a:lnTo>
                  <a:pt x="22217" y="0"/>
                </a:lnTo>
              </a:path>
            </a:pathLst>
          </a:custGeom>
          <a:ln w="1005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2341189" y="2208412"/>
            <a:ext cx="6413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latin typeface="Symbol"/>
                <a:cs typeface="Symbol"/>
              </a:rPr>
              <a:t></a:t>
            </a:r>
            <a:endParaRPr sz="550">
              <a:latin typeface="Symbol"/>
              <a:cs typeface="Symbo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42172" y="1193459"/>
            <a:ext cx="105410" cy="123825"/>
          </a:xfrm>
          <a:prstGeom prst="rect">
            <a:avLst/>
          </a:prstGeom>
        </p:spPr>
        <p:txBody>
          <a:bodyPr wrap="square" lIns="0" tIns="698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550">
                <a:latin typeface="Times New Roman"/>
                <a:cs typeface="Times New Roman"/>
              </a:rPr>
              <a:t>pM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166567" y="1704578"/>
            <a:ext cx="21018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18518" sz="675" spc="22">
                <a:latin typeface="Georgia"/>
                <a:cs typeface="Georgia"/>
              </a:rPr>
              <a:t>Mg</a:t>
            </a:r>
            <a:r>
              <a:rPr dirty="0" sz="300" spc="15">
                <a:latin typeface="Times New Roman"/>
                <a:cs typeface="Times New Roman"/>
              </a:rPr>
              <a:t>2+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104531" y="902299"/>
            <a:ext cx="20256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18518" sz="675" spc="37">
                <a:latin typeface="Georgia"/>
                <a:cs typeface="Georgia"/>
              </a:rPr>
              <a:t>Cu</a:t>
            </a:r>
            <a:r>
              <a:rPr dirty="0" sz="300" spc="25">
                <a:latin typeface="Times New Roman"/>
                <a:cs typeface="Times New Roman"/>
              </a:rPr>
              <a:t>2+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00444" y="2463787"/>
            <a:ext cx="4104004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5">
                <a:solidFill>
                  <a:srgbClr val="3333B2"/>
                </a:solidFill>
                <a:latin typeface="Georgia"/>
                <a:cs typeface="Georgia"/>
              </a:rPr>
              <a:t>14:</a:t>
            </a:r>
            <a:r>
              <a:rPr dirty="0" sz="1000" spc="19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金</a:t>
            </a:r>
            <a:r>
              <a:rPr dirty="0" sz="1050" spc="-5">
                <a:latin typeface="Arial Unicode MS"/>
                <a:cs typeface="Arial Unicode MS"/>
              </a:rPr>
              <a:t>属离子浓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曲</a:t>
            </a:r>
            <a:r>
              <a:rPr dirty="0" sz="1050" spc="-20">
                <a:latin typeface="Arial Unicode MS"/>
                <a:cs typeface="Arial Unicode MS"/>
              </a:rPr>
              <a:t>线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160">
                <a:latin typeface="Arial Unicode MS"/>
                <a:cs typeface="Arial Unicode MS"/>
              </a:rPr>
              <a:t>用</a:t>
            </a:r>
            <a:r>
              <a:rPr dirty="0" sz="1000" spc="-55">
                <a:latin typeface="Georgia"/>
                <a:cs typeface="Georgia"/>
              </a:rPr>
              <a:t>0.02mol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5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52">
                <a:latin typeface="Times New Roman"/>
                <a:cs typeface="Times New Roman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160">
                <a:latin typeface="Arial Unicode MS"/>
                <a:cs typeface="Arial Unicode MS"/>
              </a:rPr>
              <a:t>定</a:t>
            </a:r>
            <a:r>
              <a:rPr dirty="0" sz="1000" spc="-55">
                <a:latin typeface="Georgia"/>
                <a:cs typeface="Georgia"/>
              </a:rPr>
              <a:t>0.02mol</a:t>
            </a:r>
            <a:r>
              <a:rPr dirty="0" sz="1000" spc="-3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5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52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和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125844" y="2671405"/>
            <a:ext cx="3506470" cy="26987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000" spc="-55">
                <a:latin typeface="Georgia"/>
                <a:cs typeface="Georgia"/>
              </a:rPr>
              <a:t>0.02mol</a:t>
            </a:r>
            <a:r>
              <a:rPr dirty="0" sz="1000" spc="-3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55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的混</a:t>
            </a:r>
            <a:r>
              <a:rPr dirty="0" sz="1050" spc="-10">
                <a:latin typeface="Arial Unicode MS"/>
                <a:cs typeface="Arial Unicode MS"/>
              </a:rPr>
              <a:t>合</a:t>
            </a:r>
            <a:r>
              <a:rPr dirty="0" sz="1050" spc="-5">
                <a:latin typeface="Arial Unicode MS"/>
                <a:cs typeface="Arial Unicode MS"/>
              </a:rPr>
              <a:t>溶</a:t>
            </a:r>
            <a:r>
              <a:rPr dirty="0" sz="1050" spc="-20">
                <a:latin typeface="Arial Unicode MS"/>
                <a:cs typeface="Arial Unicode MS"/>
              </a:rPr>
              <a:t>液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40">
                <a:latin typeface="Georgia"/>
                <a:cs typeface="Georgia"/>
              </a:rPr>
              <a:t>pH</a:t>
            </a:r>
            <a:r>
              <a:rPr dirty="0" sz="1000" spc="-40">
                <a:latin typeface="Lucida Sans Unicode"/>
                <a:cs typeface="Lucida Sans Unicode"/>
              </a:rPr>
              <a:t>≈</a:t>
            </a:r>
            <a:r>
              <a:rPr dirty="0" sz="1000" spc="-40">
                <a:latin typeface="Georgia"/>
                <a:cs typeface="Georgia"/>
              </a:rPr>
              <a:t>10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40">
                <a:latin typeface="Georgia"/>
                <a:cs typeface="Georgia"/>
              </a:rPr>
              <a:t>[NH</a:t>
            </a:r>
            <a:r>
              <a:rPr dirty="0" baseline="-11904" sz="1050" spc="-60">
                <a:latin typeface="Times New Roman"/>
                <a:cs typeface="Times New Roman"/>
              </a:rPr>
              <a:t>3</a:t>
            </a:r>
            <a:r>
              <a:rPr dirty="0" sz="1000" spc="-40">
                <a:latin typeface="Georgia"/>
                <a:cs typeface="Georgia"/>
              </a:rPr>
              <a:t>]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55">
                <a:latin typeface="Georgia"/>
                <a:cs typeface="Georgia"/>
              </a:rPr>
              <a:t>0</a:t>
            </a:r>
            <a:r>
              <a:rPr dirty="0" sz="1000" spc="-55" b="0" i="1">
                <a:latin typeface="Bookman Old Style"/>
                <a:cs typeface="Bookman Old Style"/>
              </a:rPr>
              <a:t>.</a:t>
            </a:r>
            <a:r>
              <a:rPr dirty="0" sz="1000" spc="-55">
                <a:latin typeface="Georgia"/>
                <a:cs typeface="Georgia"/>
              </a:rPr>
              <a:t>001mol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5">
                <a:latin typeface="Lucida Sans Unicode"/>
                <a:cs typeface="Lucida Sans Unicode"/>
              </a:rPr>
              <a:t> </a:t>
            </a:r>
            <a:r>
              <a:rPr dirty="0" sz="1000" spc="120">
                <a:latin typeface="Georgia"/>
                <a:cs typeface="Georgia"/>
              </a:rPr>
              <a:t>L</a:t>
            </a:r>
            <a:r>
              <a:rPr dirty="0" baseline="27777" sz="1050" spc="179" b="0" i="1">
                <a:latin typeface="Calibri Light"/>
                <a:cs typeface="Calibri Light"/>
              </a:rPr>
              <a:t>−</a:t>
            </a:r>
            <a:r>
              <a:rPr dirty="0" baseline="27777" sz="1050" spc="179">
                <a:latin typeface="Times New Roman"/>
                <a:cs typeface="Times New Roman"/>
              </a:rPr>
              <a:t>1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8577" y="498523"/>
            <a:ext cx="2066289" cy="0"/>
          </a:xfrm>
          <a:custGeom>
            <a:avLst/>
            <a:gdLst/>
            <a:ahLst/>
            <a:cxnLst/>
            <a:rect l="l" t="t" r="r" b="b"/>
            <a:pathLst>
              <a:path w="2066289" h="0">
                <a:moveTo>
                  <a:pt x="0" y="0"/>
                </a:moveTo>
                <a:lnTo>
                  <a:pt x="20661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28577" y="2127307"/>
            <a:ext cx="2066289" cy="0"/>
          </a:xfrm>
          <a:custGeom>
            <a:avLst/>
            <a:gdLst/>
            <a:ahLst/>
            <a:cxnLst/>
            <a:rect l="l" t="t" r="r" b="b"/>
            <a:pathLst>
              <a:path w="2066289" h="0">
                <a:moveTo>
                  <a:pt x="0" y="0"/>
                </a:moveTo>
                <a:lnTo>
                  <a:pt x="20661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4707" y="498523"/>
            <a:ext cx="0" cy="1629410"/>
          </a:xfrm>
          <a:custGeom>
            <a:avLst/>
            <a:gdLst/>
            <a:ahLst/>
            <a:cxnLst/>
            <a:rect l="l" t="t" r="r" b="b"/>
            <a:pathLst>
              <a:path w="0" h="1629410">
                <a:moveTo>
                  <a:pt x="0" y="162878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28577" y="498523"/>
            <a:ext cx="0" cy="1629410"/>
          </a:xfrm>
          <a:custGeom>
            <a:avLst/>
            <a:gdLst/>
            <a:ahLst/>
            <a:cxnLst/>
            <a:rect l="l" t="t" r="r" b="b"/>
            <a:pathLst>
              <a:path w="0" h="1629410">
                <a:moveTo>
                  <a:pt x="0" y="162878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8577" y="2127307"/>
            <a:ext cx="2066289" cy="0"/>
          </a:xfrm>
          <a:custGeom>
            <a:avLst/>
            <a:gdLst/>
            <a:ahLst/>
            <a:cxnLst/>
            <a:rect l="l" t="t" r="r" b="b"/>
            <a:pathLst>
              <a:path w="2066289" h="0">
                <a:moveTo>
                  <a:pt x="0" y="0"/>
                </a:moveTo>
                <a:lnTo>
                  <a:pt x="20661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28577" y="498523"/>
            <a:ext cx="0" cy="1629410"/>
          </a:xfrm>
          <a:custGeom>
            <a:avLst/>
            <a:gdLst/>
            <a:ahLst/>
            <a:cxnLst/>
            <a:rect l="l" t="t" r="r" b="b"/>
            <a:pathLst>
              <a:path w="0" h="1629410">
                <a:moveTo>
                  <a:pt x="0" y="162878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28577" y="2106499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5">
                <a:moveTo>
                  <a:pt x="0" y="20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28577" y="498523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4">
                <a:moveTo>
                  <a:pt x="0" y="0"/>
                </a:moveTo>
                <a:lnTo>
                  <a:pt x="0" y="2041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99692" y="2120771"/>
            <a:ext cx="57785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23737" y="2106499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5">
                <a:moveTo>
                  <a:pt x="0" y="20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23737" y="498523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4">
                <a:moveTo>
                  <a:pt x="0" y="0"/>
                </a:moveTo>
                <a:lnTo>
                  <a:pt x="0" y="2041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70578" y="2120771"/>
            <a:ext cx="106680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0.5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18897" y="2106499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5">
                <a:moveTo>
                  <a:pt x="0" y="20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18897" y="498523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4">
                <a:moveTo>
                  <a:pt x="0" y="0"/>
                </a:moveTo>
                <a:lnTo>
                  <a:pt x="0" y="2041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790015" y="2120771"/>
            <a:ext cx="57785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14062" y="2106499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5">
                <a:moveTo>
                  <a:pt x="0" y="20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14062" y="498523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4">
                <a:moveTo>
                  <a:pt x="0" y="0"/>
                </a:moveTo>
                <a:lnTo>
                  <a:pt x="0" y="2041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060901" y="2120771"/>
            <a:ext cx="106680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1.5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09222" y="2106499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5">
                <a:moveTo>
                  <a:pt x="0" y="20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09222" y="498523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4">
                <a:moveTo>
                  <a:pt x="0" y="0"/>
                </a:moveTo>
                <a:lnTo>
                  <a:pt x="0" y="2041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380338" y="2120771"/>
            <a:ext cx="57785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04382" y="2106499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5">
                <a:moveTo>
                  <a:pt x="0" y="20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04382" y="498523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4">
                <a:moveTo>
                  <a:pt x="0" y="0"/>
                </a:moveTo>
                <a:lnTo>
                  <a:pt x="0" y="2041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51224" y="2120771"/>
            <a:ext cx="106680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2.5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99547" y="2106499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5">
                <a:moveTo>
                  <a:pt x="0" y="20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99547" y="498523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4">
                <a:moveTo>
                  <a:pt x="0" y="0"/>
                </a:moveTo>
                <a:lnTo>
                  <a:pt x="0" y="2041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970662" y="2120771"/>
            <a:ext cx="57785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94707" y="2106499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5">
                <a:moveTo>
                  <a:pt x="0" y="20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294707" y="498523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4">
                <a:moveTo>
                  <a:pt x="0" y="0"/>
                </a:moveTo>
                <a:lnTo>
                  <a:pt x="0" y="2041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241548" y="2120771"/>
            <a:ext cx="106680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3.5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28577" y="2127307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273900" y="2127307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70021" y="2072990"/>
            <a:ext cx="57785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228577" y="1964313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273900" y="1964313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28577" y="1801319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273900" y="1801319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170021" y="1747002"/>
            <a:ext cx="57785" cy="2667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50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228577" y="1638325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273900" y="1638325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28577" y="1475715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273900" y="1475715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28577" y="1312721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273900" y="1312721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28577" y="1149727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73900" y="1149727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137654" y="1095411"/>
            <a:ext cx="90170" cy="591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50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</a:pPr>
            <a:r>
              <a:rPr dirty="0" sz="50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5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dirty="0" sz="50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228577" y="987117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273900" y="987117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137654" y="932802"/>
            <a:ext cx="90170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228577" y="824123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273900" y="824123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28577" y="661129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273900" y="661129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228577" y="498523"/>
            <a:ext cx="20955" cy="0"/>
          </a:xfrm>
          <a:custGeom>
            <a:avLst/>
            <a:gdLst/>
            <a:ahLst/>
            <a:cxnLst/>
            <a:rect l="l" t="t" r="r" b="b"/>
            <a:pathLst>
              <a:path w="20955" h="0">
                <a:moveTo>
                  <a:pt x="0" y="0"/>
                </a:moveTo>
                <a:lnTo>
                  <a:pt x="204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273900" y="498523"/>
            <a:ext cx="20955" cy="0"/>
          </a:xfrm>
          <a:custGeom>
            <a:avLst/>
            <a:gdLst/>
            <a:ahLst/>
            <a:cxnLst/>
            <a:rect l="l" t="t" r="r" b="b"/>
            <a:pathLst>
              <a:path w="20954" h="0">
                <a:moveTo>
                  <a:pt x="20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137654" y="444206"/>
            <a:ext cx="90170" cy="4292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>
                <a:latin typeface="Times New Roman"/>
                <a:cs typeface="Times New Roman"/>
              </a:rPr>
              <a:t>20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500">
                <a:latin typeface="Times New Roman"/>
                <a:cs typeface="Times New Roman"/>
              </a:rPr>
              <a:t>18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500">
                <a:latin typeface="Times New Roman"/>
                <a:cs typeface="Times New Roman"/>
              </a:rPr>
              <a:t>16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228577" y="498523"/>
            <a:ext cx="2066289" cy="0"/>
          </a:xfrm>
          <a:custGeom>
            <a:avLst/>
            <a:gdLst/>
            <a:ahLst/>
            <a:cxnLst/>
            <a:rect l="l" t="t" r="r" b="b"/>
            <a:pathLst>
              <a:path w="2066289" h="0">
                <a:moveTo>
                  <a:pt x="0" y="0"/>
                </a:moveTo>
                <a:lnTo>
                  <a:pt x="20661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228577" y="2127307"/>
            <a:ext cx="2066289" cy="0"/>
          </a:xfrm>
          <a:custGeom>
            <a:avLst/>
            <a:gdLst/>
            <a:ahLst/>
            <a:cxnLst/>
            <a:rect l="l" t="t" r="r" b="b"/>
            <a:pathLst>
              <a:path w="2066289" h="0">
                <a:moveTo>
                  <a:pt x="0" y="0"/>
                </a:moveTo>
                <a:lnTo>
                  <a:pt x="20661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294707" y="498523"/>
            <a:ext cx="0" cy="1629410"/>
          </a:xfrm>
          <a:custGeom>
            <a:avLst/>
            <a:gdLst/>
            <a:ahLst/>
            <a:cxnLst/>
            <a:rect l="l" t="t" r="r" b="b"/>
            <a:pathLst>
              <a:path w="0" h="1629410">
                <a:moveTo>
                  <a:pt x="0" y="162878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228577" y="498523"/>
            <a:ext cx="0" cy="1629410"/>
          </a:xfrm>
          <a:custGeom>
            <a:avLst/>
            <a:gdLst/>
            <a:ahLst/>
            <a:cxnLst/>
            <a:rect l="l" t="t" r="r" b="b"/>
            <a:pathLst>
              <a:path w="0" h="1629410">
                <a:moveTo>
                  <a:pt x="0" y="162878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468177" y="621053"/>
            <a:ext cx="757555" cy="93345"/>
          </a:xfrm>
          <a:custGeom>
            <a:avLst/>
            <a:gdLst/>
            <a:ahLst/>
            <a:cxnLst/>
            <a:rect l="l" t="t" r="r" b="b"/>
            <a:pathLst>
              <a:path w="757555" h="93345">
                <a:moveTo>
                  <a:pt x="0" y="93251"/>
                </a:moveTo>
                <a:lnTo>
                  <a:pt x="4850" y="89505"/>
                </a:lnTo>
                <a:lnTo>
                  <a:pt x="13978" y="85723"/>
                </a:lnTo>
                <a:lnTo>
                  <a:pt x="19651" y="82847"/>
                </a:lnTo>
                <a:lnTo>
                  <a:pt x="68763" y="65752"/>
                </a:lnTo>
                <a:lnTo>
                  <a:pt x="114105" y="55022"/>
                </a:lnTo>
                <a:lnTo>
                  <a:pt x="188447" y="42671"/>
                </a:lnTo>
                <a:lnTo>
                  <a:pt x="239845" y="35902"/>
                </a:lnTo>
                <a:lnTo>
                  <a:pt x="291353" y="30059"/>
                </a:lnTo>
                <a:lnTo>
                  <a:pt x="342956" y="25024"/>
                </a:lnTo>
                <a:lnTo>
                  <a:pt x="394637" y="20683"/>
                </a:lnTo>
                <a:lnTo>
                  <a:pt x="446378" y="16920"/>
                </a:lnTo>
                <a:lnTo>
                  <a:pt x="498164" y="13618"/>
                </a:lnTo>
                <a:lnTo>
                  <a:pt x="549977" y="10664"/>
                </a:lnTo>
                <a:lnTo>
                  <a:pt x="601801" y="7940"/>
                </a:lnTo>
                <a:lnTo>
                  <a:pt x="653619" y="5332"/>
                </a:lnTo>
                <a:lnTo>
                  <a:pt x="705414" y="2724"/>
                </a:lnTo>
                <a:lnTo>
                  <a:pt x="757170" y="0"/>
                </a:lnTo>
              </a:path>
            </a:pathLst>
          </a:custGeom>
          <a:ln w="924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267420" y="709680"/>
            <a:ext cx="205381" cy="324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779982" y="1029121"/>
            <a:ext cx="492125" cy="62230"/>
          </a:xfrm>
          <a:custGeom>
            <a:avLst/>
            <a:gdLst/>
            <a:ahLst/>
            <a:cxnLst/>
            <a:rect l="l" t="t" r="r" b="b"/>
            <a:pathLst>
              <a:path w="492125" h="62230">
                <a:moveTo>
                  <a:pt x="0" y="61651"/>
                </a:moveTo>
                <a:lnTo>
                  <a:pt x="49104" y="57794"/>
                </a:lnTo>
                <a:lnTo>
                  <a:pt x="98144" y="53804"/>
                </a:lnTo>
                <a:lnTo>
                  <a:pt x="147137" y="49588"/>
                </a:lnTo>
                <a:lnTo>
                  <a:pt x="196099" y="45056"/>
                </a:lnTo>
                <a:lnTo>
                  <a:pt x="245049" y="40117"/>
                </a:lnTo>
                <a:lnTo>
                  <a:pt x="294004" y="34679"/>
                </a:lnTo>
                <a:lnTo>
                  <a:pt x="343663" y="28088"/>
                </a:lnTo>
                <a:lnTo>
                  <a:pt x="393669" y="20691"/>
                </a:lnTo>
                <a:lnTo>
                  <a:pt x="443356" y="11618"/>
                </a:lnTo>
                <a:lnTo>
                  <a:pt x="492061" y="0"/>
                </a:lnTo>
              </a:path>
            </a:pathLst>
          </a:custGeom>
          <a:ln w="924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335311" y="1090772"/>
            <a:ext cx="445134" cy="30480"/>
          </a:xfrm>
          <a:custGeom>
            <a:avLst/>
            <a:gdLst/>
            <a:ahLst/>
            <a:cxnLst/>
            <a:rect l="l" t="t" r="r" b="b"/>
            <a:pathLst>
              <a:path w="445135" h="30480">
                <a:moveTo>
                  <a:pt x="0" y="30055"/>
                </a:moveTo>
                <a:lnTo>
                  <a:pt x="49316" y="26748"/>
                </a:lnTo>
                <a:lnTo>
                  <a:pt x="98676" y="23457"/>
                </a:lnTo>
                <a:lnTo>
                  <a:pt x="148071" y="20174"/>
                </a:lnTo>
                <a:lnTo>
                  <a:pt x="197493" y="16886"/>
                </a:lnTo>
                <a:lnTo>
                  <a:pt x="246931" y="13583"/>
                </a:lnTo>
                <a:lnTo>
                  <a:pt x="296376" y="10254"/>
                </a:lnTo>
                <a:lnTo>
                  <a:pt x="345821" y="6887"/>
                </a:lnTo>
                <a:lnTo>
                  <a:pt x="395255" y="3473"/>
                </a:lnTo>
                <a:lnTo>
                  <a:pt x="444670" y="0"/>
                </a:lnTo>
              </a:path>
            </a:pathLst>
          </a:custGeom>
          <a:ln w="924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39748" y="1120827"/>
            <a:ext cx="95885" cy="7620"/>
          </a:xfrm>
          <a:custGeom>
            <a:avLst/>
            <a:gdLst/>
            <a:ahLst/>
            <a:cxnLst/>
            <a:rect l="l" t="t" r="r" b="b"/>
            <a:pathLst>
              <a:path w="95884" h="7619">
                <a:moveTo>
                  <a:pt x="0" y="6935"/>
                </a:moveTo>
                <a:lnTo>
                  <a:pt x="3380" y="7111"/>
                </a:lnTo>
                <a:lnTo>
                  <a:pt x="804" y="6353"/>
                </a:lnTo>
                <a:lnTo>
                  <a:pt x="4623" y="6552"/>
                </a:lnTo>
                <a:lnTo>
                  <a:pt x="8355" y="6750"/>
                </a:lnTo>
                <a:lnTo>
                  <a:pt x="5923" y="5955"/>
                </a:lnTo>
                <a:lnTo>
                  <a:pt x="9636" y="6163"/>
                </a:lnTo>
                <a:lnTo>
                  <a:pt x="12803" y="6339"/>
                </a:lnTo>
                <a:lnTo>
                  <a:pt x="12304" y="5488"/>
                </a:lnTo>
                <a:lnTo>
                  <a:pt x="16183" y="5779"/>
                </a:lnTo>
                <a:lnTo>
                  <a:pt x="19022" y="5923"/>
                </a:lnTo>
                <a:lnTo>
                  <a:pt x="15642" y="5197"/>
                </a:lnTo>
                <a:lnTo>
                  <a:pt x="20040" y="5396"/>
                </a:lnTo>
                <a:lnTo>
                  <a:pt x="23480" y="5631"/>
                </a:lnTo>
                <a:lnTo>
                  <a:pt x="22546" y="4882"/>
                </a:lnTo>
                <a:lnTo>
                  <a:pt x="25047" y="5007"/>
                </a:lnTo>
                <a:lnTo>
                  <a:pt x="29306" y="5266"/>
                </a:lnTo>
                <a:lnTo>
                  <a:pt x="26985" y="4425"/>
                </a:lnTo>
                <a:lnTo>
                  <a:pt x="30444" y="4623"/>
                </a:lnTo>
                <a:lnTo>
                  <a:pt x="34110" y="4887"/>
                </a:lnTo>
                <a:lnTo>
                  <a:pt x="33149" y="4045"/>
                </a:lnTo>
                <a:lnTo>
                  <a:pt x="36223" y="4240"/>
                </a:lnTo>
                <a:lnTo>
                  <a:pt x="41310" y="3847"/>
                </a:lnTo>
                <a:lnTo>
                  <a:pt x="46502" y="3620"/>
                </a:lnTo>
                <a:lnTo>
                  <a:pt x="51635" y="3084"/>
                </a:lnTo>
                <a:lnTo>
                  <a:pt x="62599" y="2369"/>
                </a:lnTo>
                <a:lnTo>
                  <a:pt x="73578" y="1594"/>
                </a:lnTo>
                <a:lnTo>
                  <a:pt x="84567" y="792"/>
                </a:lnTo>
                <a:lnTo>
                  <a:pt x="95563" y="0"/>
                </a:lnTo>
              </a:path>
            </a:pathLst>
          </a:custGeom>
          <a:ln w="924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28577" y="1127763"/>
            <a:ext cx="11430" cy="1270"/>
          </a:xfrm>
          <a:custGeom>
            <a:avLst/>
            <a:gdLst/>
            <a:ahLst/>
            <a:cxnLst/>
            <a:rect l="l" t="t" r="r" b="b"/>
            <a:pathLst>
              <a:path w="11430" h="1269">
                <a:moveTo>
                  <a:pt x="0" y="772"/>
                </a:moveTo>
                <a:lnTo>
                  <a:pt x="2311" y="772"/>
                </a:lnTo>
                <a:lnTo>
                  <a:pt x="2695" y="383"/>
                </a:lnTo>
                <a:lnTo>
                  <a:pt x="3592" y="383"/>
                </a:lnTo>
                <a:lnTo>
                  <a:pt x="4494" y="383"/>
                </a:lnTo>
                <a:lnTo>
                  <a:pt x="5391" y="383"/>
                </a:lnTo>
                <a:lnTo>
                  <a:pt x="7703" y="383"/>
                </a:lnTo>
                <a:lnTo>
                  <a:pt x="8091" y="0"/>
                </a:lnTo>
                <a:lnTo>
                  <a:pt x="9118" y="0"/>
                </a:lnTo>
                <a:lnTo>
                  <a:pt x="10144" y="0"/>
                </a:lnTo>
                <a:lnTo>
                  <a:pt x="11171" y="0"/>
                </a:lnTo>
              </a:path>
            </a:pathLst>
          </a:custGeom>
          <a:ln w="924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468177" y="1443731"/>
            <a:ext cx="757555" cy="93345"/>
          </a:xfrm>
          <a:custGeom>
            <a:avLst/>
            <a:gdLst/>
            <a:ahLst/>
            <a:cxnLst/>
            <a:rect l="l" t="t" r="r" b="b"/>
            <a:pathLst>
              <a:path w="757555" h="93344">
                <a:moveTo>
                  <a:pt x="0" y="92867"/>
                </a:moveTo>
                <a:lnTo>
                  <a:pt x="66704" y="66122"/>
                </a:lnTo>
                <a:lnTo>
                  <a:pt x="137178" y="50479"/>
                </a:lnTo>
                <a:lnTo>
                  <a:pt x="188438" y="42619"/>
                </a:lnTo>
                <a:lnTo>
                  <a:pt x="239828" y="35806"/>
                </a:lnTo>
                <a:lnTo>
                  <a:pt x="291333" y="29926"/>
                </a:lnTo>
                <a:lnTo>
                  <a:pt x="342934" y="24864"/>
                </a:lnTo>
                <a:lnTo>
                  <a:pt x="394616" y="20504"/>
                </a:lnTo>
                <a:lnTo>
                  <a:pt x="446359" y="16732"/>
                </a:lnTo>
                <a:lnTo>
                  <a:pt x="498148" y="13433"/>
                </a:lnTo>
                <a:lnTo>
                  <a:pt x="549965" y="10491"/>
                </a:lnTo>
                <a:lnTo>
                  <a:pt x="601793" y="7792"/>
                </a:lnTo>
                <a:lnTo>
                  <a:pt x="653614" y="5220"/>
                </a:lnTo>
                <a:lnTo>
                  <a:pt x="705413" y="2661"/>
                </a:lnTo>
                <a:lnTo>
                  <a:pt x="757170" y="0"/>
                </a:lnTo>
              </a:path>
            </a:pathLst>
          </a:custGeom>
          <a:ln w="9247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267420" y="1531974"/>
            <a:ext cx="205381" cy="3286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779982" y="1856034"/>
            <a:ext cx="492125" cy="77470"/>
          </a:xfrm>
          <a:custGeom>
            <a:avLst/>
            <a:gdLst/>
            <a:ahLst/>
            <a:cxnLst/>
            <a:rect l="l" t="t" r="r" b="b"/>
            <a:pathLst>
              <a:path w="492125" h="77469">
                <a:moveTo>
                  <a:pt x="0" y="77451"/>
                </a:moveTo>
                <a:lnTo>
                  <a:pt x="49068" y="71885"/>
                </a:lnTo>
                <a:lnTo>
                  <a:pt x="98139" y="66277"/>
                </a:lnTo>
                <a:lnTo>
                  <a:pt x="147191" y="60477"/>
                </a:lnTo>
                <a:lnTo>
                  <a:pt x="196200" y="54339"/>
                </a:lnTo>
                <a:lnTo>
                  <a:pt x="245145" y="47716"/>
                </a:lnTo>
                <a:lnTo>
                  <a:pt x="294004" y="40459"/>
                </a:lnTo>
                <a:lnTo>
                  <a:pt x="343844" y="32506"/>
                </a:lnTo>
                <a:lnTo>
                  <a:pt x="393735" y="23479"/>
                </a:lnTo>
                <a:lnTo>
                  <a:pt x="443274" y="12826"/>
                </a:lnTo>
                <a:lnTo>
                  <a:pt x="492061" y="0"/>
                </a:lnTo>
              </a:path>
            </a:pathLst>
          </a:custGeom>
          <a:ln w="9247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335311" y="1933485"/>
            <a:ext cx="445134" cy="44450"/>
          </a:xfrm>
          <a:custGeom>
            <a:avLst/>
            <a:gdLst/>
            <a:ahLst/>
            <a:cxnLst/>
            <a:rect l="l" t="t" r="r" b="b"/>
            <a:pathLst>
              <a:path w="445135" h="44450">
                <a:moveTo>
                  <a:pt x="0" y="44311"/>
                </a:moveTo>
                <a:lnTo>
                  <a:pt x="49364" y="39507"/>
                </a:lnTo>
                <a:lnTo>
                  <a:pt x="98754" y="34694"/>
                </a:lnTo>
                <a:lnTo>
                  <a:pt x="148164" y="29861"/>
                </a:lnTo>
                <a:lnTo>
                  <a:pt x="197586" y="25002"/>
                </a:lnTo>
                <a:lnTo>
                  <a:pt x="247015" y="20107"/>
                </a:lnTo>
                <a:lnTo>
                  <a:pt x="296444" y="15167"/>
                </a:lnTo>
                <a:lnTo>
                  <a:pt x="345867" y="10175"/>
                </a:lnTo>
                <a:lnTo>
                  <a:pt x="395278" y="5122"/>
                </a:lnTo>
                <a:lnTo>
                  <a:pt x="444670" y="0"/>
                </a:lnTo>
              </a:path>
            </a:pathLst>
          </a:custGeom>
          <a:ln w="9247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39748" y="1977796"/>
            <a:ext cx="95885" cy="10160"/>
          </a:xfrm>
          <a:custGeom>
            <a:avLst/>
            <a:gdLst/>
            <a:ahLst/>
            <a:cxnLst/>
            <a:rect l="l" t="t" r="r" b="b"/>
            <a:pathLst>
              <a:path w="95884" h="10160">
                <a:moveTo>
                  <a:pt x="0" y="9636"/>
                </a:moveTo>
                <a:lnTo>
                  <a:pt x="772" y="9636"/>
                </a:lnTo>
                <a:lnTo>
                  <a:pt x="1544" y="9636"/>
                </a:lnTo>
                <a:lnTo>
                  <a:pt x="2311" y="9636"/>
                </a:lnTo>
                <a:lnTo>
                  <a:pt x="2700" y="9636"/>
                </a:lnTo>
                <a:lnTo>
                  <a:pt x="3084" y="9247"/>
                </a:lnTo>
                <a:lnTo>
                  <a:pt x="4623" y="9247"/>
                </a:lnTo>
                <a:lnTo>
                  <a:pt x="8355" y="9451"/>
                </a:lnTo>
                <a:lnTo>
                  <a:pt x="5923" y="8651"/>
                </a:lnTo>
                <a:lnTo>
                  <a:pt x="9636" y="8864"/>
                </a:lnTo>
                <a:lnTo>
                  <a:pt x="11361" y="8975"/>
                </a:lnTo>
                <a:lnTo>
                  <a:pt x="10140" y="8299"/>
                </a:lnTo>
                <a:lnTo>
                  <a:pt x="12715" y="8480"/>
                </a:lnTo>
                <a:lnTo>
                  <a:pt x="16410" y="8614"/>
                </a:lnTo>
                <a:lnTo>
                  <a:pt x="12517" y="7953"/>
                </a:lnTo>
                <a:lnTo>
                  <a:pt x="16183" y="8091"/>
                </a:lnTo>
                <a:lnTo>
                  <a:pt x="19267" y="8262"/>
                </a:lnTo>
                <a:lnTo>
                  <a:pt x="16882" y="7541"/>
                </a:lnTo>
                <a:lnTo>
                  <a:pt x="20040" y="7708"/>
                </a:lnTo>
                <a:lnTo>
                  <a:pt x="22065" y="7721"/>
                </a:lnTo>
                <a:lnTo>
                  <a:pt x="21829" y="7070"/>
                </a:lnTo>
                <a:lnTo>
                  <a:pt x="25047" y="7324"/>
                </a:lnTo>
                <a:lnTo>
                  <a:pt x="25820" y="6935"/>
                </a:lnTo>
                <a:lnTo>
                  <a:pt x="28515" y="6935"/>
                </a:lnTo>
                <a:lnTo>
                  <a:pt x="29288" y="6552"/>
                </a:lnTo>
                <a:lnTo>
                  <a:pt x="30444" y="6552"/>
                </a:lnTo>
                <a:lnTo>
                  <a:pt x="33162" y="6686"/>
                </a:lnTo>
                <a:lnTo>
                  <a:pt x="32760" y="5904"/>
                </a:lnTo>
                <a:lnTo>
                  <a:pt x="36223" y="6168"/>
                </a:lnTo>
                <a:lnTo>
                  <a:pt x="37379" y="5779"/>
                </a:lnTo>
                <a:lnTo>
                  <a:pt x="40459" y="5779"/>
                </a:lnTo>
                <a:lnTo>
                  <a:pt x="41615" y="5396"/>
                </a:lnTo>
                <a:lnTo>
                  <a:pt x="42771" y="5396"/>
                </a:lnTo>
                <a:lnTo>
                  <a:pt x="45305" y="5303"/>
                </a:lnTo>
                <a:lnTo>
                  <a:pt x="49134" y="4489"/>
                </a:lnTo>
                <a:lnTo>
                  <a:pt x="51635" y="4623"/>
                </a:lnTo>
                <a:lnTo>
                  <a:pt x="62540" y="3376"/>
                </a:lnTo>
                <a:lnTo>
                  <a:pt x="73552" y="2240"/>
                </a:lnTo>
                <a:lnTo>
                  <a:pt x="84587" y="1140"/>
                </a:lnTo>
                <a:lnTo>
                  <a:pt x="95563" y="0"/>
                </a:lnTo>
              </a:path>
            </a:pathLst>
          </a:custGeom>
          <a:ln w="9247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228577" y="1987433"/>
            <a:ext cx="11430" cy="1270"/>
          </a:xfrm>
          <a:custGeom>
            <a:avLst/>
            <a:gdLst/>
            <a:ahLst/>
            <a:cxnLst/>
            <a:rect l="l" t="t" r="r" b="b"/>
            <a:pathLst>
              <a:path w="11430" h="1269">
                <a:moveTo>
                  <a:pt x="0" y="1155"/>
                </a:moveTo>
                <a:lnTo>
                  <a:pt x="897" y="1155"/>
                </a:lnTo>
                <a:lnTo>
                  <a:pt x="1798" y="1155"/>
                </a:lnTo>
                <a:lnTo>
                  <a:pt x="2695" y="1155"/>
                </a:lnTo>
                <a:lnTo>
                  <a:pt x="3079" y="767"/>
                </a:lnTo>
                <a:lnTo>
                  <a:pt x="6547" y="767"/>
                </a:lnTo>
                <a:lnTo>
                  <a:pt x="6935" y="383"/>
                </a:lnTo>
                <a:lnTo>
                  <a:pt x="10403" y="383"/>
                </a:lnTo>
                <a:lnTo>
                  <a:pt x="10787" y="0"/>
                </a:lnTo>
                <a:lnTo>
                  <a:pt x="11171" y="0"/>
                </a:lnTo>
              </a:path>
            </a:pathLst>
          </a:custGeom>
          <a:ln w="9247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2230831" y="2186276"/>
            <a:ext cx="60960" cy="103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0" spc="5">
                <a:latin typeface="Symbol"/>
                <a:cs typeface="Symbol"/>
              </a:rPr>
              <a:t></a:t>
            </a:r>
            <a:endParaRPr sz="500">
              <a:latin typeface="Symbol"/>
              <a:cs typeface="Symbo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043607" y="1255562"/>
            <a:ext cx="99060" cy="115570"/>
          </a:xfrm>
          <a:prstGeom prst="rect">
            <a:avLst/>
          </a:prstGeom>
        </p:spPr>
        <p:txBody>
          <a:bodyPr wrap="square" lIns="0" tIns="825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500">
                <a:latin typeface="Times New Roman"/>
                <a:cs typeface="Times New Roman"/>
              </a:rPr>
              <a:t>pM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859021" y="906986"/>
            <a:ext cx="192405" cy="92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-20833" sz="600" spc="30">
                <a:latin typeface="Georgia"/>
                <a:cs typeface="Georgia"/>
              </a:rPr>
              <a:t>Cu</a:t>
            </a:r>
            <a:r>
              <a:rPr dirty="0" sz="300" spc="20">
                <a:latin typeface="Times New Roman"/>
                <a:cs typeface="Times New Roman"/>
              </a:rPr>
              <a:t>2+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935315" y="1687276"/>
            <a:ext cx="199390" cy="92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-20833" sz="600" spc="22">
                <a:latin typeface="Georgia"/>
                <a:cs typeface="Georgia"/>
              </a:rPr>
              <a:t>Mg</a:t>
            </a:r>
            <a:r>
              <a:rPr dirty="0" sz="300" spc="15">
                <a:latin typeface="Times New Roman"/>
                <a:cs typeface="Times New Roman"/>
              </a:rPr>
              <a:t>2+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00444" y="2397749"/>
            <a:ext cx="4104004" cy="42037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>
                <a:solidFill>
                  <a:srgbClr val="3333B2"/>
                </a:solidFill>
                <a:latin typeface="Georgia"/>
                <a:cs typeface="Georgia"/>
              </a:rPr>
              <a:t>15:</a:t>
            </a:r>
            <a:r>
              <a:rPr dirty="0" sz="1000" spc="19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金</a:t>
            </a:r>
            <a:r>
              <a:rPr dirty="0" sz="1050" spc="-5">
                <a:latin typeface="Arial Unicode MS"/>
                <a:cs typeface="Arial Unicode MS"/>
              </a:rPr>
              <a:t>属离子浓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曲</a:t>
            </a:r>
            <a:r>
              <a:rPr dirty="0" sz="1050" spc="-20">
                <a:latin typeface="Arial Unicode MS"/>
                <a:cs typeface="Arial Unicode MS"/>
              </a:rPr>
              <a:t>线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160">
                <a:latin typeface="Arial Unicode MS"/>
                <a:cs typeface="Arial Unicode MS"/>
              </a:rPr>
              <a:t>用</a:t>
            </a:r>
            <a:r>
              <a:rPr dirty="0" sz="1000" spc="-55">
                <a:latin typeface="Georgia"/>
                <a:cs typeface="Georgia"/>
              </a:rPr>
              <a:t>0.02mol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5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52">
                <a:latin typeface="Times New Roman"/>
                <a:cs typeface="Times New Roman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160">
                <a:latin typeface="Arial Unicode MS"/>
                <a:cs typeface="Arial Unicode MS"/>
              </a:rPr>
              <a:t>定</a:t>
            </a:r>
            <a:r>
              <a:rPr dirty="0" sz="1000" spc="-55">
                <a:latin typeface="Georgia"/>
                <a:cs typeface="Georgia"/>
              </a:rPr>
              <a:t>0.02mol</a:t>
            </a:r>
            <a:r>
              <a:rPr dirty="0" sz="1000" spc="-3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5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52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和</a:t>
            </a:r>
            <a:endParaRPr sz="105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dirty="0" sz="1000" spc="-55">
                <a:latin typeface="Georgia"/>
                <a:cs typeface="Georgia"/>
              </a:rPr>
              <a:t>0.02mol</a:t>
            </a:r>
            <a:r>
              <a:rPr dirty="0" sz="1000" spc="-3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555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的混</a:t>
            </a:r>
            <a:r>
              <a:rPr dirty="0" sz="1050" spc="-10">
                <a:latin typeface="Arial Unicode MS"/>
                <a:cs typeface="Arial Unicode MS"/>
              </a:rPr>
              <a:t>合</a:t>
            </a:r>
            <a:r>
              <a:rPr dirty="0" sz="1050" spc="-5">
                <a:latin typeface="Arial Unicode MS"/>
                <a:cs typeface="Arial Unicode MS"/>
              </a:rPr>
              <a:t>溶</a:t>
            </a:r>
            <a:r>
              <a:rPr dirty="0" sz="1050" spc="-20">
                <a:latin typeface="Arial Unicode MS"/>
                <a:cs typeface="Arial Unicode MS"/>
              </a:rPr>
              <a:t>液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40">
                <a:latin typeface="Georgia"/>
                <a:cs typeface="Georgia"/>
              </a:rPr>
              <a:t>pH</a:t>
            </a:r>
            <a:r>
              <a:rPr dirty="0" sz="1000" spc="-40">
                <a:latin typeface="Lucida Sans Unicode"/>
                <a:cs typeface="Lucida Sans Unicode"/>
              </a:rPr>
              <a:t>≈</a:t>
            </a:r>
            <a:r>
              <a:rPr dirty="0" sz="1000" spc="-40">
                <a:latin typeface="Georgia"/>
                <a:cs typeface="Georgia"/>
              </a:rPr>
              <a:t>10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40">
                <a:latin typeface="Georgia"/>
                <a:cs typeface="Georgia"/>
              </a:rPr>
              <a:t>[NH</a:t>
            </a:r>
            <a:r>
              <a:rPr dirty="0" baseline="-11904" sz="1050" spc="-60">
                <a:latin typeface="Times New Roman"/>
                <a:cs typeface="Times New Roman"/>
              </a:rPr>
              <a:t>3</a:t>
            </a:r>
            <a:r>
              <a:rPr dirty="0" sz="1000" spc="-40">
                <a:latin typeface="Georgia"/>
                <a:cs typeface="Georgia"/>
              </a:rPr>
              <a:t>]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55">
                <a:latin typeface="Georgia"/>
                <a:cs typeface="Georgia"/>
              </a:rPr>
              <a:t>0</a:t>
            </a:r>
            <a:r>
              <a:rPr dirty="0" sz="1000" spc="-55" b="0" i="1">
                <a:latin typeface="Bookman Old Style"/>
                <a:cs typeface="Bookman Old Style"/>
              </a:rPr>
              <a:t>.</a:t>
            </a:r>
            <a:r>
              <a:rPr dirty="0" sz="1000" spc="-55">
                <a:latin typeface="Georgia"/>
                <a:cs typeface="Georgia"/>
              </a:rPr>
              <a:t>2mol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20">
                <a:latin typeface="Georgia"/>
                <a:cs typeface="Georgia"/>
              </a:rPr>
              <a:t>L</a:t>
            </a:r>
            <a:r>
              <a:rPr dirty="0" baseline="27777" sz="1050" spc="179" b="0" i="1">
                <a:latin typeface="Calibri Light"/>
                <a:cs typeface="Calibri Light"/>
              </a:rPr>
              <a:t>−</a:t>
            </a:r>
            <a:r>
              <a:rPr dirty="0" baseline="27777" sz="1050" spc="179">
                <a:latin typeface="Times New Roman"/>
                <a:cs typeface="Times New Roman"/>
              </a:rPr>
              <a:t>1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5" name="object 8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33743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5.7</a:t>
            </a:r>
            <a:r>
              <a:rPr dirty="0" sz="140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配位滴定中的终点误差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019810"/>
            <a:ext cx="4384040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配位滴定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应尽量</a:t>
            </a:r>
            <a:r>
              <a:rPr dirty="0" sz="1200" spc="175">
                <a:latin typeface="Arial Unicode MS"/>
                <a:cs typeface="Arial Unicode MS"/>
              </a:rPr>
              <a:t>使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13888" sz="900" spc="37">
                <a:latin typeface="Times New Roman"/>
                <a:cs typeface="Times New Roman"/>
              </a:rPr>
              <a:t>ep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13888" sz="900" spc="37">
                <a:latin typeface="Times New Roman"/>
                <a:cs typeface="Times New Roman"/>
              </a:rPr>
              <a:t>sp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一</a:t>
            </a:r>
            <a:r>
              <a:rPr dirty="0" sz="1200" spc="-80">
                <a:latin typeface="Arial Unicode MS"/>
                <a:cs typeface="Arial Unicode MS"/>
              </a:rPr>
              <a:t>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这样可使滴定的误 差最</a:t>
            </a:r>
            <a:r>
              <a:rPr dirty="0" sz="1200" spc="-20">
                <a:latin typeface="Arial Unicode MS"/>
                <a:cs typeface="Arial Unicode MS"/>
              </a:rPr>
              <a:t>小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在实际的滴定过程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pM</a:t>
            </a:r>
            <a:r>
              <a:rPr dirty="0" baseline="-13888" sz="900" spc="-22">
                <a:latin typeface="Times New Roman"/>
                <a:cs typeface="Times New Roman"/>
              </a:rPr>
              <a:t>ep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13888" sz="900" spc="37">
                <a:latin typeface="Times New Roman"/>
                <a:cs typeface="Times New Roman"/>
              </a:rPr>
              <a:t>sp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之间总有一定 </a:t>
            </a:r>
            <a:r>
              <a:rPr dirty="0" sz="1200" spc="-5">
                <a:latin typeface="Arial Unicode MS"/>
                <a:cs typeface="Arial Unicode MS"/>
              </a:rPr>
              <a:t>的差</a:t>
            </a:r>
            <a:r>
              <a:rPr dirty="0" sz="1200" spc="-80">
                <a:latin typeface="Arial Unicode MS"/>
                <a:cs typeface="Arial Unicode MS"/>
              </a:rPr>
              <a:t>值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这样就会产生一定的滴定误</a:t>
            </a:r>
            <a:r>
              <a:rPr dirty="0" sz="1200" spc="-80">
                <a:latin typeface="Arial Unicode MS"/>
                <a:cs typeface="Arial Unicode MS"/>
              </a:rPr>
              <a:t>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我们称之为终点误</a:t>
            </a:r>
            <a:r>
              <a:rPr dirty="0" sz="1200" spc="-80">
                <a:latin typeface="Arial Unicode MS"/>
                <a:cs typeface="Arial Unicode MS"/>
              </a:rPr>
              <a:t>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 </a:t>
            </a:r>
            <a:r>
              <a:rPr dirty="0" sz="1200" spc="-5">
                <a:latin typeface="Arial Unicode MS"/>
                <a:cs typeface="Arial Unicode MS"/>
              </a:rPr>
              <a:t>定义如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0174" y="2110816"/>
            <a:ext cx="6210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45">
                <a:latin typeface="Georgia"/>
                <a:cs typeface="Georgia"/>
              </a:rPr>
              <a:t>TE%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u="sng" baseline="34722" sz="1800" spc="-1807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终</a:t>
            </a:r>
            <a:r>
              <a:rPr dirty="0" u="sng" baseline="34722" sz="1800" spc="-3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baseline="34722"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3875" y="2030374"/>
            <a:ext cx="441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EDTA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117" y="2017090"/>
            <a:ext cx="25279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5015" algn="l"/>
              </a:tabLst>
            </a:pP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点时</a:t>
            </a:r>
            <a:r>
              <a:rPr dirty="0" u="sng" sz="1200" spc="-15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 </a:t>
            </a:r>
            <a:r>
              <a:rPr dirty="0" sz="1200">
                <a:latin typeface="Arial Unicode MS"/>
                <a:cs typeface="Arial Unicode MS"/>
              </a:rPr>
              <a:t>	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过</a:t>
            </a:r>
            <a:r>
              <a:rPr dirty="0" u="sng" sz="1200" spc="-26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量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（或不</a:t>
            </a:r>
            <a:r>
              <a:rPr dirty="0" u="sng" sz="1200" spc="3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足</a:t>
            </a:r>
            <a:r>
              <a:rPr dirty="0" u="sng" sz="1200" spc="-28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）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的物质的量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1910" y="2206713"/>
            <a:ext cx="22866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理论上应加入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的物质的量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5207" y="2124100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963802"/>
            <a:ext cx="30200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如果以体积</a:t>
            </a:r>
            <a:r>
              <a:rPr dirty="0" sz="1200" spc="2165">
                <a:latin typeface="Arial Unicode MS"/>
                <a:cs typeface="Arial Unicode MS"/>
              </a:rPr>
              <a:t>比</a:t>
            </a:r>
            <a:r>
              <a:rPr dirty="0" sz="1200" spc="-5">
                <a:latin typeface="Arial Unicode MS"/>
                <a:cs typeface="Arial Unicode MS"/>
              </a:rPr>
              <a:t>来表示终点误</a:t>
            </a:r>
            <a:r>
              <a:rPr dirty="0" sz="1200" spc="-80">
                <a:latin typeface="Arial Unicode MS"/>
                <a:cs typeface="Arial Unicode MS"/>
              </a:rPr>
              <a:t>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其形式如</a:t>
            </a:r>
            <a:r>
              <a:rPr dirty="0" sz="1200" spc="-1015">
                <a:latin typeface="Arial Unicode MS"/>
                <a:cs typeface="Arial Unicode MS"/>
              </a:rPr>
              <a:t>下 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9188" y="1240193"/>
            <a:ext cx="436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336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ρ	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80">
                <a:latin typeface="Lucida Sans Unicode"/>
                <a:cs typeface="Lucida Sans Unicod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0816" y="1348917"/>
            <a:ext cx="44767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1790" algn="l"/>
              </a:tabLst>
            </a:pPr>
            <a:r>
              <a:rPr dirty="0" sz="500" spc="65">
                <a:latin typeface="Book Antiqua"/>
                <a:cs typeface="Book Antiqua"/>
              </a:rPr>
              <a:t>ep</a:t>
            </a:r>
            <a:r>
              <a:rPr dirty="0" sz="500" spc="65">
                <a:latin typeface="Book Antiqua"/>
                <a:cs typeface="Book Antiqua"/>
              </a:rPr>
              <a:t>	</a:t>
            </a:r>
            <a:r>
              <a:rPr dirty="0" sz="500" spc="65">
                <a:latin typeface="Book Antiqua"/>
                <a:cs typeface="Book Antiqua"/>
              </a:rPr>
              <a:t>sp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1888" y="1456575"/>
            <a:ext cx="506730" cy="0"/>
          </a:xfrm>
          <a:custGeom>
            <a:avLst/>
            <a:gdLst/>
            <a:ahLst/>
            <a:cxnLst/>
            <a:rect l="l" t="t" r="r" b="b"/>
            <a:pathLst>
              <a:path w="506730" h="0">
                <a:moveTo>
                  <a:pt x="0" y="0"/>
                </a:moveTo>
                <a:lnTo>
                  <a:pt x="50615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29473" y="1339964"/>
            <a:ext cx="15494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74420" algn="l"/>
              </a:tabLst>
            </a:pPr>
            <a:r>
              <a:rPr dirty="0" sz="1100" spc="45">
                <a:latin typeface="Georgia"/>
                <a:cs typeface="Georgia"/>
              </a:rPr>
              <a:t>TE%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44" y="1379699"/>
            <a:ext cx="4118610" cy="56007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ctr" marL="303530">
              <a:lnSpc>
                <a:spcPct val="100000"/>
              </a:lnSpc>
              <a:spcBef>
                <a:spcPts val="790"/>
              </a:spcBef>
            </a:pPr>
            <a:r>
              <a:rPr dirty="0" baseline="12626" sz="1650" spc="-44" b="0" i="1">
                <a:latin typeface="Bookman Old Style"/>
                <a:cs typeface="Bookman Old Style"/>
              </a:rPr>
              <a:t>ρ</a:t>
            </a:r>
            <a:r>
              <a:rPr dirty="0" sz="500" spc="65">
                <a:latin typeface="Book Antiqua"/>
                <a:cs typeface="Book Antiqua"/>
              </a:rPr>
              <a:t>sp</a:t>
            </a:r>
            <a:endParaRPr sz="50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76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baseline="-27777" sz="750" spc="97">
                <a:latin typeface="Book Antiqua"/>
                <a:cs typeface="Book Antiqua"/>
              </a:rPr>
              <a:t>ep</a:t>
            </a:r>
            <a:r>
              <a:rPr dirty="0" baseline="-27777" sz="750">
                <a:latin typeface="Book Antiqua"/>
                <a:cs typeface="Book Antiqua"/>
              </a:rPr>
              <a:t> </a:t>
            </a:r>
            <a:r>
              <a:rPr dirty="0" baseline="-27777" sz="750" spc="44">
                <a:latin typeface="Book Antiqua"/>
                <a:cs typeface="Book Antiqu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baseline="-27777" sz="750" spc="97">
                <a:latin typeface="Book Antiqua"/>
                <a:cs typeface="Book Antiqua"/>
              </a:rPr>
              <a:t>sp</a:t>
            </a:r>
            <a:r>
              <a:rPr dirty="0" baseline="-27777" sz="750">
                <a:latin typeface="Book Antiqua"/>
                <a:cs typeface="Book Antiqua"/>
              </a:rPr>
              <a:t> </a:t>
            </a:r>
            <a:r>
              <a:rPr dirty="0" baseline="-27777" sz="750" spc="44">
                <a:latin typeface="Book Antiqua"/>
                <a:cs typeface="Book Antiqu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分别表示滴定终点和化学计量点时的体积</a:t>
            </a:r>
            <a:r>
              <a:rPr dirty="0" sz="1200" spc="755">
                <a:latin typeface="Arial Unicode MS"/>
                <a:cs typeface="Arial Unicode MS"/>
              </a:rPr>
              <a:t>比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8591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">
                <a:solidFill>
                  <a:srgbClr val="FFFFFF"/>
                </a:solidFill>
                <a:latin typeface="Georgia"/>
                <a:cs typeface="Georgia"/>
              </a:rPr>
              <a:t>5.7.1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林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帮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公式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400974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2086165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2073465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1451546"/>
            <a:ext cx="50749" cy="6346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1445393"/>
            <a:ext cx="4432935" cy="692150"/>
          </a:xfrm>
          <a:custGeom>
            <a:avLst/>
            <a:gdLst/>
            <a:ahLst/>
            <a:cxnLst/>
            <a:rect l="l" t="t" r="r" b="b"/>
            <a:pathLst>
              <a:path w="4432935" h="692150">
                <a:moveTo>
                  <a:pt x="4432566" y="0"/>
                </a:moveTo>
                <a:lnTo>
                  <a:pt x="0" y="0"/>
                </a:lnTo>
                <a:lnTo>
                  <a:pt x="0" y="640771"/>
                </a:lnTo>
                <a:lnTo>
                  <a:pt x="4008" y="660496"/>
                </a:lnTo>
                <a:lnTo>
                  <a:pt x="14922" y="676649"/>
                </a:lnTo>
                <a:lnTo>
                  <a:pt x="31075" y="687563"/>
                </a:lnTo>
                <a:lnTo>
                  <a:pt x="50800" y="691572"/>
                </a:lnTo>
                <a:lnTo>
                  <a:pt x="4381765" y="691572"/>
                </a:lnTo>
                <a:lnTo>
                  <a:pt x="4401490" y="687563"/>
                </a:lnTo>
                <a:lnTo>
                  <a:pt x="4417643" y="676649"/>
                </a:lnTo>
                <a:lnTo>
                  <a:pt x="4428558" y="660496"/>
                </a:lnTo>
                <a:lnTo>
                  <a:pt x="4432566" y="640771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89630"/>
            <a:ext cx="0" cy="615950"/>
          </a:xfrm>
          <a:custGeom>
            <a:avLst/>
            <a:gdLst/>
            <a:ahLst/>
            <a:cxnLst/>
            <a:rect l="l" t="t" r="r" b="b"/>
            <a:pathLst>
              <a:path w="0" h="615950">
                <a:moveTo>
                  <a:pt x="0" y="6155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47693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46423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45153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0444" y="841743"/>
            <a:ext cx="4305300" cy="7493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在配位滴定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也常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13888" sz="900" spc="37">
                <a:latin typeface="Times New Roman"/>
                <a:cs typeface="Times New Roman"/>
              </a:rPr>
              <a:t>ep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13888" sz="900" spc="37">
                <a:latin typeface="Times New Roman"/>
                <a:cs typeface="Times New Roman"/>
              </a:rPr>
              <a:t>sp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75">
                <a:latin typeface="Arial Unicode MS"/>
                <a:cs typeface="Arial Unicode MS"/>
              </a:rPr>
              <a:t>差</a:t>
            </a:r>
            <a:r>
              <a:rPr dirty="0" sz="1100" spc="40">
                <a:latin typeface="Georgia"/>
                <a:cs typeface="Georgia"/>
              </a:rPr>
              <a:t>∆pM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来衡量滴定误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其计算公式如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195705">
              <a:lnSpc>
                <a:spcPct val="100000"/>
              </a:lnSpc>
              <a:spcBef>
                <a:spcPts val="860"/>
              </a:spcBef>
            </a:pPr>
            <a:r>
              <a:rPr dirty="0" baseline="-58080" sz="1650" spc="67">
                <a:latin typeface="Georgia"/>
                <a:cs typeface="Georgia"/>
              </a:rPr>
              <a:t>TE% </a:t>
            </a:r>
            <a:r>
              <a:rPr dirty="0" baseline="-58080" sz="1650" spc="209">
                <a:latin typeface="Georgia"/>
                <a:cs typeface="Georgia"/>
              </a:rPr>
              <a:t>= </a:t>
            </a:r>
            <a:r>
              <a:rPr dirty="0" baseline="-20202" sz="1650" spc="112">
                <a:latin typeface="Georgia"/>
                <a:cs typeface="Georgia"/>
              </a:rPr>
              <a:t>10</a:t>
            </a:r>
            <a:r>
              <a:rPr dirty="0" sz="600" spc="75">
                <a:latin typeface="Times New Roman"/>
                <a:cs typeface="Times New Roman"/>
              </a:rPr>
              <a:t>∆pM </a:t>
            </a:r>
            <a:r>
              <a:rPr dirty="0" baseline="-20202" sz="1650" spc="-44">
                <a:latin typeface="Lucida Sans Unicode"/>
                <a:cs typeface="Lucida Sans Unicode"/>
              </a:rPr>
              <a:t>−</a:t>
            </a:r>
            <a:r>
              <a:rPr dirty="0" baseline="-20202" sz="1650" spc="-412">
                <a:latin typeface="Lucida Sans Unicode"/>
                <a:cs typeface="Lucida Sans Unicode"/>
              </a:rPr>
              <a:t> </a:t>
            </a:r>
            <a:r>
              <a:rPr dirty="0" baseline="-20202" sz="1650" spc="120">
                <a:latin typeface="Georgia"/>
                <a:cs typeface="Georgia"/>
              </a:rPr>
              <a:t>10</a:t>
            </a:r>
            <a:r>
              <a:rPr dirty="0" sz="600" spc="80">
                <a:latin typeface="Lucida Sans Unicode"/>
                <a:cs typeface="Lucida Sans Unicode"/>
              </a:rPr>
              <a:t>−</a:t>
            </a:r>
            <a:r>
              <a:rPr dirty="0" sz="600" spc="80">
                <a:latin typeface="Times New Roman"/>
                <a:cs typeface="Times New Roman"/>
              </a:rPr>
              <a:t>∆pM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6143" y="1659775"/>
            <a:ext cx="998219" cy="0"/>
          </a:xfrm>
          <a:custGeom>
            <a:avLst/>
            <a:gdLst/>
            <a:ahLst/>
            <a:cxnLst/>
            <a:rect l="l" t="t" r="r" b="b"/>
            <a:pathLst>
              <a:path w="998219" h="0">
                <a:moveTo>
                  <a:pt x="0" y="0"/>
                </a:moveTo>
                <a:lnTo>
                  <a:pt x="9976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44687" y="1687487"/>
            <a:ext cx="859155" cy="0"/>
          </a:xfrm>
          <a:custGeom>
            <a:avLst/>
            <a:gdLst/>
            <a:ahLst/>
            <a:cxnLst/>
            <a:rect l="l" t="t" r="r" b="b"/>
            <a:pathLst>
              <a:path w="859155" h="0">
                <a:moveTo>
                  <a:pt x="0" y="0"/>
                </a:moveTo>
                <a:lnTo>
                  <a:pt x="8591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768043" y="1657007"/>
            <a:ext cx="12280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165" indent="-139700">
              <a:lnSpc>
                <a:spcPct val="100000"/>
              </a:lnSpc>
              <a:spcBef>
                <a:spcPts val="90"/>
              </a:spcBef>
              <a:buSzPct val="90909"/>
              <a:buFont typeface="Arial Unicode MS"/>
              <a:buChar char="✓"/>
              <a:tabLst>
                <a:tab pos="17780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(M)</a:t>
            </a:r>
            <a:r>
              <a:rPr dirty="0" baseline="-13888" sz="900" spc="67">
                <a:latin typeface="Times New Roman"/>
                <a:cs typeface="Times New Roman"/>
              </a:rPr>
              <a:t>sp</a:t>
            </a:r>
            <a:r>
              <a:rPr dirty="0" sz="1100" spc="45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(MY)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baseline="45454" sz="1650" spc="-44">
                <a:latin typeface="Lucida Sans Unicode"/>
                <a:cs typeface="Lucida Sans Unicode"/>
              </a:rPr>
              <a:t>×</a:t>
            </a:r>
            <a:endParaRPr baseline="45454" sz="16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75597" y="1543164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47140" algn="l"/>
              </a:tabLst>
            </a:pPr>
            <a:r>
              <a:rPr dirty="0" sz="1100" spc="-45">
                <a:latin typeface="Georgia"/>
                <a:cs typeface="Georgia"/>
              </a:rPr>
              <a:t>100%</a:t>
            </a:r>
            <a:r>
              <a:rPr dirty="0" sz="1100" spc="-45">
                <a:latin typeface="Georgia"/>
                <a:cs typeface="Georgia"/>
              </a:rPr>
              <a:t>	</a:t>
            </a:r>
            <a:r>
              <a:rPr dirty="0" sz="1100" spc="-30">
                <a:latin typeface="Georgia"/>
                <a:cs typeface="Georgia"/>
              </a:rPr>
              <a:t>(36)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744" y="1892465"/>
            <a:ext cx="4342130" cy="924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∆pM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13888" sz="900" spc="37">
                <a:latin typeface="Times New Roman"/>
                <a:cs typeface="Times New Roman"/>
              </a:rPr>
              <a:t>ep</a:t>
            </a:r>
            <a:r>
              <a:rPr dirty="0" baseline="-13888" sz="900" spc="209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5">
                <a:latin typeface="Georgia"/>
                <a:cs typeface="Georgia"/>
              </a:rPr>
              <a:t>pM</a:t>
            </a:r>
            <a:r>
              <a:rPr dirty="0" baseline="-13888" sz="900" spc="52">
                <a:latin typeface="Times New Roman"/>
                <a:cs typeface="Times New Roman"/>
              </a:rPr>
              <a:t>sp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1400">
              <a:latin typeface="Arial Unicode MS"/>
              <a:cs typeface="Arial Unicode MS"/>
            </a:endParaRPr>
          </a:p>
          <a:p>
            <a:pPr marL="321945">
              <a:lnSpc>
                <a:spcPct val="100000"/>
              </a:lnSpc>
              <a:spcBef>
                <a:spcPts val="5"/>
              </a:spcBef>
            </a:pPr>
            <a:r>
              <a:rPr dirty="0" sz="1200" spc="-100">
                <a:latin typeface="Arial Unicode MS"/>
                <a:cs typeface="Arial Unicode MS"/>
              </a:rPr>
              <a:t>（</a:t>
            </a:r>
            <a:r>
              <a:rPr dirty="0" sz="1100" spc="-100">
                <a:latin typeface="Georgia"/>
                <a:cs typeface="Georgia"/>
                <a:hlinkClick r:id="rId5" action="ppaction://hlinksldjump"/>
              </a:rPr>
              <a:t>36</a:t>
            </a:r>
            <a:r>
              <a:rPr dirty="0" sz="1200" spc="-10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式是著名的林帮公</a:t>
            </a:r>
            <a:r>
              <a:rPr dirty="0" sz="1200" spc="-20">
                <a:latin typeface="Arial Unicode MS"/>
                <a:cs typeface="Arial Unicode MS"/>
              </a:rPr>
              <a:t>式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要说明的</a:t>
            </a:r>
            <a:r>
              <a:rPr dirty="0" sz="1200" spc="-80">
                <a:latin typeface="Arial Unicode MS"/>
                <a:cs typeface="Arial Unicode MS"/>
              </a:rPr>
              <a:t>是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林帮公式在滴定终</a:t>
            </a:r>
            <a:endParaRPr sz="12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点靠近化学计量点时才能较好地反映真实的误差情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955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林帮公式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推导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44" y="574535"/>
            <a:ext cx="4137660" cy="11963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3035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设滴定终点</a:t>
            </a:r>
            <a:r>
              <a:rPr dirty="0" sz="1200" spc="175">
                <a:latin typeface="Arial Unicode MS"/>
                <a:cs typeface="Arial Unicode MS"/>
              </a:rPr>
              <a:t>时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(Y)</a:t>
            </a:r>
            <a:r>
              <a:rPr dirty="0" baseline="-13888" sz="900" spc="7">
                <a:latin typeface="Times New Roman"/>
                <a:cs typeface="Times New Roman"/>
              </a:rPr>
              <a:t>ep</a:t>
            </a:r>
            <a:r>
              <a:rPr dirty="0" sz="1200" spc="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金属离</a:t>
            </a: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(M)</a:t>
            </a:r>
            <a:r>
              <a:rPr dirty="0" baseline="-13888" sz="900" spc="-30">
                <a:latin typeface="Times New Roman"/>
                <a:cs typeface="Times New Roman"/>
              </a:rPr>
              <a:t>ep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终点时体积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40" b="0" i="1">
                <a:latin typeface="Bookman Old Style"/>
                <a:cs typeface="Bookman Old Style"/>
              </a:rPr>
              <a:t>V</a:t>
            </a:r>
            <a:r>
              <a:rPr dirty="0" baseline="-13888" sz="900" spc="-60">
                <a:latin typeface="Times New Roman"/>
                <a:cs typeface="Times New Roman"/>
              </a:rPr>
              <a:t>ep</a:t>
            </a:r>
            <a:r>
              <a:rPr dirty="0" sz="1200" spc="-4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则终点时的质量平衡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313690">
              <a:lnSpc>
                <a:spcPct val="100000"/>
              </a:lnSpc>
            </a:pPr>
            <a:r>
              <a:rPr dirty="0" sz="1100" spc="40" b="0" i="1">
                <a:latin typeface="Bookman Old Style"/>
                <a:cs typeface="Bookman Old Style"/>
              </a:rPr>
              <a:t>c</a:t>
            </a:r>
            <a:r>
              <a:rPr dirty="0" sz="1100" spc="40">
                <a:latin typeface="Georgia"/>
                <a:cs typeface="Georgia"/>
              </a:rPr>
              <a:t>(Y)</a:t>
            </a:r>
            <a:r>
              <a:rPr dirty="0" baseline="-13888" sz="900" spc="60">
                <a:latin typeface="Times New Roman"/>
                <a:cs typeface="Times New Roman"/>
              </a:rPr>
              <a:t>ep 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5">
                <a:latin typeface="Georgia"/>
                <a:cs typeface="Georgia"/>
              </a:rPr>
              <a:t>[Y]</a:t>
            </a:r>
            <a:r>
              <a:rPr dirty="0" baseline="-13888" sz="900" spc="22">
                <a:latin typeface="Times New Roman"/>
                <a:cs typeface="Times New Roman"/>
              </a:rPr>
              <a:t>ep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[MY]</a:t>
            </a:r>
            <a:r>
              <a:rPr dirty="0" baseline="-13888" sz="900" spc="15">
                <a:latin typeface="Times New Roman"/>
                <a:cs typeface="Times New Roman"/>
              </a:rPr>
              <a:t>ep</a:t>
            </a:r>
            <a:endParaRPr baseline="-13888"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 marL="313690">
              <a:lnSpc>
                <a:spcPct val="100000"/>
              </a:lnSpc>
            </a:pP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(M)</a:t>
            </a:r>
            <a:r>
              <a:rPr dirty="0" baseline="-13888" sz="900" spc="22">
                <a:latin typeface="Times New Roman"/>
                <a:cs typeface="Times New Roman"/>
              </a:rPr>
              <a:t>ep 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0">
                <a:latin typeface="Georgia"/>
                <a:cs typeface="Georgia"/>
              </a:rPr>
              <a:t>[M]</a:t>
            </a:r>
            <a:r>
              <a:rPr dirty="0" baseline="-13888" sz="900" spc="-30">
                <a:latin typeface="Times New Roman"/>
                <a:cs typeface="Times New Roman"/>
              </a:rPr>
              <a:t>ep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[MY]</a:t>
            </a:r>
            <a:r>
              <a:rPr dirty="0" baseline="-13888" sz="900" spc="15">
                <a:latin typeface="Times New Roman"/>
                <a:cs typeface="Times New Roman"/>
              </a:rPr>
              <a:t>ep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955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林帮公式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推导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44" y="574535"/>
            <a:ext cx="4163060" cy="16433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设滴定终点</a:t>
            </a:r>
            <a:r>
              <a:rPr dirty="0" sz="1200" spc="175">
                <a:latin typeface="Arial Unicode MS"/>
                <a:cs typeface="Arial Unicode MS"/>
              </a:rPr>
              <a:t>时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(Y)</a:t>
            </a:r>
            <a:r>
              <a:rPr dirty="0" baseline="-13888" sz="900" spc="7">
                <a:latin typeface="Times New Roman"/>
                <a:cs typeface="Times New Roman"/>
              </a:rPr>
              <a:t>ep</a:t>
            </a:r>
            <a:r>
              <a:rPr dirty="0" sz="1200" spc="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金属离</a:t>
            </a: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(M)</a:t>
            </a:r>
            <a:r>
              <a:rPr dirty="0" baseline="-13888" sz="900" spc="-30">
                <a:latin typeface="Times New Roman"/>
                <a:cs typeface="Times New Roman"/>
              </a:rPr>
              <a:t>ep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终点时体积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40" b="0" i="1">
                <a:latin typeface="Bookman Old Style"/>
                <a:cs typeface="Bookman Old Style"/>
              </a:rPr>
              <a:t>V</a:t>
            </a:r>
            <a:r>
              <a:rPr dirty="0" baseline="-13888" sz="900" spc="-60">
                <a:latin typeface="Times New Roman"/>
                <a:cs typeface="Times New Roman"/>
              </a:rPr>
              <a:t>ep</a:t>
            </a:r>
            <a:r>
              <a:rPr dirty="0" sz="1200" spc="-4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则终点时的质量平衡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313690">
              <a:lnSpc>
                <a:spcPct val="100000"/>
              </a:lnSpc>
            </a:pPr>
            <a:r>
              <a:rPr dirty="0" sz="1100" spc="40" b="0" i="1">
                <a:latin typeface="Bookman Old Style"/>
                <a:cs typeface="Bookman Old Style"/>
              </a:rPr>
              <a:t>c</a:t>
            </a:r>
            <a:r>
              <a:rPr dirty="0" sz="1100" spc="40">
                <a:latin typeface="Georgia"/>
                <a:cs typeface="Georgia"/>
              </a:rPr>
              <a:t>(Y)</a:t>
            </a:r>
            <a:r>
              <a:rPr dirty="0" baseline="-13888" sz="900" spc="60">
                <a:latin typeface="Times New Roman"/>
                <a:cs typeface="Times New Roman"/>
              </a:rPr>
              <a:t>ep 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5">
                <a:latin typeface="Georgia"/>
                <a:cs typeface="Georgia"/>
              </a:rPr>
              <a:t>[Y]</a:t>
            </a:r>
            <a:r>
              <a:rPr dirty="0" baseline="-13888" sz="900" spc="22">
                <a:latin typeface="Times New Roman"/>
                <a:cs typeface="Times New Roman"/>
              </a:rPr>
              <a:t>ep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[MY]</a:t>
            </a:r>
            <a:r>
              <a:rPr dirty="0" baseline="-13888" sz="900" spc="15">
                <a:latin typeface="Times New Roman"/>
                <a:cs typeface="Times New Roman"/>
              </a:rPr>
              <a:t>ep</a:t>
            </a:r>
            <a:endParaRPr baseline="-13888"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 marL="313690">
              <a:lnSpc>
                <a:spcPct val="100000"/>
              </a:lnSpc>
            </a:pP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(M)</a:t>
            </a:r>
            <a:r>
              <a:rPr dirty="0" baseline="-13888" sz="900" spc="22">
                <a:latin typeface="Times New Roman"/>
                <a:cs typeface="Times New Roman"/>
              </a:rPr>
              <a:t>ep 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0">
                <a:latin typeface="Georgia"/>
                <a:cs typeface="Georgia"/>
              </a:rPr>
              <a:t>[M]</a:t>
            </a:r>
            <a:r>
              <a:rPr dirty="0" baseline="-13888" sz="900" spc="-30">
                <a:latin typeface="Times New Roman"/>
                <a:cs typeface="Times New Roman"/>
              </a:rPr>
              <a:t>ep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[MY]</a:t>
            </a:r>
            <a:r>
              <a:rPr dirty="0" baseline="-13888" sz="900" spc="15">
                <a:latin typeface="Times New Roman"/>
                <a:cs typeface="Times New Roman"/>
              </a:rPr>
              <a:t>ep</a:t>
            </a:r>
            <a:endParaRPr baseline="-13888"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Times New Roman"/>
              <a:cs typeface="Times New Roman"/>
            </a:endParaRPr>
          </a:p>
          <a:p>
            <a:pPr marL="3797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根据终点误差的定</a:t>
            </a:r>
            <a:r>
              <a:rPr dirty="0" sz="1200" spc="-80">
                <a:latin typeface="Arial Unicode MS"/>
                <a:cs typeface="Arial Unicode MS"/>
              </a:rPr>
              <a:t>义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7635" y="2400960"/>
            <a:ext cx="569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TE%</a:t>
            </a:r>
            <a:r>
              <a:rPr dirty="0" sz="1100" spc="3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3423" y="2307234"/>
            <a:ext cx="745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3725" algn="l"/>
              </a:tabLst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220">
                <a:latin typeface="Georgia"/>
                <a:cs typeface="Georgia"/>
              </a:rPr>
              <a:t> 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sz="1100" spc="-114" b="0" i="1">
                <a:latin typeface="Bookman Old Style"/>
                <a:cs typeface="Bookman Old Style"/>
              </a:rPr>
              <a:t>	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5050" y="2390648"/>
            <a:ext cx="3352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ep</a:t>
            </a:r>
            <a:r>
              <a:rPr dirty="0" sz="600" spc="200">
                <a:latin typeface="Times New Roman"/>
                <a:cs typeface="Times New Roman"/>
              </a:rPr>
              <a:t> </a:t>
            </a: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ep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53424" y="2307234"/>
            <a:ext cx="5003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8140" y="2390648"/>
            <a:ext cx="304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ep</a:t>
            </a:r>
            <a:r>
              <a:rPr dirty="0" sz="600" spc="185">
                <a:latin typeface="Times New Roman"/>
                <a:cs typeface="Times New Roman"/>
              </a:rPr>
              <a:t> </a:t>
            </a:r>
            <a:r>
              <a:rPr dirty="0" u="sng" sz="600" spc="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8029" y="2495994"/>
            <a:ext cx="6438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(M)</a:t>
            </a:r>
            <a:r>
              <a:rPr dirty="0" baseline="-13888" sz="900" spc="30">
                <a:latin typeface="Times New Roman"/>
                <a:cs typeface="Times New Roman"/>
              </a:rPr>
              <a:t>ep</a:t>
            </a:r>
            <a:r>
              <a:rPr dirty="0" sz="1100" spc="20" b="0" i="1">
                <a:latin typeface="Bookman Old Style"/>
                <a:cs typeface="Bookman Old Style"/>
              </a:rPr>
              <a:t>V</a:t>
            </a:r>
            <a:r>
              <a:rPr dirty="0" baseline="-13888" sz="900" spc="30">
                <a:latin typeface="Times New Roman"/>
                <a:cs typeface="Times New Roman"/>
              </a:rPr>
              <a:t>ep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73145" y="2400960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3956" y="2779788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14309" y="2769463"/>
            <a:ext cx="155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ep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3423" y="2686062"/>
            <a:ext cx="6788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3215" algn="l"/>
              </a:tabLst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[Y]</a:t>
            </a:r>
            <a:r>
              <a:rPr dirty="0" sz="1100" spc="-30">
                <a:latin typeface="Georgia"/>
                <a:cs typeface="Georgia"/>
              </a:rPr>
              <a:t>	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7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[M]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86723" y="2769463"/>
            <a:ext cx="1250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sng" sz="600" spc="1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87321" y="2874822"/>
            <a:ext cx="46418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(M)</a:t>
            </a:r>
            <a:r>
              <a:rPr dirty="0" baseline="-13888" sz="900" spc="22">
                <a:latin typeface="Times New Roman"/>
                <a:cs typeface="Times New Roman"/>
              </a:rPr>
              <a:t>ep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31808" y="2779788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10456" y="2779788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(37)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551154"/>
            <a:ext cx="365188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设终点</a:t>
            </a:r>
            <a:r>
              <a:rPr dirty="0" spc="175"/>
              <a:t>的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13888" sz="900" spc="37">
                <a:latin typeface="Times New Roman"/>
                <a:cs typeface="Times New Roman"/>
              </a:rPr>
              <a:t>ep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/>
              <a:t>与化学计量点</a:t>
            </a:r>
            <a:r>
              <a:rPr dirty="0" sz="1200" spc="175"/>
              <a:t>的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13888" sz="900" spc="37">
                <a:latin typeface="Times New Roman"/>
                <a:cs typeface="Times New Roman"/>
              </a:rPr>
              <a:t>sp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/>
              <a:t>之差</a:t>
            </a:r>
            <a:r>
              <a:rPr dirty="0" sz="1200" spc="175"/>
              <a:t>为</a:t>
            </a:r>
            <a:r>
              <a:rPr dirty="0" sz="1100" spc="-35">
                <a:latin typeface="Georgia"/>
                <a:cs typeface="Georgia"/>
              </a:rPr>
              <a:t>∆pM</a:t>
            </a:r>
            <a:r>
              <a:rPr dirty="0" sz="1200" spc="-35"/>
              <a:t>，</a:t>
            </a:r>
            <a:r>
              <a:rPr dirty="0" sz="1200" spc="-90"/>
              <a:t>则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2816" y="949452"/>
            <a:ext cx="1345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>
                <a:latin typeface="Georgia"/>
                <a:cs typeface="Georgia"/>
              </a:rPr>
              <a:t>∆pM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13888" sz="900" spc="37">
                <a:latin typeface="Times New Roman"/>
                <a:cs typeface="Times New Roman"/>
              </a:rPr>
              <a:t>ep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45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pM</a:t>
            </a:r>
            <a:r>
              <a:rPr dirty="0" baseline="-13888" sz="900" spc="37">
                <a:latin typeface="Times New Roman"/>
                <a:cs typeface="Times New Roman"/>
              </a:rPr>
              <a:t>sp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6517" y="855726"/>
            <a:ext cx="6737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baseline="-37878" sz="1650" spc="-30">
                <a:latin typeface="Georgia"/>
                <a:cs typeface="Georgia"/>
              </a:rPr>
              <a:t>lg</a:t>
            </a:r>
            <a:r>
              <a:rPr dirty="0" u="sng" sz="1100" spc="-9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[M]</a:t>
            </a:r>
            <a:r>
              <a:rPr dirty="0" u="sng" baseline="-13888" sz="9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</a:t>
            </a:r>
            <a:r>
              <a:rPr dirty="0" u="sng" baseline="-13888" sz="900" spc="-12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6113" y="1044486"/>
            <a:ext cx="229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0087" y="1127887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ep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501" y="1329410"/>
            <a:ext cx="9258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从上式可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8632" y="1566392"/>
            <a:ext cx="13849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425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[M]</a:t>
            </a:r>
            <a:r>
              <a:rPr dirty="0" baseline="-13888" sz="900" spc="-30">
                <a:latin typeface="Times New Roman"/>
                <a:cs typeface="Times New Roman"/>
              </a:rPr>
              <a:t>ep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0">
                <a:latin typeface="Georgia"/>
                <a:cs typeface="Georgia"/>
              </a:rPr>
              <a:t>[M]</a:t>
            </a:r>
            <a:r>
              <a:rPr dirty="0" baseline="-13888" sz="900" spc="-30">
                <a:latin typeface="Times New Roman"/>
                <a:cs typeface="Times New Roman"/>
              </a:rPr>
              <a:t>sp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41666" sz="900" spc="15">
                <a:latin typeface="Lucida Sans Unicode"/>
                <a:cs typeface="Lucida Sans Unicode"/>
              </a:rPr>
              <a:t>−</a:t>
            </a:r>
            <a:endParaRPr baseline="41666" sz="900">
              <a:latin typeface="Lucida Sans Unicode"/>
              <a:cs typeface="Lucida Sans Unicode"/>
            </a:endParaRPr>
          </a:p>
          <a:p>
            <a:pPr algn="r" marR="30480">
              <a:lnSpc>
                <a:spcPts val="345"/>
              </a:lnSpc>
            </a:pPr>
            <a:r>
              <a:rPr dirty="0" sz="600" spc="150">
                <a:latin typeface="Times New Roman"/>
                <a:cs typeface="Times New Roman"/>
              </a:rPr>
              <a:t>∆pM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0456" y="156639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(38)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501" y="1859051"/>
            <a:ext cx="12299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类似地可以求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8007" y="2235212"/>
            <a:ext cx="13239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425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[Y]</a:t>
            </a:r>
            <a:r>
              <a:rPr dirty="0" baseline="-13888" sz="900" spc="22">
                <a:latin typeface="Times New Roman"/>
                <a:cs typeface="Times New Roman"/>
              </a:rPr>
              <a:t>ep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5">
                <a:latin typeface="Georgia"/>
                <a:cs typeface="Georgia"/>
              </a:rPr>
              <a:t>[Y]</a:t>
            </a:r>
            <a:r>
              <a:rPr dirty="0" baseline="-13888" sz="900" spc="22">
                <a:latin typeface="Times New Roman"/>
                <a:cs typeface="Times New Roman"/>
              </a:rPr>
              <a:t>sp</a:t>
            </a:r>
            <a:r>
              <a:rPr dirty="0" baseline="-13888" sz="900" spc="44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41666" sz="900" spc="15">
                <a:latin typeface="Lucida Sans Unicode"/>
                <a:cs typeface="Lucida Sans Unicode"/>
              </a:rPr>
              <a:t>−</a:t>
            </a:r>
            <a:endParaRPr baseline="41666" sz="900">
              <a:latin typeface="Lucida Sans Unicode"/>
              <a:cs typeface="Lucida Sans Unicode"/>
            </a:endParaRPr>
          </a:p>
          <a:p>
            <a:pPr algn="r" marR="30480">
              <a:lnSpc>
                <a:spcPts val="345"/>
              </a:lnSpc>
            </a:pPr>
            <a:r>
              <a:rPr dirty="0" sz="600" spc="145">
                <a:latin typeface="Times New Roman"/>
                <a:cs typeface="Times New Roman"/>
              </a:rPr>
              <a:t>∆pY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0456" y="223521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(39)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362928"/>
            <a:ext cx="35953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在一般情况</a:t>
            </a:r>
            <a:r>
              <a:rPr dirty="0" spc="-80"/>
              <a:t>下</a:t>
            </a:r>
            <a:r>
              <a:rPr dirty="0" spc="-185"/>
              <a:t>，</a:t>
            </a:r>
            <a:r>
              <a:rPr dirty="0" spc="-5"/>
              <a:t>滴定终点与化学计量点接</a:t>
            </a:r>
            <a:r>
              <a:rPr dirty="0" spc="-80"/>
              <a:t>近</a:t>
            </a:r>
            <a:r>
              <a:rPr dirty="0" spc="-185"/>
              <a:t>，</a:t>
            </a:r>
            <a:r>
              <a:rPr dirty="0" spc="-5"/>
              <a:t>所以</a:t>
            </a:r>
            <a:r>
              <a:rPr dirty="0" spc="-90"/>
              <a:t>有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658024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80630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67930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708596"/>
            <a:ext cx="50749" cy="2720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702454"/>
            <a:ext cx="4432935" cy="329565"/>
          </a:xfrm>
          <a:custGeom>
            <a:avLst/>
            <a:gdLst/>
            <a:ahLst/>
            <a:cxnLst/>
            <a:rect l="l" t="t" r="r" b="b"/>
            <a:pathLst>
              <a:path w="4432935" h="329565">
                <a:moveTo>
                  <a:pt x="4432566" y="0"/>
                </a:moveTo>
                <a:lnTo>
                  <a:pt x="0" y="0"/>
                </a:lnTo>
                <a:lnTo>
                  <a:pt x="0" y="278175"/>
                </a:lnTo>
                <a:lnTo>
                  <a:pt x="4008" y="297900"/>
                </a:lnTo>
                <a:lnTo>
                  <a:pt x="14922" y="314053"/>
                </a:lnTo>
                <a:lnTo>
                  <a:pt x="31075" y="324967"/>
                </a:lnTo>
                <a:lnTo>
                  <a:pt x="50800" y="328976"/>
                </a:lnTo>
                <a:lnTo>
                  <a:pt x="4381765" y="328976"/>
                </a:lnTo>
                <a:lnTo>
                  <a:pt x="4401490" y="324967"/>
                </a:lnTo>
                <a:lnTo>
                  <a:pt x="4417643" y="314053"/>
                </a:lnTo>
                <a:lnTo>
                  <a:pt x="4428558" y="297900"/>
                </a:lnTo>
                <a:lnTo>
                  <a:pt x="4432566" y="27817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746692"/>
            <a:ext cx="0" cy="253365"/>
          </a:xfrm>
          <a:custGeom>
            <a:avLst/>
            <a:gdLst/>
            <a:ahLst/>
            <a:cxnLst/>
            <a:rect l="l" t="t" r="r" b="b"/>
            <a:pathLst>
              <a:path w="0" h="253365">
                <a:moveTo>
                  <a:pt x="0" y="252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73399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72129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70859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781924" y="800214"/>
            <a:ext cx="1038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(M)</a:t>
            </a:r>
            <a:r>
              <a:rPr dirty="0" baseline="-13888" sz="900" spc="22">
                <a:latin typeface="Times New Roman"/>
                <a:cs typeface="Times New Roman"/>
              </a:rPr>
              <a:t>ep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80">
                <a:latin typeface="Lucida Sans Unicode"/>
                <a:cs typeface="Lucida Sans Unicode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(M)</a:t>
            </a:r>
            <a:r>
              <a:rPr dirty="0" baseline="-13888" sz="900" spc="22">
                <a:latin typeface="Times New Roman"/>
                <a:cs typeface="Times New Roman"/>
              </a:rPr>
              <a:t>sp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0456" y="800214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Georgia"/>
                <a:cs typeface="Georgia"/>
              </a:rPr>
              <a:t>(40)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4919" y="1601876"/>
            <a:ext cx="9817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[M]</a:t>
            </a:r>
            <a:r>
              <a:rPr dirty="0" baseline="-13888" sz="900" spc="-30">
                <a:latin typeface="Times New Roman"/>
                <a:cs typeface="Times New Roman"/>
              </a:rPr>
              <a:t>sp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5">
                <a:latin typeface="Georgia"/>
                <a:cs typeface="Georgia"/>
              </a:rPr>
              <a:t>[Y]</a:t>
            </a:r>
            <a:r>
              <a:rPr dirty="0" baseline="-13888" sz="900" spc="22">
                <a:latin typeface="Times New Roman"/>
                <a:cs typeface="Times New Roman"/>
              </a:rPr>
              <a:t>sp</a:t>
            </a:r>
            <a:r>
              <a:rPr dirty="0" baseline="-13888" sz="900" spc="-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9501" y="1116890"/>
            <a:ext cx="2218690" cy="42100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 spc="-5">
                <a:latin typeface="Arial Unicode MS"/>
                <a:cs typeface="Arial Unicode MS"/>
              </a:rPr>
              <a:t>在化学计量点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r" marR="5080">
              <a:lnSpc>
                <a:spcPct val="100000"/>
              </a:lnSpc>
              <a:spcBef>
                <a:spcPts val="165"/>
              </a:spcBef>
            </a:pPr>
            <a:r>
              <a:rPr dirty="0" sz="1100" spc="844">
                <a:latin typeface="Arial Unicode MS"/>
                <a:cs typeface="Arial Unicode MS"/>
              </a:rPr>
              <a:t>j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35224" y="1494167"/>
            <a:ext cx="420370" cy="0"/>
          </a:xfrm>
          <a:custGeom>
            <a:avLst/>
            <a:gdLst/>
            <a:ahLst/>
            <a:cxnLst/>
            <a:rect l="l" t="t" r="r" b="b"/>
            <a:pathLst>
              <a:path w="420369" h="0">
                <a:moveTo>
                  <a:pt x="0" y="0"/>
                </a:moveTo>
                <a:lnTo>
                  <a:pt x="41976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637713" y="1508150"/>
            <a:ext cx="3206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32417" y="1591564"/>
            <a:ext cx="1206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sng" sz="600" spc="1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93885" y="1696910"/>
            <a:ext cx="143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11551" y="1780324"/>
            <a:ext cx="1765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10">
                <a:latin typeface="Times New Roman"/>
                <a:cs typeface="Times New Roman"/>
              </a:rPr>
              <a:t>MY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10456" y="160187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(41)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6801" y="1938210"/>
            <a:ext cx="2517140" cy="50609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40"/>
              </a:spcBef>
            </a:pPr>
            <a:r>
              <a:rPr dirty="0" sz="1200" spc="-260">
                <a:latin typeface="Arial Unicode MS"/>
                <a:cs typeface="Arial Unicode MS"/>
              </a:rPr>
              <a:t>将</a:t>
            </a:r>
            <a:r>
              <a:rPr dirty="0" sz="1200" spc="-90">
                <a:latin typeface="Arial Unicode MS"/>
                <a:cs typeface="Arial Unicode MS"/>
              </a:rPr>
              <a:t>（</a:t>
            </a:r>
            <a:r>
              <a:rPr dirty="0" sz="1100" spc="-90">
                <a:latin typeface="Georgia"/>
                <a:cs typeface="Georgia"/>
                <a:hlinkClick r:id="rId5" action="ppaction://hlinksldjump"/>
              </a:rPr>
              <a:t>38</a:t>
            </a:r>
            <a:r>
              <a:rPr dirty="0" sz="1200" spc="-90">
                <a:latin typeface="Arial Unicode MS"/>
                <a:cs typeface="Arial Unicode MS"/>
              </a:rPr>
              <a:t>）</a:t>
            </a:r>
            <a:r>
              <a:rPr dirty="0" sz="1100" spc="-90">
                <a:latin typeface="Lucida Sans Unicode"/>
                <a:cs typeface="Lucida Sans Unicode"/>
              </a:rPr>
              <a:t>∼</a:t>
            </a:r>
            <a:r>
              <a:rPr dirty="0" sz="1100" spc="-270">
                <a:latin typeface="Lucida Sans Unicode"/>
                <a:cs typeface="Lucida Sans Unicode"/>
              </a:rPr>
              <a:t> </a:t>
            </a:r>
            <a:r>
              <a:rPr dirty="0" sz="1200" spc="-65">
                <a:latin typeface="Arial Unicode MS"/>
                <a:cs typeface="Arial Unicode MS"/>
              </a:rPr>
              <a:t>（</a:t>
            </a:r>
            <a:r>
              <a:rPr dirty="0" sz="1100" spc="-65">
                <a:latin typeface="Georgia"/>
                <a:cs typeface="Georgia"/>
                <a:hlinkClick r:id="rId6" action="ppaction://hlinksldjump"/>
              </a:rPr>
              <a:t>41</a:t>
            </a:r>
            <a:r>
              <a:rPr dirty="0" sz="1200" spc="-6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式代</a:t>
            </a:r>
            <a:r>
              <a:rPr dirty="0" sz="1200" spc="-260">
                <a:latin typeface="Arial Unicode MS"/>
                <a:cs typeface="Arial Unicode MS"/>
              </a:rPr>
              <a:t>入</a:t>
            </a:r>
            <a:r>
              <a:rPr dirty="0" sz="1200" spc="-80">
                <a:latin typeface="Arial Unicode MS"/>
                <a:cs typeface="Arial Unicode MS"/>
              </a:rPr>
              <a:t>（</a:t>
            </a:r>
            <a:r>
              <a:rPr dirty="0" sz="1100" spc="-80">
                <a:latin typeface="Georgia"/>
                <a:cs typeface="Georgia"/>
              </a:rPr>
              <a:t>37</a:t>
            </a:r>
            <a:r>
              <a:rPr dirty="0" sz="1200" spc="-80">
                <a:latin typeface="Arial Unicode MS"/>
                <a:cs typeface="Arial Unicode MS"/>
              </a:rPr>
              <a:t>）式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879475">
              <a:lnSpc>
                <a:spcPct val="100000"/>
              </a:lnSpc>
              <a:spcBef>
                <a:spcPts val="484"/>
              </a:spcBef>
            </a:pPr>
            <a:r>
              <a:rPr dirty="0" baseline="-58080" sz="1650" spc="67">
                <a:latin typeface="Georgia"/>
                <a:cs typeface="Georgia"/>
              </a:rPr>
              <a:t>TE% </a:t>
            </a:r>
            <a:r>
              <a:rPr dirty="0" baseline="-58080" sz="1650" spc="209">
                <a:latin typeface="Georgia"/>
                <a:cs typeface="Georgia"/>
              </a:rPr>
              <a:t>= </a:t>
            </a:r>
            <a:r>
              <a:rPr dirty="0" baseline="-20202" sz="1650" spc="112">
                <a:latin typeface="Georgia"/>
                <a:cs typeface="Georgia"/>
              </a:rPr>
              <a:t>10</a:t>
            </a:r>
            <a:r>
              <a:rPr dirty="0" sz="600" spc="75">
                <a:latin typeface="Times New Roman"/>
                <a:cs typeface="Times New Roman"/>
              </a:rPr>
              <a:t>∆pM </a:t>
            </a:r>
            <a:r>
              <a:rPr dirty="0" baseline="-20202" sz="1650" spc="-44">
                <a:latin typeface="Lucida Sans Unicode"/>
                <a:cs typeface="Lucida Sans Unicode"/>
              </a:rPr>
              <a:t>−</a:t>
            </a:r>
            <a:r>
              <a:rPr dirty="0" baseline="-20202" sz="1650" spc="165">
                <a:latin typeface="Lucida Sans Unicode"/>
                <a:cs typeface="Lucida Sans Unicode"/>
              </a:rPr>
              <a:t> </a:t>
            </a:r>
            <a:r>
              <a:rPr dirty="0" baseline="-20202" sz="1650" spc="120">
                <a:latin typeface="Georgia"/>
                <a:cs typeface="Georgia"/>
              </a:rPr>
              <a:t>10</a:t>
            </a:r>
            <a:r>
              <a:rPr dirty="0" sz="600" spc="80">
                <a:latin typeface="Lucida Sans Unicode"/>
                <a:cs typeface="Lucida Sans Unicode"/>
              </a:rPr>
              <a:t>−</a:t>
            </a:r>
            <a:r>
              <a:rPr dirty="0" sz="600" spc="80">
                <a:latin typeface="Times New Roman"/>
                <a:cs typeface="Times New Roman"/>
              </a:rPr>
              <a:t>∆pM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06143" y="2513152"/>
            <a:ext cx="998219" cy="0"/>
          </a:xfrm>
          <a:custGeom>
            <a:avLst/>
            <a:gdLst/>
            <a:ahLst/>
            <a:cxnLst/>
            <a:rect l="l" t="t" r="r" b="b"/>
            <a:pathLst>
              <a:path w="998219" h="0">
                <a:moveTo>
                  <a:pt x="0" y="0"/>
                </a:moveTo>
                <a:lnTo>
                  <a:pt x="9976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944687" y="2540850"/>
            <a:ext cx="859155" cy="0"/>
          </a:xfrm>
          <a:custGeom>
            <a:avLst/>
            <a:gdLst/>
            <a:ahLst/>
            <a:cxnLst/>
            <a:rect l="l" t="t" r="r" b="b"/>
            <a:pathLst>
              <a:path w="859155" h="0">
                <a:moveTo>
                  <a:pt x="0" y="0"/>
                </a:moveTo>
                <a:lnTo>
                  <a:pt x="8591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768043" y="2510383"/>
            <a:ext cx="12280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165" indent="-139700">
              <a:lnSpc>
                <a:spcPct val="100000"/>
              </a:lnSpc>
              <a:spcBef>
                <a:spcPts val="90"/>
              </a:spcBef>
              <a:buSzPct val="90909"/>
              <a:buFont typeface="Arial Unicode MS"/>
              <a:buChar char="✓"/>
              <a:tabLst>
                <a:tab pos="17780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(M)</a:t>
            </a:r>
            <a:r>
              <a:rPr dirty="0" baseline="-13888" sz="900" spc="67">
                <a:latin typeface="Times New Roman"/>
                <a:cs typeface="Times New Roman"/>
              </a:rPr>
              <a:t>sp</a:t>
            </a:r>
            <a:r>
              <a:rPr dirty="0" sz="1100" spc="45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(MY)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baseline="45454" sz="1650" spc="-44">
                <a:latin typeface="Lucida Sans Unicode"/>
                <a:cs typeface="Lucida Sans Unicode"/>
              </a:rPr>
              <a:t>×</a:t>
            </a:r>
            <a:endParaRPr baseline="45454" sz="16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75597" y="2396540"/>
            <a:ext cx="349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32447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08000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4282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3012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76682"/>
            <a:ext cx="50749" cy="5661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52286"/>
            <a:ext cx="4432935" cy="441959"/>
          </a:xfrm>
          <a:custGeom>
            <a:avLst/>
            <a:gdLst/>
            <a:ahLst/>
            <a:cxnLst/>
            <a:rect l="l" t="t" r="r" b="b"/>
            <a:pathLst>
              <a:path w="4432935" h="441959">
                <a:moveTo>
                  <a:pt x="4432566" y="0"/>
                </a:moveTo>
                <a:lnTo>
                  <a:pt x="0" y="0"/>
                </a:lnTo>
                <a:lnTo>
                  <a:pt x="0" y="390535"/>
                </a:lnTo>
                <a:lnTo>
                  <a:pt x="4008" y="410260"/>
                </a:lnTo>
                <a:lnTo>
                  <a:pt x="14922" y="426413"/>
                </a:lnTo>
                <a:lnTo>
                  <a:pt x="31075" y="437327"/>
                </a:lnTo>
                <a:lnTo>
                  <a:pt x="50800" y="441336"/>
                </a:lnTo>
                <a:lnTo>
                  <a:pt x="4381765" y="441336"/>
                </a:lnTo>
                <a:lnTo>
                  <a:pt x="4401490" y="437327"/>
                </a:lnTo>
                <a:lnTo>
                  <a:pt x="4417643" y="426413"/>
                </a:lnTo>
                <a:lnTo>
                  <a:pt x="4428558" y="410260"/>
                </a:lnTo>
                <a:lnTo>
                  <a:pt x="4432566" y="390535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14780"/>
            <a:ext cx="0" cy="547370"/>
          </a:xfrm>
          <a:custGeom>
            <a:avLst/>
            <a:gdLst/>
            <a:ahLst/>
            <a:cxnLst/>
            <a:rect l="l" t="t" r="r" b="b"/>
            <a:pathLst>
              <a:path w="0" h="547369">
                <a:moveTo>
                  <a:pt x="0" y="54709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0208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8938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7668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271348"/>
            <a:ext cx="4300855" cy="68643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5.6</a:t>
            </a:r>
            <a:endParaRPr sz="1200">
              <a:latin typeface="Calibri"/>
              <a:cs typeface="Calibri"/>
            </a:endParaRPr>
          </a:p>
          <a:p>
            <a:pPr marL="50800" marR="43180">
              <a:lnSpc>
                <a:spcPts val="1760"/>
              </a:lnSpc>
              <a:spcBef>
                <a:spcPts val="75"/>
              </a:spcBef>
            </a:pP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NH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Cl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95">
                <a:latin typeface="Georgia"/>
                <a:cs typeface="Georgia"/>
              </a:rPr>
              <a:t>0.020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mol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溶液滴 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95">
                <a:latin typeface="Georgia"/>
                <a:cs typeface="Georgia"/>
              </a:rPr>
              <a:t>0.020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Mg</a:t>
            </a:r>
            <a:r>
              <a:rPr dirty="0" baseline="37037" sz="900" spc="15">
                <a:latin typeface="Times New Roman"/>
                <a:cs typeface="Times New Roman"/>
              </a:rPr>
              <a:t>2+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问选用铬</a:t>
            </a:r>
            <a:r>
              <a:rPr dirty="0" sz="1200" spc="175">
                <a:latin typeface="Arial Unicode MS"/>
                <a:cs typeface="Arial Unicode MS"/>
              </a:rPr>
              <a:t>黑</a:t>
            </a:r>
            <a:r>
              <a:rPr dirty="0" sz="1100" spc="105">
                <a:latin typeface="Georgia"/>
                <a:cs typeface="Georgia"/>
              </a:rPr>
              <a:t>T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做指示剂是否合</a:t>
            </a:r>
            <a:r>
              <a:rPr dirty="0" sz="1200" spc="65">
                <a:latin typeface="Arial Unicode MS"/>
                <a:cs typeface="Arial Unicode MS"/>
              </a:rPr>
              <a:t>适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32447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08000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4282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3012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76682"/>
            <a:ext cx="50749" cy="5661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52286"/>
            <a:ext cx="4432935" cy="441959"/>
          </a:xfrm>
          <a:custGeom>
            <a:avLst/>
            <a:gdLst/>
            <a:ahLst/>
            <a:cxnLst/>
            <a:rect l="l" t="t" r="r" b="b"/>
            <a:pathLst>
              <a:path w="4432935" h="441959">
                <a:moveTo>
                  <a:pt x="4432566" y="0"/>
                </a:moveTo>
                <a:lnTo>
                  <a:pt x="0" y="0"/>
                </a:lnTo>
                <a:lnTo>
                  <a:pt x="0" y="390535"/>
                </a:lnTo>
                <a:lnTo>
                  <a:pt x="4008" y="410260"/>
                </a:lnTo>
                <a:lnTo>
                  <a:pt x="14922" y="426413"/>
                </a:lnTo>
                <a:lnTo>
                  <a:pt x="31075" y="437327"/>
                </a:lnTo>
                <a:lnTo>
                  <a:pt x="50800" y="441336"/>
                </a:lnTo>
                <a:lnTo>
                  <a:pt x="4381765" y="441336"/>
                </a:lnTo>
                <a:lnTo>
                  <a:pt x="4401490" y="437327"/>
                </a:lnTo>
                <a:lnTo>
                  <a:pt x="4417643" y="426413"/>
                </a:lnTo>
                <a:lnTo>
                  <a:pt x="4428558" y="410260"/>
                </a:lnTo>
                <a:lnTo>
                  <a:pt x="4432566" y="390535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14780"/>
            <a:ext cx="0" cy="547370"/>
          </a:xfrm>
          <a:custGeom>
            <a:avLst/>
            <a:gdLst/>
            <a:ahLst/>
            <a:cxnLst/>
            <a:rect l="l" t="t" r="r" b="b"/>
            <a:pathLst>
              <a:path w="0" h="547369">
                <a:moveTo>
                  <a:pt x="0" y="54709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0208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8938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7668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344" y="271348"/>
            <a:ext cx="4359910" cy="198945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5.6</a:t>
            </a:r>
            <a:endParaRPr sz="1200">
              <a:latin typeface="Calibri"/>
              <a:cs typeface="Calibri"/>
            </a:endParaRPr>
          </a:p>
          <a:p>
            <a:pPr marL="76200" marR="76200">
              <a:lnSpc>
                <a:spcPts val="1760"/>
              </a:lnSpc>
              <a:spcBef>
                <a:spcPts val="75"/>
              </a:spcBef>
            </a:pP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NH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Cl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95">
                <a:latin typeface="Georgia"/>
                <a:cs typeface="Georgia"/>
              </a:rPr>
              <a:t>0.020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mol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溶液滴 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95">
                <a:latin typeface="Georgia"/>
                <a:cs typeface="Georgia"/>
              </a:rPr>
              <a:t>0.020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Mg</a:t>
            </a:r>
            <a:r>
              <a:rPr dirty="0" baseline="37037" sz="900" spc="15">
                <a:latin typeface="Times New Roman"/>
                <a:cs typeface="Times New Roman"/>
              </a:rPr>
              <a:t>2+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问选用铬</a:t>
            </a:r>
            <a:r>
              <a:rPr dirty="0" sz="1200" spc="175">
                <a:latin typeface="Arial Unicode MS"/>
                <a:cs typeface="Arial Unicode MS"/>
              </a:rPr>
              <a:t>黑</a:t>
            </a:r>
            <a:r>
              <a:rPr dirty="0" sz="1100" spc="105">
                <a:latin typeface="Georgia"/>
                <a:cs typeface="Georgia"/>
              </a:rPr>
              <a:t>T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做指示剂是否合</a:t>
            </a:r>
            <a:r>
              <a:rPr dirty="0" sz="1200" spc="65">
                <a:latin typeface="Arial Unicode MS"/>
                <a:cs typeface="Arial Unicode MS"/>
              </a:rPr>
              <a:t>适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80">
                <a:latin typeface="Arial Unicode MS"/>
                <a:cs typeface="Arial Unicode MS"/>
              </a:rPr>
              <a:t>知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100" spc="-7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(MgY)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8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7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>
                <a:latin typeface="Georgia"/>
                <a:cs typeface="Georgia"/>
              </a:rPr>
              <a:t>pH=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10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100" spc="-7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45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在此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情况</a:t>
            </a:r>
            <a:r>
              <a:rPr dirty="0" sz="1200" spc="175">
                <a:latin typeface="Arial Unicode MS"/>
                <a:cs typeface="Arial Unicode MS"/>
              </a:rPr>
              <a:t>下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没有副反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483234">
              <a:lnSpc>
                <a:spcPct val="100000"/>
              </a:lnSpc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41666" sz="900" spc="82">
                <a:latin typeface="Lucida Sans Unicode"/>
                <a:cs typeface="Lucida Sans Unicode"/>
              </a:rPr>
              <a:t>t</a:t>
            </a:r>
            <a:r>
              <a:rPr dirty="0" sz="1100" spc="55">
                <a:latin typeface="Georgia"/>
                <a:cs typeface="Georgia"/>
              </a:rPr>
              <a:t>(MgY)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(MgY)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8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7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45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8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  <a:p>
            <a:pPr marL="379730">
              <a:lnSpc>
                <a:spcPct val="100000"/>
              </a:lnSpc>
              <a:spcBef>
                <a:spcPts val="1440"/>
              </a:spcBef>
            </a:pPr>
            <a:r>
              <a:rPr dirty="0" sz="1200" spc="-5">
                <a:latin typeface="Arial Unicode MS"/>
                <a:cs typeface="Arial Unicode MS"/>
              </a:rPr>
              <a:t>等浓度滴定</a:t>
            </a:r>
            <a:r>
              <a:rPr dirty="0" sz="1200" spc="-9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0864" y="2584538"/>
            <a:ext cx="1143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6889" y="2501125"/>
            <a:ext cx="4705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9250" algn="l"/>
              </a:tabLst>
            </a:pPr>
            <a:r>
              <a:rPr dirty="0" sz="1100" spc="-80">
                <a:latin typeface="Georgia"/>
                <a:cs typeface="Georgia"/>
              </a:rPr>
              <a:t>[M]</a:t>
            </a:r>
            <a:r>
              <a:rPr dirty="0" sz="1100" spc="-80">
                <a:latin typeface="Georgia"/>
                <a:cs typeface="Georgia"/>
              </a:rPr>
              <a:t>	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50277" y="2251875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44">
                <a:latin typeface="Arial Unicode MS"/>
                <a:cs typeface="Arial Unicode MS"/>
              </a:rPr>
              <a:t>j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01521" y="2400350"/>
            <a:ext cx="534670" cy="0"/>
          </a:xfrm>
          <a:custGeom>
            <a:avLst/>
            <a:gdLst/>
            <a:ahLst/>
            <a:cxnLst/>
            <a:rect l="l" t="t" r="r" b="b"/>
            <a:pathLst>
              <a:path w="534669" h="0">
                <a:moveTo>
                  <a:pt x="0" y="0"/>
                </a:moveTo>
                <a:lnTo>
                  <a:pt x="53416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55914" y="2490812"/>
            <a:ext cx="177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</a:t>
            </a:r>
            <a:r>
              <a:rPr dirty="0" u="sng" sz="600" spc="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78597" y="2596159"/>
            <a:ext cx="5803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baseline="27777" sz="900" spc="97">
                <a:latin typeface="Lucida Sans Unicode"/>
                <a:cs typeface="Lucida Sans Unicode"/>
              </a:rPr>
              <a:t>t</a:t>
            </a:r>
            <a:r>
              <a:rPr dirty="0" sz="1100" spc="65">
                <a:latin typeface="Georgia"/>
                <a:cs typeface="Georgia"/>
              </a:rPr>
              <a:t>(MY)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1464" y="2501125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7717" y="2283422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85">
                <a:latin typeface="Arial Unicode MS"/>
                <a:cs typeface="Arial Unicode MS"/>
              </a:rPr>
              <a:t>I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58961" y="2431897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 h="0">
                <a:moveTo>
                  <a:pt x="0" y="0"/>
                </a:moveTo>
                <a:lnTo>
                  <a:pt x="3459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303997" y="2407399"/>
            <a:ext cx="9525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6995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30716" y="2407399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01</a:t>
            </a:r>
            <a:r>
              <a:rPr dirty="0" u="sng" sz="1100" spc="-1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60587" y="2556141"/>
            <a:ext cx="3365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5151" sz="1650" spc="37">
                <a:latin typeface="Georgia"/>
                <a:cs typeface="Georgia"/>
              </a:rPr>
              <a:t>10</a:t>
            </a:r>
            <a:r>
              <a:rPr dirty="0" sz="600" spc="25">
                <a:latin typeface="Times New Roman"/>
                <a:cs typeface="Times New Roman"/>
              </a:rPr>
              <a:t>8</a:t>
            </a:r>
            <a:r>
              <a:rPr dirty="0" sz="600" spc="25" i="1">
                <a:latin typeface="Arial"/>
                <a:cs typeface="Arial"/>
              </a:rPr>
              <a:t>.</a:t>
            </a:r>
            <a:r>
              <a:rPr dirty="0" sz="600" spc="2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30690" y="2501125"/>
            <a:ext cx="12846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61694" algn="l"/>
              </a:tabLst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7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94</a:t>
            </a:r>
            <a:r>
              <a:rPr dirty="0" sz="1100" spc="-1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50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31108" y="2506548"/>
            <a:ext cx="7042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0865" algn="l"/>
              </a:tabLst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379018"/>
            <a:ext cx="411797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滴定终点时</a:t>
            </a:r>
            <a:r>
              <a:rPr dirty="0" spc="175"/>
              <a:t>的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82">
                <a:latin typeface="Times New Roman"/>
                <a:cs typeface="Times New Roman"/>
              </a:rPr>
              <a:t> </a:t>
            </a:r>
            <a:r>
              <a:rPr dirty="0" sz="1200" spc="-5"/>
              <a:t>的浓度是由铬</a:t>
            </a:r>
            <a:r>
              <a:rPr dirty="0" sz="1200" spc="175"/>
              <a:t>黑</a:t>
            </a:r>
            <a:r>
              <a:rPr dirty="0" sz="1100" spc="105">
                <a:latin typeface="Georgia"/>
                <a:cs typeface="Georgia"/>
              </a:rPr>
              <a:t>T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/>
              <a:t>决定</a:t>
            </a:r>
            <a:r>
              <a:rPr dirty="0" sz="1200" spc="-80"/>
              <a:t>的</a:t>
            </a:r>
            <a:r>
              <a:rPr dirty="0" sz="1200" spc="-185"/>
              <a:t>，</a:t>
            </a:r>
            <a:r>
              <a:rPr dirty="0" sz="1200" spc="-5"/>
              <a:t>根</a:t>
            </a:r>
            <a:r>
              <a:rPr dirty="0" sz="1200" spc="-260"/>
              <a:t>据</a:t>
            </a:r>
            <a:r>
              <a:rPr dirty="0" sz="1200" spc="-80"/>
              <a:t>（</a:t>
            </a:r>
            <a:r>
              <a:rPr dirty="0" sz="1100" spc="-80">
                <a:latin typeface="Georgia"/>
                <a:cs typeface="Georgia"/>
                <a:hlinkClick r:id="rId2" action="ppaction://hlinksldjump"/>
              </a:rPr>
              <a:t>10</a:t>
            </a:r>
            <a:r>
              <a:rPr dirty="0" sz="1200" spc="-80"/>
              <a:t>）式</a:t>
            </a:r>
            <a:r>
              <a:rPr dirty="0" sz="1200" spc="-5"/>
              <a:t>，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0262" y="2336368"/>
            <a:ext cx="998219" cy="0"/>
          </a:xfrm>
          <a:custGeom>
            <a:avLst/>
            <a:gdLst/>
            <a:ahLst/>
            <a:cxnLst/>
            <a:rect l="l" t="t" r="r" b="b"/>
            <a:pathLst>
              <a:path w="998219" h="0">
                <a:moveTo>
                  <a:pt x="0" y="0"/>
                </a:moveTo>
                <a:lnTo>
                  <a:pt x="9976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8806" y="2364079"/>
            <a:ext cx="859155" cy="0"/>
          </a:xfrm>
          <a:custGeom>
            <a:avLst/>
            <a:gdLst/>
            <a:ahLst/>
            <a:cxnLst/>
            <a:rect l="l" t="t" r="r" b="b"/>
            <a:pathLst>
              <a:path w="859155" h="0">
                <a:moveTo>
                  <a:pt x="0" y="0"/>
                </a:moveTo>
                <a:lnTo>
                  <a:pt x="8591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00823" y="2417013"/>
            <a:ext cx="1143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2162" y="2333612"/>
            <a:ext cx="12280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165" indent="-139700">
              <a:lnSpc>
                <a:spcPct val="100000"/>
              </a:lnSpc>
              <a:spcBef>
                <a:spcPts val="90"/>
              </a:spcBef>
              <a:buSzPct val="90909"/>
              <a:buFont typeface="Arial Unicode MS"/>
              <a:buChar char="✓"/>
              <a:tabLst>
                <a:tab pos="177800" algn="l"/>
              </a:tabLst>
            </a:pP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 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(MY)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baseline="45454" sz="1650" spc="-44">
                <a:latin typeface="Lucida Sans Unicode"/>
                <a:cs typeface="Lucida Sans Unicode"/>
              </a:rPr>
              <a:t>×</a:t>
            </a:r>
            <a:endParaRPr baseline="45454" sz="16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9729" y="2219756"/>
            <a:ext cx="495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100%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048" y="755180"/>
            <a:ext cx="3404235" cy="1512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789305">
              <a:lnSpc>
                <a:spcPct val="100000"/>
              </a:lnSpc>
              <a:spcBef>
                <a:spcPts val="90"/>
              </a:spcBef>
            </a:pPr>
            <a:r>
              <a:rPr dirty="0" sz="1100" spc="20">
                <a:latin typeface="Georgia"/>
                <a:cs typeface="Georgia"/>
              </a:rPr>
              <a:t>pMg</a:t>
            </a:r>
            <a:r>
              <a:rPr dirty="0" baseline="-23148" sz="900" spc="30">
                <a:latin typeface="Times New Roman"/>
                <a:cs typeface="Times New Roman"/>
              </a:rPr>
              <a:t>ep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0">
                <a:latin typeface="Georgia"/>
                <a:cs typeface="Georgia"/>
              </a:rPr>
              <a:t>lg 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baseline="41666" sz="900" spc="22">
                <a:latin typeface="Lucida Sans Unicode"/>
                <a:cs typeface="Lucida Sans Unicode"/>
              </a:rPr>
              <a:t>t</a:t>
            </a:r>
            <a:r>
              <a:rPr dirty="0" sz="1100" spc="15">
                <a:latin typeface="Georgia"/>
                <a:cs typeface="Georgia"/>
              </a:rPr>
              <a:t>(MgIn)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eorgia"/>
              <a:cs typeface="Georgia"/>
            </a:endParaRPr>
          </a:p>
          <a:p>
            <a:pPr marL="23495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789305">
              <a:lnSpc>
                <a:spcPct val="100000"/>
              </a:lnSpc>
            </a:pPr>
            <a:r>
              <a:rPr dirty="0" sz="1100" spc="40">
                <a:latin typeface="Georgia"/>
                <a:cs typeface="Georgia"/>
              </a:rPr>
              <a:t>∆pM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pMg</a:t>
            </a:r>
            <a:r>
              <a:rPr dirty="0" baseline="-23148" sz="900" spc="30">
                <a:latin typeface="Times New Roman"/>
                <a:cs typeface="Times New Roman"/>
              </a:rPr>
              <a:t>ep</a:t>
            </a:r>
            <a:r>
              <a:rPr dirty="0" baseline="-23148" sz="900" spc="209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20">
                <a:latin typeface="Georgia"/>
                <a:cs typeface="Georgia"/>
              </a:rPr>
              <a:t>pMg</a:t>
            </a:r>
            <a:r>
              <a:rPr dirty="0" baseline="-23148" sz="900" spc="30">
                <a:latin typeface="Times New Roman"/>
                <a:cs typeface="Times New Roman"/>
              </a:rPr>
              <a:t>sp</a:t>
            </a:r>
            <a:r>
              <a:rPr dirty="0" baseline="-23148" sz="900" spc="3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4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5</a:t>
            </a:r>
            <a:r>
              <a:rPr dirty="0" sz="1100" b="0" i="1">
                <a:latin typeface="Bookman Old Style"/>
                <a:cs typeface="Bookman Old Style"/>
              </a:rPr>
              <a:t>.</a:t>
            </a:r>
            <a:r>
              <a:rPr dirty="0" sz="1100">
                <a:latin typeface="Georgia"/>
                <a:cs typeface="Georgia"/>
              </a:rPr>
              <a:t>1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  <a:p>
            <a:pPr marL="23495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根据林帮公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489"/>
              </a:spcBef>
              <a:tabLst>
                <a:tab pos="2324100" algn="l"/>
              </a:tabLst>
            </a:pPr>
            <a:r>
              <a:rPr dirty="0" baseline="-58080" sz="1650" spc="67">
                <a:latin typeface="Georgia"/>
                <a:cs typeface="Georgia"/>
              </a:rPr>
              <a:t>TE% </a:t>
            </a:r>
            <a:r>
              <a:rPr dirty="0" baseline="-58080" sz="1650" spc="209">
                <a:latin typeface="Georgia"/>
                <a:cs typeface="Georgia"/>
              </a:rPr>
              <a:t>=  </a:t>
            </a:r>
            <a:r>
              <a:rPr dirty="0" baseline="-20202" sz="1650" spc="112">
                <a:latin typeface="Georgia"/>
                <a:cs typeface="Georgia"/>
              </a:rPr>
              <a:t>10</a:t>
            </a:r>
            <a:r>
              <a:rPr dirty="0" sz="600" spc="75">
                <a:latin typeface="Times New Roman"/>
                <a:cs typeface="Times New Roman"/>
              </a:rPr>
              <a:t>∆pM</a:t>
            </a:r>
            <a:r>
              <a:rPr dirty="0" sz="600" spc="-60">
                <a:latin typeface="Times New Roman"/>
                <a:cs typeface="Times New Roman"/>
              </a:rPr>
              <a:t> </a:t>
            </a:r>
            <a:r>
              <a:rPr dirty="0" baseline="-20202" sz="1650" spc="-44">
                <a:latin typeface="Lucida Sans Unicode"/>
                <a:cs typeface="Lucida Sans Unicode"/>
              </a:rPr>
              <a:t>−</a:t>
            </a:r>
            <a:r>
              <a:rPr dirty="0" baseline="-20202" sz="1650" spc="-157">
                <a:latin typeface="Lucida Sans Unicode"/>
                <a:cs typeface="Lucida Sans Unicode"/>
              </a:rPr>
              <a:t> </a:t>
            </a:r>
            <a:r>
              <a:rPr dirty="0" baseline="-20202" sz="1650" spc="120">
                <a:latin typeface="Georgia"/>
                <a:cs typeface="Georgia"/>
              </a:rPr>
              <a:t>10</a:t>
            </a:r>
            <a:r>
              <a:rPr dirty="0" sz="600" spc="80">
                <a:latin typeface="Lucida Sans Unicode"/>
                <a:cs typeface="Lucida Sans Unicode"/>
              </a:rPr>
              <a:t>−</a:t>
            </a:r>
            <a:r>
              <a:rPr dirty="0" sz="600" spc="80">
                <a:latin typeface="Times New Roman"/>
                <a:cs typeface="Times New Roman"/>
              </a:rPr>
              <a:t>∆pM	</a:t>
            </a:r>
            <a:r>
              <a:rPr dirty="0" baseline="-20202" sz="1650" spc="37">
                <a:latin typeface="Georgia"/>
                <a:cs typeface="Georgia"/>
              </a:rPr>
              <a:t>10</a:t>
            </a:r>
            <a:r>
              <a:rPr dirty="0" sz="600" spc="25">
                <a:latin typeface="Times New Roman"/>
                <a:cs typeface="Times New Roman"/>
              </a:rPr>
              <a:t>0</a:t>
            </a:r>
            <a:r>
              <a:rPr dirty="0" sz="600" spc="25" i="1">
                <a:latin typeface="Arial"/>
                <a:cs typeface="Arial"/>
              </a:rPr>
              <a:t>.</a:t>
            </a:r>
            <a:r>
              <a:rPr dirty="0" sz="600" spc="25">
                <a:latin typeface="Times New Roman"/>
                <a:cs typeface="Times New Roman"/>
              </a:rPr>
              <a:t>3 </a:t>
            </a:r>
            <a:r>
              <a:rPr dirty="0" baseline="-20202" sz="1650" spc="-44">
                <a:latin typeface="Lucida Sans Unicode"/>
                <a:cs typeface="Lucida Sans Unicode"/>
              </a:rPr>
              <a:t>−</a:t>
            </a:r>
            <a:r>
              <a:rPr dirty="0" baseline="-20202" sz="1650" spc="-277">
                <a:latin typeface="Lucida Sans Unicode"/>
                <a:cs typeface="Lucida Sans Unicode"/>
              </a:rPr>
              <a:t> </a:t>
            </a:r>
            <a:r>
              <a:rPr dirty="0" baseline="-20202" sz="1650" spc="52">
                <a:latin typeface="Georgia"/>
                <a:cs typeface="Georgia"/>
              </a:rPr>
              <a:t>10</a:t>
            </a:r>
            <a:r>
              <a:rPr dirty="0" sz="600" spc="35">
                <a:latin typeface="Lucida Sans Unicode"/>
                <a:cs typeface="Lucida Sans Unicode"/>
              </a:rPr>
              <a:t>−</a:t>
            </a:r>
            <a:r>
              <a:rPr dirty="0" sz="600" spc="35">
                <a:latin typeface="Times New Roman"/>
                <a:cs typeface="Times New Roman"/>
              </a:rPr>
              <a:t>0</a:t>
            </a:r>
            <a:r>
              <a:rPr dirty="0" sz="600" spc="35" i="1">
                <a:latin typeface="Arial"/>
                <a:cs typeface="Arial"/>
              </a:rPr>
              <a:t>.</a:t>
            </a:r>
            <a:r>
              <a:rPr dirty="0" sz="600" spc="3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85605" y="2336368"/>
            <a:ext cx="867410" cy="0"/>
          </a:xfrm>
          <a:custGeom>
            <a:avLst/>
            <a:gdLst/>
            <a:ahLst/>
            <a:cxnLst/>
            <a:rect l="l" t="t" r="r" b="b"/>
            <a:pathLst>
              <a:path w="867410" h="0">
                <a:moveTo>
                  <a:pt x="0" y="0"/>
                </a:moveTo>
                <a:lnTo>
                  <a:pt x="866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01061" y="2364079"/>
            <a:ext cx="751840" cy="0"/>
          </a:xfrm>
          <a:custGeom>
            <a:avLst/>
            <a:gdLst/>
            <a:ahLst/>
            <a:cxnLst/>
            <a:rect l="l" t="t" r="r" b="b"/>
            <a:pathLst>
              <a:path w="751839" h="0">
                <a:moveTo>
                  <a:pt x="0" y="0"/>
                </a:moveTo>
                <a:lnTo>
                  <a:pt x="7513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47505" y="2324443"/>
            <a:ext cx="10972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42929" sz="1650" spc="-82">
                <a:latin typeface="Lucida Sans Unicode"/>
                <a:cs typeface="Lucida Sans Unicode"/>
              </a:rPr>
              <a:t>√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010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Times New Roman"/>
                <a:cs typeface="Times New Roman"/>
              </a:rPr>
              <a:t>8</a:t>
            </a:r>
            <a:r>
              <a:rPr dirty="0" baseline="27777" sz="900" spc="37" i="1">
                <a:latin typeface="Arial"/>
                <a:cs typeface="Arial"/>
              </a:rPr>
              <a:t>.</a:t>
            </a:r>
            <a:r>
              <a:rPr dirty="0" baseline="27777" sz="900" spc="37">
                <a:latin typeface="Times New Roman"/>
                <a:cs typeface="Times New Roman"/>
              </a:rPr>
              <a:t>2</a:t>
            </a:r>
            <a:r>
              <a:rPr dirty="0" baseline="27777" sz="900" spc="217">
                <a:latin typeface="Times New Roman"/>
                <a:cs typeface="Times New Roman"/>
              </a:rPr>
              <a:t> </a:t>
            </a:r>
            <a:r>
              <a:rPr dirty="0" baseline="40404" sz="1650" spc="-44">
                <a:latin typeface="Lucida Sans Unicode"/>
                <a:cs typeface="Lucida Sans Unicode"/>
              </a:rPr>
              <a:t>×</a:t>
            </a:r>
            <a:endParaRPr baseline="40404" sz="16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4262" y="2219756"/>
            <a:ext cx="826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0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1%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9501" y="2625547"/>
            <a:ext cx="25679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选用铬</a:t>
            </a:r>
            <a:r>
              <a:rPr dirty="0" sz="1200" spc="175">
                <a:latin typeface="Arial Unicode MS"/>
                <a:cs typeface="Arial Unicode MS"/>
              </a:rPr>
              <a:t>黑</a:t>
            </a:r>
            <a:r>
              <a:rPr dirty="0" sz="1100" spc="105">
                <a:latin typeface="Georgia"/>
                <a:cs typeface="Georgia"/>
              </a:rPr>
              <a:t>T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做指示剂是合适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152908"/>
            <a:ext cx="30213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也可采用体积</a:t>
            </a:r>
            <a:r>
              <a:rPr dirty="0" spc="2165"/>
              <a:t>比</a:t>
            </a:r>
            <a:r>
              <a:rPr dirty="0" spc="-5"/>
              <a:t>计算终点误</a:t>
            </a:r>
            <a:r>
              <a:rPr dirty="0" spc="-20"/>
              <a:t>差</a:t>
            </a:r>
            <a:r>
              <a:rPr dirty="0" spc="-235"/>
              <a:t>。</a:t>
            </a:r>
            <a:r>
              <a:rPr dirty="0" spc="-5"/>
              <a:t>滴定终点</a:t>
            </a:r>
            <a:r>
              <a:rPr dirty="0" spc="-1010"/>
              <a:t>时 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3663" y="529069"/>
            <a:ext cx="3314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2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5887" y="435343"/>
            <a:ext cx="1969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79120" algn="l"/>
                <a:tab pos="19304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baseline="-13888" sz="900" spc="-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 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21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α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(M)[M]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1287" y="711454"/>
            <a:ext cx="6921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0" i="1">
                <a:latin typeface="Bookman Old Style"/>
                <a:cs typeface="Bookman Old Style"/>
              </a:rPr>
              <a:t>α</a:t>
            </a:r>
            <a:r>
              <a:rPr dirty="0" sz="1100" spc="-35">
                <a:latin typeface="Georgia"/>
                <a:cs typeface="Georgia"/>
              </a:rPr>
              <a:t>(M)[M]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6368" y="828065"/>
            <a:ext cx="1165225" cy="0"/>
          </a:xfrm>
          <a:custGeom>
            <a:avLst/>
            <a:gdLst/>
            <a:ahLst/>
            <a:cxnLst/>
            <a:rect l="l" t="t" r="r" b="b"/>
            <a:pathLst>
              <a:path w="1165225" h="0">
                <a:moveTo>
                  <a:pt x="0" y="0"/>
                </a:moveTo>
                <a:lnTo>
                  <a:pt x="11649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273668" y="595208"/>
            <a:ext cx="119062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cα</a:t>
            </a:r>
            <a:r>
              <a:rPr dirty="0" sz="1100" spc="15">
                <a:latin typeface="Georgia"/>
                <a:cs typeface="Georgia"/>
              </a:rPr>
              <a:t>(MY)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(MY)[M]</a:t>
            </a:r>
            <a:endParaRPr sz="1100">
              <a:latin typeface="Georgia"/>
              <a:cs typeface="Georgia"/>
            </a:endParaRPr>
          </a:p>
          <a:p>
            <a:pPr marL="22860">
              <a:lnSpc>
                <a:spcPct val="100000"/>
              </a:lnSpc>
              <a:spcBef>
                <a:spcPts val="170"/>
              </a:spcBef>
            </a:pP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(Y)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0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(MY)[M]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1821" y="1084669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6701" y="990943"/>
            <a:ext cx="8255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02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95">
                <a:latin typeface="Lucida Sans Unicode"/>
                <a:cs typeface="Lucida Sans Unicode"/>
              </a:rPr>
              <a:t> </a:t>
            </a:r>
            <a:r>
              <a:rPr dirty="0" sz="1100" spc="35">
                <a:latin typeface="Georgia"/>
                <a:cs typeface="Georgia"/>
              </a:rPr>
              <a:t>10</a:t>
            </a:r>
            <a:r>
              <a:rPr dirty="0" baseline="37037" sz="900" spc="52">
                <a:latin typeface="Lucida Sans Unicode"/>
                <a:cs typeface="Lucida Sans Unicode"/>
              </a:rPr>
              <a:t>−</a:t>
            </a:r>
            <a:r>
              <a:rPr dirty="0" baseline="37037" sz="900" spc="52">
                <a:latin typeface="Times New Roman"/>
                <a:cs typeface="Times New Roman"/>
              </a:rPr>
              <a:t>5</a:t>
            </a:r>
            <a:r>
              <a:rPr dirty="0" baseline="37037" sz="900" spc="52" i="1">
                <a:latin typeface="Arial"/>
                <a:cs typeface="Arial"/>
              </a:rPr>
              <a:t>.</a:t>
            </a:r>
            <a:r>
              <a:rPr dirty="0" baseline="37037" sz="900" spc="52">
                <a:latin typeface="Times New Roman"/>
                <a:cs typeface="Times New Roman"/>
              </a:rPr>
              <a:t>4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73987" y="1201280"/>
            <a:ext cx="1797050" cy="0"/>
          </a:xfrm>
          <a:custGeom>
            <a:avLst/>
            <a:gdLst/>
            <a:ahLst/>
            <a:cxnLst/>
            <a:rect l="l" t="t" r="r" b="b"/>
            <a:pathLst>
              <a:path w="1797050" h="0">
                <a:moveTo>
                  <a:pt x="0" y="0"/>
                </a:moveTo>
                <a:lnTo>
                  <a:pt x="17968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61287" y="1262354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9831" y="1284960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5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98078" y="1378966"/>
            <a:ext cx="1257935" cy="0"/>
          </a:xfrm>
          <a:custGeom>
            <a:avLst/>
            <a:gdLst/>
            <a:ahLst/>
            <a:cxnLst/>
            <a:rect l="l" t="t" r="r" b="b"/>
            <a:pathLst>
              <a:path w="1257935" h="0">
                <a:moveTo>
                  <a:pt x="0" y="0"/>
                </a:moveTo>
                <a:lnTo>
                  <a:pt x="125759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906244" y="1168628"/>
            <a:ext cx="1481455" cy="3409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63500">
              <a:lnSpc>
                <a:spcPts val="1245"/>
              </a:lnSpc>
              <a:spcBef>
                <a:spcPts val="90"/>
              </a:spcBef>
            </a:pPr>
            <a:r>
              <a:rPr dirty="0" baseline="-37878" sz="1650" spc="209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0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02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37037" sz="900" spc="37">
                <a:latin typeface="Times New Roman"/>
                <a:cs typeface="Times New Roman"/>
              </a:rPr>
              <a:t>8</a:t>
            </a:r>
            <a:r>
              <a:rPr dirty="0" baseline="37037" sz="900" spc="37" i="1">
                <a:latin typeface="Arial"/>
                <a:cs typeface="Arial"/>
              </a:rPr>
              <a:t>.</a:t>
            </a:r>
            <a:r>
              <a:rPr dirty="0" baseline="37037" sz="900" spc="37">
                <a:latin typeface="Times New Roman"/>
                <a:cs typeface="Times New Roman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5">
                <a:latin typeface="Lucida Sans Unicode"/>
                <a:cs typeface="Lucida Sans Unicode"/>
              </a:rPr>
              <a:t> </a:t>
            </a:r>
            <a:r>
              <a:rPr dirty="0" sz="1100" spc="35">
                <a:latin typeface="Georgia"/>
                <a:cs typeface="Georgia"/>
              </a:rPr>
              <a:t>10</a:t>
            </a:r>
            <a:r>
              <a:rPr dirty="0" baseline="37037" sz="900" spc="52">
                <a:latin typeface="Lucida Sans Unicode"/>
                <a:cs typeface="Lucida Sans Unicode"/>
              </a:rPr>
              <a:t>−</a:t>
            </a:r>
            <a:r>
              <a:rPr dirty="0" baseline="37037" sz="900" spc="52">
                <a:latin typeface="Times New Roman"/>
                <a:cs typeface="Times New Roman"/>
              </a:rPr>
              <a:t>5</a:t>
            </a:r>
            <a:r>
              <a:rPr dirty="0" baseline="37037" sz="900" spc="52" i="1">
                <a:latin typeface="Arial"/>
                <a:cs typeface="Arial"/>
              </a:rPr>
              <a:t>.</a:t>
            </a:r>
            <a:r>
              <a:rPr dirty="0" baseline="37037" sz="900" spc="52">
                <a:latin typeface="Times New Roman"/>
                <a:cs typeface="Times New Roman"/>
              </a:rPr>
              <a:t>4</a:t>
            </a:r>
            <a:endParaRPr baseline="37037" sz="900">
              <a:latin typeface="Times New Roman"/>
              <a:cs typeface="Times New Roman"/>
            </a:endParaRPr>
          </a:p>
          <a:p>
            <a:pPr algn="r" marR="30480">
              <a:lnSpc>
                <a:spcPts val="1245"/>
              </a:lnSpc>
            </a:pPr>
            <a:r>
              <a:rPr dirty="0" baseline="-15151" sz="1650" spc="44">
                <a:latin typeface="Georgia"/>
                <a:cs typeface="Georgia"/>
              </a:rPr>
              <a:t>10</a:t>
            </a:r>
            <a:r>
              <a:rPr dirty="0" sz="600" spc="30">
                <a:latin typeface="Times New Roman"/>
                <a:cs typeface="Times New Roman"/>
              </a:rPr>
              <a:t>0</a:t>
            </a:r>
            <a:r>
              <a:rPr dirty="0" sz="600" spc="30" i="1">
                <a:latin typeface="Arial"/>
                <a:cs typeface="Arial"/>
              </a:rPr>
              <a:t>.</a:t>
            </a:r>
            <a:r>
              <a:rPr dirty="0" sz="600" spc="30">
                <a:latin typeface="Times New Roman"/>
                <a:cs typeface="Times New Roman"/>
              </a:rPr>
              <a:t>45 </a:t>
            </a:r>
            <a:r>
              <a:rPr dirty="0" baseline="-15151" sz="1650" spc="209">
                <a:latin typeface="Georgia"/>
                <a:cs typeface="Georgia"/>
              </a:rPr>
              <a:t>+ </a:t>
            </a:r>
            <a:r>
              <a:rPr dirty="0" baseline="-15151" sz="1650" spc="30">
                <a:latin typeface="Georgia"/>
                <a:cs typeface="Georgia"/>
              </a:rPr>
              <a:t>10</a:t>
            </a:r>
            <a:r>
              <a:rPr dirty="0" sz="600" spc="20">
                <a:latin typeface="Times New Roman"/>
                <a:cs typeface="Times New Roman"/>
              </a:rPr>
              <a:t>8</a:t>
            </a:r>
            <a:r>
              <a:rPr dirty="0" sz="600" spc="20" i="1">
                <a:latin typeface="Arial"/>
                <a:cs typeface="Arial"/>
              </a:rPr>
              <a:t>.</a:t>
            </a:r>
            <a:r>
              <a:rPr dirty="0" sz="600" spc="20">
                <a:latin typeface="Times New Roman"/>
                <a:cs typeface="Times New Roman"/>
              </a:rPr>
              <a:t>2 </a:t>
            </a:r>
            <a:r>
              <a:rPr dirty="0" baseline="-15151" sz="1650" spc="-44">
                <a:latin typeface="Lucida Sans Unicode"/>
                <a:cs typeface="Lucida Sans Unicode"/>
              </a:rPr>
              <a:t>×</a:t>
            </a:r>
            <a:r>
              <a:rPr dirty="0" baseline="-15151" sz="1650" spc="-390">
                <a:latin typeface="Lucida Sans Unicode"/>
                <a:cs typeface="Lucida Sans Unicode"/>
              </a:rPr>
              <a:t> </a:t>
            </a:r>
            <a:r>
              <a:rPr dirty="0" baseline="-15151" sz="1650" spc="52">
                <a:latin typeface="Georgia"/>
                <a:cs typeface="Georgia"/>
              </a:rPr>
              <a:t>10</a:t>
            </a:r>
            <a:r>
              <a:rPr dirty="0" sz="600" spc="35">
                <a:latin typeface="Lucida Sans Unicode"/>
                <a:cs typeface="Lucida Sans Unicode"/>
              </a:rPr>
              <a:t>−</a:t>
            </a:r>
            <a:r>
              <a:rPr dirty="0" sz="600" spc="35">
                <a:latin typeface="Times New Roman"/>
                <a:cs typeface="Times New Roman"/>
              </a:rPr>
              <a:t>5</a:t>
            </a:r>
            <a:r>
              <a:rPr dirty="0" sz="600" spc="35" i="1">
                <a:latin typeface="Arial"/>
                <a:cs typeface="Arial"/>
              </a:rPr>
              <a:t>.</a:t>
            </a:r>
            <a:r>
              <a:rPr dirty="0" sz="600" spc="3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9501" y="1508836"/>
            <a:ext cx="1527175" cy="557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94715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4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1</a:t>
            </a:r>
            <a:r>
              <a:rPr dirty="0" sz="1100" spc="-40" b="0" i="1">
                <a:latin typeface="Bookman Old Style"/>
                <a:cs typeface="Bookman Old Style"/>
              </a:rPr>
              <a:t>.</a:t>
            </a:r>
            <a:r>
              <a:rPr dirty="0" sz="1100" spc="-40">
                <a:latin typeface="Georgia"/>
                <a:cs typeface="Georgia"/>
              </a:rPr>
              <a:t>0041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终点误差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2775" y="2234577"/>
            <a:ext cx="569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TE%</a:t>
            </a:r>
            <a:r>
              <a:rPr dirty="0" sz="1100" spc="3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68576" y="2140851"/>
            <a:ext cx="437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3995" algn="l"/>
              </a:tabLst>
            </a:pPr>
            <a:r>
              <a:rPr dirty="0" u="sng" sz="1100" spc="-59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r>
              <a:rPr dirty="0" sz="1100" spc="-595" b="0" i="1">
                <a:latin typeface="Bookman Old Style"/>
                <a:cs typeface="Bookman Old Style"/>
              </a:rPr>
              <a:t>	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8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40204" y="2224265"/>
            <a:ext cx="4603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2425" algn="l"/>
              </a:tabLst>
            </a:pPr>
            <a:r>
              <a:rPr dirty="0" u="sng" sz="6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sng" sz="600" spc="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dirty="0" u="sng" sz="600" spc="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u="sng" sz="6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sng" sz="600" spc="1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13216" y="2350401"/>
            <a:ext cx="236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60" b="0" i="1">
                <a:latin typeface="Bookman Old Style"/>
                <a:cs typeface="Bookman Old Style"/>
              </a:rPr>
              <a:t>ρ</a:t>
            </a:r>
            <a:r>
              <a:rPr dirty="0" sz="600" spc="4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20937" y="2234577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68576" y="2505049"/>
            <a:ext cx="6489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4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sz="1100" spc="260">
                <a:latin typeface="Georgia"/>
                <a:cs typeface="Georgia"/>
              </a:rPr>
              <a:t> </a:t>
            </a:r>
            <a:r>
              <a:rPr dirty="0" u="sng" sz="1100" spc="-6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0041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38005" y="2598788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93709" y="2503396"/>
            <a:ext cx="672465" cy="54927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  <a:tabLst>
                <a:tab pos="564515" algn="l"/>
              </a:tabLst>
            </a:pP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baseline="-37878" sz="1650" spc="104">
                <a:latin typeface="Georgia"/>
                <a:cs typeface="Georgia"/>
              </a:rPr>
              <a:t>1</a:t>
            </a:r>
            <a:endParaRPr baseline="-37878" sz="165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4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41%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211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关于林帮</a:t>
            </a:r>
            <a:r>
              <a:rPr dirty="0" sz="1050" spc="-10">
                <a:solidFill>
                  <a:srgbClr val="FFFFFF"/>
                </a:solidFill>
              </a:rPr>
              <a:t>公</a:t>
            </a:r>
            <a:r>
              <a:rPr dirty="0" sz="1050" spc="-5">
                <a:solidFill>
                  <a:srgbClr val="FFFFFF"/>
                </a:solidFill>
              </a:rPr>
              <a:t>式的讨论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274599" y="138767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87302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13467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553" y="1247406"/>
            <a:ext cx="4090670" cy="9963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100" spc="-20">
                <a:latin typeface="Georgia"/>
                <a:cs typeface="Georgia"/>
              </a:rPr>
              <a:t>Anders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Rinbom</a:t>
            </a:r>
            <a:r>
              <a:rPr dirty="0" sz="1200" spc="-6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分析化学中的络合作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戴明</a:t>
            </a:r>
            <a:r>
              <a:rPr dirty="0" sz="1200" spc="-80">
                <a:latin typeface="Arial Unicode MS"/>
                <a:cs typeface="Arial Unicode MS"/>
              </a:rPr>
              <a:t>译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高等教育出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版</a:t>
            </a:r>
            <a:r>
              <a:rPr dirty="0" sz="1200" spc="-80">
                <a:latin typeface="Arial Unicode MS"/>
                <a:cs typeface="Arial Unicode MS"/>
              </a:rPr>
              <a:t>社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北</a:t>
            </a:r>
            <a:r>
              <a:rPr dirty="0" sz="1200" spc="-90">
                <a:latin typeface="Arial Unicode MS"/>
                <a:cs typeface="Arial Unicode MS"/>
              </a:rPr>
              <a:t>京</a:t>
            </a:r>
            <a:r>
              <a:rPr dirty="0" sz="1200" spc="-60">
                <a:latin typeface="Arial Unicode MS"/>
                <a:cs typeface="Arial Unicode MS"/>
              </a:rPr>
              <a:t>：</a:t>
            </a:r>
            <a:r>
              <a:rPr dirty="0" sz="1100" spc="-60">
                <a:latin typeface="Georgia"/>
                <a:cs typeface="Georgia"/>
              </a:rPr>
              <a:t>1987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200" spc="-10">
                <a:latin typeface="Arial Unicode MS"/>
                <a:cs typeface="Arial Unicode MS"/>
              </a:rPr>
              <a:t>孟凡</a:t>
            </a:r>
            <a:r>
              <a:rPr dirty="0" sz="1200" spc="-80">
                <a:latin typeface="Arial Unicode MS"/>
                <a:cs typeface="Arial Unicode MS"/>
              </a:rPr>
              <a:t>昌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潘祖</a:t>
            </a:r>
            <a:r>
              <a:rPr dirty="0" sz="1200" spc="-80">
                <a:latin typeface="Arial Unicode MS"/>
                <a:cs typeface="Arial Unicode MS"/>
              </a:rPr>
              <a:t>亭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分析化学核心教</a:t>
            </a:r>
            <a:r>
              <a:rPr dirty="0" sz="1200" spc="-80">
                <a:latin typeface="Arial Unicode MS"/>
                <a:cs typeface="Arial Unicode MS"/>
              </a:rPr>
              <a:t>程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科学出版</a:t>
            </a:r>
            <a:r>
              <a:rPr dirty="0" sz="1200" spc="-80">
                <a:latin typeface="Arial Unicode MS"/>
                <a:cs typeface="Arial Unicode MS"/>
              </a:rPr>
              <a:t>社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北</a:t>
            </a:r>
            <a:r>
              <a:rPr dirty="0" sz="1200" spc="-90">
                <a:latin typeface="Arial Unicode MS"/>
                <a:cs typeface="Arial Unicode MS"/>
              </a:rPr>
              <a:t>京</a:t>
            </a:r>
            <a:r>
              <a:rPr dirty="0" sz="1200" spc="-110">
                <a:latin typeface="Arial Unicode MS"/>
                <a:cs typeface="Arial Unicode MS"/>
              </a:rPr>
              <a:t>：</a:t>
            </a:r>
            <a:r>
              <a:rPr dirty="0" sz="1100" spc="-110">
                <a:latin typeface="Georgia"/>
                <a:cs typeface="Georgia"/>
              </a:rPr>
              <a:t>2005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中国期刊全文数据库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78943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FFFFFF"/>
                </a:solidFill>
                <a:latin typeface="Georgia"/>
                <a:cs typeface="Georgia"/>
              </a:rPr>
              <a:t>5.7.2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准</a:t>
            </a:r>
            <a:r>
              <a:rPr dirty="0" sz="1050" spc="-10">
                <a:solidFill>
                  <a:srgbClr val="FFFFFF"/>
                </a:solidFill>
              </a:rPr>
              <a:t>确</a:t>
            </a:r>
            <a:r>
              <a:rPr dirty="0" sz="1050" spc="-5">
                <a:solidFill>
                  <a:srgbClr val="FFFFFF"/>
                </a:solidFill>
              </a:rPr>
              <a:t>滴定金属</a:t>
            </a:r>
            <a:r>
              <a:rPr dirty="0" sz="1050" spc="-10">
                <a:solidFill>
                  <a:srgbClr val="FFFFFF"/>
                </a:solidFill>
              </a:rPr>
              <a:t>离</a:t>
            </a:r>
            <a:r>
              <a:rPr dirty="0" sz="1050" spc="-5">
                <a:solidFill>
                  <a:srgbClr val="FFFFFF"/>
                </a:solidFill>
              </a:rPr>
              <a:t>子的条件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575651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744" y="505157"/>
            <a:ext cx="4430395" cy="1333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43180" indent="265430">
              <a:lnSpc>
                <a:spcPct val="139800"/>
              </a:lnSpc>
              <a:spcBef>
                <a:spcPts val="100"/>
              </a:spcBef>
            </a:pPr>
            <a:r>
              <a:rPr dirty="0" sz="1050" spc="-10">
                <a:latin typeface="Arial Unicode MS"/>
                <a:cs typeface="Arial Unicode MS"/>
              </a:rPr>
              <a:t>用</a:t>
            </a:r>
            <a:r>
              <a:rPr dirty="0" sz="1050" spc="-5">
                <a:latin typeface="Arial Unicode MS"/>
                <a:cs typeface="Arial Unicode MS"/>
              </a:rPr>
              <a:t>指示剂确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终点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由</a:t>
            </a:r>
            <a:r>
              <a:rPr dirty="0" sz="1050" spc="-10">
                <a:latin typeface="Arial Unicode MS"/>
                <a:cs typeface="Arial Unicode MS"/>
              </a:rPr>
              <a:t>于</a:t>
            </a:r>
            <a:r>
              <a:rPr dirty="0" sz="1050" spc="-5">
                <a:latin typeface="Arial Unicode MS"/>
                <a:cs typeface="Arial Unicode MS"/>
              </a:rPr>
              <a:t>受到</a:t>
            </a:r>
            <a:r>
              <a:rPr dirty="0" sz="1050" spc="-10">
                <a:latin typeface="Arial Unicode MS"/>
                <a:cs typeface="Arial Unicode MS"/>
              </a:rPr>
              <a:t>人</a:t>
            </a:r>
            <a:r>
              <a:rPr dirty="0" sz="1050" spc="-5">
                <a:latin typeface="Arial Unicode MS"/>
                <a:cs typeface="Arial Unicode MS"/>
              </a:rPr>
              <a:t>眼对颜色</a:t>
            </a:r>
            <a:r>
              <a:rPr dirty="0" sz="1050" spc="-10">
                <a:latin typeface="Arial Unicode MS"/>
                <a:cs typeface="Arial Unicode MS"/>
              </a:rPr>
              <a:t>判</a:t>
            </a:r>
            <a:r>
              <a:rPr dirty="0" sz="1050" spc="-5">
                <a:latin typeface="Arial Unicode MS"/>
                <a:cs typeface="Arial Unicode MS"/>
              </a:rPr>
              <a:t>别能力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限</a:t>
            </a:r>
            <a:r>
              <a:rPr dirty="0" sz="1050" spc="-70">
                <a:latin typeface="Arial Unicode MS"/>
                <a:cs typeface="Arial Unicode MS"/>
              </a:rPr>
              <a:t>制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即</a:t>
            </a:r>
            <a:r>
              <a:rPr dirty="0" sz="1050" spc="-10">
                <a:latin typeface="Arial Unicode MS"/>
                <a:cs typeface="Arial Unicode MS"/>
              </a:rPr>
              <a:t>使</a:t>
            </a:r>
            <a:r>
              <a:rPr dirty="0" sz="1050" spc="-5">
                <a:latin typeface="Arial Unicode MS"/>
                <a:cs typeface="Arial Unicode MS"/>
              </a:rPr>
              <a:t>指示 </a:t>
            </a:r>
            <a:r>
              <a:rPr dirty="0" sz="1050" spc="-5">
                <a:latin typeface="Arial Unicode MS"/>
                <a:cs typeface="Arial Unicode MS"/>
              </a:rPr>
              <a:t>剂选择</a:t>
            </a:r>
            <a:r>
              <a:rPr dirty="0" sz="1050" spc="-10">
                <a:latin typeface="Arial Unicode MS"/>
                <a:cs typeface="Arial Unicode MS"/>
              </a:rPr>
              <a:t>恰</a:t>
            </a:r>
            <a:r>
              <a:rPr dirty="0" sz="1050" spc="-70">
                <a:latin typeface="Arial Unicode MS"/>
                <a:cs typeface="Arial Unicode MS"/>
              </a:rPr>
              <a:t>当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终点</a:t>
            </a:r>
            <a:r>
              <a:rPr dirty="0" sz="1050" spc="-10">
                <a:latin typeface="Arial Unicode MS"/>
                <a:cs typeface="Arial Unicode MS"/>
              </a:rPr>
              <a:t>与</a:t>
            </a:r>
            <a:r>
              <a:rPr dirty="0" sz="1050" spc="-5">
                <a:latin typeface="Arial Unicode MS"/>
                <a:cs typeface="Arial Unicode MS"/>
              </a:rPr>
              <a:t>化学计</a:t>
            </a:r>
            <a:r>
              <a:rPr dirty="0" sz="1050" spc="-10">
                <a:latin typeface="Arial Unicode MS"/>
                <a:cs typeface="Arial Unicode MS"/>
              </a:rPr>
              <a:t>量</a:t>
            </a:r>
            <a:r>
              <a:rPr dirty="0" sz="1050" spc="-5">
                <a:latin typeface="Arial Unicode MS"/>
                <a:cs typeface="Arial Unicode MS"/>
              </a:rPr>
              <a:t>点仍可能</a:t>
            </a:r>
            <a:r>
              <a:rPr dirty="0" sz="1050" spc="-10">
                <a:latin typeface="Arial Unicode MS"/>
                <a:cs typeface="Arial Unicode MS"/>
              </a:rPr>
              <a:t>相</a:t>
            </a:r>
            <a:r>
              <a:rPr dirty="0" sz="1050" spc="160">
                <a:latin typeface="Arial Unicode MS"/>
                <a:cs typeface="Arial Unicode MS"/>
              </a:rPr>
              <a:t>差</a:t>
            </a:r>
            <a:r>
              <a:rPr dirty="0" sz="1000" spc="-20">
                <a:latin typeface="Lucida Sans Unicode"/>
                <a:cs typeface="Lucida Sans Unicode"/>
              </a:rPr>
              <a:t>±</a:t>
            </a:r>
            <a:r>
              <a:rPr dirty="0" sz="1000" spc="-165">
                <a:latin typeface="Lucida Sans Unicode"/>
                <a:cs typeface="Lucida Sans Unicode"/>
              </a:rPr>
              <a:t> </a:t>
            </a:r>
            <a:r>
              <a:rPr dirty="0" sz="1000" spc="-70">
                <a:latin typeface="Georgia"/>
                <a:cs typeface="Georgia"/>
              </a:rPr>
              <a:t>0</a:t>
            </a:r>
            <a:r>
              <a:rPr dirty="0" sz="1000" spc="-70" b="0" i="1">
                <a:latin typeface="Bookman Old Style"/>
                <a:cs typeface="Bookman Old Style"/>
              </a:rPr>
              <a:t>.</a:t>
            </a:r>
            <a:r>
              <a:rPr dirty="0" sz="1000" spc="-70">
                <a:latin typeface="Georgia"/>
                <a:cs typeface="Georgia"/>
              </a:rPr>
              <a:t>2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Lucida Sans Unicode"/>
                <a:cs typeface="Lucida Sans Unicode"/>
              </a:rPr>
              <a:t>±</a:t>
            </a:r>
            <a:r>
              <a:rPr dirty="0" sz="1000" spc="-50">
                <a:latin typeface="Georgia"/>
                <a:cs typeface="Georgia"/>
              </a:rPr>
              <a:t>0</a:t>
            </a:r>
            <a:r>
              <a:rPr dirty="0" sz="1000" spc="-50" b="0" i="1">
                <a:latin typeface="Bookman Old Style"/>
                <a:cs typeface="Bookman Old Style"/>
              </a:rPr>
              <a:t>.</a:t>
            </a:r>
            <a:r>
              <a:rPr dirty="0" sz="1000" spc="-50">
                <a:latin typeface="Georgia"/>
                <a:cs typeface="Georgia"/>
              </a:rPr>
              <a:t>5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个</a:t>
            </a:r>
            <a:r>
              <a:rPr dirty="0" sz="1000" spc="-20">
                <a:latin typeface="Georgia"/>
                <a:cs typeface="Georgia"/>
              </a:rPr>
              <a:t>pM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单</a:t>
            </a:r>
            <a:r>
              <a:rPr dirty="0" sz="1050" spc="-20">
                <a:latin typeface="Arial Unicode MS"/>
                <a:cs typeface="Arial Unicode MS"/>
              </a:rPr>
              <a:t>位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今假 </a:t>
            </a:r>
            <a:r>
              <a:rPr dirty="0" sz="1050" spc="160">
                <a:latin typeface="Arial Unicode MS"/>
                <a:cs typeface="Arial Unicode MS"/>
              </a:rPr>
              <a:t>设</a:t>
            </a:r>
            <a:r>
              <a:rPr dirty="0" sz="1000" spc="40">
                <a:latin typeface="Georgia"/>
                <a:cs typeface="Georgia"/>
              </a:rPr>
              <a:t>∆pM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±</a:t>
            </a:r>
            <a:r>
              <a:rPr dirty="0" sz="1000" spc="-160">
                <a:latin typeface="Lucida Sans Unicode"/>
                <a:cs typeface="Lucida Sans Unicode"/>
              </a:rPr>
              <a:t> </a:t>
            </a:r>
            <a:r>
              <a:rPr dirty="0" sz="1000" spc="-110">
                <a:latin typeface="Georgia"/>
                <a:cs typeface="Georgia"/>
              </a:rPr>
              <a:t>0</a:t>
            </a:r>
            <a:r>
              <a:rPr dirty="0" sz="1000" spc="-110" b="0" i="1">
                <a:latin typeface="Bookman Old Style"/>
                <a:cs typeface="Bookman Old Style"/>
              </a:rPr>
              <a:t>.</a:t>
            </a:r>
            <a:r>
              <a:rPr dirty="0" sz="1000" spc="-110">
                <a:latin typeface="Georgia"/>
                <a:cs typeface="Georgia"/>
              </a:rPr>
              <a:t>2</a:t>
            </a:r>
            <a:r>
              <a:rPr dirty="0" sz="1050" spc="-110">
                <a:latin typeface="Arial Unicode MS"/>
                <a:cs typeface="Arial Unicode MS"/>
              </a:rPr>
              <a:t>，</a:t>
            </a:r>
            <a:r>
              <a:rPr dirty="0" sz="1050" spc="160">
                <a:latin typeface="Arial Unicode MS"/>
                <a:cs typeface="Arial Unicode MS"/>
              </a:rPr>
              <a:t>用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滴定</a:t>
            </a:r>
            <a:r>
              <a:rPr dirty="0" sz="1050" spc="-10">
                <a:latin typeface="Arial Unicode MS"/>
                <a:cs typeface="Arial Unicode MS"/>
              </a:rPr>
              <a:t>等</a:t>
            </a:r>
            <a:r>
              <a:rPr dirty="0" sz="1050" spc="-5">
                <a:latin typeface="Arial Unicode MS"/>
                <a:cs typeface="Arial Unicode MS"/>
              </a:rPr>
              <a:t>浓度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金属离</a:t>
            </a:r>
            <a:r>
              <a:rPr dirty="0" sz="1050" spc="160">
                <a:latin typeface="Arial Unicode MS"/>
                <a:cs typeface="Arial Unicode MS"/>
              </a:rPr>
              <a:t>子</a:t>
            </a:r>
            <a:r>
              <a:rPr dirty="0" sz="1000" spc="-125">
                <a:latin typeface="Georgia"/>
                <a:cs typeface="Georgia"/>
              </a:rPr>
              <a:t>M</a:t>
            </a:r>
            <a:r>
              <a:rPr dirty="0" sz="1050" spc="-12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现</a:t>
            </a:r>
            <a:r>
              <a:rPr dirty="0" sz="1050" spc="-10">
                <a:latin typeface="Arial Unicode MS"/>
                <a:cs typeface="Arial Unicode MS"/>
              </a:rPr>
              <a:t>分</a:t>
            </a:r>
            <a:r>
              <a:rPr dirty="0" sz="1050" spc="-5">
                <a:latin typeface="Arial Unicode MS"/>
                <a:cs typeface="Arial Unicode MS"/>
              </a:rPr>
              <a:t>别计</a:t>
            </a:r>
            <a:endParaRPr sz="105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500"/>
              </a:spcBef>
            </a:pPr>
            <a:r>
              <a:rPr dirty="0" sz="1050" spc="160">
                <a:latin typeface="Arial Unicode MS"/>
                <a:cs typeface="Arial Unicode MS"/>
              </a:rPr>
              <a:t>算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00" spc="35" b="0" i="1">
                <a:latin typeface="Bookman Old Style"/>
                <a:cs typeface="Bookman Old Style"/>
              </a:rPr>
              <a:t>c</a:t>
            </a:r>
            <a:r>
              <a:rPr dirty="0" sz="1000" spc="35">
                <a:latin typeface="Georgia"/>
                <a:cs typeface="Georgia"/>
              </a:rPr>
              <a:t>(M)</a:t>
            </a:r>
            <a:r>
              <a:rPr dirty="0" sz="1000" spc="35" b="0" i="1">
                <a:latin typeface="Bookman Old Style"/>
                <a:cs typeface="Bookman Old Style"/>
              </a:rPr>
              <a:t>K</a:t>
            </a:r>
            <a:r>
              <a:rPr dirty="0" baseline="27777" sz="1050" spc="52" b="0" i="1">
                <a:latin typeface="Calibri Light"/>
                <a:cs typeface="Calibri Light"/>
              </a:rPr>
              <a:t>t</a:t>
            </a:r>
            <a:r>
              <a:rPr dirty="0" sz="1000" spc="35">
                <a:latin typeface="Georgia"/>
                <a:cs typeface="Georgia"/>
              </a:rPr>
              <a:t>(MY)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135">
                <a:latin typeface="Georgia"/>
                <a:cs typeface="Georgia"/>
              </a:rPr>
              <a:t>8</a:t>
            </a:r>
            <a:r>
              <a:rPr dirty="0" sz="1050" spc="-135">
                <a:latin typeface="Arial Unicode MS"/>
                <a:cs typeface="Arial Unicode MS"/>
              </a:rPr>
              <a:t>，</a:t>
            </a:r>
            <a:r>
              <a:rPr dirty="0" sz="1000" spc="-135">
                <a:latin typeface="Georgia"/>
                <a:cs typeface="Georgia"/>
              </a:rPr>
              <a:t>6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和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时</a:t>
            </a:r>
            <a:r>
              <a:rPr dirty="0" sz="1050" spc="-5">
                <a:latin typeface="Arial Unicode MS"/>
                <a:cs typeface="Arial Unicode MS"/>
              </a:rPr>
              <a:t>的终点误</a:t>
            </a:r>
            <a:r>
              <a:rPr dirty="0" sz="1050" spc="-80">
                <a:latin typeface="Arial Unicode MS"/>
                <a:cs typeface="Arial Unicode MS"/>
              </a:rPr>
              <a:t>差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  <a:p>
            <a:pPr marL="316230">
              <a:lnSpc>
                <a:spcPts val="1220"/>
              </a:lnSpc>
              <a:spcBef>
                <a:spcPts val="750"/>
              </a:spcBef>
            </a:pPr>
            <a:r>
              <a:rPr dirty="0" sz="1050" spc="160">
                <a:latin typeface="Arial Unicode MS"/>
                <a:cs typeface="Arial Unicode MS"/>
              </a:rPr>
              <a:t>当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00" spc="35" b="0" i="1">
                <a:latin typeface="Bookman Old Style"/>
                <a:cs typeface="Bookman Old Style"/>
              </a:rPr>
              <a:t>c</a:t>
            </a:r>
            <a:r>
              <a:rPr dirty="0" sz="1000" spc="35">
                <a:latin typeface="Georgia"/>
                <a:cs typeface="Georgia"/>
              </a:rPr>
              <a:t>(M)</a:t>
            </a:r>
            <a:r>
              <a:rPr dirty="0" sz="1000" spc="35" b="0" i="1">
                <a:latin typeface="Bookman Old Style"/>
                <a:cs typeface="Bookman Old Style"/>
              </a:rPr>
              <a:t>K</a:t>
            </a:r>
            <a:r>
              <a:rPr dirty="0" baseline="27777" sz="1050" spc="52" b="0" i="1">
                <a:latin typeface="Calibri Light"/>
                <a:cs typeface="Calibri Light"/>
              </a:rPr>
              <a:t>t</a:t>
            </a:r>
            <a:r>
              <a:rPr dirty="0" sz="1000" spc="35">
                <a:latin typeface="Georgia"/>
                <a:cs typeface="Georgia"/>
              </a:rPr>
              <a:t>(MY)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100">
                <a:latin typeface="Georgia"/>
                <a:cs typeface="Georgia"/>
              </a:rPr>
              <a:t>8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5">
                <a:latin typeface="Arial Unicode MS"/>
                <a:cs typeface="Arial Unicode MS"/>
              </a:rPr>
              <a:t>，</a:t>
            </a:r>
            <a:endParaRPr sz="1050">
              <a:latin typeface="Arial Unicode MS"/>
              <a:cs typeface="Arial Unicode MS"/>
            </a:endParaRPr>
          </a:p>
          <a:p>
            <a:pPr marL="1179195">
              <a:lnSpc>
                <a:spcPts val="1280"/>
              </a:lnSpc>
            </a:pPr>
            <a:r>
              <a:rPr dirty="0" baseline="-58080" sz="1650" spc="67">
                <a:latin typeface="Georgia"/>
                <a:cs typeface="Georgia"/>
              </a:rPr>
              <a:t>TE% </a:t>
            </a:r>
            <a:r>
              <a:rPr dirty="0" baseline="-58080" sz="1650" spc="209">
                <a:latin typeface="Georgia"/>
                <a:cs typeface="Georgia"/>
              </a:rPr>
              <a:t>= </a:t>
            </a:r>
            <a:r>
              <a:rPr dirty="0" baseline="-20202" sz="1650" spc="37">
                <a:latin typeface="Georgia"/>
                <a:cs typeface="Georgia"/>
              </a:rPr>
              <a:t>10</a:t>
            </a:r>
            <a:r>
              <a:rPr dirty="0" sz="600" spc="25">
                <a:latin typeface="Times New Roman"/>
                <a:cs typeface="Times New Roman"/>
              </a:rPr>
              <a:t>0</a:t>
            </a:r>
            <a:r>
              <a:rPr dirty="0" sz="600" spc="25" i="1">
                <a:latin typeface="Arial"/>
                <a:cs typeface="Arial"/>
              </a:rPr>
              <a:t>.</a:t>
            </a:r>
            <a:r>
              <a:rPr dirty="0" sz="600" spc="25">
                <a:latin typeface="Times New Roman"/>
                <a:cs typeface="Times New Roman"/>
              </a:rPr>
              <a:t>2 </a:t>
            </a:r>
            <a:r>
              <a:rPr dirty="0" baseline="-20202" sz="1650" spc="-44">
                <a:latin typeface="Lucida Sans Unicode"/>
                <a:cs typeface="Lucida Sans Unicode"/>
              </a:rPr>
              <a:t>−</a:t>
            </a:r>
            <a:r>
              <a:rPr dirty="0" baseline="-20202" sz="1650" spc="-254">
                <a:latin typeface="Lucida Sans Unicode"/>
                <a:cs typeface="Lucida Sans Unicode"/>
              </a:rPr>
              <a:t> </a:t>
            </a:r>
            <a:r>
              <a:rPr dirty="0" baseline="-20202" sz="1650" spc="52">
                <a:latin typeface="Georgia"/>
                <a:cs typeface="Georgia"/>
              </a:rPr>
              <a:t>10</a:t>
            </a:r>
            <a:r>
              <a:rPr dirty="0" sz="600" spc="35">
                <a:latin typeface="Lucida Sans Unicode"/>
                <a:cs typeface="Lucida Sans Unicode"/>
              </a:rPr>
              <a:t>−</a:t>
            </a:r>
            <a:r>
              <a:rPr dirty="0" sz="600" spc="35">
                <a:latin typeface="Times New Roman"/>
                <a:cs typeface="Times New Roman"/>
              </a:rPr>
              <a:t>0</a:t>
            </a:r>
            <a:r>
              <a:rPr dirty="0" sz="600" spc="35" i="1">
                <a:latin typeface="Arial"/>
                <a:cs typeface="Arial"/>
              </a:rPr>
              <a:t>.</a:t>
            </a:r>
            <a:r>
              <a:rPr dirty="0" sz="600" spc="3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6882" y="1907247"/>
            <a:ext cx="775970" cy="0"/>
          </a:xfrm>
          <a:custGeom>
            <a:avLst/>
            <a:gdLst/>
            <a:ahLst/>
            <a:cxnLst/>
            <a:rect l="l" t="t" r="r" b="b"/>
            <a:pathLst>
              <a:path w="775969" h="0">
                <a:moveTo>
                  <a:pt x="0" y="0"/>
                </a:moveTo>
                <a:lnTo>
                  <a:pt x="77538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68944" y="1934959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 h="0">
                <a:moveTo>
                  <a:pt x="0" y="0"/>
                </a:moveTo>
                <a:lnTo>
                  <a:pt x="3298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92300" y="1904936"/>
            <a:ext cx="5448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165" indent="-139700">
              <a:lnSpc>
                <a:spcPct val="100000"/>
              </a:lnSpc>
              <a:spcBef>
                <a:spcPts val="90"/>
              </a:spcBef>
              <a:buSzPct val="90909"/>
              <a:buFont typeface="Arial Unicode MS"/>
              <a:buChar char="✓"/>
              <a:tabLst>
                <a:tab pos="177800" algn="l"/>
              </a:tabLst>
            </a:pP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27777" sz="900" spc="-44">
                <a:latin typeface="Times New Roman"/>
                <a:cs typeface="Times New Roman"/>
              </a:rPr>
              <a:t>8</a:t>
            </a:r>
            <a:r>
              <a:rPr dirty="0" sz="1100" spc="-30" b="0" i="1">
                <a:latin typeface="Bookman Old Style"/>
                <a:cs typeface="Bookman Old Style"/>
              </a:rPr>
              <a:t>/</a:t>
            </a:r>
            <a:r>
              <a:rPr dirty="0" sz="1100" spc="-3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5529" y="1790636"/>
            <a:ext cx="1033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0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01%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599" y="2205837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53453" y="2126043"/>
            <a:ext cx="2278380" cy="342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1220"/>
              </a:lnSpc>
              <a:spcBef>
                <a:spcPts val="95"/>
              </a:spcBef>
            </a:pPr>
            <a:r>
              <a:rPr dirty="0" sz="1050" spc="160">
                <a:latin typeface="Arial Unicode MS"/>
                <a:cs typeface="Arial Unicode MS"/>
              </a:rPr>
              <a:t>当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00" spc="35" b="0" i="1">
                <a:latin typeface="Bookman Old Style"/>
                <a:cs typeface="Bookman Old Style"/>
              </a:rPr>
              <a:t>c</a:t>
            </a:r>
            <a:r>
              <a:rPr dirty="0" sz="1000" spc="35">
                <a:latin typeface="Georgia"/>
                <a:cs typeface="Georgia"/>
              </a:rPr>
              <a:t>(M)</a:t>
            </a:r>
            <a:r>
              <a:rPr dirty="0" sz="1000" spc="35" b="0" i="1">
                <a:latin typeface="Bookman Old Style"/>
                <a:cs typeface="Bookman Old Style"/>
              </a:rPr>
              <a:t>K</a:t>
            </a:r>
            <a:r>
              <a:rPr dirty="0" baseline="27777" sz="1050" spc="52" b="0" i="1">
                <a:latin typeface="Calibri Light"/>
                <a:cs typeface="Calibri Light"/>
              </a:rPr>
              <a:t>t</a:t>
            </a:r>
            <a:r>
              <a:rPr dirty="0" sz="1000" spc="35">
                <a:latin typeface="Georgia"/>
                <a:cs typeface="Georgia"/>
              </a:rPr>
              <a:t>(MY)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70">
                <a:latin typeface="Georgia"/>
                <a:cs typeface="Georgia"/>
              </a:rPr>
              <a:t>6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5">
                <a:latin typeface="Arial Unicode MS"/>
                <a:cs typeface="Arial Unicode MS"/>
              </a:rPr>
              <a:t>，</a:t>
            </a:r>
            <a:endParaRPr sz="1050">
              <a:latin typeface="Arial Unicode MS"/>
              <a:cs typeface="Arial Unicode MS"/>
            </a:endParaRPr>
          </a:p>
          <a:p>
            <a:pPr marL="948055">
              <a:lnSpc>
                <a:spcPts val="1280"/>
              </a:lnSpc>
            </a:pPr>
            <a:r>
              <a:rPr dirty="0" baseline="-58080" sz="1650" spc="67">
                <a:latin typeface="Georgia"/>
                <a:cs typeface="Georgia"/>
              </a:rPr>
              <a:t>TE% </a:t>
            </a:r>
            <a:r>
              <a:rPr dirty="0" baseline="-58080" sz="1650" spc="209">
                <a:latin typeface="Georgia"/>
                <a:cs typeface="Georgia"/>
              </a:rPr>
              <a:t>= </a:t>
            </a:r>
            <a:r>
              <a:rPr dirty="0" baseline="-20202" sz="1650" spc="37">
                <a:latin typeface="Georgia"/>
                <a:cs typeface="Georgia"/>
              </a:rPr>
              <a:t>10</a:t>
            </a:r>
            <a:r>
              <a:rPr dirty="0" sz="600" spc="25">
                <a:latin typeface="Times New Roman"/>
                <a:cs typeface="Times New Roman"/>
              </a:rPr>
              <a:t>0</a:t>
            </a:r>
            <a:r>
              <a:rPr dirty="0" sz="600" spc="25" i="1">
                <a:latin typeface="Arial"/>
                <a:cs typeface="Arial"/>
              </a:rPr>
              <a:t>.</a:t>
            </a:r>
            <a:r>
              <a:rPr dirty="0" sz="600" spc="25">
                <a:latin typeface="Times New Roman"/>
                <a:cs typeface="Times New Roman"/>
              </a:rPr>
              <a:t>2 </a:t>
            </a:r>
            <a:r>
              <a:rPr dirty="0" baseline="-20202" sz="1650" spc="-44">
                <a:latin typeface="Lucida Sans Unicode"/>
                <a:cs typeface="Lucida Sans Unicode"/>
              </a:rPr>
              <a:t>−</a:t>
            </a:r>
            <a:r>
              <a:rPr dirty="0" baseline="-20202" sz="1650" spc="-330">
                <a:latin typeface="Lucida Sans Unicode"/>
                <a:cs typeface="Lucida Sans Unicode"/>
              </a:rPr>
              <a:t> </a:t>
            </a:r>
            <a:r>
              <a:rPr dirty="0" baseline="-20202" sz="1650" spc="52">
                <a:latin typeface="Georgia"/>
                <a:cs typeface="Georgia"/>
              </a:rPr>
              <a:t>10</a:t>
            </a:r>
            <a:r>
              <a:rPr dirty="0" sz="600" spc="35">
                <a:latin typeface="Lucida Sans Unicode"/>
                <a:cs typeface="Lucida Sans Unicode"/>
              </a:rPr>
              <a:t>−</a:t>
            </a:r>
            <a:r>
              <a:rPr dirty="0" sz="600" spc="35">
                <a:latin typeface="Times New Roman"/>
                <a:cs typeface="Times New Roman"/>
              </a:rPr>
              <a:t>0</a:t>
            </a:r>
            <a:r>
              <a:rPr dirty="0" sz="600" spc="35" i="1">
                <a:latin typeface="Arial"/>
                <a:cs typeface="Arial"/>
              </a:rPr>
              <a:t>.</a:t>
            </a:r>
            <a:r>
              <a:rPr dirty="0" sz="600" spc="3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11515" y="2537447"/>
            <a:ext cx="775970" cy="0"/>
          </a:xfrm>
          <a:custGeom>
            <a:avLst/>
            <a:gdLst/>
            <a:ahLst/>
            <a:cxnLst/>
            <a:rect l="l" t="t" r="r" b="b"/>
            <a:pathLst>
              <a:path w="775969" h="0">
                <a:moveTo>
                  <a:pt x="0" y="0"/>
                </a:moveTo>
                <a:lnTo>
                  <a:pt x="77538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03577" y="2565146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 h="0">
                <a:moveTo>
                  <a:pt x="0" y="0"/>
                </a:moveTo>
                <a:lnTo>
                  <a:pt x="3298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26932" y="2535135"/>
            <a:ext cx="5448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165" indent="-139700">
              <a:lnSpc>
                <a:spcPct val="100000"/>
              </a:lnSpc>
              <a:spcBef>
                <a:spcPts val="90"/>
              </a:spcBef>
              <a:buSzPct val="90909"/>
              <a:buFont typeface="Arial Unicode MS"/>
              <a:buChar char="✓"/>
              <a:tabLst>
                <a:tab pos="177800" algn="l"/>
              </a:tabLst>
            </a:pP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27777" sz="900" spc="-44">
                <a:latin typeface="Times New Roman"/>
                <a:cs typeface="Times New Roman"/>
              </a:rPr>
              <a:t>6</a:t>
            </a:r>
            <a:r>
              <a:rPr dirty="0" sz="1100" spc="-30" b="0" i="1">
                <a:latin typeface="Bookman Old Style"/>
                <a:cs typeface="Bookman Old Style"/>
              </a:rPr>
              <a:t>/</a:t>
            </a:r>
            <a:r>
              <a:rPr dirty="0" sz="1100" spc="-3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0175" y="2420835"/>
            <a:ext cx="964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Georgia"/>
                <a:cs typeface="Georgia"/>
              </a:rPr>
              <a:t>0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1%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4599" y="2836037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53453" y="2756243"/>
            <a:ext cx="2332355" cy="342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1220"/>
              </a:lnSpc>
              <a:spcBef>
                <a:spcPts val="95"/>
              </a:spcBef>
            </a:pPr>
            <a:r>
              <a:rPr dirty="0" sz="1050" spc="160">
                <a:latin typeface="Arial Unicode MS"/>
                <a:cs typeface="Arial Unicode MS"/>
              </a:rPr>
              <a:t>当</a:t>
            </a:r>
            <a:r>
              <a:rPr dirty="0" sz="1000" spc="-15">
                <a:latin typeface="Georgia"/>
                <a:cs typeface="Georgia"/>
              </a:rPr>
              <a:t>lg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00" spc="35" b="0" i="1">
                <a:latin typeface="Bookman Old Style"/>
                <a:cs typeface="Bookman Old Style"/>
              </a:rPr>
              <a:t>c</a:t>
            </a:r>
            <a:r>
              <a:rPr dirty="0" sz="1000" spc="35">
                <a:latin typeface="Georgia"/>
                <a:cs typeface="Georgia"/>
              </a:rPr>
              <a:t>(M)</a:t>
            </a:r>
            <a:r>
              <a:rPr dirty="0" sz="1000" spc="35" b="0" i="1">
                <a:latin typeface="Bookman Old Style"/>
                <a:cs typeface="Bookman Old Style"/>
              </a:rPr>
              <a:t>K</a:t>
            </a:r>
            <a:r>
              <a:rPr dirty="0" baseline="27777" sz="1050" spc="52" b="0" i="1">
                <a:latin typeface="Calibri Light"/>
                <a:cs typeface="Calibri Light"/>
              </a:rPr>
              <a:t>t</a:t>
            </a:r>
            <a:r>
              <a:rPr dirty="0" sz="1000" spc="35">
                <a:latin typeface="Georgia"/>
                <a:cs typeface="Georgia"/>
              </a:rPr>
              <a:t>(MY)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5">
                <a:latin typeface="Arial Unicode MS"/>
                <a:cs typeface="Arial Unicode MS"/>
              </a:rPr>
              <a:t>，</a:t>
            </a:r>
            <a:endParaRPr sz="1050">
              <a:latin typeface="Arial Unicode MS"/>
              <a:cs typeface="Arial Unicode MS"/>
            </a:endParaRPr>
          </a:p>
          <a:p>
            <a:pPr marL="1002030">
              <a:lnSpc>
                <a:spcPts val="1280"/>
              </a:lnSpc>
            </a:pPr>
            <a:r>
              <a:rPr dirty="0" baseline="-58080" sz="1650" spc="67">
                <a:latin typeface="Georgia"/>
                <a:cs typeface="Georgia"/>
              </a:rPr>
              <a:t>TE% </a:t>
            </a:r>
            <a:r>
              <a:rPr dirty="0" baseline="-58080" sz="1650" spc="209">
                <a:latin typeface="Georgia"/>
                <a:cs typeface="Georgia"/>
              </a:rPr>
              <a:t>= </a:t>
            </a:r>
            <a:r>
              <a:rPr dirty="0" baseline="-20202" sz="1650" spc="37">
                <a:latin typeface="Georgia"/>
                <a:cs typeface="Georgia"/>
              </a:rPr>
              <a:t>10</a:t>
            </a:r>
            <a:r>
              <a:rPr dirty="0" sz="600" spc="25">
                <a:latin typeface="Times New Roman"/>
                <a:cs typeface="Times New Roman"/>
              </a:rPr>
              <a:t>0</a:t>
            </a:r>
            <a:r>
              <a:rPr dirty="0" sz="600" spc="25" i="1">
                <a:latin typeface="Arial"/>
                <a:cs typeface="Arial"/>
              </a:rPr>
              <a:t>.</a:t>
            </a:r>
            <a:r>
              <a:rPr dirty="0" sz="600" spc="25">
                <a:latin typeface="Times New Roman"/>
                <a:cs typeface="Times New Roman"/>
              </a:rPr>
              <a:t>2 </a:t>
            </a:r>
            <a:r>
              <a:rPr dirty="0" baseline="-20202" sz="1650" spc="-44">
                <a:latin typeface="Lucida Sans Unicode"/>
                <a:cs typeface="Lucida Sans Unicode"/>
              </a:rPr>
              <a:t>−</a:t>
            </a:r>
            <a:r>
              <a:rPr dirty="0" baseline="-20202" sz="1650" spc="-330">
                <a:latin typeface="Lucida Sans Unicode"/>
                <a:cs typeface="Lucida Sans Unicode"/>
              </a:rPr>
              <a:t> </a:t>
            </a:r>
            <a:r>
              <a:rPr dirty="0" baseline="-20202" sz="1650" spc="52">
                <a:latin typeface="Georgia"/>
                <a:cs typeface="Georgia"/>
              </a:rPr>
              <a:t>10</a:t>
            </a:r>
            <a:r>
              <a:rPr dirty="0" sz="600" spc="35">
                <a:latin typeface="Lucida Sans Unicode"/>
                <a:cs typeface="Lucida Sans Unicode"/>
              </a:rPr>
              <a:t>−</a:t>
            </a:r>
            <a:r>
              <a:rPr dirty="0" sz="600" spc="35">
                <a:latin typeface="Times New Roman"/>
                <a:cs typeface="Times New Roman"/>
              </a:rPr>
              <a:t>0</a:t>
            </a:r>
            <a:r>
              <a:rPr dirty="0" sz="600" spc="35" i="1">
                <a:latin typeface="Arial"/>
                <a:cs typeface="Arial"/>
              </a:rPr>
              <a:t>.</a:t>
            </a:r>
            <a:r>
              <a:rPr dirty="0" sz="600" spc="3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5388" y="3167634"/>
            <a:ext cx="775970" cy="0"/>
          </a:xfrm>
          <a:custGeom>
            <a:avLst/>
            <a:gdLst/>
            <a:ahLst/>
            <a:cxnLst/>
            <a:rect l="l" t="t" r="r" b="b"/>
            <a:pathLst>
              <a:path w="775969" h="0">
                <a:moveTo>
                  <a:pt x="0" y="0"/>
                </a:moveTo>
                <a:lnTo>
                  <a:pt x="77538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57450" y="3195345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 h="0">
                <a:moveTo>
                  <a:pt x="0" y="0"/>
                </a:moveTo>
                <a:lnTo>
                  <a:pt x="3298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980806" y="3165322"/>
            <a:ext cx="5448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165" indent="-139700">
              <a:lnSpc>
                <a:spcPct val="100000"/>
              </a:lnSpc>
              <a:spcBef>
                <a:spcPts val="90"/>
              </a:spcBef>
              <a:buSzPct val="90909"/>
              <a:buFont typeface="Arial Unicode MS"/>
              <a:buChar char="✓"/>
              <a:tabLst>
                <a:tab pos="177800" algn="l"/>
              </a:tabLst>
            </a:pP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27777" sz="900" spc="-44">
                <a:latin typeface="Times New Roman"/>
                <a:cs typeface="Times New Roman"/>
              </a:rPr>
              <a:t>4</a:t>
            </a:r>
            <a:r>
              <a:rPr dirty="0" sz="1100" spc="-30" b="0" i="1">
                <a:latin typeface="Bookman Old Style"/>
                <a:cs typeface="Bookman Old Style"/>
              </a:rPr>
              <a:t>/</a:t>
            </a:r>
            <a:r>
              <a:rPr dirty="0" sz="1100" spc="-3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74048" y="3051022"/>
            <a:ext cx="857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130">
                <a:latin typeface="Lucida Sans Unicode"/>
                <a:cs typeface="Lucida Sans Unicode"/>
              </a:rPr>
              <a:t> </a:t>
            </a:r>
            <a:r>
              <a:rPr dirty="0" sz="1100" spc="40">
                <a:latin typeface="Georgia"/>
                <a:cs typeface="Georgia"/>
              </a:rPr>
              <a:t>1%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61988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准确滴定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金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属离子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判别式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541512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1863204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1850504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1592084"/>
            <a:ext cx="50749" cy="2711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1585935"/>
            <a:ext cx="4432935" cy="328295"/>
          </a:xfrm>
          <a:custGeom>
            <a:avLst/>
            <a:gdLst/>
            <a:ahLst/>
            <a:cxnLst/>
            <a:rect l="l" t="t" r="r" b="b"/>
            <a:pathLst>
              <a:path w="4432935" h="328294">
                <a:moveTo>
                  <a:pt x="4432566" y="0"/>
                </a:moveTo>
                <a:lnTo>
                  <a:pt x="0" y="0"/>
                </a:lnTo>
                <a:lnTo>
                  <a:pt x="0" y="277268"/>
                </a:lnTo>
                <a:lnTo>
                  <a:pt x="4008" y="296993"/>
                </a:lnTo>
                <a:lnTo>
                  <a:pt x="14922" y="313146"/>
                </a:lnTo>
                <a:lnTo>
                  <a:pt x="31075" y="324060"/>
                </a:lnTo>
                <a:lnTo>
                  <a:pt x="50800" y="328069"/>
                </a:lnTo>
                <a:lnTo>
                  <a:pt x="4381765" y="328069"/>
                </a:lnTo>
                <a:lnTo>
                  <a:pt x="4401490" y="324060"/>
                </a:lnTo>
                <a:lnTo>
                  <a:pt x="4417643" y="313146"/>
                </a:lnTo>
                <a:lnTo>
                  <a:pt x="4428558" y="296993"/>
                </a:lnTo>
                <a:lnTo>
                  <a:pt x="4432566" y="27726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630172"/>
            <a:ext cx="0" cy="252095"/>
          </a:xfrm>
          <a:custGeom>
            <a:avLst/>
            <a:gdLst/>
            <a:ahLst/>
            <a:cxnLst/>
            <a:rect l="l" t="t" r="r" b="b"/>
            <a:pathLst>
              <a:path w="0" h="252094">
                <a:moveTo>
                  <a:pt x="0" y="2520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6174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6047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5920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7744" y="988656"/>
            <a:ext cx="4443730" cy="16052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此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在配位滴定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通常将下式作为能否准确滴定金属离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的判别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Arial Unicode MS"/>
              <a:cs typeface="Arial Unicode MS"/>
            </a:endParaRPr>
          </a:p>
          <a:p>
            <a:pPr marL="1635125">
              <a:lnSpc>
                <a:spcPct val="100000"/>
              </a:lnSpc>
              <a:tabLst>
                <a:tab pos="4135120" algn="l"/>
              </a:tabLst>
            </a:pPr>
            <a:r>
              <a:rPr dirty="0" sz="1100" spc="-15">
                <a:latin typeface="Georgia"/>
                <a:cs typeface="Georgia"/>
              </a:rPr>
              <a:t>lg </a:t>
            </a: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sz="1100" spc="35">
                <a:latin typeface="Georgia"/>
                <a:cs typeface="Georgia"/>
              </a:rPr>
              <a:t>(M)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41666" sz="900" spc="52">
                <a:latin typeface="Lucida Sans Unicode"/>
                <a:cs typeface="Lucida Sans Unicode"/>
              </a:rPr>
              <a:t>t</a:t>
            </a:r>
            <a:r>
              <a:rPr dirty="0" sz="1100" spc="35">
                <a:latin typeface="Georgia"/>
                <a:cs typeface="Georgia"/>
              </a:rPr>
              <a:t>(MY)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	</a:t>
            </a:r>
            <a:r>
              <a:rPr dirty="0" sz="1100" spc="-35">
                <a:latin typeface="Georgia"/>
                <a:cs typeface="Georgia"/>
              </a:rPr>
              <a:t>(42)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Georgia"/>
              <a:cs typeface="Georgia"/>
            </a:endParaRPr>
          </a:p>
          <a:p>
            <a:pPr marL="354330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Unicode MS"/>
                <a:cs typeface="Arial Unicode MS"/>
              </a:rPr>
              <a:t>这个判别式不仅适用于溶液中只有一种金属离子的情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</a:t>
            </a:r>
            <a:endParaRPr sz="12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  <a:spcBef>
                <a:spcPts val="320"/>
              </a:spcBef>
            </a:pPr>
            <a:r>
              <a:rPr dirty="0" sz="1200" spc="-15">
                <a:latin typeface="Arial Unicode MS"/>
                <a:cs typeface="Arial Unicode MS"/>
              </a:rPr>
              <a:t>且适</a:t>
            </a:r>
            <a:r>
              <a:rPr dirty="0" sz="1200" spc="-10">
                <a:latin typeface="Arial Unicode MS"/>
                <a:cs typeface="Arial Unicode MS"/>
              </a:rPr>
              <a:t>用</a:t>
            </a:r>
            <a:r>
              <a:rPr dirty="0" sz="1200" spc="-15">
                <a:latin typeface="Arial Unicode MS"/>
                <a:cs typeface="Arial Unicode MS"/>
              </a:rPr>
              <a:t>于在多种金属离子共存</a:t>
            </a:r>
            <a:r>
              <a:rPr dirty="0" sz="1200" spc="-85">
                <a:latin typeface="Arial Unicode MS"/>
                <a:cs typeface="Arial Unicode MS"/>
              </a:rPr>
              <a:t>时</a:t>
            </a:r>
            <a:r>
              <a:rPr dirty="0" sz="1200" spc="-250">
                <a:latin typeface="Arial Unicode MS"/>
                <a:cs typeface="Arial Unicode MS"/>
              </a:rPr>
              <a:t>，</a:t>
            </a:r>
            <a:r>
              <a:rPr dirty="0" sz="1200" spc="-15">
                <a:latin typeface="Arial Unicode MS"/>
                <a:cs typeface="Arial Unicode MS"/>
              </a:rPr>
              <a:t>判定其中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15">
                <a:latin typeface="Arial Unicode MS"/>
                <a:cs typeface="Arial Unicode MS"/>
              </a:rPr>
              <a:t>能否被准确</a:t>
            </a:r>
            <a:r>
              <a:rPr dirty="0" sz="1200" spc="-10">
                <a:latin typeface="Arial Unicode MS"/>
                <a:cs typeface="Arial Unicode MS"/>
              </a:rPr>
              <a:t>滴</a:t>
            </a:r>
            <a:r>
              <a:rPr dirty="0" sz="1200" spc="-25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3535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10908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4207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12937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79590"/>
            <a:ext cx="50749" cy="7624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55185"/>
            <a:ext cx="4432935" cy="638175"/>
          </a:xfrm>
          <a:custGeom>
            <a:avLst/>
            <a:gdLst/>
            <a:ahLst/>
            <a:cxnLst/>
            <a:rect l="l" t="t" r="r" b="b"/>
            <a:pathLst>
              <a:path w="4432935" h="638175">
                <a:moveTo>
                  <a:pt x="4432566" y="0"/>
                </a:moveTo>
                <a:lnTo>
                  <a:pt x="0" y="0"/>
                </a:lnTo>
                <a:lnTo>
                  <a:pt x="0" y="586887"/>
                </a:lnTo>
                <a:lnTo>
                  <a:pt x="4008" y="606612"/>
                </a:lnTo>
                <a:lnTo>
                  <a:pt x="14922" y="622765"/>
                </a:lnTo>
                <a:lnTo>
                  <a:pt x="31075" y="633679"/>
                </a:lnTo>
                <a:lnTo>
                  <a:pt x="50800" y="637688"/>
                </a:lnTo>
                <a:lnTo>
                  <a:pt x="4381765" y="637688"/>
                </a:lnTo>
                <a:lnTo>
                  <a:pt x="4401490" y="633679"/>
                </a:lnTo>
                <a:lnTo>
                  <a:pt x="4417643" y="622765"/>
                </a:lnTo>
                <a:lnTo>
                  <a:pt x="4428558" y="606612"/>
                </a:lnTo>
                <a:lnTo>
                  <a:pt x="4432566" y="586887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17678"/>
            <a:ext cx="0" cy="743585"/>
          </a:xfrm>
          <a:custGeom>
            <a:avLst/>
            <a:gdLst/>
            <a:ahLst/>
            <a:cxnLst/>
            <a:rect l="l" t="t" r="r" b="b"/>
            <a:pathLst>
              <a:path w="0" h="743585">
                <a:moveTo>
                  <a:pt x="0" y="74344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049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922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795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274269"/>
            <a:ext cx="4432935" cy="90995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5.7</a:t>
            </a:r>
            <a:endParaRPr sz="12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80"/>
              </a:spcBef>
            </a:pP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10">
                <a:latin typeface="Georgia"/>
                <a:cs typeface="Georgia"/>
              </a:rPr>
              <a:t>pH=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100">
                <a:latin typeface="Georgia"/>
                <a:cs typeface="Georgia"/>
              </a:rPr>
              <a:t>0</a:t>
            </a:r>
            <a:r>
              <a:rPr dirty="0" sz="1100" spc="-100" b="0" i="1">
                <a:latin typeface="Bookman Old Style"/>
                <a:cs typeface="Bookman Old Style"/>
              </a:rPr>
              <a:t>.</a:t>
            </a:r>
            <a:r>
              <a:rPr dirty="0" sz="1100" spc="-100">
                <a:latin typeface="Georgia"/>
                <a:cs typeface="Georgia"/>
              </a:rPr>
              <a:t>020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滴定等浓度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能</a:t>
            </a:r>
            <a:r>
              <a:rPr dirty="0" sz="1200" spc="-5">
                <a:latin typeface="Arial Unicode MS"/>
                <a:cs typeface="Arial Unicode MS"/>
              </a:rPr>
              <a:t>否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准确滴</a:t>
            </a:r>
            <a:r>
              <a:rPr dirty="0" sz="1200" spc="65">
                <a:latin typeface="Arial Unicode MS"/>
                <a:cs typeface="Arial Unicode MS"/>
              </a:rPr>
              <a:t>定</a:t>
            </a:r>
            <a:r>
              <a:rPr dirty="0" sz="1200" spc="-320">
                <a:latin typeface="Arial Unicode MS"/>
                <a:cs typeface="Arial Unicode MS"/>
              </a:rPr>
              <a:t>？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65">
                <a:latin typeface="Arial Unicode MS"/>
                <a:cs typeface="Arial Unicode MS"/>
              </a:rPr>
              <a:t>：</a:t>
            </a:r>
            <a:r>
              <a:rPr dirty="0" sz="1100" spc="-6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(ZnY)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16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50</a:t>
            </a:r>
            <a:r>
              <a:rPr dirty="0" sz="1200" spc="-50">
                <a:latin typeface="Arial Unicode MS"/>
                <a:cs typeface="Arial Unicode MS"/>
              </a:rPr>
              <a:t>，</a:t>
            </a:r>
            <a:r>
              <a:rPr dirty="0" sz="1100" spc="-50">
                <a:latin typeface="Georgia"/>
                <a:cs typeface="Georgia"/>
              </a:rPr>
              <a:t>pH=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100" spc="-7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100" spc="-15">
                <a:latin typeface="Georgia"/>
                <a:cs typeface="Georgia"/>
              </a:rPr>
              <a:t>=6.45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92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3535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10908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4207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12937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79590"/>
            <a:ext cx="50749" cy="7624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55185"/>
            <a:ext cx="4432935" cy="638175"/>
          </a:xfrm>
          <a:custGeom>
            <a:avLst/>
            <a:gdLst/>
            <a:ahLst/>
            <a:cxnLst/>
            <a:rect l="l" t="t" r="r" b="b"/>
            <a:pathLst>
              <a:path w="4432935" h="638175">
                <a:moveTo>
                  <a:pt x="4432566" y="0"/>
                </a:moveTo>
                <a:lnTo>
                  <a:pt x="0" y="0"/>
                </a:lnTo>
                <a:lnTo>
                  <a:pt x="0" y="586887"/>
                </a:lnTo>
                <a:lnTo>
                  <a:pt x="4008" y="606612"/>
                </a:lnTo>
                <a:lnTo>
                  <a:pt x="14922" y="622765"/>
                </a:lnTo>
                <a:lnTo>
                  <a:pt x="31075" y="633679"/>
                </a:lnTo>
                <a:lnTo>
                  <a:pt x="50800" y="637688"/>
                </a:lnTo>
                <a:lnTo>
                  <a:pt x="4381765" y="637688"/>
                </a:lnTo>
                <a:lnTo>
                  <a:pt x="4401490" y="633679"/>
                </a:lnTo>
                <a:lnTo>
                  <a:pt x="4417643" y="622765"/>
                </a:lnTo>
                <a:lnTo>
                  <a:pt x="4428558" y="606612"/>
                </a:lnTo>
                <a:lnTo>
                  <a:pt x="4432566" y="586887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17678"/>
            <a:ext cx="0" cy="743585"/>
          </a:xfrm>
          <a:custGeom>
            <a:avLst/>
            <a:gdLst/>
            <a:ahLst/>
            <a:cxnLst/>
            <a:rect l="l" t="t" r="r" b="b"/>
            <a:pathLst>
              <a:path w="0" h="743585">
                <a:moveTo>
                  <a:pt x="0" y="74344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049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922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795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9644" y="274269"/>
            <a:ext cx="4509135" cy="268795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5.7</a:t>
            </a:r>
            <a:endParaRPr sz="12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280"/>
              </a:spcBef>
            </a:pP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10">
                <a:latin typeface="Georgia"/>
                <a:cs typeface="Georgia"/>
              </a:rPr>
              <a:t>pH=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100">
                <a:latin typeface="Georgia"/>
                <a:cs typeface="Georgia"/>
              </a:rPr>
              <a:t>0</a:t>
            </a:r>
            <a:r>
              <a:rPr dirty="0" sz="1100" spc="-100" b="0" i="1">
                <a:latin typeface="Bookman Old Style"/>
                <a:cs typeface="Bookman Old Style"/>
              </a:rPr>
              <a:t>.</a:t>
            </a:r>
            <a:r>
              <a:rPr dirty="0" sz="1100" spc="-100">
                <a:latin typeface="Georgia"/>
                <a:cs typeface="Georgia"/>
              </a:rPr>
              <a:t>020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滴定等浓度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能</a:t>
            </a:r>
            <a:r>
              <a:rPr dirty="0" sz="1200" spc="-5">
                <a:latin typeface="Arial Unicode MS"/>
                <a:cs typeface="Arial Unicode MS"/>
              </a:rPr>
              <a:t>否</a:t>
            </a:r>
            <a:endParaRPr sz="1200">
              <a:latin typeface="Arial Unicode MS"/>
              <a:cs typeface="Arial Unicode MS"/>
            </a:endParaRPr>
          </a:p>
          <a:p>
            <a:pPr marL="889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准确滴</a:t>
            </a:r>
            <a:r>
              <a:rPr dirty="0" sz="1200" spc="65">
                <a:latin typeface="Arial Unicode MS"/>
                <a:cs typeface="Arial Unicode MS"/>
              </a:rPr>
              <a:t>定</a:t>
            </a:r>
            <a:r>
              <a:rPr dirty="0" sz="1200" spc="-320">
                <a:latin typeface="Arial Unicode MS"/>
                <a:cs typeface="Arial Unicode MS"/>
              </a:rPr>
              <a:t>？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65">
                <a:latin typeface="Arial Unicode MS"/>
                <a:cs typeface="Arial Unicode MS"/>
              </a:rPr>
              <a:t>：</a:t>
            </a:r>
            <a:r>
              <a:rPr dirty="0" sz="1100" spc="-6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(ZnY)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16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50</a:t>
            </a:r>
            <a:r>
              <a:rPr dirty="0" sz="1200" spc="-50">
                <a:latin typeface="Arial Unicode MS"/>
                <a:cs typeface="Arial Unicode MS"/>
              </a:rPr>
              <a:t>，</a:t>
            </a:r>
            <a:r>
              <a:rPr dirty="0" sz="1100" spc="-50">
                <a:latin typeface="Georgia"/>
                <a:cs typeface="Georgia"/>
              </a:rPr>
              <a:t>pH=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100" spc="-7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endParaRPr sz="1100">
              <a:latin typeface="Georgia"/>
              <a:cs typeface="Georgia"/>
            </a:endParaRPr>
          </a:p>
          <a:p>
            <a:pPr marL="88900">
              <a:lnSpc>
                <a:spcPct val="100000"/>
              </a:lnSpc>
              <a:spcBef>
                <a:spcPts val="320"/>
              </a:spcBef>
            </a:pPr>
            <a:r>
              <a:rPr dirty="0" sz="1100" spc="-15">
                <a:latin typeface="Georgia"/>
                <a:cs typeface="Georgia"/>
              </a:rPr>
              <a:t>=6.45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88900">
              <a:lnSpc>
                <a:spcPct val="100000"/>
              </a:lnSpc>
              <a:spcBef>
                <a:spcPts val="112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在此酸度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>
                <a:latin typeface="Georgia"/>
                <a:cs typeface="Georgia"/>
              </a:rPr>
              <a:t>Zn</a:t>
            </a:r>
            <a:r>
              <a:rPr dirty="0" baseline="37037" sz="900" spc="15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不会发生水</a:t>
            </a:r>
            <a:r>
              <a:rPr dirty="0" sz="1200" spc="-80">
                <a:latin typeface="Arial Unicode MS"/>
                <a:cs typeface="Arial Unicode MS"/>
              </a:rPr>
              <a:t>解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41666" sz="900" spc="82">
                <a:latin typeface="Lucida Sans Unicode"/>
                <a:cs typeface="Lucida Sans Unicode"/>
              </a:rPr>
              <a:t>t</a:t>
            </a:r>
            <a:r>
              <a:rPr dirty="0" sz="1100" spc="55">
                <a:latin typeface="Georgia"/>
                <a:cs typeface="Georgia"/>
              </a:rPr>
              <a:t>(ZnY)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(ZnY)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16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50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60">
                <a:latin typeface="Georgia"/>
                <a:cs typeface="Georgia"/>
              </a:rPr>
              <a:t>6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45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10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05</a:t>
            </a:r>
            <a:endParaRPr sz="1100">
              <a:latin typeface="Georgia"/>
              <a:cs typeface="Georgia"/>
            </a:endParaRPr>
          </a:p>
          <a:p>
            <a:pPr marL="39243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15">
                <a:latin typeface="Georgia"/>
                <a:cs typeface="Georgia"/>
              </a:rPr>
              <a:t>lg </a:t>
            </a: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(Zn)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41666" sz="900" spc="37">
                <a:latin typeface="Lucida Sans Unicode"/>
                <a:cs typeface="Lucida Sans Unicode"/>
              </a:rPr>
              <a:t>t</a:t>
            </a:r>
            <a:r>
              <a:rPr dirty="0" sz="1100" spc="25">
                <a:latin typeface="Georgia"/>
                <a:cs typeface="Georgia"/>
              </a:rPr>
              <a:t>(ZnY)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lg(0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020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35">
                <a:latin typeface="Georgia"/>
                <a:cs typeface="Georgia"/>
              </a:rPr>
              <a:t>10</a:t>
            </a:r>
            <a:r>
              <a:rPr dirty="0" baseline="41666" sz="900" spc="52">
                <a:latin typeface="Times New Roman"/>
                <a:cs typeface="Times New Roman"/>
              </a:rPr>
              <a:t>10</a:t>
            </a:r>
            <a:r>
              <a:rPr dirty="0" baseline="41666" sz="900" spc="52" i="1">
                <a:latin typeface="Arial"/>
                <a:cs typeface="Arial"/>
              </a:rPr>
              <a:t>.</a:t>
            </a:r>
            <a:r>
              <a:rPr dirty="0" baseline="41666" sz="900" spc="52">
                <a:latin typeface="Times New Roman"/>
                <a:cs typeface="Times New Roman"/>
              </a:rPr>
              <a:t>05</a:t>
            </a:r>
            <a:r>
              <a:rPr dirty="0" sz="1100" spc="35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0">
                <a:latin typeface="Georgia"/>
                <a:cs typeface="Georgia"/>
              </a:rPr>
              <a:t>8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35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229" b="0" i="1">
                <a:latin typeface="Bookman Old Style"/>
                <a:cs typeface="Bookman Old Style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endParaRPr sz="1100">
              <a:latin typeface="Georgia"/>
              <a:cs typeface="Georgia"/>
            </a:endParaRPr>
          </a:p>
          <a:p>
            <a:pPr marL="39243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在此条件下可以准确滴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65">
                <a:latin typeface="Georgia"/>
                <a:cs typeface="Georgia"/>
              </a:rPr>
              <a:t>Zn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92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23209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5.7.3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指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示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剂用量对滴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终点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误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差的影响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1156627"/>
            <a:ext cx="287655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75"/>
              <a:t>设</a:t>
            </a:r>
            <a:r>
              <a:rPr dirty="0" sz="1100" spc="140">
                <a:latin typeface="Georgia"/>
                <a:cs typeface="Georgia"/>
              </a:rPr>
              <a:t>Y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pc="-5"/>
              <a:t>滴定金属离</a:t>
            </a:r>
            <a:r>
              <a:rPr dirty="0" spc="175"/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pc="-5"/>
              <a:t>时</a:t>
            </a:r>
            <a:r>
              <a:rPr dirty="0" spc="175"/>
              <a:t>以</a:t>
            </a:r>
            <a:r>
              <a:rPr dirty="0" sz="1100" spc="20">
                <a:latin typeface="Georgia"/>
                <a:cs typeface="Georgia"/>
              </a:rPr>
              <a:t>E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pc="-5"/>
              <a:t>为指示</a:t>
            </a:r>
            <a:r>
              <a:rPr dirty="0" spc="-80"/>
              <a:t>剂</a:t>
            </a:r>
            <a:r>
              <a:rPr dirty="0" spc="-185"/>
              <a:t>，</a:t>
            </a:r>
            <a:r>
              <a:rPr dirty="0" spc="-90"/>
              <a:t>则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8600" y="1547622"/>
            <a:ext cx="841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Y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60">
                <a:latin typeface="Georgia"/>
                <a:cs typeface="Georgia"/>
              </a:rPr>
              <a:t>MY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1084" y="1453896"/>
            <a:ext cx="751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195" b="0" i="1">
                <a:latin typeface="Bookman Old Style"/>
                <a:cs typeface="Bookman Old Style"/>
              </a:rPr>
              <a:t>K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434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[MY]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46667" y="1664233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4" h="0">
                <a:moveTo>
                  <a:pt x="0" y="0"/>
                </a:moveTo>
                <a:lnTo>
                  <a:pt x="3848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33967" y="1642656"/>
            <a:ext cx="410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50">
                <a:latin typeface="Georgia"/>
                <a:cs typeface="Georgia"/>
              </a:rPr>
              <a:t>][Y]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0456" y="154762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(43)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4114" y="2026754"/>
            <a:ext cx="10782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47419" algn="l"/>
              </a:tabLst>
            </a:pP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E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</a:t>
            </a:r>
            <a:r>
              <a:rPr dirty="0" sz="1100" spc="20">
                <a:latin typeface="Georgia"/>
                <a:cs typeface="Georgia"/>
              </a:rPr>
              <a:t>E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76957" y="21101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42285" y="2143366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5" h="0">
                <a:moveTo>
                  <a:pt x="0" y="0"/>
                </a:moveTo>
                <a:lnTo>
                  <a:pt x="37523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29585" y="2121789"/>
            <a:ext cx="401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80">
                <a:latin typeface="Georgia"/>
                <a:cs typeface="Georgia"/>
              </a:rPr>
              <a:t>][E]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42768" y="1933028"/>
            <a:ext cx="6667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[ME]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baseline="-37878" sz="1650" spc="-44" b="0" i="1">
                <a:latin typeface="Bookman Old Style"/>
                <a:cs typeface="Bookman Old Style"/>
              </a:rPr>
              <a:t>.</a:t>
            </a:r>
            <a:endParaRPr baseline="-37878" sz="165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0456" y="2026754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Georgia"/>
                <a:cs typeface="Georgia"/>
              </a:rPr>
              <a:t>(44)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44" y="525284"/>
            <a:ext cx="443103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 marR="177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设金属离子的初始浓度和体积分别</a:t>
            </a:r>
            <a:r>
              <a:rPr dirty="0" spc="175"/>
              <a:t>为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pc="175"/>
              <a:t>和</a:t>
            </a:r>
            <a:r>
              <a:rPr dirty="0" sz="1100" spc="-10" b="0" i="1">
                <a:latin typeface="Bookman Old Style"/>
                <a:cs typeface="Bookman Old Style"/>
              </a:rPr>
              <a:t>V</a:t>
            </a:r>
            <a:r>
              <a:rPr dirty="0" baseline="-13888" sz="900" spc="-15">
                <a:latin typeface="Times New Roman"/>
                <a:cs typeface="Times New Roman"/>
              </a:rPr>
              <a:t>0</a:t>
            </a:r>
            <a:r>
              <a:rPr dirty="0" sz="1200" spc="-235"/>
              <a:t>。</a:t>
            </a:r>
            <a:r>
              <a:rPr dirty="0" sz="1200" spc="-5"/>
              <a:t>指示剂的初 </a:t>
            </a:r>
            <a:r>
              <a:rPr dirty="0" sz="1200" spc="-5"/>
              <a:t>始浓度</a:t>
            </a:r>
            <a:r>
              <a:rPr dirty="0" sz="1200" spc="175"/>
              <a:t>为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15">
                <a:latin typeface="Georgia"/>
                <a:cs typeface="Georgia"/>
              </a:rPr>
              <a:t>E</a:t>
            </a:r>
            <a:r>
              <a:rPr dirty="0" sz="1100" spc="-65">
                <a:latin typeface="Georgia"/>
                <a:cs typeface="Georgia"/>
              </a:rPr>
              <a:t>)</a:t>
            </a:r>
            <a:r>
              <a:rPr dirty="0" sz="1200" spc="-185"/>
              <a:t>，</a:t>
            </a:r>
            <a:r>
              <a:rPr dirty="0" sz="1200" spc="-5"/>
              <a:t>滴定剂的初始浓度</a:t>
            </a:r>
            <a:r>
              <a:rPr dirty="0" sz="1200" spc="175"/>
              <a:t>为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55">
                <a:latin typeface="Georgia"/>
                <a:cs typeface="Georgia"/>
              </a:rPr>
              <a:t>(Y</a:t>
            </a:r>
            <a:r>
              <a:rPr dirty="0" sz="1100" spc="30">
                <a:latin typeface="Georgia"/>
                <a:cs typeface="Georgia"/>
              </a:rPr>
              <a:t>)</a:t>
            </a:r>
            <a:r>
              <a:rPr dirty="0" sz="1200" spc="-235"/>
              <a:t>。</a:t>
            </a:r>
            <a:r>
              <a:rPr dirty="0" sz="1200" spc="-5"/>
              <a:t>当加入</a:t>
            </a:r>
            <a:r>
              <a:rPr dirty="0" sz="1100" spc="140">
                <a:latin typeface="Georgia"/>
                <a:cs typeface="Georgia"/>
              </a:rPr>
              <a:t>Y</a:t>
            </a:r>
            <a:r>
              <a:rPr dirty="0" sz="1200" spc="-5"/>
              <a:t>的体积为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r>
              <a:rPr dirty="0" baseline="-13888" sz="900" spc="240" i="1">
                <a:latin typeface="Arial"/>
                <a:cs typeface="Arial"/>
              </a:rPr>
              <a:t>t</a:t>
            </a:r>
            <a:r>
              <a:rPr dirty="0" sz="1200" spc="-80"/>
              <a:t>时</a:t>
            </a:r>
            <a:r>
              <a:rPr dirty="0" sz="1200" spc="-5"/>
              <a:t>， </a:t>
            </a:r>
            <a:r>
              <a:rPr dirty="0" sz="1200" spc="-5"/>
              <a:t>质量平衡如</a:t>
            </a:r>
            <a:r>
              <a:rPr dirty="0" sz="1200" spc="-260"/>
              <a:t>下</a:t>
            </a:r>
            <a:r>
              <a:rPr dirty="0" sz="1200" spc="-5"/>
              <a:t>（忽略副反</a:t>
            </a:r>
            <a:r>
              <a:rPr dirty="0" sz="1200" spc="30"/>
              <a:t>应</a:t>
            </a:r>
            <a:r>
              <a:rPr dirty="0" sz="1200" spc="-365"/>
              <a:t>）：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71560" y="1420357"/>
          <a:ext cx="2630170" cy="897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"/>
                <a:gridCol w="1682114"/>
                <a:gridCol w="744855"/>
              </a:tblGrid>
              <a:tr h="266471">
                <a:tc>
                  <a:txBody>
                    <a:bodyPr/>
                    <a:lstStyle/>
                    <a:p>
                      <a:pPr marL="317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75"/>
                        </a:lnSpc>
                      </a:pPr>
                      <a:r>
                        <a:rPr dirty="0" sz="1100" spc="-85">
                          <a:latin typeface="Georgia"/>
                          <a:cs typeface="Georgia"/>
                        </a:rPr>
                        <a:t>[M]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 </a:t>
                      </a:r>
                      <a:r>
                        <a:rPr dirty="0" sz="1100" spc="-20">
                          <a:latin typeface="Georgia"/>
                          <a:cs typeface="Georgia"/>
                        </a:rPr>
                        <a:t>[MY]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-15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55">
                          <a:latin typeface="Georgia"/>
                          <a:cs typeface="Georgia"/>
                        </a:rPr>
                        <a:t>[ME]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(45)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36405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 spc="-30">
                          <a:latin typeface="Georgia"/>
                          <a:cs typeface="Georgia"/>
                        </a:rPr>
                        <a:t>[Y]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-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20">
                          <a:latin typeface="Georgia"/>
                          <a:cs typeface="Georgia"/>
                        </a:rPr>
                        <a:t>[MY]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(46)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</a:tr>
              <a:tr h="266471">
                <a:tc>
                  <a:txBody>
                    <a:bodyPr/>
                    <a:lstStyle/>
                    <a:p>
                      <a:pPr marL="31750">
                        <a:lnSpc>
                          <a:spcPts val="1275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75"/>
                        </a:lnSpc>
                        <a:spcBef>
                          <a:spcPts val="725"/>
                        </a:spcBef>
                      </a:pPr>
                      <a:r>
                        <a:rPr dirty="0" sz="1100" spc="-70">
                          <a:latin typeface="Georgia"/>
                          <a:cs typeface="Georgia"/>
                        </a:rPr>
                        <a:t>[E]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1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55">
                          <a:latin typeface="Georgia"/>
                          <a:cs typeface="Georgia"/>
                        </a:rPr>
                        <a:t>[ME]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75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(47)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07947" y="1287130"/>
            <a:ext cx="479425" cy="113157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265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60"/>
              </a:spcBef>
            </a:pPr>
            <a:r>
              <a:rPr dirty="0" u="sng" sz="1100" spc="-1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-13888" sz="900" spc="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-13888" sz="9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65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60"/>
              </a:spcBef>
            </a:pPr>
            <a:r>
              <a:rPr dirty="0" u="sng" sz="1100" spc="-1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(E)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baseline="-13888" sz="9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baseline="-13888" sz="9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165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5907" y="1458988"/>
            <a:ext cx="243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4101" y="884288"/>
            <a:ext cx="2803525" cy="488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根据方</a:t>
            </a:r>
            <a:r>
              <a:rPr dirty="0" sz="1200" spc="-260">
                <a:latin typeface="Arial Unicode MS"/>
                <a:cs typeface="Arial Unicode MS"/>
              </a:rPr>
              <a:t>程</a:t>
            </a:r>
            <a:r>
              <a:rPr dirty="0" sz="1200" spc="-85">
                <a:latin typeface="Arial Unicode MS"/>
                <a:cs typeface="Arial Unicode MS"/>
              </a:rPr>
              <a:t>（</a:t>
            </a:r>
            <a:r>
              <a:rPr dirty="0" sz="1100" spc="-85">
                <a:latin typeface="Georgia"/>
                <a:cs typeface="Georgia"/>
                <a:hlinkClick r:id="rId2" action="ppaction://hlinksldjump"/>
              </a:rPr>
              <a:t>43</a:t>
            </a:r>
            <a:r>
              <a:rPr dirty="0" sz="1200" spc="-85">
                <a:latin typeface="Arial Unicode MS"/>
                <a:cs typeface="Arial Unicode MS"/>
              </a:rPr>
              <a:t>）</a:t>
            </a:r>
            <a:r>
              <a:rPr dirty="0" sz="1100" spc="-85">
                <a:latin typeface="Lucida Sans Unicode"/>
                <a:cs typeface="Lucida Sans Unicode"/>
              </a:rPr>
              <a:t>∼</a:t>
            </a:r>
            <a:r>
              <a:rPr dirty="0" sz="1100" spc="5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方</a:t>
            </a:r>
            <a:r>
              <a:rPr dirty="0" sz="1200" spc="-260">
                <a:latin typeface="Arial Unicode MS"/>
                <a:cs typeface="Arial Unicode MS"/>
              </a:rPr>
              <a:t>程</a:t>
            </a:r>
            <a:r>
              <a:rPr dirty="0" sz="1200" spc="-195">
                <a:latin typeface="Arial Unicode MS"/>
                <a:cs typeface="Arial Unicode MS"/>
              </a:rPr>
              <a:t>（</a:t>
            </a:r>
            <a:r>
              <a:rPr dirty="0" sz="1100" spc="-195">
                <a:latin typeface="Georgia"/>
                <a:cs typeface="Georgia"/>
                <a:hlinkClick r:id="rId3" action="ppaction://hlinksldjump"/>
              </a:rPr>
              <a:t>47</a:t>
            </a:r>
            <a:r>
              <a:rPr dirty="0" sz="1200" spc="-195">
                <a:latin typeface="Arial Unicode MS"/>
                <a:cs typeface="Arial Unicode MS"/>
              </a:rPr>
              <a:t>），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r" marR="30480">
              <a:lnSpc>
                <a:spcPct val="100000"/>
              </a:lnSpc>
              <a:spcBef>
                <a:spcPts val="894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165">
                <a:latin typeface="Times New Roman"/>
                <a:cs typeface="Times New Roman"/>
              </a:rPr>
              <a:t>1</a:t>
            </a: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</a:t>
            </a:r>
            <a:r>
              <a:rPr dirty="0" sz="1100" spc="15">
                <a:latin typeface="Georgia"/>
                <a:cs typeface="Georgia"/>
              </a:rPr>
              <a:t>E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32672" y="1391894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5" h="0">
                <a:moveTo>
                  <a:pt x="0" y="0"/>
                </a:moveTo>
                <a:lnTo>
                  <a:pt x="63635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87941" y="145371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2046" y="1275283"/>
            <a:ext cx="1553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85">
                <a:latin typeface="Georgia"/>
                <a:cs typeface="Georgia"/>
              </a:rPr>
              <a:t>[M]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baseline="-37878" sz="1650" spc="104">
                <a:latin typeface="Georgia"/>
                <a:cs typeface="Georgia"/>
              </a:rPr>
              <a:t>1 </a:t>
            </a:r>
            <a:r>
              <a:rPr dirty="0" baseline="-37878" sz="1650" spc="209">
                <a:latin typeface="Georgia"/>
                <a:cs typeface="Georgia"/>
              </a:rPr>
              <a:t>+ </a:t>
            </a:r>
            <a:r>
              <a:rPr dirty="0" baseline="-37878" sz="1650" spc="195" b="0" i="1">
                <a:latin typeface="Bookman Old Style"/>
                <a:cs typeface="Bookman Old Style"/>
              </a:rPr>
              <a:t>K</a:t>
            </a:r>
            <a:r>
              <a:rPr dirty="0" baseline="-37878" sz="1650" spc="-179" b="0" i="1">
                <a:latin typeface="Bookman Old Style"/>
                <a:cs typeface="Bookman Old Style"/>
              </a:rPr>
              <a:t> </a:t>
            </a:r>
            <a:r>
              <a:rPr dirty="0" baseline="-37878" sz="1650" spc="-127">
                <a:latin typeface="Georgia"/>
                <a:cs typeface="Georgia"/>
              </a:rPr>
              <a:t>[M]</a:t>
            </a:r>
            <a:endParaRPr baseline="-37878" sz="165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80146" y="1575600"/>
            <a:ext cx="1504315" cy="0"/>
          </a:xfrm>
          <a:custGeom>
            <a:avLst/>
            <a:gdLst/>
            <a:ahLst/>
            <a:cxnLst/>
            <a:rect l="l" t="t" r="r" b="b"/>
            <a:pathLst>
              <a:path w="1504314" h="0">
                <a:moveTo>
                  <a:pt x="0" y="0"/>
                </a:moveTo>
                <a:lnTo>
                  <a:pt x="15040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90661" y="1547660"/>
            <a:ext cx="10680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-127">
                <a:latin typeface="Georgia"/>
                <a:cs typeface="Georgia"/>
              </a:rPr>
              <a:t>[M]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172">
                <a:latin typeface="Georgia"/>
                <a:cs typeface="Georgia"/>
              </a:rPr>
              <a:t> 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sz="1100" spc="5">
                <a:latin typeface="Georgia"/>
                <a:cs typeface="Georgia"/>
              </a:rPr>
              <a:t>[M]</a:t>
            </a: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(Y)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17242" y="1757997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31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21051" y="1736420"/>
            <a:ext cx="5956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95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K</a:t>
            </a:r>
            <a:r>
              <a:rPr dirty="0" sz="1100" spc="-10">
                <a:latin typeface="Georgia"/>
                <a:cs typeface="Georgia"/>
              </a:rPr>
              <a:t>[M]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0456" y="1458988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(48)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3144" y="150311"/>
            <a:ext cx="2647950" cy="0"/>
          </a:xfrm>
          <a:custGeom>
            <a:avLst/>
            <a:gdLst/>
            <a:ahLst/>
            <a:cxnLst/>
            <a:rect l="l" t="t" r="r" b="b"/>
            <a:pathLst>
              <a:path w="2647950" h="0">
                <a:moveTo>
                  <a:pt x="0" y="0"/>
                </a:moveTo>
                <a:lnTo>
                  <a:pt x="264790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53144" y="150310"/>
            <a:ext cx="2647950" cy="2087880"/>
          </a:xfrm>
          <a:custGeom>
            <a:avLst/>
            <a:gdLst/>
            <a:ahLst/>
            <a:cxnLst/>
            <a:rect l="l" t="t" r="r" b="b"/>
            <a:pathLst>
              <a:path w="2647950" h="2087880">
                <a:moveTo>
                  <a:pt x="0" y="2087414"/>
                </a:moveTo>
                <a:lnTo>
                  <a:pt x="2647908" y="2087414"/>
                </a:lnTo>
                <a:lnTo>
                  <a:pt x="264790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53144" y="150310"/>
            <a:ext cx="0" cy="2087880"/>
          </a:xfrm>
          <a:custGeom>
            <a:avLst/>
            <a:gdLst/>
            <a:ahLst/>
            <a:cxnLst/>
            <a:rect l="l" t="t" r="r" b="b"/>
            <a:pathLst>
              <a:path w="0" h="2087880">
                <a:moveTo>
                  <a:pt x="0" y="20874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53144" y="2237725"/>
            <a:ext cx="2647950" cy="0"/>
          </a:xfrm>
          <a:custGeom>
            <a:avLst/>
            <a:gdLst/>
            <a:ahLst/>
            <a:cxnLst/>
            <a:rect l="l" t="t" r="r" b="b"/>
            <a:pathLst>
              <a:path w="2647950" h="0">
                <a:moveTo>
                  <a:pt x="0" y="0"/>
                </a:moveTo>
                <a:lnTo>
                  <a:pt x="264790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53144" y="150310"/>
            <a:ext cx="0" cy="2087880"/>
          </a:xfrm>
          <a:custGeom>
            <a:avLst/>
            <a:gdLst/>
            <a:ahLst/>
            <a:cxnLst/>
            <a:rect l="l" t="t" r="r" b="b"/>
            <a:pathLst>
              <a:path w="0" h="2087880">
                <a:moveTo>
                  <a:pt x="0" y="20874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53144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53144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20690" y="2236875"/>
            <a:ext cx="6540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17833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17833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55752" y="2236875"/>
            <a:ext cx="12446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5">
                <a:latin typeface="Arial"/>
                <a:cs typeface="Arial"/>
              </a:rPr>
              <a:t>0.2</a:t>
            </a:r>
            <a:endParaRPr sz="5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82527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82527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20444" y="2236875"/>
            <a:ext cx="12446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5">
                <a:latin typeface="Arial"/>
                <a:cs typeface="Arial"/>
              </a:rPr>
              <a:t>0.4</a:t>
            </a:r>
            <a:endParaRPr sz="5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47221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47221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785136" y="2236875"/>
            <a:ext cx="12446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5">
                <a:latin typeface="Arial"/>
                <a:cs typeface="Arial"/>
              </a:rPr>
              <a:t>0.6</a:t>
            </a:r>
            <a:endParaRPr sz="5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11910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11910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049829" y="2236875"/>
            <a:ext cx="12446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5">
                <a:latin typeface="Arial"/>
                <a:cs typeface="Arial"/>
              </a:rPr>
              <a:t>0.8</a:t>
            </a:r>
            <a:endParaRPr sz="5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77096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77096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41790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41790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579707" y="2236875"/>
            <a:ext cx="12446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5">
                <a:latin typeface="Arial"/>
                <a:cs typeface="Arial"/>
              </a:rPr>
              <a:t>1.2</a:t>
            </a:r>
            <a:endParaRPr sz="5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906484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906484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844400" y="2236875"/>
            <a:ext cx="12446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5">
                <a:latin typeface="Arial"/>
                <a:cs typeface="Arial"/>
              </a:rPr>
              <a:t>1.4</a:t>
            </a:r>
            <a:endParaRPr sz="55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71173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171173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109092" y="2236875"/>
            <a:ext cx="12446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5">
                <a:latin typeface="Arial"/>
                <a:cs typeface="Arial"/>
              </a:rPr>
              <a:t>1.6</a:t>
            </a:r>
            <a:endParaRPr sz="55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435867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435867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373784" y="2236875"/>
            <a:ext cx="12446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5">
                <a:latin typeface="Arial"/>
                <a:cs typeface="Arial"/>
              </a:rPr>
              <a:t>1.8</a:t>
            </a:r>
            <a:endParaRPr sz="5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701053" y="2211059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6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701053" y="15031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0"/>
                </a:moveTo>
                <a:lnTo>
                  <a:pt x="0" y="261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668600" y="2236875"/>
            <a:ext cx="6540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53144" y="2237725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1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74386" y="2237725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6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83652" y="2180085"/>
            <a:ext cx="6540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53144" y="1939449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1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74386" y="1939449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6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053144" y="1641178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1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74386" y="1641178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6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53144" y="1342907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1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74386" y="1342907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6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53144" y="1044631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1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74386" y="1044631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6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53144" y="746360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1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674386" y="746360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6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053144" y="448089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1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74386" y="448089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6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053144" y="150311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1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674386" y="150311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6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983652" y="92670"/>
            <a:ext cx="65405" cy="1899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Arial"/>
                <a:cs typeface="Arial"/>
              </a:rPr>
              <a:t>9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5">
                <a:latin typeface="Arial"/>
                <a:cs typeface="Arial"/>
              </a:rPr>
              <a:t>8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5">
                <a:latin typeface="Arial"/>
                <a:cs typeface="Arial"/>
              </a:rPr>
              <a:t>7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550" spc="5">
                <a:latin typeface="Arial"/>
                <a:cs typeface="Arial"/>
              </a:rPr>
              <a:t>6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5">
                <a:latin typeface="Arial"/>
                <a:cs typeface="Arial"/>
              </a:rPr>
              <a:t>5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5"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5">
                <a:latin typeface="Arial"/>
                <a:cs typeface="Arial"/>
              </a:rPr>
              <a:t>3</a:t>
            </a:r>
            <a:endParaRPr sz="55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053144" y="150311"/>
            <a:ext cx="2647950" cy="0"/>
          </a:xfrm>
          <a:custGeom>
            <a:avLst/>
            <a:gdLst/>
            <a:ahLst/>
            <a:cxnLst/>
            <a:rect l="l" t="t" r="r" b="b"/>
            <a:pathLst>
              <a:path w="2647950" h="0">
                <a:moveTo>
                  <a:pt x="0" y="0"/>
                </a:moveTo>
                <a:lnTo>
                  <a:pt x="264790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053144" y="150310"/>
            <a:ext cx="2647950" cy="2087880"/>
          </a:xfrm>
          <a:custGeom>
            <a:avLst/>
            <a:gdLst/>
            <a:ahLst/>
            <a:cxnLst/>
            <a:rect l="l" t="t" r="r" b="b"/>
            <a:pathLst>
              <a:path w="2647950" h="2087880">
                <a:moveTo>
                  <a:pt x="0" y="2087414"/>
                </a:moveTo>
                <a:lnTo>
                  <a:pt x="2647908" y="2087414"/>
                </a:lnTo>
                <a:lnTo>
                  <a:pt x="264790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053144" y="150310"/>
            <a:ext cx="0" cy="2087880"/>
          </a:xfrm>
          <a:custGeom>
            <a:avLst/>
            <a:gdLst/>
            <a:ahLst/>
            <a:cxnLst/>
            <a:rect l="l" t="t" r="r" b="b"/>
            <a:pathLst>
              <a:path w="0" h="2087880">
                <a:moveTo>
                  <a:pt x="0" y="20874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056101" y="400682"/>
            <a:ext cx="2503712" cy="18247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341188" y="2236875"/>
            <a:ext cx="71120" cy="197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875">
              <a:lnSpc>
                <a:spcPts val="610"/>
              </a:lnSpc>
              <a:spcBef>
                <a:spcPts val="110"/>
              </a:spcBef>
            </a:pPr>
            <a:r>
              <a:rPr dirty="0" sz="550" spc="5"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ts val="730"/>
              </a:lnSpc>
            </a:pPr>
            <a:r>
              <a:rPr dirty="0" sz="650">
                <a:latin typeface="Symbol"/>
                <a:cs typeface="Symbol"/>
              </a:rPr>
              <a:t></a:t>
            </a:r>
            <a:endParaRPr sz="650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63123" y="1124091"/>
            <a:ext cx="120014" cy="140970"/>
          </a:xfrm>
          <a:prstGeom prst="rect">
            <a:avLst/>
          </a:prstGeom>
        </p:spPr>
        <p:txBody>
          <a:bodyPr wrap="square" lIns="0" tIns="571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650">
                <a:latin typeface="Times New Roman"/>
                <a:cs typeface="Times New Roman"/>
              </a:rPr>
              <a:t>pM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7744" y="2543634"/>
            <a:ext cx="4432935" cy="81534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5">
                <a:solidFill>
                  <a:srgbClr val="3333B2"/>
                </a:solidFill>
                <a:latin typeface="Georgia"/>
                <a:cs typeface="Georgia"/>
              </a:rPr>
              <a:t>16:</a:t>
            </a:r>
            <a:r>
              <a:rPr dirty="0" sz="1000" spc="20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55">
                <a:latin typeface="Georgia"/>
                <a:cs typeface="Georgia"/>
              </a:rPr>
              <a:t>EBT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对</a:t>
            </a:r>
            <a:r>
              <a:rPr dirty="0" sz="1050" spc="-10">
                <a:latin typeface="Arial Unicode MS"/>
                <a:cs typeface="Arial Unicode MS"/>
              </a:rPr>
              <a:t>指</a:t>
            </a:r>
            <a:r>
              <a:rPr dirty="0" sz="1050" spc="-5">
                <a:latin typeface="Arial Unicode MS"/>
                <a:cs typeface="Arial Unicode MS"/>
              </a:rPr>
              <a:t>示剂对滴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曲线的</a:t>
            </a:r>
            <a:r>
              <a:rPr dirty="0" sz="1050" spc="-10">
                <a:latin typeface="Arial Unicode MS"/>
                <a:cs typeface="Arial Unicode MS"/>
              </a:rPr>
              <a:t>影</a:t>
            </a:r>
            <a:r>
              <a:rPr dirty="0" sz="1050" spc="-70">
                <a:latin typeface="Arial Unicode MS"/>
                <a:cs typeface="Arial Unicode MS"/>
              </a:rPr>
              <a:t>响</a:t>
            </a:r>
            <a:r>
              <a:rPr dirty="0" sz="1050">
                <a:latin typeface="Arial Unicode MS"/>
                <a:cs typeface="Arial Unicode MS"/>
              </a:rPr>
              <a:t>，</a:t>
            </a:r>
            <a:r>
              <a:rPr dirty="0" sz="1000">
                <a:latin typeface="Georgia"/>
                <a:cs typeface="Georgia"/>
              </a:rPr>
              <a:t>EBT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分别</a:t>
            </a:r>
            <a:endParaRPr sz="105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290"/>
              </a:spcBef>
            </a:pP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55">
                <a:latin typeface="Georgia"/>
                <a:cs typeface="Georgia"/>
              </a:rPr>
              <a:t>0.001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00" spc="-55">
                <a:latin typeface="Georgia"/>
                <a:cs typeface="Georgia"/>
              </a:rPr>
              <a:t>mol/L</a:t>
            </a:r>
            <a:r>
              <a:rPr dirty="0" sz="1050" spc="-55">
                <a:latin typeface="Arial Unicode MS"/>
                <a:cs typeface="Arial Unicode MS"/>
              </a:rPr>
              <a:t>（</a:t>
            </a:r>
            <a:r>
              <a:rPr dirty="0" sz="1050" spc="-10">
                <a:latin typeface="Arial Unicode MS"/>
                <a:cs typeface="Arial Unicode MS"/>
              </a:rPr>
              <a:t>实</a:t>
            </a:r>
            <a:r>
              <a:rPr dirty="0" sz="1050" spc="20">
                <a:latin typeface="Arial Unicode MS"/>
                <a:cs typeface="Arial Unicode MS"/>
              </a:rPr>
              <a:t>线</a:t>
            </a:r>
            <a:r>
              <a:rPr dirty="0" sz="1050" spc="-275">
                <a:latin typeface="Arial Unicode MS"/>
                <a:cs typeface="Arial Unicode MS"/>
              </a:rPr>
              <a:t>）</a:t>
            </a:r>
            <a:r>
              <a:rPr dirty="0" sz="1050" spc="160">
                <a:latin typeface="Arial Unicode MS"/>
                <a:cs typeface="Arial Unicode MS"/>
              </a:rPr>
              <a:t>和</a:t>
            </a:r>
            <a:r>
              <a:rPr dirty="0" sz="1000" spc="-65">
                <a:latin typeface="Georgia"/>
                <a:cs typeface="Georgia"/>
              </a:rPr>
              <a:t>0.0001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00" spc="-55">
                <a:latin typeface="Georgia"/>
                <a:cs typeface="Georgia"/>
              </a:rPr>
              <a:t>mol/L</a:t>
            </a:r>
            <a:r>
              <a:rPr dirty="0" sz="1050" spc="-55">
                <a:latin typeface="Arial Unicode MS"/>
                <a:cs typeface="Arial Unicode MS"/>
              </a:rPr>
              <a:t>（</a:t>
            </a:r>
            <a:r>
              <a:rPr dirty="0" sz="1050" spc="-10">
                <a:latin typeface="Arial Unicode MS"/>
                <a:cs typeface="Arial Unicode MS"/>
              </a:rPr>
              <a:t>虚</a:t>
            </a:r>
            <a:r>
              <a:rPr dirty="0" sz="1050" spc="20">
                <a:latin typeface="Arial Unicode MS"/>
                <a:cs typeface="Arial Unicode MS"/>
              </a:rPr>
              <a:t>线</a:t>
            </a:r>
            <a:r>
              <a:rPr dirty="0" sz="1050" spc="-575">
                <a:latin typeface="Arial Unicode MS"/>
                <a:cs typeface="Arial Unicode MS"/>
              </a:rPr>
              <a:t>）</a:t>
            </a:r>
            <a:r>
              <a:rPr dirty="0" sz="1050" spc="-229">
                <a:latin typeface="Arial Unicode MS"/>
                <a:cs typeface="Arial Unicode MS"/>
              </a:rPr>
              <a:t>。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浓度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50">
                <a:latin typeface="Georgia"/>
                <a:cs typeface="Georgia"/>
              </a:rPr>
              <a:t>0</a:t>
            </a:r>
            <a:r>
              <a:rPr dirty="0" sz="1000" spc="-50" b="0" i="1">
                <a:latin typeface="Bookman Old Style"/>
                <a:cs typeface="Bookman Old Style"/>
              </a:rPr>
              <a:t>.</a:t>
            </a:r>
            <a:r>
              <a:rPr dirty="0" sz="1000" spc="-50">
                <a:latin typeface="Georgia"/>
                <a:cs typeface="Georgia"/>
              </a:rPr>
              <a:t>01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55">
                <a:latin typeface="Georgia"/>
                <a:cs typeface="Georgia"/>
              </a:rPr>
              <a:t>mol/L</a:t>
            </a:r>
            <a:r>
              <a:rPr dirty="0" sz="1050" spc="-5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镁</a:t>
            </a:r>
            <a:endParaRPr sz="105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295"/>
              </a:spcBef>
            </a:pPr>
            <a:r>
              <a:rPr dirty="0" sz="1050" spc="-5">
                <a:latin typeface="Arial Unicode MS"/>
                <a:cs typeface="Arial Unicode MS"/>
              </a:rPr>
              <a:t>离子浓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40">
                <a:latin typeface="Georgia"/>
                <a:cs typeface="Georgia"/>
              </a:rPr>
              <a:t>0.01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mol/L</a:t>
            </a:r>
            <a:r>
              <a:rPr dirty="0" sz="1050" spc="-50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稳定</a:t>
            </a:r>
            <a:r>
              <a:rPr dirty="0" sz="1050" spc="-10">
                <a:latin typeface="Arial Unicode MS"/>
                <a:cs typeface="Arial Unicode MS"/>
              </a:rPr>
              <a:t>常</a:t>
            </a:r>
            <a:r>
              <a:rPr dirty="0" sz="1050" spc="-5">
                <a:latin typeface="Arial Unicode MS"/>
                <a:cs typeface="Arial Unicode MS"/>
              </a:rPr>
              <a:t>数分别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110" b="0" i="1">
                <a:latin typeface="Bookman Old Style"/>
                <a:cs typeface="Bookman Old Style"/>
              </a:rPr>
              <a:t>K</a:t>
            </a:r>
            <a:r>
              <a:rPr dirty="0" baseline="-11904" sz="1050" spc="165">
                <a:latin typeface="Times New Roman"/>
                <a:cs typeface="Times New Roman"/>
              </a:rPr>
              <a:t>Mg</a:t>
            </a:r>
            <a:r>
              <a:rPr dirty="0" baseline="-11904" sz="1050" spc="165" b="0" i="1">
                <a:latin typeface="Calibri Light"/>
                <a:cs typeface="Calibri Light"/>
              </a:rPr>
              <a:t>−</a:t>
            </a:r>
            <a:r>
              <a:rPr dirty="0" baseline="-11904" sz="1050" spc="165">
                <a:latin typeface="Times New Roman"/>
                <a:cs typeface="Times New Roman"/>
              </a:rPr>
              <a:t>EDTA</a:t>
            </a:r>
            <a:r>
              <a:rPr dirty="0" baseline="-11904" sz="1050" spc="225">
                <a:latin typeface="Times New Roman"/>
                <a:cs typeface="Times New Roman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1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0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×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0">
                <a:latin typeface="Georgia"/>
                <a:cs typeface="Georgia"/>
              </a:rPr>
              <a:t>10</a:t>
            </a:r>
            <a:r>
              <a:rPr dirty="0" baseline="27777" sz="1050" spc="15">
                <a:latin typeface="Times New Roman"/>
                <a:cs typeface="Times New Roman"/>
              </a:rPr>
              <a:t>8</a:t>
            </a:r>
            <a:r>
              <a:rPr dirty="0" baseline="27777" sz="1050" spc="15" i="1">
                <a:latin typeface="Lucida Sans"/>
                <a:cs typeface="Lucida Sans"/>
              </a:rPr>
              <a:t>.</a:t>
            </a:r>
            <a:r>
              <a:rPr dirty="0" baseline="27777" sz="1050" spc="15">
                <a:latin typeface="Times New Roman"/>
                <a:cs typeface="Times New Roman"/>
              </a:rPr>
              <a:t>2</a:t>
            </a:r>
            <a:r>
              <a:rPr dirty="0" baseline="27777" sz="1050" spc="60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和</a:t>
            </a:r>
            <a:endParaRPr sz="105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295"/>
              </a:spcBef>
            </a:pPr>
            <a:r>
              <a:rPr dirty="0" sz="1000" spc="125" b="0" i="1">
                <a:latin typeface="Bookman Old Style"/>
                <a:cs typeface="Bookman Old Style"/>
              </a:rPr>
              <a:t>K</a:t>
            </a:r>
            <a:r>
              <a:rPr dirty="0" baseline="-11904" sz="1050" spc="187">
                <a:latin typeface="Times New Roman"/>
                <a:cs typeface="Times New Roman"/>
              </a:rPr>
              <a:t>Mg</a:t>
            </a:r>
            <a:r>
              <a:rPr dirty="0" baseline="-11904" sz="1050" spc="187" b="0" i="1">
                <a:latin typeface="Calibri Light"/>
                <a:cs typeface="Calibri Light"/>
              </a:rPr>
              <a:t>−</a:t>
            </a:r>
            <a:r>
              <a:rPr dirty="0" baseline="-11904" sz="1050" spc="187">
                <a:latin typeface="Times New Roman"/>
                <a:cs typeface="Times New Roman"/>
              </a:rPr>
              <a:t>EBT</a:t>
            </a:r>
            <a:r>
              <a:rPr dirty="0" baseline="-11904" sz="1050" spc="217">
                <a:latin typeface="Times New Roman"/>
                <a:cs typeface="Times New Roman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1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0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×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5">
                <a:latin typeface="Georgia"/>
                <a:cs typeface="Georgia"/>
              </a:rPr>
              <a:t>10</a:t>
            </a:r>
            <a:r>
              <a:rPr dirty="0" baseline="27777" sz="1050" spc="22">
                <a:latin typeface="Times New Roman"/>
                <a:cs typeface="Times New Roman"/>
              </a:rPr>
              <a:t>5</a:t>
            </a:r>
            <a:r>
              <a:rPr dirty="0" baseline="27777" sz="1050" spc="22" i="1">
                <a:latin typeface="Lucida Sans"/>
                <a:cs typeface="Lucida Sans"/>
              </a:rPr>
              <a:t>.</a:t>
            </a:r>
            <a:r>
              <a:rPr dirty="0" baseline="27777" sz="1050" spc="22">
                <a:latin typeface="Times New Roman"/>
                <a:cs typeface="Times New Roman"/>
              </a:rPr>
              <a:t>4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9997" y="263632"/>
            <a:ext cx="2533650" cy="0"/>
          </a:xfrm>
          <a:custGeom>
            <a:avLst/>
            <a:gdLst/>
            <a:ahLst/>
            <a:cxnLst/>
            <a:rect l="l" t="t" r="r" b="b"/>
            <a:pathLst>
              <a:path w="2533650" h="0">
                <a:moveTo>
                  <a:pt x="0" y="0"/>
                </a:moveTo>
                <a:lnTo>
                  <a:pt x="253327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29997" y="263632"/>
            <a:ext cx="2533650" cy="1997075"/>
          </a:xfrm>
          <a:custGeom>
            <a:avLst/>
            <a:gdLst/>
            <a:ahLst/>
            <a:cxnLst/>
            <a:rect l="l" t="t" r="r" b="b"/>
            <a:pathLst>
              <a:path w="2533650" h="1997075">
                <a:moveTo>
                  <a:pt x="0" y="1997048"/>
                </a:moveTo>
                <a:lnTo>
                  <a:pt x="2533278" y="1997048"/>
                </a:lnTo>
                <a:lnTo>
                  <a:pt x="253327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9997" y="263632"/>
            <a:ext cx="0" cy="1997075"/>
          </a:xfrm>
          <a:custGeom>
            <a:avLst/>
            <a:gdLst/>
            <a:ahLst/>
            <a:cxnLst/>
            <a:rect l="l" t="t" r="r" b="b"/>
            <a:pathLst>
              <a:path w="0" h="1997075">
                <a:moveTo>
                  <a:pt x="0" y="199704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29997" y="2260680"/>
            <a:ext cx="2533650" cy="0"/>
          </a:xfrm>
          <a:custGeom>
            <a:avLst/>
            <a:gdLst/>
            <a:ahLst/>
            <a:cxnLst/>
            <a:rect l="l" t="t" r="r" b="b"/>
            <a:pathLst>
              <a:path w="2533650" h="0">
                <a:moveTo>
                  <a:pt x="0" y="0"/>
                </a:moveTo>
                <a:lnTo>
                  <a:pt x="253327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29997" y="263632"/>
            <a:ext cx="0" cy="1997075"/>
          </a:xfrm>
          <a:custGeom>
            <a:avLst/>
            <a:gdLst/>
            <a:ahLst/>
            <a:cxnLst/>
            <a:rect l="l" t="t" r="r" b="b"/>
            <a:pathLst>
              <a:path w="0" h="1997075">
                <a:moveTo>
                  <a:pt x="0" y="199704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29997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29997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00288" y="2256954"/>
            <a:ext cx="59690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15">
                <a:latin typeface="Times New Roman"/>
                <a:cs typeface="Times New Roman"/>
              </a:rPr>
              <a:t>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83227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83227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36463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36463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89698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89698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42928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42928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96634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96634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49869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649869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03104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03104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56334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56334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09570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09570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63276" y="2235168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1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663276" y="26363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293993" y="2256954"/>
            <a:ext cx="2441575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15">
                <a:latin typeface="Times New Roman"/>
                <a:cs typeface="Times New Roman"/>
              </a:rPr>
              <a:t>0.001</a:t>
            </a:r>
            <a:r>
              <a:rPr dirty="0" sz="500" spc="155">
                <a:latin typeface="Times New Roman"/>
                <a:cs typeface="Times New Roman"/>
              </a:rPr>
              <a:t> </a:t>
            </a:r>
            <a:r>
              <a:rPr dirty="0" sz="500" spc="15">
                <a:latin typeface="Times New Roman"/>
                <a:cs typeface="Times New Roman"/>
              </a:rPr>
              <a:t>0.002</a:t>
            </a:r>
            <a:r>
              <a:rPr dirty="0" sz="500" spc="155">
                <a:latin typeface="Times New Roman"/>
                <a:cs typeface="Times New Roman"/>
              </a:rPr>
              <a:t> </a:t>
            </a:r>
            <a:r>
              <a:rPr dirty="0" sz="500" spc="15">
                <a:latin typeface="Times New Roman"/>
                <a:cs typeface="Times New Roman"/>
              </a:rPr>
              <a:t>0.003</a:t>
            </a:r>
            <a:r>
              <a:rPr dirty="0" sz="500" spc="155">
                <a:latin typeface="Times New Roman"/>
                <a:cs typeface="Times New Roman"/>
              </a:rPr>
              <a:t> </a:t>
            </a:r>
            <a:r>
              <a:rPr dirty="0" sz="500" spc="15">
                <a:latin typeface="Times New Roman"/>
                <a:cs typeface="Times New Roman"/>
              </a:rPr>
              <a:t>0.004</a:t>
            </a:r>
            <a:r>
              <a:rPr dirty="0" sz="500" spc="155">
                <a:latin typeface="Times New Roman"/>
                <a:cs typeface="Times New Roman"/>
              </a:rPr>
              <a:t> </a:t>
            </a:r>
            <a:r>
              <a:rPr dirty="0" sz="500" spc="15">
                <a:latin typeface="Times New Roman"/>
                <a:cs typeface="Times New Roman"/>
              </a:rPr>
              <a:t>0.005</a:t>
            </a:r>
            <a:r>
              <a:rPr dirty="0" sz="500" spc="155">
                <a:latin typeface="Times New Roman"/>
                <a:cs typeface="Times New Roman"/>
              </a:rPr>
              <a:t> </a:t>
            </a:r>
            <a:r>
              <a:rPr dirty="0" sz="500" spc="15">
                <a:latin typeface="Times New Roman"/>
                <a:cs typeface="Times New Roman"/>
              </a:rPr>
              <a:t>0.006</a:t>
            </a:r>
            <a:r>
              <a:rPr dirty="0" sz="500" spc="155">
                <a:latin typeface="Times New Roman"/>
                <a:cs typeface="Times New Roman"/>
              </a:rPr>
              <a:t> </a:t>
            </a:r>
            <a:r>
              <a:rPr dirty="0" sz="500" spc="15">
                <a:latin typeface="Times New Roman"/>
                <a:cs typeface="Times New Roman"/>
              </a:rPr>
              <a:t>0.007</a:t>
            </a:r>
            <a:r>
              <a:rPr dirty="0" sz="500" spc="155">
                <a:latin typeface="Times New Roman"/>
                <a:cs typeface="Times New Roman"/>
              </a:rPr>
              <a:t> </a:t>
            </a:r>
            <a:r>
              <a:rPr dirty="0" sz="500" spc="15">
                <a:latin typeface="Times New Roman"/>
                <a:cs typeface="Times New Roman"/>
              </a:rPr>
              <a:t>0.008</a:t>
            </a:r>
            <a:r>
              <a:rPr dirty="0" sz="500" spc="155">
                <a:latin typeface="Times New Roman"/>
                <a:cs typeface="Times New Roman"/>
              </a:rPr>
              <a:t> </a:t>
            </a:r>
            <a:r>
              <a:rPr dirty="0" sz="500" spc="15">
                <a:latin typeface="Times New Roman"/>
                <a:cs typeface="Times New Roman"/>
              </a:rPr>
              <a:t>0.009</a:t>
            </a:r>
            <a:r>
              <a:rPr dirty="0" sz="500" spc="35">
                <a:latin typeface="Times New Roman"/>
                <a:cs typeface="Times New Roman"/>
              </a:rPr>
              <a:t> </a:t>
            </a:r>
            <a:r>
              <a:rPr dirty="0" sz="500" spc="15">
                <a:latin typeface="Times New Roman"/>
                <a:cs typeface="Times New Roman"/>
              </a:rPr>
              <a:t>0.01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29997" y="226068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37763" y="226068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977450" y="2204040"/>
            <a:ext cx="149225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15">
                <a:latin typeface="Times New Roman"/>
                <a:cs typeface="Times New Roman"/>
              </a:rPr>
              <a:t>−0.5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29997" y="197531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37763" y="197531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29997" y="168995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37763" y="168995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29997" y="140460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37763" y="140460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129997" y="111923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637763" y="111923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129997" y="83387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37763" y="83387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129997" y="54851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37763" y="54851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129997" y="26363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37763" y="263632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1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77450" y="206991"/>
            <a:ext cx="149225" cy="1819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500" spc="10">
                <a:latin typeface="Times New Roman"/>
                <a:cs typeface="Times New Roman"/>
              </a:rPr>
              <a:t>0.2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500" spc="10">
                <a:latin typeface="Times New Roman"/>
                <a:cs typeface="Times New Roman"/>
              </a:rPr>
              <a:t>0.1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500" spc="15">
                <a:latin typeface="Times New Roman"/>
                <a:cs typeface="Times New Roman"/>
              </a:rPr>
              <a:t>0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500" spc="15">
                <a:latin typeface="Times New Roman"/>
                <a:cs typeface="Times New Roman"/>
              </a:rPr>
              <a:t>−0.1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500" spc="15">
                <a:latin typeface="Times New Roman"/>
                <a:cs typeface="Times New Roman"/>
              </a:rPr>
              <a:t>−0.2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500" spc="15">
                <a:latin typeface="Times New Roman"/>
                <a:cs typeface="Times New Roman"/>
              </a:rPr>
              <a:t>−0.3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500" spc="15">
                <a:latin typeface="Times New Roman"/>
                <a:cs typeface="Times New Roman"/>
              </a:rPr>
              <a:t>−0.4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29997" y="263632"/>
            <a:ext cx="2533650" cy="0"/>
          </a:xfrm>
          <a:custGeom>
            <a:avLst/>
            <a:gdLst/>
            <a:ahLst/>
            <a:cxnLst/>
            <a:rect l="l" t="t" r="r" b="b"/>
            <a:pathLst>
              <a:path w="2533650" h="0">
                <a:moveTo>
                  <a:pt x="0" y="0"/>
                </a:moveTo>
                <a:lnTo>
                  <a:pt x="253327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129997" y="263632"/>
            <a:ext cx="2533650" cy="1997075"/>
          </a:xfrm>
          <a:custGeom>
            <a:avLst/>
            <a:gdLst/>
            <a:ahLst/>
            <a:cxnLst/>
            <a:rect l="l" t="t" r="r" b="b"/>
            <a:pathLst>
              <a:path w="2533650" h="1997075">
                <a:moveTo>
                  <a:pt x="0" y="1997048"/>
                </a:moveTo>
                <a:lnTo>
                  <a:pt x="2533278" y="1997048"/>
                </a:lnTo>
                <a:lnTo>
                  <a:pt x="253327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29997" y="263632"/>
            <a:ext cx="0" cy="1997075"/>
          </a:xfrm>
          <a:custGeom>
            <a:avLst/>
            <a:gdLst/>
            <a:ahLst/>
            <a:cxnLst/>
            <a:rect l="l" t="t" r="r" b="b"/>
            <a:pathLst>
              <a:path w="0" h="1997075">
                <a:moveTo>
                  <a:pt x="0" y="199704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412404" y="1896421"/>
            <a:ext cx="251460" cy="141605"/>
          </a:xfrm>
          <a:custGeom>
            <a:avLst/>
            <a:gdLst/>
            <a:ahLst/>
            <a:cxnLst/>
            <a:rect l="l" t="t" r="r" b="b"/>
            <a:pathLst>
              <a:path w="251460" h="141605">
                <a:moveTo>
                  <a:pt x="0" y="0"/>
                </a:moveTo>
                <a:lnTo>
                  <a:pt x="2364" y="1417"/>
                </a:lnTo>
                <a:lnTo>
                  <a:pt x="43371" y="24381"/>
                </a:lnTo>
                <a:lnTo>
                  <a:pt x="84355" y="47396"/>
                </a:lnTo>
                <a:lnTo>
                  <a:pt x="125314" y="70457"/>
                </a:lnTo>
                <a:lnTo>
                  <a:pt x="166247" y="93556"/>
                </a:lnTo>
                <a:lnTo>
                  <a:pt x="207153" y="116686"/>
                </a:lnTo>
                <a:lnTo>
                  <a:pt x="248030" y="139841"/>
                </a:lnTo>
                <a:lnTo>
                  <a:pt x="250865" y="141258"/>
                </a:lnTo>
              </a:path>
            </a:pathLst>
          </a:custGeom>
          <a:ln w="56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161533" y="1754686"/>
            <a:ext cx="251460" cy="142240"/>
          </a:xfrm>
          <a:custGeom>
            <a:avLst/>
            <a:gdLst/>
            <a:ahLst/>
            <a:cxnLst/>
            <a:rect l="l" t="t" r="r" b="b"/>
            <a:pathLst>
              <a:path w="251460" h="142239">
                <a:moveTo>
                  <a:pt x="0" y="0"/>
                </a:moveTo>
                <a:lnTo>
                  <a:pt x="43267" y="24550"/>
                </a:lnTo>
                <a:lnTo>
                  <a:pt x="84190" y="47659"/>
                </a:lnTo>
                <a:lnTo>
                  <a:pt x="125129" y="70744"/>
                </a:lnTo>
                <a:lnTo>
                  <a:pt x="166084" y="93803"/>
                </a:lnTo>
                <a:lnTo>
                  <a:pt x="207051" y="116835"/>
                </a:lnTo>
                <a:lnTo>
                  <a:pt x="248030" y="139841"/>
                </a:lnTo>
                <a:lnTo>
                  <a:pt x="250865" y="141735"/>
                </a:lnTo>
              </a:path>
            </a:pathLst>
          </a:custGeom>
          <a:ln w="56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10662" y="1613421"/>
            <a:ext cx="251460" cy="141605"/>
          </a:xfrm>
          <a:custGeom>
            <a:avLst/>
            <a:gdLst/>
            <a:ahLst/>
            <a:cxnLst/>
            <a:rect l="l" t="t" r="r" b="b"/>
            <a:pathLst>
              <a:path w="251460" h="141605">
                <a:moveTo>
                  <a:pt x="0" y="0"/>
                </a:moveTo>
                <a:lnTo>
                  <a:pt x="2364" y="1417"/>
                </a:lnTo>
                <a:lnTo>
                  <a:pt x="43344" y="24425"/>
                </a:lnTo>
                <a:lnTo>
                  <a:pt x="84289" y="47488"/>
                </a:lnTo>
                <a:lnTo>
                  <a:pt x="125215" y="70585"/>
                </a:lnTo>
                <a:lnTo>
                  <a:pt x="166137" y="93692"/>
                </a:lnTo>
                <a:lnTo>
                  <a:pt x="207072" y="116787"/>
                </a:lnTo>
                <a:lnTo>
                  <a:pt x="248036" y="139847"/>
                </a:lnTo>
                <a:lnTo>
                  <a:pt x="250871" y="141264"/>
                </a:lnTo>
              </a:path>
            </a:pathLst>
          </a:custGeom>
          <a:ln w="56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659791" y="1472157"/>
            <a:ext cx="251460" cy="141605"/>
          </a:xfrm>
          <a:custGeom>
            <a:avLst/>
            <a:gdLst/>
            <a:ahLst/>
            <a:cxnLst/>
            <a:rect l="l" t="t" r="r" b="b"/>
            <a:pathLst>
              <a:path w="251460" h="141605">
                <a:moveTo>
                  <a:pt x="0" y="0"/>
                </a:moveTo>
                <a:lnTo>
                  <a:pt x="2834" y="1417"/>
                </a:lnTo>
                <a:lnTo>
                  <a:pt x="43790" y="24488"/>
                </a:lnTo>
                <a:lnTo>
                  <a:pt x="84726" y="47580"/>
                </a:lnTo>
                <a:lnTo>
                  <a:pt x="125653" y="70679"/>
                </a:lnTo>
                <a:lnTo>
                  <a:pt x="166585" y="93766"/>
                </a:lnTo>
                <a:lnTo>
                  <a:pt x="207532" y="116828"/>
                </a:lnTo>
                <a:lnTo>
                  <a:pt x="248507" y="139847"/>
                </a:lnTo>
                <a:lnTo>
                  <a:pt x="250871" y="141264"/>
                </a:lnTo>
              </a:path>
            </a:pathLst>
          </a:custGeom>
          <a:ln w="56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408919" y="1330421"/>
            <a:ext cx="251460" cy="142240"/>
          </a:xfrm>
          <a:custGeom>
            <a:avLst/>
            <a:gdLst/>
            <a:ahLst/>
            <a:cxnLst/>
            <a:rect l="l" t="t" r="r" b="b"/>
            <a:pathLst>
              <a:path w="251460" h="142240">
                <a:moveTo>
                  <a:pt x="0" y="0"/>
                </a:moveTo>
                <a:lnTo>
                  <a:pt x="2834" y="1417"/>
                </a:lnTo>
                <a:lnTo>
                  <a:pt x="43644" y="24725"/>
                </a:lnTo>
                <a:lnTo>
                  <a:pt x="84586" y="47890"/>
                </a:lnTo>
                <a:lnTo>
                  <a:pt x="125602" y="70971"/>
                </a:lnTo>
                <a:lnTo>
                  <a:pt x="166634" y="94029"/>
                </a:lnTo>
                <a:lnTo>
                  <a:pt x="207622" y="117125"/>
                </a:lnTo>
                <a:lnTo>
                  <a:pt x="248507" y="140317"/>
                </a:lnTo>
                <a:lnTo>
                  <a:pt x="250871" y="141735"/>
                </a:lnTo>
              </a:path>
            </a:pathLst>
          </a:custGeom>
          <a:ln w="56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158048" y="1189157"/>
            <a:ext cx="251460" cy="141605"/>
          </a:xfrm>
          <a:custGeom>
            <a:avLst/>
            <a:gdLst/>
            <a:ahLst/>
            <a:cxnLst/>
            <a:rect l="l" t="t" r="r" b="b"/>
            <a:pathLst>
              <a:path w="251460" h="141605">
                <a:moveTo>
                  <a:pt x="0" y="0"/>
                </a:moveTo>
                <a:lnTo>
                  <a:pt x="2834" y="1417"/>
                </a:lnTo>
                <a:lnTo>
                  <a:pt x="43734" y="24576"/>
                </a:lnTo>
                <a:lnTo>
                  <a:pt x="84645" y="47711"/>
                </a:lnTo>
                <a:lnTo>
                  <a:pt x="125573" y="70815"/>
                </a:lnTo>
                <a:lnTo>
                  <a:pt x="166522" y="93877"/>
                </a:lnTo>
                <a:lnTo>
                  <a:pt x="207498" y="116891"/>
                </a:lnTo>
                <a:lnTo>
                  <a:pt x="248507" y="139847"/>
                </a:lnTo>
                <a:lnTo>
                  <a:pt x="250871" y="141264"/>
                </a:lnTo>
              </a:path>
            </a:pathLst>
          </a:custGeom>
          <a:ln w="56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907647" y="1047892"/>
            <a:ext cx="250825" cy="141605"/>
          </a:xfrm>
          <a:custGeom>
            <a:avLst/>
            <a:gdLst/>
            <a:ahLst/>
            <a:cxnLst/>
            <a:rect l="l" t="t" r="r" b="b"/>
            <a:pathLst>
              <a:path w="250825" h="141605">
                <a:moveTo>
                  <a:pt x="0" y="0"/>
                </a:moveTo>
                <a:lnTo>
                  <a:pt x="2364" y="1417"/>
                </a:lnTo>
                <a:lnTo>
                  <a:pt x="43320" y="24467"/>
                </a:lnTo>
                <a:lnTo>
                  <a:pt x="84258" y="47551"/>
                </a:lnTo>
                <a:lnTo>
                  <a:pt x="125187" y="70651"/>
                </a:lnTo>
                <a:lnTo>
                  <a:pt x="166119" y="93746"/>
                </a:lnTo>
                <a:lnTo>
                  <a:pt x="207065" y="116818"/>
                </a:lnTo>
                <a:lnTo>
                  <a:pt x="248036" y="139847"/>
                </a:lnTo>
                <a:lnTo>
                  <a:pt x="250400" y="141264"/>
                </a:lnTo>
              </a:path>
            </a:pathLst>
          </a:custGeom>
          <a:ln w="56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656776" y="906627"/>
            <a:ext cx="251460" cy="141605"/>
          </a:xfrm>
          <a:custGeom>
            <a:avLst/>
            <a:gdLst/>
            <a:ahLst/>
            <a:cxnLst/>
            <a:rect l="l" t="t" r="r" b="b"/>
            <a:pathLst>
              <a:path w="251460" h="141605">
                <a:moveTo>
                  <a:pt x="0" y="0"/>
                </a:moveTo>
                <a:lnTo>
                  <a:pt x="2364" y="1417"/>
                </a:lnTo>
                <a:lnTo>
                  <a:pt x="43368" y="24370"/>
                </a:lnTo>
                <a:lnTo>
                  <a:pt x="84335" y="47398"/>
                </a:lnTo>
                <a:lnTo>
                  <a:pt x="125274" y="70479"/>
                </a:lnTo>
                <a:lnTo>
                  <a:pt x="166197" y="93594"/>
                </a:lnTo>
                <a:lnTo>
                  <a:pt x="207114" y="116723"/>
                </a:lnTo>
                <a:lnTo>
                  <a:pt x="248036" y="139847"/>
                </a:lnTo>
                <a:lnTo>
                  <a:pt x="250871" y="141264"/>
                </a:lnTo>
              </a:path>
            </a:pathLst>
          </a:custGeom>
          <a:ln w="56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405905" y="764892"/>
            <a:ext cx="251460" cy="142240"/>
          </a:xfrm>
          <a:custGeom>
            <a:avLst/>
            <a:gdLst/>
            <a:ahLst/>
            <a:cxnLst/>
            <a:rect l="l" t="t" r="r" b="b"/>
            <a:pathLst>
              <a:path w="251460" h="142240">
                <a:moveTo>
                  <a:pt x="0" y="0"/>
                </a:moveTo>
                <a:lnTo>
                  <a:pt x="2364" y="1417"/>
                </a:lnTo>
                <a:lnTo>
                  <a:pt x="43230" y="24629"/>
                </a:lnTo>
                <a:lnTo>
                  <a:pt x="84210" y="47733"/>
                </a:lnTo>
                <a:lnTo>
                  <a:pt x="125242" y="70791"/>
                </a:lnTo>
                <a:lnTo>
                  <a:pt x="166265" y="93866"/>
                </a:lnTo>
                <a:lnTo>
                  <a:pt x="207217" y="117020"/>
                </a:lnTo>
                <a:lnTo>
                  <a:pt x="248036" y="140317"/>
                </a:lnTo>
                <a:lnTo>
                  <a:pt x="250871" y="141735"/>
                </a:lnTo>
              </a:path>
            </a:pathLst>
          </a:custGeom>
          <a:ln w="56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55034" y="623628"/>
            <a:ext cx="251460" cy="141605"/>
          </a:xfrm>
          <a:custGeom>
            <a:avLst/>
            <a:gdLst/>
            <a:ahLst/>
            <a:cxnLst/>
            <a:rect l="l" t="t" r="r" b="b"/>
            <a:pathLst>
              <a:path w="251459" h="141604">
                <a:moveTo>
                  <a:pt x="0" y="0"/>
                </a:moveTo>
                <a:lnTo>
                  <a:pt x="2364" y="1417"/>
                </a:lnTo>
                <a:lnTo>
                  <a:pt x="43375" y="24462"/>
                </a:lnTo>
                <a:lnTo>
                  <a:pt x="84365" y="47589"/>
                </a:lnTo>
                <a:lnTo>
                  <a:pt x="125352" y="70744"/>
                </a:lnTo>
                <a:lnTo>
                  <a:pt x="166358" y="93875"/>
                </a:lnTo>
                <a:lnTo>
                  <a:pt x="207403" y="116927"/>
                </a:lnTo>
                <a:lnTo>
                  <a:pt x="248507" y="139847"/>
                </a:lnTo>
                <a:lnTo>
                  <a:pt x="250865" y="141264"/>
                </a:lnTo>
              </a:path>
            </a:pathLst>
          </a:custGeom>
          <a:ln w="56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242200" y="2324988"/>
            <a:ext cx="253365" cy="120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5">
                <a:latin typeface="Times New Roman"/>
                <a:cs typeface="Times New Roman"/>
              </a:rPr>
              <a:t>C</a:t>
            </a:r>
            <a:r>
              <a:rPr dirty="0" sz="600" spc="30">
                <a:latin typeface="Times New Roman"/>
                <a:cs typeface="Times New Roman"/>
              </a:rPr>
              <a:t> </a:t>
            </a:r>
            <a:r>
              <a:rPr dirty="0" sz="600" spc="5">
                <a:latin typeface="Times New Roman"/>
                <a:cs typeface="Times New Roman"/>
              </a:rPr>
              <a:t>/c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295115" y="2381681"/>
            <a:ext cx="255904" cy="100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Times New Roman"/>
                <a:cs typeface="Times New Roman"/>
              </a:rPr>
              <a:t>EBT</a:t>
            </a:r>
            <a:r>
              <a:rPr dirty="0" sz="500" spc="2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M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62139" y="988724"/>
            <a:ext cx="115570" cy="543560"/>
          </a:xfrm>
          <a:prstGeom prst="rect">
            <a:avLst/>
          </a:prstGeom>
        </p:spPr>
        <p:txBody>
          <a:bodyPr wrap="square" lIns="0" tIns="88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600" spc="10">
                <a:latin typeface="Times New Roman"/>
                <a:cs typeface="Times New Roman"/>
              </a:rPr>
              <a:t>Relative</a:t>
            </a:r>
            <a:r>
              <a:rPr dirty="0" sz="600" spc="-45">
                <a:latin typeface="Times New Roman"/>
                <a:cs typeface="Times New Roman"/>
              </a:rPr>
              <a:t> </a:t>
            </a:r>
            <a:r>
              <a:rPr dirty="0" sz="600" spc="10">
                <a:latin typeface="Times New Roman"/>
                <a:cs typeface="Times New Roman"/>
              </a:rPr>
              <a:t>Error%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0444" y="2586103"/>
            <a:ext cx="3493135" cy="42037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2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5">
                <a:solidFill>
                  <a:srgbClr val="3333B2"/>
                </a:solidFill>
                <a:latin typeface="Georgia"/>
                <a:cs typeface="Georgia"/>
              </a:rPr>
              <a:t>17:</a:t>
            </a:r>
            <a:r>
              <a:rPr dirty="0" sz="1000" spc="18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55">
                <a:latin typeface="Georgia"/>
                <a:cs typeface="Georgia"/>
              </a:rPr>
              <a:t>EBT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引</a:t>
            </a:r>
            <a:r>
              <a:rPr dirty="0" sz="1050" spc="-10">
                <a:latin typeface="Arial Unicode MS"/>
                <a:cs typeface="Arial Unicode MS"/>
              </a:rPr>
              <a:t>入</a:t>
            </a:r>
            <a:r>
              <a:rPr dirty="0" sz="1050" spc="-5">
                <a:latin typeface="Arial Unicode MS"/>
                <a:cs typeface="Arial Unicode MS"/>
              </a:rPr>
              <a:t>的相对</a:t>
            </a:r>
            <a:r>
              <a:rPr dirty="0" sz="1050" spc="-10">
                <a:latin typeface="Arial Unicode MS"/>
                <a:cs typeface="Arial Unicode MS"/>
              </a:rPr>
              <a:t>误</a:t>
            </a:r>
            <a:r>
              <a:rPr dirty="0" sz="1050" spc="-20">
                <a:latin typeface="Arial Unicode MS"/>
                <a:cs typeface="Arial Unicode MS"/>
              </a:rPr>
              <a:t>差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设滴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终点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金</a:t>
            </a:r>
            <a:r>
              <a:rPr dirty="0" sz="1050" spc="-5">
                <a:latin typeface="Arial Unicode MS"/>
                <a:cs typeface="Arial Unicode MS"/>
              </a:rPr>
              <a:t>属离子浓度</a:t>
            </a:r>
            <a:endParaRPr sz="105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50">
                <a:latin typeface="Georgia"/>
                <a:cs typeface="Georgia"/>
              </a:rPr>
              <a:t>10</a:t>
            </a:r>
            <a:r>
              <a:rPr dirty="0" baseline="27777" sz="1050" spc="75" b="0" i="1">
                <a:latin typeface="Calibri Light"/>
                <a:cs typeface="Calibri Light"/>
              </a:rPr>
              <a:t>−</a:t>
            </a:r>
            <a:r>
              <a:rPr dirty="0" baseline="27777" sz="1050" spc="75">
                <a:latin typeface="Times New Roman"/>
                <a:cs typeface="Times New Roman"/>
              </a:rPr>
              <a:t>5</a:t>
            </a:r>
            <a:r>
              <a:rPr dirty="0" baseline="27777" sz="1050" spc="75" i="1">
                <a:latin typeface="Lucida Sans"/>
                <a:cs typeface="Lucida Sans"/>
              </a:rPr>
              <a:t>.</a:t>
            </a:r>
            <a:r>
              <a:rPr dirty="0" baseline="27777" sz="1050" spc="75">
                <a:latin typeface="Times New Roman"/>
                <a:cs typeface="Times New Roman"/>
              </a:rPr>
              <a:t>4</a:t>
            </a:r>
            <a:r>
              <a:rPr dirty="0" baseline="27777" sz="1050" spc="52">
                <a:latin typeface="Times New Roman"/>
                <a:cs typeface="Times New Roman"/>
              </a:rPr>
              <a:t> </a:t>
            </a:r>
            <a:r>
              <a:rPr dirty="0" sz="1000" spc="-15">
                <a:latin typeface="Georgia"/>
                <a:cs typeface="Georgia"/>
              </a:rPr>
              <a:t>mol/L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656714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FFFFFF"/>
                </a:solidFill>
                <a:latin typeface="Georgia"/>
                <a:cs typeface="Georgia"/>
              </a:rPr>
              <a:t>5.7.4</a:t>
            </a: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配</a:t>
            </a:r>
            <a:r>
              <a:rPr dirty="0" sz="1050" spc="-10">
                <a:solidFill>
                  <a:srgbClr val="FFFFFF"/>
                </a:solidFill>
              </a:rPr>
              <a:t>位</a:t>
            </a:r>
            <a:r>
              <a:rPr dirty="0" sz="1050" spc="-5">
                <a:solidFill>
                  <a:srgbClr val="FFFFFF"/>
                </a:solidFill>
              </a:rPr>
              <a:t>滴定中酸度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控制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53263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201799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1553" y="1092758"/>
            <a:ext cx="4061460" cy="12579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酸度会在两个方面对滴定造成影</a:t>
            </a:r>
            <a:r>
              <a:rPr dirty="0" sz="1200" spc="-9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酸度的增大会使游</a:t>
            </a:r>
            <a:r>
              <a:rPr dirty="0" sz="1200" spc="175">
                <a:latin typeface="Arial Unicode MS"/>
                <a:cs typeface="Arial Unicode MS"/>
              </a:rPr>
              <a:t>离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的浓度降</a:t>
            </a:r>
            <a:r>
              <a:rPr dirty="0" sz="1200" spc="-80">
                <a:latin typeface="Arial Unicode MS"/>
                <a:cs typeface="Arial Unicode MS"/>
              </a:rPr>
              <a:t>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导致其配位能力减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65">
                <a:latin typeface="Arial Unicode MS"/>
                <a:cs typeface="Arial Unicode MS"/>
              </a:rPr>
              <a:t>弱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酸度的降低会导致金属离子的水</a:t>
            </a:r>
            <a:r>
              <a:rPr dirty="0" sz="1200" spc="-80">
                <a:latin typeface="Arial Unicode MS"/>
                <a:cs typeface="Arial Unicode MS"/>
              </a:rPr>
              <a:t>解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甚至形成沉</a:t>
            </a:r>
            <a:r>
              <a:rPr dirty="0" sz="1200" spc="-80">
                <a:latin typeface="Arial Unicode MS"/>
                <a:cs typeface="Arial Unicode MS"/>
              </a:rPr>
              <a:t>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从而影响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配位滴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639483"/>
            <a:ext cx="19570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要实现准确滴</a:t>
            </a:r>
            <a:r>
              <a:rPr dirty="0" spc="-80"/>
              <a:t>定</a:t>
            </a:r>
            <a:r>
              <a:rPr dirty="0" spc="-185"/>
              <a:t>，</a:t>
            </a:r>
            <a:r>
              <a:rPr dirty="0" spc="-5"/>
              <a:t>必须保</a:t>
            </a:r>
            <a:r>
              <a:rPr dirty="0" spc="-90"/>
              <a:t>证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1015644"/>
            <a:ext cx="4360545" cy="12801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46355">
              <a:lnSpc>
                <a:spcPct val="100000"/>
              </a:lnSpc>
              <a:spcBef>
                <a:spcPts val="90"/>
              </a:spcBef>
            </a:pPr>
            <a:r>
              <a:rPr dirty="0" sz="1100" spc="25">
                <a:latin typeface="Georgia"/>
                <a:cs typeface="Georgia"/>
              </a:rPr>
              <a:t>lg(</a:t>
            </a: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(M)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41666" sz="900" spc="37">
                <a:latin typeface="Lucida Sans Unicode"/>
                <a:cs typeface="Lucida Sans Unicode"/>
              </a:rPr>
              <a:t>t</a:t>
            </a:r>
            <a:r>
              <a:rPr dirty="0" sz="1100" spc="25">
                <a:latin typeface="Georgia"/>
                <a:cs typeface="Georgia"/>
              </a:rPr>
              <a:t>(MY))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45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Georgia"/>
              <a:cs typeface="Georgia"/>
            </a:endParaRPr>
          </a:p>
          <a:p>
            <a:pPr marL="341630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Unicode MS"/>
                <a:cs typeface="Arial Unicode MS"/>
              </a:rPr>
              <a:t>从上式出发得到的酸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称为滴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的最高酸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其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值可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根据下式计</a:t>
            </a:r>
            <a:r>
              <a:rPr dirty="0" sz="1200" spc="-90">
                <a:latin typeface="Arial Unicode MS"/>
                <a:cs typeface="Arial Unicode MS"/>
              </a:rPr>
              <a:t>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46355">
              <a:lnSpc>
                <a:spcPct val="100000"/>
              </a:lnSpc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10" b="0" i="1">
                <a:latin typeface="Bookman Old Style"/>
                <a:cs typeface="Bookman Old Style"/>
              </a:rPr>
              <a:t>α</a:t>
            </a:r>
            <a:r>
              <a:rPr dirty="0" sz="1100" spc="10">
                <a:latin typeface="Georgia"/>
                <a:cs typeface="Georgia"/>
              </a:rPr>
              <a:t>(Y(H))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(MY)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4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14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801" y="396722"/>
            <a:ext cx="2449195" cy="576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另一方</a:t>
            </a:r>
            <a:r>
              <a:rPr dirty="0" sz="1200" spc="-80">
                <a:latin typeface="Arial Unicode MS"/>
                <a:cs typeface="Arial Unicode MS"/>
              </a:rPr>
              <a:t>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1369695">
              <a:lnSpc>
                <a:spcPts val="990"/>
              </a:lnSpc>
            </a:pPr>
            <a:r>
              <a:rPr dirty="0" sz="1100" spc="-30">
                <a:latin typeface="Georgia"/>
                <a:cs typeface="Georgia"/>
              </a:rPr>
              <a:t>[M][OH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baseline="55555" sz="900" spc="-44" i="1">
                <a:latin typeface="Arial"/>
                <a:cs typeface="Arial"/>
              </a:rPr>
              <a:t>n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  <a:p>
            <a:pPr algn="r" marR="43180">
              <a:lnSpc>
                <a:spcPts val="390"/>
              </a:lnSpc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13" y="1122476"/>
            <a:ext cx="4718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5655" y="1433436"/>
            <a:ext cx="5403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[OH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5807" y="1441894"/>
            <a:ext cx="4222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695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500" spc="160" i="1">
                <a:latin typeface="Arial"/>
                <a:cs typeface="Arial"/>
              </a:rPr>
              <a:t>n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5682" y="1188796"/>
            <a:ext cx="1517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Arial Unicode MS"/>
                <a:cs typeface="Arial Unicode MS"/>
              </a:rPr>
              <a:t>j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36926" y="133727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5" h="0">
                <a:moveTo>
                  <a:pt x="0" y="0"/>
                </a:moveTo>
                <a:lnTo>
                  <a:pt x="24270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39415" y="1339710"/>
            <a:ext cx="143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7081" y="1423111"/>
            <a:ext cx="1206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sng" sz="600" spc="1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43606" y="1528470"/>
            <a:ext cx="229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4101" y="1792706"/>
            <a:ext cx="34385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对应于</a:t>
            </a:r>
            <a:r>
              <a:rPr dirty="0" sz="1200" spc="175">
                <a:latin typeface="Arial Unicode MS"/>
                <a:cs typeface="Arial Unicode MS"/>
              </a:rPr>
              <a:t>此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值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称为滴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的最低酸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100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396722"/>
            <a:ext cx="119761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另一方</a:t>
            </a:r>
            <a:r>
              <a:rPr dirty="0" spc="-80"/>
              <a:t>面</a:t>
            </a:r>
            <a:r>
              <a:rPr dirty="0" spc="-185"/>
              <a:t>，</a:t>
            </a:r>
            <a:r>
              <a:rPr dirty="0" spc="-5"/>
              <a:t>因</a:t>
            </a:r>
            <a:r>
              <a:rPr dirty="0" spc="-90"/>
              <a:t>为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48967" y="772883"/>
            <a:ext cx="110426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99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[M][OH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baseline="55555" sz="900" spc="-44" i="1">
                <a:latin typeface="Arial"/>
                <a:cs typeface="Arial"/>
              </a:rPr>
              <a:t>n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  <a:p>
            <a:pPr algn="r" marR="30480">
              <a:lnSpc>
                <a:spcPts val="390"/>
              </a:lnSpc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13" y="1122476"/>
            <a:ext cx="4718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5655" y="1433436"/>
            <a:ext cx="5403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[OH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5807" y="1441894"/>
            <a:ext cx="4222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695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500" spc="160" i="1">
                <a:latin typeface="Arial"/>
                <a:cs typeface="Arial"/>
              </a:rPr>
              <a:t>n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5682" y="1188796"/>
            <a:ext cx="1517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Arial Unicode MS"/>
                <a:cs typeface="Arial Unicode MS"/>
              </a:rPr>
              <a:t>j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36926" y="133727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5" h="0">
                <a:moveTo>
                  <a:pt x="0" y="0"/>
                </a:moveTo>
                <a:lnTo>
                  <a:pt x="24270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39415" y="1339710"/>
            <a:ext cx="143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7081" y="1423111"/>
            <a:ext cx="1206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sng" sz="600" spc="1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43606" y="1528470"/>
            <a:ext cx="229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144" y="1792706"/>
            <a:ext cx="4382135" cy="10172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对应于</a:t>
            </a:r>
            <a:r>
              <a:rPr dirty="0" sz="1200" spc="175">
                <a:latin typeface="Arial Unicode MS"/>
                <a:cs typeface="Arial Unicode MS"/>
              </a:rPr>
              <a:t>此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值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称为滴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的最低酸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25400" marR="17780" indent="303530">
              <a:lnSpc>
                <a:spcPct val="122300"/>
              </a:lnSpc>
              <a:spcBef>
                <a:spcPts val="1090"/>
              </a:spcBef>
            </a:pPr>
            <a:r>
              <a:rPr dirty="0" sz="1200" spc="-5">
                <a:latin typeface="Arial Unicode MS"/>
                <a:cs typeface="Arial Unicode MS"/>
              </a:rPr>
              <a:t>要说明的</a:t>
            </a:r>
            <a:r>
              <a:rPr dirty="0" sz="1200" spc="-80">
                <a:latin typeface="Arial Unicode MS"/>
                <a:cs typeface="Arial Unicode MS"/>
              </a:rPr>
              <a:t>是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按上式求得的最低酸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可能与实际情况有出 </a:t>
            </a:r>
            <a:r>
              <a:rPr dirty="0" sz="1200" spc="-80">
                <a:latin typeface="Arial Unicode MS"/>
                <a:cs typeface="Arial Unicode MS"/>
              </a:rPr>
              <a:t>入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这是因为在计算过程中没有考虑生成可溶性的羟基配合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 </a:t>
            </a:r>
            <a:r>
              <a:rPr dirty="0" sz="1200" spc="-5">
                <a:latin typeface="Arial Unicode MS"/>
                <a:cs typeface="Arial Unicode MS"/>
              </a:rPr>
              <a:t>没有考虑离子强度以及其它因素的影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100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33743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5.8</a:t>
            </a:r>
            <a:r>
              <a:rPr dirty="0" sz="140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混合离子的选择性滴定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153" y="625056"/>
            <a:ext cx="3897629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latin typeface="Arial Unicode MS"/>
                <a:cs typeface="Arial Unicode MS"/>
              </a:rPr>
              <a:t>假</a:t>
            </a:r>
            <a:r>
              <a:rPr dirty="0" sz="1050" spc="-5">
                <a:latin typeface="Arial Unicode MS"/>
                <a:cs typeface="Arial Unicode MS"/>
              </a:rPr>
              <a:t>定体系中</a:t>
            </a:r>
            <a:r>
              <a:rPr dirty="0" sz="1050" spc="-10">
                <a:latin typeface="Arial Unicode MS"/>
                <a:cs typeface="Arial Unicode MS"/>
              </a:rPr>
              <a:t>仅</a:t>
            </a:r>
            <a:r>
              <a:rPr dirty="0" sz="1050" spc="-5">
                <a:latin typeface="Arial Unicode MS"/>
                <a:cs typeface="Arial Unicode MS"/>
              </a:rPr>
              <a:t>存在两</a:t>
            </a:r>
            <a:r>
              <a:rPr dirty="0" sz="1050" spc="-10">
                <a:latin typeface="Arial Unicode MS"/>
                <a:cs typeface="Arial Unicode MS"/>
              </a:rPr>
              <a:t>种</a:t>
            </a:r>
            <a:r>
              <a:rPr dirty="0" sz="1050" spc="-5">
                <a:latin typeface="Arial Unicode MS"/>
                <a:cs typeface="Arial Unicode MS"/>
              </a:rPr>
              <a:t>金属离</a:t>
            </a:r>
            <a:r>
              <a:rPr dirty="0" sz="1050" spc="-70">
                <a:latin typeface="Arial Unicode MS"/>
                <a:cs typeface="Arial Unicode MS"/>
              </a:rPr>
              <a:t>子</a:t>
            </a:r>
            <a:r>
              <a:rPr dirty="0" sz="1050" spc="-50">
                <a:latin typeface="Arial Unicode MS"/>
                <a:cs typeface="Arial Unicode MS"/>
              </a:rPr>
              <a:t>，</a:t>
            </a:r>
            <a:r>
              <a:rPr dirty="0" sz="1000" spc="-50">
                <a:latin typeface="Georgia"/>
                <a:cs typeface="Georgia"/>
              </a:rPr>
              <a:t>M</a:t>
            </a:r>
            <a:r>
              <a:rPr dirty="0" baseline="-11904" sz="1050" spc="-75">
                <a:latin typeface="Times New Roman"/>
                <a:cs typeface="Times New Roman"/>
              </a:rPr>
              <a:t>1</a:t>
            </a:r>
            <a:r>
              <a:rPr dirty="0" baseline="-11904" sz="1050" spc="37">
                <a:latin typeface="Times New Roman"/>
                <a:cs typeface="Times New Roman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和</a:t>
            </a:r>
            <a:r>
              <a:rPr dirty="0" sz="1000" spc="-55">
                <a:latin typeface="Georgia"/>
                <a:cs typeface="Georgia"/>
              </a:rPr>
              <a:t>M</a:t>
            </a:r>
            <a:r>
              <a:rPr dirty="0" baseline="-11904" sz="1050" spc="-82">
                <a:latin typeface="Times New Roman"/>
                <a:cs typeface="Times New Roman"/>
              </a:rPr>
              <a:t>2</a:t>
            </a:r>
            <a:r>
              <a:rPr dirty="0" sz="1050" spc="-5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根</a:t>
            </a:r>
            <a:r>
              <a:rPr dirty="0" sz="1050" spc="-225">
                <a:latin typeface="Arial Unicode MS"/>
                <a:cs typeface="Arial Unicode MS"/>
              </a:rPr>
              <a:t>据</a:t>
            </a:r>
            <a:r>
              <a:rPr dirty="0" sz="1050" spc="-90">
                <a:latin typeface="Arial Unicode MS"/>
                <a:cs typeface="Arial Unicode MS"/>
              </a:rPr>
              <a:t>（</a:t>
            </a:r>
            <a:r>
              <a:rPr dirty="0" sz="1000" spc="-90">
                <a:latin typeface="Georgia"/>
                <a:cs typeface="Georgia"/>
                <a:hlinkClick r:id="rId2" action="ppaction://hlinksldjump"/>
              </a:rPr>
              <a:t>24</a:t>
            </a:r>
            <a:r>
              <a:rPr dirty="0" sz="1050" spc="-90">
                <a:latin typeface="Arial Unicode MS"/>
                <a:cs typeface="Arial Unicode MS"/>
              </a:rPr>
              <a:t>）</a:t>
            </a:r>
            <a:r>
              <a:rPr dirty="0" sz="1050" spc="-70">
                <a:latin typeface="Arial Unicode MS"/>
                <a:cs typeface="Arial Unicode MS"/>
              </a:rPr>
              <a:t>式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可</a:t>
            </a:r>
            <a:r>
              <a:rPr dirty="0" sz="1050" spc="-80">
                <a:latin typeface="Arial Unicode MS"/>
                <a:cs typeface="Arial Unicode MS"/>
              </a:rPr>
              <a:t>得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8795" y="106564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3314" y="982243"/>
            <a:ext cx="4286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[M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79128" y="971918"/>
            <a:ext cx="78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9904" y="888517"/>
            <a:ext cx="14897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0865" algn="l"/>
                <a:tab pos="147637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8838" y="116067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9904" y="1077277"/>
            <a:ext cx="14897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sz="1100" spc="65">
                <a:latin typeface="Georgia"/>
                <a:cs typeface="Georgia"/>
              </a:rPr>
              <a:t>(M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0456" y="982243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Georgia"/>
                <a:cs typeface="Georgia"/>
              </a:rPr>
              <a:t>(49)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8795" y="154477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3314" y="1461376"/>
            <a:ext cx="4286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[M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79128" y="1451051"/>
            <a:ext cx="78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79904" y="1367650"/>
            <a:ext cx="14897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0865" algn="l"/>
                <a:tab pos="147637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98838" y="163982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79904" y="1556410"/>
            <a:ext cx="14897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sz="1100" spc="65">
                <a:latin typeface="Georgia"/>
                <a:cs typeface="Georgia"/>
              </a:rPr>
              <a:t>(M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0456" y="146137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(50)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444" y="1726465"/>
            <a:ext cx="4347210" cy="47307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303530">
              <a:lnSpc>
                <a:spcPct val="100000"/>
              </a:lnSpc>
              <a:spcBef>
                <a:spcPts val="600"/>
              </a:spcBef>
            </a:pPr>
            <a:r>
              <a:rPr dirty="0" sz="1050" spc="-10">
                <a:latin typeface="Arial Unicode MS"/>
                <a:cs typeface="Arial Unicode MS"/>
              </a:rPr>
              <a:t>如</a:t>
            </a:r>
            <a:r>
              <a:rPr dirty="0" sz="1050" spc="160">
                <a:latin typeface="Arial Unicode MS"/>
                <a:cs typeface="Arial Unicode MS"/>
              </a:rPr>
              <a:t>果</a:t>
            </a:r>
            <a:r>
              <a:rPr dirty="0" sz="1000" spc="25" b="0" i="1">
                <a:latin typeface="Bookman Old Style"/>
                <a:cs typeface="Bookman Old Style"/>
              </a:rPr>
              <a:t>c</a:t>
            </a:r>
            <a:r>
              <a:rPr dirty="0" sz="1000" spc="25">
                <a:latin typeface="Georgia"/>
                <a:cs typeface="Georgia"/>
              </a:rPr>
              <a:t>(Y)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20">
                <a:latin typeface="Georgia"/>
                <a:cs typeface="Georgia"/>
              </a:rPr>
              <a:t> </a:t>
            </a:r>
            <a:r>
              <a:rPr dirty="0" sz="1000" spc="-30" b="0" i="1">
                <a:latin typeface="Bookman Old Style"/>
                <a:cs typeface="Bookman Old Style"/>
              </a:rPr>
              <a:t>c</a:t>
            </a:r>
            <a:r>
              <a:rPr dirty="0" sz="1000" spc="-30">
                <a:latin typeface="Georgia"/>
                <a:cs typeface="Georgia"/>
              </a:rPr>
              <a:t>(M</a:t>
            </a:r>
            <a:r>
              <a:rPr dirty="0" baseline="-11904" sz="1050" spc="-44">
                <a:latin typeface="Times New Roman"/>
                <a:cs typeface="Times New Roman"/>
              </a:rPr>
              <a:t>1</a:t>
            </a:r>
            <a:r>
              <a:rPr dirty="0" sz="1000" spc="-30">
                <a:latin typeface="Georgia"/>
                <a:cs typeface="Georgia"/>
              </a:rPr>
              <a:t>)</a:t>
            </a:r>
            <a:r>
              <a:rPr dirty="0" sz="1050" spc="-30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则</a:t>
            </a:r>
            <a:r>
              <a:rPr dirty="0" sz="1050" spc="160">
                <a:latin typeface="Arial Unicode MS"/>
                <a:cs typeface="Arial Unicode MS"/>
              </a:rPr>
              <a:t>在</a:t>
            </a:r>
            <a:r>
              <a:rPr dirty="0" sz="1000" spc="10">
                <a:latin typeface="Georgia"/>
                <a:cs typeface="Georgia"/>
              </a:rPr>
              <a:t>M</a:t>
            </a:r>
            <a:r>
              <a:rPr dirty="0" baseline="-11904" sz="1050" spc="15">
                <a:latin typeface="Times New Roman"/>
                <a:cs typeface="Times New Roman"/>
              </a:rPr>
              <a:t>1</a:t>
            </a:r>
            <a:r>
              <a:rPr dirty="0" baseline="-11904" sz="1050" spc="44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的化学</a:t>
            </a:r>
            <a:r>
              <a:rPr dirty="0" sz="1050" spc="-10">
                <a:latin typeface="Arial Unicode MS"/>
                <a:cs typeface="Arial Unicode MS"/>
              </a:rPr>
              <a:t>计</a:t>
            </a:r>
            <a:r>
              <a:rPr dirty="0" sz="1050" spc="-5">
                <a:latin typeface="Arial Unicode MS"/>
                <a:cs typeface="Arial Unicode MS"/>
              </a:rPr>
              <a:t>量点附</a:t>
            </a:r>
            <a:r>
              <a:rPr dirty="0" sz="1050" spc="-70">
                <a:latin typeface="Arial Unicode MS"/>
                <a:cs typeface="Arial Unicode MS"/>
              </a:rPr>
              <a:t>近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160">
                <a:latin typeface="Arial Unicode MS"/>
                <a:cs typeface="Arial Unicode MS"/>
              </a:rPr>
              <a:t>有</a:t>
            </a:r>
            <a:r>
              <a:rPr dirty="0" sz="1000" spc="-25" b="0" i="1">
                <a:latin typeface="Bookman Old Style"/>
                <a:cs typeface="Bookman Old Style"/>
              </a:rPr>
              <a:t>ρ</a:t>
            </a:r>
            <a:r>
              <a:rPr dirty="0" sz="1000" spc="-35" b="0" i="1">
                <a:latin typeface="Bookman Old Style"/>
                <a:cs typeface="Bookman Old Style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≈</a:t>
            </a:r>
            <a:r>
              <a:rPr dirty="0" sz="1000" spc="-50">
                <a:latin typeface="Lucida Sans Unicode"/>
                <a:cs typeface="Lucida Sans Unicode"/>
              </a:rPr>
              <a:t> </a:t>
            </a:r>
            <a:r>
              <a:rPr dirty="0" sz="1000" spc="50">
                <a:latin typeface="Georgia"/>
                <a:cs typeface="Georgia"/>
              </a:rPr>
              <a:t>1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上述两式可</a:t>
            </a:r>
            <a:endParaRPr sz="105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500"/>
              </a:spcBef>
            </a:pPr>
            <a:r>
              <a:rPr dirty="0" sz="1050" spc="-5">
                <a:latin typeface="Arial Unicode MS"/>
                <a:cs typeface="Arial Unicode MS"/>
              </a:rPr>
              <a:t>以整</a:t>
            </a:r>
            <a:r>
              <a:rPr dirty="0" sz="1050" spc="-10">
                <a:latin typeface="Arial Unicode MS"/>
                <a:cs typeface="Arial Unicode MS"/>
              </a:rPr>
              <a:t>理</a:t>
            </a:r>
            <a:r>
              <a:rPr dirty="0" sz="1050" spc="-80">
                <a:latin typeface="Arial Unicode MS"/>
                <a:cs typeface="Arial Unicode MS"/>
              </a:rPr>
              <a:t>得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11475" y="2488234"/>
            <a:ext cx="938530" cy="0"/>
          </a:xfrm>
          <a:custGeom>
            <a:avLst/>
            <a:gdLst/>
            <a:ahLst/>
            <a:cxnLst/>
            <a:rect l="l" t="t" r="r" b="b"/>
            <a:pathLst>
              <a:path w="938529" h="0">
                <a:moveTo>
                  <a:pt x="0" y="0"/>
                </a:moveTo>
                <a:lnTo>
                  <a:pt x="93844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210456" y="2371623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(51)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711475" y="2968282"/>
            <a:ext cx="938530" cy="0"/>
          </a:xfrm>
          <a:custGeom>
            <a:avLst/>
            <a:gdLst/>
            <a:ahLst/>
            <a:cxnLst/>
            <a:rect l="l" t="t" r="r" b="b"/>
            <a:pathLst>
              <a:path w="938529" h="0">
                <a:moveTo>
                  <a:pt x="0" y="0"/>
                </a:moveTo>
                <a:lnTo>
                  <a:pt x="93844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69188" y="2255390"/>
            <a:ext cx="2857500" cy="88328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265"/>
              </a:spcBef>
              <a:tabLst>
                <a:tab pos="377825" algn="l"/>
                <a:tab pos="923290" algn="l"/>
                <a:tab pos="227647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[M</a:t>
            </a:r>
            <a:r>
              <a:rPr dirty="0" u="sng" baseline="-13888" sz="900" spc="-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	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2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[M</a:t>
            </a:r>
            <a:r>
              <a:rPr dirty="0" u="sng" baseline="-13888" sz="900" spc="-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   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	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88900">
              <a:lnSpc>
                <a:spcPct val="100000"/>
              </a:lnSpc>
              <a:spcBef>
                <a:spcPts val="170"/>
              </a:spcBef>
              <a:tabLst>
                <a:tab pos="1138555" algn="l"/>
                <a:tab pos="1842135" algn="l"/>
              </a:tabLst>
            </a:pP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</a:t>
            </a:r>
            <a:r>
              <a:rPr dirty="0" baseline="-13888" sz="900" spc="-22">
                <a:latin typeface="Times New Roman"/>
                <a:cs typeface="Times New Roman"/>
              </a:rPr>
              <a:t>1</a:t>
            </a:r>
            <a:r>
              <a:rPr dirty="0" sz="1100" spc="-15">
                <a:latin typeface="Georgia"/>
                <a:cs typeface="Georgia"/>
              </a:rPr>
              <a:t>)</a:t>
            </a:r>
            <a:r>
              <a:rPr dirty="0" sz="1100" spc="-15" b="0" i="1">
                <a:latin typeface="Bookman Old Style"/>
                <a:cs typeface="Bookman Old Style"/>
              </a:rPr>
              <a:t>/</a:t>
            </a: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8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	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(M</a:t>
            </a:r>
            <a:r>
              <a:rPr dirty="0" baseline="-13888" sz="900" spc="44">
                <a:latin typeface="Times New Roman"/>
                <a:cs typeface="Times New Roman"/>
              </a:rPr>
              <a:t>1</a:t>
            </a:r>
            <a:r>
              <a:rPr dirty="0" sz="1100" spc="30">
                <a:latin typeface="Georgia"/>
                <a:cs typeface="Georgia"/>
              </a:rPr>
              <a:t>)</a:t>
            </a:r>
            <a:r>
              <a:rPr dirty="0" baseline="-13888" sz="900" spc="44">
                <a:latin typeface="Times New Roman"/>
                <a:cs typeface="Times New Roman"/>
              </a:rPr>
              <a:t>sp1	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0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K</a:t>
            </a:r>
            <a:r>
              <a:rPr dirty="0" sz="1100" spc="40">
                <a:latin typeface="Georgia"/>
                <a:cs typeface="Georgia"/>
              </a:rPr>
              <a:t>(M</a:t>
            </a:r>
            <a:r>
              <a:rPr dirty="0" baseline="-13888" sz="900" spc="60">
                <a:latin typeface="Times New Roman"/>
                <a:cs typeface="Times New Roman"/>
              </a:rPr>
              <a:t>1</a:t>
            </a:r>
            <a:r>
              <a:rPr dirty="0" sz="1100" spc="40">
                <a:latin typeface="Georgia"/>
                <a:cs typeface="Georgia"/>
              </a:rPr>
              <a:t>Y)[Y]</a:t>
            </a:r>
            <a:endParaRPr sz="1100">
              <a:latin typeface="Georgia"/>
              <a:cs typeface="Georgia"/>
            </a:endParaRPr>
          </a:p>
          <a:p>
            <a:pPr marL="88900">
              <a:lnSpc>
                <a:spcPct val="100000"/>
              </a:lnSpc>
              <a:spcBef>
                <a:spcPts val="969"/>
              </a:spcBef>
              <a:tabLst>
                <a:tab pos="377825" algn="l"/>
                <a:tab pos="923290" algn="l"/>
                <a:tab pos="227647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[M</a:t>
            </a:r>
            <a:r>
              <a:rPr dirty="0" u="sng" baseline="-13888" sz="900" spc="-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	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2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[M</a:t>
            </a:r>
            <a:r>
              <a:rPr dirty="0" u="sng" baseline="-13888" sz="900" spc="-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   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	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88900">
              <a:lnSpc>
                <a:spcPct val="100000"/>
              </a:lnSpc>
              <a:spcBef>
                <a:spcPts val="170"/>
              </a:spcBef>
              <a:tabLst>
                <a:tab pos="1138555" algn="l"/>
                <a:tab pos="1842135" algn="l"/>
              </a:tabLst>
            </a:pP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)</a:t>
            </a:r>
            <a:r>
              <a:rPr dirty="0" sz="1100" spc="-15" b="0" i="1">
                <a:latin typeface="Bookman Old Style"/>
                <a:cs typeface="Bookman Old Style"/>
              </a:rPr>
              <a:t>/</a:t>
            </a: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8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	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(M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)</a:t>
            </a:r>
            <a:r>
              <a:rPr dirty="0" baseline="-13888" sz="900" spc="44">
                <a:latin typeface="Times New Roman"/>
                <a:cs typeface="Times New Roman"/>
              </a:rPr>
              <a:t>sp1	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0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K</a:t>
            </a:r>
            <a:r>
              <a:rPr dirty="0" sz="1100" spc="40">
                <a:latin typeface="Georgia"/>
                <a:cs typeface="Georgia"/>
              </a:rPr>
              <a:t>(M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Y)[Y]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10456" y="2851670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Georgia"/>
                <a:cs typeface="Georgia"/>
              </a:rPr>
              <a:t>(52)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5793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5.8.1</a:t>
            </a:r>
            <a:r>
              <a:rPr dirty="0" sz="1000" spc="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别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滴定的判据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539521"/>
            <a:ext cx="4291965" cy="473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要实现分别滴</a:t>
            </a:r>
            <a:r>
              <a:rPr dirty="0" spc="-80"/>
              <a:t>定</a:t>
            </a:r>
            <a:r>
              <a:rPr dirty="0" spc="-185"/>
              <a:t>，</a:t>
            </a:r>
            <a:r>
              <a:rPr dirty="0" spc="-5"/>
              <a:t>则要求</a:t>
            </a:r>
            <a:r>
              <a:rPr dirty="0" spc="175"/>
              <a:t>在</a:t>
            </a:r>
            <a:r>
              <a:rPr dirty="0" sz="1100" spc="20">
                <a:latin typeface="Georgia"/>
                <a:cs typeface="Georgia"/>
              </a:rPr>
              <a:t>M</a:t>
            </a:r>
            <a:r>
              <a:rPr dirty="0" baseline="-13888" sz="900" spc="30">
                <a:latin typeface="Times New Roman"/>
                <a:cs typeface="Times New Roman"/>
              </a:rPr>
              <a:t>1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200" spc="-5"/>
              <a:t>的化学计量点附</a:t>
            </a:r>
            <a:r>
              <a:rPr dirty="0" sz="1200" spc="175"/>
              <a:t>近</a:t>
            </a:r>
            <a:r>
              <a:rPr dirty="0" sz="1100" spc="20">
                <a:latin typeface="Georgia"/>
                <a:cs typeface="Georgia"/>
              </a:rPr>
              <a:t>M</a:t>
            </a:r>
            <a:r>
              <a:rPr dirty="0" baseline="-13888" sz="900" spc="30">
                <a:latin typeface="Times New Roman"/>
                <a:cs typeface="Times New Roman"/>
              </a:rPr>
              <a:t>1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200" spc="-5"/>
              <a:t>基本滴 定完</a:t>
            </a:r>
            <a:r>
              <a:rPr dirty="0" sz="1200" spc="-80"/>
              <a:t>全</a:t>
            </a:r>
            <a:r>
              <a:rPr dirty="0" sz="1200" spc="-185"/>
              <a:t>，</a:t>
            </a:r>
            <a:r>
              <a:rPr dirty="0" sz="1200" spc="175"/>
              <a:t>而</a:t>
            </a:r>
            <a:r>
              <a:rPr dirty="0" sz="1100" spc="20">
                <a:latin typeface="Georgia"/>
                <a:cs typeface="Georgia"/>
              </a:rPr>
              <a:t>M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/>
              <a:t>基本未被滴</a:t>
            </a:r>
            <a:r>
              <a:rPr dirty="0" sz="1200" spc="-80"/>
              <a:t>定</a:t>
            </a:r>
            <a:r>
              <a:rPr dirty="0" sz="1200" spc="-185"/>
              <a:t>，</a:t>
            </a:r>
            <a:r>
              <a:rPr dirty="0" sz="1200" spc="-90"/>
              <a:t>即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1000" y="1312634"/>
            <a:ext cx="488950" cy="0"/>
          </a:xfrm>
          <a:custGeom>
            <a:avLst/>
            <a:gdLst/>
            <a:ahLst/>
            <a:cxnLst/>
            <a:rect l="l" t="t" r="r" b="b"/>
            <a:pathLst>
              <a:path w="488950" h="0">
                <a:moveTo>
                  <a:pt x="0" y="0"/>
                </a:moveTo>
                <a:lnTo>
                  <a:pt x="48850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88300" y="1291056"/>
            <a:ext cx="3733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(M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9143" y="1374457"/>
            <a:ext cx="2673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240">
                <a:latin typeface="Times New Roman"/>
                <a:cs typeface="Times New Roman"/>
              </a:rPr>
              <a:t> </a:t>
            </a:r>
            <a:r>
              <a:rPr dirty="0" sz="600" spc="75">
                <a:latin typeface="Times New Roman"/>
                <a:cs typeface="Times New Roman"/>
              </a:rPr>
              <a:t>sp1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6113" y="1102296"/>
            <a:ext cx="15760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267460" algn="l"/>
              </a:tabLst>
            </a:pPr>
            <a:r>
              <a:rPr dirty="0" sz="1100" spc="-35">
                <a:latin typeface="Georgia"/>
                <a:cs typeface="Georgia"/>
              </a:rPr>
              <a:t>[M</a:t>
            </a:r>
            <a:r>
              <a:rPr dirty="0" baseline="-13888" sz="900" spc="-52">
                <a:latin typeface="Times New Roman"/>
                <a:cs typeface="Times New Roman"/>
              </a:rPr>
              <a:t>1</a:t>
            </a:r>
            <a:r>
              <a:rPr dirty="0" sz="1100" spc="-35">
                <a:latin typeface="Georgia"/>
                <a:cs typeface="Georgia"/>
              </a:rPr>
              <a:t>]	[M</a:t>
            </a:r>
            <a:r>
              <a:rPr dirty="0" baseline="-13888" sz="900" spc="-52">
                <a:latin typeface="Times New Roman"/>
                <a:cs typeface="Times New Roman"/>
              </a:rPr>
              <a:t>2</a:t>
            </a:r>
            <a:r>
              <a:rPr dirty="0" sz="1100" spc="-3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18194" y="1312634"/>
            <a:ext cx="488950" cy="0"/>
          </a:xfrm>
          <a:custGeom>
            <a:avLst/>
            <a:gdLst/>
            <a:ahLst/>
            <a:cxnLst/>
            <a:rect l="l" t="t" r="r" b="b"/>
            <a:pathLst>
              <a:path w="488950" h="0">
                <a:moveTo>
                  <a:pt x="0" y="0"/>
                </a:moveTo>
                <a:lnTo>
                  <a:pt x="48850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705076" y="1182738"/>
            <a:ext cx="10991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-30">
                <a:latin typeface="Lucida Sans Unicode"/>
                <a:cs typeface="Lucida Sans Unicode"/>
              </a:rPr>
              <a:t>≤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001 </a:t>
            </a:r>
            <a:r>
              <a:rPr dirty="0" sz="1200" spc="-5">
                <a:latin typeface="Arial Unicode MS"/>
                <a:cs typeface="Arial Unicode MS"/>
              </a:rPr>
              <a:t>和 </a:t>
            </a:r>
            <a:r>
              <a:rPr dirty="0" baseline="-37878" sz="1650" spc="-37" b="0" i="1">
                <a:latin typeface="Bookman Old Style"/>
                <a:cs typeface="Bookman Old Style"/>
              </a:rPr>
              <a:t>c</a:t>
            </a:r>
            <a:r>
              <a:rPr dirty="0" baseline="-37878" sz="1650" spc="-37">
                <a:latin typeface="Georgia"/>
                <a:cs typeface="Georgia"/>
              </a:rPr>
              <a:t>(M</a:t>
            </a:r>
            <a:r>
              <a:rPr dirty="0" baseline="-37878" sz="1650" spc="15">
                <a:latin typeface="Georgia"/>
                <a:cs typeface="Georgia"/>
              </a:rPr>
              <a:t> )</a:t>
            </a:r>
            <a:endParaRPr baseline="-37878" sz="16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46324" y="1374457"/>
            <a:ext cx="2673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40">
                <a:latin typeface="Times New Roman"/>
                <a:cs typeface="Times New Roman"/>
              </a:rPr>
              <a:t> </a:t>
            </a:r>
            <a:r>
              <a:rPr dirty="0" sz="600" spc="75">
                <a:latin typeface="Times New Roman"/>
                <a:cs typeface="Times New Roman"/>
              </a:rPr>
              <a:t>sp1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47657" y="1196022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999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501" y="1567319"/>
            <a:ext cx="4718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6511" y="1710575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84629" y="1920913"/>
            <a:ext cx="938530" cy="0"/>
          </a:xfrm>
          <a:custGeom>
            <a:avLst/>
            <a:gdLst/>
            <a:ahLst/>
            <a:cxnLst/>
            <a:rect l="l" t="t" r="r" b="b"/>
            <a:pathLst>
              <a:path w="938530" h="0">
                <a:moveTo>
                  <a:pt x="0" y="0"/>
                </a:moveTo>
                <a:lnTo>
                  <a:pt x="93844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118982" y="198274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6529" y="1899335"/>
            <a:ext cx="1530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sz="1100" spc="65">
                <a:latin typeface="Georgia"/>
                <a:cs typeface="Georgia"/>
              </a:rPr>
              <a:t>(M </a:t>
            </a:r>
            <a:r>
              <a:rPr dirty="0" sz="1100" spc="15">
                <a:latin typeface="Georgia"/>
                <a:cs typeface="Georgia"/>
              </a:rPr>
              <a:t>Y)[Y] </a:t>
            </a:r>
            <a:r>
              <a:rPr dirty="0" baseline="37878" sz="1650" spc="-44">
                <a:latin typeface="Lucida Sans Unicode"/>
                <a:cs typeface="Lucida Sans Unicode"/>
              </a:rPr>
              <a:t>≤</a:t>
            </a:r>
            <a:r>
              <a:rPr dirty="0" baseline="37878" sz="1650" spc="-240">
                <a:latin typeface="Lucida Sans Unicode"/>
                <a:cs typeface="Lucida Sans Unicode"/>
              </a:rPr>
              <a:t> </a:t>
            </a:r>
            <a:r>
              <a:rPr dirty="0" baseline="37878" sz="1650" spc="-104">
                <a:latin typeface="Georgia"/>
                <a:cs typeface="Georgia"/>
              </a:rPr>
              <a:t>0</a:t>
            </a:r>
            <a:r>
              <a:rPr dirty="0" baseline="37878" sz="1650" spc="-104" b="0" i="1">
                <a:latin typeface="Bookman Old Style"/>
                <a:cs typeface="Bookman Old Style"/>
              </a:rPr>
              <a:t>.</a:t>
            </a:r>
            <a:r>
              <a:rPr dirty="0" baseline="37878" sz="1650" spc="-104">
                <a:latin typeface="Georgia"/>
                <a:cs typeface="Georgia"/>
              </a:rPr>
              <a:t>001</a:t>
            </a:r>
            <a:endParaRPr baseline="37878" sz="16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0411" y="1804301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(53)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06511" y="2118156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84629" y="2328494"/>
            <a:ext cx="938530" cy="0"/>
          </a:xfrm>
          <a:custGeom>
            <a:avLst/>
            <a:gdLst/>
            <a:ahLst/>
            <a:cxnLst/>
            <a:rect l="l" t="t" r="r" b="b"/>
            <a:pathLst>
              <a:path w="938530" h="0">
                <a:moveTo>
                  <a:pt x="0" y="0"/>
                </a:moveTo>
                <a:lnTo>
                  <a:pt x="93844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118982" y="239033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46529" y="2306916"/>
            <a:ext cx="1530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sz="1100" spc="65">
                <a:latin typeface="Georgia"/>
                <a:cs typeface="Georgia"/>
              </a:rPr>
              <a:t>(M </a:t>
            </a:r>
            <a:r>
              <a:rPr dirty="0" sz="1100" spc="15">
                <a:latin typeface="Georgia"/>
                <a:cs typeface="Georgia"/>
              </a:rPr>
              <a:t>Y)[Y] </a:t>
            </a:r>
            <a:r>
              <a:rPr dirty="0" baseline="37878" sz="1650" spc="-44">
                <a:latin typeface="Lucida Sans Unicode"/>
                <a:cs typeface="Lucida Sans Unicode"/>
              </a:rPr>
              <a:t>≥</a:t>
            </a:r>
            <a:r>
              <a:rPr dirty="0" baseline="37878" sz="1650" spc="-232">
                <a:latin typeface="Lucida Sans Unicode"/>
                <a:cs typeface="Lucida Sans Unicode"/>
              </a:rPr>
              <a:t> </a:t>
            </a:r>
            <a:r>
              <a:rPr dirty="0" baseline="37878" sz="1650" spc="-120">
                <a:latin typeface="Georgia"/>
                <a:cs typeface="Georgia"/>
              </a:rPr>
              <a:t>0</a:t>
            </a:r>
            <a:r>
              <a:rPr dirty="0" baseline="37878" sz="1650" spc="-120" b="0" i="1">
                <a:latin typeface="Bookman Old Style"/>
                <a:cs typeface="Bookman Old Style"/>
              </a:rPr>
              <a:t>.</a:t>
            </a:r>
            <a:r>
              <a:rPr dirty="0" baseline="37878" sz="1650" spc="-120">
                <a:latin typeface="Georgia"/>
                <a:cs typeface="Georgia"/>
              </a:rPr>
              <a:t>999</a:t>
            </a:r>
            <a:endParaRPr baseline="37878" sz="165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10411" y="221188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Georgia"/>
                <a:cs typeface="Georgia"/>
              </a:rPr>
              <a:t>(54)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9501" y="2536126"/>
            <a:ext cx="17602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60">
                <a:latin typeface="Arial Unicode MS"/>
                <a:cs typeface="Arial Unicode MS"/>
              </a:rPr>
              <a:t>从</a:t>
            </a:r>
            <a:r>
              <a:rPr dirty="0" sz="1200" spc="-90">
                <a:latin typeface="Arial Unicode MS"/>
                <a:cs typeface="Arial Unicode MS"/>
              </a:rPr>
              <a:t>（</a:t>
            </a:r>
            <a:r>
              <a:rPr dirty="0" sz="1100" spc="-90">
                <a:latin typeface="Georgia"/>
                <a:cs typeface="Georgia"/>
                <a:hlinkClick r:id="rId2" action="ppaction://hlinksldjump"/>
              </a:rPr>
              <a:t>53</a:t>
            </a:r>
            <a:r>
              <a:rPr dirty="0" sz="1200" spc="-9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260">
                <a:latin typeface="Arial Unicode MS"/>
                <a:cs typeface="Arial Unicode MS"/>
              </a:rPr>
              <a:t>和</a:t>
            </a:r>
            <a:r>
              <a:rPr dirty="0" sz="1200" spc="-200">
                <a:latin typeface="Arial Unicode MS"/>
                <a:cs typeface="Arial Unicode MS"/>
              </a:rPr>
              <a:t>（</a:t>
            </a:r>
            <a:r>
              <a:rPr dirty="0" sz="1100" spc="-200">
                <a:latin typeface="Georgia"/>
                <a:cs typeface="Georgia"/>
                <a:hlinkClick r:id="rId2" action="ppaction://hlinksldjump"/>
              </a:rPr>
              <a:t>54</a:t>
            </a:r>
            <a:r>
              <a:rPr dirty="0" sz="1200" spc="-200">
                <a:latin typeface="Arial Unicode MS"/>
                <a:cs typeface="Arial Unicode MS"/>
              </a:rPr>
              <a:t>），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743" y="283016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8544" y="315186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9344" y="3139160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20310" y="2880728"/>
            <a:ext cx="50749" cy="271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7743" y="2874591"/>
            <a:ext cx="4432935" cy="328295"/>
          </a:xfrm>
          <a:custGeom>
            <a:avLst/>
            <a:gdLst/>
            <a:ahLst/>
            <a:cxnLst/>
            <a:rect l="l" t="t" r="r" b="b"/>
            <a:pathLst>
              <a:path w="4432935" h="328294">
                <a:moveTo>
                  <a:pt x="4432566" y="0"/>
                </a:moveTo>
                <a:lnTo>
                  <a:pt x="0" y="0"/>
                </a:lnTo>
                <a:lnTo>
                  <a:pt x="0" y="277268"/>
                </a:lnTo>
                <a:lnTo>
                  <a:pt x="4008" y="296993"/>
                </a:lnTo>
                <a:lnTo>
                  <a:pt x="14922" y="313146"/>
                </a:lnTo>
                <a:lnTo>
                  <a:pt x="31075" y="324060"/>
                </a:lnTo>
                <a:lnTo>
                  <a:pt x="50800" y="328069"/>
                </a:lnTo>
                <a:lnTo>
                  <a:pt x="4381765" y="328069"/>
                </a:lnTo>
                <a:lnTo>
                  <a:pt x="4401490" y="324060"/>
                </a:lnTo>
                <a:lnTo>
                  <a:pt x="4417643" y="313146"/>
                </a:lnTo>
                <a:lnTo>
                  <a:pt x="4428558" y="296993"/>
                </a:lnTo>
                <a:lnTo>
                  <a:pt x="4432566" y="27726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520310" y="2918829"/>
            <a:ext cx="0" cy="252095"/>
          </a:xfrm>
          <a:custGeom>
            <a:avLst/>
            <a:gdLst/>
            <a:ahLst/>
            <a:cxnLst/>
            <a:rect l="l" t="t" r="r" b="b"/>
            <a:pathLst>
              <a:path w="0" h="252094">
                <a:moveTo>
                  <a:pt x="0" y="2520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520310" y="290612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20310" y="289342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20310" y="288072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517954" y="2972346"/>
            <a:ext cx="15957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(M</a:t>
            </a:r>
            <a:r>
              <a:rPr dirty="0" baseline="-13888" sz="900" spc="89">
                <a:latin typeface="Times New Roman"/>
                <a:cs typeface="Times New Roman"/>
              </a:rPr>
              <a:t>1</a:t>
            </a:r>
            <a:r>
              <a:rPr dirty="0" sz="1100" spc="60">
                <a:latin typeface="Georgia"/>
                <a:cs typeface="Georgia"/>
              </a:rPr>
              <a:t>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(M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10448" y="297234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(55)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4941" y="309117"/>
            <a:ext cx="2361565" cy="0"/>
          </a:xfrm>
          <a:custGeom>
            <a:avLst/>
            <a:gdLst/>
            <a:ahLst/>
            <a:cxnLst/>
            <a:rect l="l" t="t" r="r" b="b"/>
            <a:pathLst>
              <a:path w="2361565" h="0">
                <a:moveTo>
                  <a:pt x="0" y="0"/>
                </a:moveTo>
                <a:lnTo>
                  <a:pt x="2361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74941" y="2170527"/>
            <a:ext cx="2361565" cy="0"/>
          </a:xfrm>
          <a:custGeom>
            <a:avLst/>
            <a:gdLst/>
            <a:ahLst/>
            <a:cxnLst/>
            <a:rect l="l" t="t" r="r" b="b"/>
            <a:pathLst>
              <a:path w="2361565" h="0">
                <a:moveTo>
                  <a:pt x="0" y="0"/>
                </a:moveTo>
                <a:lnTo>
                  <a:pt x="2361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36160" y="309117"/>
            <a:ext cx="0" cy="1861820"/>
          </a:xfrm>
          <a:custGeom>
            <a:avLst/>
            <a:gdLst/>
            <a:ahLst/>
            <a:cxnLst/>
            <a:rect l="l" t="t" r="r" b="b"/>
            <a:pathLst>
              <a:path w="0" h="1861820">
                <a:moveTo>
                  <a:pt x="0" y="18614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74941" y="309117"/>
            <a:ext cx="0" cy="1861820"/>
          </a:xfrm>
          <a:custGeom>
            <a:avLst/>
            <a:gdLst/>
            <a:ahLst/>
            <a:cxnLst/>
            <a:rect l="l" t="t" r="r" b="b"/>
            <a:pathLst>
              <a:path w="0" h="1861820">
                <a:moveTo>
                  <a:pt x="0" y="18614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74941" y="2170527"/>
            <a:ext cx="2361565" cy="0"/>
          </a:xfrm>
          <a:custGeom>
            <a:avLst/>
            <a:gdLst/>
            <a:ahLst/>
            <a:cxnLst/>
            <a:rect l="l" t="t" r="r" b="b"/>
            <a:pathLst>
              <a:path w="2361565" h="0">
                <a:moveTo>
                  <a:pt x="0" y="0"/>
                </a:moveTo>
                <a:lnTo>
                  <a:pt x="2361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74941" y="309117"/>
            <a:ext cx="0" cy="1861820"/>
          </a:xfrm>
          <a:custGeom>
            <a:avLst/>
            <a:gdLst/>
            <a:ahLst/>
            <a:cxnLst/>
            <a:rect l="l" t="t" r="r" b="b"/>
            <a:pathLst>
              <a:path w="0" h="1861820">
                <a:moveTo>
                  <a:pt x="0" y="18614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74941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74941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43744" y="2164871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69982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69982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11044" y="2164871"/>
            <a:ext cx="11811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latin typeface="Times New Roman"/>
                <a:cs typeface="Times New Roman"/>
              </a:rPr>
              <a:t>0.5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65022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65022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33829" y="2164871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60068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60068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901129" y="2164871"/>
            <a:ext cx="11811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latin typeface="Times New Roman"/>
                <a:cs typeface="Times New Roman"/>
              </a:rPr>
              <a:t>1.5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55548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55548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50594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50594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491654" y="2164871"/>
            <a:ext cx="11811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latin typeface="Times New Roman"/>
                <a:cs typeface="Times New Roman"/>
              </a:rPr>
              <a:t>2.5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45635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45635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814439" y="2164871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3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40675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40675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081739" y="2164871"/>
            <a:ext cx="11811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0">
                <a:latin typeface="Times New Roman"/>
                <a:cs typeface="Times New Roman"/>
              </a:rPr>
              <a:t>3.5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36160" y="2146747"/>
            <a:ext cx="0" cy="24130"/>
          </a:xfrm>
          <a:custGeom>
            <a:avLst/>
            <a:gdLst/>
            <a:ahLst/>
            <a:cxnLst/>
            <a:rect l="l" t="t" r="r" b="b"/>
            <a:pathLst>
              <a:path w="0" h="24130">
                <a:moveTo>
                  <a:pt x="0" y="2377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436160" y="309117"/>
            <a:ext cx="0" cy="23495"/>
          </a:xfrm>
          <a:custGeom>
            <a:avLst/>
            <a:gdLst/>
            <a:ahLst/>
            <a:cxnLst/>
            <a:rect l="l" t="t" r="r" b="b"/>
            <a:pathLst>
              <a:path w="0" h="23495">
                <a:moveTo>
                  <a:pt x="0" y="0"/>
                </a:moveTo>
                <a:lnTo>
                  <a:pt x="0" y="233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404965" y="2164871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4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74941" y="2170527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12380" y="2170527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009836" y="2110266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2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74941" y="1951227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412380" y="1951227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009836" y="1890965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4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74941" y="1732365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412380" y="1732365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009836" y="1672106"/>
            <a:ext cx="6286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6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74941" y="1513503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412380" y="1513503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74941" y="1294203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412380" y="1294203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74941" y="1075347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12380" y="1075347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074941" y="856485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412380" y="856485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074941" y="637185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412380" y="637185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074941" y="418323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 h="0">
                <a:moveTo>
                  <a:pt x="0" y="0"/>
                </a:moveTo>
                <a:lnTo>
                  <a:pt x="233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412380" y="418323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 h="0">
                <a:moveTo>
                  <a:pt x="2377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972846" y="358066"/>
            <a:ext cx="99695" cy="12096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18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550" spc="15">
                <a:latin typeface="Times New Roman"/>
                <a:cs typeface="Times New Roman"/>
              </a:rPr>
              <a:t>16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550" spc="15">
                <a:latin typeface="Times New Roman"/>
                <a:cs typeface="Times New Roman"/>
              </a:rPr>
              <a:t>14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550" spc="15">
                <a:latin typeface="Times New Roman"/>
                <a:cs typeface="Times New Roman"/>
              </a:rPr>
              <a:t>12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550" spc="15">
                <a:latin typeface="Times New Roman"/>
                <a:cs typeface="Times New Roman"/>
              </a:rPr>
              <a:t>10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375"/>
              </a:spcBef>
            </a:pPr>
            <a:r>
              <a:rPr dirty="0" sz="550" spc="15">
                <a:latin typeface="Times New Roman"/>
                <a:cs typeface="Times New Roman"/>
              </a:rPr>
              <a:t>8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074941" y="309117"/>
            <a:ext cx="2361565" cy="0"/>
          </a:xfrm>
          <a:custGeom>
            <a:avLst/>
            <a:gdLst/>
            <a:ahLst/>
            <a:cxnLst/>
            <a:rect l="l" t="t" r="r" b="b"/>
            <a:pathLst>
              <a:path w="2361565" h="0">
                <a:moveTo>
                  <a:pt x="0" y="0"/>
                </a:moveTo>
                <a:lnTo>
                  <a:pt x="2361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74941" y="2170527"/>
            <a:ext cx="2361565" cy="0"/>
          </a:xfrm>
          <a:custGeom>
            <a:avLst/>
            <a:gdLst/>
            <a:ahLst/>
            <a:cxnLst/>
            <a:rect l="l" t="t" r="r" b="b"/>
            <a:pathLst>
              <a:path w="2361565" h="0">
                <a:moveTo>
                  <a:pt x="0" y="0"/>
                </a:moveTo>
                <a:lnTo>
                  <a:pt x="236121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436160" y="309117"/>
            <a:ext cx="0" cy="1861820"/>
          </a:xfrm>
          <a:custGeom>
            <a:avLst/>
            <a:gdLst/>
            <a:ahLst/>
            <a:cxnLst/>
            <a:rect l="l" t="t" r="r" b="b"/>
            <a:pathLst>
              <a:path w="0" h="1861820">
                <a:moveTo>
                  <a:pt x="0" y="18614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074941" y="309117"/>
            <a:ext cx="0" cy="1861820"/>
          </a:xfrm>
          <a:custGeom>
            <a:avLst/>
            <a:gdLst/>
            <a:ahLst/>
            <a:cxnLst/>
            <a:rect l="l" t="t" r="r" b="b"/>
            <a:pathLst>
              <a:path w="0" h="1861820">
                <a:moveTo>
                  <a:pt x="0" y="18614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895836" y="1540808"/>
            <a:ext cx="541020" cy="117475"/>
          </a:xfrm>
          <a:custGeom>
            <a:avLst/>
            <a:gdLst/>
            <a:ahLst/>
            <a:cxnLst/>
            <a:rect l="l" t="t" r="r" b="b"/>
            <a:pathLst>
              <a:path w="541020" h="117475">
                <a:moveTo>
                  <a:pt x="0" y="117138"/>
                </a:moveTo>
                <a:lnTo>
                  <a:pt x="53000" y="82812"/>
                </a:lnTo>
                <a:lnTo>
                  <a:pt x="112730" y="61208"/>
                </a:lnTo>
                <a:lnTo>
                  <a:pt x="159373" y="49529"/>
                </a:lnTo>
                <a:lnTo>
                  <a:pt x="206401" y="39631"/>
                </a:lnTo>
                <a:lnTo>
                  <a:pt x="253747" y="31273"/>
                </a:lnTo>
                <a:lnTo>
                  <a:pt x="301344" y="24215"/>
                </a:lnTo>
                <a:lnTo>
                  <a:pt x="349126" y="18216"/>
                </a:lnTo>
                <a:lnTo>
                  <a:pt x="397026" y="13035"/>
                </a:lnTo>
                <a:lnTo>
                  <a:pt x="444976" y="8432"/>
                </a:lnTo>
                <a:lnTo>
                  <a:pt x="492910" y="4167"/>
                </a:lnTo>
                <a:lnTo>
                  <a:pt x="540762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662886" y="1652661"/>
            <a:ext cx="238234" cy="4033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61679" y="2050747"/>
            <a:ext cx="306705" cy="54610"/>
          </a:xfrm>
          <a:custGeom>
            <a:avLst/>
            <a:gdLst/>
            <a:ahLst/>
            <a:cxnLst/>
            <a:rect l="l" t="t" r="r" b="b"/>
            <a:pathLst>
              <a:path w="306705" h="54610">
                <a:moveTo>
                  <a:pt x="0" y="54164"/>
                </a:moveTo>
                <a:lnTo>
                  <a:pt x="51100" y="47888"/>
                </a:lnTo>
                <a:lnTo>
                  <a:pt x="102676" y="40879"/>
                </a:lnTo>
                <a:lnTo>
                  <a:pt x="154365" y="32860"/>
                </a:lnTo>
                <a:lnTo>
                  <a:pt x="205805" y="23557"/>
                </a:lnTo>
                <a:lnTo>
                  <a:pt x="256634" y="12696"/>
                </a:lnTo>
                <a:lnTo>
                  <a:pt x="306491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202266" y="2104911"/>
            <a:ext cx="160020" cy="13970"/>
          </a:xfrm>
          <a:custGeom>
            <a:avLst/>
            <a:gdLst/>
            <a:ahLst/>
            <a:cxnLst/>
            <a:rect l="l" t="t" r="r" b="b"/>
            <a:pathLst>
              <a:path w="160019" h="13969">
                <a:moveTo>
                  <a:pt x="0" y="13649"/>
                </a:moveTo>
                <a:lnTo>
                  <a:pt x="1321" y="13210"/>
                </a:lnTo>
                <a:lnTo>
                  <a:pt x="9686" y="13210"/>
                </a:lnTo>
                <a:lnTo>
                  <a:pt x="11815" y="12338"/>
                </a:lnTo>
                <a:lnTo>
                  <a:pt x="16392" y="12957"/>
                </a:lnTo>
                <a:lnTo>
                  <a:pt x="18933" y="12772"/>
                </a:lnTo>
                <a:lnTo>
                  <a:pt x="23351" y="11826"/>
                </a:lnTo>
                <a:lnTo>
                  <a:pt x="32303" y="12317"/>
                </a:lnTo>
                <a:lnTo>
                  <a:pt x="36551" y="11451"/>
                </a:lnTo>
                <a:lnTo>
                  <a:pt x="45123" y="11106"/>
                </a:lnTo>
                <a:lnTo>
                  <a:pt x="53747" y="10533"/>
                </a:lnTo>
                <a:lnTo>
                  <a:pt x="62360" y="9869"/>
                </a:lnTo>
                <a:lnTo>
                  <a:pt x="70900" y="9247"/>
                </a:lnTo>
                <a:lnTo>
                  <a:pt x="92983" y="7246"/>
                </a:lnTo>
                <a:lnTo>
                  <a:pt x="115134" y="5059"/>
                </a:lnTo>
                <a:lnTo>
                  <a:pt x="137296" y="2654"/>
                </a:lnTo>
                <a:lnTo>
                  <a:pt x="159412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927919" y="2118561"/>
            <a:ext cx="274955" cy="9525"/>
          </a:xfrm>
          <a:custGeom>
            <a:avLst/>
            <a:gdLst/>
            <a:ahLst/>
            <a:cxnLst/>
            <a:rect l="l" t="t" r="r" b="b"/>
            <a:pathLst>
              <a:path w="274955" h="9525">
                <a:moveTo>
                  <a:pt x="0" y="9247"/>
                </a:moveTo>
                <a:lnTo>
                  <a:pt x="54886" y="7330"/>
                </a:lnTo>
                <a:lnTo>
                  <a:pt x="109781" y="5491"/>
                </a:lnTo>
                <a:lnTo>
                  <a:pt x="164668" y="3687"/>
                </a:lnTo>
                <a:lnTo>
                  <a:pt x="219529" y="1871"/>
                </a:lnTo>
                <a:lnTo>
                  <a:pt x="274347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709501" y="2127808"/>
            <a:ext cx="218440" cy="8255"/>
          </a:xfrm>
          <a:custGeom>
            <a:avLst/>
            <a:gdLst/>
            <a:ahLst/>
            <a:cxnLst/>
            <a:rect l="l" t="t" r="r" b="b"/>
            <a:pathLst>
              <a:path w="218439" h="8255">
                <a:moveTo>
                  <a:pt x="0" y="7926"/>
                </a:moveTo>
                <a:lnTo>
                  <a:pt x="54421" y="5663"/>
                </a:lnTo>
                <a:lnTo>
                  <a:pt x="109052" y="3626"/>
                </a:lnTo>
                <a:lnTo>
                  <a:pt x="163761" y="1757"/>
                </a:lnTo>
                <a:lnTo>
                  <a:pt x="218417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657540" y="2135634"/>
            <a:ext cx="52069" cy="1905"/>
          </a:xfrm>
          <a:custGeom>
            <a:avLst/>
            <a:gdLst/>
            <a:ahLst/>
            <a:cxnLst/>
            <a:rect l="l" t="t" r="r" b="b"/>
            <a:pathLst>
              <a:path w="52069" h="1905">
                <a:moveTo>
                  <a:pt x="0" y="1865"/>
                </a:moveTo>
                <a:lnTo>
                  <a:pt x="0" y="1865"/>
                </a:lnTo>
                <a:lnTo>
                  <a:pt x="8803" y="1865"/>
                </a:lnTo>
                <a:lnTo>
                  <a:pt x="9247" y="1421"/>
                </a:lnTo>
                <a:lnTo>
                  <a:pt x="19816" y="1421"/>
                </a:lnTo>
                <a:lnTo>
                  <a:pt x="20254" y="982"/>
                </a:lnTo>
                <a:lnTo>
                  <a:pt x="30823" y="982"/>
                </a:lnTo>
                <a:lnTo>
                  <a:pt x="31262" y="544"/>
                </a:lnTo>
                <a:lnTo>
                  <a:pt x="33465" y="544"/>
                </a:lnTo>
                <a:lnTo>
                  <a:pt x="35959" y="544"/>
                </a:lnTo>
                <a:lnTo>
                  <a:pt x="38459" y="544"/>
                </a:lnTo>
                <a:lnTo>
                  <a:pt x="40953" y="544"/>
                </a:lnTo>
                <a:lnTo>
                  <a:pt x="43442" y="158"/>
                </a:lnTo>
                <a:lnTo>
                  <a:pt x="42808" y="0"/>
                </a:lnTo>
                <a:lnTo>
                  <a:pt x="45794" y="100"/>
                </a:lnTo>
                <a:lnTo>
                  <a:pt x="47849" y="100"/>
                </a:lnTo>
                <a:lnTo>
                  <a:pt x="49905" y="100"/>
                </a:lnTo>
                <a:lnTo>
                  <a:pt x="51960" y="10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576071" y="2137500"/>
            <a:ext cx="81915" cy="3810"/>
          </a:xfrm>
          <a:custGeom>
            <a:avLst/>
            <a:gdLst/>
            <a:ahLst/>
            <a:cxnLst/>
            <a:rect l="l" t="t" r="r" b="b"/>
            <a:pathLst>
              <a:path w="81914" h="3810">
                <a:moveTo>
                  <a:pt x="0" y="3519"/>
                </a:moveTo>
                <a:lnTo>
                  <a:pt x="8600" y="3217"/>
                </a:lnTo>
                <a:lnTo>
                  <a:pt x="17176" y="2809"/>
                </a:lnTo>
                <a:lnTo>
                  <a:pt x="25751" y="2426"/>
                </a:lnTo>
                <a:lnTo>
                  <a:pt x="34348" y="2198"/>
                </a:lnTo>
                <a:lnTo>
                  <a:pt x="38940" y="1675"/>
                </a:lnTo>
                <a:lnTo>
                  <a:pt x="41603" y="1722"/>
                </a:lnTo>
                <a:lnTo>
                  <a:pt x="46238" y="1759"/>
                </a:lnTo>
                <a:lnTo>
                  <a:pt x="47120" y="1759"/>
                </a:lnTo>
                <a:lnTo>
                  <a:pt x="48002" y="1321"/>
                </a:lnTo>
                <a:lnTo>
                  <a:pt x="51522" y="1321"/>
                </a:lnTo>
                <a:lnTo>
                  <a:pt x="53287" y="1321"/>
                </a:lnTo>
                <a:lnTo>
                  <a:pt x="55047" y="1321"/>
                </a:lnTo>
                <a:lnTo>
                  <a:pt x="56806" y="1321"/>
                </a:lnTo>
                <a:lnTo>
                  <a:pt x="58629" y="1167"/>
                </a:lnTo>
                <a:lnTo>
                  <a:pt x="57689" y="686"/>
                </a:lnTo>
                <a:lnTo>
                  <a:pt x="60769" y="877"/>
                </a:lnTo>
                <a:lnTo>
                  <a:pt x="61943" y="877"/>
                </a:lnTo>
                <a:lnTo>
                  <a:pt x="68696" y="877"/>
                </a:lnTo>
                <a:lnTo>
                  <a:pt x="69140" y="438"/>
                </a:lnTo>
                <a:lnTo>
                  <a:pt x="79265" y="438"/>
                </a:lnTo>
                <a:lnTo>
                  <a:pt x="79709" y="0"/>
                </a:lnTo>
                <a:lnTo>
                  <a:pt x="81468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303045" y="2141019"/>
            <a:ext cx="273050" cy="13970"/>
          </a:xfrm>
          <a:custGeom>
            <a:avLst/>
            <a:gdLst/>
            <a:ahLst/>
            <a:cxnLst/>
            <a:rect l="l" t="t" r="r" b="b"/>
            <a:pathLst>
              <a:path w="273050" h="13969">
                <a:moveTo>
                  <a:pt x="0" y="13654"/>
                </a:moveTo>
                <a:lnTo>
                  <a:pt x="54622" y="10628"/>
                </a:lnTo>
                <a:lnTo>
                  <a:pt x="109248" y="7768"/>
                </a:lnTo>
                <a:lnTo>
                  <a:pt x="163865" y="5056"/>
                </a:lnTo>
                <a:lnTo>
                  <a:pt x="218462" y="2473"/>
                </a:lnTo>
                <a:lnTo>
                  <a:pt x="273026" y="0"/>
                </a:lnTo>
              </a:path>
            </a:pathLst>
          </a:custGeom>
          <a:ln w="1056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895836" y="1266904"/>
            <a:ext cx="541020" cy="117475"/>
          </a:xfrm>
          <a:custGeom>
            <a:avLst/>
            <a:gdLst/>
            <a:ahLst/>
            <a:cxnLst/>
            <a:rect l="l" t="t" r="r" b="b"/>
            <a:pathLst>
              <a:path w="541020" h="117475">
                <a:moveTo>
                  <a:pt x="0" y="117132"/>
                </a:moveTo>
                <a:lnTo>
                  <a:pt x="53046" y="82952"/>
                </a:lnTo>
                <a:lnTo>
                  <a:pt x="112730" y="61208"/>
                </a:lnTo>
                <a:lnTo>
                  <a:pt x="158650" y="49676"/>
                </a:lnTo>
                <a:lnTo>
                  <a:pt x="205510" y="39882"/>
                </a:lnTo>
                <a:lnTo>
                  <a:pt x="253084" y="31587"/>
                </a:lnTo>
                <a:lnTo>
                  <a:pt x="301143" y="24554"/>
                </a:lnTo>
                <a:lnTo>
                  <a:pt x="349461" y="18546"/>
                </a:lnTo>
                <a:lnTo>
                  <a:pt x="397809" y="13324"/>
                </a:lnTo>
                <a:lnTo>
                  <a:pt x="445960" y="8650"/>
                </a:lnTo>
                <a:lnTo>
                  <a:pt x="493687" y="4288"/>
                </a:lnTo>
                <a:lnTo>
                  <a:pt x="540762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662886" y="1378753"/>
            <a:ext cx="238234" cy="420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361679" y="1793574"/>
            <a:ext cx="306705" cy="115570"/>
          </a:xfrm>
          <a:custGeom>
            <a:avLst/>
            <a:gdLst/>
            <a:ahLst/>
            <a:cxnLst/>
            <a:rect l="l" t="t" r="r" b="b"/>
            <a:pathLst>
              <a:path w="306705" h="115569">
                <a:moveTo>
                  <a:pt x="0" y="115378"/>
                </a:moveTo>
                <a:lnTo>
                  <a:pt x="49630" y="93075"/>
                </a:lnTo>
                <a:lnTo>
                  <a:pt x="100517" y="73338"/>
                </a:lnTo>
                <a:lnTo>
                  <a:pt x="152154" y="55164"/>
                </a:lnTo>
                <a:lnTo>
                  <a:pt x="204033" y="37551"/>
                </a:lnTo>
                <a:lnTo>
                  <a:pt x="255648" y="19497"/>
                </a:lnTo>
                <a:lnTo>
                  <a:pt x="306491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196981" y="1903662"/>
            <a:ext cx="169981" cy="1180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927919" y="2016399"/>
            <a:ext cx="274955" cy="83820"/>
          </a:xfrm>
          <a:custGeom>
            <a:avLst/>
            <a:gdLst/>
            <a:ahLst/>
            <a:cxnLst/>
            <a:rect l="l" t="t" r="r" b="b"/>
            <a:pathLst>
              <a:path w="274955" h="83819">
                <a:moveTo>
                  <a:pt x="0" y="83667"/>
                </a:moveTo>
                <a:lnTo>
                  <a:pt x="46331" y="74822"/>
                </a:lnTo>
                <a:lnTo>
                  <a:pt x="93668" y="64919"/>
                </a:lnTo>
                <a:lnTo>
                  <a:pt x="141075" y="53221"/>
                </a:lnTo>
                <a:lnTo>
                  <a:pt x="187614" y="38993"/>
                </a:lnTo>
                <a:lnTo>
                  <a:pt x="232350" y="21498"/>
                </a:lnTo>
                <a:lnTo>
                  <a:pt x="274347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709501" y="2100066"/>
            <a:ext cx="218440" cy="31750"/>
          </a:xfrm>
          <a:custGeom>
            <a:avLst/>
            <a:gdLst/>
            <a:ahLst/>
            <a:cxnLst/>
            <a:rect l="l" t="t" r="r" b="b"/>
            <a:pathLst>
              <a:path w="218439" h="31750">
                <a:moveTo>
                  <a:pt x="0" y="31706"/>
                </a:moveTo>
                <a:lnTo>
                  <a:pt x="54354" y="24804"/>
                </a:lnTo>
                <a:lnTo>
                  <a:pt x="109036" y="17222"/>
                </a:lnTo>
                <a:lnTo>
                  <a:pt x="163804" y="8955"/>
                </a:lnTo>
                <a:lnTo>
                  <a:pt x="218417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657540" y="2131772"/>
            <a:ext cx="52069" cy="6350"/>
          </a:xfrm>
          <a:custGeom>
            <a:avLst/>
            <a:gdLst/>
            <a:ahLst/>
            <a:cxnLst/>
            <a:rect l="l" t="t" r="r" b="b"/>
            <a:pathLst>
              <a:path w="52069" h="6350">
                <a:moveTo>
                  <a:pt x="0" y="5728"/>
                </a:moveTo>
                <a:lnTo>
                  <a:pt x="1759" y="5728"/>
                </a:lnTo>
                <a:lnTo>
                  <a:pt x="3519" y="5728"/>
                </a:lnTo>
                <a:lnTo>
                  <a:pt x="5284" y="5728"/>
                </a:lnTo>
                <a:lnTo>
                  <a:pt x="9147" y="5929"/>
                </a:lnTo>
                <a:lnTo>
                  <a:pt x="6198" y="5057"/>
                </a:lnTo>
                <a:lnTo>
                  <a:pt x="10568" y="5284"/>
                </a:lnTo>
                <a:lnTo>
                  <a:pt x="11445" y="5284"/>
                </a:lnTo>
                <a:lnTo>
                  <a:pt x="11889" y="4845"/>
                </a:lnTo>
                <a:lnTo>
                  <a:pt x="14970" y="4845"/>
                </a:lnTo>
                <a:lnTo>
                  <a:pt x="15409" y="4407"/>
                </a:lnTo>
                <a:lnTo>
                  <a:pt x="15853" y="4407"/>
                </a:lnTo>
                <a:lnTo>
                  <a:pt x="19985" y="4634"/>
                </a:lnTo>
                <a:lnTo>
                  <a:pt x="17438" y="3736"/>
                </a:lnTo>
                <a:lnTo>
                  <a:pt x="21575" y="3963"/>
                </a:lnTo>
                <a:lnTo>
                  <a:pt x="22014" y="3963"/>
                </a:lnTo>
                <a:lnTo>
                  <a:pt x="22458" y="3524"/>
                </a:lnTo>
                <a:lnTo>
                  <a:pt x="25977" y="3524"/>
                </a:lnTo>
                <a:lnTo>
                  <a:pt x="26421" y="3086"/>
                </a:lnTo>
                <a:lnTo>
                  <a:pt x="26860" y="3086"/>
                </a:lnTo>
                <a:lnTo>
                  <a:pt x="27742" y="3086"/>
                </a:lnTo>
                <a:lnTo>
                  <a:pt x="28620" y="3086"/>
                </a:lnTo>
                <a:lnTo>
                  <a:pt x="29502" y="3086"/>
                </a:lnTo>
                <a:lnTo>
                  <a:pt x="29941" y="2642"/>
                </a:lnTo>
                <a:lnTo>
                  <a:pt x="33027" y="2642"/>
                </a:lnTo>
                <a:lnTo>
                  <a:pt x="33465" y="2203"/>
                </a:lnTo>
                <a:lnTo>
                  <a:pt x="36546" y="2203"/>
                </a:lnTo>
                <a:lnTo>
                  <a:pt x="36990" y="1764"/>
                </a:lnTo>
                <a:lnTo>
                  <a:pt x="39632" y="1764"/>
                </a:lnTo>
                <a:lnTo>
                  <a:pt x="40509" y="1321"/>
                </a:lnTo>
                <a:lnTo>
                  <a:pt x="40953" y="1321"/>
                </a:lnTo>
                <a:lnTo>
                  <a:pt x="46206" y="1537"/>
                </a:lnTo>
                <a:lnTo>
                  <a:pt x="41735" y="702"/>
                </a:lnTo>
                <a:lnTo>
                  <a:pt x="45794" y="882"/>
                </a:lnTo>
                <a:lnTo>
                  <a:pt x="46676" y="882"/>
                </a:lnTo>
                <a:lnTo>
                  <a:pt x="47559" y="443"/>
                </a:lnTo>
                <a:lnTo>
                  <a:pt x="50201" y="443"/>
                </a:lnTo>
                <a:lnTo>
                  <a:pt x="51083" y="0"/>
                </a:lnTo>
                <a:lnTo>
                  <a:pt x="51960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576071" y="2137500"/>
            <a:ext cx="81915" cy="3810"/>
          </a:xfrm>
          <a:custGeom>
            <a:avLst/>
            <a:gdLst/>
            <a:ahLst/>
            <a:cxnLst/>
            <a:rect l="l" t="t" r="r" b="b"/>
            <a:pathLst>
              <a:path w="81914" h="3810">
                <a:moveTo>
                  <a:pt x="0" y="3519"/>
                </a:moveTo>
                <a:lnTo>
                  <a:pt x="8600" y="3217"/>
                </a:lnTo>
                <a:lnTo>
                  <a:pt x="17176" y="2809"/>
                </a:lnTo>
                <a:lnTo>
                  <a:pt x="25751" y="2426"/>
                </a:lnTo>
                <a:lnTo>
                  <a:pt x="34348" y="2198"/>
                </a:lnTo>
                <a:lnTo>
                  <a:pt x="38940" y="1675"/>
                </a:lnTo>
                <a:lnTo>
                  <a:pt x="41603" y="1722"/>
                </a:lnTo>
                <a:lnTo>
                  <a:pt x="46238" y="1759"/>
                </a:lnTo>
                <a:lnTo>
                  <a:pt x="47120" y="1759"/>
                </a:lnTo>
                <a:lnTo>
                  <a:pt x="48002" y="1321"/>
                </a:lnTo>
                <a:lnTo>
                  <a:pt x="51522" y="1321"/>
                </a:lnTo>
                <a:lnTo>
                  <a:pt x="53287" y="1321"/>
                </a:lnTo>
                <a:lnTo>
                  <a:pt x="55047" y="1321"/>
                </a:lnTo>
                <a:lnTo>
                  <a:pt x="56806" y="1321"/>
                </a:lnTo>
                <a:lnTo>
                  <a:pt x="58629" y="1167"/>
                </a:lnTo>
                <a:lnTo>
                  <a:pt x="57689" y="686"/>
                </a:lnTo>
                <a:lnTo>
                  <a:pt x="60769" y="877"/>
                </a:lnTo>
                <a:lnTo>
                  <a:pt x="61943" y="877"/>
                </a:lnTo>
                <a:lnTo>
                  <a:pt x="68696" y="877"/>
                </a:lnTo>
                <a:lnTo>
                  <a:pt x="69140" y="438"/>
                </a:lnTo>
                <a:lnTo>
                  <a:pt x="79265" y="438"/>
                </a:lnTo>
                <a:lnTo>
                  <a:pt x="79709" y="0"/>
                </a:lnTo>
                <a:lnTo>
                  <a:pt x="81468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303045" y="2141019"/>
            <a:ext cx="273050" cy="13970"/>
          </a:xfrm>
          <a:custGeom>
            <a:avLst/>
            <a:gdLst/>
            <a:ahLst/>
            <a:cxnLst/>
            <a:rect l="l" t="t" r="r" b="b"/>
            <a:pathLst>
              <a:path w="273050" h="13969">
                <a:moveTo>
                  <a:pt x="0" y="13654"/>
                </a:moveTo>
                <a:lnTo>
                  <a:pt x="54622" y="10628"/>
                </a:lnTo>
                <a:lnTo>
                  <a:pt x="109248" y="7768"/>
                </a:lnTo>
                <a:lnTo>
                  <a:pt x="163865" y="5056"/>
                </a:lnTo>
                <a:lnTo>
                  <a:pt x="218462" y="2473"/>
                </a:lnTo>
                <a:lnTo>
                  <a:pt x="273026" y="0"/>
                </a:lnTo>
              </a:path>
            </a:pathLst>
          </a:custGeom>
          <a:ln w="10568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895836" y="463240"/>
            <a:ext cx="541020" cy="117475"/>
          </a:xfrm>
          <a:custGeom>
            <a:avLst/>
            <a:gdLst/>
            <a:ahLst/>
            <a:cxnLst/>
            <a:rect l="l" t="t" r="r" b="b"/>
            <a:pathLst>
              <a:path w="541020" h="117475">
                <a:moveTo>
                  <a:pt x="0" y="117138"/>
                </a:moveTo>
                <a:lnTo>
                  <a:pt x="53044" y="82935"/>
                </a:lnTo>
                <a:lnTo>
                  <a:pt x="112730" y="61208"/>
                </a:lnTo>
                <a:lnTo>
                  <a:pt x="158709" y="49657"/>
                </a:lnTo>
                <a:lnTo>
                  <a:pt x="205584" y="39850"/>
                </a:lnTo>
                <a:lnTo>
                  <a:pt x="253140" y="31548"/>
                </a:lnTo>
                <a:lnTo>
                  <a:pt x="301163" y="24514"/>
                </a:lnTo>
                <a:lnTo>
                  <a:pt x="349437" y="18508"/>
                </a:lnTo>
                <a:lnTo>
                  <a:pt x="397749" y="13292"/>
                </a:lnTo>
                <a:lnTo>
                  <a:pt x="445884" y="8628"/>
                </a:lnTo>
                <a:lnTo>
                  <a:pt x="493626" y="4276"/>
                </a:lnTo>
                <a:lnTo>
                  <a:pt x="540762" y="0"/>
                </a:lnTo>
              </a:path>
            </a:pathLst>
          </a:custGeom>
          <a:ln w="105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662886" y="575094"/>
            <a:ext cx="238234" cy="4205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361679" y="990353"/>
            <a:ext cx="306705" cy="115570"/>
          </a:xfrm>
          <a:custGeom>
            <a:avLst/>
            <a:gdLst/>
            <a:ahLst/>
            <a:cxnLst/>
            <a:rect l="l" t="t" r="r" b="b"/>
            <a:pathLst>
              <a:path w="306705" h="115569">
                <a:moveTo>
                  <a:pt x="0" y="115378"/>
                </a:moveTo>
                <a:lnTo>
                  <a:pt x="49589" y="93076"/>
                </a:lnTo>
                <a:lnTo>
                  <a:pt x="100397" y="73232"/>
                </a:lnTo>
                <a:lnTo>
                  <a:pt x="151957" y="54924"/>
                </a:lnTo>
                <a:lnTo>
                  <a:pt x="203804" y="37231"/>
                </a:lnTo>
                <a:lnTo>
                  <a:pt x="255471" y="19230"/>
                </a:lnTo>
                <a:lnTo>
                  <a:pt x="306491" y="0"/>
                </a:lnTo>
              </a:path>
            </a:pathLst>
          </a:custGeom>
          <a:ln w="105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196981" y="1100447"/>
            <a:ext cx="169981" cy="1232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927919" y="1218463"/>
            <a:ext cx="274955" cy="116839"/>
          </a:xfrm>
          <a:custGeom>
            <a:avLst/>
            <a:gdLst/>
            <a:ahLst/>
            <a:cxnLst/>
            <a:rect l="l" t="t" r="r" b="b"/>
            <a:pathLst>
              <a:path w="274955" h="116840">
                <a:moveTo>
                  <a:pt x="0" y="116694"/>
                </a:moveTo>
                <a:lnTo>
                  <a:pt x="46515" y="100067"/>
                </a:lnTo>
                <a:lnTo>
                  <a:pt x="93731" y="83451"/>
                </a:lnTo>
                <a:lnTo>
                  <a:pt x="140885" y="65992"/>
                </a:lnTo>
                <a:lnTo>
                  <a:pt x="187214" y="46833"/>
                </a:lnTo>
                <a:lnTo>
                  <a:pt x="231956" y="25121"/>
                </a:lnTo>
                <a:lnTo>
                  <a:pt x="274347" y="0"/>
                </a:lnTo>
              </a:path>
            </a:pathLst>
          </a:custGeom>
          <a:ln w="105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662824" y="1329872"/>
            <a:ext cx="270378" cy="26201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640366" y="1586602"/>
            <a:ext cx="27940" cy="401320"/>
          </a:xfrm>
          <a:custGeom>
            <a:avLst/>
            <a:gdLst/>
            <a:ahLst/>
            <a:cxnLst/>
            <a:rect l="l" t="t" r="r" b="b"/>
            <a:pathLst>
              <a:path w="27939" h="401319">
                <a:moveTo>
                  <a:pt x="0" y="400732"/>
                </a:moveTo>
                <a:lnTo>
                  <a:pt x="3018" y="394461"/>
                </a:lnTo>
                <a:lnTo>
                  <a:pt x="5746" y="387998"/>
                </a:lnTo>
                <a:lnTo>
                  <a:pt x="8131" y="381407"/>
                </a:lnTo>
                <a:lnTo>
                  <a:pt x="10124" y="374749"/>
                </a:lnTo>
                <a:lnTo>
                  <a:pt x="11007" y="372990"/>
                </a:lnTo>
                <a:lnTo>
                  <a:pt x="11007" y="371668"/>
                </a:lnTo>
                <a:lnTo>
                  <a:pt x="11445" y="370786"/>
                </a:lnTo>
                <a:lnTo>
                  <a:pt x="11889" y="369465"/>
                </a:lnTo>
                <a:lnTo>
                  <a:pt x="11889" y="368588"/>
                </a:lnTo>
                <a:lnTo>
                  <a:pt x="13020" y="366453"/>
                </a:lnTo>
                <a:lnTo>
                  <a:pt x="12756" y="364107"/>
                </a:lnTo>
                <a:lnTo>
                  <a:pt x="13649" y="361977"/>
                </a:lnTo>
                <a:lnTo>
                  <a:pt x="13649" y="360656"/>
                </a:lnTo>
                <a:lnTo>
                  <a:pt x="14531" y="358896"/>
                </a:lnTo>
                <a:lnTo>
                  <a:pt x="14531" y="357575"/>
                </a:lnTo>
                <a:lnTo>
                  <a:pt x="14970" y="356693"/>
                </a:lnTo>
                <a:lnTo>
                  <a:pt x="14970" y="355372"/>
                </a:lnTo>
                <a:lnTo>
                  <a:pt x="16101" y="352603"/>
                </a:lnTo>
                <a:lnTo>
                  <a:pt x="15652" y="349437"/>
                </a:lnTo>
                <a:lnTo>
                  <a:pt x="16730" y="346568"/>
                </a:lnTo>
                <a:lnTo>
                  <a:pt x="18635" y="332585"/>
                </a:lnTo>
                <a:lnTo>
                  <a:pt x="20214" y="318511"/>
                </a:lnTo>
                <a:lnTo>
                  <a:pt x="21372" y="304373"/>
                </a:lnTo>
                <a:lnTo>
                  <a:pt x="22014" y="290200"/>
                </a:lnTo>
                <a:lnTo>
                  <a:pt x="22458" y="288879"/>
                </a:lnTo>
                <a:lnTo>
                  <a:pt x="22458" y="280070"/>
                </a:lnTo>
                <a:lnTo>
                  <a:pt x="22897" y="279192"/>
                </a:lnTo>
                <a:lnTo>
                  <a:pt x="22897" y="269062"/>
                </a:lnTo>
                <a:lnTo>
                  <a:pt x="23335" y="268180"/>
                </a:lnTo>
                <a:lnTo>
                  <a:pt x="23335" y="252771"/>
                </a:lnTo>
                <a:lnTo>
                  <a:pt x="23779" y="251888"/>
                </a:lnTo>
                <a:lnTo>
                  <a:pt x="23779" y="229868"/>
                </a:lnTo>
                <a:lnTo>
                  <a:pt x="24218" y="228991"/>
                </a:lnTo>
                <a:lnTo>
                  <a:pt x="24218" y="187155"/>
                </a:lnTo>
                <a:lnTo>
                  <a:pt x="24656" y="186273"/>
                </a:lnTo>
                <a:lnTo>
                  <a:pt x="24656" y="111853"/>
                </a:lnTo>
                <a:lnTo>
                  <a:pt x="25100" y="110532"/>
                </a:lnTo>
                <a:lnTo>
                  <a:pt x="25100" y="69140"/>
                </a:lnTo>
                <a:lnTo>
                  <a:pt x="25539" y="67819"/>
                </a:lnTo>
                <a:lnTo>
                  <a:pt x="25539" y="45799"/>
                </a:lnTo>
                <a:lnTo>
                  <a:pt x="25977" y="44916"/>
                </a:lnTo>
                <a:lnTo>
                  <a:pt x="25977" y="30384"/>
                </a:lnTo>
                <a:lnTo>
                  <a:pt x="26421" y="29507"/>
                </a:lnTo>
                <a:lnTo>
                  <a:pt x="26421" y="18495"/>
                </a:lnTo>
                <a:lnTo>
                  <a:pt x="26860" y="17618"/>
                </a:lnTo>
                <a:lnTo>
                  <a:pt x="26860" y="8809"/>
                </a:lnTo>
                <a:lnTo>
                  <a:pt x="27298" y="7487"/>
                </a:lnTo>
                <a:lnTo>
                  <a:pt x="27298" y="882"/>
                </a:lnTo>
                <a:lnTo>
                  <a:pt x="27742" y="0"/>
                </a:lnTo>
              </a:path>
            </a:pathLst>
          </a:custGeom>
          <a:ln w="1056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297761" y="1982050"/>
            <a:ext cx="347889" cy="1545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865367" y="1151039"/>
            <a:ext cx="109855" cy="177800"/>
          </a:xfrm>
          <a:prstGeom prst="rect">
            <a:avLst/>
          </a:prstGeom>
        </p:spPr>
        <p:txBody>
          <a:bodyPr wrap="square" lIns="0" tIns="101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550">
                <a:latin typeface="Times New Roman"/>
                <a:cs typeface="Times New Roman"/>
              </a:rPr>
              <a:t>p[M]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219070" y="2164871"/>
            <a:ext cx="72390" cy="1987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780">
              <a:lnSpc>
                <a:spcPts val="605"/>
              </a:lnSpc>
              <a:spcBef>
                <a:spcPts val="130"/>
              </a:spcBef>
            </a:pPr>
            <a:r>
              <a:rPr dirty="0" sz="550" spc="15">
                <a:latin typeface="Times New Roman"/>
                <a:cs typeface="Times New Roman"/>
              </a:rPr>
              <a:t>2</a:t>
            </a: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ts val="725"/>
              </a:lnSpc>
            </a:pPr>
            <a:r>
              <a:rPr dirty="0" sz="650" spc="5">
                <a:latin typeface="Symbol"/>
                <a:cs typeface="Symbol"/>
              </a:rPr>
              <a:t></a:t>
            </a:r>
            <a:endParaRPr sz="650">
              <a:latin typeface="Symbol"/>
              <a:cs typeface="Symbo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861699" y="1802453"/>
            <a:ext cx="21717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750" spc="15">
                <a:latin typeface="Calibri"/>
                <a:cs typeface="Calibri"/>
              </a:rPr>
              <a:t>Mg</a:t>
            </a:r>
            <a:r>
              <a:rPr dirty="0" sz="350" spc="10">
                <a:latin typeface="Times New Roman"/>
                <a:cs typeface="Times New Roman"/>
              </a:rPr>
              <a:t>2+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279540" y="1698968"/>
            <a:ext cx="20891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750" spc="52">
                <a:latin typeface="Calibri"/>
                <a:cs typeface="Calibri"/>
              </a:rPr>
              <a:t>Ca</a:t>
            </a:r>
            <a:r>
              <a:rPr dirty="0" sz="350" spc="35">
                <a:latin typeface="Times New Roman"/>
                <a:cs typeface="Times New Roman"/>
              </a:rPr>
              <a:t>2+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392652" y="1644363"/>
            <a:ext cx="20891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750" spc="52">
                <a:latin typeface="Calibri"/>
                <a:cs typeface="Calibri"/>
              </a:rPr>
              <a:t>Pb</a:t>
            </a:r>
            <a:r>
              <a:rPr dirty="0" sz="350" spc="35">
                <a:latin typeface="Times New Roman"/>
                <a:cs typeface="Times New Roman"/>
              </a:rPr>
              <a:t>2+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5044" y="2496682"/>
            <a:ext cx="4239260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55880">
              <a:lnSpc>
                <a:spcPct val="123300"/>
              </a:lnSpc>
              <a:spcBef>
                <a:spcPts val="100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25">
                <a:solidFill>
                  <a:srgbClr val="3333B2"/>
                </a:solidFill>
                <a:latin typeface="Georgia"/>
                <a:cs typeface="Georgia"/>
              </a:rPr>
              <a:t>18:</a:t>
            </a:r>
            <a:r>
              <a:rPr dirty="0" sz="1000" spc="-1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金</a:t>
            </a:r>
            <a:r>
              <a:rPr dirty="0" sz="1050" spc="-5">
                <a:latin typeface="Arial Unicode MS"/>
                <a:cs typeface="Arial Unicode MS"/>
              </a:rPr>
              <a:t>属离子的</a:t>
            </a:r>
            <a:r>
              <a:rPr dirty="0" sz="1050" spc="-10">
                <a:latin typeface="Arial Unicode MS"/>
                <a:cs typeface="Arial Unicode MS"/>
              </a:rPr>
              <a:t>浓</a:t>
            </a:r>
            <a:r>
              <a:rPr dirty="0" sz="1050" spc="-5">
                <a:latin typeface="Arial Unicode MS"/>
                <a:cs typeface="Arial Unicode MS"/>
              </a:rPr>
              <a:t>度曲</a:t>
            </a:r>
            <a:r>
              <a:rPr dirty="0" sz="1050" spc="-20">
                <a:latin typeface="Arial Unicode MS"/>
                <a:cs typeface="Arial Unicode MS"/>
              </a:rPr>
              <a:t>线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160">
                <a:latin typeface="Arial Unicode MS"/>
                <a:cs typeface="Arial Unicode MS"/>
              </a:rPr>
              <a:t>以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60">
                <a:latin typeface="Times New Roman"/>
                <a:cs typeface="Times New Roman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滴定由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Ca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45">
                <a:latin typeface="Georgia"/>
                <a:cs typeface="Georgia"/>
              </a:rPr>
              <a:t>10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7)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</a:t>
            </a:r>
            <a:r>
              <a:rPr dirty="0" sz="1000" spc="40">
                <a:latin typeface="Georgia"/>
                <a:cs typeface="Georgia"/>
              </a:rPr>
              <a:t>Mg</a:t>
            </a:r>
            <a:r>
              <a:rPr dirty="0" baseline="27777" sz="1050" spc="60">
                <a:latin typeface="Times New Roman"/>
                <a:cs typeface="Times New Roman"/>
              </a:rPr>
              <a:t>2+</a:t>
            </a:r>
            <a:r>
              <a:rPr dirty="0" sz="1000" spc="4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30">
                <a:latin typeface="Georgia"/>
                <a:cs typeface="Georgia"/>
              </a:rPr>
              <a:t>8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7) </a:t>
            </a:r>
            <a:r>
              <a:rPr dirty="0" sz="1050" spc="160">
                <a:latin typeface="Arial Unicode MS"/>
                <a:cs typeface="Arial Unicode MS"/>
              </a:rPr>
              <a:t>和 </a:t>
            </a:r>
            <a:r>
              <a:rPr dirty="0" sz="1000" spc="-40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Pb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00" spc="125" b="0" i="1">
                <a:latin typeface="Bookman Old Style"/>
                <a:cs typeface="Bookman Old Style"/>
              </a:rPr>
              <a:t>K</a:t>
            </a:r>
            <a:r>
              <a:rPr dirty="0" sz="1000" spc="45" b="0" i="1">
                <a:latin typeface="Bookman Old Style"/>
                <a:cs typeface="Bookman Old Style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18</a:t>
            </a:r>
            <a:r>
              <a:rPr dirty="0" sz="1000" spc="-40" b="0" i="1">
                <a:latin typeface="Bookman Old Style"/>
                <a:cs typeface="Bookman Old Style"/>
              </a:rPr>
              <a:t>.</a:t>
            </a:r>
            <a:r>
              <a:rPr dirty="0" sz="1000" spc="-40">
                <a:latin typeface="Georgia"/>
                <a:cs typeface="Georgia"/>
              </a:rPr>
              <a:t>04)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组</a:t>
            </a:r>
            <a:r>
              <a:rPr dirty="0" sz="1050" spc="-5">
                <a:latin typeface="Arial Unicode MS"/>
                <a:cs typeface="Arial Unicode MS"/>
              </a:rPr>
              <a:t>成的混</a:t>
            </a:r>
            <a:r>
              <a:rPr dirty="0" sz="1050" spc="-10">
                <a:latin typeface="Arial Unicode MS"/>
                <a:cs typeface="Arial Unicode MS"/>
              </a:rPr>
              <a:t>合</a:t>
            </a:r>
            <a:r>
              <a:rPr dirty="0" sz="1050" spc="-5">
                <a:latin typeface="Arial Unicode MS"/>
                <a:cs typeface="Arial Unicode MS"/>
              </a:rPr>
              <a:t>离子溶</a:t>
            </a:r>
            <a:r>
              <a:rPr dirty="0" sz="1050" spc="-20">
                <a:latin typeface="Arial Unicode MS"/>
                <a:cs typeface="Arial Unicode MS"/>
              </a:rPr>
              <a:t>液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00" spc="-45">
                <a:latin typeface="Georgia"/>
                <a:cs typeface="Georgia"/>
              </a:rPr>
              <a:t>10.0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7" name="object 97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8" name="object 9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2699" y="230070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 h="0">
                <a:moveTo>
                  <a:pt x="0" y="0"/>
                </a:moveTo>
                <a:lnTo>
                  <a:pt x="25892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12699" y="2271273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 h="0">
                <a:moveTo>
                  <a:pt x="0" y="0"/>
                </a:moveTo>
                <a:lnTo>
                  <a:pt x="25892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01987" y="230070"/>
            <a:ext cx="0" cy="2041525"/>
          </a:xfrm>
          <a:custGeom>
            <a:avLst/>
            <a:gdLst/>
            <a:ahLst/>
            <a:cxnLst/>
            <a:rect l="l" t="t" r="r" b="b"/>
            <a:pathLst>
              <a:path w="0" h="2041525">
                <a:moveTo>
                  <a:pt x="0" y="20412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12699" y="230070"/>
            <a:ext cx="0" cy="2041525"/>
          </a:xfrm>
          <a:custGeom>
            <a:avLst/>
            <a:gdLst/>
            <a:ahLst/>
            <a:cxnLst/>
            <a:rect l="l" t="t" r="r" b="b"/>
            <a:pathLst>
              <a:path w="0" h="2041525">
                <a:moveTo>
                  <a:pt x="0" y="20412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12699" y="2271273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 h="0">
                <a:moveTo>
                  <a:pt x="0" y="0"/>
                </a:moveTo>
                <a:lnTo>
                  <a:pt x="25892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2699" y="230070"/>
            <a:ext cx="0" cy="2041525"/>
          </a:xfrm>
          <a:custGeom>
            <a:avLst/>
            <a:gdLst/>
            <a:ahLst/>
            <a:cxnLst/>
            <a:rect l="l" t="t" r="r" b="b"/>
            <a:pathLst>
              <a:path w="0" h="2041525">
                <a:moveTo>
                  <a:pt x="0" y="20412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12699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2699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49294" y="2266297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82596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82596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49614" y="2266297"/>
            <a:ext cx="6604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52493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52493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789090" y="2266297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22395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22395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92292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92292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62188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62188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929209" y="2266297"/>
            <a:ext cx="6604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32091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332091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268685" y="2266297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3.5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01987" y="2245197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7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01987" y="23007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669006" y="2266297"/>
            <a:ext cx="6604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12699" y="227127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75911" y="2271273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42533" y="2206418"/>
            <a:ext cx="6604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12699" y="2085354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75911" y="2085354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81688" y="2020503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12699" y="1899922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75911" y="1899922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042533" y="1835071"/>
            <a:ext cx="6604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12699" y="171449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75911" y="1714490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81688" y="1649639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12699" y="152857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75911" y="1528576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112699" y="1343144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75911" y="1343144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112699" y="1157712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75911" y="1157712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81688" y="1092859"/>
            <a:ext cx="127000" cy="4940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2.5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  <a:spcBef>
                <a:spcPts val="5"/>
              </a:spcBef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12699" y="97228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75911" y="972280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981688" y="907427"/>
            <a:ext cx="127000" cy="1231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3.5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12699" y="78636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75911" y="786367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112699" y="60093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675911" y="600935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112699" y="415502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5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675911" y="415502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07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956288" y="110164"/>
            <a:ext cx="432434" cy="734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x</a:t>
            </a:r>
            <a:r>
              <a:rPr dirty="0" sz="600" spc="-15">
                <a:latin typeface="Times New Roman"/>
                <a:cs typeface="Times New Roman"/>
              </a:rPr>
              <a:t> </a:t>
            </a:r>
            <a:r>
              <a:rPr dirty="0" sz="600" spc="15">
                <a:latin typeface="Times New Roman"/>
                <a:cs typeface="Times New Roman"/>
              </a:rPr>
              <a:t>10</a:t>
            </a:r>
            <a:r>
              <a:rPr dirty="0" baseline="55555" sz="600" spc="22">
                <a:latin typeface="Times New Roman"/>
                <a:cs typeface="Times New Roman"/>
              </a:rPr>
              <a:t>−3</a:t>
            </a:r>
            <a:endParaRPr baseline="55555"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4.5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112699" y="230070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 h="0">
                <a:moveTo>
                  <a:pt x="0" y="0"/>
                </a:moveTo>
                <a:lnTo>
                  <a:pt x="25892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12699" y="2271273"/>
            <a:ext cx="2589530" cy="0"/>
          </a:xfrm>
          <a:custGeom>
            <a:avLst/>
            <a:gdLst/>
            <a:ahLst/>
            <a:cxnLst/>
            <a:rect l="l" t="t" r="r" b="b"/>
            <a:pathLst>
              <a:path w="2589529" h="0">
                <a:moveTo>
                  <a:pt x="0" y="0"/>
                </a:moveTo>
                <a:lnTo>
                  <a:pt x="25892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701987" y="230070"/>
            <a:ext cx="0" cy="2041525"/>
          </a:xfrm>
          <a:custGeom>
            <a:avLst/>
            <a:gdLst/>
            <a:ahLst/>
            <a:cxnLst/>
            <a:rect l="l" t="t" r="r" b="b"/>
            <a:pathLst>
              <a:path w="0" h="2041525">
                <a:moveTo>
                  <a:pt x="0" y="20412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112699" y="230070"/>
            <a:ext cx="0" cy="2041525"/>
          </a:xfrm>
          <a:custGeom>
            <a:avLst/>
            <a:gdLst/>
            <a:ahLst/>
            <a:cxnLst/>
            <a:rect l="l" t="t" r="r" b="b"/>
            <a:pathLst>
              <a:path w="0" h="2041525">
                <a:moveTo>
                  <a:pt x="0" y="20412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024969" y="1362458"/>
            <a:ext cx="677545" cy="167005"/>
          </a:xfrm>
          <a:custGeom>
            <a:avLst/>
            <a:gdLst/>
            <a:ahLst/>
            <a:cxnLst/>
            <a:rect l="l" t="t" r="r" b="b"/>
            <a:pathLst>
              <a:path w="677545" h="167005">
                <a:moveTo>
                  <a:pt x="0" y="0"/>
                </a:moveTo>
                <a:lnTo>
                  <a:pt x="47679" y="14167"/>
                </a:lnTo>
                <a:lnTo>
                  <a:pt x="95514" y="27930"/>
                </a:lnTo>
                <a:lnTo>
                  <a:pt x="143493" y="41303"/>
                </a:lnTo>
                <a:lnTo>
                  <a:pt x="191604" y="54300"/>
                </a:lnTo>
                <a:lnTo>
                  <a:pt x="239837" y="66933"/>
                </a:lnTo>
                <a:lnTo>
                  <a:pt x="288179" y="79218"/>
                </a:lnTo>
                <a:lnTo>
                  <a:pt x="336620" y="91168"/>
                </a:lnTo>
                <a:lnTo>
                  <a:pt x="385147" y="102796"/>
                </a:lnTo>
                <a:lnTo>
                  <a:pt x="433750" y="114117"/>
                </a:lnTo>
                <a:lnTo>
                  <a:pt x="482417" y="125145"/>
                </a:lnTo>
                <a:lnTo>
                  <a:pt x="531137" y="135893"/>
                </a:lnTo>
                <a:lnTo>
                  <a:pt x="579899" y="146376"/>
                </a:lnTo>
                <a:lnTo>
                  <a:pt x="628690" y="156606"/>
                </a:lnTo>
                <a:lnTo>
                  <a:pt x="677499" y="166599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878165" y="1339766"/>
            <a:ext cx="152599" cy="84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563799" y="1418476"/>
            <a:ext cx="320675" cy="353695"/>
          </a:xfrm>
          <a:custGeom>
            <a:avLst/>
            <a:gdLst/>
            <a:ahLst/>
            <a:cxnLst/>
            <a:rect l="l" t="t" r="r" b="b"/>
            <a:pathLst>
              <a:path w="320675" h="353694">
                <a:moveTo>
                  <a:pt x="0" y="353480"/>
                </a:moveTo>
                <a:lnTo>
                  <a:pt x="33692" y="312513"/>
                </a:lnTo>
                <a:lnTo>
                  <a:pt x="67833" y="271898"/>
                </a:lnTo>
                <a:lnTo>
                  <a:pt x="102432" y="231667"/>
                </a:lnTo>
                <a:lnTo>
                  <a:pt x="137498" y="191848"/>
                </a:lnTo>
                <a:lnTo>
                  <a:pt x="173041" y="152472"/>
                </a:lnTo>
                <a:lnTo>
                  <a:pt x="209070" y="113569"/>
                </a:lnTo>
                <a:lnTo>
                  <a:pt x="245593" y="75169"/>
                </a:lnTo>
                <a:lnTo>
                  <a:pt x="282620" y="37302"/>
                </a:lnTo>
                <a:lnTo>
                  <a:pt x="320160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257164" y="1771956"/>
            <a:ext cx="306705" cy="399415"/>
          </a:xfrm>
          <a:custGeom>
            <a:avLst/>
            <a:gdLst/>
            <a:ahLst/>
            <a:cxnLst/>
            <a:rect l="l" t="t" r="r" b="b"/>
            <a:pathLst>
              <a:path w="306705" h="399414">
                <a:moveTo>
                  <a:pt x="0" y="399357"/>
                </a:moveTo>
                <a:lnTo>
                  <a:pt x="30623" y="363434"/>
                </a:lnTo>
                <a:lnTo>
                  <a:pt x="59778" y="325660"/>
                </a:lnTo>
                <a:lnTo>
                  <a:pt x="88138" y="287189"/>
                </a:lnTo>
                <a:lnTo>
                  <a:pt x="116376" y="249174"/>
                </a:lnTo>
                <a:lnTo>
                  <a:pt x="147220" y="207045"/>
                </a:lnTo>
                <a:lnTo>
                  <a:pt x="178376" y="165086"/>
                </a:lnTo>
                <a:lnTo>
                  <a:pt x="209869" y="123350"/>
                </a:lnTo>
                <a:lnTo>
                  <a:pt x="241726" y="81889"/>
                </a:lnTo>
                <a:lnTo>
                  <a:pt x="273972" y="40755"/>
                </a:lnTo>
                <a:lnTo>
                  <a:pt x="306635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038412" y="2171308"/>
            <a:ext cx="219075" cy="87630"/>
          </a:xfrm>
          <a:custGeom>
            <a:avLst/>
            <a:gdLst/>
            <a:ahLst/>
            <a:cxnLst/>
            <a:rect l="l" t="t" r="r" b="b"/>
            <a:pathLst>
              <a:path w="219075" h="87630">
                <a:moveTo>
                  <a:pt x="0" y="87408"/>
                </a:moveTo>
                <a:lnTo>
                  <a:pt x="51962" y="82368"/>
                </a:lnTo>
                <a:lnTo>
                  <a:pt x="98482" y="74344"/>
                </a:lnTo>
                <a:lnTo>
                  <a:pt x="140896" y="60100"/>
                </a:lnTo>
                <a:lnTo>
                  <a:pt x="180541" y="36398"/>
                </a:lnTo>
                <a:lnTo>
                  <a:pt x="218752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651612" y="2258716"/>
            <a:ext cx="387350" cy="10795"/>
          </a:xfrm>
          <a:custGeom>
            <a:avLst/>
            <a:gdLst/>
            <a:ahLst/>
            <a:cxnLst/>
            <a:rect l="l" t="t" r="r" b="b"/>
            <a:pathLst>
              <a:path w="387350" h="10794">
                <a:moveTo>
                  <a:pt x="0" y="10621"/>
                </a:moveTo>
                <a:lnTo>
                  <a:pt x="48241" y="10053"/>
                </a:lnTo>
                <a:lnTo>
                  <a:pt x="96633" y="9499"/>
                </a:lnTo>
                <a:lnTo>
                  <a:pt x="145116" y="8845"/>
                </a:lnTo>
                <a:lnTo>
                  <a:pt x="193630" y="7975"/>
                </a:lnTo>
                <a:lnTo>
                  <a:pt x="242115" y="6771"/>
                </a:lnTo>
                <a:lnTo>
                  <a:pt x="290512" y="5118"/>
                </a:lnTo>
                <a:lnTo>
                  <a:pt x="338760" y="2899"/>
                </a:lnTo>
                <a:lnTo>
                  <a:pt x="386799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504326" y="2269338"/>
            <a:ext cx="147320" cy="1905"/>
          </a:xfrm>
          <a:custGeom>
            <a:avLst/>
            <a:gdLst/>
            <a:ahLst/>
            <a:cxnLst/>
            <a:rect l="l" t="t" r="r" b="b"/>
            <a:pathLst>
              <a:path w="147319" h="1905">
                <a:moveTo>
                  <a:pt x="0" y="1448"/>
                </a:moveTo>
                <a:lnTo>
                  <a:pt x="10399" y="1435"/>
                </a:lnTo>
                <a:lnTo>
                  <a:pt x="20811" y="1490"/>
                </a:lnTo>
                <a:lnTo>
                  <a:pt x="31199" y="1404"/>
                </a:lnTo>
                <a:lnTo>
                  <a:pt x="41531" y="967"/>
                </a:lnTo>
                <a:lnTo>
                  <a:pt x="67964" y="928"/>
                </a:lnTo>
                <a:lnTo>
                  <a:pt x="94427" y="725"/>
                </a:lnTo>
                <a:lnTo>
                  <a:pt x="120880" y="401"/>
                </a:lnTo>
                <a:lnTo>
                  <a:pt x="147285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456039" y="2270786"/>
            <a:ext cx="48895" cy="0"/>
          </a:xfrm>
          <a:custGeom>
            <a:avLst/>
            <a:gdLst/>
            <a:ahLst/>
            <a:cxnLst/>
            <a:rect l="l" t="t" r="r" b="b"/>
            <a:pathLst>
              <a:path w="48894" h="0">
                <a:moveTo>
                  <a:pt x="0" y="0"/>
                </a:moveTo>
                <a:lnTo>
                  <a:pt x="12070" y="0"/>
                </a:lnTo>
                <a:lnTo>
                  <a:pt x="24141" y="0"/>
                </a:lnTo>
                <a:lnTo>
                  <a:pt x="36214" y="0"/>
                </a:lnTo>
                <a:lnTo>
                  <a:pt x="48287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79299" y="2270786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534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106905" y="2270786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 h="0">
                <a:moveTo>
                  <a:pt x="0" y="0"/>
                </a:moveTo>
                <a:lnTo>
                  <a:pt x="183983" y="0"/>
                </a:lnTo>
              </a:path>
            </a:pathLst>
          </a:custGeom>
          <a:ln w="1158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024969" y="1362458"/>
            <a:ext cx="677545" cy="167005"/>
          </a:xfrm>
          <a:custGeom>
            <a:avLst/>
            <a:gdLst/>
            <a:ahLst/>
            <a:cxnLst/>
            <a:rect l="l" t="t" r="r" b="b"/>
            <a:pathLst>
              <a:path w="677545" h="167005">
                <a:moveTo>
                  <a:pt x="0" y="0"/>
                </a:moveTo>
                <a:lnTo>
                  <a:pt x="47702" y="14161"/>
                </a:lnTo>
                <a:lnTo>
                  <a:pt x="95550" y="27920"/>
                </a:lnTo>
                <a:lnTo>
                  <a:pt x="143533" y="41291"/>
                </a:lnTo>
                <a:lnTo>
                  <a:pt x="191642" y="54287"/>
                </a:lnTo>
                <a:lnTo>
                  <a:pt x="239867" y="66922"/>
                </a:lnTo>
                <a:lnTo>
                  <a:pt x="288199" y="79209"/>
                </a:lnTo>
                <a:lnTo>
                  <a:pt x="336626" y="91161"/>
                </a:lnTo>
                <a:lnTo>
                  <a:pt x="385141" y="102793"/>
                </a:lnTo>
                <a:lnTo>
                  <a:pt x="433732" y="114117"/>
                </a:lnTo>
                <a:lnTo>
                  <a:pt x="482390" y="125147"/>
                </a:lnTo>
                <a:lnTo>
                  <a:pt x="531106" y="135897"/>
                </a:lnTo>
                <a:lnTo>
                  <a:pt x="579869" y="146379"/>
                </a:lnTo>
                <a:lnTo>
                  <a:pt x="628670" y="156609"/>
                </a:lnTo>
                <a:lnTo>
                  <a:pt x="677499" y="166599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957842" y="1342176"/>
            <a:ext cx="67310" cy="20320"/>
          </a:xfrm>
          <a:custGeom>
            <a:avLst/>
            <a:gdLst/>
            <a:ahLst/>
            <a:cxnLst/>
            <a:rect l="l" t="t" r="r" b="b"/>
            <a:pathLst>
              <a:path w="67310" h="20319">
                <a:moveTo>
                  <a:pt x="0" y="0"/>
                </a:moveTo>
                <a:lnTo>
                  <a:pt x="967" y="0"/>
                </a:lnTo>
                <a:lnTo>
                  <a:pt x="1448" y="486"/>
                </a:lnTo>
                <a:lnTo>
                  <a:pt x="2897" y="486"/>
                </a:lnTo>
                <a:lnTo>
                  <a:pt x="3384" y="967"/>
                </a:lnTo>
                <a:lnTo>
                  <a:pt x="4346" y="967"/>
                </a:lnTo>
                <a:lnTo>
                  <a:pt x="4832" y="1448"/>
                </a:lnTo>
                <a:lnTo>
                  <a:pt x="5794" y="1448"/>
                </a:lnTo>
                <a:lnTo>
                  <a:pt x="6281" y="1935"/>
                </a:lnTo>
                <a:lnTo>
                  <a:pt x="7243" y="1935"/>
                </a:lnTo>
                <a:lnTo>
                  <a:pt x="7730" y="2416"/>
                </a:lnTo>
                <a:lnTo>
                  <a:pt x="8692" y="2416"/>
                </a:lnTo>
                <a:lnTo>
                  <a:pt x="9178" y="2897"/>
                </a:lnTo>
                <a:lnTo>
                  <a:pt x="10140" y="2897"/>
                </a:lnTo>
                <a:lnTo>
                  <a:pt x="10627" y="3384"/>
                </a:lnTo>
                <a:lnTo>
                  <a:pt x="12076" y="3384"/>
                </a:lnTo>
                <a:lnTo>
                  <a:pt x="12557" y="3865"/>
                </a:lnTo>
                <a:lnTo>
                  <a:pt x="13524" y="3865"/>
                </a:lnTo>
                <a:lnTo>
                  <a:pt x="14005" y="4346"/>
                </a:lnTo>
                <a:lnTo>
                  <a:pt x="14973" y="4346"/>
                </a:lnTo>
                <a:lnTo>
                  <a:pt x="15454" y="4832"/>
                </a:lnTo>
                <a:lnTo>
                  <a:pt x="16422" y="4832"/>
                </a:lnTo>
                <a:lnTo>
                  <a:pt x="16903" y="5313"/>
                </a:lnTo>
                <a:lnTo>
                  <a:pt x="18351" y="5313"/>
                </a:lnTo>
                <a:lnTo>
                  <a:pt x="18832" y="5794"/>
                </a:lnTo>
                <a:lnTo>
                  <a:pt x="19800" y="5794"/>
                </a:lnTo>
                <a:lnTo>
                  <a:pt x="20281" y="6281"/>
                </a:lnTo>
                <a:lnTo>
                  <a:pt x="21249" y="6281"/>
                </a:lnTo>
                <a:lnTo>
                  <a:pt x="21730" y="6762"/>
                </a:lnTo>
                <a:lnTo>
                  <a:pt x="23179" y="6762"/>
                </a:lnTo>
                <a:lnTo>
                  <a:pt x="23665" y="7243"/>
                </a:lnTo>
                <a:lnTo>
                  <a:pt x="24627" y="7243"/>
                </a:lnTo>
                <a:lnTo>
                  <a:pt x="25114" y="7730"/>
                </a:lnTo>
                <a:lnTo>
                  <a:pt x="26076" y="7730"/>
                </a:lnTo>
                <a:lnTo>
                  <a:pt x="26563" y="8211"/>
                </a:lnTo>
                <a:lnTo>
                  <a:pt x="27525" y="8211"/>
                </a:lnTo>
                <a:lnTo>
                  <a:pt x="28011" y="8692"/>
                </a:lnTo>
                <a:lnTo>
                  <a:pt x="29460" y="8692"/>
                </a:lnTo>
                <a:lnTo>
                  <a:pt x="29941" y="9178"/>
                </a:lnTo>
                <a:lnTo>
                  <a:pt x="30422" y="9178"/>
                </a:lnTo>
                <a:lnTo>
                  <a:pt x="31390" y="9659"/>
                </a:lnTo>
                <a:lnTo>
                  <a:pt x="32357" y="9659"/>
                </a:lnTo>
                <a:lnTo>
                  <a:pt x="33319" y="10140"/>
                </a:lnTo>
                <a:lnTo>
                  <a:pt x="33806" y="10140"/>
                </a:lnTo>
                <a:lnTo>
                  <a:pt x="35527" y="10963"/>
                </a:lnTo>
                <a:lnTo>
                  <a:pt x="37393" y="11253"/>
                </a:lnTo>
                <a:lnTo>
                  <a:pt x="39114" y="12076"/>
                </a:lnTo>
                <a:lnTo>
                  <a:pt x="40082" y="12076"/>
                </a:lnTo>
                <a:lnTo>
                  <a:pt x="41050" y="12557"/>
                </a:lnTo>
                <a:lnTo>
                  <a:pt x="41531" y="12557"/>
                </a:lnTo>
                <a:lnTo>
                  <a:pt x="42498" y="13038"/>
                </a:lnTo>
                <a:lnTo>
                  <a:pt x="43460" y="13038"/>
                </a:lnTo>
                <a:lnTo>
                  <a:pt x="44428" y="13524"/>
                </a:lnTo>
                <a:lnTo>
                  <a:pt x="46468" y="14388"/>
                </a:lnTo>
                <a:lnTo>
                  <a:pt x="48641" y="14440"/>
                </a:lnTo>
                <a:lnTo>
                  <a:pt x="50704" y="15454"/>
                </a:lnTo>
                <a:lnTo>
                  <a:pt x="52859" y="16323"/>
                </a:lnTo>
                <a:lnTo>
                  <a:pt x="55310" y="16630"/>
                </a:lnTo>
                <a:lnTo>
                  <a:pt x="57466" y="17384"/>
                </a:lnTo>
                <a:lnTo>
                  <a:pt x="61934" y="19250"/>
                </a:lnTo>
                <a:lnTo>
                  <a:pt x="63093" y="18989"/>
                </a:lnTo>
                <a:lnTo>
                  <a:pt x="67126" y="20281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877203" y="1316100"/>
            <a:ext cx="80645" cy="26670"/>
          </a:xfrm>
          <a:custGeom>
            <a:avLst/>
            <a:gdLst/>
            <a:ahLst/>
            <a:cxnLst/>
            <a:rect l="l" t="t" r="r" b="b"/>
            <a:pathLst>
              <a:path w="80644" h="26669">
                <a:moveTo>
                  <a:pt x="0" y="0"/>
                </a:moveTo>
                <a:lnTo>
                  <a:pt x="8398" y="2920"/>
                </a:lnTo>
                <a:lnTo>
                  <a:pt x="16889" y="5671"/>
                </a:lnTo>
                <a:lnTo>
                  <a:pt x="25386" y="8364"/>
                </a:lnTo>
                <a:lnTo>
                  <a:pt x="33800" y="11108"/>
                </a:lnTo>
                <a:lnTo>
                  <a:pt x="37277" y="12487"/>
                </a:lnTo>
                <a:lnTo>
                  <a:pt x="42209" y="13571"/>
                </a:lnTo>
                <a:lnTo>
                  <a:pt x="45390" y="14973"/>
                </a:lnTo>
                <a:lnTo>
                  <a:pt x="46995" y="15205"/>
                </a:lnTo>
                <a:lnTo>
                  <a:pt x="48623" y="15738"/>
                </a:lnTo>
                <a:lnTo>
                  <a:pt x="50217" y="16422"/>
                </a:lnTo>
                <a:lnTo>
                  <a:pt x="51185" y="16422"/>
                </a:lnTo>
                <a:lnTo>
                  <a:pt x="51666" y="16903"/>
                </a:lnTo>
                <a:lnTo>
                  <a:pt x="52633" y="16903"/>
                </a:lnTo>
                <a:lnTo>
                  <a:pt x="53114" y="17384"/>
                </a:lnTo>
                <a:lnTo>
                  <a:pt x="53601" y="17384"/>
                </a:lnTo>
                <a:lnTo>
                  <a:pt x="54563" y="17871"/>
                </a:lnTo>
                <a:lnTo>
                  <a:pt x="56012" y="17871"/>
                </a:lnTo>
                <a:lnTo>
                  <a:pt x="56498" y="18351"/>
                </a:lnTo>
                <a:lnTo>
                  <a:pt x="56979" y="18351"/>
                </a:lnTo>
                <a:lnTo>
                  <a:pt x="57460" y="18832"/>
                </a:lnTo>
                <a:lnTo>
                  <a:pt x="58909" y="18832"/>
                </a:lnTo>
                <a:lnTo>
                  <a:pt x="59396" y="19319"/>
                </a:lnTo>
                <a:lnTo>
                  <a:pt x="59877" y="19319"/>
                </a:lnTo>
                <a:lnTo>
                  <a:pt x="60358" y="19800"/>
                </a:lnTo>
                <a:lnTo>
                  <a:pt x="61806" y="19800"/>
                </a:lnTo>
                <a:lnTo>
                  <a:pt x="62293" y="20281"/>
                </a:lnTo>
                <a:lnTo>
                  <a:pt x="63255" y="20281"/>
                </a:lnTo>
                <a:lnTo>
                  <a:pt x="63742" y="20768"/>
                </a:lnTo>
                <a:lnTo>
                  <a:pt x="65191" y="20768"/>
                </a:lnTo>
                <a:lnTo>
                  <a:pt x="65671" y="21249"/>
                </a:lnTo>
                <a:lnTo>
                  <a:pt x="66152" y="21249"/>
                </a:lnTo>
                <a:lnTo>
                  <a:pt x="66639" y="21730"/>
                </a:lnTo>
                <a:lnTo>
                  <a:pt x="68088" y="21730"/>
                </a:lnTo>
                <a:lnTo>
                  <a:pt x="68569" y="22217"/>
                </a:lnTo>
                <a:lnTo>
                  <a:pt x="69537" y="22217"/>
                </a:lnTo>
                <a:lnTo>
                  <a:pt x="70018" y="22698"/>
                </a:lnTo>
                <a:lnTo>
                  <a:pt x="70985" y="22698"/>
                </a:lnTo>
                <a:lnTo>
                  <a:pt x="71466" y="23179"/>
                </a:lnTo>
                <a:lnTo>
                  <a:pt x="72434" y="23179"/>
                </a:lnTo>
                <a:lnTo>
                  <a:pt x="72915" y="23665"/>
                </a:lnTo>
                <a:lnTo>
                  <a:pt x="73883" y="23665"/>
                </a:lnTo>
                <a:lnTo>
                  <a:pt x="74364" y="24146"/>
                </a:lnTo>
                <a:lnTo>
                  <a:pt x="75812" y="24146"/>
                </a:lnTo>
                <a:lnTo>
                  <a:pt x="76293" y="24627"/>
                </a:lnTo>
                <a:lnTo>
                  <a:pt x="77261" y="24627"/>
                </a:lnTo>
                <a:lnTo>
                  <a:pt x="77742" y="25114"/>
                </a:lnTo>
                <a:lnTo>
                  <a:pt x="78710" y="25114"/>
                </a:lnTo>
                <a:lnTo>
                  <a:pt x="79191" y="25595"/>
                </a:lnTo>
                <a:lnTo>
                  <a:pt x="80158" y="25595"/>
                </a:lnTo>
                <a:lnTo>
                  <a:pt x="80639" y="26076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546902" y="1195859"/>
            <a:ext cx="330835" cy="120650"/>
          </a:xfrm>
          <a:custGeom>
            <a:avLst/>
            <a:gdLst/>
            <a:ahLst/>
            <a:cxnLst/>
            <a:rect l="l" t="t" r="r" b="b"/>
            <a:pathLst>
              <a:path w="330835" h="120650">
                <a:moveTo>
                  <a:pt x="0" y="0"/>
                </a:moveTo>
                <a:lnTo>
                  <a:pt x="46667" y="18621"/>
                </a:lnTo>
                <a:lnTo>
                  <a:pt x="93553" y="36779"/>
                </a:lnTo>
                <a:lnTo>
                  <a:pt x="140630" y="54463"/>
                </a:lnTo>
                <a:lnTo>
                  <a:pt x="187870" y="71661"/>
                </a:lnTo>
                <a:lnTo>
                  <a:pt x="235246" y="88364"/>
                </a:lnTo>
                <a:lnTo>
                  <a:pt x="282732" y="104561"/>
                </a:lnTo>
                <a:lnTo>
                  <a:pt x="330301" y="120241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249920" y="1094937"/>
            <a:ext cx="297180" cy="100965"/>
          </a:xfrm>
          <a:custGeom>
            <a:avLst/>
            <a:gdLst/>
            <a:ahLst/>
            <a:cxnLst/>
            <a:rect l="l" t="t" r="r" b="b"/>
            <a:pathLst>
              <a:path w="297180" h="100965">
                <a:moveTo>
                  <a:pt x="0" y="0"/>
                </a:moveTo>
                <a:lnTo>
                  <a:pt x="56737" y="8145"/>
                </a:lnTo>
                <a:lnTo>
                  <a:pt x="111549" y="26557"/>
                </a:lnTo>
                <a:lnTo>
                  <a:pt x="157976" y="44773"/>
                </a:lnTo>
                <a:lnTo>
                  <a:pt x="204291" y="63606"/>
                </a:lnTo>
                <a:lnTo>
                  <a:pt x="250593" y="82506"/>
                </a:lnTo>
                <a:lnTo>
                  <a:pt x="296981" y="100921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018611" y="1089143"/>
            <a:ext cx="237104" cy="2037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640022" y="1287126"/>
            <a:ext cx="384810" cy="628650"/>
          </a:xfrm>
          <a:custGeom>
            <a:avLst/>
            <a:gdLst/>
            <a:ahLst/>
            <a:cxnLst/>
            <a:rect l="l" t="t" r="r" b="b"/>
            <a:pathLst>
              <a:path w="384810" h="628650">
                <a:moveTo>
                  <a:pt x="0" y="628250"/>
                </a:moveTo>
                <a:lnTo>
                  <a:pt x="21750" y="584424"/>
                </a:lnTo>
                <a:lnTo>
                  <a:pt x="44029" y="540729"/>
                </a:lnTo>
                <a:lnTo>
                  <a:pt x="66843" y="497197"/>
                </a:lnTo>
                <a:lnTo>
                  <a:pt x="90197" y="453864"/>
                </a:lnTo>
                <a:lnTo>
                  <a:pt x="114096" y="410763"/>
                </a:lnTo>
                <a:lnTo>
                  <a:pt x="138548" y="367928"/>
                </a:lnTo>
                <a:lnTo>
                  <a:pt x="163556" y="325392"/>
                </a:lnTo>
                <a:lnTo>
                  <a:pt x="189128" y="283192"/>
                </a:lnTo>
                <a:lnTo>
                  <a:pt x="215269" y="241359"/>
                </a:lnTo>
                <a:lnTo>
                  <a:pt x="241985" y="199928"/>
                </a:lnTo>
                <a:lnTo>
                  <a:pt x="269281" y="158934"/>
                </a:lnTo>
                <a:lnTo>
                  <a:pt x="297163" y="118410"/>
                </a:lnTo>
                <a:lnTo>
                  <a:pt x="325636" y="78390"/>
                </a:lnTo>
                <a:lnTo>
                  <a:pt x="354708" y="38909"/>
                </a:lnTo>
                <a:lnTo>
                  <a:pt x="384383" y="0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502397" y="1915376"/>
            <a:ext cx="137795" cy="306705"/>
          </a:xfrm>
          <a:custGeom>
            <a:avLst/>
            <a:gdLst/>
            <a:ahLst/>
            <a:cxnLst/>
            <a:rect l="l" t="t" r="r" b="b"/>
            <a:pathLst>
              <a:path w="137794" h="306705">
                <a:moveTo>
                  <a:pt x="0" y="306641"/>
                </a:moveTo>
                <a:lnTo>
                  <a:pt x="18262" y="262455"/>
                </a:lnTo>
                <a:lnTo>
                  <a:pt x="37022" y="218312"/>
                </a:lnTo>
                <a:lnTo>
                  <a:pt x="56260" y="174262"/>
                </a:lnTo>
                <a:lnTo>
                  <a:pt x="75958" y="130356"/>
                </a:lnTo>
                <a:lnTo>
                  <a:pt x="96097" y="86643"/>
                </a:lnTo>
                <a:lnTo>
                  <a:pt x="116659" y="43174"/>
                </a:lnTo>
                <a:lnTo>
                  <a:pt x="137625" y="0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467141" y="2222018"/>
            <a:ext cx="35560" cy="48895"/>
          </a:xfrm>
          <a:custGeom>
            <a:avLst/>
            <a:gdLst/>
            <a:ahLst/>
            <a:cxnLst/>
            <a:rect l="l" t="t" r="r" b="b"/>
            <a:pathLst>
              <a:path w="35559" h="48894">
                <a:moveTo>
                  <a:pt x="0" y="48768"/>
                </a:moveTo>
                <a:lnTo>
                  <a:pt x="0" y="48768"/>
                </a:lnTo>
                <a:lnTo>
                  <a:pt x="14973" y="48768"/>
                </a:lnTo>
                <a:lnTo>
                  <a:pt x="15935" y="47806"/>
                </a:lnTo>
                <a:lnTo>
                  <a:pt x="15935" y="46358"/>
                </a:lnTo>
                <a:lnTo>
                  <a:pt x="16903" y="45390"/>
                </a:lnTo>
                <a:lnTo>
                  <a:pt x="16903" y="44422"/>
                </a:lnTo>
                <a:lnTo>
                  <a:pt x="17384" y="43941"/>
                </a:lnTo>
                <a:lnTo>
                  <a:pt x="17384" y="42973"/>
                </a:lnTo>
                <a:lnTo>
                  <a:pt x="17871" y="42492"/>
                </a:lnTo>
                <a:lnTo>
                  <a:pt x="17871" y="42011"/>
                </a:lnTo>
                <a:lnTo>
                  <a:pt x="18351" y="41525"/>
                </a:lnTo>
                <a:lnTo>
                  <a:pt x="18351" y="40563"/>
                </a:lnTo>
                <a:lnTo>
                  <a:pt x="18832" y="40076"/>
                </a:lnTo>
                <a:lnTo>
                  <a:pt x="18832" y="39595"/>
                </a:lnTo>
                <a:lnTo>
                  <a:pt x="19319" y="39114"/>
                </a:lnTo>
                <a:lnTo>
                  <a:pt x="19319" y="38146"/>
                </a:lnTo>
                <a:lnTo>
                  <a:pt x="19800" y="37665"/>
                </a:lnTo>
                <a:lnTo>
                  <a:pt x="19800" y="37179"/>
                </a:lnTo>
                <a:lnTo>
                  <a:pt x="20281" y="36698"/>
                </a:lnTo>
                <a:lnTo>
                  <a:pt x="20281" y="36217"/>
                </a:lnTo>
                <a:lnTo>
                  <a:pt x="20768" y="35730"/>
                </a:lnTo>
                <a:lnTo>
                  <a:pt x="20768" y="34768"/>
                </a:lnTo>
                <a:lnTo>
                  <a:pt x="21249" y="34281"/>
                </a:lnTo>
                <a:lnTo>
                  <a:pt x="21249" y="33319"/>
                </a:lnTo>
                <a:lnTo>
                  <a:pt x="21730" y="32833"/>
                </a:lnTo>
                <a:lnTo>
                  <a:pt x="21730" y="32352"/>
                </a:lnTo>
                <a:lnTo>
                  <a:pt x="22217" y="31871"/>
                </a:lnTo>
                <a:lnTo>
                  <a:pt x="22217" y="30903"/>
                </a:lnTo>
                <a:lnTo>
                  <a:pt x="22698" y="30422"/>
                </a:lnTo>
                <a:lnTo>
                  <a:pt x="22698" y="29935"/>
                </a:lnTo>
                <a:lnTo>
                  <a:pt x="23179" y="29454"/>
                </a:lnTo>
                <a:lnTo>
                  <a:pt x="23179" y="28973"/>
                </a:lnTo>
                <a:lnTo>
                  <a:pt x="23665" y="28487"/>
                </a:lnTo>
                <a:lnTo>
                  <a:pt x="23665" y="27525"/>
                </a:lnTo>
                <a:lnTo>
                  <a:pt x="24146" y="27038"/>
                </a:lnTo>
                <a:lnTo>
                  <a:pt x="24146" y="26557"/>
                </a:lnTo>
                <a:lnTo>
                  <a:pt x="24627" y="26076"/>
                </a:lnTo>
                <a:lnTo>
                  <a:pt x="24627" y="25108"/>
                </a:lnTo>
                <a:lnTo>
                  <a:pt x="25114" y="24627"/>
                </a:lnTo>
                <a:lnTo>
                  <a:pt x="25114" y="24140"/>
                </a:lnTo>
                <a:lnTo>
                  <a:pt x="25595" y="23179"/>
                </a:lnTo>
                <a:lnTo>
                  <a:pt x="25595" y="22692"/>
                </a:lnTo>
                <a:lnTo>
                  <a:pt x="26076" y="22211"/>
                </a:lnTo>
                <a:lnTo>
                  <a:pt x="26076" y="21730"/>
                </a:lnTo>
                <a:lnTo>
                  <a:pt x="26563" y="20762"/>
                </a:lnTo>
                <a:lnTo>
                  <a:pt x="26563" y="20281"/>
                </a:lnTo>
                <a:lnTo>
                  <a:pt x="27044" y="19794"/>
                </a:lnTo>
                <a:lnTo>
                  <a:pt x="27525" y="18832"/>
                </a:lnTo>
                <a:lnTo>
                  <a:pt x="27525" y="18346"/>
                </a:lnTo>
                <a:lnTo>
                  <a:pt x="28011" y="17384"/>
                </a:lnTo>
                <a:lnTo>
                  <a:pt x="28011" y="16897"/>
                </a:lnTo>
                <a:lnTo>
                  <a:pt x="28492" y="15935"/>
                </a:lnTo>
                <a:lnTo>
                  <a:pt x="28973" y="15448"/>
                </a:lnTo>
                <a:lnTo>
                  <a:pt x="28973" y="14486"/>
                </a:lnTo>
                <a:lnTo>
                  <a:pt x="29460" y="14000"/>
                </a:lnTo>
                <a:lnTo>
                  <a:pt x="29941" y="13038"/>
                </a:lnTo>
                <a:lnTo>
                  <a:pt x="29941" y="12070"/>
                </a:lnTo>
                <a:lnTo>
                  <a:pt x="31413" y="10853"/>
                </a:lnTo>
                <a:lnTo>
                  <a:pt x="30358" y="9781"/>
                </a:lnTo>
                <a:lnTo>
                  <a:pt x="32357" y="6756"/>
                </a:lnTo>
                <a:lnTo>
                  <a:pt x="32838" y="6275"/>
                </a:lnTo>
                <a:lnTo>
                  <a:pt x="32838" y="5307"/>
                </a:lnTo>
                <a:lnTo>
                  <a:pt x="33319" y="3859"/>
                </a:lnTo>
                <a:lnTo>
                  <a:pt x="35255" y="0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343522" y="2270786"/>
            <a:ext cx="129539" cy="0"/>
          </a:xfrm>
          <a:custGeom>
            <a:avLst/>
            <a:gdLst/>
            <a:ahLst/>
            <a:cxnLst/>
            <a:rect l="l" t="t" r="r" b="b"/>
            <a:pathLst>
              <a:path w="129540" h="0">
                <a:moveTo>
                  <a:pt x="0" y="0"/>
                </a:moveTo>
                <a:lnTo>
                  <a:pt x="129420" y="0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106905" y="2270786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 h="0">
                <a:moveTo>
                  <a:pt x="0" y="0"/>
                </a:moveTo>
                <a:lnTo>
                  <a:pt x="248206" y="0"/>
                </a:lnTo>
              </a:path>
            </a:pathLst>
          </a:custGeom>
          <a:ln w="1158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024969" y="1362458"/>
            <a:ext cx="677545" cy="167005"/>
          </a:xfrm>
          <a:custGeom>
            <a:avLst/>
            <a:gdLst/>
            <a:ahLst/>
            <a:cxnLst/>
            <a:rect l="l" t="t" r="r" b="b"/>
            <a:pathLst>
              <a:path w="677545" h="167005">
                <a:moveTo>
                  <a:pt x="0" y="0"/>
                </a:moveTo>
                <a:lnTo>
                  <a:pt x="47702" y="14161"/>
                </a:lnTo>
                <a:lnTo>
                  <a:pt x="95550" y="27920"/>
                </a:lnTo>
                <a:lnTo>
                  <a:pt x="143533" y="41291"/>
                </a:lnTo>
                <a:lnTo>
                  <a:pt x="191642" y="54287"/>
                </a:lnTo>
                <a:lnTo>
                  <a:pt x="239867" y="66922"/>
                </a:lnTo>
                <a:lnTo>
                  <a:pt x="288199" y="79209"/>
                </a:lnTo>
                <a:lnTo>
                  <a:pt x="336626" y="91161"/>
                </a:lnTo>
                <a:lnTo>
                  <a:pt x="385141" y="102793"/>
                </a:lnTo>
                <a:lnTo>
                  <a:pt x="433732" y="114117"/>
                </a:lnTo>
                <a:lnTo>
                  <a:pt x="482390" y="125147"/>
                </a:lnTo>
                <a:lnTo>
                  <a:pt x="531106" y="135897"/>
                </a:lnTo>
                <a:lnTo>
                  <a:pt x="579869" y="146379"/>
                </a:lnTo>
                <a:lnTo>
                  <a:pt x="628670" y="156609"/>
                </a:lnTo>
                <a:lnTo>
                  <a:pt x="677499" y="166599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957842" y="1342176"/>
            <a:ext cx="67310" cy="20320"/>
          </a:xfrm>
          <a:custGeom>
            <a:avLst/>
            <a:gdLst/>
            <a:ahLst/>
            <a:cxnLst/>
            <a:rect l="l" t="t" r="r" b="b"/>
            <a:pathLst>
              <a:path w="67310" h="20319">
                <a:moveTo>
                  <a:pt x="0" y="0"/>
                </a:moveTo>
                <a:lnTo>
                  <a:pt x="967" y="0"/>
                </a:lnTo>
                <a:lnTo>
                  <a:pt x="1448" y="486"/>
                </a:lnTo>
                <a:lnTo>
                  <a:pt x="2897" y="486"/>
                </a:lnTo>
                <a:lnTo>
                  <a:pt x="3384" y="967"/>
                </a:lnTo>
                <a:lnTo>
                  <a:pt x="4346" y="967"/>
                </a:lnTo>
                <a:lnTo>
                  <a:pt x="4832" y="1448"/>
                </a:lnTo>
                <a:lnTo>
                  <a:pt x="5794" y="1448"/>
                </a:lnTo>
                <a:lnTo>
                  <a:pt x="6281" y="1935"/>
                </a:lnTo>
                <a:lnTo>
                  <a:pt x="7243" y="1935"/>
                </a:lnTo>
                <a:lnTo>
                  <a:pt x="7730" y="2416"/>
                </a:lnTo>
                <a:lnTo>
                  <a:pt x="8692" y="2416"/>
                </a:lnTo>
                <a:lnTo>
                  <a:pt x="9178" y="2897"/>
                </a:lnTo>
                <a:lnTo>
                  <a:pt x="10140" y="2897"/>
                </a:lnTo>
                <a:lnTo>
                  <a:pt x="10627" y="3384"/>
                </a:lnTo>
                <a:lnTo>
                  <a:pt x="12076" y="3384"/>
                </a:lnTo>
                <a:lnTo>
                  <a:pt x="12557" y="3865"/>
                </a:lnTo>
                <a:lnTo>
                  <a:pt x="13524" y="3865"/>
                </a:lnTo>
                <a:lnTo>
                  <a:pt x="14005" y="4346"/>
                </a:lnTo>
                <a:lnTo>
                  <a:pt x="14973" y="4346"/>
                </a:lnTo>
                <a:lnTo>
                  <a:pt x="15454" y="4832"/>
                </a:lnTo>
                <a:lnTo>
                  <a:pt x="16422" y="4832"/>
                </a:lnTo>
                <a:lnTo>
                  <a:pt x="16903" y="5313"/>
                </a:lnTo>
                <a:lnTo>
                  <a:pt x="18351" y="5313"/>
                </a:lnTo>
                <a:lnTo>
                  <a:pt x="18832" y="5794"/>
                </a:lnTo>
                <a:lnTo>
                  <a:pt x="19800" y="5794"/>
                </a:lnTo>
                <a:lnTo>
                  <a:pt x="20281" y="6281"/>
                </a:lnTo>
                <a:lnTo>
                  <a:pt x="21249" y="6281"/>
                </a:lnTo>
                <a:lnTo>
                  <a:pt x="21730" y="6762"/>
                </a:lnTo>
                <a:lnTo>
                  <a:pt x="23179" y="6762"/>
                </a:lnTo>
                <a:lnTo>
                  <a:pt x="23665" y="7243"/>
                </a:lnTo>
                <a:lnTo>
                  <a:pt x="24627" y="7243"/>
                </a:lnTo>
                <a:lnTo>
                  <a:pt x="25114" y="7730"/>
                </a:lnTo>
                <a:lnTo>
                  <a:pt x="26076" y="7730"/>
                </a:lnTo>
                <a:lnTo>
                  <a:pt x="26563" y="8211"/>
                </a:lnTo>
                <a:lnTo>
                  <a:pt x="27525" y="8211"/>
                </a:lnTo>
                <a:lnTo>
                  <a:pt x="28011" y="8692"/>
                </a:lnTo>
                <a:lnTo>
                  <a:pt x="29460" y="8692"/>
                </a:lnTo>
                <a:lnTo>
                  <a:pt x="29941" y="9178"/>
                </a:lnTo>
                <a:lnTo>
                  <a:pt x="30422" y="9178"/>
                </a:lnTo>
                <a:lnTo>
                  <a:pt x="31390" y="9659"/>
                </a:lnTo>
                <a:lnTo>
                  <a:pt x="32357" y="9659"/>
                </a:lnTo>
                <a:lnTo>
                  <a:pt x="33319" y="10140"/>
                </a:lnTo>
                <a:lnTo>
                  <a:pt x="33806" y="10140"/>
                </a:lnTo>
                <a:lnTo>
                  <a:pt x="35527" y="10963"/>
                </a:lnTo>
                <a:lnTo>
                  <a:pt x="37393" y="11253"/>
                </a:lnTo>
                <a:lnTo>
                  <a:pt x="39114" y="12076"/>
                </a:lnTo>
                <a:lnTo>
                  <a:pt x="40082" y="12076"/>
                </a:lnTo>
                <a:lnTo>
                  <a:pt x="41050" y="12557"/>
                </a:lnTo>
                <a:lnTo>
                  <a:pt x="41531" y="12557"/>
                </a:lnTo>
                <a:lnTo>
                  <a:pt x="42498" y="13038"/>
                </a:lnTo>
                <a:lnTo>
                  <a:pt x="43460" y="13038"/>
                </a:lnTo>
                <a:lnTo>
                  <a:pt x="44428" y="13524"/>
                </a:lnTo>
                <a:lnTo>
                  <a:pt x="46468" y="14388"/>
                </a:lnTo>
                <a:lnTo>
                  <a:pt x="48641" y="14440"/>
                </a:lnTo>
                <a:lnTo>
                  <a:pt x="50704" y="15454"/>
                </a:lnTo>
                <a:lnTo>
                  <a:pt x="52859" y="16323"/>
                </a:lnTo>
                <a:lnTo>
                  <a:pt x="55310" y="16630"/>
                </a:lnTo>
                <a:lnTo>
                  <a:pt x="57466" y="17384"/>
                </a:lnTo>
                <a:lnTo>
                  <a:pt x="61934" y="19250"/>
                </a:lnTo>
                <a:lnTo>
                  <a:pt x="63093" y="18989"/>
                </a:lnTo>
                <a:lnTo>
                  <a:pt x="67126" y="20281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877203" y="1316100"/>
            <a:ext cx="80645" cy="26670"/>
          </a:xfrm>
          <a:custGeom>
            <a:avLst/>
            <a:gdLst/>
            <a:ahLst/>
            <a:cxnLst/>
            <a:rect l="l" t="t" r="r" b="b"/>
            <a:pathLst>
              <a:path w="80644" h="26669">
                <a:moveTo>
                  <a:pt x="0" y="0"/>
                </a:moveTo>
                <a:lnTo>
                  <a:pt x="23972" y="7747"/>
                </a:lnTo>
                <a:lnTo>
                  <a:pt x="26557" y="8692"/>
                </a:lnTo>
                <a:lnTo>
                  <a:pt x="28006" y="8692"/>
                </a:lnTo>
                <a:lnTo>
                  <a:pt x="28973" y="9178"/>
                </a:lnTo>
                <a:lnTo>
                  <a:pt x="30422" y="9659"/>
                </a:lnTo>
                <a:lnTo>
                  <a:pt x="32352" y="10627"/>
                </a:lnTo>
                <a:lnTo>
                  <a:pt x="33800" y="10627"/>
                </a:lnTo>
                <a:lnTo>
                  <a:pt x="36831" y="12366"/>
                </a:lnTo>
                <a:lnTo>
                  <a:pt x="35771" y="10795"/>
                </a:lnTo>
                <a:lnTo>
                  <a:pt x="39595" y="13038"/>
                </a:lnTo>
                <a:lnTo>
                  <a:pt x="40563" y="13038"/>
                </a:lnTo>
                <a:lnTo>
                  <a:pt x="41525" y="13524"/>
                </a:lnTo>
                <a:lnTo>
                  <a:pt x="42492" y="13524"/>
                </a:lnTo>
                <a:lnTo>
                  <a:pt x="44422" y="14486"/>
                </a:lnTo>
                <a:lnTo>
                  <a:pt x="45390" y="14486"/>
                </a:lnTo>
                <a:lnTo>
                  <a:pt x="46989" y="15170"/>
                </a:lnTo>
                <a:lnTo>
                  <a:pt x="48612" y="15703"/>
                </a:lnTo>
                <a:lnTo>
                  <a:pt x="50217" y="15935"/>
                </a:lnTo>
                <a:lnTo>
                  <a:pt x="51185" y="16422"/>
                </a:lnTo>
                <a:lnTo>
                  <a:pt x="51666" y="16422"/>
                </a:lnTo>
                <a:lnTo>
                  <a:pt x="52633" y="16903"/>
                </a:lnTo>
                <a:lnTo>
                  <a:pt x="53114" y="16903"/>
                </a:lnTo>
                <a:lnTo>
                  <a:pt x="53601" y="17384"/>
                </a:lnTo>
                <a:lnTo>
                  <a:pt x="54563" y="17384"/>
                </a:lnTo>
                <a:lnTo>
                  <a:pt x="55050" y="17871"/>
                </a:lnTo>
                <a:lnTo>
                  <a:pt x="56012" y="17871"/>
                </a:lnTo>
                <a:lnTo>
                  <a:pt x="56498" y="18351"/>
                </a:lnTo>
                <a:lnTo>
                  <a:pt x="57460" y="18351"/>
                </a:lnTo>
                <a:lnTo>
                  <a:pt x="58428" y="18832"/>
                </a:lnTo>
                <a:lnTo>
                  <a:pt x="58909" y="18832"/>
                </a:lnTo>
                <a:lnTo>
                  <a:pt x="59396" y="19319"/>
                </a:lnTo>
                <a:lnTo>
                  <a:pt x="60358" y="19319"/>
                </a:lnTo>
                <a:lnTo>
                  <a:pt x="61325" y="19800"/>
                </a:lnTo>
                <a:lnTo>
                  <a:pt x="62293" y="19800"/>
                </a:lnTo>
                <a:lnTo>
                  <a:pt x="62774" y="20281"/>
                </a:lnTo>
                <a:lnTo>
                  <a:pt x="63742" y="20281"/>
                </a:lnTo>
                <a:lnTo>
                  <a:pt x="64223" y="20768"/>
                </a:lnTo>
                <a:lnTo>
                  <a:pt x="65191" y="20768"/>
                </a:lnTo>
                <a:lnTo>
                  <a:pt x="65671" y="21249"/>
                </a:lnTo>
                <a:lnTo>
                  <a:pt x="66639" y="21249"/>
                </a:lnTo>
                <a:lnTo>
                  <a:pt x="67120" y="21730"/>
                </a:lnTo>
                <a:lnTo>
                  <a:pt x="68088" y="21730"/>
                </a:lnTo>
                <a:lnTo>
                  <a:pt x="68569" y="22217"/>
                </a:lnTo>
                <a:lnTo>
                  <a:pt x="69537" y="22217"/>
                </a:lnTo>
                <a:lnTo>
                  <a:pt x="70018" y="22698"/>
                </a:lnTo>
                <a:lnTo>
                  <a:pt x="71466" y="22698"/>
                </a:lnTo>
                <a:lnTo>
                  <a:pt x="71947" y="23179"/>
                </a:lnTo>
                <a:lnTo>
                  <a:pt x="72915" y="23179"/>
                </a:lnTo>
                <a:lnTo>
                  <a:pt x="73396" y="23665"/>
                </a:lnTo>
                <a:lnTo>
                  <a:pt x="74364" y="23665"/>
                </a:lnTo>
                <a:lnTo>
                  <a:pt x="74845" y="24146"/>
                </a:lnTo>
                <a:lnTo>
                  <a:pt x="75812" y="24146"/>
                </a:lnTo>
                <a:lnTo>
                  <a:pt x="76293" y="24627"/>
                </a:lnTo>
                <a:lnTo>
                  <a:pt x="77261" y="24627"/>
                </a:lnTo>
                <a:lnTo>
                  <a:pt x="77742" y="25114"/>
                </a:lnTo>
                <a:lnTo>
                  <a:pt x="78710" y="25114"/>
                </a:lnTo>
                <a:lnTo>
                  <a:pt x="79191" y="25595"/>
                </a:lnTo>
                <a:lnTo>
                  <a:pt x="80158" y="25595"/>
                </a:lnTo>
                <a:lnTo>
                  <a:pt x="80639" y="26076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546902" y="1192000"/>
            <a:ext cx="330835" cy="124460"/>
          </a:xfrm>
          <a:custGeom>
            <a:avLst/>
            <a:gdLst/>
            <a:ahLst/>
            <a:cxnLst/>
            <a:rect l="l" t="t" r="r" b="b"/>
            <a:pathLst>
              <a:path w="330835" h="124459">
                <a:moveTo>
                  <a:pt x="0" y="0"/>
                </a:moveTo>
                <a:lnTo>
                  <a:pt x="49727" y="20557"/>
                </a:lnTo>
                <a:lnTo>
                  <a:pt x="99544" y="40395"/>
                </a:lnTo>
                <a:lnTo>
                  <a:pt x="149568" y="59714"/>
                </a:lnTo>
                <a:lnTo>
                  <a:pt x="199919" y="78710"/>
                </a:lnTo>
                <a:lnTo>
                  <a:pt x="219109" y="85388"/>
                </a:lnTo>
                <a:lnTo>
                  <a:pt x="238252" y="92223"/>
                </a:lnTo>
                <a:lnTo>
                  <a:pt x="257424" y="99062"/>
                </a:lnTo>
                <a:lnTo>
                  <a:pt x="276699" y="105754"/>
                </a:lnTo>
                <a:lnTo>
                  <a:pt x="283817" y="108190"/>
                </a:lnTo>
                <a:lnTo>
                  <a:pt x="290947" y="110555"/>
                </a:lnTo>
                <a:lnTo>
                  <a:pt x="298075" y="112933"/>
                </a:lnTo>
                <a:lnTo>
                  <a:pt x="305186" y="115408"/>
                </a:lnTo>
                <a:lnTo>
                  <a:pt x="309069" y="117187"/>
                </a:lnTo>
                <a:lnTo>
                  <a:pt x="313478" y="117633"/>
                </a:lnTo>
                <a:lnTo>
                  <a:pt x="317262" y="119754"/>
                </a:lnTo>
                <a:lnTo>
                  <a:pt x="319673" y="120571"/>
                </a:lnTo>
                <a:lnTo>
                  <a:pt x="328887" y="122912"/>
                </a:lnTo>
                <a:lnTo>
                  <a:pt x="330301" y="124100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249920" y="1049060"/>
            <a:ext cx="297180" cy="143510"/>
          </a:xfrm>
          <a:custGeom>
            <a:avLst/>
            <a:gdLst/>
            <a:ahLst/>
            <a:cxnLst/>
            <a:rect l="l" t="t" r="r" b="b"/>
            <a:pathLst>
              <a:path w="297180" h="143509">
                <a:moveTo>
                  <a:pt x="0" y="0"/>
                </a:moveTo>
                <a:lnTo>
                  <a:pt x="48379" y="25919"/>
                </a:lnTo>
                <a:lnTo>
                  <a:pt x="97297" y="50912"/>
                </a:lnTo>
                <a:lnTo>
                  <a:pt x="146684" y="75046"/>
                </a:lnTo>
                <a:lnTo>
                  <a:pt x="196473" y="98385"/>
                </a:lnTo>
                <a:lnTo>
                  <a:pt x="246595" y="120994"/>
                </a:lnTo>
                <a:lnTo>
                  <a:pt x="296981" y="142939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024406" y="912884"/>
            <a:ext cx="226060" cy="136525"/>
          </a:xfrm>
          <a:custGeom>
            <a:avLst/>
            <a:gdLst/>
            <a:ahLst/>
            <a:cxnLst/>
            <a:rect l="l" t="t" r="r" b="b"/>
            <a:pathLst>
              <a:path w="226060" h="136525">
                <a:moveTo>
                  <a:pt x="0" y="0"/>
                </a:moveTo>
                <a:lnTo>
                  <a:pt x="44028" y="28890"/>
                </a:lnTo>
                <a:lnTo>
                  <a:pt x="88678" y="57075"/>
                </a:lnTo>
                <a:lnTo>
                  <a:pt x="133865" y="84433"/>
                </a:lnTo>
                <a:lnTo>
                  <a:pt x="179505" y="110841"/>
                </a:lnTo>
                <a:lnTo>
                  <a:pt x="225514" y="136176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640022" y="594172"/>
            <a:ext cx="384810" cy="318770"/>
          </a:xfrm>
          <a:custGeom>
            <a:avLst/>
            <a:gdLst/>
            <a:ahLst/>
            <a:cxnLst/>
            <a:rect l="l" t="t" r="r" b="b"/>
            <a:pathLst>
              <a:path w="384810" h="318769">
                <a:moveTo>
                  <a:pt x="0" y="0"/>
                </a:moveTo>
                <a:lnTo>
                  <a:pt x="35335" y="35405"/>
                </a:lnTo>
                <a:lnTo>
                  <a:pt x="71422" y="70044"/>
                </a:lnTo>
                <a:lnTo>
                  <a:pt x="108237" y="103909"/>
                </a:lnTo>
                <a:lnTo>
                  <a:pt x="145756" y="136992"/>
                </a:lnTo>
                <a:lnTo>
                  <a:pt x="183958" y="169288"/>
                </a:lnTo>
                <a:lnTo>
                  <a:pt x="222818" y="200789"/>
                </a:lnTo>
                <a:lnTo>
                  <a:pt x="262313" y="231489"/>
                </a:lnTo>
                <a:lnTo>
                  <a:pt x="302421" y="261381"/>
                </a:lnTo>
                <a:lnTo>
                  <a:pt x="343119" y="290457"/>
                </a:lnTo>
                <a:lnTo>
                  <a:pt x="384383" y="318711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301991" y="410189"/>
            <a:ext cx="343826" cy="2593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112699" y="663709"/>
            <a:ext cx="195580" cy="370840"/>
          </a:xfrm>
          <a:custGeom>
            <a:avLst/>
            <a:gdLst/>
            <a:ahLst/>
            <a:cxnLst/>
            <a:rect l="l" t="t" r="r" b="b"/>
            <a:pathLst>
              <a:path w="195580" h="370840">
                <a:moveTo>
                  <a:pt x="0" y="370383"/>
                </a:moveTo>
                <a:lnTo>
                  <a:pt x="21516" y="322867"/>
                </a:lnTo>
                <a:lnTo>
                  <a:pt x="43892" y="275551"/>
                </a:lnTo>
                <a:lnTo>
                  <a:pt x="67106" y="228510"/>
                </a:lnTo>
                <a:lnTo>
                  <a:pt x="91141" y="181816"/>
                </a:lnTo>
                <a:lnTo>
                  <a:pt x="115976" y="135545"/>
                </a:lnTo>
                <a:lnTo>
                  <a:pt x="141591" y="89769"/>
                </a:lnTo>
                <a:lnTo>
                  <a:pt x="167968" y="44563"/>
                </a:lnTo>
                <a:lnTo>
                  <a:pt x="195086" y="0"/>
                </a:lnTo>
              </a:path>
            </a:pathLst>
          </a:custGeom>
          <a:ln w="1158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2189412" y="2266297"/>
            <a:ext cx="466725" cy="2159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665"/>
              </a:lnSpc>
              <a:spcBef>
                <a:spcPts val="135"/>
              </a:spcBef>
              <a:tabLst>
                <a:tab pos="339090" algn="l"/>
              </a:tabLst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r>
              <a:rPr dirty="0" sz="600" spc="15">
                <a:latin typeface="Times New Roman"/>
                <a:cs typeface="Times New Roman"/>
              </a:rPr>
              <a:t>	</a:t>
            </a:r>
            <a:r>
              <a:rPr dirty="0" sz="600" spc="15">
                <a:latin typeface="Times New Roman"/>
                <a:cs typeface="Times New Roman"/>
              </a:rPr>
              <a:t>2.5</a:t>
            </a:r>
            <a:endParaRPr sz="600">
              <a:latin typeface="Times New Roman"/>
              <a:cs typeface="Times New Roman"/>
            </a:endParaRPr>
          </a:p>
          <a:p>
            <a:pPr algn="ctr" marR="23495">
              <a:lnSpc>
                <a:spcPts val="785"/>
              </a:lnSpc>
            </a:pPr>
            <a:r>
              <a:rPr dirty="0" sz="700" spc="15">
                <a:latin typeface="Symbol"/>
                <a:cs typeface="Symbol"/>
              </a:rPr>
              <a:t></a:t>
            </a:r>
            <a:endParaRPr sz="700">
              <a:latin typeface="Symbol"/>
              <a:cs typeface="Symbo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863827" y="1145210"/>
            <a:ext cx="117475" cy="210185"/>
          </a:xfrm>
          <a:prstGeom prst="rect">
            <a:avLst/>
          </a:prstGeom>
        </p:spPr>
        <p:txBody>
          <a:bodyPr wrap="square" lIns="0" tIns="101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latin typeface="Times New Roman"/>
                <a:cs typeface="Times New Roman"/>
              </a:rPr>
              <a:t>[MY]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237623" y="908393"/>
            <a:ext cx="13906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15">
                <a:latin typeface="Calibri"/>
                <a:cs typeface="Calibri"/>
              </a:rPr>
              <a:t>PbY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919475" y="1547265"/>
            <a:ext cx="147320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35">
                <a:latin typeface="Calibri"/>
                <a:cs typeface="Calibri"/>
              </a:rPr>
              <a:t>C</a:t>
            </a:r>
            <a:r>
              <a:rPr dirty="0" sz="550" spc="15">
                <a:latin typeface="Calibri"/>
                <a:cs typeface="Calibri"/>
              </a:rPr>
              <a:t>a</a:t>
            </a:r>
            <a:r>
              <a:rPr dirty="0" sz="550" spc="140">
                <a:latin typeface="Calibri"/>
                <a:cs typeface="Calibri"/>
              </a:rPr>
              <a:t>Y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573798" y="1886738"/>
            <a:ext cx="156210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100">
                <a:latin typeface="Calibri"/>
                <a:cs typeface="Calibri"/>
              </a:rPr>
              <a:t>M</a:t>
            </a:r>
            <a:r>
              <a:rPr dirty="0" sz="550" spc="-20">
                <a:latin typeface="Calibri"/>
                <a:cs typeface="Calibri"/>
              </a:rPr>
              <a:t>g</a:t>
            </a:r>
            <a:r>
              <a:rPr dirty="0" sz="550" spc="140">
                <a:latin typeface="Calibri"/>
                <a:cs typeface="Calibri"/>
              </a:rPr>
              <a:t>Y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5044" y="2595857"/>
            <a:ext cx="4106545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55880">
              <a:lnSpc>
                <a:spcPct val="123300"/>
              </a:lnSpc>
              <a:spcBef>
                <a:spcPts val="100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5">
                <a:solidFill>
                  <a:srgbClr val="3333B2"/>
                </a:solidFill>
                <a:latin typeface="Georgia"/>
                <a:cs typeface="Georgia"/>
              </a:rPr>
              <a:t>19:</a:t>
            </a:r>
            <a:r>
              <a:rPr dirty="0" sz="1000" spc="20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配</a:t>
            </a:r>
            <a:r>
              <a:rPr dirty="0" sz="1050" spc="-5">
                <a:latin typeface="Arial Unicode MS"/>
                <a:cs typeface="Arial Unicode MS"/>
              </a:rPr>
              <a:t>合物的浓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曲</a:t>
            </a:r>
            <a:r>
              <a:rPr dirty="0" sz="1050" spc="-20">
                <a:latin typeface="Arial Unicode MS"/>
                <a:cs typeface="Arial Unicode MS"/>
              </a:rPr>
              <a:t>线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160">
                <a:latin typeface="Arial Unicode MS"/>
                <a:cs typeface="Arial Unicode MS"/>
              </a:rPr>
              <a:t>以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</a:t>
            </a:r>
            <a:r>
              <a:rPr dirty="0" baseline="27777" sz="1050" spc="60">
                <a:latin typeface="Times New Roman"/>
                <a:cs typeface="Times New Roman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由</a:t>
            </a:r>
            <a:r>
              <a:rPr dirty="0" sz="1000" spc="-40">
                <a:latin typeface="Georgia"/>
                <a:cs typeface="Georgia"/>
              </a:rPr>
              <a:t>0.01mol</a:t>
            </a:r>
            <a:r>
              <a:rPr dirty="0" sz="1000" spc="-30">
                <a:latin typeface="Georgia"/>
                <a:cs typeface="Georgia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Ca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45">
                <a:latin typeface="Georgia"/>
                <a:cs typeface="Georgia"/>
              </a:rPr>
              <a:t>10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7)</a:t>
            </a:r>
            <a:r>
              <a:rPr dirty="0" sz="1050" spc="-45">
                <a:latin typeface="Arial Unicode MS"/>
                <a:cs typeface="Arial Unicode MS"/>
              </a:rPr>
              <a:t>，</a:t>
            </a:r>
            <a:r>
              <a:rPr dirty="0" sz="1000" spc="-45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</a:t>
            </a:r>
            <a:r>
              <a:rPr dirty="0" sz="1000" spc="40">
                <a:latin typeface="Georgia"/>
                <a:cs typeface="Georgia"/>
              </a:rPr>
              <a:t>Mg</a:t>
            </a:r>
            <a:r>
              <a:rPr dirty="0" baseline="27777" sz="1050" spc="60">
                <a:latin typeface="Times New Roman"/>
                <a:cs typeface="Times New Roman"/>
              </a:rPr>
              <a:t>2+</a:t>
            </a:r>
            <a:r>
              <a:rPr dirty="0" sz="1000" spc="40">
                <a:latin typeface="Georgia"/>
                <a:cs typeface="Georgia"/>
              </a:rPr>
              <a:t>(lg </a:t>
            </a:r>
            <a:r>
              <a:rPr dirty="0" sz="1000" spc="125" b="0" i="1">
                <a:latin typeface="Bookman Old Style"/>
                <a:cs typeface="Bookman Old Style"/>
              </a:rPr>
              <a:t>K 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-30">
                <a:latin typeface="Georgia"/>
                <a:cs typeface="Georgia"/>
              </a:rPr>
              <a:t>8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7) </a:t>
            </a:r>
            <a:r>
              <a:rPr dirty="0" sz="1050" spc="160">
                <a:latin typeface="Arial Unicode MS"/>
                <a:cs typeface="Arial Unicode MS"/>
              </a:rPr>
              <a:t>和 </a:t>
            </a:r>
            <a:r>
              <a:rPr dirty="0" sz="1000" spc="-40">
                <a:latin typeface="Georgia"/>
                <a:cs typeface="Georgia"/>
              </a:rPr>
              <a:t>0.01mol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110">
                <a:latin typeface="Georgia"/>
                <a:cs typeface="Georgia"/>
              </a:rPr>
              <a:t>L</a:t>
            </a:r>
            <a:r>
              <a:rPr dirty="0" baseline="27777" sz="1050" spc="165" b="0" i="1">
                <a:latin typeface="Calibri Light"/>
                <a:cs typeface="Calibri Light"/>
              </a:rPr>
              <a:t>−</a:t>
            </a:r>
            <a:r>
              <a:rPr dirty="0" baseline="27777" sz="1050" spc="165">
                <a:latin typeface="Times New Roman"/>
                <a:cs typeface="Times New Roman"/>
              </a:rPr>
              <a:t>1  </a:t>
            </a:r>
            <a:r>
              <a:rPr dirty="0" sz="1000" spc="50">
                <a:latin typeface="Georgia"/>
                <a:cs typeface="Georgia"/>
              </a:rPr>
              <a:t>Pb</a:t>
            </a:r>
            <a:r>
              <a:rPr dirty="0" baseline="27777" sz="1050" spc="75">
                <a:latin typeface="Times New Roman"/>
                <a:cs typeface="Times New Roman"/>
              </a:rPr>
              <a:t>2+</a:t>
            </a:r>
            <a:r>
              <a:rPr dirty="0" sz="1000" spc="50">
                <a:latin typeface="Georgia"/>
                <a:cs typeface="Georgia"/>
              </a:rPr>
              <a:t>(lg</a:t>
            </a:r>
            <a:r>
              <a:rPr dirty="0" sz="1000" spc="-70">
                <a:latin typeface="Georgia"/>
                <a:cs typeface="Georgia"/>
              </a:rPr>
              <a:t> </a:t>
            </a:r>
            <a:r>
              <a:rPr dirty="0" sz="1000" spc="125" b="0" i="1">
                <a:latin typeface="Bookman Old Style"/>
                <a:cs typeface="Bookman Old Style"/>
              </a:rPr>
              <a:t>K</a:t>
            </a:r>
            <a:r>
              <a:rPr dirty="0" sz="1000" spc="45" b="0" i="1">
                <a:latin typeface="Bookman Old Style"/>
                <a:cs typeface="Bookman Old Style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18</a:t>
            </a:r>
            <a:r>
              <a:rPr dirty="0" sz="1000" spc="-40" b="0" i="1">
                <a:latin typeface="Bookman Old Style"/>
                <a:cs typeface="Bookman Old Style"/>
              </a:rPr>
              <a:t>.</a:t>
            </a:r>
            <a:r>
              <a:rPr dirty="0" sz="1000" spc="-40">
                <a:latin typeface="Georgia"/>
                <a:cs typeface="Georgia"/>
              </a:rPr>
              <a:t>04)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组</a:t>
            </a:r>
            <a:r>
              <a:rPr dirty="0" sz="1050" spc="-5">
                <a:latin typeface="Arial Unicode MS"/>
                <a:cs typeface="Arial Unicode MS"/>
              </a:rPr>
              <a:t>成的混</a:t>
            </a:r>
            <a:r>
              <a:rPr dirty="0" sz="1050" spc="-10">
                <a:latin typeface="Arial Unicode MS"/>
                <a:cs typeface="Arial Unicode MS"/>
              </a:rPr>
              <a:t>合</a:t>
            </a:r>
            <a:r>
              <a:rPr dirty="0" sz="1050" spc="-5">
                <a:latin typeface="Arial Unicode MS"/>
                <a:cs typeface="Arial Unicode MS"/>
              </a:rPr>
              <a:t>离子溶</a:t>
            </a:r>
            <a:r>
              <a:rPr dirty="0" sz="1050" spc="-20">
                <a:latin typeface="Arial Unicode MS"/>
                <a:cs typeface="Arial Unicode MS"/>
              </a:rPr>
              <a:t>液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00" spc="-45">
                <a:latin typeface="Georgia"/>
                <a:cs typeface="Georgia"/>
              </a:rPr>
              <a:t>10.0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4" name="object 104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104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1437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389928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2274557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2261857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58610"/>
            <a:ext cx="50749" cy="20159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34188"/>
            <a:ext cx="4432935" cy="1891664"/>
          </a:xfrm>
          <a:custGeom>
            <a:avLst/>
            <a:gdLst/>
            <a:ahLst/>
            <a:cxnLst/>
            <a:rect l="l" t="t" r="r" b="b"/>
            <a:pathLst>
              <a:path w="4432935" h="1891664">
                <a:moveTo>
                  <a:pt x="4432566" y="0"/>
                </a:moveTo>
                <a:lnTo>
                  <a:pt x="0" y="0"/>
                </a:lnTo>
                <a:lnTo>
                  <a:pt x="0" y="1840369"/>
                </a:lnTo>
                <a:lnTo>
                  <a:pt x="4008" y="1860093"/>
                </a:lnTo>
                <a:lnTo>
                  <a:pt x="14922" y="1876246"/>
                </a:lnTo>
                <a:lnTo>
                  <a:pt x="31075" y="1887161"/>
                </a:lnTo>
                <a:lnTo>
                  <a:pt x="50800" y="1891169"/>
                </a:lnTo>
                <a:lnTo>
                  <a:pt x="4381765" y="1891169"/>
                </a:lnTo>
                <a:lnTo>
                  <a:pt x="4401490" y="1887161"/>
                </a:lnTo>
                <a:lnTo>
                  <a:pt x="4417643" y="1876246"/>
                </a:lnTo>
                <a:lnTo>
                  <a:pt x="4428558" y="1860093"/>
                </a:lnTo>
                <a:lnTo>
                  <a:pt x="4432566" y="1840369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296681"/>
            <a:ext cx="0" cy="1997075"/>
          </a:xfrm>
          <a:custGeom>
            <a:avLst/>
            <a:gdLst/>
            <a:ahLst/>
            <a:cxnLst/>
            <a:rect l="l" t="t" r="r" b="b"/>
            <a:pathLst>
              <a:path w="0" h="1997075">
                <a:moveTo>
                  <a:pt x="0" y="1996925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28398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27128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5858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153898"/>
            <a:ext cx="4345940" cy="6851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5.8</a:t>
            </a:r>
            <a:endParaRPr sz="12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若配</a:t>
            </a:r>
            <a:r>
              <a:rPr dirty="0" sz="1200" spc="175">
                <a:latin typeface="Arial Unicode MS"/>
                <a:cs typeface="Arial Unicode MS"/>
              </a:rPr>
              <a:t>制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溶液的水中含</a:t>
            </a:r>
            <a:r>
              <a:rPr dirty="0" sz="1200" spc="175">
                <a:latin typeface="Arial Unicode MS"/>
                <a:cs typeface="Arial Unicode MS"/>
              </a:rPr>
              <a:t>有</a:t>
            </a:r>
            <a:r>
              <a:rPr dirty="0" sz="1100" spc="10">
                <a:latin typeface="Georgia"/>
                <a:cs typeface="Georgia"/>
              </a:rPr>
              <a:t>Mg</a:t>
            </a:r>
            <a:r>
              <a:rPr dirty="0" baseline="37037" sz="900" spc="15">
                <a:latin typeface="Times New Roman"/>
                <a:cs typeface="Times New Roman"/>
              </a:rPr>
              <a:t>2+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试判断下列情况对测定的影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200" spc="-26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（偏</a:t>
            </a:r>
            <a:r>
              <a:rPr dirty="0" sz="1200" spc="-80">
                <a:latin typeface="Arial Unicode MS"/>
                <a:cs typeface="Arial Unicode MS"/>
              </a:rPr>
              <a:t>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偏低或无影</a:t>
            </a:r>
            <a:r>
              <a:rPr dirty="0" sz="1200" spc="30">
                <a:latin typeface="Arial Unicode MS"/>
                <a:cs typeface="Arial Unicode MS"/>
              </a:rPr>
              <a:t>响</a:t>
            </a:r>
            <a:r>
              <a:rPr dirty="0" sz="1200" spc="-65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846" y="963418"/>
            <a:ext cx="110658" cy="1106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42277" y="94827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6153" y="851496"/>
            <a:ext cx="379412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以金属铜为基准物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100" spc="-95">
                <a:latin typeface="Georgia"/>
                <a:cs typeface="Georgia"/>
              </a:rPr>
              <a:t>pH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10">
                <a:latin typeface="Georgia"/>
                <a:cs typeface="Georgia"/>
              </a:rPr>
              <a:t>PAN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为指示剂标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在同样条件下测定试液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80">
                <a:latin typeface="Georgia"/>
                <a:cs typeface="Georgia"/>
              </a:rPr>
              <a:t>Cu</a:t>
            </a:r>
            <a:r>
              <a:rPr dirty="0" baseline="37037" sz="900" spc="120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2846" y="1448774"/>
            <a:ext cx="110658" cy="1106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42277" y="143362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2846" y="1934130"/>
            <a:ext cx="110658" cy="1106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42277" y="191898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6153" y="1336852"/>
            <a:ext cx="4116070" cy="9582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45">
                <a:latin typeface="Georgia"/>
                <a:cs typeface="Georgia"/>
              </a:rPr>
              <a:t>CaCO</a:t>
            </a:r>
            <a:r>
              <a:rPr dirty="0" baseline="-13888" sz="900" spc="67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为基准物质标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以二甲酚橙为指示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测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定试液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spc="-5">
                <a:latin typeface="Arial Unicode MS"/>
                <a:cs typeface="Arial Unicode MS"/>
              </a:rPr>
              <a:t>以金属锌为基准物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二甲酚橙为指示剂标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用以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测定水样中的总硬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444" y="2670772"/>
            <a:ext cx="440182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提</a:t>
            </a:r>
            <a:r>
              <a:rPr dirty="0" sz="1200" spc="-90">
                <a:latin typeface="Arial Unicode MS"/>
                <a:cs typeface="Arial Unicode MS"/>
              </a:rPr>
              <a:t>示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这个题目的关键</a:t>
            </a: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能否准确标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以及测定过程中标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准溶液中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是否产生影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902106"/>
            <a:ext cx="4345940" cy="1157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在第一种情况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-90">
                <a:latin typeface="Arial Unicode MS"/>
                <a:cs typeface="Arial Unicode MS"/>
              </a:rPr>
              <a:t>于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60960">
              <a:lnSpc>
                <a:spcPct val="100000"/>
              </a:lnSpc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(CuY)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(MgY)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18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8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Georgia"/>
                <a:cs typeface="Georgia"/>
              </a:rPr>
              <a:t>8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7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10</a:t>
            </a:r>
            <a:r>
              <a:rPr dirty="0" sz="1100" spc="-5" b="0" i="1">
                <a:latin typeface="Bookman Old Style"/>
                <a:cs typeface="Bookman Old Style"/>
              </a:rPr>
              <a:t>.</a:t>
            </a:r>
            <a:r>
              <a:rPr dirty="0" sz="1100" spc="-5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341630">
              <a:lnSpc>
                <a:spcPct val="100000"/>
              </a:lnSpc>
              <a:spcBef>
                <a:spcPts val="1440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15">
                <a:latin typeface="Arial Unicode MS"/>
                <a:cs typeface="Arial Unicode MS"/>
              </a:rPr>
              <a:t>，</a:t>
            </a:r>
            <a:r>
              <a:rPr dirty="0" sz="1100" spc="15">
                <a:latin typeface="Georgia"/>
                <a:cs typeface="Georgia"/>
              </a:rPr>
              <a:t>Mg</a:t>
            </a:r>
            <a:r>
              <a:rPr dirty="0" baseline="37037" sz="900" spc="22">
                <a:latin typeface="Times New Roman"/>
                <a:cs typeface="Times New Roman"/>
              </a:rPr>
              <a:t>2+</a:t>
            </a:r>
            <a:r>
              <a:rPr dirty="0" baseline="37037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的存在不会</a:t>
            </a:r>
            <a:r>
              <a:rPr dirty="0" sz="1200" spc="175">
                <a:latin typeface="Arial Unicode MS"/>
                <a:cs typeface="Arial Unicode MS"/>
              </a:rPr>
              <a:t>对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的标定以及铜的测定产生影</a:t>
            </a:r>
            <a:endParaRPr sz="1200">
              <a:latin typeface="Arial Unicode MS"/>
              <a:cs typeface="Arial Unicode MS"/>
            </a:endParaRPr>
          </a:p>
          <a:p>
            <a:pPr marL="37465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844" y="808494"/>
            <a:ext cx="151193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在第二种情况</a:t>
            </a:r>
            <a:r>
              <a:rPr dirty="0" spc="-80"/>
              <a:t>下</a:t>
            </a:r>
            <a:r>
              <a:rPr dirty="0" spc="-185"/>
              <a:t>，</a:t>
            </a:r>
            <a:r>
              <a:rPr dirty="0" spc="-5"/>
              <a:t>由于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1184656"/>
            <a:ext cx="4368800" cy="1005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K</a:t>
            </a:r>
            <a:r>
              <a:rPr dirty="0" sz="1100" spc="75">
                <a:latin typeface="Georgia"/>
                <a:cs typeface="Georgia"/>
              </a:rPr>
              <a:t>(CaY)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(MgY)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7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55">
                <a:latin typeface="Georgia"/>
                <a:cs typeface="Georgia"/>
              </a:rPr>
              <a:t>8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7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2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  <a:p>
            <a:pPr marL="38100" marR="30480" indent="303530">
              <a:lnSpc>
                <a:spcPct val="122300"/>
              </a:lnSpc>
              <a:spcBef>
                <a:spcPts val="111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45">
                <a:latin typeface="Georgia"/>
                <a:cs typeface="Georgia"/>
              </a:rPr>
              <a:t>CaCO</a:t>
            </a:r>
            <a:r>
              <a:rPr dirty="0" baseline="-13888" sz="900" spc="67">
                <a:latin typeface="Times New Roman"/>
                <a:cs typeface="Times New Roman"/>
              </a:rPr>
              <a:t>3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为基准物质标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15">
                <a:latin typeface="Arial Unicode MS"/>
                <a:cs typeface="Arial Unicode MS"/>
              </a:rPr>
              <a:t>，</a:t>
            </a:r>
            <a:r>
              <a:rPr dirty="0" sz="1100" spc="15">
                <a:latin typeface="Georgia"/>
                <a:cs typeface="Georgia"/>
              </a:rPr>
              <a:t>Mg</a:t>
            </a:r>
            <a:r>
              <a:rPr dirty="0" baseline="37037" sz="900" spc="22">
                <a:latin typeface="Times New Roman"/>
                <a:cs typeface="Times New Roman"/>
              </a:rPr>
              <a:t>2+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会对滴定产 生影</a:t>
            </a:r>
            <a:r>
              <a:rPr dirty="0" sz="1200" spc="-80">
                <a:latin typeface="Arial Unicode MS"/>
                <a:cs typeface="Arial Unicode MS"/>
              </a:rPr>
              <a:t>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此时计算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浓度应偏</a:t>
            </a:r>
            <a:r>
              <a:rPr dirty="0" sz="1200" spc="-20">
                <a:latin typeface="Arial Unicode MS"/>
                <a:cs typeface="Arial Unicode MS"/>
              </a:rPr>
              <a:t>低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用这个溶液测定试 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的含量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结果就会偏</a:t>
            </a:r>
            <a:r>
              <a:rPr dirty="0" sz="1200" spc="-20">
                <a:latin typeface="Arial Unicode MS"/>
                <a:cs typeface="Arial Unicode MS"/>
              </a:rPr>
              <a:t>低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844" y="810615"/>
            <a:ext cx="1653539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在第三种情况</a:t>
            </a:r>
            <a:r>
              <a:rPr dirty="0" spc="-80"/>
              <a:t>下</a:t>
            </a:r>
            <a:r>
              <a:rPr dirty="0" spc="-185"/>
              <a:t>，</a:t>
            </a:r>
            <a:r>
              <a:rPr dirty="0" spc="-5"/>
              <a:t>由</a:t>
            </a:r>
            <a:r>
              <a:rPr dirty="0" spc="-90"/>
              <a:t>于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1186776"/>
            <a:ext cx="4375785" cy="1005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1115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(ZnY)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(MgY)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16</a:t>
            </a:r>
            <a:r>
              <a:rPr dirty="0" sz="1100" spc="-20" b="0" i="1">
                <a:latin typeface="Bookman Old Style"/>
                <a:cs typeface="Bookman Old Style"/>
              </a:rPr>
              <a:t>.</a:t>
            </a:r>
            <a:r>
              <a:rPr dirty="0" sz="1100" spc="-20">
                <a:latin typeface="Georgia"/>
                <a:cs typeface="Georgia"/>
              </a:rPr>
              <a:t>5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55">
                <a:latin typeface="Georgia"/>
                <a:cs typeface="Georgia"/>
              </a:rPr>
              <a:t>8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7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7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8</a:t>
            </a:r>
            <a:endParaRPr sz="1100">
              <a:latin typeface="Georgia"/>
              <a:cs typeface="Georgia"/>
            </a:endParaRPr>
          </a:p>
          <a:p>
            <a:pPr marL="38100" marR="30480" indent="303530">
              <a:lnSpc>
                <a:spcPct val="122300"/>
              </a:lnSpc>
              <a:spcBef>
                <a:spcPts val="111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15">
                <a:latin typeface="Arial Unicode MS"/>
                <a:cs typeface="Arial Unicode MS"/>
              </a:rPr>
              <a:t>，</a:t>
            </a:r>
            <a:r>
              <a:rPr dirty="0" sz="1100" spc="15">
                <a:latin typeface="Georgia"/>
                <a:cs typeface="Georgia"/>
              </a:rPr>
              <a:t>Mg</a:t>
            </a:r>
            <a:r>
              <a:rPr dirty="0" baseline="37037" sz="900" spc="22">
                <a:latin typeface="Times New Roman"/>
                <a:cs typeface="Times New Roman"/>
              </a:rPr>
              <a:t>2+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的存在不会</a:t>
            </a:r>
            <a:r>
              <a:rPr dirty="0" sz="1200" spc="175">
                <a:latin typeface="Arial Unicode MS"/>
                <a:cs typeface="Arial Unicode MS"/>
              </a:rPr>
              <a:t>对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的标定产生影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当测定水 样中的总硬度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含</a:t>
            </a:r>
            <a:r>
              <a:rPr dirty="0" sz="1200" spc="175">
                <a:latin typeface="Arial Unicode MS"/>
                <a:cs typeface="Arial Unicode MS"/>
              </a:rPr>
              <a:t>有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5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在滴定过程中引入</a:t>
            </a:r>
            <a:r>
              <a:rPr dirty="0" sz="1200" spc="175">
                <a:latin typeface="Arial Unicode MS"/>
                <a:cs typeface="Arial Unicode MS"/>
              </a:rPr>
              <a:t>了</a:t>
            </a:r>
            <a:r>
              <a:rPr dirty="0" sz="1100" spc="45">
                <a:latin typeface="Georgia"/>
                <a:cs typeface="Georgia"/>
              </a:rPr>
              <a:t>Mg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sz="1200" spc="45">
                <a:latin typeface="Arial Unicode MS"/>
                <a:cs typeface="Arial Unicode MS"/>
              </a:rPr>
              <a:t>，  </a:t>
            </a:r>
            <a:r>
              <a:rPr dirty="0" sz="1200" spc="-5">
                <a:latin typeface="Arial Unicode MS"/>
                <a:cs typeface="Arial Unicode MS"/>
              </a:rPr>
              <a:t>故结果会偏</a:t>
            </a:r>
            <a:r>
              <a:rPr dirty="0" sz="1200" spc="-20">
                <a:latin typeface="Arial Unicode MS"/>
                <a:cs typeface="Arial Unicode MS"/>
              </a:rPr>
              <a:t>高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922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对例</a:t>
            </a:r>
            <a:r>
              <a:rPr dirty="0" sz="1050" spc="160">
                <a:solidFill>
                  <a:srgbClr val="FFFFFF"/>
                </a:solidFill>
                <a:latin typeface="Arial Unicode MS"/>
                <a:cs typeface="Arial Unicode MS"/>
              </a:rPr>
              <a:t>题</a:t>
            </a:r>
            <a:r>
              <a:rPr dirty="0" sz="1000" spc="-45">
                <a:solidFill>
                  <a:srgbClr val="FFFFFF"/>
                </a:solidFill>
                <a:latin typeface="Georgia"/>
                <a:cs typeface="Georgia"/>
              </a:rPr>
              <a:t>5.8</a:t>
            </a:r>
            <a:r>
              <a:rPr dirty="0" sz="1000" spc="-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的理论分析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763943"/>
            <a:ext cx="436499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175"/>
              <a:t>设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pc="-5"/>
              <a:t>溶液</a:t>
            </a:r>
            <a:r>
              <a:rPr dirty="0" spc="-80"/>
              <a:t>中</a:t>
            </a:r>
            <a:r>
              <a:rPr dirty="0" spc="-15"/>
              <a:t>，</a:t>
            </a:r>
            <a:r>
              <a:rPr dirty="0" sz="1100" spc="-15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pc="175"/>
              <a:t>和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/>
              <a:t>的分析浓度分别</a:t>
            </a:r>
            <a:r>
              <a:rPr dirty="0" sz="1200" spc="175"/>
              <a:t>为</a:t>
            </a: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(Y)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/>
              <a:t>和 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(Mg)</a:t>
            </a:r>
            <a:r>
              <a:rPr dirty="0" sz="1200" spc="-235"/>
              <a:t>。</a:t>
            </a:r>
            <a:r>
              <a:rPr dirty="0" sz="1200" spc="-5"/>
              <a:t>用该溶液去滴定分析浓度</a:t>
            </a:r>
            <a:r>
              <a:rPr dirty="0" sz="1200" spc="175"/>
              <a:t>为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200" spc="-5"/>
              <a:t>的金属离</a:t>
            </a:r>
            <a:r>
              <a:rPr dirty="0" sz="1200" spc="175"/>
              <a:t>子</a:t>
            </a:r>
            <a:r>
              <a:rPr dirty="0" sz="1100" spc="-35">
                <a:latin typeface="Georgia"/>
                <a:cs typeface="Georgia"/>
              </a:rPr>
              <a:t>M</a:t>
            </a:r>
            <a:r>
              <a:rPr dirty="0" sz="1200" spc="-235"/>
              <a:t>。</a:t>
            </a:r>
            <a:r>
              <a:rPr dirty="0" sz="1200" spc="-5"/>
              <a:t>设溶液的 初始体积</a:t>
            </a:r>
            <a:r>
              <a:rPr dirty="0" sz="1200" spc="175"/>
              <a:t>为</a:t>
            </a:r>
            <a:r>
              <a:rPr dirty="0" sz="1100" spc="-10" b="0" i="1">
                <a:latin typeface="Bookman Old Style"/>
                <a:cs typeface="Bookman Old Style"/>
              </a:rPr>
              <a:t>V</a:t>
            </a:r>
            <a:r>
              <a:rPr dirty="0" baseline="-13888" sz="900" spc="-15">
                <a:latin typeface="Times New Roman"/>
                <a:cs typeface="Times New Roman"/>
              </a:rPr>
              <a:t>0</a:t>
            </a:r>
            <a:r>
              <a:rPr dirty="0" sz="1200" spc="-235"/>
              <a:t>。</a:t>
            </a:r>
            <a:r>
              <a:rPr dirty="0" sz="1200" spc="-5"/>
              <a:t>质量平衡</a:t>
            </a:r>
            <a:r>
              <a:rPr dirty="0" sz="1200" spc="-90"/>
              <a:t>为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54505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2815234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2802534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1595615"/>
            <a:ext cx="50749" cy="12196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1589468"/>
            <a:ext cx="4432935" cy="1276985"/>
          </a:xfrm>
          <a:custGeom>
            <a:avLst/>
            <a:gdLst/>
            <a:ahLst/>
            <a:cxnLst/>
            <a:rect l="l" t="t" r="r" b="b"/>
            <a:pathLst>
              <a:path w="4432935" h="1276985">
                <a:moveTo>
                  <a:pt x="4432566" y="0"/>
                </a:moveTo>
                <a:lnTo>
                  <a:pt x="0" y="0"/>
                </a:lnTo>
                <a:lnTo>
                  <a:pt x="0" y="1225765"/>
                </a:lnTo>
                <a:lnTo>
                  <a:pt x="4008" y="1245490"/>
                </a:lnTo>
                <a:lnTo>
                  <a:pt x="14922" y="1261643"/>
                </a:lnTo>
                <a:lnTo>
                  <a:pt x="31075" y="1272557"/>
                </a:lnTo>
                <a:lnTo>
                  <a:pt x="50800" y="1276566"/>
                </a:lnTo>
                <a:lnTo>
                  <a:pt x="4381765" y="1276566"/>
                </a:lnTo>
                <a:lnTo>
                  <a:pt x="4401490" y="1272557"/>
                </a:lnTo>
                <a:lnTo>
                  <a:pt x="4417643" y="1261643"/>
                </a:lnTo>
                <a:lnTo>
                  <a:pt x="4428558" y="1245490"/>
                </a:lnTo>
                <a:lnTo>
                  <a:pt x="4432566" y="122576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633705"/>
            <a:ext cx="0" cy="1200785"/>
          </a:xfrm>
          <a:custGeom>
            <a:avLst/>
            <a:gdLst/>
            <a:ahLst/>
            <a:cxnLst/>
            <a:rect l="l" t="t" r="r" b="b"/>
            <a:pathLst>
              <a:path w="0" h="1200785">
                <a:moveTo>
                  <a:pt x="0" y="120057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62100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60830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59560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94574" y="1843407"/>
          <a:ext cx="3206750" cy="897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"/>
                <a:gridCol w="2578100"/>
                <a:gridCol w="425450"/>
              </a:tblGrid>
              <a:tr h="266478">
                <a:tc>
                  <a:txBody>
                    <a:bodyPr/>
                    <a:lstStyle/>
                    <a:p>
                      <a:pPr algn="ctr" marR="23495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75"/>
                        </a:lnSpc>
                      </a:pPr>
                      <a:r>
                        <a:rPr dirty="0" sz="1100" spc="-30">
                          <a:latin typeface="Georgia"/>
                          <a:cs typeface="Georgia"/>
                        </a:rPr>
                        <a:t>[Y]</a:t>
                      </a:r>
                      <a:r>
                        <a:rPr dirty="0" sz="1100" spc="-3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-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b="0" i="1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(MgY)[Mg][Y]</a:t>
                      </a:r>
                      <a:r>
                        <a:rPr dirty="0" sz="1100" spc="-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-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5" b="0" i="1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(MY)[M][Y]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(56)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364064"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 spc="-65">
                          <a:latin typeface="Georgia"/>
                          <a:cs typeface="Georgia"/>
                        </a:rPr>
                        <a:t>[Mg]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1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b="0" i="1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(MgY)[Mg][Y]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(57)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</a:tr>
              <a:tr h="266471">
                <a:tc>
                  <a:txBody>
                    <a:bodyPr/>
                    <a:lstStyle/>
                    <a:p>
                      <a:pPr algn="ctr" marR="23495">
                        <a:lnSpc>
                          <a:spcPts val="1275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75"/>
                        </a:lnSpc>
                        <a:spcBef>
                          <a:spcPts val="725"/>
                        </a:spcBef>
                      </a:pPr>
                      <a:r>
                        <a:rPr dirty="0" sz="1100" spc="-80">
                          <a:latin typeface="Georgia"/>
                          <a:cs typeface="Georgia"/>
                        </a:rPr>
                        <a:t>[M] </a:t>
                      </a:r>
                      <a:r>
                        <a:rPr dirty="0" sz="1100" spc="140">
                          <a:latin typeface="Georgia"/>
                          <a:cs typeface="Georgia"/>
                        </a:rPr>
                        <a:t>+</a:t>
                      </a:r>
                      <a:r>
                        <a:rPr dirty="0" sz="1100" spc="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5" b="0" i="1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(MY)[M][Y]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75"/>
                        </a:lnSpc>
                        <a:spcBef>
                          <a:spcPts val="725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(58)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92075"/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57263" y="1710179"/>
            <a:ext cx="565785" cy="113157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265"/>
              </a:spcBef>
            </a:pPr>
            <a:r>
              <a:rPr dirty="0" u="sng" sz="1100" spc="-1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(Y)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u="sng" baseline="-13888" sz="900" spc="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-13888" sz="90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(Mg)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marL="69215">
              <a:lnSpc>
                <a:spcPct val="100000"/>
              </a:lnSpc>
              <a:spcBef>
                <a:spcPts val="165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marL="99060">
              <a:lnSpc>
                <a:spcPct val="100000"/>
              </a:lnSpc>
              <a:spcBef>
                <a:spcPts val="6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(M)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  <a:spcBef>
                <a:spcPts val="165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494703"/>
            <a:ext cx="26136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175"/>
              <a:t>设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6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V</a:t>
            </a:r>
            <a:r>
              <a:rPr dirty="0" baseline="-13888" sz="900" spc="-82" i="1">
                <a:latin typeface="Arial"/>
                <a:cs typeface="Arial"/>
              </a:rPr>
              <a:t>t</a:t>
            </a:r>
            <a:r>
              <a:rPr dirty="0" sz="1100" spc="-55" b="0" i="1">
                <a:latin typeface="Bookman Old Style"/>
                <a:cs typeface="Bookman Old Style"/>
              </a:rPr>
              <a:t>/V</a:t>
            </a:r>
            <a:r>
              <a:rPr dirty="0" baseline="-13888" sz="900" spc="-82">
                <a:latin typeface="Times New Roman"/>
                <a:cs typeface="Times New Roman"/>
              </a:rPr>
              <a:t>0</a:t>
            </a:r>
            <a:r>
              <a:rPr dirty="0" sz="1200" spc="-55"/>
              <a:t>，</a:t>
            </a:r>
            <a:r>
              <a:rPr dirty="0" sz="1200" spc="-5"/>
              <a:t>从后两个式子可以得</a:t>
            </a:r>
            <a:r>
              <a:rPr dirty="0" sz="1200" spc="-90"/>
              <a:t>到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5026" y="892086"/>
            <a:ext cx="4451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[Mg]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0877" y="1008697"/>
            <a:ext cx="1484630" cy="0"/>
          </a:xfrm>
          <a:custGeom>
            <a:avLst/>
            <a:gdLst/>
            <a:ahLst/>
            <a:cxnLst/>
            <a:rect l="l" t="t" r="r" b="b"/>
            <a:pathLst>
              <a:path w="1484629" h="0">
                <a:moveTo>
                  <a:pt x="0" y="0"/>
                </a:moveTo>
                <a:lnTo>
                  <a:pt x="148421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778177" y="775853"/>
            <a:ext cx="151003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(Mg)</a:t>
            </a:r>
            <a:r>
              <a:rPr dirty="0" sz="1100" spc="-20" b="0" i="1">
                <a:latin typeface="Bookman Old Style"/>
                <a:cs typeface="Bookman Old Style"/>
              </a:rPr>
              <a:t>ρ</a:t>
            </a:r>
            <a:endParaRPr sz="11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sz="1100" spc="25">
                <a:latin typeface="Georgia"/>
                <a:cs typeface="Georgia"/>
              </a:rPr>
              <a:t>(MgY)[Y])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4292" y="1371231"/>
            <a:ext cx="3759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5">
                <a:latin typeface="Georgia"/>
                <a:cs typeface="Georgia"/>
              </a:rPr>
              <a:t>[M]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90877" y="1487843"/>
            <a:ext cx="1415415" cy="0"/>
          </a:xfrm>
          <a:custGeom>
            <a:avLst/>
            <a:gdLst/>
            <a:ahLst/>
            <a:cxnLst/>
            <a:rect l="l" t="t" r="r" b="b"/>
            <a:pathLst>
              <a:path w="1415414" h="0">
                <a:moveTo>
                  <a:pt x="0" y="0"/>
                </a:moveTo>
                <a:lnTo>
                  <a:pt x="141494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78177" y="1254998"/>
            <a:ext cx="144081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(M)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sz="1100" spc="30">
                <a:latin typeface="Georgia"/>
                <a:cs typeface="Georgia"/>
              </a:rPr>
              <a:t>(MY)[Y])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501" y="1834019"/>
            <a:ext cx="25641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将这两个式子带入到第一个式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0291" y="2342375"/>
            <a:ext cx="343535" cy="0"/>
          </a:xfrm>
          <a:custGeom>
            <a:avLst/>
            <a:gdLst/>
            <a:ahLst/>
            <a:cxnLst/>
            <a:rect l="l" t="t" r="r" b="b"/>
            <a:pathLst>
              <a:path w="343534" h="0">
                <a:moveTo>
                  <a:pt x="0" y="0"/>
                </a:moveTo>
                <a:lnTo>
                  <a:pt x="34325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9491" y="2132038"/>
            <a:ext cx="23183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122680" algn="l"/>
              </a:tabLst>
            </a:pPr>
            <a:r>
              <a:rPr dirty="0" sz="1100" spc="10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(Y)</a:t>
            </a:r>
            <a:r>
              <a:rPr dirty="0" sz="1100" spc="10" b="0" i="1">
                <a:latin typeface="Bookman Old Style"/>
                <a:cs typeface="Bookman Old Style"/>
              </a:rPr>
              <a:t>ρ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187">
                <a:latin typeface="Georgia"/>
                <a:cs typeface="Georgia"/>
              </a:rPr>
              <a:t> </a:t>
            </a:r>
            <a:r>
              <a:rPr dirty="0" baseline="-37878" sz="1650" spc="-44">
                <a:latin typeface="Georgia"/>
                <a:cs typeface="Georgia"/>
              </a:rPr>
              <a:t>[Y]</a:t>
            </a:r>
            <a:r>
              <a:rPr dirty="0" baseline="-37878" sz="1650" spc="-37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	</a:t>
            </a:r>
            <a:r>
              <a:rPr dirty="0" sz="1100" spc="10" b="0" i="1">
                <a:latin typeface="Bookman Old Style"/>
                <a:cs typeface="Bookman Old Style"/>
              </a:rPr>
              <a:t>K</a:t>
            </a:r>
            <a:r>
              <a:rPr dirty="0" sz="1100" spc="10">
                <a:latin typeface="Georgia"/>
                <a:cs typeface="Georgia"/>
              </a:rPr>
              <a:t>(MgY)</a:t>
            </a:r>
            <a:r>
              <a:rPr dirty="0" sz="1100" spc="10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(Mg)[Y]</a:t>
            </a:r>
            <a:r>
              <a:rPr dirty="0" sz="1100" spc="10" b="0" i="1">
                <a:latin typeface="Bookman Old Style"/>
                <a:cs typeface="Bookman Old Style"/>
              </a:rPr>
              <a:t>ρ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08849" y="2342375"/>
            <a:ext cx="1484630" cy="0"/>
          </a:xfrm>
          <a:custGeom>
            <a:avLst/>
            <a:gdLst/>
            <a:ahLst/>
            <a:cxnLst/>
            <a:rect l="l" t="t" r="r" b="b"/>
            <a:pathLst>
              <a:path w="1484630" h="0">
                <a:moveTo>
                  <a:pt x="0" y="0"/>
                </a:moveTo>
                <a:lnTo>
                  <a:pt x="148421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26334" y="2225763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14890" y="2132038"/>
            <a:ext cx="970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(MY)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(M)[Y]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92767" y="2342375"/>
            <a:ext cx="1415415" cy="0"/>
          </a:xfrm>
          <a:custGeom>
            <a:avLst/>
            <a:gdLst/>
            <a:ahLst/>
            <a:cxnLst/>
            <a:rect l="l" t="t" r="r" b="b"/>
            <a:pathLst>
              <a:path w="1415414" h="0">
                <a:moveTo>
                  <a:pt x="0" y="0"/>
                </a:moveTo>
                <a:lnTo>
                  <a:pt x="141494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04101" y="2320798"/>
            <a:ext cx="4016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04240" algn="l"/>
                <a:tab pos="258826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9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	</a:t>
            </a: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sz="1100" spc="25">
                <a:latin typeface="Georgia"/>
                <a:cs typeface="Georgia"/>
              </a:rPr>
              <a:t>(MgY)[Y])	</a:t>
            </a:r>
            <a:r>
              <a:rPr dirty="0" sz="1100" spc="-15">
                <a:latin typeface="Georgia"/>
                <a:cs typeface="Georgia"/>
              </a:rPr>
              <a:t>(</a:t>
            </a:r>
            <a:r>
              <a:rPr dirty="0" sz="1100" spc="-15" b="0" i="1">
                <a:latin typeface="Bookman Old Style"/>
                <a:cs typeface="Bookman Old Style"/>
              </a:rPr>
              <a:t>ρ</a:t>
            </a:r>
            <a:r>
              <a:rPr dirty="0" sz="1100" spc="-9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1)(1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sz="1100" spc="30">
                <a:latin typeface="Georgia"/>
                <a:cs typeface="Georgia"/>
              </a:rPr>
              <a:t>(MY)[Y])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110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25330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160">
                <a:solidFill>
                  <a:srgbClr val="FFFFFF"/>
                </a:solidFill>
                <a:latin typeface="Arial Unicode MS"/>
                <a:cs typeface="Arial Unicode MS"/>
              </a:rPr>
              <a:t>含</a:t>
            </a: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Mg</a:t>
            </a:r>
            <a:r>
              <a:rPr dirty="0" sz="1000" spc="-10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16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EDTA</a:t>
            </a:r>
            <a:r>
              <a:rPr dirty="0" sz="1000" spc="-9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滴定金属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离</a:t>
            </a:r>
            <a:r>
              <a:rPr dirty="0" sz="1050" spc="160">
                <a:solidFill>
                  <a:srgbClr val="FFFFFF"/>
                </a:solidFill>
                <a:latin typeface="Arial Unicode MS"/>
                <a:cs typeface="Arial Unicode MS"/>
              </a:rPr>
              <a:t>子</a:t>
            </a: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M</a:t>
            </a:r>
            <a:r>
              <a:rPr dirty="0" sz="1000" spc="-10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的滴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方程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1184821"/>
            <a:ext cx="9258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上式整理</a:t>
            </a:r>
            <a:r>
              <a:rPr dirty="0" spc="-90"/>
              <a:t>得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/>
          <p:nvPr/>
        </p:nvSpPr>
        <p:spPr>
          <a:xfrm>
            <a:off x="87743" y="1476743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2246160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2233459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1527302"/>
            <a:ext cx="50749" cy="7188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1521160"/>
            <a:ext cx="4432935" cy="775970"/>
          </a:xfrm>
          <a:custGeom>
            <a:avLst/>
            <a:gdLst/>
            <a:ahLst/>
            <a:cxnLst/>
            <a:rect l="l" t="t" r="r" b="b"/>
            <a:pathLst>
              <a:path w="4432935" h="775969">
                <a:moveTo>
                  <a:pt x="4432566" y="0"/>
                </a:moveTo>
                <a:lnTo>
                  <a:pt x="0" y="0"/>
                </a:lnTo>
                <a:lnTo>
                  <a:pt x="0" y="724999"/>
                </a:lnTo>
                <a:lnTo>
                  <a:pt x="4008" y="744724"/>
                </a:lnTo>
                <a:lnTo>
                  <a:pt x="14922" y="760877"/>
                </a:lnTo>
                <a:lnTo>
                  <a:pt x="31075" y="771791"/>
                </a:lnTo>
                <a:lnTo>
                  <a:pt x="50800" y="775800"/>
                </a:lnTo>
                <a:lnTo>
                  <a:pt x="4381765" y="775800"/>
                </a:lnTo>
                <a:lnTo>
                  <a:pt x="4401490" y="771791"/>
                </a:lnTo>
                <a:lnTo>
                  <a:pt x="4417643" y="760877"/>
                </a:lnTo>
                <a:lnTo>
                  <a:pt x="4428558" y="744724"/>
                </a:lnTo>
                <a:lnTo>
                  <a:pt x="4432566" y="724999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565397"/>
            <a:ext cx="0" cy="700405"/>
          </a:xfrm>
          <a:custGeom>
            <a:avLst/>
            <a:gdLst/>
            <a:ahLst/>
            <a:cxnLst/>
            <a:rect l="l" t="t" r="r" b="b"/>
            <a:pathLst>
              <a:path w="0" h="700405">
                <a:moveTo>
                  <a:pt x="0" y="69981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55269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53999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52729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94282" y="1789214"/>
            <a:ext cx="243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1136" y="1511782"/>
            <a:ext cx="1387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-44">
                <a:latin typeface="Georgia"/>
                <a:cs typeface="Georgia"/>
              </a:rPr>
              <a:t>[Y]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120">
                <a:latin typeface="Georgia"/>
                <a:cs typeface="Georgia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(MY)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(M)[Y]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34628" y="1722120"/>
            <a:ext cx="945515" cy="0"/>
          </a:xfrm>
          <a:custGeom>
            <a:avLst/>
            <a:gdLst/>
            <a:ahLst/>
            <a:cxnLst/>
            <a:rect l="l" t="t" r="r" b="b"/>
            <a:pathLst>
              <a:path w="945514" h="0">
                <a:moveTo>
                  <a:pt x="0" y="0"/>
                </a:moveTo>
                <a:lnTo>
                  <a:pt x="94529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49982" y="1700555"/>
            <a:ext cx="915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sz="1100" spc="35">
                <a:latin typeface="Georgia"/>
                <a:cs typeface="Georgia"/>
              </a:rPr>
              <a:t>(MY)[Y]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78521" y="1905825"/>
            <a:ext cx="1907539" cy="0"/>
          </a:xfrm>
          <a:custGeom>
            <a:avLst/>
            <a:gdLst/>
            <a:ahLst/>
            <a:cxnLst/>
            <a:rect l="l" t="t" r="r" b="b"/>
            <a:pathLst>
              <a:path w="1907539" h="0">
                <a:moveTo>
                  <a:pt x="0" y="0"/>
                </a:moveTo>
                <a:lnTo>
                  <a:pt x="19072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465821" y="1971611"/>
            <a:ext cx="786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(Y)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2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[Y]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4882" y="2088222"/>
            <a:ext cx="1085850" cy="0"/>
          </a:xfrm>
          <a:custGeom>
            <a:avLst/>
            <a:gdLst/>
            <a:ahLst/>
            <a:cxnLst/>
            <a:rect l="l" t="t" r="r" b="b"/>
            <a:pathLst>
              <a:path w="1085850" h="0">
                <a:moveTo>
                  <a:pt x="0" y="0"/>
                </a:moveTo>
                <a:lnTo>
                  <a:pt x="10857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272182" y="1855378"/>
            <a:ext cx="111125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 marR="5080" indent="-64135">
              <a:lnSpc>
                <a:spcPct val="112599"/>
              </a:lnSpc>
              <a:spcBef>
                <a:spcPts val="100"/>
              </a:spcBef>
            </a:pP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25">
                <a:latin typeface="Georgia"/>
                <a:cs typeface="Georgia"/>
              </a:rPr>
              <a:t>(Mg</a:t>
            </a:r>
            <a:r>
              <a:rPr dirty="0" sz="1100" spc="55">
                <a:latin typeface="Georgia"/>
                <a:cs typeface="Georgia"/>
              </a:rPr>
              <a:t>Y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(M</a:t>
            </a:r>
            <a:r>
              <a:rPr dirty="0" sz="1100">
                <a:latin typeface="Georgia"/>
                <a:cs typeface="Georgia"/>
              </a:rPr>
              <a:t>g</a:t>
            </a:r>
            <a:r>
              <a:rPr dirty="0" sz="1100" spc="-15">
                <a:latin typeface="Georgia"/>
                <a:cs typeface="Georgia"/>
              </a:rPr>
              <a:t>)[Y] 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sz="1100" spc="30">
                <a:latin typeface="Georgia"/>
                <a:cs typeface="Georgia"/>
              </a:rPr>
              <a:t>(MgY)[Y]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387" y="329901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4387" y="2362917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73291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94387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94387" y="2362917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94387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94387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94387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0985" y="2357910"/>
            <a:ext cx="16700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0.85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62801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62801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99600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31214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31214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747814" y="2357910"/>
            <a:ext cx="16700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0.95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99633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99633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68046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68046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36459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36459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873260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04878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304878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221474" y="2357910"/>
            <a:ext cx="16700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1.15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73291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73291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610090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94387" y="236291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47319" y="236291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24451" y="2298271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94387" y="210848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47319" y="210848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024451" y="2043843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94387" y="1854539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47319" y="185453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024451" y="1789897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94387" y="160011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47319" y="160011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024451" y="1535469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94387" y="134616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47319" y="134616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094387" y="109222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47319" y="109222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984051" y="1027576"/>
            <a:ext cx="106680" cy="376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600" spc="1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94387" y="837794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47319" y="83779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984051" y="773148"/>
            <a:ext cx="10668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94387" y="58384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647319" y="58384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094387" y="32990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47319" y="32990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984051" y="265255"/>
            <a:ext cx="106680" cy="376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600" spc="15">
                <a:latin typeface="Times New Roman"/>
                <a:cs typeface="Times New Roman"/>
              </a:rPr>
              <a:t>16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94387" y="329901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94387" y="2362917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673291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094387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088616" y="361644"/>
            <a:ext cx="2590931" cy="186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2166731" y="2357910"/>
            <a:ext cx="485140" cy="2044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680"/>
              </a:lnSpc>
              <a:spcBef>
                <a:spcPts val="135"/>
              </a:spcBef>
              <a:tabLst>
                <a:tab pos="317500" algn="l"/>
              </a:tabLst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r>
              <a:rPr dirty="0" sz="600" spc="15">
                <a:latin typeface="Times New Roman"/>
                <a:cs typeface="Times New Roman"/>
              </a:rPr>
              <a:t>	</a:t>
            </a:r>
            <a:r>
              <a:rPr dirty="0" sz="600" spc="15">
                <a:latin typeface="Times New Roman"/>
                <a:cs typeface="Times New Roman"/>
              </a:rPr>
              <a:t>1.05</a:t>
            </a:r>
            <a:endParaRPr sz="600">
              <a:latin typeface="Times New Roman"/>
              <a:cs typeface="Times New Roman"/>
            </a:endParaRPr>
          </a:p>
          <a:p>
            <a:pPr algn="ctr" marR="43180">
              <a:lnSpc>
                <a:spcPts val="680"/>
              </a:lnSpc>
            </a:pPr>
            <a:r>
              <a:rPr dirty="0" sz="600" spc="15">
                <a:latin typeface="Symbol"/>
                <a:cs typeface="Symbol"/>
              </a:rPr>
              <a:t></a:t>
            </a:r>
            <a:endParaRPr sz="600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66663" y="1277973"/>
            <a:ext cx="117475" cy="137795"/>
          </a:xfrm>
          <a:prstGeom prst="rect">
            <a:avLst/>
          </a:prstGeom>
        </p:spPr>
        <p:txBody>
          <a:bodyPr wrap="square" lIns="0" tIns="101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latin typeface="Times New Roman"/>
                <a:cs typeface="Times New Roman"/>
              </a:rPr>
              <a:t>pM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950389" y="1564327"/>
            <a:ext cx="20256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0864" sz="675">
                <a:latin typeface="Arial"/>
                <a:cs typeface="Arial"/>
              </a:rPr>
              <a:t>Cu</a:t>
            </a:r>
            <a:r>
              <a:rPr dirty="0" sz="350">
                <a:latin typeface="Arial"/>
                <a:cs typeface="Arial"/>
              </a:rPr>
              <a:t>2+</a:t>
            </a:r>
            <a:endParaRPr sz="3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033991" y="1848093"/>
            <a:ext cx="20891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0864" sz="675">
                <a:latin typeface="Arial"/>
                <a:cs typeface="Arial"/>
              </a:rPr>
              <a:t>Mg</a:t>
            </a:r>
            <a:r>
              <a:rPr dirty="0" sz="350">
                <a:latin typeface="Arial"/>
                <a:cs typeface="Arial"/>
              </a:rPr>
              <a:t>2+</a:t>
            </a:r>
            <a:endParaRPr sz="3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34710" y="686575"/>
            <a:ext cx="46672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Arial"/>
                <a:cs typeface="Arial"/>
              </a:rPr>
              <a:t>c(Y) = </a:t>
            </a:r>
            <a:r>
              <a:rPr dirty="0" sz="450" spc="-5">
                <a:latin typeface="Arial"/>
                <a:cs typeface="Arial"/>
              </a:rPr>
              <a:t>0.01</a:t>
            </a:r>
            <a:r>
              <a:rPr dirty="0" sz="450" spc="-50">
                <a:latin typeface="Arial"/>
                <a:cs typeface="Arial"/>
              </a:rPr>
              <a:t> </a:t>
            </a:r>
            <a:r>
              <a:rPr dirty="0" sz="450">
                <a:latin typeface="Arial"/>
                <a:cs typeface="Arial"/>
              </a:rPr>
              <a:t>mol/L</a:t>
            </a:r>
            <a:endParaRPr sz="4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34710" y="948215"/>
            <a:ext cx="502284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Arial"/>
                <a:cs typeface="Arial"/>
              </a:rPr>
              <a:t>c(Cu) = </a:t>
            </a:r>
            <a:r>
              <a:rPr dirty="0" sz="450" spc="-5">
                <a:latin typeface="Arial"/>
                <a:cs typeface="Arial"/>
              </a:rPr>
              <a:t>0.01</a:t>
            </a:r>
            <a:r>
              <a:rPr dirty="0" sz="450" spc="-50">
                <a:latin typeface="Arial"/>
                <a:cs typeface="Arial"/>
              </a:rPr>
              <a:t> </a:t>
            </a:r>
            <a:r>
              <a:rPr dirty="0" sz="450">
                <a:latin typeface="Arial"/>
                <a:cs typeface="Arial"/>
              </a:rPr>
              <a:t>mol/L</a:t>
            </a:r>
            <a:endParaRPr sz="4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424610" y="817392"/>
            <a:ext cx="54038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Arial"/>
                <a:cs typeface="Arial"/>
              </a:rPr>
              <a:t>c(Mg) = </a:t>
            </a:r>
            <a:r>
              <a:rPr dirty="0" sz="450" spc="-5">
                <a:latin typeface="Arial"/>
                <a:cs typeface="Arial"/>
              </a:rPr>
              <a:t>0.001</a:t>
            </a:r>
            <a:r>
              <a:rPr dirty="0" sz="450" spc="-45">
                <a:latin typeface="Arial"/>
                <a:cs typeface="Arial"/>
              </a:rPr>
              <a:t> </a:t>
            </a:r>
            <a:r>
              <a:rPr dirty="0" sz="450">
                <a:latin typeface="Arial"/>
                <a:cs typeface="Arial"/>
              </a:rPr>
              <a:t>mol/L</a:t>
            </a:r>
            <a:endParaRPr sz="4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65986" y="2739326"/>
            <a:ext cx="207010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2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75">
                <a:solidFill>
                  <a:srgbClr val="3333B2"/>
                </a:solidFill>
                <a:latin typeface="Georgia"/>
                <a:cs typeface="Georgia"/>
              </a:rPr>
              <a:t>20:</a:t>
            </a:r>
            <a:r>
              <a:rPr dirty="0" sz="1000" spc="2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含</a:t>
            </a:r>
            <a:r>
              <a:rPr dirty="0" sz="1000" spc="60">
                <a:latin typeface="Georgia"/>
                <a:cs typeface="Georgia"/>
              </a:rPr>
              <a:t>Mg</a:t>
            </a:r>
            <a:r>
              <a:rPr dirty="0" baseline="27777" sz="1050" spc="89">
                <a:latin typeface="Times New Roman"/>
                <a:cs typeface="Times New Roman"/>
              </a:rPr>
              <a:t>2+</a:t>
            </a:r>
            <a:r>
              <a:rPr dirty="0" baseline="27777" sz="1050" spc="44">
                <a:latin typeface="Times New Roman"/>
                <a:cs typeface="Times New Roman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的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160">
                <a:latin typeface="Arial Unicode MS"/>
                <a:cs typeface="Arial Unicode MS"/>
              </a:rPr>
              <a:t>定</a:t>
            </a:r>
            <a:r>
              <a:rPr dirty="0" sz="1000" spc="75">
                <a:latin typeface="Georgia"/>
                <a:cs typeface="Georgia"/>
              </a:rPr>
              <a:t>Cu</a:t>
            </a:r>
            <a:r>
              <a:rPr dirty="0" baseline="27777" sz="1050" spc="112">
                <a:latin typeface="Times New Roman"/>
                <a:cs typeface="Times New Roman"/>
              </a:rPr>
              <a:t>2+</a:t>
            </a:r>
            <a:endParaRPr baseline="27777" sz="10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4387" y="329901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4387" y="2362917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73291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94387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94387" y="2362917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94387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94387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94387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31185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16628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16628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53428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38870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38870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75670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61116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61116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997914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83836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83836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06083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06083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673181" y="2357910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28324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28324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965123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50565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350565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287366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673291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73291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610090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94387" y="236291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47319" y="236291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024451" y="2298271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94387" y="210848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47319" y="210848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94387" y="1854539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47319" y="185453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024451" y="1789897"/>
            <a:ext cx="66040" cy="376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600" spc="1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94387" y="160011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47319" y="160011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024451" y="1535469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94387" y="134616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47319" y="134616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024451" y="1281523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94387" y="109222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47319" y="109222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024451" y="1027576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094387" y="837794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647319" y="83779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024451" y="773148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094387" y="58384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647319" y="58384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94387" y="32990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647319" y="32990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971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984051" y="265255"/>
            <a:ext cx="106680" cy="376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  <a:spcBef>
                <a:spcPts val="475"/>
              </a:spcBef>
            </a:pPr>
            <a:r>
              <a:rPr dirty="0" sz="600" spc="15">
                <a:latin typeface="Times New Roman"/>
                <a:cs typeface="Times New Roman"/>
              </a:rPr>
              <a:t>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094387" y="329901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094387" y="2362917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673291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094387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090059" y="360680"/>
            <a:ext cx="2492815" cy="1886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2320637" y="2357910"/>
            <a:ext cx="127000" cy="2044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68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0.9</a:t>
            </a:r>
            <a:endParaRPr sz="600">
              <a:latin typeface="Times New Roman"/>
              <a:cs typeface="Times New Roman"/>
            </a:endParaRPr>
          </a:p>
          <a:p>
            <a:pPr marL="40005">
              <a:lnSpc>
                <a:spcPts val="680"/>
              </a:lnSpc>
            </a:pPr>
            <a:r>
              <a:rPr dirty="0" sz="600" spc="15">
                <a:latin typeface="Symbol"/>
                <a:cs typeface="Symbol"/>
              </a:rPr>
              <a:t></a:t>
            </a:r>
            <a:endParaRPr sz="600"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66663" y="1277973"/>
            <a:ext cx="117475" cy="137795"/>
          </a:xfrm>
          <a:prstGeom prst="rect">
            <a:avLst/>
          </a:prstGeom>
        </p:spPr>
        <p:txBody>
          <a:bodyPr wrap="square" lIns="0" tIns="101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latin typeface="Times New Roman"/>
                <a:cs typeface="Times New Roman"/>
              </a:rPr>
              <a:t>pM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657400" y="1546531"/>
            <a:ext cx="20256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0864" sz="675">
                <a:latin typeface="Arial"/>
                <a:cs typeface="Arial"/>
              </a:rPr>
              <a:t>Ca</a:t>
            </a:r>
            <a:r>
              <a:rPr dirty="0" sz="350">
                <a:latin typeface="Arial"/>
                <a:cs typeface="Arial"/>
              </a:rPr>
              <a:t>2+</a:t>
            </a:r>
            <a:endParaRPr sz="3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098921" y="1623003"/>
            <a:ext cx="20891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0864" sz="675">
                <a:latin typeface="Arial"/>
                <a:cs typeface="Arial"/>
              </a:rPr>
              <a:t>Mg</a:t>
            </a:r>
            <a:r>
              <a:rPr dirty="0" sz="350">
                <a:latin typeface="Arial"/>
                <a:cs typeface="Arial"/>
              </a:rPr>
              <a:t>2+</a:t>
            </a:r>
            <a:endParaRPr sz="3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696352" y="698600"/>
            <a:ext cx="46672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Arial"/>
                <a:cs typeface="Arial"/>
              </a:rPr>
              <a:t>c(Y) = </a:t>
            </a:r>
            <a:r>
              <a:rPr dirty="0" sz="450" spc="-5">
                <a:latin typeface="Arial"/>
                <a:cs typeface="Arial"/>
              </a:rPr>
              <a:t>0.01</a:t>
            </a:r>
            <a:r>
              <a:rPr dirty="0" sz="450" spc="-50">
                <a:latin typeface="Arial"/>
                <a:cs typeface="Arial"/>
              </a:rPr>
              <a:t> </a:t>
            </a:r>
            <a:r>
              <a:rPr dirty="0" sz="450">
                <a:latin typeface="Arial"/>
                <a:cs typeface="Arial"/>
              </a:rPr>
              <a:t>mol/L</a:t>
            </a:r>
            <a:endParaRPr sz="4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690581" y="852988"/>
            <a:ext cx="54038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Arial"/>
                <a:cs typeface="Arial"/>
              </a:rPr>
              <a:t>c(Mg) = </a:t>
            </a:r>
            <a:r>
              <a:rPr dirty="0" sz="450" spc="-5">
                <a:latin typeface="Arial"/>
                <a:cs typeface="Arial"/>
              </a:rPr>
              <a:t>0.001</a:t>
            </a:r>
            <a:r>
              <a:rPr dirty="0" sz="450" spc="-45">
                <a:latin typeface="Arial"/>
                <a:cs typeface="Arial"/>
              </a:rPr>
              <a:t> </a:t>
            </a:r>
            <a:r>
              <a:rPr dirty="0" sz="450">
                <a:latin typeface="Arial"/>
                <a:cs typeface="Arial"/>
              </a:rPr>
              <a:t>mol/L</a:t>
            </a:r>
            <a:endParaRPr sz="4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696352" y="995833"/>
            <a:ext cx="502284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Arial"/>
                <a:cs typeface="Arial"/>
              </a:rPr>
              <a:t>c(Ca) = </a:t>
            </a:r>
            <a:r>
              <a:rPr dirty="0" sz="450" spc="-5">
                <a:latin typeface="Arial"/>
                <a:cs typeface="Arial"/>
              </a:rPr>
              <a:t>0.01</a:t>
            </a:r>
            <a:r>
              <a:rPr dirty="0" sz="450" spc="-50">
                <a:latin typeface="Arial"/>
                <a:cs typeface="Arial"/>
              </a:rPr>
              <a:t> </a:t>
            </a:r>
            <a:r>
              <a:rPr dirty="0" sz="450">
                <a:latin typeface="Arial"/>
                <a:cs typeface="Arial"/>
              </a:rPr>
              <a:t>mol/L</a:t>
            </a:r>
            <a:endParaRPr sz="4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269504" y="2739326"/>
            <a:ext cx="2063114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2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21:</a:t>
            </a:r>
            <a:r>
              <a:rPr dirty="0" sz="1000" spc="18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含</a:t>
            </a:r>
            <a:r>
              <a:rPr dirty="0" sz="1000" spc="60">
                <a:latin typeface="Georgia"/>
                <a:cs typeface="Georgia"/>
              </a:rPr>
              <a:t>Mg</a:t>
            </a:r>
            <a:r>
              <a:rPr dirty="0" baseline="27777" sz="1050" spc="89">
                <a:latin typeface="Times New Roman"/>
                <a:cs typeface="Times New Roman"/>
              </a:rPr>
              <a:t>2+</a:t>
            </a:r>
            <a:r>
              <a:rPr dirty="0" baseline="27777" sz="1050" spc="44">
                <a:latin typeface="Times New Roman"/>
                <a:cs typeface="Times New Roman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的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160">
                <a:latin typeface="Arial Unicode MS"/>
                <a:cs typeface="Arial Unicode MS"/>
              </a:rPr>
              <a:t>定</a:t>
            </a:r>
            <a:r>
              <a:rPr dirty="0" sz="1000" spc="80">
                <a:latin typeface="Georgia"/>
                <a:cs typeface="Georgia"/>
              </a:rPr>
              <a:t>Ca</a:t>
            </a:r>
            <a:r>
              <a:rPr dirty="0" baseline="27777" sz="1050" spc="120">
                <a:latin typeface="Times New Roman"/>
                <a:cs typeface="Times New Roman"/>
              </a:rPr>
              <a:t>2+</a:t>
            </a:r>
            <a:endParaRPr baseline="27777" sz="10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3903" y="329901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3903" y="329901"/>
            <a:ext cx="2579370" cy="2033270"/>
          </a:xfrm>
          <a:custGeom>
            <a:avLst/>
            <a:gdLst/>
            <a:ahLst/>
            <a:cxnLst/>
            <a:rect l="l" t="t" r="r" b="b"/>
            <a:pathLst>
              <a:path w="2579370" h="2033270">
                <a:moveTo>
                  <a:pt x="0" y="2033016"/>
                </a:moveTo>
                <a:lnTo>
                  <a:pt x="2578903" y="2033016"/>
                </a:ln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93903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93903" y="2362917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93903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93903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93903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9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30704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3881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23881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9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40481" y="2357910"/>
            <a:ext cx="16700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0.95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53858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53858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9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920960" y="2357910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83836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83836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9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13335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13335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9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750134" y="2357910"/>
            <a:ext cx="1270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43313" y="233694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9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43313" y="32990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49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59912" y="2357910"/>
            <a:ext cx="16700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1.15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93903" y="236291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9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47313" y="236291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9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024451" y="2298271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93903" y="207241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9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47313" y="207241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9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024451" y="2007771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93903" y="178191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9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47313" y="178191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9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24451" y="1717272"/>
            <a:ext cx="6604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93903" y="149141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9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47313" y="149141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9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093903" y="120091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9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47313" y="120091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9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84051" y="1136273"/>
            <a:ext cx="106680" cy="41338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93903" y="910417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9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47313" y="91041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9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984051" y="845773"/>
            <a:ext cx="10668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093903" y="619919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9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47313" y="61991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9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93903" y="32990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9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47313" y="32990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49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984051" y="265255"/>
            <a:ext cx="106680" cy="412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16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93903" y="329901"/>
            <a:ext cx="2579370" cy="0"/>
          </a:xfrm>
          <a:custGeom>
            <a:avLst/>
            <a:gdLst/>
            <a:ahLst/>
            <a:cxnLst/>
            <a:rect l="l" t="t" r="r" b="b"/>
            <a:pathLst>
              <a:path w="2579370" h="0">
                <a:moveTo>
                  <a:pt x="0" y="0"/>
                </a:move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93903" y="329901"/>
            <a:ext cx="2579370" cy="2033270"/>
          </a:xfrm>
          <a:custGeom>
            <a:avLst/>
            <a:gdLst/>
            <a:ahLst/>
            <a:cxnLst/>
            <a:rect l="l" t="t" r="r" b="b"/>
            <a:pathLst>
              <a:path w="2579370" h="2033270">
                <a:moveTo>
                  <a:pt x="0" y="2033016"/>
                </a:moveTo>
                <a:lnTo>
                  <a:pt x="2578903" y="2033016"/>
                </a:lnTo>
                <a:lnTo>
                  <a:pt x="2578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93903" y="329901"/>
            <a:ext cx="0" cy="2033270"/>
          </a:xfrm>
          <a:custGeom>
            <a:avLst/>
            <a:gdLst/>
            <a:ahLst/>
            <a:cxnLst/>
            <a:rect l="l" t="t" r="r" b="b"/>
            <a:pathLst>
              <a:path w="0" h="2033270">
                <a:moveTo>
                  <a:pt x="0" y="203301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088131" y="410702"/>
            <a:ext cx="2590936" cy="1771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300437" y="2357910"/>
            <a:ext cx="167005" cy="2044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680"/>
              </a:lnSpc>
              <a:spcBef>
                <a:spcPts val="135"/>
              </a:spcBef>
            </a:pPr>
            <a:r>
              <a:rPr dirty="0" sz="600" spc="15">
                <a:latin typeface="Times New Roman"/>
                <a:cs typeface="Times New Roman"/>
              </a:rPr>
              <a:t>1.05</a:t>
            </a:r>
            <a:endParaRPr sz="600">
              <a:latin typeface="Times New Roman"/>
              <a:cs typeface="Times New Roman"/>
            </a:endParaRPr>
          </a:p>
          <a:p>
            <a:pPr algn="ctr">
              <a:lnSpc>
                <a:spcPts val="680"/>
              </a:lnSpc>
            </a:pPr>
            <a:r>
              <a:rPr dirty="0" sz="600" spc="15">
                <a:latin typeface="Symbol"/>
                <a:cs typeface="Symbol"/>
              </a:rPr>
              <a:t></a:t>
            </a:r>
            <a:endParaRPr sz="60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66663" y="1277973"/>
            <a:ext cx="117475" cy="137795"/>
          </a:xfrm>
          <a:prstGeom prst="rect">
            <a:avLst/>
          </a:prstGeom>
        </p:spPr>
        <p:txBody>
          <a:bodyPr wrap="square" lIns="0" tIns="101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latin typeface="Times New Roman"/>
                <a:cs typeface="Times New Roman"/>
              </a:rPr>
              <a:t>pM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33952" y="1778354"/>
            <a:ext cx="20891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0864" sz="675">
                <a:latin typeface="Arial"/>
                <a:cs typeface="Arial"/>
              </a:rPr>
              <a:t>Mg</a:t>
            </a:r>
            <a:r>
              <a:rPr dirty="0" sz="350">
                <a:latin typeface="Arial"/>
                <a:cs typeface="Arial"/>
              </a:rPr>
              <a:t>2+</a:t>
            </a:r>
            <a:endParaRPr sz="3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79439" y="704371"/>
            <a:ext cx="46672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Arial"/>
                <a:cs typeface="Arial"/>
              </a:rPr>
              <a:t>c(Y) = </a:t>
            </a:r>
            <a:r>
              <a:rPr dirty="0" sz="450" spc="-5">
                <a:latin typeface="Arial"/>
                <a:cs typeface="Arial"/>
              </a:rPr>
              <a:t>0.01</a:t>
            </a:r>
            <a:r>
              <a:rPr dirty="0" sz="450" spc="-50">
                <a:latin typeface="Arial"/>
                <a:cs typeface="Arial"/>
              </a:rPr>
              <a:t> </a:t>
            </a:r>
            <a:r>
              <a:rPr dirty="0" sz="450">
                <a:latin typeface="Arial"/>
                <a:cs typeface="Arial"/>
              </a:rPr>
              <a:t>mol/L</a:t>
            </a:r>
            <a:endParaRPr sz="4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79439" y="829422"/>
            <a:ext cx="54038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Arial"/>
                <a:cs typeface="Arial"/>
              </a:rPr>
              <a:t>c(Mg) = </a:t>
            </a:r>
            <a:r>
              <a:rPr dirty="0" sz="450" spc="-5">
                <a:latin typeface="Arial"/>
                <a:cs typeface="Arial"/>
              </a:rPr>
              <a:t>0.001</a:t>
            </a:r>
            <a:r>
              <a:rPr dirty="0" sz="450" spc="-45">
                <a:latin typeface="Arial"/>
                <a:cs typeface="Arial"/>
              </a:rPr>
              <a:t> </a:t>
            </a:r>
            <a:r>
              <a:rPr dirty="0" sz="450">
                <a:latin typeface="Arial"/>
                <a:cs typeface="Arial"/>
              </a:rPr>
              <a:t>mol/L</a:t>
            </a:r>
            <a:endParaRPr sz="4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479439" y="960245"/>
            <a:ext cx="49530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Arial"/>
                <a:cs typeface="Arial"/>
              </a:rPr>
              <a:t>c(Zn) = </a:t>
            </a:r>
            <a:r>
              <a:rPr dirty="0" sz="450" spc="-5">
                <a:latin typeface="Arial"/>
                <a:cs typeface="Arial"/>
              </a:rPr>
              <a:t>0.01</a:t>
            </a:r>
            <a:r>
              <a:rPr dirty="0" sz="450" spc="-50">
                <a:latin typeface="Arial"/>
                <a:cs typeface="Arial"/>
              </a:rPr>
              <a:t> </a:t>
            </a:r>
            <a:r>
              <a:rPr dirty="0" sz="450">
                <a:latin typeface="Arial"/>
                <a:cs typeface="Arial"/>
              </a:rPr>
              <a:t>mol/L</a:t>
            </a:r>
            <a:endParaRPr sz="4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642577" y="1641761"/>
            <a:ext cx="19621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0864" sz="675">
                <a:latin typeface="Arial"/>
                <a:cs typeface="Arial"/>
              </a:rPr>
              <a:t>Zn</a:t>
            </a:r>
            <a:r>
              <a:rPr dirty="0" sz="350">
                <a:latin typeface="Arial"/>
                <a:cs typeface="Arial"/>
              </a:rPr>
              <a:t>2+</a:t>
            </a:r>
            <a:endParaRPr sz="3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273009" y="2739326"/>
            <a:ext cx="20561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2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22:</a:t>
            </a:r>
            <a:r>
              <a:rPr dirty="0" sz="1000" spc="-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含</a:t>
            </a:r>
            <a:r>
              <a:rPr dirty="0" sz="1000" spc="60">
                <a:latin typeface="Georgia"/>
                <a:cs typeface="Georgia"/>
              </a:rPr>
              <a:t>Mg</a:t>
            </a:r>
            <a:r>
              <a:rPr dirty="0" baseline="27777" sz="1050" spc="89">
                <a:latin typeface="Times New Roman"/>
                <a:cs typeface="Times New Roman"/>
              </a:rPr>
              <a:t>2+</a:t>
            </a:r>
            <a:r>
              <a:rPr dirty="0" baseline="27777" sz="1050" spc="44">
                <a:latin typeface="Times New Roman"/>
                <a:cs typeface="Times New Roman"/>
              </a:rPr>
              <a:t> </a:t>
            </a:r>
            <a:r>
              <a:rPr dirty="0" sz="1050" spc="160">
                <a:latin typeface="Arial Unicode MS"/>
                <a:cs typeface="Arial Unicode MS"/>
              </a:rPr>
              <a:t>的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160">
                <a:latin typeface="Arial Unicode MS"/>
                <a:cs typeface="Arial Unicode MS"/>
              </a:rPr>
              <a:t>定</a:t>
            </a:r>
            <a:r>
              <a:rPr dirty="0" sz="1000" spc="55">
                <a:latin typeface="Georgia"/>
                <a:cs typeface="Georgia"/>
              </a:rPr>
              <a:t>Zn</a:t>
            </a:r>
            <a:r>
              <a:rPr dirty="0" baseline="27777" sz="1050" spc="82">
                <a:latin typeface="Times New Roman"/>
                <a:cs typeface="Times New Roman"/>
              </a:rPr>
              <a:t>2+</a:t>
            </a:r>
            <a:endParaRPr baseline="27777" sz="10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205486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5.8.2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利</a:t>
            </a:r>
            <a:r>
              <a:rPr dirty="0" sz="1050" spc="-10">
                <a:solidFill>
                  <a:srgbClr val="FFFFFF"/>
                </a:solidFill>
              </a:rPr>
              <a:t>用</a:t>
            </a:r>
            <a:r>
              <a:rPr dirty="0" sz="1050" spc="-5">
                <a:solidFill>
                  <a:srgbClr val="FFFFFF"/>
                </a:solidFill>
              </a:rPr>
              <a:t>掩蔽剂提</a:t>
            </a:r>
            <a:r>
              <a:rPr dirty="0" sz="1050" spc="-10">
                <a:solidFill>
                  <a:srgbClr val="FFFFFF"/>
                </a:solidFill>
              </a:rPr>
              <a:t>高</a:t>
            </a:r>
            <a:r>
              <a:rPr dirty="0" sz="1050" spc="-5">
                <a:solidFill>
                  <a:srgbClr val="FFFFFF"/>
                </a:solidFill>
              </a:rPr>
              <a:t>滴定的</a:t>
            </a:r>
            <a:r>
              <a:rPr dirty="0" sz="1050" spc="-10">
                <a:solidFill>
                  <a:srgbClr val="FFFFFF"/>
                </a:solidFill>
              </a:rPr>
              <a:t>选</a:t>
            </a:r>
            <a:r>
              <a:rPr dirty="0" sz="1050" spc="-5">
                <a:solidFill>
                  <a:srgbClr val="FFFFFF"/>
                </a:solidFill>
              </a:rPr>
              <a:t>择性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209496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2356624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618282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5844" y="883412"/>
            <a:ext cx="4244975" cy="18440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在控制酸度无法实现分别滴定的情况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可以考虑采用加入 </a:t>
            </a:r>
            <a:r>
              <a:rPr dirty="0" sz="1200" spc="-5">
                <a:latin typeface="Arial Unicode MS"/>
                <a:cs typeface="Arial Unicode MS"/>
              </a:rPr>
              <a:t>掩蔽剂的方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将干扰离子掩</a:t>
            </a:r>
            <a:r>
              <a:rPr dirty="0" sz="1200" spc="-80">
                <a:latin typeface="Arial Unicode MS"/>
                <a:cs typeface="Arial Unicode MS"/>
              </a:rPr>
              <a:t>蔽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从而使其不对滴定过程产生影 </a:t>
            </a:r>
            <a:r>
              <a:rPr dirty="0" sz="1200" spc="-80">
                <a:latin typeface="Arial Unicode MS"/>
                <a:cs typeface="Arial Unicode MS"/>
              </a:rPr>
              <a:t>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这种方法叫做掩蔽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按照掩蔽反应的类</a:t>
            </a:r>
            <a:r>
              <a:rPr dirty="0" sz="1200" spc="-80">
                <a:latin typeface="Arial Unicode MS"/>
                <a:cs typeface="Arial Unicode MS"/>
              </a:rPr>
              <a:t>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掩蔽法通常又分为三</a:t>
            </a:r>
            <a:r>
              <a:rPr dirty="0" sz="1200" spc="-90">
                <a:latin typeface="Arial Unicode MS"/>
                <a:cs typeface="Arial Unicode MS"/>
              </a:rPr>
              <a:t>类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配位掩蔽法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氧化还原掩蔽法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沉淀掩蔽法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6902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配位掩蔽法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1089152"/>
            <a:ext cx="4356735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以含</a:t>
            </a:r>
            <a:r>
              <a:rPr dirty="0" sz="1200" spc="175">
                <a:latin typeface="Arial Unicode MS"/>
                <a:cs typeface="Arial Unicode MS"/>
              </a:rPr>
              <a:t>有</a:t>
            </a:r>
            <a:r>
              <a:rPr dirty="0" sz="1100" spc="-105">
                <a:latin typeface="Georgia"/>
                <a:cs typeface="Georgia"/>
              </a:rPr>
              <a:t>M</a:t>
            </a:r>
            <a:r>
              <a:rPr dirty="0" sz="1200" spc="-105">
                <a:latin typeface="Arial Unicode MS"/>
                <a:cs typeface="Arial Unicode MS"/>
              </a:rPr>
              <a:t>，</a:t>
            </a:r>
            <a:r>
              <a:rPr dirty="0" sz="1100" spc="-105">
                <a:latin typeface="Georgia"/>
                <a:cs typeface="Georgia"/>
              </a:rPr>
              <a:t>N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混合离子的溶液为</a:t>
            </a:r>
            <a:r>
              <a:rPr dirty="0" sz="1200" spc="-80">
                <a:latin typeface="Arial Unicode MS"/>
                <a:cs typeface="Arial Unicode MS"/>
              </a:rPr>
              <a:t>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如果我们希望滴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，  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不会对滴定过程产生干</a:t>
            </a:r>
            <a:r>
              <a:rPr dirty="0" sz="1200" spc="-80">
                <a:latin typeface="Arial Unicode MS"/>
                <a:cs typeface="Arial Unicode MS"/>
              </a:rPr>
              <a:t>扰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则可以加入</a:t>
            </a:r>
            <a:r>
              <a:rPr dirty="0" sz="1200" spc="175">
                <a:latin typeface="Arial Unicode MS"/>
                <a:cs typeface="Arial Unicode MS"/>
              </a:rPr>
              <a:t>对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具有掩蔽作用的配</a:t>
            </a:r>
            <a:r>
              <a:rPr dirty="0" sz="1200" spc="-5">
                <a:latin typeface="Arial Unicode MS"/>
                <a:cs typeface="Arial Unicode MS"/>
              </a:rPr>
              <a:t>位 </a:t>
            </a:r>
            <a:r>
              <a:rPr dirty="0" sz="1200" spc="175">
                <a:latin typeface="Arial Unicode MS"/>
                <a:cs typeface="Arial Unicode MS"/>
              </a:rPr>
              <a:t>剂</a:t>
            </a:r>
            <a:r>
              <a:rPr dirty="0" sz="1100" spc="-75">
                <a:latin typeface="Georgia"/>
                <a:cs typeface="Georgia"/>
              </a:rPr>
              <a:t>L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100" spc="-75">
                <a:latin typeface="Georgia"/>
                <a:cs typeface="Georgia"/>
              </a:rPr>
              <a:t>L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形成稳定的配合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从而使溶液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的浓度变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 再干</a:t>
            </a:r>
            <a:r>
              <a:rPr dirty="0" sz="1200" spc="175">
                <a:latin typeface="Arial Unicode MS"/>
                <a:cs typeface="Arial Unicode MS"/>
              </a:rPr>
              <a:t>扰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-80">
                <a:latin typeface="Arial Unicode MS"/>
                <a:cs typeface="Arial Unicode MS"/>
              </a:rPr>
              <a:t>然</a:t>
            </a:r>
            <a:r>
              <a:rPr dirty="0" sz="1200" spc="-85">
                <a:latin typeface="Arial Unicode MS"/>
                <a:cs typeface="Arial Unicode MS"/>
              </a:rPr>
              <a:t>，</a:t>
            </a:r>
            <a:r>
              <a:rPr dirty="0" sz="1100" spc="-85">
                <a:latin typeface="Georgia"/>
                <a:cs typeface="Georgia"/>
              </a:rPr>
              <a:t>L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不应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反应生成配合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或者只形成不稳定的配合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44" y="502589"/>
            <a:ext cx="4420235" cy="2092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113664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滴定水中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10">
                <a:latin typeface="Georgia"/>
                <a:cs typeface="Georgia"/>
              </a:rPr>
              <a:t>Mg</a:t>
            </a:r>
            <a:r>
              <a:rPr dirty="0" baseline="37037" sz="900" spc="15">
                <a:latin typeface="Times New Roman"/>
                <a:cs typeface="Times New Roman"/>
              </a:rPr>
              <a:t>2+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 </a:t>
            </a:r>
            <a:r>
              <a:rPr dirty="0" sz="1200" spc="175">
                <a:latin typeface="Arial Unicode MS"/>
                <a:cs typeface="Arial Unicode MS"/>
              </a:rPr>
              <a:t>时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75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对滴定过程会有干</a:t>
            </a:r>
            <a:r>
              <a:rPr dirty="0" sz="1200" spc="-80">
                <a:latin typeface="Arial Unicode MS"/>
                <a:cs typeface="Arial Unicode MS"/>
              </a:rPr>
              <a:t>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其影响可以通过加入三乙醇 胺来消</a:t>
            </a:r>
            <a:r>
              <a:rPr dirty="0" sz="1200" spc="-20">
                <a:latin typeface="Arial Unicode MS"/>
                <a:cs typeface="Arial Unicode MS"/>
              </a:rPr>
              <a:t>除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670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又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时测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40">
                <a:latin typeface="Georgia"/>
                <a:cs typeface="Georgia"/>
              </a:rPr>
              <a:t>Pb</a:t>
            </a:r>
            <a:r>
              <a:rPr dirty="0" baseline="37037" sz="900" spc="60">
                <a:latin typeface="Times New Roman"/>
                <a:cs typeface="Times New Roman"/>
              </a:rPr>
              <a:t>2+</a:t>
            </a:r>
            <a:r>
              <a:rPr dirty="0" sz="1200" spc="40">
                <a:latin typeface="Arial Unicode MS"/>
                <a:cs typeface="Arial Unicode MS"/>
              </a:rPr>
              <a:t>，</a:t>
            </a:r>
            <a:r>
              <a:rPr dirty="0" sz="1100" spc="40">
                <a:latin typeface="Georgia"/>
                <a:cs typeface="Georgia"/>
              </a:rPr>
              <a:t>Zn</a:t>
            </a:r>
            <a:r>
              <a:rPr dirty="0" baseline="37037" sz="900" spc="60">
                <a:latin typeface="Times New Roman"/>
                <a:cs typeface="Times New Roman"/>
              </a:rPr>
              <a:t>2+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80">
                <a:latin typeface="Georgia"/>
                <a:cs typeface="Georgia"/>
              </a:rPr>
              <a:t>Cu</a:t>
            </a:r>
            <a:r>
              <a:rPr dirty="0" baseline="37037" sz="900" spc="120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混合溶液中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25">
                <a:latin typeface="Georgia"/>
                <a:cs typeface="Georgia"/>
              </a:rPr>
              <a:t>Pb</a:t>
            </a:r>
            <a:r>
              <a:rPr dirty="0" baseline="37037" sz="900" spc="37">
                <a:latin typeface="Times New Roman"/>
                <a:cs typeface="Times New Roman"/>
              </a:rPr>
              <a:t>2+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可通过加</a:t>
            </a:r>
            <a:r>
              <a:rPr dirty="0" sz="1200" spc="175">
                <a:latin typeface="Arial Unicode MS"/>
                <a:cs typeface="Arial Unicode MS"/>
              </a:rPr>
              <a:t>入</a:t>
            </a:r>
            <a:r>
              <a:rPr dirty="0" sz="1100" spc="35">
                <a:latin typeface="Georgia"/>
                <a:cs typeface="Georgia"/>
              </a:rPr>
              <a:t>KCN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来掩</a:t>
            </a:r>
            <a:r>
              <a:rPr dirty="0" sz="1200" spc="175">
                <a:latin typeface="Arial Unicode MS"/>
                <a:cs typeface="Arial Unicode MS"/>
              </a:rPr>
              <a:t>蔽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90">
                <a:latin typeface="Georgia"/>
                <a:cs typeface="Georgia"/>
              </a:rPr>
              <a:t>Cu</a:t>
            </a:r>
            <a:r>
              <a:rPr dirty="0" baseline="37037" sz="900" spc="135">
                <a:latin typeface="Times New Roman"/>
                <a:cs typeface="Times New Roman"/>
              </a:rPr>
              <a:t>2+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63500" marR="17780" indent="303530">
              <a:lnSpc>
                <a:spcPct val="122300"/>
              </a:lnSpc>
              <a:spcBef>
                <a:spcPts val="1090"/>
              </a:spcBef>
            </a:pPr>
            <a:r>
              <a:rPr dirty="0" sz="1200" spc="-10">
                <a:latin typeface="Arial Unicode MS"/>
                <a:cs typeface="Arial Unicode MS"/>
              </a:rPr>
              <a:t>要说明的</a:t>
            </a:r>
            <a:r>
              <a:rPr dirty="0" sz="1200" spc="-80">
                <a:latin typeface="Arial Unicode MS"/>
                <a:cs typeface="Arial Unicode MS"/>
              </a:rPr>
              <a:t>是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配位掩蔽剂中有许多是弱酸或弱</a:t>
            </a:r>
            <a:r>
              <a:rPr dirty="0" sz="1200" spc="-80">
                <a:latin typeface="Arial Unicode MS"/>
                <a:cs typeface="Arial Unicode MS"/>
              </a:rPr>
              <a:t>碱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酸度对它</a:t>
            </a:r>
            <a:r>
              <a:rPr dirty="0" sz="1200" spc="-5">
                <a:latin typeface="Arial Unicode MS"/>
                <a:cs typeface="Arial Unicode MS"/>
              </a:rPr>
              <a:t>们 </a:t>
            </a:r>
            <a:r>
              <a:rPr dirty="0" sz="1200" spc="-5">
                <a:latin typeface="Arial Unicode MS"/>
                <a:cs typeface="Arial Unicode MS"/>
              </a:rPr>
              <a:t>的掩蔽能力影响较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在使用时需注意所用配位掩蔽剂的适用酸 度范</a:t>
            </a:r>
            <a:r>
              <a:rPr dirty="0" sz="1200" spc="-20">
                <a:latin typeface="Arial Unicode MS"/>
                <a:cs typeface="Arial Unicode MS"/>
              </a:rPr>
              <a:t>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8874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64426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36394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35124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33108"/>
            <a:ext cx="50749" cy="1230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08700"/>
            <a:ext cx="4432935" cy="1106170"/>
          </a:xfrm>
          <a:custGeom>
            <a:avLst/>
            <a:gdLst/>
            <a:ahLst/>
            <a:cxnLst/>
            <a:rect l="l" t="t" r="r" b="b"/>
            <a:pathLst>
              <a:path w="4432935" h="1106170">
                <a:moveTo>
                  <a:pt x="4432566" y="0"/>
                </a:moveTo>
                <a:lnTo>
                  <a:pt x="0" y="0"/>
                </a:lnTo>
                <a:lnTo>
                  <a:pt x="0" y="1055241"/>
                </a:lnTo>
                <a:lnTo>
                  <a:pt x="4008" y="1074966"/>
                </a:lnTo>
                <a:lnTo>
                  <a:pt x="14922" y="1091119"/>
                </a:lnTo>
                <a:lnTo>
                  <a:pt x="31075" y="1102033"/>
                </a:lnTo>
                <a:lnTo>
                  <a:pt x="50800" y="1106041"/>
                </a:lnTo>
                <a:lnTo>
                  <a:pt x="4381765" y="1106041"/>
                </a:lnTo>
                <a:lnTo>
                  <a:pt x="4401490" y="1102033"/>
                </a:lnTo>
                <a:lnTo>
                  <a:pt x="4417643" y="1091119"/>
                </a:lnTo>
                <a:lnTo>
                  <a:pt x="4428558" y="1074966"/>
                </a:lnTo>
                <a:lnTo>
                  <a:pt x="4432566" y="105524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71194"/>
            <a:ext cx="0" cy="1212215"/>
          </a:xfrm>
          <a:custGeom>
            <a:avLst/>
            <a:gdLst/>
            <a:ahLst/>
            <a:cxnLst/>
            <a:rect l="l" t="t" r="r" b="b"/>
            <a:pathLst>
              <a:path w="0" h="1212215">
                <a:moveTo>
                  <a:pt x="0" y="121179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584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457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330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27787"/>
            <a:ext cx="4477385" cy="135763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5.9</a:t>
            </a:r>
            <a:endParaRPr sz="1200">
              <a:latin typeface="Calibri"/>
              <a:cs typeface="Calibri"/>
            </a:endParaRPr>
          </a:p>
          <a:p>
            <a:pPr algn="just" marL="62865" marR="43180">
              <a:lnSpc>
                <a:spcPts val="1760"/>
              </a:lnSpc>
              <a:spcBef>
                <a:spcPts val="75"/>
              </a:spcBef>
            </a:pP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-40" b="0" i="1">
                <a:latin typeface="Bookman Old Style"/>
                <a:cs typeface="Bookman Old Style"/>
              </a:rPr>
              <a:t>.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以二甲酚橙为指示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95">
                <a:latin typeface="Georgia"/>
                <a:cs typeface="Georgia"/>
              </a:rPr>
              <a:t>0.020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 同浓度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混合溶液中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65">
                <a:latin typeface="Georgia"/>
                <a:cs typeface="Georgia"/>
              </a:rPr>
              <a:t>Zn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今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10">
                <a:latin typeface="Georgia"/>
                <a:cs typeface="Georgia"/>
              </a:rPr>
              <a:t>NH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F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掩</a:t>
            </a:r>
            <a:r>
              <a:rPr dirty="0" sz="1200" spc="175">
                <a:latin typeface="Arial Unicode MS"/>
                <a:cs typeface="Arial Unicode MS"/>
              </a:rPr>
              <a:t>蔽</a:t>
            </a:r>
            <a:r>
              <a:rPr dirty="0" sz="1100" spc="25">
                <a:latin typeface="Georgia"/>
                <a:cs typeface="Georgia"/>
              </a:rPr>
              <a:t>Al</a:t>
            </a:r>
            <a:r>
              <a:rPr dirty="0" baseline="37037" sz="900" spc="37">
                <a:latin typeface="Times New Roman"/>
                <a:cs typeface="Times New Roman"/>
              </a:rPr>
              <a:t>3+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 </a:t>
            </a:r>
            <a:r>
              <a:rPr dirty="0" sz="1200" spc="-10">
                <a:latin typeface="Arial Unicode MS"/>
                <a:cs typeface="Arial Unicode MS"/>
              </a:rPr>
              <a:t>终点时溶液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(F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sz="1100" spc="30">
                <a:latin typeface="Georgia"/>
                <a:cs typeface="Georgia"/>
              </a:rPr>
              <a:t>)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45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Georgia"/>
                <a:cs typeface="Georgia"/>
              </a:rPr>
              <a:t>L</a:t>
            </a:r>
            <a:r>
              <a:rPr dirty="0" baseline="37037" sz="900" spc="-30">
                <a:latin typeface="Lucida Sans Unicode"/>
                <a:cs typeface="Lucida Sans Unicode"/>
              </a:rPr>
              <a:t>−</a:t>
            </a:r>
            <a:r>
              <a:rPr dirty="0" baseline="37037" sz="900" spc="-30">
                <a:latin typeface="Times New Roman"/>
                <a:cs typeface="Times New Roman"/>
              </a:rPr>
              <a:t>1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问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是否能被准确滴</a:t>
            </a:r>
            <a:r>
              <a:rPr dirty="0" sz="1200" spc="60">
                <a:latin typeface="Arial Unicode MS"/>
                <a:cs typeface="Arial Unicode MS"/>
              </a:rPr>
              <a:t>定</a:t>
            </a:r>
            <a:r>
              <a:rPr dirty="0" sz="1200" spc="-355">
                <a:latin typeface="Arial Unicode MS"/>
                <a:cs typeface="Arial Unicode MS"/>
              </a:rPr>
              <a:t>？</a:t>
            </a:r>
            <a:r>
              <a:rPr dirty="0" sz="1200" spc="-5">
                <a:latin typeface="Arial Unicode MS"/>
                <a:cs typeface="Arial Unicode MS"/>
              </a:rPr>
              <a:t>此 </a:t>
            </a:r>
            <a:r>
              <a:rPr dirty="0" sz="1200" spc="-15">
                <a:latin typeface="Arial Unicode MS"/>
                <a:cs typeface="Arial Unicode MS"/>
              </a:rPr>
              <a:t>时的终点误差是多</a:t>
            </a:r>
            <a:r>
              <a:rPr dirty="0" sz="1200" spc="60">
                <a:latin typeface="Arial Unicode MS"/>
                <a:cs typeface="Arial Unicode MS"/>
              </a:rPr>
              <a:t>少</a:t>
            </a:r>
            <a:r>
              <a:rPr dirty="0" sz="1200" spc="-395">
                <a:latin typeface="Arial Unicode MS"/>
                <a:cs typeface="Arial Unicode MS"/>
              </a:rPr>
              <a:t>？</a:t>
            </a:r>
            <a:r>
              <a:rPr dirty="0" sz="1200" spc="-15">
                <a:latin typeface="Arial Unicode MS"/>
                <a:cs typeface="Arial Unicode MS"/>
              </a:rPr>
              <a:t>已</a:t>
            </a:r>
            <a:r>
              <a:rPr dirty="0" sz="1200" spc="-95">
                <a:latin typeface="Arial Unicode MS"/>
                <a:cs typeface="Arial Unicode MS"/>
              </a:rPr>
              <a:t>知</a:t>
            </a:r>
            <a:r>
              <a:rPr dirty="0" sz="1200" spc="-55">
                <a:latin typeface="Arial Unicode MS"/>
                <a:cs typeface="Arial Unicode MS"/>
              </a:rPr>
              <a:t>：</a:t>
            </a:r>
            <a:r>
              <a:rPr dirty="0" sz="1100" spc="-55">
                <a:latin typeface="Georgia"/>
                <a:cs typeface="Georgia"/>
              </a:rPr>
              <a:t>Al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15">
                <a:latin typeface="Arial Unicode MS"/>
                <a:cs typeface="Arial Unicode MS"/>
              </a:rPr>
              <a:t>的氟化物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β</a:t>
            </a:r>
            <a:r>
              <a:rPr dirty="0" baseline="-13888" sz="900">
                <a:latin typeface="Times New Roman"/>
                <a:cs typeface="Times New Roman"/>
              </a:rPr>
              <a:t>1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β</a:t>
            </a:r>
            <a:r>
              <a:rPr dirty="0" baseline="-13888" sz="900">
                <a:latin typeface="Times New Roman"/>
                <a:cs typeface="Times New Roman"/>
              </a:rPr>
              <a:t>6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15">
                <a:latin typeface="Arial Unicode MS"/>
                <a:cs typeface="Arial Unicode MS"/>
              </a:rPr>
              <a:t>分别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0">
                <a:latin typeface="Georgia"/>
                <a:cs typeface="Georgia"/>
              </a:rPr>
              <a:t>6.1</a:t>
            </a:r>
            <a:r>
              <a:rPr dirty="0" sz="1200" spc="-20">
                <a:latin typeface="Arial Unicode MS"/>
                <a:cs typeface="Arial Unicode MS"/>
              </a:rPr>
              <a:t>，  </a:t>
            </a:r>
            <a:r>
              <a:rPr dirty="0" sz="1100" spc="-45">
                <a:latin typeface="Georgia"/>
                <a:cs typeface="Georgia"/>
              </a:rPr>
              <a:t>11.2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15.0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17.7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19.4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19.7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118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8874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64426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36394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35124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33108"/>
            <a:ext cx="50749" cy="1230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08700"/>
            <a:ext cx="4432935" cy="1106170"/>
          </a:xfrm>
          <a:custGeom>
            <a:avLst/>
            <a:gdLst/>
            <a:ahLst/>
            <a:cxnLst/>
            <a:rect l="l" t="t" r="r" b="b"/>
            <a:pathLst>
              <a:path w="4432935" h="1106170">
                <a:moveTo>
                  <a:pt x="4432566" y="0"/>
                </a:moveTo>
                <a:lnTo>
                  <a:pt x="0" y="0"/>
                </a:lnTo>
                <a:lnTo>
                  <a:pt x="0" y="1055241"/>
                </a:lnTo>
                <a:lnTo>
                  <a:pt x="4008" y="1074966"/>
                </a:lnTo>
                <a:lnTo>
                  <a:pt x="14922" y="1091119"/>
                </a:lnTo>
                <a:lnTo>
                  <a:pt x="31075" y="1102033"/>
                </a:lnTo>
                <a:lnTo>
                  <a:pt x="50800" y="1106041"/>
                </a:lnTo>
                <a:lnTo>
                  <a:pt x="4381765" y="1106041"/>
                </a:lnTo>
                <a:lnTo>
                  <a:pt x="4401490" y="1102033"/>
                </a:lnTo>
                <a:lnTo>
                  <a:pt x="4417643" y="1091119"/>
                </a:lnTo>
                <a:lnTo>
                  <a:pt x="4428558" y="1074966"/>
                </a:lnTo>
                <a:lnTo>
                  <a:pt x="4432566" y="105524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71194"/>
            <a:ext cx="0" cy="1212215"/>
          </a:xfrm>
          <a:custGeom>
            <a:avLst/>
            <a:gdLst/>
            <a:ahLst/>
            <a:cxnLst/>
            <a:rect l="l" t="t" r="r" b="b"/>
            <a:pathLst>
              <a:path w="0" h="1212215">
                <a:moveTo>
                  <a:pt x="0" y="121179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584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457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33094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344" y="27787"/>
            <a:ext cx="4502785" cy="169862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5.9</a:t>
            </a:r>
            <a:endParaRPr sz="1200">
              <a:latin typeface="Calibri"/>
              <a:cs typeface="Calibri"/>
            </a:endParaRPr>
          </a:p>
          <a:p>
            <a:pPr algn="just" marL="75565" marR="55880">
              <a:lnSpc>
                <a:spcPts val="1760"/>
              </a:lnSpc>
              <a:spcBef>
                <a:spcPts val="75"/>
              </a:spcBef>
            </a:pP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-40" b="0" i="1">
                <a:latin typeface="Bookman Old Style"/>
                <a:cs typeface="Bookman Old Style"/>
              </a:rPr>
              <a:t>.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以二甲酚橙为指示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95">
                <a:latin typeface="Georgia"/>
                <a:cs typeface="Georgia"/>
              </a:rPr>
              <a:t>0.020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 同浓度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混合溶液中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65">
                <a:latin typeface="Georgia"/>
                <a:cs typeface="Georgia"/>
              </a:rPr>
              <a:t>Zn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今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10">
                <a:latin typeface="Georgia"/>
                <a:cs typeface="Georgia"/>
              </a:rPr>
              <a:t>NH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F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掩</a:t>
            </a:r>
            <a:r>
              <a:rPr dirty="0" sz="1200" spc="175">
                <a:latin typeface="Arial Unicode MS"/>
                <a:cs typeface="Arial Unicode MS"/>
              </a:rPr>
              <a:t>蔽</a:t>
            </a:r>
            <a:r>
              <a:rPr dirty="0" sz="1100" spc="25">
                <a:latin typeface="Georgia"/>
                <a:cs typeface="Georgia"/>
              </a:rPr>
              <a:t>Al</a:t>
            </a:r>
            <a:r>
              <a:rPr dirty="0" baseline="37037" sz="900" spc="37">
                <a:latin typeface="Times New Roman"/>
                <a:cs typeface="Times New Roman"/>
              </a:rPr>
              <a:t>3+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 </a:t>
            </a:r>
            <a:r>
              <a:rPr dirty="0" sz="1200" spc="-10">
                <a:latin typeface="Arial Unicode MS"/>
                <a:cs typeface="Arial Unicode MS"/>
              </a:rPr>
              <a:t>终点时溶液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(F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sz="1100" spc="30">
                <a:latin typeface="Georgia"/>
                <a:cs typeface="Georgia"/>
              </a:rPr>
              <a:t>)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45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Georgia"/>
                <a:cs typeface="Georgia"/>
              </a:rPr>
              <a:t>L</a:t>
            </a:r>
            <a:r>
              <a:rPr dirty="0" baseline="37037" sz="900" spc="-30">
                <a:latin typeface="Lucida Sans Unicode"/>
                <a:cs typeface="Lucida Sans Unicode"/>
              </a:rPr>
              <a:t>−</a:t>
            </a:r>
            <a:r>
              <a:rPr dirty="0" baseline="37037" sz="900" spc="-30">
                <a:latin typeface="Times New Roman"/>
                <a:cs typeface="Times New Roman"/>
              </a:rPr>
              <a:t>1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问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是否能被准确滴</a:t>
            </a:r>
            <a:r>
              <a:rPr dirty="0" sz="1200" spc="60">
                <a:latin typeface="Arial Unicode MS"/>
                <a:cs typeface="Arial Unicode MS"/>
              </a:rPr>
              <a:t>定</a:t>
            </a:r>
            <a:r>
              <a:rPr dirty="0" sz="1200" spc="-355">
                <a:latin typeface="Arial Unicode MS"/>
                <a:cs typeface="Arial Unicode MS"/>
              </a:rPr>
              <a:t>？</a:t>
            </a:r>
            <a:r>
              <a:rPr dirty="0" sz="1200" spc="-5">
                <a:latin typeface="Arial Unicode MS"/>
                <a:cs typeface="Arial Unicode MS"/>
              </a:rPr>
              <a:t>此 </a:t>
            </a:r>
            <a:r>
              <a:rPr dirty="0" sz="1200" spc="-15">
                <a:latin typeface="Arial Unicode MS"/>
                <a:cs typeface="Arial Unicode MS"/>
              </a:rPr>
              <a:t>时的终点误差是多</a:t>
            </a:r>
            <a:r>
              <a:rPr dirty="0" sz="1200" spc="60">
                <a:latin typeface="Arial Unicode MS"/>
                <a:cs typeface="Arial Unicode MS"/>
              </a:rPr>
              <a:t>少</a:t>
            </a:r>
            <a:r>
              <a:rPr dirty="0" sz="1200" spc="-395">
                <a:latin typeface="Arial Unicode MS"/>
                <a:cs typeface="Arial Unicode MS"/>
              </a:rPr>
              <a:t>？</a:t>
            </a:r>
            <a:r>
              <a:rPr dirty="0" sz="1200" spc="-15">
                <a:latin typeface="Arial Unicode MS"/>
                <a:cs typeface="Arial Unicode MS"/>
              </a:rPr>
              <a:t>已</a:t>
            </a:r>
            <a:r>
              <a:rPr dirty="0" sz="1200" spc="-95">
                <a:latin typeface="Arial Unicode MS"/>
                <a:cs typeface="Arial Unicode MS"/>
              </a:rPr>
              <a:t>知</a:t>
            </a:r>
            <a:r>
              <a:rPr dirty="0" sz="1200" spc="-55">
                <a:latin typeface="Arial Unicode MS"/>
                <a:cs typeface="Arial Unicode MS"/>
              </a:rPr>
              <a:t>：</a:t>
            </a:r>
            <a:r>
              <a:rPr dirty="0" sz="1100" spc="-55">
                <a:latin typeface="Georgia"/>
                <a:cs typeface="Georgia"/>
              </a:rPr>
              <a:t>Al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15">
                <a:latin typeface="Arial Unicode MS"/>
                <a:cs typeface="Arial Unicode MS"/>
              </a:rPr>
              <a:t>的氟化物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β</a:t>
            </a:r>
            <a:r>
              <a:rPr dirty="0" baseline="-13888" sz="900">
                <a:latin typeface="Times New Roman"/>
                <a:cs typeface="Times New Roman"/>
              </a:rPr>
              <a:t>1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β</a:t>
            </a:r>
            <a:r>
              <a:rPr dirty="0" baseline="-13888" sz="900">
                <a:latin typeface="Times New Roman"/>
                <a:cs typeface="Times New Roman"/>
              </a:rPr>
              <a:t>6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15">
                <a:latin typeface="Arial Unicode MS"/>
                <a:cs typeface="Arial Unicode MS"/>
              </a:rPr>
              <a:t>分别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0">
                <a:latin typeface="Georgia"/>
                <a:cs typeface="Georgia"/>
              </a:rPr>
              <a:t>6.1</a:t>
            </a:r>
            <a:r>
              <a:rPr dirty="0" sz="1200" spc="-20">
                <a:latin typeface="Arial Unicode MS"/>
                <a:cs typeface="Arial Unicode MS"/>
              </a:rPr>
              <a:t>，  </a:t>
            </a:r>
            <a:r>
              <a:rPr dirty="0" sz="1100" spc="-45">
                <a:latin typeface="Georgia"/>
                <a:cs typeface="Georgia"/>
              </a:rPr>
              <a:t>11.2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15.0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17.7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19.4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19.7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113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6587" y="1871256"/>
            <a:ext cx="751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07340" algn="l"/>
              </a:tabLst>
            </a:pPr>
            <a:r>
              <a:rPr dirty="0" sz="1100" spc="-150">
                <a:latin typeface="Lucida Sans Unicode"/>
                <a:cs typeface="Lucida Sans Unicode"/>
              </a:rPr>
              <a:t>∵	</a:t>
            </a:r>
            <a:r>
              <a:rPr dirty="0" sz="1100" spc="-10">
                <a:latin typeface="Georgia"/>
                <a:cs typeface="Georgia"/>
              </a:rPr>
              <a:t>[F</a:t>
            </a:r>
            <a:r>
              <a:rPr dirty="0" baseline="41666" sz="900" spc="-15">
                <a:latin typeface="Lucida Sans Unicode"/>
                <a:cs typeface="Lucida Sans Unicode"/>
              </a:rPr>
              <a:t>−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90828" y="1987867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275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95793" y="2049691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5084" y="1988896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34553" y="1871256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7698" y="1777530"/>
            <a:ext cx="19221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57250" algn="l"/>
              </a:tabLst>
            </a:pP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-13888" sz="900" spc="82" i="1">
                <a:latin typeface="Arial"/>
                <a:cs typeface="Arial"/>
              </a:rPr>
              <a:t>a</a:t>
            </a:r>
            <a:r>
              <a:rPr dirty="0" sz="1100" spc="55" b="0" i="1">
                <a:latin typeface="Bookman Old Style"/>
                <a:cs typeface="Bookman Old Style"/>
              </a:rPr>
              <a:t>c</a:t>
            </a:r>
            <a:r>
              <a:rPr dirty="0" sz="1100" spc="55">
                <a:latin typeface="Georgia"/>
                <a:cs typeface="Georgia"/>
              </a:rPr>
              <a:t>(F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sz="1100" spc="55">
                <a:latin typeface="Georgia"/>
                <a:cs typeface="Georgia"/>
              </a:rPr>
              <a:t>)	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baseline="37037" sz="900" spc="37">
                <a:latin typeface="Times New Roman"/>
                <a:cs typeface="Times New Roman"/>
              </a:rPr>
              <a:t>4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70">
                <a:latin typeface="Lucida Sans Unicode"/>
                <a:cs typeface="Lucida Sans Unicode"/>
              </a:rPr>
              <a:t> 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08682" y="1987867"/>
            <a:ext cx="1120140" cy="0"/>
          </a:xfrm>
          <a:custGeom>
            <a:avLst/>
            <a:gdLst/>
            <a:ahLst/>
            <a:cxnLst/>
            <a:rect l="l" t="t" r="r" b="b"/>
            <a:pathLst>
              <a:path w="1120139" h="0">
                <a:moveTo>
                  <a:pt x="0" y="0"/>
                </a:moveTo>
                <a:lnTo>
                  <a:pt x="11196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52728" y="1966290"/>
            <a:ext cx="2007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55344" algn="l"/>
              </a:tabLst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210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	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Lucida Sans Unicode"/>
                <a:cs typeface="Lucida Sans Unicode"/>
              </a:rPr>
              <a:t>−</a:t>
            </a:r>
            <a:r>
              <a:rPr dirty="0" baseline="27777" sz="900" spc="37">
                <a:latin typeface="Times New Roman"/>
                <a:cs typeface="Times New Roman"/>
              </a:rPr>
              <a:t>4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10</a:t>
            </a:r>
            <a:r>
              <a:rPr dirty="0" baseline="27777" sz="900" spc="52">
                <a:latin typeface="Lucida Sans Unicode"/>
                <a:cs typeface="Lucida Sans Unicode"/>
              </a:rPr>
              <a:t>−</a:t>
            </a:r>
            <a:r>
              <a:rPr dirty="0" baseline="27777" sz="900" spc="52">
                <a:latin typeface="Times New Roman"/>
                <a:cs typeface="Times New Roman"/>
              </a:rPr>
              <a:t>5</a:t>
            </a:r>
            <a:r>
              <a:rPr dirty="0" baseline="27777" sz="900" spc="52" i="1">
                <a:latin typeface="Arial"/>
                <a:cs typeface="Arial"/>
              </a:rPr>
              <a:t>.</a:t>
            </a:r>
            <a:r>
              <a:rPr dirty="0" baseline="27777" sz="900" spc="52">
                <a:latin typeface="Times New Roman"/>
                <a:cs typeface="Times New Roman"/>
              </a:rPr>
              <a:t>5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69297" y="1871256"/>
            <a:ext cx="734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01 </a:t>
            </a:r>
            <a:r>
              <a:rPr dirty="0" sz="1100" spc="-40">
                <a:latin typeface="Georgia"/>
                <a:cs typeface="Georgia"/>
              </a:rPr>
              <a:t>mol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82796" y="1814055"/>
            <a:ext cx="282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89">
                <a:latin typeface="Georgia"/>
                <a:cs typeface="Georgia"/>
              </a:rPr>
              <a:t>L</a:t>
            </a:r>
            <a:r>
              <a:rPr dirty="0" sz="600" spc="60">
                <a:latin typeface="Lucida Sans Unicode"/>
                <a:cs typeface="Lucida Sans Unicode"/>
              </a:rPr>
              <a:t>−</a:t>
            </a:r>
            <a:r>
              <a:rPr dirty="0" sz="600" spc="60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91004" y="2606027"/>
            <a:ext cx="95059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0269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6336" y="2522626"/>
            <a:ext cx="2687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940" algn="l"/>
              </a:tabLst>
            </a:pPr>
            <a:r>
              <a:rPr dirty="0" sz="1100" spc="-150">
                <a:latin typeface="Lucida Sans Unicode"/>
                <a:cs typeface="Lucida Sans Unicode"/>
              </a:rPr>
              <a:t>∴	</a:t>
            </a:r>
            <a:r>
              <a:rPr dirty="0" sz="1100" spc="15" b="0" i="1">
                <a:latin typeface="Bookman Old Style"/>
                <a:cs typeface="Bookman Old Style"/>
              </a:rPr>
              <a:t>α</a:t>
            </a:r>
            <a:r>
              <a:rPr dirty="0" sz="1100" spc="15">
                <a:latin typeface="Georgia"/>
                <a:cs typeface="Georgia"/>
              </a:rPr>
              <a:t>(Al(F))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-30">
                <a:latin typeface="Georgia"/>
                <a:cs typeface="Georgia"/>
              </a:rPr>
              <a:t>[F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 b="0" i="1">
                <a:latin typeface="Bookman Old Style"/>
                <a:cs typeface="Bookman Old Style"/>
              </a:rPr>
              <a:t>β </a:t>
            </a:r>
            <a:r>
              <a:rPr dirty="0" sz="1100" spc="-30">
                <a:latin typeface="Georgia"/>
                <a:cs typeface="Georgia"/>
              </a:rPr>
              <a:t>[F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2639" y="2528036"/>
            <a:ext cx="10680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0269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	−</a:t>
            </a:r>
            <a:r>
              <a:rPr dirty="0" sz="600" spc="85">
                <a:latin typeface="Lucida Sans Unicode"/>
                <a:cs typeface="Lucida Sans Unicode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14347" y="2784284"/>
            <a:ext cx="25069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41666" sz="900" spc="37">
                <a:latin typeface="Times New Roman"/>
                <a:cs typeface="Times New Roman"/>
              </a:rPr>
              <a:t>6</a:t>
            </a:r>
            <a:r>
              <a:rPr dirty="0" baseline="41666" sz="900" spc="37" i="1">
                <a:latin typeface="Arial"/>
                <a:cs typeface="Arial"/>
              </a:rPr>
              <a:t>.</a:t>
            </a:r>
            <a:r>
              <a:rPr dirty="0" baseline="41666" sz="900" spc="37">
                <a:latin typeface="Times New Roman"/>
                <a:cs typeface="Times New Roman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01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41666" sz="900" spc="44">
                <a:latin typeface="Times New Roman"/>
                <a:cs typeface="Times New Roman"/>
              </a:rPr>
              <a:t>19</a:t>
            </a:r>
            <a:r>
              <a:rPr dirty="0" baseline="41666" sz="900" spc="44" i="1">
                <a:latin typeface="Arial"/>
                <a:cs typeface="Arial"/>
              </a:rPr>
              <a:t>.</a:t>
            </a:r>
            <a:r>
              <a:rPr dirty="0" baseline="41666" sz="900" spc="44">
                <a:latin typeface="Times New Roman"/>
                <a:cs typeface="Times New Roman"/>
              </a:rPr>
              <a:t>7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01</a:t>
            </a:r>
            <a:r>
              <a:rPr dirty="0" baseline="41666" sz="900" spc="-52">
                <a:latin typeface="Times New Roman"/>
                <a:cs typeface="Times New Roman"/>
              </a:rPr>
              <a:t>6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39747" y="3045929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48626" y="2988729"/>
            <a:ext cx="3365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2727" sz="1650" spc="37">
                <a:latin typeface="Georgia"/>
                <a:cs typeface="Georgia"/>
              </a:rPr>
              <a:t>10</a:t>
            </a:r>
            <a:r>
              <a:rPr dirty="0" sz="600" spc="25">
                <a:latin typeface="Times New Roman"/>
                <a:cs typeface="Times New Roman"/>
              </a:rPr>
              <a:t>9</a:t>
            </a:r>
            <a:r>
              <a:rPr dirty="0" sz="600" spc="25" i="1">
                <a:latin typeface="Arial"/>
                <a:cs typeface="Arial"/>
              </a:rPr>
              <a:t>.</a:t>
            </a:r>
            <a:r>
              <a:rPr dirty="0" sz="600" spc="25">
                <a:latin typeface="Times New Roman"/>
                <a:cs typeface="Times New Roman"/>
              </a:rPr>
              <a:t>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118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342163"/>
            <a:ext cx="292735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加入掩蔽剂</a:t>
            </a:r>
            <a:r>
              <a:rPr dirty="0" spc="-80"/>
              <a:t>后</a:t>
            </a:r>
            <a:r>
              <a:rPr dirty="0" spc="-185"/>
              <a:t>，</a:t>
            </a:r>
            <a:r>
              <a:rPr dirty="0" spc="-5"/>
              <a:t>溶液中游</a:t>
            </a:r>
            <a:r>
              <a:rPr dirty="0" spc="175"/>
              <a:t>离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67">
                <a:latin typeface="Times New Roman"/>
                <a:cs typeface="Times New Roman"/>
              </a:rPr>
              <a:t> </a:t>
            </a:r>
            <a:r>
              <a:rPr dirty="0" sz="1200" spc="-5"/>
              <a:t>的浓度</a:t>
            </a:r>
            <a:r>
              <a:rPr dirty="0" sz="1200" spc="-90"/>
              <a:t>为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2248" y="733907"/>
            <a:ext cx="654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5">
                <a:latin typeface="Georgia"/>
                <a:cs typeface="Georgia"/>
              </a:rPr>
              <a:t>[Al</a:t>
            </a:r>
            <a:r>
              <a:rPr dirty="0" baseline="41666" sz="900" spc="37">
                <a:latin typeface="Times New Roman"/>
                <a:cs typeface="Times New Roman"/>
              </a:rPr>
              <a:t>3+</a:t>
            </a:r>
            <a:r>
              <a:rPr dirty="0" sz="1100" spc="25">
                <a:latin typeface="Georgia"/>
                <a:cs typeface="Georgia"/>
              </a:rPr>
              <a:t>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9410" y="850519"/>
            <a:ext cx="434340" cy="0"/>
          </a:xfrm>
          <a:custGeom>
            <a:avLst/>
            <a:gdLst/>
            <a:ahLst/>
            <a:cxnLst/>
            <a:rect l="l" t="t" r="r" b="b"/>
            <a:pathLst>
              <a:path w="434339" h="0">
                <a:moveTo>
                  <a:pt x="0" y="0"/>
                </a:moveTo>
                <a:lnTo>
                  <a:pt x="43381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04199" y="733907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8610" y="640181"/>
            <a:ext cx="17697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284605" algn="l"/>
              </a:tabLst>
            </a:pPr>
            <a:r>
              <a:rPr dirty="0" sz="1100" spc="50" b="0" i="1">
                <a:latin typeface="Bookman Old Style"/>
                <a:cs typeface="Bookman Old Style"/>
              </a:rPr>
              <a:t>c</a:t>
            </a:r>
            <a:r>
              <a:rPr dirty="0" sz="1100" spc="50">
                <a:latin typeface="Georgia"/>
                <a:cs typeface="Georgia"/>
              </a:rPr>
              <a:t>(Al</a:t>
            </a:r>
            <a:r>
              <a:rPr dirty="0" baseline="37037" sz="900" spc="75">
                <a:latin typeface="Times New Roman"/>
                <a:cs typeface="Times New Roman"/>
              </a:rPr>
              <a:t>3+</a:t>
            </a:r>
            <a:r>
              <a:rPr dirty="0" sz="1100" spc="50">
                <a:latin typeface="Georgia"/>
                <a:cs typeface="Georgia"/>
              </a:rPr>
              <a:t>)	</a:t>
            </a:r>
            <a:r>
              <a:rPr dirty="0" sz="1100" spc="50" b="0" i="1">
                <a:latin typeface="Bookman Old Style"/>
                <a:cs typeface="Bookman Old Style"/>
              </a:rPr>
              <a:t>c</a:t>
            </a:r>
            <a:r>
              <a:rPr dirty="0" sz="1100" spc="50">
                <a:latin typeface="Georgia"/>
                <a:cs typeface="Georgia"/>
              </a:rPr>
              <a:t>(Al</a:t>
            </a:r>
            <a:r>
              <a:rPr dirty="0" baseline="37037" sz="900" spc="75">
                <a:latin typeface="Times New Roman"/>
                <a:cs typeface="Times New Roman"/>
              </a:rPr>
              <a:t>3+</a:t>
            </a:r>
            <a:r>
              <a:rPr dirty="0" sz="1100" spc="5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78329" y="850519"/>
            <a:ext cx="1604645" cy="0"/>
          </a:xfrm>
          <a:custGeom>
            <a:avLst/>
            <a:gdLst/>
            <a:ahLst/>
            <a:cxnLst/>
            <a:rect l="l" t="t" r="r" b="b"/>
            <a:pathLst>
              <a:path w="1604645" h="0">
                <a:moveTo>
                  <a:pt x="0" y="0"/>
                </a:moveTo>
                <a:lnTo>
                  <a:pt x="160414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63979" y="828941"/>
            <a:ext cx="22313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14045" algn="l"/>
              </a:tabLst>
            </a:pPr>
            <a:r>
              <a:rPr dirty="0" sz="1100" spc="15" b="0" i="1">
                <a:latin typeface="Bookman Old Style"/>
                <a:cs typeface="Bookman Old Style"/>
              </a:rPr>
              <a:t>α</a:t>
            </a:r>
            <a:r>
              <a:rPr dirty="0" sz="1100" spc="15">
                <a:latin typeface="Georgia"/>
                <a:cs typeface="Georgia"/>
              </a:rPr>
              <a:t>(Al)	</a:t>
            </a:r>
            <a:r>
              <a:rPr dirty="0" sz="1100" spc="15" b="0" i="1">
                <a:latin typeface="Bookman Old Style"/>
                <a:cs typeface="Bookman Old Style"/>
              </a:rPr>
              <a:t>α</a:t>
            </a:r>
            <a:r>
              <a:rPr dirty="0" sz="1100" spc="15">
                <a:latin typeface="Georgia"/>
                <a:cs typeface="Georgia"/>
              </a:rPr>
              <a:t>(Al(F))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5" b="0" i="1">
                <a:latin typeface="Bookman Old Style"/>
                <a:cs typeface="Bookman Old Style"/>
              </a:rPr>
              <a:t>α</a:t>
            </a:r>
            <a:r>
              <a:rPr dirty="0" sz="1100" spc="5">
                <a:latin typeface="Georgia"/>
                <a:cs typeface="Georgia"/>
              </a:rPr>
              <a:t>(Al(OH))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7244" y="1097203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9410" y="1213815"/>
            <a:ext cx="941069" cy="0"/>
          </a:xfrm>
          <a:custGeom>
            <a:avLst/>
            <a:gdLst/>
            <a:ahLst/>
            <a:cxnLst/>
            <a:rect l="l" t="t" r="r" b="b"/>
            <a:pathLst>
              <a:path w="941069" h="0">
                <a:moveTo>
                  <a:pt x="0" y="0"/>
                </a:moveTo>
                <a:lnTo>
                  <a:pt x="94089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91310" y="980970"/>
            <a:ext cx="1017269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01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Times New Roman"/>
                <a:cs typeface="Times New Roman"/>
              </a:rPr>
              <a:t>9</a:t>
            </a:r>
            <a:r>
              <a:rPr dirty="0" baseline="27777" sz="900" spc="37" i="1">
                <a:latin typeface="Arial"/>
                <a:cs typeface="Arial"/>
              </a:rPr>
              <a:t>.</a:t>
            </a:r>
            <a:r>
              <a:rPr dirty="0" baseline="27777" sz="900" spc="37">
                <a:latin typeface="Times New Roman"/>
                <a:cs typeface="Times New Roman"/>
              </a:rPr>
              <a:t>9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Times New Roman"/>
                <a:cs typeface="Times New Roman"/>
              </a:rPr>
              <a:t>0</a:t>
            </a:r>
            <a:r>
              <a:rPr dirty="0" baseline="27777" sz="900" spc="37" i="1">
                <a:latin typeface="Arial"/>
                <a:cs typeface="Arial"/>
              </a:rPr>
              <a:t>.</a:t>
            </a:r>
            <a:r>
              <a:rPr dirty="0" baseline="27777" sz="900" spc="37">
                <a:latin typeface="Times New Roman"/>
                <a:cs typeface="Times New Roman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5872" y="1097203"/>
            <a:ext cx="101091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40">
                <a:latin typeface="Georgia"/>
                <a:cs typeface="Georgia"/>
              </a:rPr>
              <a:t>10</a:t>
            </a:r>
            <a:r>
              <a:rPr dirty="0" baseline="41666" sz="900" spc="60">
                <a:latin typeface="Lucida Sans Unicode"/>
                <a:cs typeface="Lucida Sans Unicode"/>
              </a:rPr>
              <a:t>−</a:t>
            </a:r>
            <a:r>
              <a:rPr dirty="0" baseline="41666" sz="900" spc="60">
                <a:latin typeface="Times New Roman"/>
                <a:cs typeface="Times New Roman"/>
              </a:rPr>
              <a:t>11</a:t>
            </a:r>
            <a:r>
              <a:rPr dirty="0" baseline="41666" sz="900" spc="60" i="1">
                <a:latin typeface="Arial"/>
                <a:cs typeface="Arial"/>
              </a:rPr>
              <a:t>.</a:t>
            </a:r>
            <a:r>
              <a:rPr dirty="0" baseline="41666" sz="900" spc="60">
                <a:latin typeface="Times New Roman"/>
                <a:cs typeface="Times New Roman"/>
              </a:rPr>
              <a:t>9</a:t>
            </a:r>
            <a:r>
              <a:rPr dirty="0" baseline="41666" sz="900" spc="-120">
                <a:latin typeface="Times New Roman"/>
                <a:cs typeface="Times New Roman"/>
              </a:rPr>
              <a:t> </a:t>
            </a:r>
            <a:r>
              <a:rPr dirty="0" sz="1100" spc="-45">
                <a:latin typeface="Georgia"/>
                <a:cs typeface="Georgia"/>
              </a:rPr>
              <a:t>mol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10" y="1446796"/>
            <a:ext cx="4438650" cy="1294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41666" sz="900" spc="82">
                <a:latin typeface="Lucida Sans Unicode"/>
                <a:cs typeface="Lucida Sans Unicode"/>
              </a:rPr>
              <a:t>t</a:t>
            </a:r>
            <a:r>
              <a:rPr dirty="0" sz="1100" spc="55">
                <a:latin typeface="Georgia"/>
                <a:cs typeface="Georgia"/>
              </a:rPr>
              <a:t>(ZnY)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K</a:t>
            </a:r>
            <a:r>
              <a:rPr dirty="0" sz="1100" spc="60">
                <a:latin typeface="Georgia"/>
                <a:cs typeface="Georgia"/>
              </a:rPr>
              <a:t>(ZnY)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5" b="0" i="1">
                <a:latin typeface="Bookman Old Style"/>
                <a:cs typeface="Bookman Old Style"/>
              </a:rPr>
              <a:t>α</a:t>
            </a:r>
            <a:r>
              <a:rPr dirty="0" sz="1100" spc="-5">
                <a:latin typeface="Georgia"/>
                <a:cs typeface="Georgia"/>
              </a:rPr>
              <a:t>(Zn)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α</a:t>
            </a:r>
            <a:r>
              <a:rPr dirty="0" sz="1100" spc="35">
                <a:latin typeface="Georgia"/>
                <a:cs typeface="Georgia"/>
              </a:rPr>
              <a:t>(Y)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16</a:t>
            </a:r>
            <a:r>
              <a:rPr dirty="0" sz="1100" spc="-20" b="0" i="1">
                <a:latin typeface="Bookman Old Style"/>
                <a:cs typeface="Bookman Old Style"/>
              </a:rPr>
              <a:t>.</a:t>
            </a:r>
            <a:r>
              <a:rPr dirty="0" sz="1100" spc="-20">
                <a:latin typeface="Georgia"/>
                <a:cs typeface="Georgia"/>
              </a:rPr>
              <a:t>5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00">
                <a:latin typeface="Georgia"/>
                <a:cs typeface="Georgia"/>
              </a:rPr>
              <a:t>0</a:t>
            </a:r>
            <a:r>
              <a:rPr dirty="0" sz="1100" spc="-100" b="0" i="1">
                <a:latin typeface="Bookman Old Style"/>
                <a:cs typeface="Bookman Old Style"/>
              </a:rPr>
              <a:t>.</a:t>
            </a:r>
            <a:r>
              <a:rPr dirty="0" sz="1100" spc="-100">
                <a:latin typeface="Georgia"/>
                <a:cs typeface="Georgia"/>
              </a:rPr>
              <a:t>0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5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5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11</a:t>
            </a:r>
            <a:r>
              <a:rPr dirty="0" sz="1100" spc="-5" b="0" i="1">
                <a:latin typeface="Bookman Old Style"/>
                <a:cs typeface="Bookman Old Style"/>
              </a:rPr>
              <a:t>.</a:t>
            </a:r>
            <a:r>
              <a:rPr dirty="0" sz="1100" spc="-5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  <a:p>
            <a:pPr marL="356870">
              <a:lnSpc>
                <a:spcPct val="100000"/>
              </a:lnSpc>
              <a:spcBef>
                <a:spcPts val="1440"/>
              </a:spcBef>
            </a:pPr>
            <a:r>
              <a:rPr dirty="0" sz="1200" spc="-5">
                <a:latin typeface="Arial Unicode MS"/>
                <a:cs typeface="Arial Unicode MS"/>
              </a:rPr>
              <a:t>如果滴定时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15">
                <a:latin typeface="Georgia"/>
                <a:cs typeface="Georgia"/>
              </a:rPr>
              <a:t>XO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则终点</a:t>
            </a:r>
            <a:r>
              <a:rPr dirty="0" sz="1200" spc="-9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10">
                <a:latin typeface="Georgia"/>
                <a:cs typeface="Georgia"/>
              </a:rPr>
              <a:t>pM(Zn)</a:t>
            </a:r>
            <a:r>
              <a:rPr dirty="0" baseline="-13888" sz="900" spc="15">
                <a:latin typeface="Times New Roman"/>
                <a:cs typeface="Times New Roman"/>
              </a:rPr>
              <a:t>ep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40" b="0" i="1">
                <a:latin typeface="Bookman Old Style"/>
                <a:cs typeface="Bookman Old Style"/>
              </a:rPr>
              <a:t>K</a:t>
            </a:r>
            <a:r>
              <a:rPr dirty="0" baseline="41666" sz="900" spc="60">
                <a:latin typeface="Lucida Sans Unicode"/>
                <a:cs typeface="Lucida Sans Unicode"/>
              </a:rPr>
              <a:t>t</a:t>
            </a:r>
            <a:r>
              <a:rPr dirty="0" sz="1100" spc="40">
                <a:latin typeface="Georgia"/>
                <a:cs typeface="Georgia"/>
              </a:rPr>
              <a:t>(Zn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0">
                <a:latin typeface="Georgia"/>
                <a:cs typeface="Georgia"/>
              </a:rPr>
              <a:t>XO)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5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119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422884"/>
            <a:ext cx="20675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化学计量点</a:t>
            </a:r>
            <a:r>
              <a:rPr dirty="0" spc="175"/>
              <a:t>时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60">
                <a:latin typeface="Times New Roman"/>
                <a:cs typeface="Times New Roman"/>
              </a:rPr>
              <a:t> </a:t>
            </a:r>
            <a:r>
              <a:rPr dirty="0" sz="1200" spc="-5"/>
              <a:t>的浓度</a:t>
            </a:r>
            <a:r>
              <a:rPr dirty="0" sz="1200" spc="-90"/>
              <a:t>为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3677" y="956043"/>
            <a:ext cx="1143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5959" y="872642"/>
            <a:ext cx="680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33400" algn="l"/>
              </a:tabLst>
            </a:pPr>
            <a:r>
              <a:rPr dirty="0" sz="1100" spc="10">
                <a:latin typeface="Georgia"/>
                <a:cs typeface="Georgia"/>
              </a:rPr>
              <a:t>[Zn</a:t>
            </a:r>
            <a:r>
              <a:rPr dirty="0" baseline="41666" sz="900" spc="15">
                <a:latin typeface="Times New Roman"/>
                <a:cs typeface="Times New Roman"/>
              </a:rPr>
              <a:t>2+</a:t>
            </a:r>
            <a:r>
              <a:rPr dirty="0" sz="1100" spc="10">
                <a:latin typeface="Georgia"/>
                <a:cs typeface="Georgia"/>
              </a:rPr>
              <a:t>]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3090" y="623379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44">
                <a:latin typeface="Arial Unicode MS"/>
                <a:cs typeface="Arial Unicode MS"/>
              </a:rPr>
              <a:t>j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14334" y="771855"/>
            <a:ext cx="568960" cy="0"/>
          </a:xfrm>
          <a:custGeom>
            <a:avLst/>
            <a:gdLst/>
            <a:ahLst/>
            <a:cxnLst/>
            <a:rect l="l" t="t" r="r" b="b"/>
            <a:pathLst>
              <a:path w="568960" h="0">
                <a:moveTo>
                  <a:pt x="0" y="0"/>
                </a:moveTo>
                <a:lnTo>
                  <a:pt x="5688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16811" y="778916"/>
            <a:ext cx="4121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(Zn)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3361" y="862317"/>
            <a:ext cx="177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</a:t>
            </a:r>
            <a:r>
              <a:rPr dirty="0" u="sng" sz="600" spc="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1411" y="967676"/>
            <a:ext cx="615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27777" sz="900" spc="82">
                <a:latin typeface="Lucida Sans Unicode"/>
                <a:cs typeface="Lucida Sans Unicode"/>
              </a:rPr>
              <a:t>t</a:t>
            </a:r>
            <a:r>
              <a:rPr dirty="0" sz="1100" spc="55">
                <a:latin typeface="Georgia"/>
                <a:cs typeface="Georgia"/>
              </a:rPr>
              <a:t>(ZnY)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08923" y="872642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55163" y="654939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85">
                <a:latin typeface="Arial Unicode MS"/>
                <a:cs typeface="Arial Unicode MS"/>
              </a:rPr>
              <a:t>I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06408" y="803414"/>
            <a:ext cx="343535" cy="0"/>
          </a:xfrm>
          <a:custGeom>
            <a:avLst/>
            <a:gdLst/>
            <a:ahLst/>
            <a:cxnLst/>
            <a:rect l="l" t="t" r="r" b="b"/>
            <a:pathLst>
              <a:path w="343535" h="0">
                <a:moveTo>
                  <a:pt x="0" y="0"/>
                </a:moveTo>
                <a:lnTo>
                  <a:pt x="34323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670784" y="778916"/>
            <a:ext cx="408305" cy="34099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50800" marR="36830">
              <a:lnSpc>
                <a:spcPts val="1170"/>
              </a:lnSpc>
              <a:spcBef>
                <a:spcPts val="254"/>
              </a:spcBef>
            </a:pP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6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01 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baseline="-15151" sz="1650" spc="-44">
                <a:latin typeface="Georgia"/>
                <a:cs typeface="Georgia"/>
              </a:rPr>
              <a:t>10</a:t>
            </a:r>
            <a:r>
              <a:rPr dirty="0" sz="600" spc="65">
                <a:latin typeface="Times New Roman"/>
                <a:cs typeface="Times New Roman"/>
              </a:rPr>
              <a:t>11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75419" y="872642"/>
            <a:ext cx="310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60204" y="878052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09737" y="2353551"/>
            <a:ext cx="844550" cy="0"/>
          </a:xfrm>
          <a:custGeom>
            <a:avLst/>
            <a:gdLst/>
            <a:ahLst/>
            <a:cxnLst/>
            <a:rect l="l" t="t" r="r" b="b"/>
            <a:pathLst>
              <a:path w="844550" h="0">
                <a:moveTo>
                  <a:pt x="0" y="0"/>
                </a:moveTo>
                <a:lnTo>
                  <a:pt x="84395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25193" y="2381262"/>
            <a:ext cx="728980" cy="0"/>
          </a:xfrm>
          <a:custGeom>
            <a:avLst/>
            <a:gdLst/>
            <a:ahLst/>
            <a:cxnLst/>
            <a:rect l="l" t="t" r="r" b="b"/>
            <a:pathLst>
              <a:path w="728980" h="0">
                <a:moveTo>
                  <a:pt x="0" y="0"/>
                </a:moveTo>
                <a:lnTo>
                  <a:pt x="7284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78701" y="1274203"/>
            <a:ext cx="3293110" cy="149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pZn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5">
                <a:latin typeface="Georgia"/>
                <a:cs typeface="Georgia"/>
              </a:rPr>
              <a:t>6</a:t>
            </a:r>
            <a:r>
              <a:rPr dirty="0" sz="1100" spc="-105" b="0" i="1">
                <a:latin typeface="Bookman Old Style"/>
                <a:cs typeface="Bookman Old Style"/>
              </a:rPr>
              <a:t>.</a:t>
            </a:r>
            <a:r>
              <a:rPr dirty="0" sz="1100" spc="-105">
                <a:latin typeface="Georgia"/>
                <a:cs typeface="Georgia"/>
              </a:rPr>
              <a:t>5</a:t>
            </a:r>
            <a:r>
              <a:rPr dirty="0" sz="1200" spc="-10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646430">
              <a:lnSpc>
                <a:spcPct val="100000"/>
              </a:lnSpc>
            </a:pPr>
            <a:r>
              <a:rPr dirty="0" sz="1100" spc="25">
                <a:latin typeface="Georgia"/>
                <a:cs typeface="Georgia"/>
              </a:rPr>
              <a:t>∆pZn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5">
                <a:latin typeface="Georgia"/>
                <a:cs typeface="Georgia"/>
              </a:rPr>
              <a:t>pZn</a:t>
            </a:r>
            <a:r>
              <a:rPr dirty="0" baseline="-13888" sz="900" spc="22">
                <a:latin typeface="Times New Roman"/>
                <a:cs typeface="Times New Roman"/>
              </a:rPr>
              <a:t>ep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15">
                <a:latin typeface="Georgia"/>
                <a:cs typeface="Georgia"/>
              </a:rPr>
              <a:t>pZn</a:t>
            </a:r>
            <a:r>
              <a:rPr dirty="0" baseline="-13888" sz="900" spc="22">
                <a:latin typeface="Times New Roman"/>
                <a:cs typeface="Times New Roman"/>
              </a:rPr>
              <a:t>sp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30">
                <a:latin typeface="Georgia"/>
                <a:cs typeface="Georgia"/>
              </a:rPr>
              <a:t>5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7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50">
                <a:latin typeface="Georgia"/>
                <a:cs typeface="Georgia"/>
              </a:rPr>
              <a:t>6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5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-80">
                <a:latin typeface="Lucida Sans Unicode"/>
                <a:cs typeface="Lucida Sans Unicode"/>
              </a:rPr>
              <a:t>−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8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Georgia"/>
              <a:cs typeface="Georgia"/>
            </a:endParaRPr>
          </a:p>
          <a:p>
            <a:pPr marL="720725">
              <a:lnSpc>
                <a:spcPts val="1225"/>
              </a:lnSpc>
              <a:spcBef>
                <a:spcPts val="5"/>
              </a:spcBef>
            </a:pPr>
            <a:r>
              <a:rPr dirty="0" baseline="-58080" sz="1650" spc="67">
                <a:latin typeface="Georgia"/>
                <a:cs typeface="Georgia"/>
              </a:rPr>
              <a:t>TE% </a:t>
            </a:r>
            <a:r>
              <a:rPr dirty="0" baseline="-58080" sz="1650" spc="209">
                <a:latin typeface="Georgia"/>
                <a:cs typeface="Georgia"/>
              </a:rPr>
              <a:t>= </a:t>
            </a:r>
            <a:r>
              <a:rPr dirty="0" baseline="-20202" sz="1650" spc="52">
                <a:latin typeface="Georgia"/>
                <a:cs typeface="Georgia"/>
              </a:rPr>
              <a:t>10</a:t>
            </a:r>
            <a:r>
              <a:rPr dirty="0" sz="600" spc="35">
                <a:latin typeface="Lucida Sans Unicode"/>
                <a:cs typeface="Lucida Sans Unicode"/>
              </a:rPr>
              <a:t>−</a:t>
            </a:r>
            <a:r>
              <a:rPr dirty="0" sz="600" spc="35">
                <a:latin typeface="Times New Roman"/>
                <a:cs typeface="Times New Roman"/>
              </a:rPr>
              <a:t>0</a:t>
            </a:r>
            <a:r>
              <a:rPr dirty="0" sz="600" spc="35" i="1">
                <a:latin typeface="Arial"/>
                <a:cs typeface="Arial"/>
              </a:rPr>
              <a:t>.</a:t>
            </a:r>
            <a:r>
              <a:rPr dirty="0" sz="600" spc="35">
                <a:latin typeface="Times New Roman"/>
                <a:cs typeface="Times New Roman"/>
              </a:rPr>
              <a:t>8 </a:t>
            </a:r>
            <a:r>
              <a:rPr dirty="0" baseline="-20202" sz="1650" spc="-44">
                <a:latin typeface="Lucida Sans Unicode"/>
                <a:cs typeface="Lucida Sans Unicode"/>
              </a:rPr>
              <a:t>−</a:t>
            </a:r>
            <a:r>
              <a:rPr dirty="0" baseline="-20202" sz="1650" spc="-217">
                <a:latin typeface="Lucida Sans Unicode"/>
                <a:cs typeface="Lucida Sans Unicode"/>
              </a:rPr>
              <a:t> </a:t>
            </a:r>
            <a:r>
              <a:rPr dirty="0" baseline="-20202" sz="1650" spc="37">
                <a:latin typeface="Georgia"/>
                <a:cs typeface="Georgia"/>
              </a:rPr>
              <a:t>10</a:t>
            </a:r>
            <a:r>
              <a:rPr dirty="0" sz="600" spc="25">
                <a:latin typeface="Times New Roman"/>
                <a:cs typeface="Times New Roman"/>
              </a:rPr>
              <a:t>0</a:t>
            </a:r>
            <a:r>
              <a:rPr dirty="0" sz="600" spc="25" i="1">
                <a:latin typeface="Arial"/>
                <a:cs typeface="Arial"/>
              </a:rPr>
              <a:t>.</a:t>
            </a:r>
            <a:r>
              <a:rPr dirty="0" sz="600" spc="2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  <a:p>
            <a:pPr marL="1230630">
              <a:lnSpc>
                <a:spcPts val="1225"/>
              </a:lnSpc>
            </a:pPr>
            <a:r>
              <a:rPr dirty="0" baseline="2525" sz="1650" spc="44">
                <a:latin typeface="Lucida Sans Unicode"/>
                <a:cs typeface="Lucida Sans Unicode"/>
              </a:rPr>
              <a:t>√</a:t>
            </a:r>
            <a:r>
              <a:rPr dirty="0" baseline="-40404" sz="1650" spc="44">
                <a:latin typeface="Georgia"/>
                <a:cs typeface="Georgia"/>
              </a:rPr>
              <a:t>10</a:t>
            </a:r>
            <a:r>
              <a:rPr dirty="0" baseline="-46296" sz="900" spc="44">
                <a:latin typeface="Times New Roman"/>
                <a:cs typeface="Times New Roman"/>
              </a:rPr>
              <a:t>11</a:t>
            </a:r>
            <a:r>
              <a:rPr dirty="0" baseline="-46296" sz="900" spc="44" i="1">
                <a:latin typeface="Arial"/>
                <a:cs typeface="Arial"/>
              </a:rPr>
              <a:t>.</a:t>
            </a:r>
            <a:r>
              <a:rPr dirty="0" baseline="-46296" sz="900" spc="44">
                <a:latin typeface="Times New Roman"/>
                <a:cs typeface="Times New Roman"/>
              </a:rPr>
              <a:t>0 </a:t>
            </a:r>
            <a:r>
              <a:rPr dirty="0" baseline="-40404" sz="1650" spc="-44">
                <a:latin typeface="Lucida Sans Unicode"/>
                <a:cs typeface="Lucida Sans Unicode"/>
              </a:rPr>
              <a:t>× </a:t>
            </a:r>
            <a:r>
              <a:rPr dirty="0" baseline="-40404" sz="1650" spc="-89">
                <a:latin typeface="Georgia"/>
                <a:cs typeface="Georgia"/>
              </a:rPr>
              <a:t>0</a:t>
            </a:r>
            <a:r>
              <a:rPr dirty="0" baseline="-40404" sz="1650" spc="-89" b="0" i="1">
                <a:latin typeface="Bookman Old Style"/>
                <a:cs typeface="Bookman Old Style"/>
              </a:rPr>
              <a:t>.</a:t>
            </a:r>
            <a:r>
              <a:rPr dirty="0" baseline="-40404" sz="1650" spc="-89">
                <a:latin typeface="Georgia"/>
                <a:cs typeface="Georgia"/>
              </a:rPr>
              <a:t>01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02%</a:t>
            </a:r>
            <a:endParaRPr sz="1100">
              <a:latin typeface="Georgia"/>
              <a:cs typeface="Georgia"/>
            </a:endParaRPr>
          </a:p>
          <a:p>
            <a:pPr marL="62865">
              <a:lnSpc>
                <a:spcPct val="100000"/>
              </a:lnSpc>
              <a:spcBef>
                <a:spcPts val="122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>
                <a:latin typeface="Georgia"/>
                <a:cs typeface="Georgia"/>
              </a:rPr>
              <a:t>Zn</a:t>
            </a:r>
            <a:r>
              <a:rPr dirty="0" baseline="37037" sz="900" spc="15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能被准确滴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误差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0">
                <a:latin typeface="Georgia"/>
                <a:cs typeface="Georgia"/>
              </a:rPr>
              <a:t>0.02%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5991" y="901547"/>
            <a:ext cx="219646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</a:rPr>
              <a:t>表</a:t>
            </a:r>
            <a:r>
              <a:rPr dirty="0" sz="1050" spc="15">
                <a:solidFill>
                  <a:srgbClr val="3333B2"/>
                </a:solidFill>
              </a:rPr>
              <a:t> 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1:</a:t>
            </a:r>
            <a:r>
              <a:rPr dirty="0" sz="1000" spc="16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30">
                <a:latin typeface="Georgia"/>
                <a:cs typeface="Georgia"/>
              </a:rPr>
              <a:t>EDTA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5"/>
              <a:t>滴定中</a:t>
            </a:r>
            <a:r>
              <a:rPr dirty="0" sz="1050" spc="-10"/>
              <a:t>常</a:t>
            </a:r>
            <a:r>
              <a:rPr dirty="0" sz="1050" spc="-5"/>
              <a:t>用的配位</a:t>
            </a:r>
            <a:r>
              <a:rPr dirty="0" sz="1050" spc="-10"/>
              <a:t>掩</a:t>
            </a:r>
            <a:r>
              <a:rPr dirty="0" sz="1050" spc="-5"/>
              <a:t>蔽剂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0905" y="1176223"/>
            <a:ext cx="3394710" cy="0"/>
          </a:xfrm>
          <a:custGeom>
            <a:avLst/>
            <a:gdLst/>
            <a:ahLst/>
            <a:cxnLst/>
            <a:rect l="l" t="t" r="r" b="b"/>
            <a:pathLst>
              <a:path w="3394710" h="0">
                <a:moveTo>
                  <a:pt x="0" y="0"/>
                </a:moveTo>
                <a:lnTo>
                  <a:pt x="33945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54113" y="1180236"/>
            <a:ext cx="224790" cy="1054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00" spc="20">
                <a:latin typeface="Arial Unicode MS"/>
                <a:cs typeface="Arial Unicode MS"/>
              </a:rPr>
              <a:t>掩蔽剂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7244" y="1170736"/>
            <a:ext cx="1447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>
                <a:latin typeface="Times New Roman"/>
                <a:cs typeface="Times New Roman"/>
              </a:rPr>
              <a:t>pH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0905" y="1296428"/>
            <a:ext cx="3394710" cy="0"/>
          </a:xfrm>
          <a:custGeom>
            <a:avLst/>
            <a:gdLst/>
            <a:ahLst/>
            <a:cxnLst/>
            <a:rect l="l" t="t" r="r" b="b"/>
            <a:pathLst>
              <a:path w="3394710" h="0">
                <a:moveTo>
                  <a:pt x="0" y="0"/>
                </a:moveTo>
                <a:lnTo>
                  <a:pt x="33945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12672" y="1153125"/>
            <a:ext cx="1098550" cy="25463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dirty="0" sz="500" spc="20">
                <a:latin typeface="Arial Unicode MS"/>
                <a:cs typeface="Arial Unicode MS"/>
              </a:rPr>
              <a:t>被掩蔽离子</a:t>
            </a:r>
            <a:endParaRPr sz="5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245"/>
              </a:spcBef>
            </a:pPr>
            <a:r>
              <a:rPr dirty="0" sz="600" spc="90">
                <a:latin typeface="Times New Roman"/>
                <a:cs typeface="Times New Roman"/>
              </a:rPr>
              <a:t>Cu</a:t>
            </a:r>
            <a:r>
              <a:rPr dirty="0" baseline="27777" sz="750" spc="135">
                <a:latin typeface="Book Antiqua"/>
                <a:cs typeface="Book Antiqua"/>
              </a:rPr>
              <a:t>2+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Ni</a:t>
            </a:r>
            <a:r>
              <a:rPr dirty="0" baseline="27777" sz="750" spc="135">
                <a:latin typeface="Book Antiqua"/>
                <a:cs typeface="Book Antiqua"/>
              </a:rPr>
              <a:t>2+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Zn</a:t>
            </a:r>
            <a:r>
              <a:rPr dirty="0" baseline="27777" sz="750" spc="135">
                <a:latin typeface="Book Antiqua"/>
                <a:cs typeface="Book Antiqua"/>
              </a:rPr>
              <a:t>2+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Fe</a:t>
            </a:r>
            <a:r>
              <a:rPr dirty="0" baseline="27777" sz="750" spc="135">
                <a:latin typeface="Book Antiqua"/>
                <a:cs typeface="Book Antiqua"/>
              </a:rPr>
              <a:t>2+</a:t>
            </a:r>
            <a:endParaRPr baseline="27777" sz="75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3485" y="1153125"/>
            <a:ext cx="873760" cy="25463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dirty="0" sz="500" spc="20">
                <a:latin typeface="Arial Unicode MS"/>
                <a:cs typeface="Arial Unicode MS"/>
              </a:rPr>
              <a:t>滴定目标离子</a:t>
            </a:r>
            <a:endParaRPr sz="5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245"/>
              </a:spcBef>
            </a:pPr>
            <a:r>
              <a:rPr dirty="0" sz="600" spc="100">
                <a:latin typeface="Times New Roman"/>
                <a:cs typeface="Times New Roman"/>
              </a:rPr>
              <a:t>Ca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Mg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Pb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endParaRPr baseline="27777" sz="75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2704" y="1406067"/>
            <a:ext cx="11391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Times New Roman"/>
                <a:cs typeface="Times New Roman"/>
              </a:rPr>
              <a:t>Al</a:t>
            </a:r>
            <a:r>
              <a:rPr dirty="0" baseline="27777" sz="750" spc="135">
                <a:latin typeface="Book Antiqua"/>
                <a:cs typeface="Book Antiqua"/>
              </a:rPr>
              <a:t>3+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Sn</a:t>
            </a:r>
            <a:r>
              <a:rPr dirty="0" baseline="27777" sz="750" spc="135">
                <a:latin typeface="Book Antiqua"/>
                <a:cs typeface="Book Antiqua"/>
              </a:rPr>
              <a:t>4+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TiO</a:t>
            </a:r>
            <a:r>
              <a:rPr dirty="0" baseline="27777" sz="750" spc="135">
                <a:latin typeface="Book Antiqua"/>
                <a:cs typeface="Book Antiqua"/>
              </a:rPr>
              <a:t>2+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Zr</a:t>
            </a:r>
            <a:r>
              <a:rPr dirty="0" baseline="27777" sz="750" spc="135">
                <a:latin typeface="Book Antiqua"/>
                <a:cs typeface="Book Antiqua"/>
              </a:rPr>
              <a:t>4+</a:t>
            </a:r>
            <a:endParaRPr baseline="27777" sz="75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013" y="1266896"/>
            <a:ext cx="1379855" cy="831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1075690">
              <a:lnSpc>
                <a:spcPct val="125899"/>
              </a:lnSpc>
              <a:spcBef>
                <a:spcPts val="100"/>
              </a:spcBef>
            </a:pPr>
            <a:r>
              <a:rPr dirty="0" sz="600" spc="105">
                <a:latin typeface="Times New Roman"/>
                <a:cs typeface="Times New Roman"/>
              </a:rPr>
              <a:t>KCN  </a:t>
            </a:r>
            <a:r>
              <a:rPr dirty="0" sz="600" spc="100">
                <a:latin typeface="Times New Roman"/>
                <a:cs typeface="Times New Roman"/>
              </a:rPr>
              <a:t>NH</a:t>
            </a:r>
            <a:r>
              <a:rPr dirty="0" baseline="-11111" sz="750" spc="195">
                <a:latin typeface="Book Antiqua"/>
                <a:cs typeface="Book Antiqua"/>
              </a:rPr>
              <a:t>4</a:t>
            </a:r>
            <a:r>
              <a:rPr dirty="0" sz="600" spc="135">
                <a:latin typeface="Times New Roman"/>
                <a:cs typeface="Times New Roman"/>
              </a:rPr>
              <a:t>F</a:t>
            </a:r>
            <a:endParaRPr sz="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  <a:tabLst>
                <a:tab pos="534670" algn="l"/>
              </a:tabLst>
            </a:pPr>
            <a:r>
              <a:rPr dirty="0" sz="500" spc="20">
                <a:latin typeface="Arial Unicode MS"/>
                <a:cs typeface="Arial Unicode MS"/>
              </a:rPr>
              <a:t>三乙醇胺	</a:t>
            </a:r>
            <a:r>
              <a:rPr dirty="0" sz="600" spc="90">
                <a:latin typeface="Times New Roman"/>
                <a:cs typeface="Times New Roman"/>
              </a:rPr>
              <a:t>Fe</a:t>
            </a:r>
            <a:r>
              <a:rPr dirty="0" baseline="27777" sz="750" spc="135">
                <a:latin typeface="Book Antiqua"/>
                <a:cs typeface="Book Antiqua"/>
              </a:rPr>
              <a:t>3+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Al</a:t>
            </a:r>
            <a:r>
              <a:rPr dirty="0" baseline="27777" sz="750" spc="135">
                <a:latin typeface="Book Antiqua"/>
                <a:cs typeface="Book Antiqua"/>
              </a:rPr>
              <a:t>3+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TiO</a:t>
            </a:r>
            <a:r>
              <a:rPr dirty="0" baseline="27777" sz="750" spc="135">
                <a:latin typeface="Book Antiqua"/>
                <a:cs typeface="Book Antiqua"/>
              </a:rPr>
              <a:t>2+</a:t>
            </a:r>
            <a:endParaRPr baseline="27777"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  <a:tabLst>
                <a:tab pos="534670" algn="l"/>
              </a:tabLst>
            </a:pPr>
            <a:r>
              <a:rPr dirty="0" sz="500" spc="20">
                <a:latin typeface="Arial Unicode MS"/>
                <a:cs typeface="Arial Unicode MS"/>
              </a:rPr>
              <a:t>乙酰丙酮	</a:t>
            </a:r>
            <a:r>
              <a:rPr dirty="0" sz="600" spc="90">
                <a:latin typeface="Times New Roman"/>
                <a:cs typeface="Times New Roman"/>
              </a:rPr>
              <a:t>Al</a:t>
            </a:r>
            <a:r>
              <a:rPr dirty="0" baseline="27777" sz="750" spc="135">
                <a:latin typeface="Book Antiqua"/>
                <a:cs typeface="Book Antiqua"/>
              </a:rPr>
              <a:t>3+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Fe</a:t>
            </a:r>
            <a:r>
              <a:rPr dirty="0" baseline="27777" sz="750" spc="135">
                <a:latin typeface="Book Antiqua"/>
                <a:cs typeface="Book Antiqua"/>
              </a:rPr>
              <a:t>3+</a:t>
            </a:r>
            <a:endParaRPr baseline="27777"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190"/>
              </a:spcBef>
              <a:tabLst>
                <a:tab pos="534670" algn="l"/>
              </a:tabLst>
            </a:pPr>
            <a:r>
              <a:rPr dirty="0" sz="500" spc="20">
                <a:latin typeface="Arial Unicode MS"/>
                <a:cs typeface="Arial Unicode MS"/>
              </a:rPr>
              <a:t>拧檬酸	</a:t>
            </a:r>
            <a:r>
              <a:rPr dirty="0" sz="600" spc="90">
                <a:latin typeface="Times New Roman"/>
                <a:cs typeface="Times New Roman"/>
              </a:rPr>
              <a:t>Fe</a:t>
            </a:r>
            <a:r>
              <a:rPr dirty="0" baseline="27777" sz="750" spc="135">
                <a:latin typeface="Book Antiqua"/>
                <a:cs typeface="Book Antiqua"/>
              </a:rPr>
              <a:t>3+</a:t>
            </a:r>
            <a:r>
              <a:rPr dirty="0" sz="500" spc="90">
                <a:latin typeface="Arial Unicode MS"/>
                <a:cs typeface="Arial Unicode MS"/>
              </a:rPr>
              <a:t>，</a:t>
            </a:r>
            <a:r>
              <a:rPr dirty="0" sz="600" spc="90">
                <a:latin typeface="Times New Roman"/>
                <a:cs typeface="Times New Roman"/>
              </a:rPr>
              <a:t>Al</a:t>
            </a:r>
            <a:r>
              <a:rPr dirty="0" baseline="27777" sz="750" spc="135">
                <a:latin typeface="Book Antiqua"/>
                <a:cs typeface="Book Antiqua"/>
              </a:rPr>
              <a:t>3+</a:t>
            </a:r>
            <a:endParaRPr baseline="27777"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  <a:tabLst>
                <a:tab pos="534670" algn="l"/>
              </a:tabLst>
            </a:pPr>
            <a:r>
              <a:rPr dirty="0" sz="500" spc="20">
                <a:latin typeface="Arial Unicode MS"/>
                <a:cs typeface="Arial Unicode MS"/>
              </a:rPr>
              <a:t>二硫基丙醇	</a:t>
            </a:r>
            <a:r>
              <a:rPr dirty="0" sz="600" spc="100">
                <a:latin typeface="Times New Roman"/>
                <a:cs typeface="Times New Roman"/>
              </a:rPr>
              <a:t>Zn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Pb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Cd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endParaRPr baseline="27777"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  <a:tabLst>
                <a:tab pos="534670" algn="l"/>
              </a:tabLst>
            </a:pPr>
            <a:r>
              <a:rPr dirty="0" sz="500" spc="20">
                <a:latin typeface="Arial Unicode MS"/>
                <a:cs typeface="Arial Unicode MS"/>
              </a:rPr>
              <a:t>邻二氮菲	</a:t>
            </a:r>
            <a:r>
              <a:rPr dirty="0" sz="600" spc="95">
                <a:latin typeface="Times New Roman"/>
                <a:cs typeface="Times New Roman"/>
              </a:rPr>
              <a:t>Zn</a:t>
            </a:r>
            <a:r>
              <a:rPr dirty="0" baseline="27777" sz="750" spc="142">
                <a:latin typeface="Book Antiqua"/>
                <a:cs typeface="Book Antiqua"/>
              </a:rPr>
              <a:t>2+</a:t>
            </a:r>
            <a:r>
              <a:rPr dirty="0" sz="500" spc="95">
                <a:latin typeface="Arial Unicode MS"/>
                <a:cs typeface="Arial Unicode MS"/>
              </a:rPr>
              <a:t>，</a:t>
            </a:r>
            <a:r>
              <a:rPr dirty="0" sz="600" spc="95">
                <a:latin typeface="Times New Roman"/>
                <a:cs typeface="Times New Roman"/>
              </a:rPr>
              <a:t>Cu</a:t>
            </a:r>
            <a:r>
              <a:rPr dirty="0" baseline="27777" sz="750" spc="142">
                <a:latin typeface="Book Antiqua"/>
                <a:cs typeface="Book Antiqua"/>
              </a:rPr>
              <a:t>2+</a:t>
            </a:r>
            <a:r>
              <a:rPr dirty="0" sz="500" spc="95">
                <a:latin typeface="Arial Unicode MS"/>
                <a:cs typeface="Arial Unicode MS"/>
              </a:rPr>
              <a:t>，</a:t>
            </a:r>
            <a:r>
              <a:rPr dirty="0" sz="600" spc="95">
                <a:latin typeface="Times New Roman"/>
                <a:cs typeface="Times New Roman"/>
              </a:rPr>
              <a:t>Ni</a:t>
            </a:r>
            <a:r>
              <a:rPr dirty="0" baseline="27777" sz="750" spc="142">
                <a:latin typeface="Book Antiqua"/>
                <a:cs typeface="Book Antiqua"/>
              </a:rPr>
              <a:t>2+</a:t>
            </a:r>
            <a:endParaRPr baseline="27777" sz="75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20785" y="1266896"/>
            <a:ext cx="1626870" cy="83185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r" marR="226695">
              <a:lnSpc>
                <a:spcPct val="100000"/>
              </a:lnSpc>
              <a:spcBef>
                <a:spcPts val="285"/>
              </a:spcBef>
            </a:pPr>
            <a:r>
              <a:rPr dirty="0" sz="600" spc="6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  <a:tabLst>
                <a:tab pos="1298575" algn="l"/>
              </a:tabLst>
            </a:pPr>
            <a:r>
              <a:rPr dirty="0" sz="600" spc="100">
                <a:latin typeface="Times New Roman"/>
                <a:cs typeface="Times New Roman"/>
              </a:rPr>
              <a:t>Pb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Zn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Cd</a:t>
            </a:r>
            <a:r>
              <a:rPr dirty="0" baseline="27777" sz="750" spc="150">
                <a:latin typeface="Book Antiqua"/>
                <a:cs typeface="Book Antiqua"/>
              </a:rPr>
              <a:t>2+	</a:t>
            </a:r>
            <a:r>
              <a:rPr dirty="0" sz="600" spc="65">
                <a:latin typeface="Times New Roman"/>
                <a:cs typeface="Times New Roman"/>
              </a:rPr>
              <a:t>12</a:t>
            </a:r>
            <a:r>
              <a:rPr dirty="0" sz="600" spc="-55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∼</a:t>
            </a:r>
            <a:r>
              <a:rPr dirty="0" sz="600" spc="-90">
                <a:latin typeface="Lucida Sans Unicode"/>
                <a:cs typeface="Lucida Sans Unicode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13</a:t>
            </a:r>
            <a:endParaRPr sz="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90"/>
              </a:spcBef>
              <a:tabLst>
                <a:tab pos="1298575" algn="l"/>
              </a:tabLst>
            </a:pPr>
            <a:r>
              <a:rPr dirty="0" sz="600" spc="95">
                <a:latin typeface="Times New Roman"/>
                <a:cs typeface="Times New Roman"/>
              </a:rPr>
              <a:t>Ca</a:t>
            </a:r>
            <a:r>
              <a:rPr dirty="0" baseline="27777" sz="750" spc="142">
                <a:latin typeface="Book Antiqua"/>
                <a:cs typeface="Book Antiqua"/>
              </a:rPr>
              <a:t>2+</a:t>
            </a:r>
            <a:r>
              <a:rPr dirty="0" sz="500" spc="95">
                <a:latin typeface="Arial Unicode MS"/>
                <a:cs typeface="Arial Unicode MS"/>
              </a:rPr>
              <a:t>，</a:t>
            </a:r>
            <a:r>
              <a:rPr dirty="0" sz="600" spc="95">
                <a:latin typeface="Times New Roman"/>
                <a:cs typeface="Times New Roman"/>
              </a:rPr>
              <a:t>Mg</a:t>
            </a:r>
            <a:r>
              <a:rPr dirty="0" baseline="27777" sz="750" spc="142">
                <a:latin typeface="Book Antiqua"/>
                <a:cs typeface="Book Antiqua"/>
              </a:rPr>
              <a:t>2+</a:t>
            </a:r>
            <a:r>
              <a:rPr dirty="0" sz="500" spc="95">
                <a:latin typeface="Arial Unicode MS"/>
                <a:cs typeface="Arial Unicode MS"/>
              </a:rPr>
              <a:t>，</a:t>
            </a:r>
            <a:r>
              <a:rPr dirty="0" sz="600" spc="95">
                <a:latin typeface="Times New Roman"/>
                <a:cs typeface="Times New Roman"/>
              </a:rPr>
              <a:t>Zn</a:t>
            </a:r>
            <a:r>
              <a:rPr dirty="0" baseline="27777" sz="750" spc="142">
                <a:latin typeface="Book Antiqua"/>
                <a:cs typeface="Book Antiqua"/>
              </a:rPr>
              <a:t>2+	</a:t>
            </a:r>
            <a:r>
              <a:rPr dirty="0" sz="600" spc="6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  <a:tabLst>
                <a:tab pos="1298575" algn="l"/>
              </a:tabLst>
            </a:pPr>
            <a:r>
              <a:rPr dirty="0" sz="600" spc="135">
                <a:latin typeface="Times New Roman"/>
                <a:cs typeface="Times New Roman"/>
              </a:rPr>
              <a:t>Pb</a:t>
            </a:r>
            <a:r>
              <a:rPr dirty="0" baseline="27777" sz="750" spc="202">
                <a:latin typeface="Book Antiqua"/>
                <a:cs typeface="Book Antiqua"/>
              </a:rPr>
              <a:t>2+</a:t>
            </a:r>
            <a:r>
              <a:rPr dirty="0" baseline="27777" sz="750" spc="225">
                <a:latin typeface="Book Antiqua"/>
                <a:cs typeface="Book Antiqua"/>
              </a:rPr>
              <a:t> </a:t>
            </a:r>
            <a:r>
              <a:rPr dirty="0" sz="500" spc="85">
                <a:latin typeface="Arial Unicode MS"/>
                <a:cs typeface="Arial Unicode MS"/>
              </a:rPr>
              <a:t>，</a:t>
            </a:r>
            <a:r>
              <a:rPr dirty="0" sz="600" spc="85">
                <a:latin typeface="Times New Roman"/>
                <a:cs typeface="Times New Roman"/>
              </a:rPr>
              <a:t>Zn</a:t>
            </a:r>
            <a:r>
              <a:rPr dirty="0" baseline="27777" sz="750" spc="127">
                <a:latin typeface="Book Antiqua"/>
                <a:cs typeface="Book Antiqua"/>
              </a:rPr>
              <a:t>2+</a:t>
            </a:r>
            <a:r>
              <a:rPr dirty="0" sz="500" spc="85">
                <a:latin typeface="Arial Unicode MS"/>
                <a:cs typeface="Arial Unicode MS"/>
              </a:rPr>
              <a:t>，</a:t>
            </a:r>
            <a:r>
              <a:rPr dirty="0" sz="600" spc="85">
                <a:latin typeface="Times New Roman"/>
                <a:cs typeface="Times New Roman"/>
              </a:rPr>
              <a:t>Mn</a:t>
            </a:r>
            <a:r>
              <a:rPr dirty="0" baseline="27777" sz="750" spc="127">
                <a:latin typeface="Book Antiqua"/>
                <a:cs typeface="Book Antiqua"/>
              </a:rPr>
              <a:t>2+</a:t>
            </a:r>
            <a:r>
              <a:rPr dirty="0" sz="500" spc="85">
                <a:latin typeface="Arial Unicode MS"/>
                <a:cs typeface="Arial Unicode MS"/>
              </a:rPr>
              <a:t>，</a:t>
            </a:r>
            <a:r>
              <a:rPr dirty="0" sz="600" spc="85">
                <a:latin typeface="Times New Roman"/>
                <a:cs typeface="Times New Roman"/>
              </a:rPr>
              <a:t>Ni</a:t>
            </a:r>
            <a:r>
              <a:rPr dirty="0" baseline="27777" sz="750" spc="127">
                <a:latin typeface="Book Antiqua"/>
                <a:cs typeface="Book Antiqua"/>
              </a:rPr>
              <a:t>2+	</a:t>
            </a:r>
            <a:r>
              <a:rPr dirty="0" sz="600" spc="65">
                <a:latin typeface="Times New Roman"/>
                <a:cs typeface="Times New Roman"/>
              </a:rPr>
              <a:t>5</a:t>
            </a:r>
            <a:r>
              <a:rPr dirty="0" sz="600" spc="-80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∼</a:t>
            </a:r>
            <a:r>
              <a:rPr dirty="0" sz="600" spc="-114">
                <a:latin typeface="Lucida Sans Unicode"/>
                <a:cs typeface="Lucida Sans Unicode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  <a:tabLst>
                <a:tab pos="1298575" algn="l"/>
              </a:tabLst>
            </a:pPr>
            <a:r>
              <a:rPr dirty="0" sz="600" spc="100">
                <a:latin typeface="Times New Roman"/>
                <a:cs typeface="Times New Roman"/>
              </a:rPr>
              <a:t>Pb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Zn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Cd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Cu</a:t>
            </a:r>
            <a:r>
              <a:rPr dirty="0" baseline="27777" sz="750" spc="150">
                <a:latin typeface="Book Antiqua"/>
                <a:cs typeface="Book Antiqua"/>
              </a:rPr>
              <a:t>2+	</a:t>
            </a:r>
            <a:r>
              <a:rPr dirty="0" sz="600" spc="65">
                <a:latin typeface="Times New Roman"/>
                <a:cs typeface="Times New Roman"/>
              </a:rPr>
              <a:t>5</a:t>
            </a:r>
            <a:r>
              <a:rPr dirty="0" sz="600" spc="-80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∼</a:t>
            </a:r>
            <a:r>
              <a:rPr dirty="0" sz="600" spc="-120">
                <a:latin typeface="Lucida Sans Unicode"/>
                <a:cs typeface="Lucida Sans Unicode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90"/>
              </a:spcBef>
              <a:tabLst>
                <a:tab pos="1298575" algn="l"/>
              </a:tabLst>
            </a:pPr>
            <a:r>
              <a:rPr dirty="0" sz="600" spc="100">
                <a:latin typeface="Times New Roman"/>
                <a:cs typeface="Times New Roman"/>
              </a:rPr>
              <a:t>Ca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Mg</a:t>
            </a:r>
            <a:r>
              <a:rPr dirty="0" baseline="27777" sz="750" spc="150">
                <a:latin typeface="Book Antiqua"/>
                <a:cs typeface="Book Antiqua"/>
              </a:rPr>
              <a:t>2+</a:t>
            </a:r>
            <a:r>
              <a:rPr dirty="0" sz="500" spc="100">
                <a:latin typeface="Arial Unicode MS"/>
                <a:cs typeface="Arial Unicode MS"/>
              </a:rPr>
              <a:t>，</a:t>
            </a:r>
            <a:r>
              <a:rPr dirty="0" sz="600" spc="100">
                <a:latin typeface="Times New Roman"/>
                <a:cs typeface="Times New Roman"/>
              </a:rPr>
              <a:t>Mn</a:t>
            </a:r>
            <a:r>
              <a:rPr dirty="0" baseline="27777" sz="750" spc="150">
                <a:latin typeface="Book Antiqua"/>
                <a:cs typeface="Book Antiqua"/>
              </a:rPr>
              <a:t>2+	</a:t>
            </a:r>
            <a:r>
              <a:rPr dirty="0" sz="600" spc="6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  <a:tabLst>
                <a:tab pos="1298575" algn="l"/>
              </a:tabLst>
            </a:pPr>
            <a:r>
              <a:rPr dirty="0" sz="600" spc="105">
                <a:latin typeface="Times New Roman"/>
                <a:cs typeface="Times New Roman"/>
              </a:rPr>
              <a:t>Pb</a:t>
            </a:r>
            <a:r>
              <a:rPr dirty="0" baseline="27777" sz="750" spc="157">
                <a:latin typeface="Book Antiqua"/>
                <a:cs typeface="Book Antiqua"/>
              </a:rPr>
              <a:t>2+</a:t>
            </a:r>
            <a:r>
              <a:rPr dirty="0" sz="500" spc="105">
                <a:latin typeface="Arial Unicode MS"/>
                <a:cs typeface="Arial Unicode MS"/>
              </a:rPr>
              <a:t>，</a:t>
            </a:r>
            <a:r>
              <a:rPr dirty="0" sz="600" spc="105">
                <a:latin typeface="Times New Roman"/>
                <a:cs typeface="Times New Roman"/>
              </a:rPr>
              <a:t>Al</a:t>
            </a:r>
            <a:r>
              <a:rPr dirty="0" baseline="27777" sz="750" spc="157">
                <a:latin typeface="Book Antiqua"/>
                <a:cs typeface="Book Antiqua"/>
              </a:rPr>
              <a:t>3+	</a:t>
            </a:r>
            <a:r>
              <a:rPr dirty="0" sz="600" spc="75">
                <a:latin typeface="Times New Roman"/>
                <a:cs typeface="Times New Roman"/>
              </a:rPr>
              <a:t>5</a:t>
            </a:r>
            <a:r>
              <a:rPr dirty="0" sz="600" spc="75">
                <a:latin typeface="Lucida Sans Unicode"/>
                <a:cs typeface="Lucida Sans Unicode"/>
              </a:rPr>
              <a:t>∼</a:t>
            </a:r>
            <a:r>
              <a:rPr dirty="0" sz="600" spc="7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0905" y="2107463"/>
            <a:ext cx="3394710" cy="0"/>
          </a:xfrm>
          <a:custGeom>
            <a:avLst/>
            <a:gdLst/>
            <a:ahLst/>
            <a:cxnLst/>
            <a:rect l="l" t="t" r="r" b="b"/>
            <a:pathLst>
              <a:path w="3394710" h="0">
                <a:moveTo>
                  <a:pt x="0" y="0"/>
                </a:moveTo>
                <a:lnTo>
                  <a:pt x="33945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955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氧化还原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掩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蔽法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44" y="680237"/>
            <a:ext cx="4526280" cy="22288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r" marR="19939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氧化还原掩蔽法是通过氧化还原反应改变干扰离子的价</a:t>
            </a:r>
            <a:r>
              <a:rPr dirty="0" sz="1200" spc="-80">
                <a:latin typeface="Arial Unicode MS"/>
                <a:cs typeface="Arial Unicode MS"/>
              </a:rPr>
              <a:t>态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algn="r" marR="24066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使其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结合的能力降</a:t>
            </a:r>
            <a:r>
              <a:rPr dirty="0" sz="1200" spc="-80">
                <a:latin typeface="Arial Unicode MS"/>
                <a:cs typeface="Arial Unicode MS"/>
              </a:rPr>
              <a:t>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从而消除其对滴定过程的干</a:t>
            </a:r>
            <a:r>
              <a:rPr dirty="0" sz="1200" spc="-20">
                <a:latin typeface="Arial Unicode MS"/>
                <a:cs typeface="Arial Unicode MS"/>
              </a:rPr>
              <a:t>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797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时滴定</a:t>
            </a:r>
            <a:r>
              <a:rPr dirty="0" sz="1200" spc="175">
                <a:latin typeface="Arial Unicode MS"/>
                <a:cs typeface="Arial Unicode MS"/>
              </a:rPr>
              <a:t>由</a:t>
            </a:r>
            <a:r>
              <a:rPr dirty="0" sz="1100" spc="80">
                <a:latin typeface="Georgia"/>
                <a:cs typeface="Georgia"/>
              </a:rPr>
              <a:t>Bi</a:t>
            </a:r>
            <a:r>
              <a:rPr dirty="0" baseline="37037" sz="900" spc="120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组成的混合溶液中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5"/>
              </a:spcBef>
            </a:pP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Bi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Fe</a:t>
            </a:r>
            <a:r>
              <a:rPr dirty="0" baseline="37037" sz="900" spc="44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将干扰滴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可加入羟</a:t>
            </a:r>
            <a:r>
              <a:rPr dirty="0" sz="1200" spc="-80">
                <a:latin typeface="Arial Unicode MS"/>
                <a:cs typeface="Arial Unicode MS"/>
              </a:rPr>
              <a:t>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使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还原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30">
                <a:latin typeface="Georgia"/>
                <a:cs typeface="Georgia"/>
              </a:rPr>
              <a:t>Fe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从而消</a:t>
            </a:r>
            <a:r>
              <a:rPr dirty="0" sz="1200" spc="175">
                <a:latin typeface="Arial Unicode MS"/>
                <a:cs typeface="Arial Unicode MS"/>
              </a:rPr>
              <a:t>除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的干</a:t>
            </a:r>
            <a:r>
              <a:rPr dirty="0" sz="1200" spc="-20">
                <a:latin typeface="Arial Unicode MS"/>
                <a:cs typeface="Arial Unicode MS"/>
              </a:rPr>
              <a:t>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797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原因在</a:t>
            </a:r>
            <a:r>
              <a:rPr dirty="0" sz="1200" spc="-80">
                <a:latin typeface="Arial Unicode MS"/>
                <a:cs typeface="Arial Unicode MS"/>
              </a:rPr>
              <a:t>于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100" spc="-75">
                <a:latin typeface="Georgia"/>
                <a:cs typeface="Georgia"/>
              </a:rPr>
              <a:t>lg 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sz="1100" spc="70">
                <a:latin typeface="Georgia"/>
                <a:cs typeface="Georgia"/>
              </a:rPr>
              <a:t>(BiY)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27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94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100" spc="-70">
                <a:latin typeface="Georgia"/>
                <a:cs typeface="Georgia"/>
              </a:rPr>
              <a:t>lg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sz="1100" spc="25">
                <a:latin typeface="Georgia"/>
                <a:cs typeface="Georgia"/>
              </a:rPr>
              <a:t>(Fe(III)Y)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25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而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sz="1100" spc="25">
                <a:latin typeface="Georgia"/>
                <a:cs typeface="Georgia"/>
              </a:rPr>
              <a:t>(Fe(II)Y)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14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33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故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R="34925">
              <a:lnSpc>
                <a:spcPct val="100000"/>
              </a:lnSpc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sz="1100" spc="70">
                <a:latin typeface="Georgia"/>
                <a:cs typeface="Georgia"/>
              </a:rPr>
              <a:t>(BiY)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sz="1100" spc="25">
                <a:latin typeface="Georgia"/>
                <a:cs typeface="Georgia"/>
              </a:rPr>
              <a:t>(Fe(II)Y)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27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94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14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33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13</a:t>
            </a:r>
            <a:r>
              <a:rPr dirty="0" sz="1100" spc="-5" b="0" i="1">
                <a:latin typeface="Bookman Old Style"/>
                <a:cs typeface="Bookman Old Style"/>
              </a:rPr>
              <a:t>.</a:t>
            </a:r>
            <a:r>
              <a:rPr dirty="0" sz="1100" spc="-5">
                <a:latin typeface="Georgia"/>
                <a:cs typeface="Georgia"/>
              </a:rPr>
              <a:t>61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509">
                <a:latin typeface="Lucida Sans Unicode"/>
                <a:cs typeface="Lucida Sans Unicode"/>
              </a:rPr>
              <a:t>»</a:t>
            </a:r>
            <a:r>
              <a:rPr dirty="0" sz="1100" spc="-45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6902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沉淀掩蔽法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75044" y="788924"/>
            <a:ext cx="4432300" cy="1868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往金属离子的混合溶液中加入沉淀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利用沉淀反应降低干 </a:t>
            </a:r>
            <a:r>
              <a:rPr dirty="0" sz="1200" spc="-5">
                <a:latin typeface="Arial Unicode MS"/>
                <a:cs typeface="Arial Unicode MS"/>
              </a:rPr>
              <a:t>扰离子的浓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在不分离沉淀的情况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直接测定待测金属离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， </a:t>
            </a:r>
            <a:r>
              <a:rPr dirty="0" sz="1200" spc="-5">
                <a:latin typeface="Arial Unicode MS"/>
                <a:cs typeface="Arial Unicode MS"/>
              </a:rPr>
              <a:t>这种消除干扰的方法称为沉淀掩蔽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63500" marR="165735" indent="303530">
              <a:lnSpc>
                <a:spcPct val="122300"/>
              </a:lnSpc>
              <a:spcBef>
                <a:spcPts val="109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8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组成的混合溶液中</a:t>
            </a:r>
            <a:r>
              <a:rPr dirty="0" baseline="37037" sz="900" spc="-112">
                <a:latin typeface="Times New Roman"/>
                <a:cs typeface="Times New Roman"/>
              </a:rPr>
              <a:t>4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为单独测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  </a:t>
            </a:r>
            <a:r>
              <a:rPr dirty="0" sz="1200" spc="-5">
                <a:latin typeface="Arial Unicode MS"/>
                <a:cs typeface="Arial Unicode MS"/>
              </a:rPr>
              <a:t>的含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可加</a:t>
            </a:r>
            <a:r>
              <a:rPr dirty="0" sz="1200" spc="175">
                <a:latin typeface="Arial Unicode MS"/>
                <a:cs typeface="Arial Unicode MS"/>
              </a:rPr>
              <a:t>入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使溶液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12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12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5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175">
                <a:latin typeface="Arial Unicode MS"/>
                <a:cs typeface="Arial Unicode MS"/>
              </a:rPr>
              <a:t>时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生成 </a:t>
            </a:r>
            <a:r>
              <a:rPr dirty="0" sz="1100">
                <a:latin typeface="Georgia"/>
                <a:cs typeface="Georgia"/>
              </a:rPr>
              <a:t>Mg(OH)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沉淀而不干扰滴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670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在本例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>
                <a:latin typeface="Georgia"/>
                <a:cs typeface="Georgia"/>
              </a:rPr>
              <a:t>NaOH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起了沉淀掩蔽剂的作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8394" y="3172599"/>
            <a:ext cx="1999614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04">
                <a:latin typeface="Times New Roman"/>
                <a:cs typeface="Times New Roman"/>
              </a:rPr>
              <a:t>4</a:t>
            </a:r>
            <a:r>
              <a:rPr dirty="0" sz="900" spc="70">
                <a:latin typeface="Garamond"/>
                <a:cs typeface="Garamond"/>
              </a:rPr>
              <a:t>lg</a:t>
            </a:r>
            <a:r>
              <a:rPr dirty="0" sz="900" spc="-65">
                <a:latin typeface="Garamond"/>
                <a:cs typeface="Garamond"/>
              </a:rPr>
              <a:t> </a:t>
            </a:r>
            <a:r>
              <a:rPr dirty="0" sz="900" spc="114" b="0" i="1">
                <a:latin typeface="Bookman Old Style"/>
                <a:cs typeface="Bookman Old Style"/>
              </a:rPr>
              <a:t>K</a:t>
            </a:r>
            <a:r>
              <a:rPr dirty="0" sz="900" spc="114">
                <a:latin typeface="Garamond"/>
                <a:cs typeface="Garamond"/>
              </a:rPr>
              <a:t>(CaY)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114">
                <a:latin typeface="Garamond"/>
                <a:cs typeface="Garamond"/>
              </a:rPr>
              <a:t>=</a:t>
            </a:r>
            <a:r>
              <a:rPr dirty="0" sz="900" spc="20">
                <a:latin typeface="Garamond"/>
                <a:cs typeface="Garamond"/>
              </a:rPr>
              <a:t> </a:t>
            </a:r>
            <a:r>
              <a:rPr dirty="0" sz="900">
                <a:latin typeface="Garamond"/>
                <a:cs typeface="Garamond"/>
              </a:rPr>
              <a:t>10</a:t>
            </a:r>
            <a:r>
              <a:rPr dirty="0" sz="900" b="0" i="1">
                <a:latin typeface="Bookman Old Style"/>
                <a:cs typeface="Bookman Old Style"/>
              </a:rPr>
              <a:t>.</a:t>
            </a:r>
            <a:r>
              <a:rPr dirty="0" sz="900">
                <a:latin typeface="Garamond"/>
                <a:cs typeface="Garamond"/>
              </a:rPr>
              <a:t>7</a:t>
            </a:r>
            <a:r>
              <a:rPr dirty="0" sz="900">
                <a:latin typeface="Arial Unicode MS"/>
                <a:cs typeface="Arial Unicode MS"/>
              </a:rPr>
              <a:t>，</a:t>
            </a:r>
            <a:r>
              <a:rPr dirty="0" sz="900">
                <a:latin typeface="Garamond"/>
                <a:cs typeface="Garamond"/>
              </a:rPr>
              <a:t>lg</a:t>
            </a:r>
            <a:r>
              <a:rPr dirty="0" sz="900" spc="-60">
                <a:latin typeface="Garamond"/>
                <a:cs typeface="Garamond"/>
              </a:rPr>
              <a:t> </a:t>
            </a:r>
            <a:r>
              <a:rPr dirty="0" sz="900" spc="105" b="0" i="1">
                <a:latin typeface="Bookman Old Style"/>
                <a:cs typeface="Bookman Old Style"/>
              </a:rPr>
              <a:t>K</a:t>
            </a:r>
            <a:r>
              <a:rPr dirty="0" sz="900" spc="105">
                <a:latin typeface="Garamond"/>
                <a:cs typeface="Garamond"/>
              </a:rPr>
              <a:t>(MgY)</a:t>
            </a:r>
            <a:r>
              <a:rPr dirty="0" sz="900" spc="25">
                <a:latin typeface="Garamond"/>
                <a:cs typeface="Garamond"/>
              </a:rPr>
              <a:t> </a:t>
            </a:r>
            <a:r>
              <a:rPr dirty="0" sz="900" spc="114">
                <a:latin typeface="Garamond"/>
                <a:cs typeface="Garamond"/>
              </a:rPr>
              <a:t>=</a:t>
            </a:r>
            <a:r>
              <a:rPr dirty="0" sz="900" spc="20">
                <a:latin typeface="Garamond"/>
                <a:cs typeface="Garamond"/>
              </a:rPr>
              <a:t> 8</a:t>
            </a:r>
            <a:r>
              <a:rPr dirty="0" sz="900" spc="20" b="0" i="1">
                <a:latin typeface="Bookman Old Style"/>
                <a:cs typeface="Bookman Old Style"/>
              </a:rPr>
              <a:t>.</a:t>
            </a:r>
            <a:r>
              <a:rPr dirty="0" sz="900" spc="20">
                <a:latin typeface="Garamond"/>
                <a:cs typeface="Garamond"/>
              </a:rPr>
              <a:t>7</a:t>
            </a:r>
            <a:endParaRPr sz="900">
              <a:latin typeface="Garamond"/>
              <a:cs typeface="Garamond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211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沉淀掩蔽</a:t>
            </a:r>
            <a:r>
              <a:rPr dirty="0" sz="1050" spc="-10">
                <a:solidFill>
                  <a:srgbClr val="FFFFFF"/>
                </a:solidFill>
              </a:rPr>
              <a:t>法</a:t>
            </a:r>
            <a:r>
              <a:rPr dirty="0" sz="1050" spc="-5">
                <a:solidFill>
                  <a:srgbClr val="FFFFFF"/>
                </a:solidFill>
              </a:rPr>
              <a:t>的局限性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967778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在实际的配位滴定分析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沉淀掩蔽法用得并不</a:t>
            </a:r>
            <a:r>
              <a:rPr dirty="0" sz="1200" spc="-80">
                <a:latin typeface="Arial Unicode MS"/>
                <a:cs typeface="Arial Unicode MS"/>
              </a:rPr>
              <a:t>多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原因有</a:t>
            </a:r>
            <a:r>
              <a:rPr dirty="0" sz="1200" spc="-5">
                <a:latin typeface="Arial Unicode MS"/>
                <a:cs typeface="Arial Unicode MS"/>
              </a:rPr>
              <a:t>下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面几</a:t>
            </a:r>
            <a:r>
              <a:rPr dirty="0" sz="1200" spc="-90">
                <a:latin typeface="Arial Unicode MS"/>
                <a:cs typeface="Arial Unicode MS"/>
              </a:rPr>
              <a:t>个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565068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54990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826714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81156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2312069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229692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553" y="1415173"/>
            <a:ext cx="3941445" cy="103441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某些沉淀反应进行不完</a:t>
            </a:r>
            <a:r>
              <a:rPr dirty="0" sz="1200" spc="-80">
                <a:latin typeface="Arial Unicode MS"/>
                <a:cs typeface="Arial Unicode MS"/>
              </a:rPr>
              <a:t>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使得沉淀掩蔽不够完</a:t>
            </a:r>
            <a:r>
              <a:rPr dirty="0" sz="1200" spc="-65">
                <a:latin typeface="Arial Unicode MS"/>
                <a:cs typeface="Arial Unicode MS"/>
              </a:rPr>
              <a:t>全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生成沉淀的过程中往往发生共沉淀现</a:t>
            </a:r>
            <a:r>
              <a:rPr dirty="0" sz="1200" spc="-80">
                <a:latin typeface="Arial Unicode MS"/>
                <a:cs typeface="Arial Unicode MS"/>
              </a:rPr>
              <a:t>象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因而影响滴定准确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有时由于沉淀对指示剂的吸附作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影响终点的观</a:t>
            </a:r>
            <a:r>
              <a:rPr dirty="0" sz="1200" spc="-65">
                <a:latin typeface="Arial Unicode MS"/>
                <a:cs typeface="Arial Unicode MS"/>
              </a:rPr>
              <a:t>察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如果沉淀本身有颜色或体积较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会影响终点的观</a:t>
            </a:r>
            <a:r>
              <a:rPr dirty="0" sz="1200" spc="-20">
                <a:latin typeface="Arial Unicode MS"/>
                <a:cs typeface="Arial Unicode MS"/>
              </a:rPr>
              <a:t>察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218821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5.8.3</a:t>
            </a: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采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用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其它配位滴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剂提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高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选择性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788619"/>
            <a:ext cx="43459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氨羧配位剂的种类很</a:t>
            </a:r>
            <a:r>
              <a:rPr dirty="0" spc="-80"/>
              <a:t>多</a:t>
            </a:r>
            <a:r>
              <a:rPr dirty="0" spc="-185"/>
              <a:t>，</a:t>
            </a:r>
            <a:r>
              <a:rPr dirty="0" spc="175"/>
              <a:t>除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pc="-80"/>
              <a:t>外</a:t>
            </a:r>
            <a:r>
              <a:rPr dirty="0" spc="-50"/>
              <a:t>，</a:t>
            </a:r>
            <a:r>
              <a:rPr dirty="0" sz="1100" spc="-50">
                <a:latin typeface="Georgia"/>
                <a:cs typeface="Georgia"/>
              </a:rPr>
              <a:t>EGTA</a:t>
            </a:r>
            <a:r>
              <a:rPr dirty="0" spc="-50"/>
              <a:t>（</a:t>
            </a:r>
            <a:r>
              <a:rPr dirty="0" spc="-5"/>
              <a:t>乙二醇二乙醚 二胺四乙</a:t>
            </a:r>
            <a:r>
              <a:rPr dirty="0" spc="30"/>
              <a:t>酸</a:t>
            </a:r>
            <a:r>
              <a:rPr dirty="0" spc="-140"/>
              <a:t>），</a:t>
            </a:r>
            <a:r>
              <a:rPr dirty="0" sz="1100" spc="-140">
                <a:latin typeface="Georgia"/>
                <a:cs typeface="Georgia"/>
              </a:rPr>
              <a:t>EDTP</a:t>
            </a:r>
            <a:r>
              <a:rPr dirty="0" spc="-140"/>
              <a:t>（</a:t>
            </a:r>
            <a:r>
              <a:rPr dirty="0" spc="-5"/>
              <a:t>乙二胺四丙</a:t>
            </a:r>
            <a:r>
              <a:rPr dirty="0" spc="30"/>
              <a:t>酸</a:t>
            </a:r>
            <a:r>
              <a:rPr dirty="0" spc="-165"/>
              <a:t>），</a:t>
            </a:r>
            <a:r>
              <a:rPr dirty="0" sz="1100" spc="-165">
                <a:latin typeface="Georgia"/>
                <a:cs typeface="Georgia"/>
              </a:rPr>
              <a:t>Trien</a:t>
            </a:r>
            <a:r>
              <a:rPr dirty="0" spc="-165"/>
              <a:t>（</a:t>
            </a:r>
            <a:r>
              <a:rPr dirty="0" spc="-5"/>
              <a:t>三乙撑四</a:t>
            </a:r>
            <a:r>
              <a:rPr dirty="0" spc="30"/>
              <a:t>胺</a:t>
            </a:r>
            <a:r>
              <a:rPr dirty="0" spc="-280"/>
              <a:t>）</a:t>
            </a:r>
            <a:r>
              <a:rPr dirty="0" spc="-80"/>
              <a:t>等</a:t>
            </a:r>
            <a:r>
              <a:rPr dirty="0" spc="-185"/>
              <a:t>，</a:t>
            </a:r>
            <a:r>
              <a:rPr dirty="0" spc="-5"/>
              <a:t>也 是可选的配位滴定</a:t>
            </a:r>
            <a:r>
              <a:rPr dirty="0" spc="-20"/>
              <a:t>剂</a:t>
            </a:r>
            <a:r>
              <a:rPr dirty="0" spc="-5"/>
              <a:t>。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44" y="1579719"/>
            <a:ext cx="4255770" cy="132715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565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-90">
                <a:latin typeface="Arial Unicode MS"/>
                <a:cs typeface="Arial Unicode MS"/>
              </a:rPr>
              <a:t>于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177165">
              <a:lnSpc>
                <a:spcPct val="100000"/>
              </a:lnSpc>
              <a:spcBef>
                <a:spcPts val="425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70" b="0" i="1">
                <a:latin typeface="Bookman Old Style"/>
                <a:cs typeface="Bookman Old Style"/>
              </a:rPr>
              <a:t>K</a:t>
            </a:r>
            <a:r>
              <a:rPr dirty="0" sz="1100" spc="70">
                <a:latin typeface="Georgia"/>
                <a:cs typeface="Georgia"/>
              </a:rPr>
              <a:t>(Ca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35">
                <a:latin typeface="Georgia"/>
                <a:cs typeface="Georgia"/>
              </a:rPr>
              <a:t>EGTA)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10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97</a:t>
            </a:r>
            <a:endParaRPr sz="1100">
              <a:latin typeface="Georgia"/>
              <a:cs typeface="Georgia"/>
            </a:endParaRPr>
          </a:p>
          <a:p>
            <a:pPr algn="ctr" marL="177165">
              <a:lnSpc>
                <a:spcPct val="100000"/>
              </a:lnSpc>
              <a:spcBef>
                <a:spcPts val="1085"/>
              </a:spcBef>
            </a:pP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45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(Mg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35">
                <a:latin typeface="Georgia"/>
                <a:cs typeface="Georgia"/>
              </a:rPr>
              <a:t>EGTA)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5</a:t>
            </a:r>
            <a:r>
              <a:rPr dirty="0" sz="1100" spc="-20" b="0" i="1">
                <a:latin typeface="Bookman Old Style"/>
                <a:cs typeface="Bookman Old Style"/>
              </a:rPr>
              <a:t>.</a:t>
            </a:r>
            <a:r>
              <a:rPr dirty="0" sz="1100" spc="-20">
                <a:latin typeface="Georgia"/>
                <a:cs typeface="Georgia"/>
              </a:rPr>
              <a:t>21</a:t>
            </a:r>
            <a:endParaRPr sz="1100">
              <a:latin typeface="Georgia"/>
              <a:cs typeface="Georgia"/>
            </a:endParaRPr>
          </a:p>
          <a:p>
            <a:pPr marL="354330">
              <a:lnSpc>
                <a:spcPct val="100000"/>
              </a:lnSpc>
              <a:spcBef>
                <a:spcPts val="990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40">
                <a:latin typeface="Georgia"/>
                <a:cs typeface="Georgia"/>
              </a:rPr>
              <a:t>EGTA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直接滴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 </a:t>
            </a:r>
            <a:r>
              <a:rPr dirty="0" sz="1200" spc="-5">
                <a:latin typeface="Arial Unicode MS"/>
                <a:cs typeface="Arial Unicode MS"/>
              </a:rPr>
              <a:t>组成的混合溶液中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95">
                <a:latin typeface="Georgia"/>
                <a:cs typeface="Georgia"/>
              </a:rPr>
              <a:t>Ca</a:t>
            </a:r>
            <a:r>
              <a:rPr dirty="0" baseline="37037" sz="900" spc="142">
                <a:latin typeface="Times New Roman"/>
                <a:cs typeface="Times New Roman"/>
              </a:rPr>
              <a:t>2+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2134870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5.9</a:t>
            </a:r>
            <a:r>
              <a:rPr dirty="0" sz="14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常用的配位滴定方式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1141857"/>
            <a:ext cx="168528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常用的配位滴定方式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846" y="1473933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2277" y="145878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846" y="1735591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277" y="172044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846" y="1997249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2277" y="19820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846" y="2258895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2277" y="224374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553" y="1324051"/>
            <a:ext cx="784860" cy="1072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直接滴定法 </a:t>
            </a:r>
            <a:r>
              <a:rPr dirty="0" sz="1200" spc="-5">
                <a:latin typeface="Arial Unicode MS"/>
                <a:cs typeface="Arial Unicode MS"/>
              </a:rPr>
              <a:t>返滴定法 </a:t>
            </a:r>
            <a:r>
              <a:rPr dirty="0" sz="1200" spc="-5">
                <a:latin typeface="Arial Unicode MS"/>
                <a:cs typeface="Arial Unicode MS"/>
              </a:rPr>
              <a:t>置换滴定法 间接滴定法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925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Georgia"/>
                <a:cs typeface="Georgia"/>
              </a:rPr>
              <a:t>5.9.1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直</a:t>
            </a:r>
            <a:r>
              <a:rPr dirty="0" sz="1050" spc="-10">
                <a:solidFill>
                  <a:srgbClr val="FFFFFF"/>
                </a:solidFill>
              </a:rPr>
              <a:t>接</a:t>
            </a:r>
            <a:r>
              <a:rPr dirty="0" sz="1050" spc="-5">
                <a:solidFill>
                  <a:srgbClr val="FFFFFF"/>
                </a:solidFill>
              </a:rPr>
              <a:t>滴定法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09840"/>
            <a:ext cx="4244975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直接滴定法是配位滴定中的基本方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大多数金属离子的滴 </a:t>
            </a:r>
            <a:r>
              <a:rPr dirty="0" sz="1200" spc="-5">
                <a:latin typeface="Arial Unicode MS"/>
                <a:cs typeface="Arial Unicode MS"/>
              </a:rPr>
              <a:t>定都可采用此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直接滴定法一般包括如下四个步</a:t>
            </a:r>
            <a:r>
              <a:rPr dirty="0" sz="1200" spc="-90">
                <a:latin typeface="Arial Unicode MS"/>
                <a:cs typeface="Arial Unicode MS"/>
              </a:rPr>
              <a:t>骤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607118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59197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868776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85362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2130434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211527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846" y="2392092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277" y="237693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553" y="1457236"/>
            <a:ext cx="3296285" cy="107251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将试样处理成溶</a:t>
            </a:r>
            <a:r>
              <a:rPr dirty="0" sz="1200" spc="-65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调节溶液的酸度至合适</a:t>
            </a:r>
            <a:r>
              <a:rPr dirty="0" sz="1200" spc="-65">
                <a:latin typeface="Arial Unicode MS"/>
                <a:cs typeface="Arial Unicode MS"/>
              </a:rPr>
              <a:t>值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加入其它必要的试</a:t>
            </a:r>
            <a:r>
              <a:rPr dirty="0" sz="1200" spc="-26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（如辅助配位</a:t>
            </a:r>
            <a:r>
              <a:rPr dirty="0" sz="1200" spc="30">
                <a:latin typeface="Arial Unicode MS"/>
                <a:cs typeface="Arial Unicode MS"/>
              </a:rPr>
              <a:t>剂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和指示</a:t>
            </a:r>
            <a:r>
              <a:rPr dirty="0" sz="1200" spc="-65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标准溶液滴定待测的金属离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599" y="103262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4599" y="1294282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 marR="17780" indent="37465">
              <a:lnSpc>
                <a:spcPct val="143100"/>
              </a:lnSpc>
              <a:spcBef>
                <a:spcPts val="100"/>
              </a:spcBef>
            </a:pPr>
            <a:r>
              <a:rPr dirty="0" spc="-5"/>
              <a:t>采用直接滴定法</a:t>
            </a:r>
            <a:r>
              <a:rPr dirty="0" spc="-80"/>
              <a:t>时</a:t>
            </a:r>
            <a:r>
              <a:rPr dirty="0" spc="-185"/>
              <a:t>，</a:t>
            </a:r>
            <a:r>
              <a:rPr dirty="0" spc="-5"/>
              <a:t>必须满足以下的条</a:t>
            </a:r>
            <a:r>
              <a:rPr dirty="0" spc="-90"/>
              <a:t>件</a:t>
            </a:r>
            <a:r>
              <a:rPr dirty="0" spc="-5"/>
              <a:t>： </a:t>
            </a:r>
            <a:r>
              <a:rPr dirty="0" spc="-5"/>
              <a:t>反应能定量进</a:t>
            </a:r>
            <a:r>
              <a:rPr dirty="0" spc="-80"/>
              <a:t>行</a:t>
            </a:r>
            <a:r>
              <a:rPr dirty="0" spc="-185"/>
              <a:t>，</a:t>
            </a:r>
            <a:r>
              <a:rPr dirty="0" spc="175"/>
              <a:t>且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sz="1100" spc="35">
                <a:latin typeface="Georgia"/>
                <a:cs typeface="Georgia"/>
              </a:rPr>
              <a:t>(M)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37037" sz="900" spc="52">
                <a:latin typeface="Lucida Sans Unicode"/>
                <a:cs typeface="Lucida Sans Unicode"/>
              </a:rPr>
              <a:t>t</a:t>
            </a:r>
            <a:r>
              <a:rPr dirty="0" sz="1100" spc="35">
                <a:latin typeface="Georgia"/>
                <a:cs typeface="Georgia"/>
              </a:rPr>
              <a:t>(MY)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75">
                <a:latin typeface="Georgia"/>
                <a:cs typeface="Georgia"/>
              </a:rPr>
              <a:t>6</a:t>
            </a:r>
            <a:r>
              <a:rPr dirty="0" sz="1200" spc="-75"/>
              <a:t>；  </a:t>
            </a:r>
            <a:r>
              <a:rPr dirty="0" sz="1200" spc="-5"/>
              <a:t>配位反应速度要快</a:t>
            </a:r>
            <a:r>
              <a:rPr dirty="0" baseline="37037" sz="900" spc="37">
                <a:latin typeface="Times New Roman"/>
                <a:cs typeface="Times New Roman"/>
              </a:rPr>
              <a:t>5</a:t>
            </a:r>
            <a:r>
              <a:rPr dirty="0" sz="1200" spc="25"/>
              <a:t>；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599" y="1555927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1817585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78853" y="1377721"/>
            <a:ext cx="3410585" cy="5492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应有合适的指示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且不会发生封闭现</a:t>
            </a:r>
            <a:r>
              <a:rPr dirty="0" sz="1200" spc="-65">
                <a:latin typeface="Arial Unicode MS"/>
                <a:cs typeface="Arial Unicode MS"/>
              </a:rPr>
              <a:t>象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在滴定条件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被测离子不发生水解和沉淀反应</a:t>
            </a:r>
            <a:r>
              <a:rPr dirty="0" baseline="37037" sz="900" spc="150">
                <a:latin typeface="Times New Roman"/>
                <a:cs typeface="Times New Roman"/>
              </a:rPr>
              <a:t>6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8544" y="2833674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0444" y="2824901"/>
            <a:ext cx="4362450" cy="50990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95580">
              <a:lnSpc>
                <a:spcPct val="100000"/>
              </a:lnSpc>
              <a:spcBef>
                <a:spcPts val="21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5</a:t>
            </a:r>
            <a:r>
              <a:rPr dirty="0" sz="900" spc="-5">
                <a:latin typeface="Arial Unicode MS"/>
                <a:cs typeface="Arial Unicode MS"/>
              </a:rPr>
              <a:t>有些反应虽然速度较</a:t>
            </a:r>
            <a:r>
              <a:rPr dirty="0" sz="900" spc="-60">
                <a:latin typeface="Arial Unicode MS"/>
                <a:cs typeface="Arial Unicode MS"/>
              </a:rPr>
              <a:t>慢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但可通过加热加速反</a:t>
            </a:r>
            <a:r>
              <a:rPr dirty="0" sz="900" spc="-60">
                <a:latin typeface="Arial Unicode MS"/>
                <a:cs typeface="Arial Unicode MS"/>
              </a:rPr>
              <a:t>应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因而能直接滴</a:t>
            </a:r>
            <a:r>
              <a:rPr dirty="0" sz="900" spc="-15">
                <a:latin typeface="Arial Unicode MS"/>
                <a:cs typeface="Arial Unicode MS"/>
              </a:rPr>
              <a:t>定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  <a:p>
            <a:pPr marL="195580">
              <a:lnSpc>
                <a:spcPct val="100000"/>
              </a:lnSpc>
              <a:spcBef>
                <a:spcPts val="11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6</a:t>
            </a:r>
            <a:r>
              <a:rPr dirty="0" sz="900" spc="-5">
                <a:latin typeface="Arial Unicode MS"/>
                <a:cs typeface="Arial Unicode MS"/>
              </a:rPr>
              <a:t>水解和沉淀反应不仅使反应速度变</a:t>
            </a:r>
            <a:r>
              <a:rPr dirty="0" sz="900" spc="-60">
                <a:latin typeface="Arial Unicode MS"/>
                <a:cs typeface="Arial Unicode MS"/>
              </a:rPr>
              <a:t>慢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而且指示剂因被沉淀吸附也会导致变色不敏</a:t>
            </a:r>
            <a:endParaRPr sz="9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45"/>
              </a:spcBef>
            </a:pPr>
            <a:r>
              <a:rPr dirty="0" sz="900" spc="-15">
                <a:latin typeface="Arial Unicode MS"/>
                <a:cs typeface="Arial Unicode MS"/>
              </a:rPr>
              <a:t>锐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85915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5.9.2</a:t>
            </a:r>
            <a:r>
              <a:rPr dirty="0" sz="1000" spc="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返滴</a:t>
            </a:r>
            <a:r>
              <a:rPr dirty="0" sz="1050" spc="-10">
                <a:solidFill>
                  <a:srgbClr val="FFFFFF"/>
                </a:solidFill>
              </a:rPr>
              <a:t>定</a:t>
            </a:r>
            <a:r>
              <a:rPr dirty="0" sz="1050" spc="-5">
                <a:solidFill>
                  <a:srgbClr val="FFFFFF"/>
                </a:solidFill>
              </a:rPr>
              <a:t>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28217"/>
            <a:ext cx="4403090" cy="150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返滴定法是在试液中先加入一定量的过量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，  过量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再用另一种金属离子的标准溶液回</a:t>
            </a:r>
            <a:r>
              <a:rPr dirty="0" sz="1200" spc="-20">
                <a:latin typeface="Arial Unicode MS"/>
                <a:cs typeface="Arial Unicode MS"/>
              </a:rPr>
              <a:t>滴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根据两种标 准溶液的浓度和用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即可求得待测组分的含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marL="12700" marR="4445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用于回</a:t>
            </a:r>
            <a:r>
              <a:rPr dirty="0" sz="1200" spc="175">
                <a:latin typeface="Arial Unicode MS"/>
                <a:cs typeface="Arial Unicode MS"/>
              </a:rPr>
              <a:t>滴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的金属离子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生成的配合物应有足够 的稳定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但不宜超过待测离子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的稳定性太</a:t>
            </a:r>
            <a:r>
              <a:rPr dirty="0" sz="1200" spc="-80">
                <a:latin typeface="Arial Unicode MS"/>
                <a:cs typeface="Arial Unicode MS"/>
              </a:rPr>
              <a:t>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否</a:t>
            </a:r>
            <a:r>
              <a:rPr dirty="0" sz="1200" spc="-80">
                <a:latin typeface="Arial Unicode MS"/>
                <a:cs typeface="Arial Unicode MS"/>
              </a:rPr>
              <a:t>则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 </a:t>
            </a:r>
            <a:r>
              <a:rPr dirty="0" sz="1200" spc="-5">
                <a:latin typeface="Arial Unicode MS"/>
                <a:cs typeface="Arial Unicode MS"/>
              </a:rPr>
              <a:t>回滴过程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此金属离子有可能置换出待测离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从而引起误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774369"/>
            <a:ext cx="19888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返滴定法主要用于下列情</a:t>
            </a:r>
            <a:r>
              <a:rPr dirty="0" sz="1200" spc="-90">
                <a:latin typeface="Arial Unicode MS"/>
                <a:cs typeface="Arial Unicode MS"/>
              </a:rPr>
              <a:t>形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846" y="1106446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2277" y="109128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553" y="994511"/>
            <a:ext cx="40906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直接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-10">
                <a:latin typeface="Arial Unicode MS"/>
                <a:cs typeface="Arial Unicode MS"/>
              </a:rPr>
              <a:t>定时没有合适的指示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或待测离子对指示剂有封闭</a:t>
            </a:r>
            <a:r>
              <a:rPr dirty="0" sz="1200" spc="-5">
                <a:latin typeface="Arial Unicode MS"/>
                <a:cs typeface="Arial Unicode MS"/>
              </a:rPr>
              <a:t>作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65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591789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57664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1853447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183829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553" y="1441907"/>
            <a:ext cx="4090670" cy="7727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待测离子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的配位反应速度很</a:t>
            </a:r>
            <a:r>
              <a:rPr dirty="0" sz="1200" spc="-65">
                <a:latin typeface="Arial Unicode MS"/>
                <a:cs typeface="Arial Unicode MS"/>
              </a:rPr>
              <a:t>慢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待测离子在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-10">
                <a:latin typeface="Arial Unicode MS"/>
                <a:cs typeface="Arial Unicode MS"/>
              </a:rPr>
              <a:t>定条件下发生水解或沉淀反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且没有合适的</a:t>
            </a:r>
            <a:r>
              <a:rPr dirty="0" sz="1200" spc="-5">
                <a:latin typeface="Arial Unicode MS"/>
                <a:cs typeface="Arial Unicode MS"/>
              </a:rPr>
              <a:t>辅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助配位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139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599" y="135404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4599" y="161570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87736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444" y="728421"/>
            <a:ext cx="4401185" cy="148209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Al</a:t>
            </a:r>
            <a:r>
              <a:rPr dirty="0" baseline="37037" sz="900" spc="44">
                <a:latin typeface="Times New Roman"/>
                <a:cs typeface="Times New Roman"/>
              </a:rPr>
              <a:t>3+</a:t>
            </a:r>
            <a:r>
              <a:rPr dirty="0" baseline="37037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是一个典型的不能采用直接滴定法的金属离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原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因如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对二甲酚橙等指示剂有封闭作</a:t>
            </a:r>
            <a:r>
              <a:rPr dirty="0" sz="1200" spc="-65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5"/>
              </a:spcBef>
            </a:pP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配位反应速度在常温下很</a:t>
            </a:r>
            <a:r>
              <a:rPr dirty="0" sz="1200" spc="-65">
                <a:latin typeface="Arial Unicode MS"/>
                <a:cs typeface="Arial Unicode MS"/>
              </a:rPr>
              <a:t>慢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易水解生成一系列多核氢氧基配合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导致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35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endParaRPr sz="1100">
              <a:latin typeface="Georgia"/>
              <a:cs typeface="Georgia"/>
            </a:endParaRPr>
          </a:p>
          <a:p>
            <a:pPr marL="3035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反应缓</a:t>
            </a:r>
            <a:r>
              <a:rPr dirty="0" sz="1200" spc="-80">
                <a:latin typeface="Arial Unicode MS"/>
                <a:cs typeface="Arial Unicode MS"/>
              </a:rPr>
              <a:t>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且配位</a:t>
            </a:r>
            <a:r>
              <a:rPr dirty="0" sz="1200" spc="560">
                <a:latin typeface="Arial Unicode MS"/>
                <a:cs typeface="Arial Unicode MS"/>
              </a:rPr>
              <a:t>比不</a:t>
            </a:r>
            <a:r>
              <a:rPr dirty="0" sz="1200" spc="-5">
                <a:latin typeface="Arial Unicode MS"/>
                <a:cs typeface="Arial Unicode MS"/>
              </a:rPr>
              <a:t>稳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605294"/>
            <a:ext cx="440245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时应采用返滴定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首</a:t>
            </a:r>
            <a:r>
              <a:rPr dirty="0" sz="1200" spc="-80">
                <a:latin typeface="Arial Unicode MS"/>
                <a:cs typeface="Arial Unicode MS"/>
              </a:rPr>
              <a:t>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溶液中加入 一定量的过量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控制酸度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65">
                <a:latin typeface="Lucida Sans Unicode"/>
                <a:cs typeface="Lucida Sans Unicode"/>
              </a:rPr>
              <a:t> </a:t>
            </a:r>
            <a:r>
              <a:rPr dirty="0" sz="1100" spc="-100">
                <a:latin typeface="Georgia"/>
                <a:cs typeface="Georgia"/>
              </a:rPr>
              <a:t>3</a:t>
            </a:r>
            <a:r>
              <a:rPr dirty="0" sz="1100" spc="-100" b="0" i="1">
                <a:latin typeface="Bookman Old Style"/>
                <a:cs typeface="Bookman Old Style"/>
              </a:rPr>
              <a:t>.</a:t>
            </a:r>
            <a:r>
              <a:rPr dirty="0" sz="1100" spc="-100">
                <a:latin typeface="Georgia"/>
                <a:cs typeface="Georgia"/>
              </a:rPr>
              <a:t>5</a:t>
            </a:r>
            <a:r>
              <a:rPr dirty="0" sz="1200" spc="-1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且煮沸溶 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在酸度较大的情况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Al</a:t>
            </a:r>
            <a:r>
              <a:rPr dirty="0" baseline="37037" sz="900" spc="44">
                <a:latin typeface="Times New Roman"/>
                <a:cs typeface="Times New Roman"/>
              </a:rPr>
              <a:t>3+</a:t>
            </a:r>
            <a:r>
              <a:rPr dirty="0" baseline="37037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不易形成多核氢氧基配合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在加 热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过量的情况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Al</a:t>
            </a:r>
            <a:r>
              <a:rPr dirty="0" baseline="37037" sz="900" spc="44">
                <a:latin typeface="Times New Roman"/>
                <a:cs typeface="Times New Roman"/>
              </a:rPr>
              <a:t>3+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反应完</a:t>
            </a:r>
            <a:r>
              <a:rPr dirty="0" sz="1200" spc="-20">
                <a:latin typeface="Arial Unicode MS"/>
                <a:cs typeface="Arial Unicode MS"/>
              </a:rPr>
              <a:t>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56" y="1638630"/>
            <a:ext cx="44075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反应完全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待溶液冷</a:t>
            </a:r>
            <a:r>
              <a:rPr dirty="0" sz="1200" spc="-80">
                <a:latin typeface="Arial Unicode MS"/>
                <a:cs typeface="Arial Unicode MS"/>
              </a:rPr>
              <a:t>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调节溶</a:t>
            </a:r>
            <a:r>
              <a:rPr dirty="0" sz="1200" spc="175">
                <a:latin typeface="Arial Unicode MS"/>
                <a:cs typeface="Arial Unicode MS"/>
              </a:rPr>
              <a:t>液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170">
                <a:latin typeface="Georgia"/>
                <a:cs typeface="Georgia"/>
              </a:rPr>
              <a:t>6</a:t>
            </a:r>
            <a:r>
              <a:rPr dirty="0" sz="1200" spc="-17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175">
                <a:latin typeface="Arial Unicode MS"/>
                <a:cs typeface="Arial Unicode MS"/>
              </a:rPr>
              <a:t>时</a:t>
            </a:r>
            <a:r>
              <a:rPr dirty="0" sz="1100" spc="70">
                <a:latin typeface="Georgia"/>
                <a:cs typeface="Georgia"/>
              </a:rPr>
              <a:t>AlY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稳 </a:t>
            </a:r>
            <a:r>
              <a:rPr dirty="0" sz="1200" spc="-10">
                <a:latin typeface="Arial Unicode MS"/>
                <a:cs typeface="Arial Unicode MS"/>
              </a:rPr>
              <a:t>定且不会重新水</a:t>
            </a:r>
            <a:r>
              <a:rPr dirty="0" sz="1200" spc="-20">
                <a:latin typeface="Arial Unicode MS"/>
                <a:cs typeface="Arial Unicode MS"/>
              </a:rPr>
              <a:t>解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最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以二甲酚橙为指示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标准溶</a:t>
            </a:r>
            <a:r>
              <a:rPr dirty="0" sz="1200" spc="-5">
                <a:latin typeface="Arial Unicode MS"/>
                <a:cs typeface="Arial Unicode MS"/>
              </a:rPr>
              <a:t>液 回滴过量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30">
                <a:latin typeface="Georgia"/>
                <a:cs typeface="Georgia"/>
              </a:rPr>
              <a:t>EDTA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由此可求</a:t>
            </a:r>
            <a:r>
              <a:rPr dirty="0" sz="1200" spc="175">
                <a:latin typeface="Arial Unicode MS"/>
                <a:cs typeface="Arial Unicode MS"/>
              </a:rPr>
              <a:t>得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的量</a:t>
            </a:r>
            <a:r>
              <a:rPr dirty="0" baseline="37037" sz="900" spc="150">
                <a:latin typeface="Times New Roman"/>
                <a:cs typeface="Times New Roman"/>
              </a:rPr>
              <a:t>7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8394" y="3172599"/>
            <a:ext cx="192722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7</a:t>
            </a:r>
            <a:r>
              <a:rPr dirty="0" sz="900" spc="-5">
                <a:latin typeface="Arial Unicode MS"/>
                <a:cs typeface="Arial Unicode MS"/>
              </a:rPr>
              <a:t>复杂样品中的铝含量测定</a:t>
            </a:r>
            <a:r>
              <a:rPr dirty="0" sz="900" spc="145">
                <a:latin typeface="Arial Unicode MS"/>
                <a:cs typeface="Arial Unicode MS"/>
              </a:rPr>
              <a:t>见</a:t>
            </a:r>
            <a:r>
              <a:rPr dirty="0" sz="900" spc="40">
                <a:latin typeface="Garamond"/>
                <a:cs typeface="Garamond"/>
              </a:rPr>
              <a:t>5.10.2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925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5.9.3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置</a:t>
            </a:r>
            <a:r>
              <a:rPr dirty="0" sz="1050" spc="-10">
                <a:solidFill>
                  <a:srgbClr val="FFFFFF"/>
                </a:solidFill>
              </a:rPr>
              <a:t>换</a:t>
            </a:r>
            <a:r>
              <a:rPr dirty="0" sz="1050" spc="-5">
                <a:solidFill>
                  <a:srgbClr val="FFFFFF"/>
                </a:solidFill>
              </a:rPr>
              <a:t>滴定法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73099"/>
            <a:ext cx="4356735" cy="16452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置换滴定法是通过置换反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置换出另一种金属离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或者</a:t>
            </a:r>
            <a:r>
              <a:rPr dirty="0" sz="1200" spc="-5">
                <a:latin typeface="Arial Unicode MS"/>
                <a:cs typeface="Arial Unicode MS"/>
              </a:rPr>
              <a:t>置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换</a:t>
            </a:r>
            <a:r>
              <a:rPr dirty="0" sz="1200" spc="175">
                <a:latin typeface="Arial Unicode MS"/>
                <a:cs typeface="Arial Unicode MS"/>
              </a:rPr>
              <a:t>出</a:t>
            </a:r>
            <a:r>
              <a:rPr dirty="0" sz="1100" spc="-30">
                <a:latin typeface="Georgia"/>
                <a:cs typeface="Georgia"/>
              </a:rPr>
              <a:t>EDTA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然后再进行滴定的一种配位滴定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100965" indent="303530">
              <a:lnSpc>
                <a:spcPct val="122300"/>
              </a:lnSpc>
              <a:spcBef>
                <a:spcPts val="1095"/>
              </a:spcBef>
            </a:pPr>
            <a:r>
              <a:rPr dirty="0" sz="1200" spc="-5">
                <a:latin typeface="Arial Unicode MS"/>
                <a:cs typeface="Arial Unicode MS"/>
              </a:rPr>
              <a:t>置换滴定法常用于金属离子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形成的配合物不太稳定 的场</a:t>
            </a:r>
            <a:r>
              <a:rPr dirty="0" sz="1200" spc="-80">
                <a:latin typeface="Arial Unicode MS"/>
                <a:cs typeface="Arial Unicode MS"/>
              </a:rPr>
              <a:t>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此时反应进行的程度不完</a:t>
            </a:r>
            <a:r>
              <a:rPr dirty="0" sz="1200" spc="-80">
                <a:latin typeface="Arial Unicode MS"/>
                <a:cs typeface="Arial Unicode MS"/>
              </a:rPr>
              <a:t>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无法直接定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marL="12700" marR="116205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置换滴定法的特点是滴定方式灵活多</a:t>
            </a:r>
            <a:r>
              <a:rPr dirty="0" sz="1200" spc="-80">
                <a:latin typeface="Arial Unicode MS"/>
                <a:cs typeface="Arial Unicode MS"/>
              </a:rPr>
              <a:t>样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不仅能扩大配位滴 </a:t>
            </a:r>
            <a:r>
              <a:rPr dirty="0" sz="1200" spc="-5">
                <a:latin typeface="Arial Unicode MS"/>
                <a:cs typeface="Arial Unicode MS"/>
              </a:rPr>
              <a:t>定的应用范</a:t>
            </a:r>
            <a:r>
              <a:rPr dirty="0" sz="1200" spc="-80">
                <a:latin typeface="Arial Unicode MS"/>
                <a:cs typeface="Arial Unicode MS"/>
              </a:rPr>
              <a:t>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而且可提高配位滴定的选择</a:t>
            </a:r>
            <a:r>
              <a:rPr dirty="0" sz="1200" spc="-20">
                <a:latin typeface="Arial Unicode MS"/>
                <a:cs typeface="Arial Unicode MS"/>
              </a:rPr>
              <a:t>性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15951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(1)</a:t>
            </a:r>
            <a:r>
              <a:rPr dirty="0" sz="1000" spc="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置换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出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金属离子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865543"/>
            <a:ext cx="4346575" cy="920750"/>
          </a:xfrm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pc="-5"/>
              <a:t>该法的目的是置换出某种金属离</a:t>
            </a:r>
            <a:r>
              <a:rPr dirty="0" spc="-80"/>
              <a:t>子</a:t>
            </a:r>
            <a:r>
              <a:rPr dirty="0" spc="-185"/>
              <a:t>，</a:t>
            </a:r>
            <a:r>
              <a:rPr dirty="0" spc="-5"/>
              <a:t>而该金属离子可以</a:t>
            </a:r>
          </a:p>
          <a:p>
            <a:pPr algn="just" marL="38100" marR="30480">
              <a:lnSpc>
                <a:spcPct val="122300"/>
              </a:lnSpc>
            </a:pPr>
            <a:r>
              <a:rPr dirty="0" spc="175"/>
              <a:t>被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pc="-5"/>
              <a:t>直接滴</a:t>
            </a:r>
            <a:r>
              <a:rPr dirty="0" spc="-20"/>
              <a:t>定</a:t>
            </a:r>
            <a:r>
              <a:rPr dirty="0" spc="-235"/>
              <a:t>。</a:t>
            </a:r>
            <a:r>
              <a:rPr dirty="0" spc="-5"/>
              <a:t>例</a:t>
            </a:r>
            <a:r>
              <a:rPr dirty="0" spc="-80"/>
              <a:t>如</a:t>
            </a:r>
            <a:r>
              <a:rPr dirty="0" spc="25"/>
              <a:t>，</a:t>
            </a:r>
            <a:r>
              <a:rPr dirty="0" sz="1100" spc="25">
                <a:latin typeface="Georgia"/>
                <a:cs typeface="Georgia"/>
              </a:rPr>
              <a:t>Ag</a:t>
            </a:r>
            <a:r>
              <a:rPr dirty="0" baseline="37037" sz="900" spc="37">
                <a:latin typeface="Times New Roman"/>
                <a:cs typeface="Times New Roman"/>
              </a:rPr>
              <a:t>+</a:t>
            </a:r>
            <a:r>
              <a:rPr dirty="0" baseline="37037" sz="900" spc="75">
                <a:latin typeface="Times New Roman"/>
                <a:cs typeface="Times New Roman"/>
              </a:rPr>
              <a:t> </a:t>
            </a:r>
            <a:r>
              <a:rPr dirty="0" sz="1200" spc="175"/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/>
              <a:t>形成的配合物不够稳</a:t>
            </a:r>
            <a:r>
              <a:rPr dirty="0" sz="1200" spc="-80"/>
              <a:t>定</a:t>
            </a:r>
            <a:r>
              <a:rPr dirty="0" sz="1200" spc="-5"/>
              <a:t>，  所以不能</a:t>
            </a:r>
            <a:r>
              <a:rPr dirty="0" sz="1200" spc="175"/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200" spc="-5"/>
              <a:t>直接滴</a:t>
            </a:r>
            <a:r>
              <a:rPr dirty="0" sz="1200" spc="175"/>
              <a:t>定</a:t>
            </a:r>
            <a:r>
              <a:rPr dirty="0" sz="1100" spc="110">
                <a:latin typeface="Georgia"/>
                <a:cs typeface="Georgia"/>
              </a:rPr>
              <a:t>Ag</a:t>
            </a:r>
            <a:r>
              <a:rPr dirty="0" baseline="37037" sz="900" spc="165">
                <a:latin typeface="Times New Roman"/>
                <a:cs typeface="Times New Roman"/>
              </a:rPr>
              <a:t>+</a:t>
            </a:r>
            <a:r>
              <a:rPr dirty="0" sz="1200" spc="-235"/>
              <a:t>。</a:t>
            </a:r>
            <a:r>
              <a:rPr dirty="0" sz="1200" spc="-5"/>
              <a:t>但</a:t>
            </a:r>
            <a:r>
              <a:rPr dirty="0" sz="1200" spc="-80"/>
              <a:t>是</a:t>
            </a:r>
            <a:r>
              <a:rPr dirty="0" sz="1200" spc="-185"/>
              <a:t>，</a:t>
            </a:r>
            <a:r>
              <a:rPr dirty="0" sz="1200" spc="-5"/>
              <a:t>利用下列反</a:t>
            </a:r>
            <a:r>
              <a:rPr dirty="0" sz="1200" spc="-80"/>
              <a:t>应</a:t>
            </a:r>
            <a:r>
              <a:rPr dirty="0" sz="1200" spc="-185"/>
              <a:t>，</a:t>
            </a:r>
            <a:r>
              <a:rPr dirty="0" sz="1200" spc="-5"/>
              <a:t>可以置换 </a:t>
            </a:r>
            <a:r>
              <a:rPr dirty="0" sz="1200" spc="175"/>
              <a:t>出</a:t>
            </a:r>
            <a:r>
              <a:rPr dirty="0" sz="1100" spc="40">
                <a:latin typeface="Georgia"/>
                <a:cs typeface="Georgia"/>
              </a:rPr>
              <a:t>Ni</a:t>
            </a:r>
            <a:r>
              <a:rPr dirty="0" baseline="37037" sz="900" spc="60">
                <a:latin typeface="Times New Roman"/>
                <a:cs typeface="Times New Roman"/>
              </a:rPr>
              <a:t>2+</a:t>
            </a:r>
            <a:r>
              <a:rPr dirty="0" sz="1200" spc="40"/>
              <a:t>，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0947" y="2044242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6561" y="2038819"/>
            <a:ext cx="970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2Ag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Ni(CN)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1720" y="204424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8316" y="2136902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175">
                <a:latin typeface="宋体"/>
                <a:cs typeface="宋体"/>
              </a:rPr>
              <a:t>`</a:t>
            </a:r>
            <a:r>
              <a:rPr dirty="0" sz="450" spc="-170">
                <a:latin typeface="宋体"/>
                <a:cs typeface="宋体"/>
              </a:rPr>
              <a:t> </a:t>
            </a:r>
            <a:r>
              <a:rPr dirty="0" baseline="24691" sz="675" spc="-622">
                <a:latin typeface="宋体"/>
                <a:cs typeface="宋体"/>
              </a:rPr>
              <a:t>、</a:t>
            </a: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31172" y="2044242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1720" y="2135695"/>
            <a:ext cx="1121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61720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76995" y="2038819"/>
            <a:ext cx="970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>
                <a:latin typeface="Georgia"/>
                <a:cs typeface="Georgia"/>
              </a:rPr>
              <a:t>2Ag(CN)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Ni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22332" y="2044242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456" y="2306307"/>
            <a:ext cx="439928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被置换出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55">
                <a:latin typeface="Georgia"/>
                <a:cs typeface="Georgia"/>
              </a:rPr>
              <a:t>Ni</a:t>
            </a:r>
            <a:r>
              <a:rPr dirty="0" baseline="37037" sz="900" spc="82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的氨性溶液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175">
                <a:latin typeface="Arial Unicode MS"/>
                <a:cs typeface="Arial Unicode MS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脲酸铵做指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直接滴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007744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(2)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置换</a:t>
            </a:r>
            <a:r>
              <a:rPr dirty="0" sz="1050" spc="160">
                <a:solidFill>
                  <a:srgbClr val="FFFFFF"/>
                </a:solidFill>
              </a:rPr>
              <a:t>出</a:t>
            </a:r>
            <a:r>
              <a:rPr dirty="0" sz="1000" spc="30">
                <a:solidFill>
                  <a:srgbClr val="FFFFFF"/>
                </a:solidFill>
                <a:latin typeface="Georgia"/>
                <a:cs typeface="Georgia"/>
              </a:rPr>
              <a:t>EDTA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564197"/>
            <a:ext cx="434848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前已述</a:t>
            </a:r>
            <a:r>
              <a:rPr dirty="0" sz="1200" spc="-80">
                <a:latin typeface="Arial Unicode MS"/>
                <a:cs typeface="Arial Unicode MS"/>
              </a:rPr>
              <a:t>及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EDTA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可以与许多金属离子反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在某些情 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可以将待测离子和干扰离子全部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然后用某种 配位剂有选择地</a:t>
            </a:r>
            <a:r>
              <a:rPr dirty="0" sz="1200" spc="175">
                <a:latin typeface="Arial Unicode MS"/>
                <a:cs typeface="Arial Unicode MS"/>
              </a:rPr>
              <a:t>将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置换出</a:t>
            </a:r>
            <a:r>
              <a:rPr dirty="0" sz="1200" spc="-80">
                <a:latin typeface="Arial Unicode MS"/>
                <a:cs typeface="Arial Unicode MS"/>
              </a:rPr>
              <a:t>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再用金属离子标准溶液滴定 置换出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25">
                <a:latin typeface="Georgia"/>
                <a:cs typeface="Georgia"/>
              </a:rPr>
              <a:t>EDTA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测定锡合金中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30">
                <a:latin typeface="Georgia"/>
                <a:cs typeface="Georgia"/>
              </a:rPr>
              <a:t>Sn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采用如下步</a:t>
            </a:r>
            <a:r>
              <a:rPr dirty="0" sz="1200" spc="-90">
                <a:latin typeface="Arial Unicode MS"/>
                <a:cs typeface="Arial Unicode MS"/>
              </a:rPr>
              <a:t>骤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2009073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99392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153" y="1897151"/>
            <a:ext cx="380047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于试液中加入过量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30">
                <a:latin typeface="Georgia"/>
                <a:cs typeface="Georgia"/>
              </a:rPr>
              <a:t>EDTA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将可能存在的各种金属离子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55">
                <a:latin typeface="Georgia"/>
                <a:cs typeface="Georgia"/>
              </a:rPr>
              <a:t>Sn</a:t>
            </a:r>
            <a:r>
              <a:rPr dirty="0" baseline="37037" sz="900" spc="82">
                <a:latin typeface="Times New Roman"/>
                <a:cs typeface="Times New Roman"/>
              </a:rPr>
              <a:t>4+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一起发生配位反</a:t>
            </a:r>
            <a:r>
              <a:rPr dirty="0" sz="1200" spc="-65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846" y="2494429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277" y="247926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846" y="2756074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2277" y="274092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846" y="3017732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2277" y="300258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6153" y="2344534"/>
            <a:ext cx="4172585" cy="8108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标准溶液滴定上述溶液中过量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10">
                <a:latin typeface="Georgia"/>
                <a:cs typeface="Georgia"/>
              </a:rPr>
              <a:t>EDTA</a:t>
            </a:r>
            <a:r>
              <a:rPr dirty="0" sz="1200" spc="10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加</a:t>
            </a:r>
            <a:r>
              <a:rPr dirty="0" sz="1200" spc="175">
                <a:latin typeface="Arial Unicode MS"/>
                <a:cs typeface="Arial Unicode MS"/>
              </a:rPr>
              <a:t>入</a:t>
            </a:r>
            <a:r>
              <a:rPr dirty="0" sz="1100" spc="-45">
                <a:latin typeface="Georgia"/>
                <a:cs typeface="Georgia"/>
              </a:rPr>
              <a:t>NH</a:t>
            </a:r>
            <a:r>
              <a:rPr dirty="0" baseline="-13888" sz="900" spc="-67">
                <a:latin typeface="Times New Roman"/>
                <a:cs typeface="Times New Roman"/>
              </a:rPr>
              <a:t>4</a:t>
            </a:r>
            <a:r>
              <a:rPr dirty="0" sz="1100" spc="-45">
                <a:latin typeface="Georgia"/>
                <a:cs typeface="Georgia"/>
              </a:rPr>
              <a:t>F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选择性地</a:t>
            </a:r>
            <a:r>
              <a:rPr dirty="0" sz="1200" spc="175">
                <a:latin typeface="Arial Unicode MS"/>
                <a:cs typeface="Arial Unicode MS"/>
              </a:rPr>
              <a:t>将</a:t>
            </a:r>
            <a:r>
              <a:rPr dirty="0" sz="1100" spc="25">
                <a:latin typeface="Georgia"/>
                <a:cs typeface="Georgia"/>
              </a:rPr>
              <a:t>SnY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中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释放出</a:t>
            </a:r>
            <a:r>
              <a:rPr dirty="0" sz="1200" spc="-65">
                <a:latin typeface="Arial Unicode MS"/>
                <a:cs typeface="Arial Unicode MS"/>
              </a:rPr>
              <a:t>来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60">
                <a:latin typeface="Georgia"/>
                <a:cs typeface="Georgia"/>
              </a:rPr>
              <a:t>Zn</a:t>
            </a:r>
            <a:r>
              <a:rPr dirty="0" baseline="37037" sz="900" spc="89">
                <a:latin typeface="Times New Roman"/>
                <a:cs typeface="Times New Roman"/>
              </a:rPr>
              <a:t>2+ </a:t>
            </a:r>
            <a:r>
              <a:rPr dirty="0" sz="1200" spc="-10">
                <a:latin typeface="Arial Unicode MS"/>
                <a:cs typeface="Arial Unicode MS"/>
              </a:rPr>
              <a:t>标准溶液滴定释放出来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35">
                <a:latin typeface="Georgia"/>
                <a:cs typeface="Georgia"/>
              </a:rPr>
              <a:t>EDTA</a:t>
            </a:r>
            <a:r>
              <a:rPr dirty="0" sz="1200" spc="-3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即可求</a:t>
            </a:r>
            <a:r>
              <a:rPr dirty="0" sz="1200" spc="175">
                <a:latin typeface="Arial Unicode MS"/>
                <a:cs typeface="Arial Unicode MS"/>
              </a:rPr>
              <a:t>得</a:t>
            </a:r>
            <a:r>
              <a:rPr dirty="0" sz="1100" spc="-30">
                <a:latin typeface="Georgia"/>
                <a:cs typeface="Georgia"/>
              </a:rPr>
              <a:t>Sn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925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5.9.4</a:t>
            </a:r>
            <a:r>
              <a:rPr dirty="0" sz="1000" spc="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间</a:t>
            </a:r>
            <a:r>
              <a:rPr dirty="0" sz="1050" spc="-10">
                <a:solidFill>
                  <a:srgbClr val="FFFFFF"/>
                </a:solidFill>
              </a:rPr>
              <a:t>接</a:t>
            </a:r>
            <a:r>
              <a:rPr dirty="0" sz="1050" spc="-5">
                <a:solidFill>
                  <a:srgbClr val="FFFFFF"/>
                </a:solidFill>
              </a:rPr>
              <a:t>滴定法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33005"/>
            <a:ext cx="438785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有些金属离子和非金属离子不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或者生成的配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10">
                <a:latin typeface="Arial Unicode MS"/>
                <a:cs typeface="Arial Unicode MS"/>
              </a:rPr>
              <a:t>合物很不稳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此时可以采用间接的方式利用配位滴定法来测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1660448"/>
            <a:ext cx="9607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测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5">
                <a:latin typeface="Georgia"/>
                <a:cs typeface="Georgia"/>
              </a:rPr>
              <a:t>SO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4602" y="177060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9202" y="1610182"/>
            <a:ext cx="3771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2</a:t>
            </a:r>
            <a:r>
              <a:rPr dirty="0" sz="600" spc="80">
                <a:latin typeface="Lucida Sans Unicode"/>
                <a:cs typeface="Lucida Sans Unicode"/>
              </a:rPr>
              <a:t>−</a:t>
            </a:r>
            <a:r>
              <a:rPr dirty="0" sz="600" spc="-5">
                <a:latin typeface="Lucida Sans Unicode"/>
                <a:cs typeface="Lucida Sans Unicode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时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1426" y="1686090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6232" y="1660448"/>
            <a:ext cx="27692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04135" algn="l"/>
              </a:tabLst>
            </a:pP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可往溶液中加入一定量的过量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20">
                <a:latin typeface="Georgia"/>
                <a:cs typeface="Georgia"/>
              </a:rPr>
              <a:t>Ba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200" spc="-5">
                <a:latin typeface="Arial Unicode MS"/>
                <a:cs typeface="Arial Unicode MS"/>
              </a:rPr>
              <a:t>标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0932" y="19097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0932" y="199430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44" y="1884146"/>
            <a:ext cx="19196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准溶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待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r>
              <a:rPr dirty="0" baseline="37037" sz="900" spc="30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沉淀完全后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9902" y="1884146"/>
            <a:ext cx="23977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30">
                <a:latin typeface="Georgia"/>
                <a:cs typeface="Georgia"/>
              </a:rPr>
              <a:t>MgY-EBT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6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77058" y="2133485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4" y="2107844"/>
            <a:ext cx="39916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的酸度条件下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滴定剩余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20">
                <a:latin typeface="Georgia"/>
                <a:cs typeface="Georgia"/>
              </a:rPr>
              <a:t>Ba</a:t>
            </a:r>
            <a:r>
              <a:rPr dirty="0" sz="1100" spc="295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从而间接地求</a:t>
            </a:r>
            <a:r>
              <a:rPr dirty="0" sz="1200" spc="175">
                <a:latin typeface="Arial Unicode MS"/>
                <a:cs typeface="Arial Unicode MS"/>
              </a:rPr>
              <a:t>得</a:t>
            </a:r>
            <a:r>
              <a:rPr dirty="0" sz="1100" spc="5">
                <a:latin typeface="Georgia"/>
                <a:cs typeface="Georgia"/>
              </a:rPr>
              <a:t>SO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91355" y="221800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65955" y="2057577"/>
            <a:ext cx="3771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2</a:t>
            </a:r>
            <a:r>
              <a:rPr dirty="0" sz="600" spc="80">
                <a:latin typeface="Lucida Sans Unicode"/>
                <a:cs typeface="Lucida Sans Unicode"/>
              </a:rPr>
              <a:t>−</a:t>
            </a:r>
            <a:r>
              <a:rPr dirty="0" sz="600" spc="-5">
                <a:latin typeface="Lucida Sans Unicode"/>
                <a:cs typeface="Lucida Sans Unicode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的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844" y="2331542"/>
            <a:ext cx="4794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2021839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5.10</a:t>
            </a:r>
            <a:r>
              <a:rPr dirty="0" sz="14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配位滴定法的应用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599" y="1488757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75040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01206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553" y="1310525"/>
            <a:ext cx="1384300" cy="80772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水中总硬度的测</a:t>
            </a:r>
            <a:r>
              <a:rPr dirty="0" sz="1200" spc="-65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配位滴定法测定</a:t>
            </a:r>
            <a:r>
              <a:rPr dirty="0" sz="1200" spc="-65">
                <a:latin typeface="Arial Unicode MS"/>
                <a:cs typeface="Arial Unicode MS"/>
              </a:rPr>
              <a:t>铝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45415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Georgia"/>
                <a:cs typeface="Georgia"/>
              </a:rPr>
              <a:t>5.10.1</a:t>
            </a:r>
            <a:r>
              <a:rPr dirty="0" sz="1000" spc="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水中总</a:t>
            </a:r>
            <a:r>
              <a:rPr dirty="0" sz="1050" spc="-10">
                <a:solidFill>
                  <a:srgbClr val="FFFFFF"/>
                </a:solidFill>
              </a:rPr>
              <a:t>硬</a:t>
            </a:r>
            <a:r>
              <a:rPr dirty="0" sz="1050" spc="-5">
                <a:solidFill>
                  <a:srgbClr val="FFFFFF"/>
                </a:solidFill>
              </a:rPr>
              <a:t>度的测定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29971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561363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04671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6153" y="1121486"/>
            <a:ext cx="4127500" cy="12579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水中的总硬度指水中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的总</a:t>
            </a:r>
            <a:r>
              <a:rPr dirty="0" sz="1200" spc="-65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我</a:t>
            </a:r>
            <a:r>
              <a:rPr dirty="0" sz="1200" spc="-305">
                <a:latin typeface="Arial Unicode MS"/>
                <a:cs typeface="Arial Unicode MS"/>
              </a:rPr>
              <a:t>国</a:t>
            </a:r>
            <a:r>
              <a:rPr dirty="0" sz="1200" spc="850">
                <a:latin typeface="Arial Unicode MS"/>
                <a:cs typeface="Arial Unicode MS"/>
              </a:rPr>
              <a:t>“</a:t>
            </a:r>
            <a:r>
              <a:rPr dirty="0" sz="1200" spc="-5">
                <a:latin typeface="Arial Unicode MS"/>
                <a:cs typeface="Arial Unicode MS"/>
              </a:rPr>
              <a:t>生活饮用水卫生标</a:t>
            </a:r>
            <a:r>
              <a:rPr dirty="0" sz="1200" spc="40">
                <a:latin typeface="Arial Unicode MS"/>
                <a:cs typeface="Arial Unicode MS"/>
              </a:rPr>
              <a:t>准</a:t>
            </a:r>
            <a:r>
              <a:rPr dirty="0" sz="1200" spc="505">
                <a:latin typeface="Arial Unicode MS"/>
                <a:cs typeface="Arial Unicode MS"/>
              </a:rPr>
              <a:t>”</a:t>
            </a:r>
            <a:r>
              <a:rPr dirty="0" sz="1200" spc="-5">
                <a:latin typeface="Arial Unicode MS"/>
                <a:cs typeface="Arial Unicode MS"/>
              </a:rPr>
              <a:t>规定以碳酸钙表示的总硬度不得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超</a:t>
            </a:r>
            <a:r>
              <a:rPr dirty="0" sz="1200" spc="175">
                <a:latin typeface="Arial Unicode MS"/>
                <a:cs typeface="Arial Unicode MS"/>
              </a:rPr>
              <a:t>过</a:t>
            </a:r>
            <a:r>
              <a:rPr dirty="0" sz="1100" spc="-65">
                <a:latin typeface="Georgia"/>
                <a:cs typeface="Georgia"/>
              </a:rPr>
              <a:t>450mg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40">
                <a:latin typeface="Georgia"/>
                <a:cs typeface="Georgia"/>
              </a:rPr>
              <a:t>L</a:t>
            </a:r>
            <a:r>
              <a:rPr dirty="0" baseline="37037" sz="900" spc="60">
                <a:latin typeface="Lucida Sans Unicode"/>
                <a:cs typeface="Lucida Sans Unicode"/>
              </a:rPr>
              <a:t>−</a:t>
            </a:r>
            <a:r>
              <a:rPr dirty="0" baseline="37037" sz="900" spc="60">
                <a:latin typeface="Times New Roman"/>
                <a:cs typeface="Times New Roman"/>
              </a:rPr>
              <a:t>1</a:t>
            </a:r>
            <a:r>
              <a:rPr dirty="0" sz="1200" spc="40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滴定法测定水的总硬度是国际上的标准分析方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适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用于各类水质的分</a:t>
            </a:r>
            <a:r>
              <a:rPr dirty="0" sz="1200" spc="-20">
                <a:latin typeface="Arial Unicode MS"/>
                <a:cs typeface="Arial Unicode MS"/>
              </a:rPr>
              <a:t>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45415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5.10.2</a:t>
            </a:r>
            <a:r>
              <a:rPr dirty="0" sz="1000" spc="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配位滴</a:t>
            </a:r>
            <a:r>
              <a:rPr dirty="0" sz="1050" spc="-10">
                <a:solidFill>
                  <a:srgbClr val="FFFFFF"/>
                </a:solidFill>
              </a:rPr>
              <a:t>定</a:t>
            </a:r>
            <a:r>
              <a:rPr dirty="0" sz="1050" spc="-5">
                <a:solidFill>
                  <a:srgbClr val="FFFFFF"/>
                </a:solidFill>
              </a:rPr>
              <a:t>法测定铝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403159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888515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6153" y="1262888"/>
            <a:ext cx="4142740" cy="9582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对于简单的试</a:t>
            </a:r>
            <a:r>
              <a:rPr dirty="0" sz="1200" spc="-80">
                <a:latin typeface="Arial Unicode MS"/>
                <a:cs typeface="Arial Unicode MS"/>
              </a:rPr>
              <a:t>样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如</a:t>
            </a:r>
            <a:r>
              <a:rPr dirty="0" sz="1100" spc="35">
                <a:latin typeface="Georgia"/>
                <a:cs typeface="Georgia"/>
              </a:rPr>
              <a:t>KAl(SO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baseline="-13888" sz="900" spc="195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12H</a:t>
            </a:r>
            <a:r>
              <a:rPr dirty="0" baseline="-13888" sz="900" spc="-52">
                <a:latin typeface="Times New Roman"/>
                <a:cs typeface="Times New Roman"/>
              </a:rPr>
              <a:t>2</a:t>
            </a:r>
            <a:r>
              <a:rPr dirty="0" sz="1100" spc="-35">
                <a:latin typeface="Georgia"/>
                <a:cs typeface="Georgia"/>
              </a:rPr>
              <a:t>O</a:t>
            </a:r>
            <a:r>
              <a:rPr dirty="0" sz="1200" spc="-35">
                <a:latin typeface="Arial Unicode MS"/>
                <a:cs typeface="Arial Unicode MS"/>
              </a:rPr>
              <a:t>（</a:t>
            </a:r>
            <a:r>
              <a:rPr dirty="0" sz="1200" spc="-5">
                <a:latin typeface="Arial Unicode MS"/>
                <a:cs typeface="Arial Unicode MS"/>
              </a:rPr>
              <a:t>明</a:t>
            </a:r>
            <a:r>
              <a:rPr dirty="0" sz="1200" spc="30">
                <a:latin typeface="Arial Unicode MS"/>
                <a:cs typeface="Arial Unicode MS"/>
              </a:rPr>
              <a:t>矾</a:t>
            </a:r>
            <a:r>
              <a:rPr dirty="0" sz="1200" spc="-615">
                <a:latin typeface="Arial Unicode MS"/>
                <a:cs typeface="Arial Unicode MS"/>
              </a:rPr>
              <a:t>）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氢氧化</a:t>
            </a:r>
            <a:r>
              <a:rPr dirty="0" sz="1200" spc="15">
                <a:latin typeface="Arial Unicode MS"/>
                <a:cs typeface="Arial Unicode MS"/>
              </a:rPr>
              <a:t>铝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复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方氢氧化铝片等药片中铝含量的测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通常采用返滴定</a:t>
            </a:r>
            <a:r>
              <a:rPr dirty="0" sz="1200" spc="-65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对于复杂的试</a:t>
            </a:r>
            <a:r>
              <a:rPr dirty="0" sz="1200" spc="-80">
                <a:latin typeface="Arial Unicode MS"/>
                <a:cs typeface="Arial Unicode MS"/>
              </a:rPr>
              <a:t>样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如合</a:t>
            </a:r>
            <a:r>
              <a:rPr dirty="0" sz="1200" spc="15">
                <a:latin typeface="Arial Unicode MS"/>
                <a:cs typeface="Arial Unicode MS"/>
              </a:rPr>
              <a:t>金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硅酸</a:t>
            </a:r>
            <a:r>
              <a:rPr dirty="0" sz="1200" spc="15">
                <a:latin typeface="Arial Unicode MS"/>
                <a:cs typeface="Arial Unicode MS"/>
              </a:rPr>
              <a:t>盐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水泥等的铝含量的测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采用返滴定法效果不</a:t>
            </a:r>
            <a:r>
              <a:rPr dirty="0" sz="1200" spc="-80">
                <a:latin typeface="Arial Unicode MS"/>
                <a:cs typeface="Arial Unicode MS"/>
              </a:rPr>
              <a:t>佳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一般采用置换滴定法以提高选择</a:t>
            </a:r>
            <a:r>
              <a:rPr dirty="0" sz="1200" spc="-20">
                <a:latin typeface="Arial Unicode MS"/>
                <a:cs typeface="Arial Unicode MS"/>
              </a:rPr>
              <a:t>性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139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2023-10-22T13:54:29Z</dcterms:created>
  <dcterms:modified xsi:type="dcterms:W3CDTF">2023-10-22T13:54:29Z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2010-04-14T00:00:00Z</vt:filetime>
  </property>
  <property fmtid="{D5CDD505-2E9C-101B-9397-08002B2CF9AE}" pid="3" name="Creator">
    <vt:lpwstr>LaTeX with beamer class version 3.07</vt:lpwstr>
  </property>
  <property fmtid="{D5CDD505-2E9C-101B-9397-08002B2CF9AE}" pid="4" name="LastSaved">
    <vt:filetime>2010-04-14T00:00:00Z</vt:filetime>
  </property>
</Properties>
</file>