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37"/>
  </p:notesMasterIdLst>
  <p:sldIdLst>
    <p:sldId id="256" r:id="rId2"/>
    <p:sldId id="391" r:id="rId3"/>
    <p:sldId id="278" r:id="rId4"/>
    <p:sldId id="319" r:id="rId5"/>
    <p:sldId id="360" r:id="rId6"/>
    <p:sldId id="361" r:id="rId7"/>
    <p:sldId id="363" r:id="rId8"/>
    <p:sldId id="364" r:id="rId9"/>
    <p:sldId id="365" r:id="rId10"/>
    <p:sldId id="366" r:id="rId11"/>
    <p:sldId id="367" r:id="rId12"/>
    <p:sldId id="368" r:id="rId13"/>
    <p:sldId id="371" r:id="rId14"/>
    <p:sldId id="369" r:id="rId15"/>
    <p:sldId id="370" r:id="rId16"/>
    <p:sldId id="372" r:id="rId17"/>
    <p:sldId id="373" r:id="rId18"/>
    <p:sldId id="374" r:id="rId19"/>
    <p:sldId id="375" r:id="rId20"/>
    <p:sldId id="376" r:id="rId21"/>
    <p:sldId id="378" r:id="rId22"/>
    <p:sldId id="379" r:id="rId23"/>
    <p:sldId id="380" r:id="rId24"/>
    <p:sldId id="381" r:id="rId25"/>
    <p:sldId id="382" r:id="rId26"/>
    <p:sldId id="383" r:id="rId27"/>
    <p:sldId id="387" r:id="rId28"/>
    <p:sldId id="388" r:id="rId29"/>
    <p:sldId id="386" r:id="rId30"/>
    <p:sldId id="384" r:id="rId31"/>
    <p:sldId id="392" r:id="rId32"/>
    <p:sldId id="389" r:id="rId33"/>
    <p:sldId id="390" r:id="rId34"/>
    <p:sldId id="385" r:id="rId35"/>
    <p:sldId id="338" r:id="rId36"/>
  </p:sldIdLst>
  <p:sldSz cx="9144000" cy="6858000" type="screen4x3"/>
  <p:notesSz cx="6858000" cy="9144000"/>
  <p:defaultTextStyle>
    <a:defPPr>
      <a:defRPr lang="zh-CN"/>
    </a:defPPr>
    <a:lvl1pPr algn="ctr"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FF0066"/>
    <a:srgbClr val="D35211"/>
    <a:srgbClr val="DD3F07"/>
    <a:srgbClr val="DA0AB7"/>
    <a:srgbClr val="33CC33"/>
    <a:srgbClr val="00FF00"/>
    <a:srgbClr val="E5DF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67" autoAdjust="0"/>
    <p:restoredTop sz="94709" autoAdjust="0"/>
  </p:normalViewPr>
  <p:slideViewPr>
    <p:cSldViewPr>
      <p:cViewPr varScale="1">
        <p:scale>
          <a:sx n="107" d="100"/>
          <a:sy n="107" d="100"/>
        </p:scale>
        <p:origin x="1674" y="10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_rels/viewProps.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 Target="slides/slide3.xml"/><Relationship Id="rId1" Type="http://schemas.openxmlformats.org/officeDocument/2006/relationships/slide" Target="slides/slide1.xml"/><Relationship Id="rId4"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5090" name="Rectangle 2">
            <a:extLst>
              <a:ext uri="{FF2B5EF4-FFF2-40B4-BE49-F238E27FC236}">
                <a16:creationId xmlns:a16="http://schemas.microsoft.com/office/drawing/2014/main" id="{14B256F5-44B0-750F-C104-308514429FC3}"/>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endParaRPr lang="en-US" altLang="zh-CN"/>
          </a:p>
        </p:txBody>
      </p:sp>
      <p:sp>
        <p:nvSpPr>
          <p:cNvPr id="345091" name="Rectangle 3">
            <a:extLst>
              <a:ext uri="{FF2B5EF4-FFF2-40B4-BE49-F238E27FC236}">
                <a16:creationId xmlns:a16="http://schemas.microsoft.com/office/drawing/2014/main" id="{B5B4A74F-82AD-D394-9493-765D85650B57}"/>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345092" name="Rectangle 4">
            <a:extLst>
              <a:ext uri="{FF2B5EF4-FFF2-40B4-BE49-F238E27FC236}">
                <a16:creationId xmlns:a16="http://schemas.microsoft.com/office/drawing/2014/main" id="{3DD5BFD6-09C3-6526-B88F-E41D3F3BA38C}"/>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45093" name="Rectangle 5">
            <a:extLst>
              <a:ext uri="{FF2B5EF4-FFF2-40B4-BE49-F238E27FC236}">
                <a16:creationId xmlns:a16="http://schemas.microsoft.com/office/drawing/2014/main" id="{CD76314E-9EE8-43EC-510A-F937A06A4BFB}"/>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45094" name="Rectangle 6">
            <a:extLst>
              <a:ext uri="{FF2B5EF4-FFF2-40B4-BE49-F238E27FC236}">
                <a16:creationId xmlns:a16="http://schemas.microsoft.com/office/drawing/2014/main" id="{E7B75B6D-8EA5-C253-A3A8-D5C73A260E36}"/>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endParaRPr lang="en-US" altLang="zh-CN"/>
          </a:p>
        </p:txBody>
      </p:sp>
      <p:sp>
        <p:nvSpPr>
          <p:cNvPr id="345095" name="Rectangle 7">
            <a:extLst>
              <a:ext uri="{FF2B5EF4-FFF2-40B4-BE49-F238E27FC236}">
                <a16:creationId xmlns:a16="http://schemas.microsoft.com/office/drawing/2014/main" id="{A2361E95-D246-1904-8DBF-1AE29C74964B}"/>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446F9BD5-212F-4242-A5E1-568300FBCA77}"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E27ED8E-42F3-31A2-2A14-B5704092A760}"/>
              </a:ext>
            </a:extLst>
          </p:cNvPr>
          <p:cNvSpPr>
            <a:spLocks noGrp="1" noChangeArrowheads="1"/>
          </p:cNvSpPr>
          <p:nvPr>
            <p:ph type="sldNum" sz="quarter" idx="5"/>
          </p:nvPr>
        </p:nvSpPr>
        <p:spPr>
          <a:ln/>
        </p:spPr>
        <p:txBody>
          <a:bodyPr/>
          <a:lstStyle/>
          <a:p>
            <a:fld id="{5BBE1686-24EF-4958-B39D-AC469C9C87DD}" type="slidenum">
              <a:rPr lang="en-US" altLang="zh-CN"/>
              <a:pPr/>
              <a:t>13</a:t>
            </a:fld>
            <a:endParaRPr lang="en-US" altLang="zh-CN"/>
          </a:p>
        </p:txBody>
      </p:sp>
      <p:sp>
        <p:nvSpPr>
          <p:cNvPr id="346114" name="Rectangle 2">
            <a:extLst>
              <a:ext uri="{FF2B5EF4-FFF2-40B4-BE49-F238E27FC236}">
                <a16:creationId xmlns:a16="http://schemas.microsoft.com/office/drawing/2014/main" id="{FCF8B558-280F-1E75-EFFC-DCF19A8C11B3}"/>
              </a:ext>
            </a:extLst>
          </p:cNvPr>
          <p:cNvSpPr>
            <a:spLocks noChangeArrowheads="1" noTextEdit="1"/>
          </p:cNvSpPr>
          <p:nvPr>
            <p:ph type="sldImg"/>
          </p:nvPr>
        </p:nvSpPr>
        <p:spPr>
          <a:ln/>
        </p:spPr>
      </p:sp>
      <p:sp>
        <p:nvSpPr>
          <p:cNvPr id="346115" name="Rectangle 3">
            <a:extLst>
              <a:ext uri="{FF2B5EF4-FFF2-40B4-BE49-F238E27FC236}">
                <a16:creationId xmlns:a16="http://schemas.microsoft.com/office/drawing/2014/main" id="{1EAD1F42-E440-A19B-6E94-1E8966DCA686}"/>
              </a:ext>
            </a:extLst>
          </p:cNvPr>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76130" name="Freeform 2">
            <a:extLst>
              <a:ext uri="{FF2B5EF4-FFF2-40B4-BE49-F238E27FC236}">
                <a16:creationId xmlns:a16="http://schemas.microsoft.com/office/drawing/2014/main" id="{C4A07744-14AE-898A-B589-825222A18C90}"/>
              </a:ext>
            </a:extLst>
          </p:cNvPr>
          <p:cNvSpPr>
            <a:spLocks/>
          </p:cNvSpPr>
          <p:nvPr/>
        </p:nvSpPr>
        <p:spPr bwMode="auto">
          <a:xfrm>
            <a:off x="4760913" y="20638"/>
            <a:ext cx="4438650" cy="4038600"/>
          </a:xfrm>
          <a:custGeom>
            <a:avLst/>
            <a:gdLst>
              <a:gd name="T0" fmla="*/ 23 w 546"/>
              <a:gd name="T1" fmla="*/ 4 h 497"/>
              <a:gd name="T2" fmla="*/ 11 w 546"/>
              <a:gd name="T3" fmla="*/ 71 h 497"/>
              <a:gd name="T4" fmla="*/ 25 w 546"/>
              <a:gd name="T5" fmla="*/ 393 h 497"/>
              <a:gd name="T6" fmla="*/ 54 w 546"/>
              <a:gd name="T7" fmla="*/ 457 h 497"/>
              <a:gd name="T8" fmla="*/ 158 w 546"/>
              <a:gd name="T9" fmla="*/ 482 h 497"/>
              <a:gd name="T10" fmla="*/ 204 w 546"/>
              <a:gd name="T11" fmla="*/ 495 h 497"/>
              <a:gd name="T12" fmla="*/ 520 w 546"/>
              <a:gd name="T13" fmla="*/ 475 h 497"/>
              <a:gd name="T14" fmla="*/ 533 w 546"/>
              <a:gd name="T15" fmla="*/ 167 h 497"/>
              <a:gd name="T16" fmla="*/ 369 w 546"/>
              <a:gd name="T17" fmla="*/ 16 h 497"/>
              <a:gd name="T18" fmla="*/ 249 w 546"/>
              <a:gd name="T19" fmla="*/ 29 h 497"/>
              <a:gd name="T20" fmla="*/ 198 w 546"/>
              <a:gd name="T21" fmla="*/ 11 h 497"/>
              <a:gd name="T22" fmla="*/ 151 w 546"/>
              <a:gd name="T23" fmla="*/ 2 h 497"/>
              <a:gd name="T24" fmla="*/ 23 w 546"/>
              <a:gd name="T25" fmla="*/ 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nvGrpSpPr>
          <p:cNvPr id="176131" name="Group 3">
            <a:extLst>
              <a:ext uri="{FF2B5EF4-FFF2-40B4-BE49-F238E27FC236}">
                <a16:creationId xmlns:a16="http://schemas.microsoft.com/office/drawing/2014/main" id="{61B93C0C-9790-7CFF-0312-9A7BE19481A0}"/>
              </a:ext>
            </a:extLst>
          </p:cNvPr>
          <p:cNvGrpSpPr>
            <a:grpSpLocks/>
          </p:cNvGrpSpPr>
          <p:nvPr/>
        </p:nvGrpSpPr>
        <p:grpSpPr bwMode="auto">
          <a:xfrm>
            <a:off x="4572000" y="28575"/>
            <a:ext cx="4756150" cy="4338638"/>
            <a:chOff x="2918" y="18"/>
            <a:chExt cx="2958" cy="2699"/>
          </a:xfrm>
        </p:grpSpPr>
        <p:sp>
          <p:nvSpPr>
            <p:cNvPr id="176132" name="Freeform 4">
              <a:extLst>
                <a:ext uri="{FF2B5EF4-FFF2-40B4-BE49-F238E27FC236}">
                  <a16:creationId xmlns:a16="http://schemas.microsoft.com/office/drawing/2014/main" id="{B528C89A-FDBD-21A6-4F7A-6285D3D451E2}"/>
                </a:ext>
              </a:extLst>
            </p:cNvPr>
            <p:cNvSpPr>
              <a:spLocks/>
            </p:cNvSpPr>
            <p:nvPr/>
          </p:nvSpPr>
          <p:spPr bwMode="auto">
            <a:xfrm>
              <a:off x="3060" y="18"/>
              <a:ext cx="490" cy="187"/>
            </a:xfrm>
            <a:custGeom>
              <a:avLst/>
              <a:gdLst>
                <a:gd name="T0" fmla="*/ 71 w 97"/>
                <a:gd name="T1" fmla="*/ 25 h 37"/>
                <a:gd name="T2" fmla="*/ 91 w 97"/>
                <a:gd name="T3" fmla="*/ 20 h 37"/>
                <a:gd name="T4" fmla="*/ 92 w 97"/>
                <a:gd name="T5" fmla="*/ 17 h 37"/>
                <a:gd name="T6" fmla="*/ 88 w 97"/>
                <a:gd name="T7" fmla="*/ 0 h 37"/>
                <a:gd name="T8" fmla="*/ 25 w 97"/>
                <a:gd name="T9" fmla="*/ 0 h 37"/>
                <a:gd name="T10" fmla="*/ 10 w 97"/>
                <a:gd name="T11" fmla="*/ 22 h 37"/>
                <a:gd name="T12" fmla="*/ 71 w 97"/>
                <a:gd name="T13" fmla="*/ 25 h 37"/>
              </a:gdLst>
              <a:ahLst/>
              <a:cxnLst>
                <a:cxn ang="0">
                  <a:pos x="T0" y="T1"/>
                </a:cxn>
                <a:cxn ang="0">
                  <a:pos x="T2" y="T3"/>
                </a:cxn>
                <a:cxn ang="0">
                  <a:pos x="T4" y="T5"/>
                </a:cxn>
                <a:cxn ang="0">
                  <a:pos x="T6" y="T7"/>
                </a:cxn>
                <a:cxn ang="0">
                  <a:pos x="T8" y="T9"/>
                </a:cxn>
                <a:cxn ang="0">
                  <a:pos x="T10" y="T11"/>
                </a:cxn>
                <a:cxn ang="0">
                  <a:pos x="T12" y="T13"/>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33" name="Freeform 5">
              <a:extLst>
                <a:ext uri="{FF2B5EF4-FFF2-40B4-BE49-F238E27FC236}">
                  <a16:creationId xmlns:a16="http://schemas.microsoft.com/office/drawing/2014/main" id="{D94A75DE-F314-E810-2398-FEAF3211EC5A}"/>
                </a:ext>
              </a:extLst>
            </p:cNvPr>
            <p:cNvSpPr>
              <a:spLocks noEditPoints="1"/>
            </p:cNvSpPr>
            <p:nvPr/>
          </p:nvSpPr>
          <p:spPr bwMode="auto">
            <a:xfrm>
              <a:off x="2918" y="18"/>
              <a:ext cx="2958" cy="2699"/>
            </a:xfrm>
            <a:custGeom>
              <a:avLst/>
              <a:gdLst>
                <a:gd name="T0" fmla="*/ 504 w 585"/>
                <a:gd name="T1" fmla="*/ 1 h 534"/>
                <a:gd name="T2" fmla="*/ 157 w 585"/>
                <a:gd name="T3" fmla="*/ 0 h 534"/>
                <a:gd name="T4" fmla="*/ 225 w 585"/>
                <a:gd name="T5" fmla="*/ 21 h 534"/>
                <a:gd name="T6" fmla="*/ 174 w 585"/>
                <a:gd name="T7" fmla="*/ 39 h 534"/>
                <a:gd name="T8" fmla="*/ 207 w 585"/>
                <a:gd name="T9" fmla="*/ 71 h 534"/>
                <a:gd name="T10" fmla="*/ 74 w 585"/>
                <a:gd name="T11" fmla="*/ 60 h 534"/>
                <a:gd name="T12" fmla="*/ 26 w 585"/>
                <a:gd name="T13" fmla="*/ 63 h 534"/>
                <a:gd name="T14" fmla="*/ 199 w 585"/>
                <a:gd name="T15" fmla="*/ 487 h 534"/>
                <a:gd name="T16" fmla="*/ 144 w 585"/>
                <a:gd name="T17" fmla="*/ 341 h 534"/>
                <a:gd name="T18" fmla="*/ 105 w 585"/>
                <a:gd name="T19" fmla="*/ 376 h 534"/>
                <a:gd name="T20" fmla="*/ 94 w 585"/>
                <a:gd name="T21" fmla="*/ 435 h 534"/>
                <a:gd name="T22" fmla="*/ 124 w 585"/>
                <a:gd name="T23" fmla="*/ 265 h 534"/>
                <a:gd name="T24" fmla="*/ 153 w 585"/>
                <a:gd name="T25" fmla="*/ 228 h 534"/>
                <a:gd name="T26" fmla="*/ 209 w 585"/>
                <a:gd name="T27" fmla="*/ 237 h 534"/>
                <a:gd name="T28" fmla="*/ 188 w 585"/>
                <a:gd name="T29" fmla="*/ 306 h 534"/>
                <a:gd name="T30" fmla="*/ 192 w 585"/>
                <a:gd name="T31" fmla="*/ 395 h 534"/>
                <a:gd name="T32" fmla="*/ 515 w 585"/>
                <a:gd name="T33" fmla="*/ 483 h 534"/>
                <a:gd name="T34" fmla="*/ 454 w 585"/>
                <a:gd name="T35" fmla="*/ 427 h 534"/>
                <a:gd name="T36" fmla="*/ 425 w 585"/>
                <a:gd name="T37" fmla="*/ 345 h 534"/>
                <a:gd name="T38" fmla="*/ 396 w 585"/>
                <a:gd name="T39" fmla="*/ 270 h 534"/>
                <a:gd name="T40" fmla="*/ 460 w 585"/>
                <a:gd name="T41" fmla="*/ 256 h 534"/>
                <a:gd name="T42" fmla="*/ 407 w 585"/>
                <a:gd name="T43" fmla="*/ 223 h 534"/>
                <a:gd name="T44" fmla="*/ 439 w 585"/>
                <a:gd name="T45" fmla="*/ 226 h 534"/>
                <a:gd name="T46" fmla="*/ 438 w 585"/>
                <a:gd name="T47" fmla="*/ 209 h 534"/>
                <a:gd name="T48" fmla="*/ 376 w 585"/>
                <a:gd name="T49" fmla="*/ 211 h 534"/>
                <a:gd name="T50" fmla="*/ 357 w 585"/>
                <a:gd name="T51" fmla="*/ 343 h 534"/>
                <a:gd name="T52" fmla="*/ 347 w 585"/>
                <a:gd name="T53" fmla="*/ 230 h 534"/>
                <a:gd name="T54" fmla="*/ 331 w 585"/>
                <a:gd name="T55" fmla="*/ 182 h 534"/>
                <a:gd name="T56" fmla="*/ 347 w 585"/>
                <a:gd name="T57" fmla="*/ 136 h 534"/>
                <a:gd name="T58" fmla="*/ 339 w 585"/>
                <a:gd name="T59" fmla="*/ 99 h 534"/>
                <a:gd name="T60" fmla="*/ 331 w 585"/>
                <a:gd name="T61" fmla="*/ 62 h 534"/>
                <a:gd name="T62" fmla="*/ 369 w 585"/>
                <a:gd name="T63" fmla="*/ 103 h 534"/>
                <a:gd name="T64" fmla="*/ 415 w 585"/>
                <a:gd name="T65" fmla="*/ 47 h 534"/>
                <a:gd name="T66" fmla="*/ 409 w 585"/>
                <a:gd name="T67" fmla="*/ 95 h 534"/>
                <a:gd name="T68" fmla="*/ 401 w 585"/>
                <a:gd name="T69" fmla="*/ 130 h 534"/>
                <a:gd name="T70" fmla="*/ 401 w 585"/>
                <a:gd name="T71" fmla="*/ 181 h 534"/>
                <a:gd name="T72" fmla="*/ 558 w 585"/>
                <a:gd name="T73" fmla="*/ 181 h 534"/>
                <a:gd name="T74" fmla="*/ 554 w 585"/>
                <a:gd name="T75" fmla="*/ 76 h 534"/>
                <a:gd name="T76" fmla="*/ 249 w 585"/>
                <a:gd name="T77" fmla="*/ 69 h 534"/>
                <a:gd name="T78" fmla="*/ 293 w 585"/>
                <a:gd name="T79" fmla="*/ 93 h 534"/>
                <a:gd name="T80" fmla="*/ 171 w 585"/>
                <a:gd name="T81" fmla="*/ 195 h 534"/>
                <a:gd name="T82" fmla="*/ 69 w 585"/>
                <a:gd name="T83" fmla="*/ 98 h 534"/>
                <a:gd name="T84" fmla="*/ 191 w 585"/>
                <a:gd name="T85" fmla="*/ 106 h 534"/>
                <a:gd name="T86" fmla="*/ 220 w 585"/>
                <a:gd name="T87" fmla="*/ 105 h 534"/>
                <a:gd name="T88" fmla="*/ 302 w 585"/>
                <a:gd name="T89" fmla="*/ 121 h 534"/>
                <a:gd name="T90" fmla="*/ 276 w 585"/>
                <a:gd name="T91" fmla="*/ 256 h 534"/>
                <a:gd name="T92" fmla="*/ 260 w 585"/>
                <a:gd name="T93" fmla="*/ 137 h 534"/>
                <a:gd name="T94" fmla="*/ 171 w 585"/>
                <a:gd name="T95" fmla="*/ 195 h 534"/>
                <a:gd name="T96" fmla="*/ 223 w 585"/>
                <a:gd name="T97" fmla="*/ 225 h 534"/>
                <a:gd name="T98" fmla="*/ 247 w 585"/>
                <a:gd name="T99" fmla="*/ 158 h 534"/>
                <a:gd name="T100" fmla="*/ 326 w 585"/>
                <a:gd name="T101" fmla="*/ 292 h 534"/>
                <a:gd name="T102" fmla="*/ 215 w 585"/>
                <a:gd name="T103" fmla="*/ 321 h 534"/>
                <a:gd name="T104" fmla="*/ 309 w 585"/>
                <a:gd name="T105" fmla="*/ 277 h 534"/>
                <a:gd name="T106" fmla="*/ 318 w 585"/>
                <a:gd name="T107" fmla="*/ 133 h 534"/>
                <a:gd name="T108" fmla="*/ 313 w 585"/>
                <a:gd name="T109" fmla="*/ 213 h 534"/>
                <a:gd name="T110" fmla="*/ 299 w 585"/>
                <a:gd name="T111" fmla="*/ 144 h 534"/>
                <a:gd name="T112" fmla="*/ 507 w 585"/>
                <a:gd name="T113" fmla="*/ 179 h 534"/>
                <a:gd name="T114" fmla="*/ 461 w 585"/>
                <a:gd name="T115" fmla="*/ 162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34" name="Freeform 6">
              <a:extLst>
                <a:ext uri="{FF2B5EF4-FFF2-40B4-BE49-F238E27FC236}">
                  <a16:creationId xmlns:a16="http://schemas.microsoft.com/office/drawing/2014/main" id="{DB2995D2-89C6-462D-5F15-B1697FAD5AC1}"/>
                </a:ext>
              </a:extLst>
            </p:cNvPr>
            <p:cNvSpPr>
              <a:spLocks/>
            </p:cNvSpPr>
            <p:nvPr/>
          </p:nvSpPr>
          <p:spPr bwMode="auto">
            <a:xfrm>
              <a:off x="3621" y="1287"/>
              <a:ext cx="238" cy="283"/>
            </a:xfrm>
            <a:custGeom>
              <a:avLst/>
              <a:gdLst>
                <a:gd name="T0" fmla="*/ 40 w 47"/>
                <a:gd name="T1" fmla="*/ 15 h 56"/>
                <a:gd name="T2" fmla="*/ 27 w 47"/>
                <a:gd name="T3" fmla="*/ 56 h 56"/>
                <a:gd name="T4" fmla="*/ 40 w 47"/>
                <a:gd name="T5" fmla="*/ 15 h 56"/>
              </a:gdLst>
              <a:ahLst/>
              <a:cxnLst>
                <a:cxn ang="0">
                  <a:pos x="T0" y="T1"/>
                </a:cxn>
                <a:cxn ang="0">
                  <a:pos x="T2" y="T3"/>
                </a:cxn>
                <a:cxn ang="0">
                  <a:pos x="T4" y="T5"/>
                </a:cxn>
              </a:cxnLst>
              <a:rect l="0" t="0" r="r" b="b"/>
              <a:pathLst>
                <a:path w="47" h="56">
                  <a:moveTo>
                    <a:pt x="40" y="15"/>
                  </a:moveTo>
                  <a:cubicBezTo>
                    <a:pt x="37" y="0"/>
                    <a:pt x="0" y="23"/>
                    <a:pt x="27" y="56"/>
                  </a:cubicBezTo>
                  <a:cubicBezTo>
                    <a:pt x="27" y="56"/>
                    <a:pt x="47" y="49"/>
                    <a:pt x="40" y="1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35" name="Freeform 7">
              <a:extLst>
                <a:ext uri="{FF2B5EF4-FFF2-40B4-BE49-F238E27FC236}">
                  <a16:creationId xmlns:a16="http://schemas.microsoft.com/office/drawing/2014/main" id="{984E686D-F835-FF7D-2FDF-8E6FDCB120A3}"/>
                </a:ext>
              </a:extLst>
            </p:cNvPr>
            <p:cNvSpPr>
              <a:spLocks/>
            </p:cNvSpPr>
            <p:nvPr/>
          </p:nvSpPr>
          <p:spPr bwMode="auto">
            <a:xfrm>
              <a:off x="3403" y="1403"/>
              <a:ext cx="208" cy="379"/>
            </a:xfrm>
            <a:custGeom>
              <a:avLst/>
              <a:gdLst>
                <a:gd name="T0" fmla="*/ 19 w 41"/>
                <a:gd name="T1" fmla="*/ 27 h 75"/>
                <a:gd name="T2" fmla="*/ 12 w 41"/>
                <a:gd name="T3" fmla="*/ 69 h 75"/>
                <a:gd name="T4" fmla="*/ 40 w 41"/>
                <a:gd name="T5" fmla="*/ 45 h 75"/>
                <a:gd name="T6" fmla="*/ 37 w 41"/>
                <a:gd name="T7" fmla="*/ 24 h 75"/>
                <a:gd name="T8" fmla="*/ 19 w 41"/>
                <a:gd name="T9" fmla="*/ 27 h 75"/>
              </a:gdLst>
              <a:ahLst/>
              <a:cxnLst>
                <a:cxn ang="0">
                  <a:pos x="T0" y="T1"/>
                </a:cxn>
                <a:cxn ang="0">
                  <a:pos x="T2" y="T3"/>
                </a:cxn>
                <a:cxn ang="0">
                  <a:pos x="T4" y="T5"/>
                </a:cxn>
                <a:cxn ang="0">
                  <a:pos x="T6" y="T7"/>
                </a:cxn>
                <a:cxn ang="0">
                  <a:pos x="T8" y="T9"/>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36" name="Freeform 8">
              <a:extLst>
                <a:ext uri="{FF2B5EF4-FFF2-40B4-BE49-F238E27FC236}">
                  <a16:creationId xmlns:a16="http://schemas.microsoft.com/office/drawing/2014/main" id="{568A7C98-208A-EB45-8E5E-518A0874CACE}"/>
                </a:ext>
              </a:extLst>
            </p:cNvPr>
            <p:cNvSpPr>
              <a:spLocks/>
            </p:cNvSpPr>
            <p:nvPr/>
          </p:nvSpPr>
          <p:spPr bwMode="auto">
            <a:xfrm>
              <a:off x="3272" y="645"/>
              <a:ext cx="683" cy="318"/>
            </a:xfrm>
            <a:custGeom>
              <a:avLst/>
              <a:gdLst>
                <a:gd name="T0" fmla="*/ 112 w 135"/>
                <a:gd name="T1" fmla="*/ 4 h 63"/>
                <a:gd name="T2" fmla="*/ 24 w 135"/>
                <a:gd name="T3" fmla="*/ 4 h 63"/>
                <a:gd name="T4" fmla="*/ 2 w 135"/>
                <a:gd name="T5" fmla="*/ 25 h 63"/>
                <a:gd name="T6" fmla="*/ 60 w 135"/>
                <a:gd name="T7" fmla="*/ 58 h 63"/>
                <a:gd name="T8" fmla="*/ 96 w 135"/>
                <a:gd name="T9" fmla="*/ 54 h 63"/>
                <a:gd name="T10" fmla="*/ 113 w 135"/>
                <a:gd name="T11" fmla="*/ 53 h 63"/>
                <a:gd name="T12" fmla="*/ 112 w 135"/>
                <a:gd name="T13" fmla="*/ 4 h 63"/>
              </a:gdLst>
              <a:ahLst/>
              <a:cxnLst>
                <a:cxn ang="0">
                  <a:pos x="T0" y="T1"/>
                </a:cxn>
                <a:cxn ang="0">
                  <a:pos x="T2" y="T3"/>
                </a:cxn>
                <a:cxn ang="0">
                  <a:pos x="T4" y="T5"/>
                </a:cxn>
                <a:cxn ang="0">
                  <a:pos x="T6" y="T7"/>
                </a:cxn>
                <a:cxn ang="0">
                  <a:pos x="T8" y="T9"/>
                </a:cxn>
                <a:cxn ang="0">
                  <a:pos x="T10" y="T11"/>
                </a:cxn>
                <a:cxn ang="0">
                  <a:pos x="T12" y="T13"/>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37" name="Freeform 9">
              <a:extLst>
                <a:ext uri="{FF2B5EF4-FFF2-40B4-BE49-F238E27FC236}">
                  <a16:creationId xmlns:a16="http://schemas.microsoft.com/office/drawing/2014/main" id="{0053B6EF-5DA4-FAFD-AD10-A25387D8251A}"/>
                </a:ext>
              </a:extLst>
            </p:cNvPr>
            <p:cNvSpPr>
              <a:spLocks/>
            </p:cNvSpPr>
            <p:nvPr/>
          </p:nvSpPr>
          <p:spPr bwMode="auto">
            <a:xfrm>
              <a:off x="4046" y="1545"/>
              <a:ext cx="490" cy="515"/>
            </a:xfrm>
            <a:custGeom>
              <a:avLst/>
              <a:gdLst>
                <a:gd name="T0" fmla="*/ 67 w 97"/>
                <a:gd name="T1" fmla="*/ 5 h 102"/>
                <a:gd name="T2" fmla="*/ 31 w 97"/>
                <a:gd name="T3" fmla="*/ 5 h 102"/>
                <a:gd name="T4" fmla="*/ 12 w 97"/>
                <a:gd name="T5" fmla="*/ 57 h 102"/>
                <a:gd name="T6" fmla="*/ 79 w 97"/>
                <a:gd name="T7" fmla="*/ 62 h 102"/>
                <a:gd name="T8" fmla="*/ 67 w 97"/>
                <a:gd name="T9" fmla="*/ 5 h 102"/>
              </a:gdLst>
              <a:ahLst/>
              <a:cxnLst>
                <a:cxn ang="0">
                  <a:pos x="T0" y="T1"/>
                </a:cxn>
                <a:cxn ang="0">
                  <a:pos x="T2" y="T3"/>
                </a:cxn>
                <a:cxn ang="0">
                  <a:pos x="T4" y="T5"/>
                </a:cxn>
                <a:cxn ang="0">
                  <a:pos x="T6" y="T7"/>
                </a:cxn>
                <a:cxn ang="0">
                  <a:pos x="T8" y="T9"/>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38" name="Freeform 10">
              <a:extLst>
                <a:ext uri="{FF2B5EF4-FFF2-40B4-BE49-F238E27FC236}">
                  <a16:creationId xmlns:a16="http://schemas.microsoft.com/office/drawing/2014/main" id="{71988914-C95B-DDA3-D939-266F38C04A6B}"/>
                </a:ext>
              </a:extLst>
            </p:cNvPr>
            <p:cNvSpPr>
              <a:spLocks/>
            </p:cNvSpPr>
            <p:nvPr/>
          </p:nvSpPr>
          <p:spPr bwMode="auto">
            <a:xfrm>
              <a:off x="5173" y="1024"/>
              <a:ext cx="501" cy="96"/>
            </a:xfrm>
            <a:custGeom>
              <a:avLst/>
              <a:gdLst>
                <a:gd name="T0" fmla="*/ 15 w 99"/>
                <a:gd name="T1" fmla="*/ 0 h 19"/>
                <a:gd name="T2" fmla="*/ 40 w 99"/>
                <a:gd name="T3" fmla="*/ 15 h 19"/>
                <a:gd name="T4" fmla="*/ 15 w 99"/>
                <a:gd name="T5" fmla="*/ 0 h 19"/>
              </a:gdLst>
              <a:ahLst/>
              <a:cxnLst>
                <a:cxn ang="0">
                  <a:pos x="T0" y="T1"/>
                </a:cxn>
                <a:cxn ang="0">
                  <a:pos x="T2" y="T3"/>
                </a:cxn>
                <a:cxn ang="0">
                  <a:pos x="T4" y="T5"/>
                </a:cxn>
              </a:cxnLst>
              <a:rect l="0" t="0" r="r" b="b"/>
              <a:pathLst>
                <a:path w="99" h="19">
                  <a:moveTo>
                    <a:pt x="15" y="0"/>
                  </a:moveTo>
                  <a:cubicBezTo>
                    <a:pt x="0" y="0"/>
                    <a:pt x="19" y="19"/>
                    <a:pt x="40" y="15"/>
                  </a:cubicBezTo>
                  <a:cubicBezTo>
                    <a:pt x="99" y="1"/>
                    <a:pt x="15" y="0"/>
                    <a:pt x="15" y="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39" name="Freeform 11">
              <a:extLst>
                <a:ext uri="{FF2B5EF4-FFF2-40B4-BE49-F238E27FC236}">
                  <a16:creationId xmlns:a16="http://schemas.microsoft.com/office/drawing/2014/main" id="{31C237E5-9F92-F78C-B296-99C125C7EB2B}"/>
                </a:ext>
              </a:extLst>
            </p:cNvPr>
            <p:cNvSpPr>
              <a:spLocks/>
            </p:cNvSpPr>
            <p:nvPr/>
          </p:nvSpPr>
          <p:spPr bwMode="auto">
            <a:xfrm>
              <a:off x="5340" y="1004"/>
              <a:ext cx="385" cy="237"/>
            </a:xfrm>
            <a:custGeom>
              <a:avLst/>
              <a:gdLst>
                <a:gd name="T0" fmla="*/ 21 w 76"/>
                <a:gd name="T1" fmla="*/ 37 h 47"/>
                <a:gd name="T2" fmla="*/ 70 w 76"/>
                <a:gd name="T3" fmla="*/ 17 h 47"/>
                <a:gd name="T4" fmla="*/ 48 w 76"/>
                <a:gd name="T5" fmla="*/ 3 h 47"/>
                <a:gd name="T6" fmla="*/ 19 w 76"/>
                <a:gd name="T7" fmla="*/ 32 h 47"/>
                <a:gd name="T8" fmla="*/ 21 w 76"/>
                <a:gd name="T9" fmla="*/ 37 h 47"/>
              </a:gdLst>
              <a:ahLst/>
              <a:cxnLst>
                <a:cxn ang="0">
                  <a:pos x="T0" y="T1"/>
                </a:cxn>
                <a:cxn ang="0">
                  <a:pos x="T2" y="T3"/>
                </a:cxn>
                <a:cxn ang="0">
                  <a:pos x="T4" y="T5"/>
                </a:cxn>
                <a:cxn ang="0">
                  <a:pos x="T6" y="T7"/>
                </a:cxn>
                <a:cxn ang="0">
                  <a:pos x="T8" y="T9"/>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40" name="Freeform 12">
              <a:extLst>
                <a:ext uri="{FF2B5EF4-FFF2-40B4-BE49-F238E27FC236}">
                  <a16:creationId xmlns:a16="http://schemas.microsoft.com/office/drawing/2014/main" id="{70B7202C-FF81-7FCC-130D-FE7C444AE5A0}"/>
                </a:ext>
              </a:extLst>
            </p:cNvPr>
            <p:cNvSpPr>
              <a:spLocks/>
            </p:cNvSpPr>
            <p:nvPr/>
          </p:nvSpPr>
          <p:spPr bwMode="auto">
            <a:xfrm>
              <a:off x="5325" y="1201"/>
              <a:ext cx="415" cy="187"/>
            </a:xfrm>
            <a:custGeom>
              <a:avLst/>
              <a:gdLst>
                <a:gd name="T0" fmla="*/ 72 w 82"/>
                <a:gd name="T1" fmla="*/ 6 h 37"/>
                <a:gd name="T2" fmla="*/ 24 w 82"/>
                <a:gd name="T3" fmla="*/ 17 h 37"/>
                <a:gd name="T4" fmla="*/ 17 w 82"/>
                <a:gd name="T5" fmla="*/ 26 h 37"/>
                <a:gd name="T6" fmla="*/ 76 w 82"/>
                <a:gd name="T7" fmla="*/ 23 h 37"/>
                <a:gd name="T8" fmla="*/ 82 w 82"/>
                <a:gd name="T9" fmla="*/ 20 h 37"/>
                <a:gd name="T10" fmla="*/ 82 w 82"/>
                <a:gd name="T11" fmla="*/ 0 h 37"/>
                <a:gd name="T12" fmla="*/ 72 w 82"/>
                <a:gd name="T13" fmla="*/ 6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41" name="Freeform 13">
              <a:extLst>
                <a:ext uri="{FF2B5EF4-FFF2-40B4-BE49-F238E27FC236}">
                  <a16:creationId xmlns:a16="http://schemas.microsoft.com/office/drawing/2014/main" id="{BFE385E6-A071-9164-9229-A6F0797CFE27}"/>
                </a:ext>
              </a:extLst>
            </p:cNvPr>
            <p:cNvSpPr>
              <a:spLocks/>
            </p:cNvSpPr>
            <p:nvPr/>
          </p:nvSpPr>
          <p:spPr bwMode="auto">
            <a:xfrm>
              <a:off x="5001" y="1378"/>
              <a:ext cx="698" cy="167"/>
            </a:xfrm>
            <a:custGeom>
              <a:avLst/>
              <a:gdLst>
                <a:gd name="T0" fmla="*/ 21 w 138"/>
                <a:gd name="T1" fmla="*/ 1 h 33"/>
                <a:gd name="T2" fmla="*/ 8 w 138"/>
                <a:gd name="T3" fmla="*/ 14 h 33"/>
                <a:gd name="T4" fmla="*/ 57 w 138"/>
                <a:gd name="T5" fmla="*/ 22 h 33"/>
                <a:gd name="T6" fmla="*/ 117 w 138"/>
                <a:gd name="T7" fmla="*/ 23 h 33"/>
                <a:gd name="T8" fmla="*/ 114 w 138"/>
                <a:gd name="T9" fmla="*/ 8 h 33"/>
                <a:gd name="T10" fmla="*/ 82 w 138"/>
                <a:gd name="T11" fmla="*/ 3 h 33"/>
                <a:gd name="T12" fmla="*/ 21 w 138"/>
                <a:gd name="T13" fmla="*/ 1 h 33"/>
              </a:gdLst>
              <a:ahLst/>
              <a:cxnLst>
                <a:cxn ang="0">
                  <a:pos x="T0" y="T1"/>
                </a:cxn>
                <a:cxn ang="0">
                  <a:pos x="T2" y="T3"/>
                </a:cxn>
                <a:cxn ang="0">
                  <a:pos x="T4" y="T5"/>
                </a:cxn>
                <a:cxn ang="0">
                  <a:pos x="T6" y="T7"/>
                </a:cxn>
                <a:cxn ang="0">
                  <a:pos x="T8" y="T9"/>
                </a:cxn>
                <a:cxn ang="0">
                  <a:pos x="T10" y="T11"/>
                </a:cxn>
                <a:cxn ang="0">
                  <a:pos x="T12" y="T13"/>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42" name="Freeform 14">
              <a:extLst>
                <a:ext uri="{FF2B5EF4-FFF2-40B4-BE49-F238E27FC236}">
                  <a16:creationId xmlns:a16="http://schemas.microsoft.com/office/drawing/2014/main" id="{AC1328FD-0A9F-36AD-0A23-C50CC483CB48}"/>
                </a:ext>
              </a:extLst>
            </p:cNvPr>
            <p:cNvSpPr>
              <a:spLocks/>
            </p:cNvSpPr>
            <p:nvPr/>
          </p:nvSpPr>
          <p:spPr bwMode="auto">
            <a:xfrm>
              <a:off x="5077" y="1540"/>
              <a:ext cx="567" cy="146"/>
            </a:xfrm>
            <a:custGeom>
              <a:avLst/>
              <a:gdLst>
                <a:gd name="T0" fmla="*/ 98 w 112"/>
                <a:gd name="T1" fmla="*/ 19 h 29"/>
                <a:gd name="T2" fmla="*/ 103 w 112"/>
                <a:gd name="T3" fmla="*/ 4 h 29"/>
                <a:gd name="T4" fmla="*/ 74 w 112"/>
                <a:gd name="T5" fmla="*/ 10 h 29"/>
                <a:gd name="T6" fmla="*/ 36 w 112"/>
                <a:gd name="T7" fmla="*/ 6 h 29"/>
                <a:gd name="T8" fmla="*/ 2 w 112"/>
                <a:gd name="T9" fmla="*/ 4 h 29"/>
                <a:gd name="T10" fmla="*/ 98 w 112"/>
                <a:gd name="T11" fmla="*/ 19 h 29"/>
              </a:gdLst>
              <a:ahLst/>
              <a:cxnLst>
                <a:cxn ang="0">
                  <a:pos x="T0" y="T1"/>
                </a:cxn>
                <a:cxn ang="0">
                  <a:pos x="T2" y="T3"/>
                </a:cxn>
                <a:cxn ang="0">
                  <a:pos x="T4" y="T5"/>
                </a:cxn>
                <a:cxn ang="0">
                  <a:pos x="T6" y="T7"/>
                </a:cxn>
                <a:cxn ang="0">
                  <a:pos x="T8" y="T9"/>
                </a:cxn>
                <a:cxn ang="0">
                  <a:pos x="T10" y="T11"/>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43" name="Freeform 15">
              <a:extLst>
                <a:ext uri="{FF2B5EF4-FFF2-40B4-BE49-F238E27FC236}">
                  <a16:creationId xmlns:a16="http://schemas.microsoft.com/office/drawing/2014/main" id="{3A9FD930-F00B-A3B4-FA9E-1740D9149DBE}"/>
                </a:ext>
              </a:extLst>
            </p:cNvPr>
            <p:cNvSpPr>
              <a:spLocks/>
            </p:cNvSpPr>
            <p:nvPr/>
          </p:nvSpPr>
          <p:spPr bwMode="auto">
            <a:xfrm>
              <a:off x="5042" y="1656"/>
              <a:ext cx="581" cy="480"/>
            </a:xfrm>
            <a:custGeom>
              <a:avLst/>
              <a:gdLst>
                <a:gd name="T0" fmla="*/ 3 w 115"/>
                <a:gd name="T1" fmla="*/ 53 h 95"/>
                <a:gd name="T2" fmla="*/ 26 w 115"/>
                <a:gd name="T3" fmla="*/ 54 h 95"/>
                <a:gd name="T4" fmla="*/ 50 w 115"/>
                <a:gd name="T5" fmla="*/ 77 h 95"/>
                <a:gd name="T6" fmla="*/ 59 w 115"/>
                <a:gd name="T7" fmla="*/ 84 h 95"/>
                <a:gd name="T8" fmla="*/ 81 w 115"/>
                <a:gd name="T9" fmla="*/ 52 h 95"/>
                <a:gd name="T10" fmla="*/ 111 w 115"/>
                <a:gd name="T11" fmla="*/ 52 h 95"/>
                <a:gd name="T12" fmla="*/ 79 w 115"/>
                <a:gd name="T13" fmla="*/ 27 h 95"/>
                <a:gd name="T14" fmla="*/ 37 w 115"/>
                <a:gd name="T15" fmla="*/ 16 h 95"/>
                <a:gd name="T16" fmla="*/ 12 w 115"/>
                <a:gd name="T17" fmla="*/ 41 h 95"/>
                <a:gd name="T18" fmla="*/ 3 w 115"/>
                <a:gd name="T19" fmla="*/ 5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44" name="Freeform 16">
              <a:extLst>
                <a:ext uri="{FF2B5EF4-FFF2-40B4-BE49-F238E27FC236}">
                  <a16:creationId xmlns:a16="http://schemas.microsoft.com/office/drawing/2014/main" id="{780C54AA-CA99-D91A-01BD-AF46F90C776A}"/>
                </a:ext>
              </a:extLst>
            </p:cNvPr>
            <p:cNvSpPr>
              <a:spLocks/>
            </p:cNvSpPr>
            <p:nvPr/>
          </p:nvSpPr>
          <p:spPr bwMode="auto">
            <a:xfrm>
              <a:off x="5421" y="1464"/>
              <a:ext cx="329" cy="854"/>
            </a:xfrm>
            <a:custGeom>
              <a:avLst/>
              <a:gdLst>
                <a:gd name="T0" fmla="*/ 51 w 65"/>
                <a:gd name="T1" fmla="*/ 40 h 169"/>
                <a:gd name="T2" fmla="*/ 22 w 65"/>
                <a:gd name="T3" fmla="*/ 49 h 169"/>
                <a:gd name="T4" fmla="*/ 22 w 65"/>
                <a:gd name="T5" fmla="*/ 59 h 169"/>
                <a:gd name="T6" fmla="*/ 50 w 65"/>
                <a:gd name="T7" fmla="*/ 90 h 169"/>
                <a:gd name="T8" fmla="*/ 34 w 65"/>
                <a:gd name="T9" fmla="*/ 118 h 169"/>
                <a:gd name="T10" fmla="*/ 0 w 65"/>
                <a:gd name="T11" fmla="*/ 148 h 169"/>
                <a:gd name="T12" fmla="*/ 17 w 65"/>
                <a:gd name="T13" fmla="*/ 155 h 169"/>
                <a:gd name="T14" fmla="*/ 47 w 65"/>
                <a:gd name="T15" fmla="*/ 166 h 169"/>
                <a:gd name="T16" fmla="*/ 63 w 65"/>
                <a:gd name="T17" fmla="*/ 162 h 169"/>
                <a:gd name="T18" fmla="*/ 65 w 65"/>
                <a:gd name="T19" fmla="*/ 0 h 169"/>
                <a:gd name="T20" fmla="*/ 51 w 65"/>
                <a:gd name="T21" fmla="*/ 4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176145" name="Group 17">
            <a:extLst>
              <a:ext uri="{FF2B5EF4-FFF2-40B4-BE49-F238E27FC236}">
                <a16:creationId xmlns:a16="http://schemas.microsoft.com/office/drawing/2014/main" id="{7A995EE5-B699-5C74-52F7-D4D083F08CCF}"/>
              </a:ext>
            </a:extLst>
          </p:cNvPr>
          <p:cNvGrpSpPr>
            <a:grpSpLocks/>
          </p:cNvGrpSpPr>
          <p:nvPr/>
        </p:nvGrpSpPr>
        <p:grpSpPr bwMode="auto">
          <a:xfrm>
            <a:off x="554038" y="36513"/>
            <a:ext cx="7891462" cy="6821487"/>
            <a:chOff x="349" y="23"/>
            <a:chExt cx="4971" cy="4297"/>
          </a:xfrm>
        </p:grpSpPr>
        <p:sp>
          <p:nvSpPr>
            <p:cNvPr id="176146" name="Rectangle 18">
              <a:extLst>
                <a:ext uri="{FF2B5EF4-FFF2-40B4-BE49-F238E27FC236}">
                  <a16:creationId xmlns:a16="http://schemas.microsoft.com/office/drawing/2014/main" id="{1B9C1EC7-6AEB-DEC2-7108-8986F4CACF78}"/>
                </a:ext>
              </a:extLst>
            </p:cNvPr>
            <p:cNvSpPr>
              <a:spLocks noChangeArrowheads="1"/>
            </p:cNvSpPr>
            <p:nvPr/>
          </p:nvSpPr>
          <p:spPr bwMode="auto">
            <a:xfrm>
              <a:off x="384" y="23"/>
              <a:ext cx="21"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147" name="Freeform 19">
              <a:extLst>
                <a:ext uri="{FF2B5EF4-FFF2-40B4-BE49-F238E27FC236}">
                  <a16:creationId xmlns:a16="http://schemas.microsoft.com/office/drawing/2014/main" id="{B7358F3F-877A-BF08-79E3-B133AA7D375F}"/>
                </a:ext>
              </a:extLst>
            </p:cNvPr>
            <p:cNvSpPr>
              <a:spLocks noEditPoints="1"/>
            </p:cNvSpPr>
            <p:nvPr/>
          </p:nvSpPr>
          <p:spPr bwMode="auto">
            <a:xfrm>
              <a:off x="384"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48" name="Freeform 20">
              <a:extLst>
                <a:ext uri="{FF2B5EF4-FFF2-40B4-BE49-F238E27FC236}">
                  <a16:creationId xmlns:a16="http://schemas.microsoft.com/office/drawing/2014/main" id="{684915D9-D80B-FD62-06D9-962C3C425CD1}"/>
                </a:ext>
              </a:extLst>
            </p:cNvPr>
            <p:cNvSpPr>
              <a:spLocks noEditPoints="1"/>
            </p:cNvSpPr>
            <p:nvPr/>
          </p:nvSpPr>
          <p:spPr bwMode="auto">
            <a:xfrm>
              <a:off x="384"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49" name="Freeform 21">
              <a:extLst>
                <a:ext uri="{FF2B5EF4-FFF2-40B4-BE49-F238E27FC236}">
                  <a16:creationId xmlns:a16="http://schemas.microsoft.com/office/drawing/2014/main" id="{261CAFD3-9CCC-64CF-0068-1D694A39DA07}"/>
                </a:ext>
              </a:extLst>
            </p:cNvPr>
            <p:cNvSpPr>
              <a:spLocks noEditPoints="1"/>
            </p:cNvSpPr>
            <p:nvPr/>
          </p:nvSpPr>
          <p:spPr bwMode="auto">
            <a:xfrm>
              <a:off x="384"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50" name="Freeform 22">
              <a:extLst>
                <a:ext uri="{FF2B5EF4-FFF2-40B4-BE49-F238E27FC236}">
                  <a16:creationId xmlns:a16="http://schemas.microsoft.com/office/drawing/2014/main" id="{E9019065-DFFF-7059-0A29-2DD0E8AE7237}"/>
                </a:ext>
              </a:extLst>
            </p:cNvPr>
            <p:cNvSpPr>
              <a:spLocks noEditPoints="1"/>
            </p:cNvSpPr>
            <p:nvPr/>
          </p:nvSpPr>
          <p:spPr bwMode="auto">
            <a:xfrm>
              <a:off x="384"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51" name="Freeform 23">
              <a:extLst>
                <a:ext uri="{FF2B5EF4-FFF2-40B4-BE49-F238E27FC236}">
                  <a16:creationId xmlns:a16="http://schemas.microsoft.com/office/drawing/2014/main" id="{885B5E17-0EA4-CAF8-8DB6-8440C0F30697}"/>
                </a:ext>
              </a:extLst>
            </p:cNvPr>
            <p:cNvSpPr>
              <a:spLocks noEditPoints="1"/>
            </p:cNvSpPr>
            <p:nvPr/>
          </p:nvSpPr>
          <p:spPr bwMode="auto">
            <a:xfrm>
              <a:off x="384"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52" name="Freeform 24">
              <a:extLst>
                <a:ext uri="{FF2B5EF4-FFF2-40B4-BE49-F238E27FC236}">
                  <a16:creationId xmlns:a16="http://schemas.microsoft.com/office/drawing/2014/main" id="{61C3BBCE-528F-F6E5-F7D2-CCA904073E33}"/>
                </a:ext>
              </a:extLst>
            </p:cNvPr>
            <p:cNvSpPr>
              <a:spLocks noEditPoints="1"/>
            </p:cNvSpPr>
            <p:nvPr/>
          </p:nvSpPr>
          <p:spPr bwMode="auto">
            <a:xfrm>
              <a:off x="384"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53" name="Freeform 25">
              <a:extLst>
                <a:ext uri="{FF2B5EF4-FFF2-40B4-BE49-F238E27FC236}">
                  <a16:creationId xmlns:a16="http://schemas.microsoft.com/office/drawing/2014/main" id="{62BEC429-62D3-015F-5489-C05091DCD630}"/>
                </a:ext>
              </a:extLst>
            </p:cNvPr>
            <p:cNvSpPr>
              <a:spLocks noEditPoints="1"/>
            </p:cNvSpPr>
            <p:nvPr/>
          </p:nvSpPr>
          <p:spPr bwMode="auto">
            <a:xfrm>
              <a:off x="384"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54" name="Freeform 26">
              <a:extLst>
                <a:ext uri="{FF2B5EF4-FFF2-40B4-BE49-F238E27FC236}">
                  <a16:creationId xmlns:a16="http://schemas.microsoft.com/office/drawing/2014/main" id="{81D18B3F-01C9-E7FA-BC4E-5B8AA7DD5F8C}"/>
                </a:ext>
              </a:extLst>
            </p:cNvPr>
            <p:cNvSpPr>
              <a:spLocks noEditPoints="1"/>
            </p:cNvSpPr>
            <p:nvPr/>
          </p:nvSpPr>
          <p:spPr bwMode="auto">
            <a:xfrm>
              <a:off x="384"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55" name="Freeform 27">
              <a:extLst>
                <a:ext uri="{FF2B5EF4-FFF2-40B4-BE49-F238E27FC236}">
                  <a16:creationId xmlns:a16="http://schemas.microsoft.com/office/drawing/2014/main" id="{3C8EEF68-87F0-FDDD-9938-05DFC86604F1}"/>
                </a:ext>
              </a:extLst>
            </p:cNvPr>
            <p:cNvSpPr>
              <a:spLocks noEditPoints="1"/>
            </p:cNvSpPr>
            <p:nvPr/>
          </p:nvSpPr>
          <p:spPr bwMode="auto">
            <a:xfrm>
              <a:off x="384"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56" name="Freeform 28">
              <a:extLst>
                <a:ext uri="{FF2B5EF4-FFF2-40B4-BE49-F238E27FC236}">
                  <a16:creationId xmlns:a16="http://schemas.microsoft.com/office/drawing/2014/main" id="{6914E871-341A-137F-AC51-F6F598845FDC}"/>
                </a:ext>
              </a:extLst>
            </p:cNvPr>
            <p:cNvSpPr>
              <a:spLocks noEditPoints="1"/>
            </p:cNvSpPr>
            <p:nvPr/>
          </p:nvSpPr>
          <p:spPr bwMode="auto">
            <a:xfrm>
              <a:off x="384"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57" name="Rectangle 29">
              <a:extLst>
                <a:ext uri="{FF2B5EF4-FFF2-40B4-BE49-F238E27FC236}">
                  <a16:creationId xmlns:a16="http://schemas.microsoft.com/office/drawing/2014/main" id="{7ABFB26C-8234-8E73-EA52-366CE76B3D7D}"/>
                </a:ext>
              </a:extLst>
            </p:cNvPr>
            <p:cNvSpPr>
              <a:spLocks noChangeArrowheads="1"/>
            </p:cNvSpPr>
            <p:nvPr/>
          </p:nvSpPr>
          <p:spPr bwMode="auto">
            <a:xfrm>
              <a:off x="384" y="4269"/>
              <a:ext cx="21"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158" name="Rectangle 30">
              <a:extLst>
                <a:ext uri="{FF2B5EF4-FFF2-40B4-BE49-F238E27FC236}">
                  <a16:creationId xmlns:a16="http://schemas.microsoft.com/office/drawing/2014/main" id="{25CEBC7A-EDCA-11F8-5E82-3F0304B6C9B2}"/>
                </a:ext>
              </a:extLst>
            </p:cNvPr>
            <p:cNvSpPr>
              <a:spLocks noChangeArrowheads="1"/>
            </p:cNvSpPr>
            <p:nvPr/>
          </p:nvSpPr>
          <p:spPr bwMode="auto">
            <a:xfrm>
              <a:off x="829" y="23"/>
              <a:ext cx="21"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159" name="Freeform 31">
              <a:extLst>
                <a:ext uri="{FF2B5EF4-FFF2-40B4-BE49-F238E27FC236}">
                  <a16:creationId xmlns:a16="http://schemas.microsoft.com/office/drawing/2014/main" id="{8FDE5320-6870-ABD9-1286-41708FB8637D}"/>
                </a:ext>
              </a:extLst>
            </p:cNvPr>
            <p:cNvSpPr>
              <a:spLocks noEditPoints="1"/>
            </p:cNvSpPr>
            <p:nvPr/>
          </p:nvSpPr>
          <p:spPr bwMode="auto">
            <a:xfrm>
              <a:off x="829"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60" name="Freeform 32">
              <a:extLst>
                <a:ext uri="{FF2B5EF4-FFF2-40B4-BE49-F238E27FC236}">
                  <a16:creationId xmlns:a16="http://schemas.microsoft.com/office/drawing/2014/main" id="{C1FCDF2D-FBFE-C411-4E1E-31AE0E0FA9E4}"/>
                </a:ext>
              </a:extLst>
            </p:cNvPr>
            <p:cNvSpPr>
              <a:spLocks noEditPoints="1"/>
            </p:cNvSpPr>
            <p:nvPr/>
          </p:nvSpPr>
          <p:spPr bwMode="auto">
            <a:xfrm>
              <a:off x="829"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61" name="Freeform 33">
              <a:extLst>
                <a:ext uri="{FF2B5EF4-FFF2-40B4-BE49-F238E27FC236}">
                  <a16:creationId xmlns:a16="http://schemas.microsoft.com/office/drawing/2014/main" id="{242FC16C-7DE1-E68E-3752-4A5C02B461FA}"/>
                </a:ext>
              </a:extLst>
            </p:cNvPr>
            <p:cNvSpPr>
              <a:spLocks noEditPoints="1"/>
            </p:cNvSpPr>
            <p:nvPr/>
          </p:nvSpPr>
          <p:spPr bwMode="auto">
            <a:xfrm>
              <a:off x="829"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62" name="Freeform 34">
              <a:extLst>
                <a:ext uri="{FF2B5EF4-FFF2-40B4-BE49-F238E27FC236}">
                  <a16:creationId xmlns:a16="http://schemas.microsoft.com/office/drawing/2014/main" id="{998D19CF-AD53-BEC3-C82A-4FFE46FE62F6}"/>
                </a:ext>
              </a:extLst>
            </p:cNvPr>
            <p:cNvSpPr>
              <a:spLocks noEditPoints="1"/>
            </p:cNvSpPr>
            <p:nvPr/>
          </p:nvSpPr>
          <p:spPr bwMode="auto">
            <a:xfrm>
              <a:off x="829"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63" name="Freeform 35">
              <a:extLst>
                <a:ext uri="{FF2B5EF4-FFF2-40B4-BE49-F238E27FC236}">
                  <a16:creationId xmlns:a16="http://schemas.microsoft.com/office/drawing/2014/main" id="{C7682FE5-F4BA-9DEB-5899-0BAD8F58CB71}"/>
                </a:ext>
              </a:extLst>
            </p:cNvPr>
            <p:cNvSpPr>
              <a:spLocks noEditPoints="1"/>
            </p:cNvSpPr>
            <p:nvPr/>
          </p:nvSpPr>
          <p:spPr bwMode="auto">
            <a:xfrm>
              <a:off x="829"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64" name="Freeform 36">
              <a:extLst>
                <a:ext uri="{FF2B5EF4-FFF2-40B4-BE49-F238E27FC236}">
                  <a16:creationId xmlns:a16="http://schemas.microsoft.com/office/drawing/2014/main" id="{A84A7BEA-0BF4-69B4-8E71-0EE366B059AE}"/>
                </a:ext>
              </a:extLst>
            </p:cNvPr>
            <p:cNvSpPr>
              <a:spLocks noEditPoints="1"/>
            </p:cNvSpPr>
            <p:nvPr/>
          </p:nvSpPr>
          <p:spPr bwMode="auto">
            <a:xfrm>
              <a:off x="829"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65" name="Freeform 37">
              <a:extLst>
                <a:ext uri="{FF2B5EF4-FFF2-40B4-BE49-F238E27FC236}">
                  <a16:creationId xmlns:a16="http://schemas.microsoft.com/office/drawing/2014/main" id="{071271FE-3F84-66DE-56CC-8FEB743C77CC}"/>
                </a:ext>
              </a:extLst>
            </p:cNvPr>
            <p:cNvSpPr>
              <a:spLocks noEditPoints="1"/>
            </p:cNvSpPr>
            <p:nvPr/>
          </p:nvSpPr>
          <p:spPr bwMode="auto">
            <a:xfrm>
              <a:off x="829"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66" name="Freeform 38">
              <a:extLst>
                <a:ext uri="{FF2B5EF4-FFF2-40B4-BE49-F238E27FC236}">
                  <a16:creationId xmlns:a16="http://schemas.microsoft.com/office/drawing/2014/main" id="{DEAE42D4-9FAF-5D08-B292-D3C94105F80F}"/>
                </a:ext>
              </a:extLst>
            </p:cNvPr>
            <p:cNvSpPr>
              <a:spLocks noEditPoints="1"/>
            </p:cNvSpPr>
            <p:nvPr/>
          </p:nvSpPr>
          <p:spPr bwMode="auto">
            <a:xfrm>
              <a:off x="829"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67" name="Freeform 39">
              <a:extLst>
                <a:ext uri="{FF2B5EF4-FFF2-40B4-BE49-F238E27FC236}">
                  <a16:creationId xmlns:a16="http://schemas.microsoft.com/office/drawing/2014/main" id="{1BA3FC27-8956-0B54-7EA4-25EABFC9B43D}"/>
                </a:ext>
              </a:extLst>
            </p:cNvPr>
            <p:cNvSpPr>
              <a:spLocks noEditPoints="1"/>
            </p:cNvSpPr>
            <p:nvPr/>
          </p:nvSpPr>
          <p:spPr bwMode="auto">
            <a:xfrm>
              <a:off x="829"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68" name="Freeform 40">
              <a:extLst>
                <a:ext uri="{FF2B5EF4-FFF2-40B4-BE49-F238E27FC236}">
                  <a16:creationId xmlns:a16="http://schemas.microsoft.com/office/drawing/2014/main" id="{EF0FA460-36A2-FC51-C09C-912AE9840B4A}"/>
                </a:ext>
              </a:extLst>
            </p:cNvPr>
            <p:cNvSpPr>
              <a:spLocks noEditPoints="1"/>
            </p:cNvSpPr>
            <p:nvPr/>
          </p:nvSpPr>
          <p:spPr bwMode="auto">
            <a:xfrm>
              <a:off x="829"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69" name="Rectangle 41">
              <a:extLst>
                <a:ext uri="{FF2B5EF4-FFF2-40B4-BE49-F238E27FC236}">
                  <a16:creationId xmlns:a16="http://schemas.microsoft.com/office/drawing/2014/main" id="{A99DC723-52E4-394D-2953-370A318AD1EB}"/>
                </a:ext>
              </a:extLst>
            </p:cNvPr>
            <p:cNvSpPr>
              <a:spLocks noChangeArrowheads="1"/>
            </p:cNvSpPr>
            <p:nvPr/>
          </p:nvSpPr>
          <p:spPr bwMode="auto">
            <a:xfrm>
              <a:off x="829" y="4269"/>
              <a:ext cx="21"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170" name="Rectangle 42">
              <a:extLst>
                <a:ext uri="{FF2B5EF4-FFF2-40B4-BE49-F238E27FC236}">
                  <a16:creationId xmlns:a16="http://schemas.microsoft.com/office/drawing/2014/main" id="{3D7199C1-443B-0D24-87B1-621DDC85820B}"/>
                </a:ext>
              </a:extLst>
            </p:cNvPr>
            <p:cNvSpPr>
              <a:spLocks noChangeArrowheads="1"/>
            </p:cNvSpPr>
            <p:nvPr/>
          </p:nvSpPr>
          <p:spPr bwMode="auto">
            <a:xfrm>
              <a:off x="1279" y="23"/>
              <a:ext cx="21"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171" name="Freeform 43">
              <a:extLst>
                <a:ext uri="{FF2B5EF4-FFF2-40B4-BE49-F238E27FC236}">
                  <a16:creationId xmlns:a16="http://schemas.microsoft.com/office/drawing/2014/main" id="{33455505-1179-F6F6-7C3A-B9D261DD4E30}"/>
                </a:ext>
              </a:extLst>
            </p:cNvPr>
            <p:cNvSpPr>
              <a:spLocks noEditPoints="1"/>
            </p:cNvSpPr>
            <p:nvPr/>
          </p:nvSpPr>
          <p:spPr bwMode="auto">
            <a:xfrm>
              <a:off x="1279"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72" name="Freeform 44">
              <a:extLst>
                <a:ext uri="{FF2B5EF4-FFF2-40B4-BE49-F238E27FC236}">
                  <a16:creationId xmlns:a16="http://schemas.microsoft.com/office/drawing/2014/main" id="{02CD88CC-7A48-54BB-CA75-2F6F052BC203}"/>
                </a:ext>
              </a:extLst>
            </p:cNvPr>
            <p:cNvSpPr>
              <a:spLocks noEditPoints="1"/>
            </p:cNvSpPr>
            <p:nvPr/>
          </p:nvSpPr>
          <p:spPr bwMode="auto">
            <a:xfrm>
              <a:off x="1279"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73" name="Freeform 45">
              <a:extLst>
                <a:ext uri="{FF2B5EF4-FFF2-40B4-BE49-F238E27FC236}">
                  <a16:creationId xmlns:a16="http://schemas.microsoft.com/office/drawing/2014/main" id="{F321C8EA-948B-3F95-4F46-476458D555D9}"/>
                </a:ext>
              </a:extLst>
            </p:cNvPr>
            <p:cNvSpPr>
              <a:spLocks noEditPoints="1"/>
            </p:cNvSpPr>
            <p:nvPr/>
          </p:nvSpPr>
          <p:spPr bwMode="auto">
            <a:xfrm>
              <a:off x="1279"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74" name="Freeform 46">
              <a:extLst>
                <a:ext uri="{FF2B5EF4-FFF2-40B4-BE49-F238E27FC236}">
                  <a16:creationId xmlns:a16="http://schemas.microsoft.com/office/drawing/2014/main" id="{3FE0D6AC-F970-2B0D-7791-72C2C323FB82}"/>
                </a:ext>
              </a:extLst>
            </p:cNvPr>
            <p:cNvSpPr>
              <a:spLocks noEditPoints="1"/>
            </p:cNvSpPr>
            <p:nvPr/>
          </p:nvSpPr>
          <p:spPr bwMode="auto">
            <a:xfrm>
              <a:off x="1279"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75" name="Freeform 47">
              <a:extLst>
                <a:ext uri="{FF2B5EF4-FFF2-40B4-BE49-F238E27FC236}">
                  <a16:creationId xmlns:a16="http://schemas.microsoft.com/office/drawing/2014/main" id="{9511CDEC-2038-B8E5-56EB-B52D4F3FF4DC}"/>
                </a:ext>
              </a:extLst>
            </p:cNvPr>
            <p:cNvSpPr>
              <a:spLocks noEditPoints="1"/>
            </p:cNvSpPr>
            <p:nvPr/>
          </p:nvSpPr>
          <p:spPr bwMode="auto">
            <a:xfrm>
              <a:off x="1279"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76" name="Freeform 48">
              <a:extLst>
                <a:ext uri="{FF2B5EF4-FFF2-40B4-BE49-F238E27FC236}">
                  <a16:creationId xmlns:a16="http://schemas.microsoft.com/office/drawing/2014/main" id="{676FE95E-BAAB-C93E-173E-C0778F4935BE}"/>
                </a:ext>
              </a:extLst>
            </p:cNvPr>
            <p:cNvSpPr>
              <a:spLocks noEditPoints="1"/>
            </p:cNvSpPr>
            <p:nvPr/>
          </p:nvSpPr>
          <p:spPr bwMode="auto">
            <a:xfrm>
              <a:off x="1279"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77" name="Freeform 49">
              <a:extLst>
                <a:ext uri="{FF2B5EF4-FFF2-40B4-BE49-F238E27FC236}">
                  <a16:creationId xmlns:a16="http://schemas.microsoft.com/office/drawing/2014/main" id="{E6625B76-E115-A99B-7F47-5B93A8C25CE3}"/>
                </a:ext>
              </a:extLst>
            </p:cNvPr>
            <p:cNvSpPr>
              <a:spLocks noEditPoints="1"/>
            </p:cNvSpPr>
            <p:nvPr/>
          </p:nvSpPr>
          <p:spPr bwMode="auto">
            <a:xfrm>
              <a:off x="1279"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78" name="Freeform 50">
              <a:extLst>
                <a:ext uri="{FF2B5EF4-FFF2-40B4-BE49-F238E27FC236}">
                  <a16:creationId xmlns:a16="http://schemas.microsoft.com/office/drawing/2014/main" id="{F02F1F76-EB83-4F2C-BB04-E7897FA1DBB2}"/>
                </a:ext>
              </a:extLst>
            </p:cNvPr>
            <p:cNvSpPr>
              <a:spLocks noEditPoints="1"/>
            </p:cNvSpPr>
            <p:nvPr/>
          </p:nvSpPr>
          <p:spPr bwMode="auto">
            <a:xfrm>
              <a:off x="1279"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79" name="Freeform 51">
              <a:extLst>
                <a:ext uri="{FF2B5EF4-FFF2-40B4-BE49-F238E27FC236}">
                  <a16:creationId xmlns:a16="http://schemas.microsoft.com/office/drawing/2014/main" id="{6039EF32-84F8-422D-EC88-E612BCEEF87F}"/>
                </a:ext>
              </a:extLst>
            </p:cNvPr>
            <p:cNvSpPr>
              <a:spLocks noEditPoints="1"/>
            </p:cNvSpPr>
            <p:nvPr/>
          </p:nvSpPr>
          <p:spPr bwMode="auto">
            <a:xfrm>
              <a:off x="1279"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80" name="Freeform 52">
              <a:extLst>
                <a:ext uri="{FF2B5EF4-FFF2-40B4-BE49-F238E27FC236}">
                  <a16:creationId xmlns:a16="http://schemas.microsoft.com/office/drawing/2014/main" id="{97CF284E-91D3-58B6-CA5B-0130D63A0841}"/>
                </a:ext>
              </a:extLst>
            </p:cNvPr>
            <p:cNvSpPr>
              <a:spLocks noEditPoints="1"/>
            </p:cNvSpPr>
            <p:nvPr/>
          </p:nvSpPr>
          <p:spPr bwMode="auto">
            <a:xfrm>
              <a:off x="1279"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81" name="Rectangle 53">
              <a:extLst>
                <a:ext uri="{FF2B5EF4-FFF2-40B4-BE49-F238E27FC236}">
                  <a16:creationId xmlns:a16="http://schemas.microsoft.com/office/drawing/2014/main" id="{0D96AEA4-4D87-BECC-AEE2-43570E668189}"/>
                </a:ext>
              </a:extLst>
            </p:cNvPr>
            <p:cNvSpPr>
              <a:spLocks noChangeArrowheads="1"/>
            </p:cNvSpPr>
            <p:nvPr/>
          </p:nvSpPr>
          <p:spPr bwMode="auto">
            <a:xfrm>
              <a:off x="1279" y="4269"/>
              <a:ext cx="21"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182" name="Rectangle 54">
              <a:extLst>
                <a:ext uri="{FF2B5EF4-FFF2-40B4-BE49-F238E27FC236}">
                  <a16:creationId xmlns:a16="http://schemas.microsoft.com/office/drawing/2014/main" id="{FCEFC86F-8164-AB70-6529-FA75ED198E90}"/>
                </a:ext>
              </a:extLst>
            </p:cNvPr>
            <p:cNvSpPr>
              <a:spLocks noChangeArrowheads="1"/>
            </p:cNvSpPr>
            <p:nvPr/>
          </p:nvSpPr>
          <p:spPr bwMode="auto">
            <a:xfrm>
              <a:off x="1724" y="23"/>
              <a:ext cx="21"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183" name="Freeform 55">
              <a:extLst>
                <a:ext uri="{FF2B5EF4-FFF2-40B4-BE49-F238E27FC236}">
                  <a16:creationId xmlns:a16="http://schemas.microsoft.com/office/drawing/2014/main" id="{FE23E96B-02F5-9283-4213-49A844685047}"/>
                </a:ext>
              </a:extLst>
            </p:cNvPr>
            <p:cNvSpPr>
              <a:spLocks noEditPoints="1"/>
            </p:cNvSpPr>
            <p:nvPr/>
          </p:nvSpPr>
          <p:spPr bwMode="auto">
            <a:xfrm>
              <a:off x="1724"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84" name="Freeform 56">
              <a:extLst>
                <a:ext uri="{FF2B5EF4-FFF2-40B4-BE49-F238E27FC236}">
                  <a16:creationId xmlns:a16="http://schemas.microsoft.com/office/drawing/2014/main" id="{DB6374A8-C8D8-EEF0-FB98-922EE06D5392}"/>
                </a:ext>
              </a:extLst>
            </p:cNvPr>
            <p:cNvSpPr>
              <a:spLocks noEditPoints="1"/>
            </p:cNvSpPr>
            <p:nvPr/>
          </p:nvSpPr>
          <p:spPr bwMode="auto">
            <a:xfrm>
              <a:off x="1724"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85" name="Freeform 57">
              <a:extLst>
                <a:ext uri="{FF2B5EF4-FFF2-40B4-BE49-F238E27FC236}">
                  <a16:creationId xmlns:a16="http://schemas.microsoft.com/office/drawing/2014/main" id="{4C489FDB-FFB2-695B-078F-BA0711C0E1C9}"/>
                </a:ext>
              </a:extLst>
            </p:cNvPr>
            <p:cNvSpPr>
              <a:spLocks noEditPoints="1"/>
            </p:cNvSpPr>
            <p:nvPr/>
          </p:nvSpPr>
          <p:spPr bwMode="auto">
            <a:xfrm>
              <a:off x="1724"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86" name="Freeform 58">
              <a:extLst>
                <a:ext uri="{FF2B5EF4-FFF2-40B4-BE49-F238E27FC236}">
                  <a16:creationId xmlns:a16="http://schemas.microsoft.com/office/drawing/2014/main" id="{D5A1FB71-1A5F-BAA0-ADFF-7F9CDE12B510}"/>
                </a:ext>
              </a:extLst>
            </p:cNvPr>
            <p:cNvSpPr>
              <a:spLocks noEditPoints="1"/>
            </p:cNvSpPr>
            <p:nvPr/>
          </p:nvSpPr>
          <p:spPr bwMode="auto">
            <a:xfrm>
              <a:off x="1724"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87" name="Freeform 59">
              <a:extLst>
                <a:ext uri="{FF2B5EF4-FFF2-40B4-BE49-F238E27FC236}">
                  <a16:creationId xmlns:a16="http://schemas.microsoft.com/office/drawing/2014/main" id="{9C357747-F7E5-319F-2AB9-691C2A745B25}"/>
                </a:ext>
              </a:extLst>
            </p:cNvPr>
            <p:cNvSpPr>
              <a:spLocks noEditPoints="1"/>
            </p:cNvSpPr>
            <p:nvPr/>
          </p:nvSpPr>
          <p:spPr bwMode="auto">
            <a:xfrm>
              <a:off x="1724"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88" name="Freeform 60">
              <a:extLst>
                <a:ext uri="{FF2B5EF4-FFF2-40B4-BE49-F238E27FC236}">
                  <a16:creationId xmlns:a16="http://schemas.microsoft.com/office/drawing/2014/main" id="{B3EDED32-9DCF-BEE2-901C-9E685A3112DC}"/>
                </a:ext>
              </a:extLst>
            </p:cNvPr>
            <p:cNvSpPr>
              <a:spLocks noEditPoints="1"/>
            </p:cNvSpPr>
            <p:nvPr/>
          </p:nvSpPr>
          <p:spPr bwMode="auto">
            <a:xfrm>
              <a:off x="1724"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89" name="Freeform 61">
              <a:extLst>
                <a:ext uri="{FF2B5EF4-FFF2-40B4-BE49-F238E27FC236}">
                  <a16:creationId xmlns:a16="http://schemas.microsoft.com/office/drawing/2014/main" id="{A1087F2E-C25C-F37C-B700-D2E46A9A880D}"/>
                </a:ext>
              </a:extLst>
            </p:cNvPr>
            <p:cNvSpPr>
              <a:spLocks noEditPoints="1"/>
            </p:cNvSpPr>
            <p:nvPr/>
          </p:nvSpPr>
          <p:spPr bwMode="auto">
            <a:xfrm>
              <a:off x="1724"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90" name="Freeform 62">
              <a:extLst>
                <a:ext uri="{FF2B5EF4-FFF2-40B4-BE49-F238E27FC236}">
                  <a16:creationId xmlns:a16="http://schemas.microsoft.com/office/drawing/2014/main" id="{EDC1866B-DEEF-74E6-0684-3E89759E3E71}"/>
                </a:ext>
              </a:extLst>
            </p:cNvPr>
            <p:cNvSpPr>
              <a:spLocks noEditPoints="1"/>
            </p:cNvSpPr>
            <p:nvPr/>
          </p:nvSpPr>
          <p:spPr bwMode="auto">
            <a:xfrm>
              <a:off x="1724"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91" name="Freeform 63">
              <a:extLst>
                <a:ext uri="{FF2B5EF4-FFF2-40B4-BE49-F238E27FC236}">
                  <a16:creationId xmlns:a16="http://schemas.microsoft.com/office/drawing/2014/main" id="{DC2F9C9D-3885-8C71-65A3-5D92378B53E5}"/>
                </a:ext>
              </a:extLst>
            </p:cNvPr>
            <p:cNvSpPr>
              <a:spLocks noEditPoints="1"/>
            </p:cNvSpPr>
            <p:nvPr/>
          </p:nvSpPr>
          <p:spPr bwMode="auto">
            <a:xfrm>
              <a:off x="1724"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92" name="Freeform 64">
              <a:extLst>
                <a:ext uri="{FF2B5EF4-FFF2-40B4-BE49-F238E27FC236}">
                  <a16:creationId xmlns:a16="http://schemas.microsoft.com/office/drawing/2014/main" id="{7CD48B4B-DD97-E773-37C3-23538480E729}"/>
                </a:ext>
              </a:extLst>
            </p:cNvPr>
            <p:cNvSpPr>
              <a:spLocks noEditPoints="1"/>
            </p:cNvSpPr>
            <p:nvPr/>
          </p:nvSpPr>
          <p:spPr bwMode="auto">
            <a:xfrm>
              <a:off x="1724"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93" name="Rectangle 65">
              <a:extLst>
                <a:ext uri="{FF2B5EF4-FFF2-40B4-BE49-F238E27FC236}">
                  <a16:creationId xmlns:a16="http://schemas.microsoft.com/office/drawing/2014/main" id="{86565E80-CC6C-0844-3BE4-84B49A2CA76B}"/>
                </a:ext>
              </a:extLst>
            </p:cNvPr>
            <p:cNvSpPr>
              <a:spLocks noChangeArrowheads="1"/>
            </p:cNvSpPr>
            <p:nvPr/>
          </p:nvSpPr>
          <p:spPr bwMode="auto">
            <a:xfrm>
              <a:off x="1724" y="4269"/>
              <a:ext cx="21"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194" name="Rectangle 66">
              <a:extLst>
                <a:ext uri="{FF2B5EF4-FFF2-40B4-BE49-F238E27FC236}">
                  <a16:creationId xmlns:a16="http://schemas.microsoft.com/office/drawing/2014/main" id="{B77BA58C-DAA1-C21E-3952-9B55A6DE3A8A}"/>
                </a:ext>
              </a:extLst>
            </p:cNvPr>
            <p:cNvSpPr>
              <a:spLocks noChangeArrowheads="1"/>
            </p:cNvSpPr>
            <p:nvPr/>
          </p:nvSpPr>
          <p:spPr bwMode="auto">
            <a:xfrm>
              <a:off x="2169" y="23"/>
              <a:ext cx="21"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195" name="Freeform 67">
              <a:extLst>
                <a:ext uri="{FF2B5EF4-FFF2-40B4-BE49-F238E27FC236}">
                  <a16:creationId xmlns:a16="http://schemas.microsoft.com/office/drawing/2014/main" id="{F317EC2B-93A0-8C46-AAD7-8D847E2F5132}"/>
                </a:ext>
              </a:extLst>
            </p:cNvPr>
            <p:cNvSpPr>
              <a:spLocks noEditPoints="1"/>
            </p:cNvSpPr>
            <p:nvPr/>
          </p:nvSpPr>
          <p:spPr bwMode="auto">
            <a:xfrm>
              <a:off x="2169"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96" name="Freeform 68">
              <a:extLst>
                <a:ext uri="{FF2B5EF4-FFF2-40B4-BE49-F238E27FC236}">
                  <a16:creationId xmlns:a16="http://schemas.microsoft.com/office/drawing/2014/main" id="{E296CE5F-1335-72AB-F2C2-4D7204303017}"/>
                </a:ext>
              </a:extLst>
            </p:cNvPr>
            <p:cNvSpPr>
              <a:spLocks noEditPoints="1"/>
            </p:cNvSpPr>
            <p:nvPr/>
          </p:nvSpPr>
          <p:spPr bwMode="auto">
            <a:xfrm>
              <a:off x="2169"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97" name="Freeform 69">
              <a:extLst>
                <a:ext uri="{FF2B5EF4-FFF2-40B4-BE49-F238E27FC236}">
                  <a16:creationId xmlns:a16="http://schemas.microsoft.com/office/drawing/2014/main" id="{DD99B490-E6F8-AFAE-17C8-EC75FBE6DF09}"/>
                </a:ext>
              </a:extLst>
            </p:cNvPr>
            <p:cNvSpPr>
              <a:spLocks noEditPoints="1"/>
            </p:cNvSpPr>
            <p:nvPr/>
          </p:nvSpPr>
          <p:spPr bwMode="auto">
            <a:xfrm>
              <a:off x="2169"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98" name="Freeform 70">
              <a:extLst>
                <a:ext uri="{FF2B5EF4-FFF2-40B4-BE49-F238E27FC236}">
                  <a16:creationId xmlns:a16="http://schemas.microsoft.com/office/drawing/2014/main" id="{174D4D77-995E-F002-6A9F-B96B10DFF308}"/>
                </a:ext>
              </a:extLst>
            </p:cNvPr>
            <p:cNvSpPr>
              <a:spLocks noEditPoints="1"/>
            </p:cNvSpPr>
            <p:nvPr/>
          </p:nvSpPr>
          <p:spPr bwMode="auto">
            <a:xfrm>
              <a:off x="2169"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199" name="Freeform 71">
              <a:extLst>
                <a:ext uri="{FF2B5EF4-FFF2-40B4-BE49-F238E27FC236}">
                  <a16:creationId xmlns:a16="http://schemas.microsoft.com/office/drawing/2014/main" id="{2F997BF4-7F18-D7EC-881D-8C02373900F5}"/>
                </a:ext>
              </a:extLst>
            </p:cNvPr>
            <p:cNvSpPr>
              <a:spLocks noEditPoints="1"/>
            </p:cNvSpPr>
            <p:nvPr/>
          </p:nvSpPr>
          <p:spPr bwMode="auto">
            <a:xfrm>
              <a:off x="2169"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00" name="Freeform 72">
              <a:extLst>
                <a:ext uri="{FF2B5EF4-FFF2-40B4-BE49-F238E27FC236}">
                  <a16:creationId xmlns:a16="http://schemas.microsoft.com/office/drawing/2014/main" id="{29E41E7C-61DB-7929-D3F0-40026C503054}"/>
                </a:ext>
              </a:extLst>
            </p:cNvPr>
            <p:cNvSpPr>
              <a:spLocks noEditPoints="1"/>
            </p:cNvSpPr>
            <p:nvPr/>
          </p:nvSpPr>
          <p:spPr bwMode="auto">
            <a:xfrm>
              <a:off x="2169"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01" name="Freeform 73">
              <a:extLst>
                <a:ext uri="{FF2B5EF4-FFF2-40B4-BE49-F238E27FC236}">
                  <a16:creationId xmlns:a16="http://schemas.microsoft.com/office/drawing/2014/main" id="{2432A32F-C10D-6958-1C08-B3D576CEA80A}"/>
                </a:ext>
              </a:extLst>
            </p:cNvPr>
            <p:cNvSpPr>
              <a:spLocks noEditPoints="1"/>
            </p:cNvSpPr>
            <p:nvPr/>
          </p:nvSpPr>
          <p:spPr bwMode="auto">
            <a:xfrm>
              <a:off x="2169"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02" name="Freeform 74">
              <a:extLst>
                <a:ext uri="{FF2B5EF4-FFF2-40B4-BE49-F238E27FC236}">
                  <a16:creationId xmlns:a16="http://schemas.microsoft.com/office/drawing/2014/main" id="{10FDBADA-F321-8409-763E-F9BB58E060E2}"/>
                </a:ext>
              </a:extLst>
            </p:cNvPr>
            <p:cNvSpPr>
              <a:spLocks noEditPoints="1"/>
            </p:cNvSpPr>
            <p:nvPr/>
          </p:nvSpPr>
          <p:spPr bwMode="auto">
            <a:xfrm>
              <a:off x="2169"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03" name="Freeform 75">
              <a:extLst>
                <a:ext uri="{FF2B5EF4-FFF2-40B4-BE49-F238E27FC236}">
                  <a16:creationId xmlns:a16="http://schemas.microsoft.com/office/drawing/2014/main" id="{86E5826E-F3E5-3562-CE34-8438B244881B}"/>
                </a:ext>
              </a:extLst>
            </p:cNvPr>
            <p:cNvSpPr>
              <a:spLocks noEditPoints="1"/>
            </p:cNvSpPr>
            <p:nvPr/>
          </p:nvSpPr>
          <p:spPr bwMode="auto">
            <a:xfrm>
              <a:off x="2169"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04" name="Freeform 76">
              <a:extLst>
                <a:ext uri="{FF2B5EF4-FFF2-40B4-BE49-F238E27FC236}">
                  <a16:creationId xmlns:a16="http://schemas.microsoft.com/office/drawing/2014/main" id="{F778DAB0-8172-C542-26A6-5E7AC7459314}"/>
                </a:ext>
              </a:extLst>
            </p:cNvPr>
            <p:cNvSpPr>
              <a:spLocks noEditPoints="1"/>
            </p:cNvSpPr>
            <p:nvPr/>
          </p:nvSpPr>
          <p:spPr bwMode="auto">
            <a:xfrm>
              <a:off x="2169"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05" name="Rectangle 77">
              <a:extLst>
                <a:ext uri="{FF2B5EF4-FFF2-40B4-BE49-F238E27FC236}">
                  <a16:creationId xmlns:a16="http://schemas.microsoft.com/office/drawing/2014/main" id="{D98D8A74-13CD-6047-D3A3-F8866653A2BB}"/>
                </a:ext>
              </a:extLst>
            </p:cNvPr>
            <p:cNvSpPr>
              <a:spLocks noChangeArrowheads="1"/>
            </p:cNvSpPr>
            <p:nvPr/>
          </p:nvSpPr>
          <p:spPr bwMode="auto">
            <a:xfrm>
              <a:off x="2169" y="4269"/>
              <a:ext cx="21"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206" name="Rectangle 78">
              <a:extLst>
                <a:ext uri="{FF2B5EF4-FFF2-40B4-BE49-F238E27FC236}">
                  <a16:creationId xmlns:a16="http://schemas.microsoft.com/office/drawing/2014/main" id="{F11C2FEF-C67B-A6CF-AF88-8700F464CDAE}"/>
                </a:ext>
              </a:extLst>
            </p:cNvPr>
            <p:cNvSpPr>
              <a:spLocks noChangeArrowheads="1"/>
            </p:cNvSpPr>
            <p:nvPr/>
          </p:nvSpPr>
          <p:spPr bwMode="auto">
            <a:xfrm>
              <a:off x="2620" y="23"/>
              <a:ext cx="20"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207" name="Freeform 79">
              <a:extLst>
                <a:ext uri="{FF2B5EF4-FFF2-40B4-BE49-F238E27FC236}">
                  <a16:creationId xmlns:a16="http://schemas.microsoft.com/office/drawing/2014/main" id="{56B05422-5E71-3E7C-11F2-CF470BC6B39B}"/>
                </a:ext>
              </a:extLst>
            </p:cNvPr>
            <p:cNvSpPr>
              <a:spLocks noEditPoints="1"/>
            </p:cNvSpPr>
            <p:nvPr/>
          </p:nvSpPr>
          <p:spPr bwMode="auto">
            <a:xfrm>
              <a:off x="262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08" name="Freeform 80">
              <a:extLst>
                <a:ext uri="{FF2B5EF4-FFF2-40B4-BE49-F238E27FC236}">
                  <a16:creationId xmlns:a16="http://schemas.microsoft.com/office/drawing/2014/main" id="{B18C1FA1-CDF1-3F1A-7811-D26DE065FF46}"/>
                </a:ext>
              </a:extLst>
            </p:cNvPr>
            <p:cNvSpPr>
              <a:spLocks noEditPoints="1"/>
            </p:cNvSpPr>
            <p:nvPr/>
          </p:nvSpPr>
          <p:spPr bwMode="auto">
            <a:xfrm>
              <a:off x="262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09" name="Freeform 81">
              <a:extLst>
                <a:ext uri="{FF2B5EF4-FFF2-40B4-BE49-F238E27FC236}">
                  <a16:creationId xmlns:a16="http://schemas.microsoft.com/office/drawing/2014/main" id="{EE80F7C9-BA16-6AEA-10CA-C65182F0E6A4}"/>
                </a:ext>
              </a:extLst>
            </p:cNvPr>
            <p:cNvSpPr>
              <a:spLocks noEditPoints="1"/>
            </p:cNvSpPr>
            <p:nvPr/>
          </p:nvSpPr>
          <p:spPr bwMode="auto">
            <a:xfrm>
              <a:off x="262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10" name="Freeform 82">
              <a:extLst>
                <a:ext uri="{FF2B5EF4-FFF2-40B4-BE49-F238E27FC236}">
                  <a16:creationId xmlns:a16="http://schemas.microsoft.com/office/drawing/2014/main" id="{C1C3D255-F04B-8145-A6EB-A6C4407A0FE6}"/>
                </a:ext>
              </a:extLst>
            </p:cNvPr>
            <p:cNvSpPr>
              <a:spLocks noEditPoints="1"/>
            </p:cNvSpPr>
            <p:nvPr/>
          </p:nvSpPr>
          <p:spPr bwMode="auto">
            <a:xfrm>
              <a:off x="262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11" name="Freeform 83">
              <a:extLst>
                <a:ext uri="{FF2B5EF4-FFF2-40B4-BE49-F238E27FC236}">
                  <a16:creationId xmlns:a16="http://schemas.microsoft.com/office/drawing/2014/main" id="{59643CD8-3BFF-ECDD-9F8D-44A701F9B2F4}"/>
                </a:ext>
              </a:extLst>
            </p:cNvPr>
            <p:cNvSpPr>
              <a:spLocks noEditPoints="1"/>
            </p:cNvSpPr>
            <p:nvPr/>
          </p:nvSpPr>
          <p:spPr bwMode="auto">
            <a:xfrm>
              <a:off x="262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12" name="Freeform 84">
              <a:extLst>
                <a:ext uri="{FF2B5EF4-FFF2-40B4-BE49-F238E27FC236}">
                  <a16:creationId xmlns:a16="http://schemas.microsoft.com/office/drawing/2014/main" id="{C8D8B711-6AED-613C-4607-0FA2A241ACFB}"/>
                </a:ext>
              </a:extLst>
            </p:cNvPr>
            <p:cNvSpPr>
              <a:spLocks noEditPoints="1"/>
            </p:cNvSpPr>
            <p:nvPr/>
          </p:nvSpPr>
          <p:spPr bwMode="auto">
            <a:xfrm>
              <a:off x="262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13" name="Freeform 85">
              <a:extLst>
                <a:ext uri="{FF2B5EF4-FFF2-40B4-BE49-F238E27FC236}">
                  <a16:creationId xmlns:a16="http://schemas.microsoft.com/office/drawing/2014/main" id="{945A721C-621B-CE56-BC91-F721150ADA89}"/>
                </a:ext>
              </a:extLst>
            </p:cNvPr>
            <p:cNvSpPr>
              <a:spLocks noEditPoints="1"/>
            </p:cNvSpPr>
            <p:nvPr/>
          </p:nvSpPr>
          <p:spPr bwMode="auto">
            <a:xfrm>
              <a:off x="262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14" name="Freeform 86">
              <a:extLst>
                <a:ext uri="{FF2B5EF4-FFF2-40B4-BE49-F238E27FC236}">
                  <a16:creationId xmlns:a16="http://schemas.microsoft.com/office/drawing/2014/main" id="{E91E6819-C813-9DFE-D819-11C5C6E1AD48}"/>
                </a:ext>
              </a:extLst>
            </p:cNvPr>
            <p:cNvSpPr>
              <a:spLocks noEditPoints="1"/>
            </p:cNvSpPr>
            <p:nvPr/>
          </p:nvSpPr>
          <p:spPr bwMode="auto">
            <a:xfrm>
              <a:off x="262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15" name="Freeform 87">
              <a:extLst>
                <a:ext uri="{FF2B5EF4-FFF2-40B4-BE49-F238E27FC236}">
                  <a16:creationId xmlns:a16="http://schemas.microsoft.com/office/drawing/2014/main" id="{2BC90E8E-3B75-16EA-AF5E-BB7C69F95E5D}"/>
                </a:ext>
              </a:extLst>
            </p:cNvPr>
            <p:cNvSpPr>
              <a:spLocks noEditPoints="1"/>
            </p:cNvSpPr>
            <p:nvPr/>
          </p:nvSpPr>
          <p:spPr bwMode="auto">
            <a:xfrm>
              <a:off x="262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16" name="Freeform 88">
              <a:extLst>
                <a:ext uri="{FF2B5EF4-FFF2-40B4-BE49-F238E27FC236}">
                  <a16:creationId xmlns:a16="http://schemas.microsoft.com/office/drawing/2014/main" id="{21BC49CD-0F75-7FA4-2C34-D79DA22F15ED}"/>
                </a:ext>
              </a:extLst>
            </p:cNvPr>
            <p:cNvSpPr>
              <a:spLocks noEditPoints="1"/>
            </p:cNvSpPr>
            <p:nvPr/>
          </p:nvSpPr>
          <p:spPr bwMode="auto">
            <a:xfrm>
              <a:off x="262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17" name="Rectangle 89">
              <a:extLst>
                <a:ext uri="{FF2B5EF4-FFF2-40B4-BE49-F238E27FC236}">
                  <a16:creationId xmlns:a16="http://schemas.microsoft.com/office/drawing/2014/main" id="{FBFD0E3D-62FA-E1C1-F8E5-2A71D470F397}"/>
                </a:ext>
              </a:extLst>
            </p:cNvPr>
            <p:cNvSpPr>
              <a:spLocks noChangeArrowheads="1"/>
            </p:cNvSpPr>
            <p:nvPr/>
          </p:nvSpPr>
          <p:spPr bwMode="auto">
            <a:xfrm>
              <a:off x="2620" y="4269"/>
              <a:ext cx="20"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218" name="Rectangle 90">
              <a:extLst>
                <a:ext uri="{FF2B5EF4-FFF2-40B4-BE49-F238E27FC236}">
                  <a16:creationId xmlns:a16="http://schemas.microsoft.com/office/drawing/2014/main" id="{77900311-8C07-4E18-73B5-D5F1F153C936}"/>
                </a:ext>
              </a:extLst>
            </p:cNvPr>
            <p:cNvSpPr>
              <a:spLocks noChangeArrowheads="1"/>
            </p:cNvSpPr>
            <p:nvPr/>
          </p:nvSpPr>
          <p:spPr bwMode="auto">
            <a:xfrm>
              <a:off x="3065" y="23"/>
              <a:ext cx="20"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219" name="Freeform 91">
              <a:extLst>
                <a:ext uri="{FF2B5EF4-FFF2-40B4-BE49-F238E27FC236}">
                  <a16:creationId xmlns:a16="http://schemas.microsoft.com/office/drawing/2014/main" id="{FA0E225E-B353-EBF6-B0D0-34A2FE682512}"/>
                </a:ext>
              </a:extLst>
            </p:cNvPr>
            <p:cNvSpPr>
              <a:spLocks noEditPoints="1"/>
            </p:cNvSpPr>
            <p:nvPr/>
          </p:nvSpPr>
          <p:spPr bwMode="auto">
            <a:xfrm>
              <a:off x="3065"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20" name="Freeform 92">
              <a:extLst>
                <a:ext uri="{FF2B5EF4-FFF2-40B4-BE49-F238E27FC236}">
                  <a16:creationId xmlns:a16="http://schemas.microsoft.com/office/drawing/2014/main" id="{A25AFC14-F75E-0A0C-44FB-F55D72F9B4DB}"/>
                </a:ext>
              </a:extLst>
            </p:cNvPr>
            <p:cNvSpPr>
              <a:spLocks noEditPoints="1"/>
            </p:cNvSpPr>
            <p:nvPr/>
          </p:nvSpPr>
          <p:spPr bwMode="auto">
            <a:xfrm>
              <a:off x="3065"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21" name="Freeform 93">
              <a:extLst>
                <a:ext uri="{FF2B5EF4-FFF2-40B4-BE49-F238E27FC236}">
                  <a16:creationId xmlns:a16="http://schemas.microsoft.com/office/drawing/2014/main" id="{401A3055-A360-E995-B734-5DB07F2EFE44}"/>
                </a:ext>
              </a:extLst>
            </p:cNvPr>
            <p:cNvSpPr>
              <a:spLocks noEditPoints="1"/>
            </p:cNvSpPr>
            <p:nvPr/>
          </p:nvSpPr>
          <p:spPr bwMode="auto">
            <a:xfrm>
              <a:off x="3065"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22" name="Freeform 94">
              <a:extLst>
                <a:ext uri="{FF2B5EF4-FFF2-40B4-BE49-F238E27FC236}">
                  <a16:creationId xmlns:a16="http://schemas.microsoft.com/office/drawing/2014/main" id="{A583328A-D8F0-7A9E-2052-D8C13D17A33F}"/>
                </a:ext>
              </a:extLst>
            </p:cNvPr>
            <p:cNvSpPr>
              <a:spLocks noEditPoints="1"/>
            </p:cNvSpPr>
            <p:nvPr/>
          </p:nvSpPr>
          <p:spPr bwMode="auto">
            <a:xfrm>
              <a:off x="3065"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23" name="Freeform 95">
              <a:extLst>
                <a:ext uri="{FF2B5EF4-FFF2-40B4-BE49-F238E27FC236}">
                  <a16:creationId xmlns:a16="http://schemas.microsoft.com/office/drawing/2014/main" id="{194DDD25-9826-CE38-EB21-27B1D9401E33}"/>
                </a:ext>
              </a:extLst>
            </p:cNvPr>
            <p:cNvSpPr>
              <a:spLocks noEditPoints="1"/>
            </p:cNvSpPr>
            <p:nvPr/>
          </p:nvSpPr>
          <p:spPr bwMode="auto">
            <a:xfrm>
              <a:off x="3065"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24" name="Freeform 96">
              <a:extLst>
                <a:ext uri="{FF2B5EF4-FFF2-40B4-BE49-F238E27FC236}">
                  <a16:creationId xmlns:a16="http://schemas.microsoft.com/office/drawing/2014/main" id="{3BFE3771-5C34-34A6-DF14-9A4175B3A3CF}"/>
                </a:ext>
              </a:extLst>
            </p:cNvPr>
            <p:cNvSpPr>
              <a:spLocks noEditPoints="1"/>
            </p:cNvSpPr>
            <p:nvPr/>
          </p:nvSpPr>
          <p:spPr bwMode="auto">
            <a:xfrm>
              <a:off x="3065"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25" name="Freeform 97">
              <a:extLst>
                <a:ext uri="{FF2B5EF4-FFF2-40B4-BE49-F238E27FC236}">
                  <a16:creationId xmlns:a16="http://schemas.microsoft.com/office/drawing/2014/main" id="{99C7F165-4F9A-C775-A93D-FC05F905CDDE}"/>
                </a:ext>
              </a:extLst>
            </p:cNvPr>
            <p:cNvSpPr>
              <a:spLocks noEditPoints="1"/>
            </p:cNvSpPr>
            <p:nvPr/>
          </p:nvSpPr>
          <p:spPr bwMode="auto">
            <a:xfrm>
              <a:off x="3065"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26" name="Freeform 98">
              <a:extLst>
                <a:ext uri="{FF2B5EF4-FFF2-40B4-BE49-F238E27FC236}">
                  <a16:creationId xmlns:a16="http://schemas.microsoft.com/office/drawing/2014/main" id="{666995A0-0994-B148-9336-3241B8DC1C0B}"/>
                </a:ext>
              </a:extLst>
            </p:cNvPr>
            <p:cNvSpPr>
              <a:spLocks noEditPoints="1"/>
            </p:cNvSpPr>
            <p:nvPr/>
          </p:nvSpPr>
          <p:spPr bwMode="auto">
            <a:xfrm>
              <a:off x="3065"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27" name="Freeform 99">
              <a:extLst>
                <a:ext uri="{FF2B5EF4-FFF2-40B4-BE49-F238E27FC236}">
                  <a16:creationId xmlns:a16="http://schemas.microsoft.com/office/drawing/2014/main" id="{AB34F289-13C5-2251-7894-6BE19B5EC3B0}"/>
                </a:ext>
              </a:extLst>
            </p:cNvPr>
            <p:cNvSpPr>
              <a:spLocks noEditPoints="1"/>
            </p:cNvSpPr>
            <p:nvPr/>
          </p:nvSpPr>
          <p:spPr bwMode="auto">
            <a:xfrm>
              <a:off x="3065"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28" name="Freeform 100">
              <a:extLst>
                <a:ext uri="{FF2B5EF4-FFF2-40B4-BE49-F238E27FC236}">
                  <a16:creationId xmlns:a16="http://schemas.microsoft.com/office/drawing/2014/main" id="{306FF636-6987-4D1D-742F-C8AAC2C57ABD}"/>
                </a:ext>
              </a:extLst>
            </p:cNvPr>
            <p:cNvSpPr>
              <a:spLocks noEditPoints="1"/>
            </p:cNvSpPr>
            <p:nvPr/>
          </p:nvSpPr>
          <p:spPr bwMode="auto">
            <a:xfrm>
              <a:off x="3065"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29" name="Rectangle 101">
              <a:extLst>
                <a:ext uri="{FF2B5EF4-FFF2-40B4-BE49-F238E27FC236}">
                  <a16:creationId xmlns:a16="http://schemas.microsoft.com/office/drawing/2014/main" id="{F7D0385D-D17A-DD36-9C3C-9448C1C297E5}"/>
                </a:ext>
              </a:extLst>
            </p:cNvPr>
            <p:cNvSpPr>
              <a:spLocks noChangeArrowheads="1"/>
            </p:cNvSpPr>
            <p:nvPr/>
          </p:nvSpPr>
          <p:spPr bwMode="auto">
            <a:xfrm>
              <a:off x="3065" y="4269"/>
              <a:ext cx="20"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230" name="Rectangle 102">
              <a:extLst>
                <a:ext uri="{FF2B5EF4-FFF2-40B4-BE49-F238E27FC236}">
                  <a16:creationId xmlns:a16="http://schemas.microsoft.com/office/drawing/2014/main" id="{31E3D414-76DF-E614-00AB-BDB5A3EBCE84}"/>
                </a:ext>
              </a:extLst>
            </p:cNvPr>
            <p:cNvSpPr>
              <a:spLocks noChangeArrowheads="1"/>
            </p:cNvSpPr>
            <p:nvPr/>
          </p:nvSpPr>
          <p:spPr bwMode="auto">
            <a:xfrm>
              <a:off x="3510" y="23"/>
              <a:ext cx="20"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231" name="Freeform 103">
              <a:extLst>
                <a:ext uri="{FF2B5EF4-FFF2-40B4-BE49-F238E27FC236}">
                  <a16:creationId xmlns:a16="http://schemas.microsoft.com/office/drawing/2014/main" id="{97D92705-B126-0C06-08C0-EB83EFD711FA}"/>
                </a:ext>
              </a:extLst>
            </p:cNvPr>
            <p:cNvSpPr>
              <a:spLocks noEditPoints="1"/>
            </p:cNvSpPr>
            <p:nvPr/>
          </p:nvSpPr>
          <p:spPr bwMode="auto">
            <a:xfrm>
              <a:off x="351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32" name="Freeform 104">
              <a:extLst>
                <a:ext uri="{FF2B5EF4-FFF2-40B4-BE49-F238E27FC236}">
                  <a16:creationId xmlns:a16="http://schemas.microsoft.com/office/drawing/2014/main" id="{9E6ADB4A-C268-308E-F3BD-D5E815AA746A}"/>
                </a:ext>
              </a:extLst>
            </p:cNvPr>
            <p:cNvSpPr>
              <a:spLocks noEditPoints="1"/>
            </p:cNvSpPr>
            <p:nvPr/>
          </p:nvSpPr>
          <p:spPr bwMode="auto">
            <a:xfrm>
              <a:off x="351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33" name="Freeform 105">
              <a:extLst>
                <a:ext uri="{FF2B5EF4-FFF2-40B4-BE49-F238E27FC236}">
                  <a16:creationId xmlns:a16="http://schemas.microsoft.com/office/drawing/2014/main" id="{ED91FCA7-B6AC-16D7-BB8A-144F5A419D5A}"/>
                </a:ext>
              </a:extLst>
            </p:cNvPr>
            <p:cNvSpPr>
              <a:spLocks noEditPoints="1"/>
            </p:cNvSpPr>
            <p:nvPr/>
          </p:nvSpPr>
          <p:spPr bwMode="auto">
            <a:xfrm>
              <a:off x="351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34" name="Freeform 106">
              <a:extLst>
                <a:ext uri="{FF2B5EF4-FFF2-40B4-BE49-F238E27FC236}">
                  <a16:creationId xmlns:a16="http://schemas.microsoft.com/office/drawing/2014/main" id="{21AC0365-A2CC-602F-CEEA-5B4FB3DAEFA2}"/>
                </a:ext>
              </a:extLst>
            </p:cNvPr>
            <p:cNvSpPr>
              <a:spLocks noEditPoints="1"/>
            </p:cNvSpPr>
            <p:nvPr/>
          </p:nvSpPr>
          <p:spPr bwMode="auto">
            <a:xfrm>
              <a:off x="351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35" name="Freeform 107">
              <a:extLst>
                <a:ext uri="{FF2B5EF4-FFF2-40B4-BE49-F238E27FC236}">
                  <a16:creationId xmlns:a16="http://schemas.microsoft.com/office/drawing/2014/main" id="{154386CD-8A4E-E74F-E40C-8F832C994F0F}"/>
                </a:ext>
              </a:extLst>
            </p:cNvPr>
            <p:cNvSpPr>
              <a:spLocks noEditPoints="1"/>
            </p:cNvSpPr>
            <p:nvPr/>
          </p:nvSpPr>
          <p:spPr bwMode="auto">
            <a:xfrm>
              <a:off x="351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36" name="Freeform 108">
              <a:extLst>
                <a:ext uri="{FF2B5EF4-FFF2-40B4-BE49-F238E27FC236}">
                  <a16:creationId xmlns:a16="http://schemas.microsoft.com/office/drawing/2014/main" id="{8CED9432-D485-D1A9-3AEC-FF012830655C}"/>
                </a:ext>
              </a:extLst>
            </p:cNvPr>
            <p:cNvSpPr>
              <a:spLocks noEditPoints="1"/>
            </p:cNvSpPr>
            <p:nvPr/>
          </p:nvSpPr>
          <p:spPr bwMode="auto">
            <a:xfrm>
              <a:off x="351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37" name="Freeform 109">
              <a:extLst>
                <a:ext uri="{FF2B5EF4-FFF2-40B4-BE49-F238E27FC236}">
                  <a16:creationId xmlns:a16="http://schemas.microsoft.com/office/drawing/2014/main" id="{359A7027-C07E-7F1E-56B7-67500FA7C665}"/>
                </a:ext>
              </a:extLst>
            </p:cNvPr>
            <p:cNvSpPr>
              <a:spLocks noEditPoints="1"/>
            </p:cNvSpPr>
            <p:nvPr/>
          </p:nvSpPr>
          <p:spPr bwMode="auto">
            <a:xfrm>
              <a:off x="351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38" name="Freeform 110">
              <a:extLst>
                <a:ext uri="{FF2B5EF4-FFF2-40B4-BE49-F238E27FC236}">
                  <a16:creationId xmlns:a16="http://schemas.microsoft.com/office/drawing/2014/main" id="{9956C8CB-7B56-DA36-ACE6-7931F515D0AB}"/>
                </a:ext>
              </a:extLst>
            </p:cNvPr>
            <p:cNvSpPr>
              <a:spLocks noEditPoints="1"/>
            </p:cNvSpPr>
            <p:nvPr/>
          </p:nvSpPr>
          <p:spPr bwMode="auto">
            <a:xfrm>
              <a:off x="351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39" name="Freeform 111">
              <a:extLst>
                <a:ext uri="{FF2B5EF4-FFF2-40B4-BE49-F238E27FC236}">
                  <a16:creationId xmlns:a16="http://schemas.microsoft.com/office/drawing/2014/main" id="{BD751723-C24B-4C0D-E7ED-39CA3E809942}"/>
                </a:ext>
              </a:extLst>
            </p:cNvPr>
            <p:cNvSpPr>
              <a:spLocks noEditPoints="1"/>
            </p:cNvSpPr>
            <p:nvPr/>
          </p:nvSpPr>
          <p:spPr bwMode="auto">
            <a:xfrm>
              <a:off x="351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40" name="Freeform 112">
              <a:extLst>
                <a:ext uri="{FF2B5EF4-FFF2-40B4-BE49-F238E27FC236}">
                  <a16:creationId xmlns:a16="http://schemas.microsoft.com/office/drawing/2014/main" id="{9B8C441D-5F53-16F9-FDAB-4DDFDFCE1DB1}"/>
                </a:ext>
              </a:extLst>
            </p:cNvPr>
            <p:cNvSpPr>
              <a:spLocks noEditPoints="1"/>
            </p:cNvSpPr>
            <p:nvPr/>
          </p:nvSpPr>
          <p:spPr bwMode="auto">
            <a:xfrm>
              <a:off x="351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41" name="Rectangle 113">
              <a:extLst>
                <a:ext uri="{FF2B5EF4-FFF2-40B4-BE49-F238E27FC236}">
                  <a16:creationId xmlns:a16="http://schemas.microsoft.com/office/drawing/2014/main" id="{619B1908-97B1-7E4D-11BA-49E3873B8CE3}"/>
                </a:ext>
              </a:extLst>
            </p:cNvPr>
            <p:cNvSpPr>
              <a:spLocks noChangeArrowheads="1"/>
            </p:cNvSpPr>
            <p:nvPr/>
          </p:nvSpPr>
          <p:spPr bwMode="auto">
            <a:xfrm>
              <a:off x="3510" y="4269"/>
              <a:ext cx="20"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242" name="Rectangle 114">
              <a:extLst>
                <a:ext uri="{FF2B5EF4-FFF2-40B4-BE49-F238E27FC236}">
                  <a16:creationId xmlns:a16="http://schemas.microsoft.com/office/drawing/2014/main" id="{6C0D58C4-77CB-16BA-925F-F771EB02081A}"/>
                </a:ext>
              </a:extLst>
            </p:cNvPr>
            <p:cNvSpPr>
              <a:spLocks noChangeArrowheads="1"/>
            </p:cNvSpPr>
            <p:nvPr/>
          </p:nvSpPr>
          <p:spPr bwMode="auto">
            <a:xfrm>
              <a:off x="3960" y="23"/>
              <a:ext cx="20"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243" name="Freeform 115">
              <a:extLst>
                <a:ext uri="{FF2B5EF4-FFF2-40B4-BE49-F238E27FC236}">
                  <a16:creationId xmlns:a16="http://schemas.microsoft.com/office/drawing/2014/main" id="{4E143115-3E8B-CB6E-5886-E25E82EFCC2A}"/>
                </a:ext>
              </a:extLst>
            </p:cNvPr>
            <p:cNvSpPr>
              <a:spLocks noEditPoints="1"/>
            </p:cNvSpPr>
            <p:nvPr/>
          </p:nvSpPr>
          <p:spPr bwMode="auto">
            <a:xfrm>
              <a:off x="396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44" name="Freeform 116">
              <a:extLst>
                <a:ext uri="{FF2B5EF4-FFF2-40B4-BE49-F238E27FC236}">
                  <a16:creationId xmlns:a16="http://schemas.microsoft.com/office/drawing/2014/main" id="{D2B10890-48B4-C7CF-905C-6F4EAED6C7A9}"/>
                </a:ext>
              </a:extLst>
            </p:cNvPr>
            <p:cNvSpPr>
              <a:spLocks noEditPoints="1"/>
            </p:cNvSpPr>
            <p:nvPr/>
          </p:nvSpPr>
          <p:spPr bwMode="auto">
            <a:xfrm>
              <a:off x="396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45" name="Freeform 117">
              <a:extLst>
                <a:ext uri="{FF2B5EF4-FFF2-40B4-BE49-F238E27FC236}">
                  <a16:creationId xmlns:a16="http://schemas.microsoft.com/office/drawing/2014/main" id="{12E836BA-1C0A-61E8-8D58-DB08F2883AC2}"/>
                </a:ext>
              </a:extLst>
            </p:cNvPr>
            <p:cNvSpPr>
              <a:spLocks noEditPoints="1"/>
            </p:cNvSpPr>
            <p:nvPr/>
          </p:nvSpPr>
          <p:spPr bwMode="auto">
            <a:xfrm>
              <a:off x="396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46" name="Freeform 118">
              <a:extLst>
                <a:ext uri="{FF2B5EF4-FFF2-40B4-BE49-F238E27FC236}">
                  <a16:creationId xmlns:a16="http://schemas.microsoft.com/office/drawing/2014/main" id="{290E1B61-B1DD-BF68-B300-42F71C3EF116}"/>
                </a:ext>
              </a:extLst>
            </p:cNvPr>
            <p:cNvSpPr>
              <a:spLocks noEditPoints="1"/>
            </p:cNvSpPr>
            <p:nvPr/>
          </p:nvSpPr>
          <p:spPr bwMode="auto">
            <a:xfrm>
              <a:off x="396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47" name="Freeform 119">
              <a:extLst>
                <a:ext uri="{FF2B5EF4-FFF2-40B4-BE49-F238E27FC236}">
                  <a16:creationId xmlns:a16="http://schemas.microsoft.com/office/drawing/2014/main" id="{D14E6AD1-9659-24F5-AAC4-81B65635E827}"/>
                </a:ext>
              </a:extLst>
            </p:cNvPr>
            <p:cNvSpPr>
              <a:spLocks noEditPoints="1"/>
            </p:cNvSpPr>
            <p:nvPr/>
          </p:nvSpPr>
          <p:spPr bwMode="auto">
            <a:xfrm>
              <a:off x="396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48" name="Freeform 120">
              <a:extLst>
                <a:ext uri="{FF2B5EF4-FFF2-40B4-BE49-F238E27FC236}">
                  <a16:creationId xmlns:a16="http://schemas.microsoft.com/office/drawing/2014/main" id="{B2E40581-8AB0-093C-F44F-C712516245DD}"/>
                </a:ext>
              </a:extLst>
            </p:cNvPr>
            <p:cNvSpPr>
              <a:spLocks noEditPoints="1"/>
            </p:cNvSpPr>
            <p:nvPr/>
          </p:nvSpPr>
          <p:spPr bwMode="auto">
            <a:xfrm>
              <a:off x="396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49" name="Freeform 121">
              <a:extLst>
                <a:ext uri="{FF2B5EF4-FFF2-40B4-BE49-F238E27FC236}">
                  <a16:creationId xmlns:a16="http://schemas.microsoft.com/office/drawing/2014/main" id="{F06ACD97-D087-742A-5877-BFF4091DACC6}"/>
                </a:ext>
              </a:extLst>
            </p:cNvPr>
            <p:cNvSpPr>
              <a:spLocks noEditPoints="1"/>
            </p:cNvSpPr>
            <p:nvPr/>
          </p:nvSpPr>
          <p:spPr bwMode="auto">
            <a:xfrm>
              <a:off x="396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50" name="Freeform 122">
              <a:extLst>
                <a:ext uri="{FF2B5EF4-FFF2-40B4-BE49-F238E27FC236}">
                  <a16:creationId xmlns:a16="http://schemas.microsoft.com/office/drawing/2014/main" id="{953AACA3-8DEB-F60D-1597-E0C5BB960717}"/>
                </a:ext>
              </a:extLst>
            </p:cNvPr>
            <p:cNvSpPr>
              <a:spLocks noEditPoints="1"/>
            </p:cNvSpPr>
            <p:nvPr/>
          </p:nvSpPr>
          <p:spPr bwMode="auto">
            <a:xfrm>
              <a:off x="396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51" name="Freeform 123">
              <a:extLst>
                <a:ext uri="{FF2B5EF4-FFF2-40B4-BE49-F238E27FC236}">
                  <a16:creationId xmlns:a16="http://schemas.microsoft.com/office/drawing/2014/main" id="{DAFE3D15-75AA-6C7A-0775-90BE02AB4BD9}"/>
                </a:ext>
              </a:extLst>
            </p:cNvPr>
            <p:cNvSpPr>
              <a:spLocks noEditPoints="1"/>
            </p:cNvSpPr>
            <p:nvPr/>
          </p:nvSpPr>
          <p:spPr bwMode="auto">
            <a:xfrm>
              <a:off x="396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52" name="Freeform 124">
              <a:extLst>
                <a:ext uri="{FF2B5EF4-FFF2-40B4-BE49-F238E27FC236}">
                  <a16:creationId xmlns:a16="http://schemas.microsoft.com/office/drawing/2014/main" id="{5AC607C1-A9E4-0828-5420-110A8803D987}"/>
                </a:ext>
              </a:extLst>
            </p:cNvPr>
            <p:cNvSpPr>
              <a:spLocks noEditPoints="1"/>
            </p:cNvSpPr>
            <p:nvPr/>
          </p:nvSpPr>
          <p:spPr bwMode="auto">
            <a:xfrm>
              <a:off x="396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53" name="Rectangle 125">
              <a:extLst>
                <a:ext uri="{FF2B5EF4-FFF2-40B4-BE49-F238E27FC236}">
                  <a16:creationId xmlns:a16="http://schemas.microsoft.com/office/drawing/2014/main" id="{29EE7749-FCA5-2DF2-86D5-E89AC6E8B3A7}"/>
                </a:ext>
              </a:extLst>
            </p:cNvPr>
            <p:cNvSpPr>
              <a:spLocks noChangeArrowheads="1"/>
            </p:cNvSpPr>
            <p:nvPr/>
          </p:nvSpPr>
          <p:spPr bwMode="auto">
            <a:xfrm>
              <a:off x="3960" y="4269"/>
              <a:ext cx="20"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254" name="Rectangle 126">
              <a:extLst>
                <a:ext uri="{FF2B5EF4-FFF2-40B4-BE49-F238E27FC236}">
                  <a16:creationId xmlns:a16="http://schemas.microsoft.com/office/drawing/2014/main" id="{835A27E4-9DFA-36E7-5E02-AC7373B918AF}"/>
                </a:ext>
              </a:extLst>
            </p:cNvPr>
            <p:cNvSpPr>
              <a:spLocks noChangeArrowheads="1"/>
            </p:cNvSpPr>
            <p:nvPr/>
          </p:nvSpPr>
          <p:spPr bwMode="auto">
            <a:xfrm>
              <a:off x="4405" y="23"/>
              <a:ext cx="20"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255" name="Freeform 127">
              <a:extLst>
                <a:ext uri="{FF2B5EF4-FFF2-40B4-BE49-F238E27FC236}">
                  <a16:creationId xmlns:a16="http://schemas.microsoft.com/office/drawing/2014/main" id="{3E53491D-08A4-71E4-C878-8E3645DE84F0}"/>
                </a:ext>
              </a:extLst>
            </p:cNvPr>
            <p:cNvSpPr>
              <a:spLocks noEditPoints="1"/>
            </p:cNvSpPr>
            <p:nvPr/>
          </p:nvSpPr>
          <p:spPr bwMode="auto">
            <a:xfrm>
              <a:off x="4405"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56" name="Freeform 128">
              <a:extLst>
                <a:ext uri="{FF2B5EF4-FFF2-40B4-BE49-F238E27FC236}">
                  <a16:creationId xmlns:a16="http://schemas.microsoft.com/office/drawing/2014/main" id="{4B68A0F3-5700-F241-8C1C-00E9EF6F49D0}"/>
                </a:ext>
              </a:extLst>
            </p:cNvPr>
            <p:cNvSpPr>
              <a:spLocks noEditPoints="1"/>
            </p:cNvSpPr>
            <p:nvPr/>
          </p:nvSpPr>
          <p:spPr bwMode="auto">
            <a:xfrm>
              <a:off x="4405"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57" name="Freeform 129">
              <a:extLst>
                <a:ext uri="{FF2B5EF4-FFF2-40B4-BE49-F238E27FC236}">
                  <a16:creationId xmlns:a16="http://schemas.microsoft.com/office/drawing/2014/main" id="{499CB5BB-453E-C5D9-4D7E-6063922672F7}"/>
                </a:ext>
              </a:extLst>
            </p:cNvPr>
            <p:cNvSpPr>
              <a:spLocks noEditPoints="1"/>
            </p:cNvSpPr>
            <p:nvPr/>
          </p:nvSpPr>
          <p:spPr bwMode="auto">
            <a:xfrm>
              <a:off x="4405"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58" name="Freeform 130">
              <a:extLst>
                <a:ext uri="{FF2B5EF4-FFF2-40B4-BE49-F238E27FC236}">
                  <a16:creationId xmlns:a16="http://schemas.microsoft.com/office/drawing/2014/main" id="{56EDA81D-EB3D-96AE-3374-DB64EE2EE566}"/>
                </a:ext>
              </a:extLst>
            </p:cNvPr>
            <p:cNvSpPr>
              <a:spLocks noEditPoints="1"/>
            </p:cNvSpPr>
            <p:nvPr/>
          </p:nvSpPr>
          <p:spPr bwMode="auto">
            <a:xfrm>
              <a:off x="4405"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59" name="Freeform 131">
              <a:extLst>
                <a:ext uri="{FF2B5EF4-FFF2-40B4-BE49-F238E27FC236}">
                  <a16:creationId xmlns:a16="http://schemas.microsoft.com/office/drawing/2014/main" id="{FD518C8D-9CD3-CA6E-A4D5-92A4D933B7F2}"/>
                </a:ext>
              </a:extLst>
            </p:cNvPr>
            <p:cNvSpPr>
              <a:spLocks noEditPoints="1"/>
            </p:cNvSpPr>
            <p:nvPr/>
          </p:nvSpPr>
          <p:spPr bwMode="auto">
            <a:xfrm>
              <a:off x="4405"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60" name="Freeform 132">
              <a:extLst>
                <a:ext uri="{FF2B5EF4-FFF2-40B4-BE49-F238E27FC236}">
                  <a16:creationId xmlns:a16="http://schemas.microsoft.com/office/drawing/2014/main" id="{87D23704-63AF-B9BA-4D92-2A5EEEA00EAB}"/>
                </a:ext>
              </a:extLst>
            </p:cNvPr>
            <p:cNvSpPr>
              <a:spLocks noEditPoints="1"/>
            </p:cNvSpPr>
            <p:nvPr/>
          </p:nvSpPr>
          <p:spPr bwMode="auto">
            <a:xfrm>
              <a:off x="4405"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61" name="Freeform 133">
              <a:extLst>
                <a:ext uri="{FF2B5EF4-FFF2-40B4-BE49-F238E27FC236}">
                  <a16:creationId xmlns:a16="http://schemas.microsoft.com/office/drawing/2014/main" id="{3B1946FF-0031-EF07-2DEC-F2B4391BEA1A}"/>
                </a:ext>
              </a:extLst>
            </p:cNvPr>
            <p:cNvSpPr>
              <a:spLocks noEditPoints="1"/>
            </p:cNvSpPr>
            <p:nvPr/>
          </p:nvSpPr>
          <p:spPr bwMode="auto">
            <a:xfrm>
              <a:off x="4405"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62" name="Freeform 134">
              <a:extLst>
                <a:ext uri="{FF2B5EF4-FFF2-40B4-BE49-F238E27FC236}">
                  <a16:creationId xmlns:a16="http://schemas.microsoft.com/office/drawing/2014/main" id="{FFA8A43E-8B89-BCE6-7A27-BC83EF85576F}"/>
                </a:ext>
              </a:extLst>
            </p:cNvPr>
            <p:cNvSpPr>
              <a:spLocks noEditPoints="1"/>
            </p:cNvSpPr>
            <p:nvPr/>
          </p:nvSpPr>
          <p:spPr bwMode="auto">
            <a:xfrm>
              <a:off x="4405"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63" name="Freeform 135">
              <a:extLst>
                <a:ext uri="{FF2B5EF4-FFF2-40B4-BE49-F238E27FC236}">
                  <a16:creationId xmlns:a16="http://schemas.microsoft.com/office/drawing/2014/main" id="{4FFF4C0E-9951-1B6E-77AE-A40AD01B52DE}"/>
                </a:ext>
              </a:extLst>
            </p:cNvPr>
            <p:cNvSpPr>
              <a:spLocks noEditPoints="1"/>
            </p:cNvSpPr>
            <p:nvPr/>
          </p:nvSpPr>
          <p:spPr bwMode="auto">
            <a:xfrm>
              <a:off x="4405"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64" name="Freeform 136">
              <a:extLst>
                <a:ext uri="{FF2B5EF4-FFF2-40B4-BE49-F238E27FC236}">
                  <a16:creationId xmlns:a16="http://schemas.microsoft.com/office/drawing/2014/main" id="{FACD5DF9-26A4-2050-CA89-66135AD6F9F0}"/>
                </a:ext>
              </a:extLst>
            </p:cNvPr>
            <p:cNvSpPr>
              <a:spLocks noEditPoints="1"/>
            </p:cNvSpPr>
            <p:nvPr/>
          </p:nvSpPr>
          <p:spPr bwMode="auto">
            <a:xfrm>
              <a:off x="4405"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65" name="Rectangle 137">
              <a:extLst>
                <a:ext uri="{FF2B5EF4-FFF2-40B4-BE49-F238E27FC236}">
                  <a16:creationId xmlns:a16="http://schemas.microsoft.com/office/drawing/2014/main" id="{EEAD89A6-D4F9-0774-F551-64C0D5548907}"/>
                </a:ext>
              </a:extLst>
            </p:cNvPr>
            <p:cNvSpPr>
              <a:spLocks noChangeArrowheads="1"/>
            </p:cNvSpPr>
            <p:nvPr/>
          </p:nvSpPr>
          <p:spPr bwMode="auto">
            <a:xfrm>
              <a:off x="4405" y="4269"/>
              <a:ext cx="20"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266" name="Rectangle 138">
              <a:extLst>
                <a:ext uri="{FF2B5EF4-FFF2-40B4-BE49-F238E27FC236}">
                  <a16:creationId xmlns:a16="http://schemas.microsoft.com/office/drawing/2014/main" id="{0F38B843-216A-3F85-45D1-9D5FD43ACB8D}"/>
                </a:ext>
              </a:extLst>
            </p:cNvPr>
            <p:cNvSpPr>
              <a:spLocks noChangeArrowheads="1"/>
            </p:cNvSpPr>
            <p:nvPr/>
          </p:nvSpPr>
          <p:spPr bwMode="auto">
            <a:xfrm>
              <a:off x="4850" y="23"/>
              <a:ext cx="20"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267" name="Freeform 139">
              <a:extLst>
                <a:ext uri="{FF2B5EF4-FFF2-40B4-BE49-F238E27FC236}">
                  <a16:creationId xmlns:a16="http://schemas.microsoft.com/office/drawing/2014/main" id="{4E482C5D-E94D-2D38-9935-52317304D7C5}"/>
                </a:ext>
              </a:extLst>
            </p:cNvPr>
            <p:cNvSpPr>
              <a:spLocks noEditPoints="1"/>
            </p:cNvSpPr>
            <p:nvPr/>
          </p:nvSpPr>
          <p:spPr bwMode="auto">
            <a:xfrm>
              <a:off x="485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68" name="Freeform 140">
              <a:extLst>
                <a:ext uri="{FF2B5EF4-FFF2-40B4-BE49-F238E27FC236}">
                  <a16:creationId xmlns:a16="http://schemas.microsoft.com/office/drawing/2014/main" id="{16648FF5-AE19-CFA5-11AC-17CD0DC7D630}"/>
                </a:ext>
              </a:extLst>
            </p:cNvPr>
            <p:cNvSpPr>
              <a:spLocks noEditPoints="1"/>
            </p:cNvSpPr>
            <p:nvPr/>
          </p:nvSpPr>
          <p:spPr bwMode="auto">
            <a:xfrm>
              <a:off x="485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69" name="Freeform 141">
              <a:extLst>
                <a:ext uri="{FF2B5EF4-FFF2-40B4-BE49-F238E27FC236}">
                  <a16:creationId xmlns:a16="http://schemas.microsoft.com/office/drawing/2014/main" id="{FEF5B2D7-BD5F-52FE-82B8-5FE810DC6F31}"/>
                </a:ext>
              </a:extLst>
            </p:cNvPr>
            <p:cNvSpPr>
              <a:spLocks noEditPoints="1"/>
            </p:cNvSpPr>
            <p:nvPr/>
          </p:nvSpPr>
          <p:spPr bwMode="auto">
            <a:xfrm>
              <a:off x="485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70" name="Freeform 142">
              <a:extLst>
                <a:ext uri="{FF2B5EF4-FFF2-40B4-BE49-F238E27FC236}">
                  <a16:creationId xmlns:a16="http://schemas.microsoft.com/office/drawing/2014/main" id="{AD470AC7-A40B-1BBF-412A-F65D61E2F5F1}"/>
                </a:ext>
              </a:extLst>
            </p:cNvPr>
            <p:cNvSpPr>
              <a:spLocks noEditPoints="1"/>
            </p:cNvSpPr>
            <p:nvPr/>
          </p:nvSpPr>
          <p:spPr bwMode="auto">
            <a:xfrm>
              <a:off x="485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71" name="Freeform 143">
              <a:extLst>
                <a:ext uri="{FF2B5EF4-FFF2-40B4-BE49-F238E27FC236}">
                  <a16:creationId xmlns:a16="http://schemas.microsoft.com/office/drawing/2014/main" id="{D17C2A34-C0B9-5443-77D9-439AE956E23E}"/>
                </a:ext>
              </a:extLst>
            </p:cNvPr>
            <p:cNvSpPr>
              <a:spLocks noEditPoints="1"/>
            </p:cNvSpPr>
            <p:nvPr/>
          </p:nvSpPr>
          <p:spPr bwMode="auto">
            <a:xfrm>
              <a:off x="485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72" name="Freeform 144">
              <a:extLst>
                <a:ext uri="{FF2B5EF4-FFF2-40B4-BE49-F238E27FC236}">
                  <a16:creationId xmlns:a16="http://schemas.microsoft.com/office/drawing/2014/main" id="{2E262E54-D69C-7D13-7F66-54BAC1A22F04}"/>
                </a:ext>
              </a:extLst>
            </p:cNvPr>
            <p:cNvSpPr>
              <a:spLocks noEditPoints="1"/>
            </p:cNvSpPr>
            <p:nvPr/>
          </p:nvSpPr>
          <p:spPr bwMode="auto">
            <a:xfrm>
              <a:off x="485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73" name="Freeform 145">
              <a:extLst>
                <a:ext uri="{FF2B5EF4-FFF2-40B4-BE49-F238E27FC236}">
                  <a16:creationId xmlns:a16="http://schemas.microsoft.com/office/drawing/2014/main" id="{B79BB554-DE24-0E71-C321-82E90A1B40E5}"/>
                </a:ext>
              </a:extLst>
            </p:cNvPr>
            <p:cNvSpPr>
              <a:spLocks noEditPoints="1"/>
            </p:cNvSpPr>
            <p:nvPr/>
          </p:nvSpPr>
          <p:spPr bwMode="auto">
            <a:xfrm>
              <a:off x="485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74" name="Freeform 146">
              <a:extLst>
                <a:ext uri="{FF2B5EF4-FFF2-40B4-BE49-F238E27FC236}">
                  <a16:creationId xmlns:a16="http://schemas.microsoft.com/office/drawing/2014/main" id="{AF3A2109-8795-5A4E-C5A0-9CFB1950E31D}"/>
                </a:ext>
              </a:extLst>
            </p:cNvPr>
            <p:cNvSpPr>
              <a:spLocks noEditPoints="1"/>
            </p:cNvSpPr>
            <p:nvPr/>
          </p:nvSpPr>
          <p:spPr bwMode="auto">
            <a:xfrm>
              <a:off x="485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75" name="Freeform 147">
              <a:extLst>
                <a:ext uri="{FF2B5EF4-FFF2-40B4-BE49-F238E27FC236}">
                  <a16:creationId xmlns:a16="http://schemas.microsoft.com/office/drawing/2014/main" id="{B767CA57-9870-7AB5-F890-878428CD98E8}"/>
                </a:ext>
              </a:extLst>
            </p:cNvPr>
            <p:cNvSpPr>
              <a:spLocks noEditPoints="1"/>
            </p:cNvSpPr>
            <p:nvPr/>
          </p:nvSpPr>
          <p:spPr bwMode="auto">
            <a:xfrm>
              <a:off x="485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76" name="Freeform 148">
              <a:extLst>
                <a:ext uri="{FF2B5EF4-FFF2-40B4-BE49-F238E27FC236}">
                  <a16:creationId xmlns:a16="http://schemas.microsoft.com/office/drawing/2014/main" id="{9C978C56-34ED-F1FE-4ABD-0FF77CF6D644}"/>
                </a:ext>
              </a:extLst>
            </p:cNvPr>
            <p:cNvSpPr>
              <a:spLocks noEditPoints="1"/>
            </p:cNvSpPr>
            <p:nvPr/>
          </p:nvSpPr>
          <p:spPr bwMode="auto">
            <a:xfrm>
              <a:off x="485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77" name="Rectangle 149">
              <a:extLst>
                <a:ext uri="{FF2B5EF4-FFF2-40B4-BE49-F238E27FC236}">
                  <a16:creationId xmlns:a16="http://schemas.microsoft.com/office/drawing/2014/main" id="{B06AFE7A-4AA5-E970-FC12-9D982C52B6AB}"/>
                </a:ext>
              </a:extLst>
            </p:cNvPr>
            <p:cNvSpPr>
              <a:spLocks noChangeArrowheads="1"/>
            </p:cNvSpPr>
            <p:nvPr/>
          </p:nvSpPr>
          <p:spPr bwMode="auto">
            <a:xfrm>
              <a:off x="4850" y="4269"/>
              <a:ext cx="20"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278" name="Rectangle 150">
              <a:extLst>
                <a:ext uri="{FF2B5EF4-FFF2-40B4-BE49-F238E27FC236}">
                  <a16:creationId xmlns:a16="http://schemas.microsoft.com/office/drawing/2014/main" id="{64361AAE-F460-2548-2FD2-882000296F55}"/>
                </a:ext>
              </a:extLst>
            </p:cNvPr>
            <p:cNvSpPr>
              <a:spLocks noChangeArrowheads="1"/>
            </p:cNvSpPr>
            <p:nvPr/>
          </p:nvSpPr>
          <p:spPr bwMode="auto">
            <a:xfrm>
              <a:off x="5300" y="23"/>
              <a:ext cx="20" cy="10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279" name="Freeform 151">
              <a:extLst>
                <a:ext uri="{FF2B5EF4-FFF2-40B4-BE49-F238E27FC236}">
                  <a16:creationId xmlns:a16="http://schemas.microsoft.com/office/drawing/2014/main" id="{3A59E185-80BD-0A83-515C-8B15FF208365}"/>
                </a:ext>
              </a:extLst>
            </p:cNvPr>
            <p:cNvSpPr>
              <a:spLocks noEditPoints="1"/>
            </p:cNvSpPr>
            <p:nvPr/>
          </p:nvSpPr>
          <p:spPr bwMode="auto">
            <a:xfrm>
              <a:off x="530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80" name="Freeform 152">
              <a:extLst>
                <a:ext uri="{FF2B5EF4-FFF2-40B4-BE49-F238E27FC236}">
                  <a16:creationId xmlns:a16="http://schemas.microsoft.com/office/drawing/2014/main" id="{CCE4FF0F-D223-980B-33BF-073B7D1338D8}"/>
                </a:ext>
              </a:extLst>
            </p:cNvPr>
            <p:cNvSpPr>
              <a:spLocks noEditPoints="1"/>
            </p:cNvSpPr>
            <p:nvPr/>
          </p:nvSpPr>
          <p:spPr bwMode="auto">
            <a:xfrm>
              <a:off x="530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81" name="Freeform 153">
              <a:extLst>
                <a:ext uri="{FF2B5EF4-FFF2-40B4-BE49-F238E27FC236}">
                  <a16:creationId xmlns:a16="http://schemas.microsoft.com/office/drawing/2014/main" id="{ABF7E821-0F00-4449-8AAD-CC33E463337E}"/>
                </a:ext>
              </a:extLst>
            </p:cNvPr>
            <p:cNvSpPr>
              <a:spLocks noEditPoints="1"/>
            </p:cNvSpPr>
            <p:nvPr/>
          </p:nvSpPr>
          <p:spPr bwMode="auto">
            <a:xfrm>
              <a:off x="530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82" name="Freeform 154">
              <a:extLst>
                <a:ext uri="{FF2B5EF4-FFF2-40B4-BE49-F238E27FC236}">
                  <a16:creationId xmlns:a16="http://schemas.microsoft.com/office/drawing/2014/main" id="{752B7EAD-E667-276D-FD44-28C768788BBB}"/>
                </a:ext>
              </a:extLst>
            </p:cNvPr>
            <p:cNvSpPr>
              <a:spLocks noEditPoints="1"/>
            </p:cNvSpPr>
            <p:nvPr/>
          </p:nvSpPr>
          <p:spPr bwMode="auto">
            <a:xfrm>
              <a:off x="530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83" name="Freeform 155">
              <a:extLst>
                <a:ext uri="{FF2B5EF4-FFF2-40B4-BE49-F238E27FC236}">
                  <a16:creationId xmlns:a16="http://schemas.microsoft.com/office/drawing/2014/main" id="{1FAAC927-200E-9C2E-49C5-0D7FD04A9030}"/>
                </a:ext>
              </a:extLst>
            </p:cNvPr>
            <p:cNvSpPr>
              <a:spLocks noEditPoints="1"/>
            </p:cNvSpPr>
            <p:nvPr/>
          </p:nvSpPr>
          <p:spPr bwMode="auto">
            <a:xfrm>
              <a:off x="530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84" name="Freeform 156">
              <a:extLst>
                <a:ext uri="{FF2B5EF4-FFF2-40B4-BE49-F238E27FC236}">
                  <a16:creationId xmlns:a16="http://schemas.microsoft.com/office/drawing/2014/main" id="{5A9CA4E7-43A2-8FA7-52DD-970AFFE199BF}"/>
                </a:ext>
              </a:extLst>
            </p:cNvPr>
            <p:cNvSpPr>
              <a:spLocks noEditPoints="1"/>
            </p:cNvSpPr>
            <p:nvPr/>
          </p:nvSpPr>
          <p:spPr bwMode="auto">
            <a:xfrm>
              <a:off x="530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85" name="Freeform 157">
              <a:extLst>
                <a:ext uri="{FF2B5EF4-FFF2-40B4-BE49-F238E27FC236}">
                  <a16:creationId xmlns:a16="http://schemas.microsoft.com/office/drawing/2014/main" id="{321AB08B-F8FB-8FD6-960B-73E11229D4C8}"/>
                </a:ext>
              </a:extLst>
            </p:cNvPr>
            <p:cNvSpPr>
              <a:spLocks noEditPoints="1"/>
            </p:cNvSpPr>
            <p:nvPr/>
          </p:nvSpPr>
          <p:spPr bwMode="auto">
            <a:xfrm>
              <a:off x="530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86" name="Freeform 158">
              <a:extLst>
                <a:ext uri="{FF2B5EF4-FFF2-40B4-BE49-F238E27FC236}">
                  <a16:creationId xmlns:a16="http://schemas.microsoft.com/office/drawing/2014/main" id="{AEC0B092-9D2B-9765-03E1-3E21D3C32E83}"/>
                </a:ext>
              </a:extLst>
            </p:cNvPr>
            <p:cNvSpPr>
              <a:spLocks noEditPoints="1"/>
            </p:cNvSpPr>
            <p:nvPr/>
          </p:nvSpPr>
          <p:spPr bwMode="auto">
            <a:xfrm>
              <a:off x="530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87" name="Freeform 159">
              <a:extLst>
                <a:ext uri="{FF2B5EF4-FFF2-40B4-BE49-F238E27FC236}">
                  <a16:creationId xmlns:a16="http://schemas.microsoft.com/office/drawing/2014/main" id="{163427D7-9AFF-C98E-C4EC-EB94386B2458}"/>
                </a:ext>
              </a:extLst>
            </p:cNvPr>
            <p:cNvSpPr>
              <a:spLocks noEditPoints="1"/>
            </p:cNvSpPr>
            <p:nvPr/>
          </p:nvSpPr>
          <p:spPr bwMode="auto">
            <a:xfrm>
              <a:off x="530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88" name="Freeform 160">
              <a:extLst>
                <a:ext uri="{FF2B5EF4-FFF2-40B4-BE49-F238E27FC236}">
                  <a16:creationId xmlns:a16="http://schemas.microsoft.com/office/drawing/2014/main" id="{286DE39E-7A2D-3CE1-40E9-D261C497F22F}"/>
                </a:ext>
              </a:extLst>
            </p:cNvPr>
            <p:cNvSpPr>
              <a:spLocks noEditPoints="1"/>
            </p:cNvSpPr>
            <p:nvPr/>
          </p:nvSpPr>
          <p:spPr bwMode="auto">
            <a:xfrm>
              <a:off x="530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89" name="Rectangle 161">
              <a:extLst>
                <a:ext uri="{FF2B5EF4-FFF2-40B4-BE49-F238E27FC236}">
                  <a16:creationId xmlns:a16="http://schemas.microsoft.com/office/drawing/2014/main" id="{E9D08281-D646-1745-564F-3F7F94220582}"/>
                </a:ext>
              </a:extLst>
            </p:cNvPr>
            <p:cNvSpPr>
              <a:spLocks noChangeArrowheads="1"/>
            </p:cNvSpPr>
            <p:nvPr/>
          </p:nvSpPr>
          <p:spPr bwMode="auto">
            <a:xfrm>
              <a:off x="5300" y="4269"/>
              <a:ext cx="20" cy="51"/>
            </a:xfrm>
            <a:prstGeom prst="rect">
              <a:avLst/>
            </a:prstGeom>
            <a:solidFill>
              <a:schemeClr val="bg2">
                <a:alpha val="50000"/>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6290" name="Freeform 162">
              <a:extLst>
                <a:ext uri="{FF2B5EF4-FFF2-40B4-BE49-F238E27FC236}">
                  <a16:creationId xmlns:a16="http://schemas.microsoft.com/office/drawing/2014/main" id="{5010489A-C095-1064-31DB-74231BC9370B}"/>
                </a:ext>
              </a:extLst>
            </p:cNvPr>
            <p:cNvSpPr>
              <a:spLocks/>
            </p:cNvSpPr>
            <p:nvPr/>
          </p:nvSpPr>
          <p:spPr bwMode="auto">
            <a:xfrm>
              <a:off x="349" y="3304"/>
              <a:ext cx="20" cy="10"/>
            </a:xfrm>
            <a:custGeom>
              <a:avLst/>
              <a:gdLst>
                <a:gd name="T0" fmla="*/ 0 w 4"/>
                <a:gd name="T1" fmla="*/ 1 h 2"/>
                <a:gd name="T2" fmla="*/ 0 w 4"/>
                <a:gd name="T3" fmla="*/ 1 h 2"/>
              </a:gdLst>
              <a:ahLst/>
              <a:cxnLst>
                <a:cxn ang="0">
                  <a:pos x="T0" y="T1"/>
                </a:cxn>
                <a:cxn ang="0">
                  <a:pos x="T2" y="T3"/>
                </a:cxn>
              </a:cxnLst>
              <a:rect l="0" t="0" r="r" b="b"/>
              <a:pathLst>
                <a:path w="4" h="2">
                  <a:moveTo>
                    <a:pt x="0" y="1"/>
                  </a:moveTo>
                  <a:cubicBezTo>
                    <a:pt x="1" y="2"/>
                    <a:pt x="4" y="0"/>
                    <a:pt x="0" y="1"/>
                  </a:cubicBezTo>
                  <a:close/>
                </a:path>
              </a:pathLst>
            </a:custGeom>
            <a:solidFill>
              <a:schemeClr val="bg2">
                <a:alpha val="50000"/>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sp>
        <p:nvSpPr>
          <p:cNvPr id="176291" name="Rectangle 163">
            <a:extLst>
              <a:ext uri="{FF2B5EF4-FFF2-40B4-BE49-F238E27FC236}">
                <a16:creationId xmlns:a16="http://schemas.microsoft.com/office/drawing/2014/main" id="{1E5F35FB-9F01-E58F-31A8-EFE0041989BE}"/>
              </a:ext>
            </a:extLst>
          </p:cNvPr>
          <p:cNvSpPr>
            <a:spLocks noGrp="1" noRot="1" noChangeArrowheads="1"/>
          </p:cNvSpPr>
          <p:nvPr>
            <p:ph type="ctrTitle"/>
          </p:nvPr>
        </p:nvSpPr>
        <p:spPr>
          <a:xfrm>
            <a:off x="685800" y="2057400"/>
            <a:ext cx="7772400" cy="1143000"/>
          </a:xfrm>
        </p:spPr>
        <p:txBody>
          <a:bodyPr/>
          <a:lstStyle>
            <a:lvl1pPr>
              <a:defRPr/>
            </a:lvl1pPr>
          </a:lstStyle>
          <a:p>
            <a:pPr lvl="0"/>
            <a:r>
              <a:rPr lang="zh-CN" altLang="en-US" noProof="0"/>
              <a:t>单击此处编辑母版标题样式</a:t>
            </a:r>
          </a:p>
        </p:txBody>
      </p:sp>
      <p:sp>
        <p:nvSpPr>
          <p:cNvPr id="176292" name="Rectangle 164">
            <a:extLst>
              <a:ext uri="{FF2B5EF4-FFF2-40B4-BE49-F238E27FC236}">
                <a16:creationId xmlns:a16="http://schemas.microsoft.com/office/drawing/2014/main" id="{F8AB0007-DA58-2841-8DB9-412A515A1F9D}"/>
              </a:ext>
            </a:extLst>
          </p:cNvPr>
          <p:cNvSpPr>
            <a:spLocks noGrp="1" noChangeArrowheads="1"/>
          </p:cNvSpPr>
          <p:nvPr>
            <p:ph type="dt" sz="half" idx="2"/>
          </p:nvPr>
        </p:nvSpPr>
        <p:spPr>
          <a:xfrm>
            <a:off x="301625" y="6248400"/>
            <a:ext cx="2289175" cy="476250"/>
          </a:xfrm>
        </p:spPr>
        <p:txBody>
          <a:bodyPr/>
          <a:lstStyle>
            <a:lvl1pPr>
              <a:defRPr/>
            </a:lvl1pPr>
          </a:lstStyle>
          <a:p>
            <a:endParaRPr lang="en-US" altLang="zh-CN"/>
          </a:p>
        </p:txBody>
      </p:sp>
      <p:sp>
        <p:nvSpPr>
          <p:cNvPr id="176293" name="Rectangle 165">
            <a:extLst>
              <a:ext uri="{FF2B5EF4-FFF2-40B4-BE49-F238E27FC236}">
                <a16:creationId xmlns:a16="http://schemas.microsoft.com/office/drawing/2014/main" id="{EB612EBB-2A9D-08E9-1C4A-D96E8425C16F}"/>
              </a:ext>
            </a:extLst>
          </p:cNvPr>
          <p:cNvSpPr>
            <a:spLocks noGrp="1" noChangeArrowheads="1"/>
          </p:cNvSpPr>
          <p:nvPr>
            <p:ph type="ftr" sz="quarter" idx="3"/>
          </p:nvPr>
        </p:nvSpPr>
        <p:spPr>
          <a:xfrm>
            <a:off x="3124200" y="6248400"/>
            <a:ext cx="2895600" cy="476250"/>
          </a:xfrm>
        </p:spPr>
        <p:txBody>
          <a:bodyPr/>
          <a:lstStyle>
            <a:lvl1pPr>
              <a:defRPr/>
            </a:lvl1pPr>
          </a:lstStyle>
          <a:p>
            <a:endParaRPr lang="en-US" altLang="zh-CN"/>
          </a:p>
        </p:txBody>
      </p:sp>
      <p:sp>
        <p:nvSpPr>
          <p:cNvPr id="176294" name="Rectangle 166">
            <a:extLst>
              <a:ext uri="{FF2B5EF4-FFF2-40B4-BE49-F238E27FC236}">
                <a16:creationId xmlns:a16="http://schemas.microsoft.com/office/drawing/2014/main" id="{155FC5BB-4FB3-A630-4C1B-8681C87CBB72}"/>
              </a:ext>
            </a:extLst>
          </p:cNvPr>
          <p:cNvSpPr>
            <a:spLocks noGrp="1" noChangeArrowheads="1"/>
          </p:cNvSpPr>
          <p:nvPr>
            <p:ph type="sldNum" sz="quarter" idx="4"/>
          </p:nvPr>
        </p:nvSpPr>
        <p:spPr>
          <a:xfrm>
            <a:off x="6553200" y="6248400"/>
            <a:ext cx="2289175" cy="476250"/>
          </a:xfrm>
        </p:spPr>
        <p:txBody>
          <a:bodyPr/>
          <a:lstStyle>
            <a:lvl1pPr>
              <a:defRPr/>
            </a:lvl1pPr>
          </a:lstStyle>
          <a:p>
            <a:fld id="{97D4EF82-7401-46C6-9D56-0D0A967CC2AA}" type="slidenum">
              <a:rPr lang="en-US" altLang="zh-CN"/>
              <a:pPr/>
              <a:t>‹#›</a:t>
            </a:fld>
            <a:endParaRPr lang="en-US" altLang="zh-CN"/>
          </a:p>
        </p:txBody>
      </p:sp>
      <p:sp>
        <p:nvSpPr>
          <p:cNvPr id="176295" name="Rectangle 167">
            <a:extLst>
              <a:ext uri="{FF2B5EF4-FFF2-40B4-BE49-F238E27FC236}">
                <a16:creationId xmlns:a16="http://schemas.microsoft.com/office/drawing/2014/main" id="{DBFC563F-C575-0470-2F9D-10A006D22EC7}"/>
              </a:ext>
            </a:extLst>
          </p:cNvPr>
          <p:cNvSpPr>
            <a:spLocks noGrp="1" noRot="1" noChangeArrowheads="1"/>
          </p:cNvSpPr>
          <p:nvPr>
            <p:ph type="subTitle" idx="1"/>
          </p:nvPr>
        </p:nvSpPr>
        <p:spPr>
          <a:xfrm>
            <a:off x="1371600" y="3505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grpSp>
        <p:nvGrpSpPr>
          <p:cNvPr id="176296" name="Group 168">
            <a:extLst>
              <a:ext uri="{FF2B5EF4-FFF2-40B4-BE49-F238E27FC236}">
                <a16:creationId xmlns:a16="http://schemas.microsoft.com/office/drawing/2014/main" id="{D18DB627-0E37-6173-3436-09D26259A625}"/>
              </a:ext>
            </a:extLst>
          </p:cNvPr>
          <p:cNvGrpSpPr>
            <a:grpSpLocks/>
          </p:cNvGrpSpPr>
          <p:nvPr/>
        </p:nvGrpSpPr>
        <p:grpSpPr bwMode="auto">
          <a:xfrm>
            <a:off x="152400" y="4724400"/>
            <a:ext cx="1685925" cy="1557338"/>
            <a:chOff x="96" y="2784"/>
            <a:chExt cx="1062" cy="981"/>
          </a:xfrm>
        </p:grpSpPr>
        <p:sp>
          <p:nvSpPr>
            <p:cNvPr id="176297" name="Freeform 169">
              <a:extLst>
                <a:ext uri="{FF2B5EF4-FFF2-40B4-BE49-F238E27FC236}">
                  <a16:creationId xmlns:a16="http://schemas.microsoft.com/office/drawing/2014/main" id="{597553EE-AD6A-89A0-1F1F-9C5EB1BBBAB2}"/>
                </a:ext>
              </a:extLst>
            </p:cNvPr>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98" name="Freeform 170">
              <a:extLst>
                <a:ext uri="{FF2B5EF4-FFF2-40B4-BE49-F238E27FC236}">
                  <a16:creationId xmlns:a16="http://schemas.microsoft.com/office/drawing/2014/main" id="{B9A93AE2-D736-F60E-505A-2CE224909DE4}"/>
                </a:ext>
              </a:extLst>
            </p:cNvPr>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299" name="Freeform 171">
              <a:extLst>
                <a:ext uri="{FF2B5EF4-FFF2-40B4-BE49-F238E27FC236}">
                  <a16:creationId xmlns:a16="http://schemas.microsoft.com/office/drawing/2014/main" id="{B054D24C-283B-9E79-4D87-EC99EAFDF709}"/>
                </a:ext>
              </a:extLst>
            </p:cNvPr>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300" name="Freeform 172">
              <a:extLst>
                <a:ext uri="{FF2B5EF4-FFF2-40B4-BE49-F238E27FC236}">
                  <a16:creationId xmlns:a16="http://schemas.microsoft.com/office/drawing/2014/main" id="{C74B627C-77ED-D8B1-9E44-6F2C185EEBF8}"/>
                </a:ext>
              </a:extLst>
            </p:cNvPr>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301" name="Freeform 173">
              <a:extLst>
                <a:ext uri="{FF2B5EF4-FFF2-40B4-BE49-F238E27FC236}">
                  <a16:creationId xmlns:a16="http://schemas.microsoft.com/office/drawing/2014/main" id="{DA09AA53-47E8-F45D-718E-9FF5F632D926}"/>
                </a:ext>
              </a:extLst>
            </p:cNvPr>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302" name="Freeform 174">
              <a:extLst>
                <a:ext uri="{FF2B5EF4-FFF2-40B4-BE49-F238E27FC236}">
                  <a16:creationId xmlns:a16="http://schemas.microsoft.com/office/drawing/2014/main" id="{070A5A1F-2988-73D9-FB83-47B24D17D4BE}"/>
                </a:ext>
              </a:extLst>
            </p:cNvPr>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303" name="Freeform 175">
              <a:extLst>
                <a:ext uri="{FF2B5EF4-FFF2-40B4-BE49-F238E27FC236}">
                  <a16:creationId xmlns:a16="http://schemas.microsoft.com/office/drawing/2014/main" id="{A97AEFE6-2D9B-5DE0-5B4A-372823921EB7}"/>
                </a:ext>
              </a:extLst>
            </p:cNvPr>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304" name="Freeform 176">
              <a:extLst>
                <a:ext uri="{FF2B5EF4-FFF2-40B4-BE49-F238E27FC236}">
                  <a16:creationId xmlns:a16="http://schemas.microsoft.com/office/drawing/2014/main" id="{2F2D7CB5-C51F-5546-1FD8-68EDDE34EF33}"/>
                </a:ext>
              </a:extLst>
            </p:cNvPr>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305" name="Freeform 177">
              <a:extLst>
                <a:ext uri="{FF2B5EF4-FFF2-40B4-BE49-F238E27FC236}">
                  <a16:creationId xmlns:a16="http://schemas.microsoft.com/office/drawing/2014/main" id="{CFA90205-F7CD-9562-9DF5-F1BC378AC190}"/>
                </a:ext>
              </a:extLst>
            </p:cNvPr>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306" name="Freeform 178">
              <a:extLst>
                <a:ext uri="{FF2B5EF4-FFF2-40B4-BE49-F238E27FC236}">
                  <a16:creationId xmlns:a16="http://schemas.microsoft.com/office/drawing/2014/main" id="{28786373-8B54-1912-A513-3677F4F1F4D7}"/>
                </a:ext>
              </a:extLst>
            </p:cNvPr>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307" name="Freeform 179">
              <a:extLst>
                <a:ext uri="{FF2B5EF4-FFF2-40B4-BE49-F238E27FC236}">
                  <a16:creationId xmlns:a16="http://schemas.microsoft.com/office/drawing/2014/main" id="{844B8C4C-F822-3E47-519E-268628D6DC90}"/>
                </a:ext>
              </a:extLst>
            </p:cNvPr>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308" name="Freeform 180">
              <a:extLst>
                <a:ext uri="{FF2B5EF4-FFF2-40B4-BE49-F238E27FC236}">
                  <a16:creationId xmlns:a16="http://schemas.microsoft.com/office/drawing/2014/main" id="{608F02E7-E030-5AC6-BED2-2E882DBE4A7B}"/>
                </a:ext>
              </a:extLst>
            </p:cNvPr>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6309" name="Freeform 181">
              <a:extLst>
                <a:ext uri="{FF2B5EF4-FFF2-40B4-BE49-F238E27FC236}">
                  <a16:creationId xmlns:a16="http://schemas.microsoft.com/office/drawing/2014/main" id="{D6BB2A5A-C4B6-15D7-43CA-1B06D9307311}"/>
                </a:ext>
              </a:extLst>
            </p:cNvPr>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folHlink"/>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spTree>
  </p:cSld>
  <p:clrMapOvr>
    <a:masterClrMapping/>
  </p:clrMapOvr>
  <p:transition>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7F244D-06B4-276B-350B-827F90969B5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07F83F7-DC34-8A5B-2823-70542AD553F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F15C4C9-D2DA-6252-4957-53592519B84D}"/>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8D117AC4-0F74-D6A2-1392-3B89E2CA0E59}"/>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9B14A53D-05B2-F154-1E73-0B9E025A04F8}"/>
              </a:ext>
            </a:extLst>
          </p:cNvPr>
          <p:cNvSpPr>
            <a:spLocks noGrp="1"/>
          </p:cNvSpPr>
          <p:nvPr>
            <p:ph type="sldNum" sz="quarter" idx="12"/>
          </p:nvPr>
        </p:nvSpPr>
        <p:spPr/>
        <p:txBody>
          <a:bodyPr/>
          <a:lstStyle>
            <a:lvl1pPr>
              <a:defRPr/>
            </a:lvl1pPr>
          </a:lstStyle>
          <a:p>
            <a:fld id="{17B3B002-D932-499B-B740-0600CD4166E6}" type="slidenum">
              <a:rPr lang="en-US" altLang="zh-CN"/>
              <a:pPr/>
              <a:t>‹#›</a:t>
            </a:fld>
            <a:endParaRPr lang="en-US" altLang="zh-CN"/>
          </a:p>
        </p:txBody>
      </p:sp>
    </p:spTree>
    <p:extLst>
      <p:ext uri="{BB962C8B-B14F-4D97-AF65-F5344CB8AC3E}">
        <p14:creationId xmlns:p14="http://schemas.microsoft.com/office/powerpoint/2010/main" val="2054484467"/>
      </p:ext>
    </p:extLst>
  </p:cSld>
  <p:clrMapOvr>
    <a:masterClrMapping/>
  </p:clrMapOvr>
  <p:transition>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8D2EBC-81AF-0213-74F6-7CCB332BF208}"/>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E5B8978-C0BA-759C-26DD-A2E1C068D2C6}"/>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C844180-D413-0D87-C161-FC7B80BCEE87}"/>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84E04FF8-A700-DEE4-2C4D-C017CF8A97D7}"/>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E79ABC21-04C2-80F7-078D-C9DA0B1480D9}"/>
              </a:ext>
            </a:extLst>
          </p:cNvPr>
          <p:cNvSpPr>
            <a:spLocks noGrp="1"/>
          </p:cNvSpPr>
          <p:nvPr>
            <p:ph type="sldNum" sz="quarter" idx="12"/>
          </p:nvPr>
        </p:nvSpPr>
        <p:spPr/>
        <p:txBody>
          <a:bodyPr/>
          <a:lstStyle>
            <a:lvl1pPr>
              <a:defRPr/>
            </a:lvl1pPr>
          </a:lstStyle>
          <a:p>
            <a:fld id="{7DFD50C3-FADC-4E78-B796-BC30AB08A0A2}" type="slidenum">
              <a:rPr lang="en-US" altLang="zh-CN"/>
              <a:pPr/>
              <a:t>‹#›</a:t>
            </a:fld>
            <a:endParaRPr lang="en-US" altLang="zh-CN"/>
          </a:p>
        </p:txBody>
      </p:sp>
    </p:spTree>
    <p:extLst>
      <p:ext uri="{BB962C8B-B14F-4D97-AF65-F5344CB8AC3E}">
        <p14:creationId xmlns:p14="http://schemas.microsoft.com/office/powerpoint/2010/main" val="1934737533"/>
      </p:ext>
    </p:extLst>
  </p:cSld>
  <p:clrMapOvr>
    <a:masterClrMapping/>
  </p:clrMapOvr>
  <p:transition>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096183-327E-723C-71F3-D79D7542483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69D1FC3-C045-78F9-023C-40F329F2413D}"/>
              </a:ext>
            </a:extLst>
          </p:cNvPr>
          <p:cNvSpPr>
            <a:spLocks noGrp="1"/>
          </p:cNvSpPr>
          <p:nvPr>
            <p:ph sz="half" idx="1"/>
          </p:nvPr>
        </p:nvSpPr>
        <p:spPr>
          <a:xfrm>
            <a:off x="609600" y="1600200"/>
            <a:ext cx="4000500" cy="44989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1E390B1-F25B-317D-8BF9-F52FB68E701C}"/>
              </a:ext>
            </a:extLst>
          </p:cNvPr>
          <p:cNvSpPr>
            <a:spLocks noGrp="1"/>
          </p:cNvSpPr>
          <p:nvPr>
            <p:ph sz="half" idx="2"/>
          </p:nvPr>
        </p:nvSpPr>
        <p:spPr>
          <a:xfrm>
            <a:off x="4762500" y="1600200"/>
            <a:ext cx="4000500" cy="449897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0DAE7DB-5247-E58B-6284-F79F57834EF7}"/>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6A04B439-F0F9-3DB7-8259-F18BDFC48C71}"/>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EDFB99C7-7569-7CA1-6EFF-04B5042BF58A}"/>
              </a:ext>
            </a:extLst>
          </p:cNvPr>
          <p:cNvSpPr>
            <a:spLocks noGrp="1"/>
          </p:cNvSpPr>
          <p:nvPr>
            <p:ph type="sldNum" sz="quarter" idx="12"/>
          </p:nvPr>
        </p:nvSpPr>
        <p:spPr/>
        <p:txBody>
          <a:bodyPr/>
          <a:lstStyle>
            <a:lvl1pPr>
              <a:defRPr/>
            </a:lvl1pPr>
          </a:lstStyle>
          <a:p>
            <a:fld id="{D4BE01EA-5067-42CE-AE48-8DBFDE182C44}" type="slidenum">
              <a:rPr lang="en-US" altLang="zh-CN"/>
              <a:pPr/>
              <a:t>‹#›</a:t>
            </a:fld>
            <a:endParaRPr lang="en-US" altLang="zh-CN"/>
          </a:p>
        </p:txBody>
      </p:sp>
    </p:spTree>
    <p:extLst>
      <p:ext uri="{BB962C8B-B14F-4D97-AF65-F5344CB8AC3E}">
        <p14:creationId xmlns:p14="http://schemas.microsoft.com/office/powerpoint/2010/main" val="254649326"/>
      </p:ext>
    </p:extLst>
  </p:cSld>
  <p:clrMapOvr>
    <a:masterClrMapping/>
  </p:clrMapOvr>
  <p:transition>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C2BEB9-1DFB-B63C-4299-B30846E519B5}"/>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7A33AFF-8898-8E7C-1F11-B3DCE76C088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30E1313-710A-CFCD-EC48-085B46A19583}"/>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E7DBECE-AF8E-338B-2729-BD375C24B558}"/>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70B8EB0-10A6-2E33-E490-5682C143D05E}"/>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8812B56-ED23-6D3C-8FC8-334C59A502A4}"/>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59B4F466-14E4-DDE9-E8FB-5A24FB4AE371}"/>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9DB85F54-C4B5-D12F-29CE-5A81E2C29D5D}"/>
              </a:ext>
            </a:extLst>
          </p:cNvPr>
          <p:cNvSpPr>
            <a:spLocks noGrp="1"/>
          </p:cNvSpPr>
          <p:nvPr>
            <p:ph type="sldNum" sz="quarter" idx="12"/>
          </p:nvPr>
        </p:nvSpPr>
        <p:spPr/>
        <p:txBody>
          <a:bodyPr/>
          <a:lstStyle>
            <a:lvl1pPr>
              <a:defRPr/>
            </a:lvl1pPr>
          </a:lstStyle>
          <a:p>
            <a:fld id="{331D1581-3CA8-4E75-87B9-CD11600963CA}" type="slidenum">
              <a:rPr lang="en-US" altLang="zh-CN"/>
              <a:pPr/>
              <a:t>‹#›</a:t>
            </a:fld>
            <a:endParaRPr lang="en-US" altLang="zh-CN"/>
          </a:p>
        </p:txBody>
      </p:sp>
    </p:spTree>
    <p:extLst>
      <p:ext uri="{BB962C8B-B14F-4D97-AF65-F5344CB8AC3E}">
        <p14:creationId xmlns:p14="http://schemas.microsoft.com/office/powerpoint/2010/main" val="1716232060"/>
      </p:ext>
    </p:extLst>
  </p:cSld>
  <p:clrMapOvr>
    <a:masterClrMapping/>
  </p:clrMapOvr>
  <p:transition>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AD6E35-7B76-BAE5-BC44-5CEB29A04B2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9DF253B-A106-6ADC-8FFC-5EA9A5AF8F99}"/>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C2CE9096-9F7A-36B3-9D87-0F904865E64B}"/>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F4D71077-A040-486D-947A-952BFD638660}"/>
              </a:ext>
            </a:extLst>
          </p:cNvPr>
          <p:cNvSpPr>
            <a:spLocks noGrp="1"/>
          </p:cNvSpPr>
          <p:nvPr>
            <p:ph type="sldNum" sz="quarter" idx="12"/>
          </p:nvPr>
        </p:nvSpPr>
        <p:spPr/>
        <p:txBody>
          <a:bodyPr/>
          <a:lstStyle>
            <a:lvl1pPr>
              <a:defRPr/>
            </a:lvl1pPr>
          </a:lstStyle>
          <a:p>
            <a:fld id="{ED7143CB-D440-4296-B671-5110657662F2}" type="slidenum">
              <a:rPr lang="en-US" altLang="zh-CN"/>
              <a:pPr/>
              <a:t>‹#›</a:t>
            </a:fld>
            <a:endParaRPr lang="en-US" altLang="zh-CN"/>
          </a:p>
        </p:txBody>
      </p:sp>
    </p:spTree>
    <p:extLst>
      <p:ext uri="{BB962C8B-B14F-4D97-AF65-F5344CB8AC3E}">
        <p14:creationId xmlns:p14="http://schemas.microsoft.com/office/powerpoint/2010/main" val="2336960028"/>
      </p:ext>
    </p:extLst>
  </p:cSld>
  <p:clrMapOvr>
    <a:masterClrMapping/>
  </p:clrMapOvr>
  <p:transition>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74AE21B-4E34-9655-69D6-B9B5DFBFCC5E}"/>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7CAADADB-E343-3EEB-F745-D8A7D7A50CD3}"/>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53C749C1-EB12-C021-0BF6-A317ECF51949}"/>
              </a:ext>
            </a:extLst>
          </p:cNvPr>
          <p:cNvSpPr>
            <a:spLocks noGrp="1"/>
          </p:cNvSpPr>
          <p:nvPr>
            <p:ph type="sldNum" sz="quarter" idx="12"/>
          </p:nvPr>
        </p:nvSpPr>
        <p:spPr/>
        <p:txBody>
          <a:bodyPr/>
          <a:lstStyle>
            <a:lvl1pPr>
              <a:defRPr/>
            </a:lvl1pPr>
          </a:lstStyle>
          <a:p>
            <a:fld id="{13E8CF1B-BB7A-45CF-9095-151F0B5EDBCE}" type="slidenum">
              <a:rPr lang="en-US" altLang="zh-CN"/>
              <a:pPr/>
              <a:t>‹#›</a:t>
            </a:fld>
            <a:endParaRPr lang="en-US" altLang="zh-CN"/>
          </a:p>
        </p:txBody>
      </p:sp>
    </p:spTree>
    <p:extLst>
      <p:ext uri="{BB962C8B-B14F-4D97-AF65-F5344CB8AC3E}">
        <p14:creationId xmlns:p14="http://schemas.microsoft.com/office/powerpoint/2010/main" val="1404736396"/>
      </p:ext>
    </p:extLst>
  </p:cSld>
  <p:clrMapOvr>
    <a:masterClrMapping/>
  </p:clrMapOvr>
  <p:transition>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9CAFE4-3D94-CEBB-9C3F-F6CCF30688BE}"/>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464348F-1A43-9AE2-B7D5-1F92EEC16EF5}"/>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54FB59-C231-5452-D799-80452C0BA63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2E21DA4-2E6D-8DE1-5C07-4CC8E2456813}"/>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6F095221-6F71-0400-A377-96E10070B53F}"/>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EA8088F4-97F0-F1D0-5E75-8E2CC3794C9E}"/>
              </a:ext>
            </a:extLst>
          </p:cNvPr>
          <p:cNvSpPr>
            <a:spLocks noGrp="1"/>
          </p:cNvSpPr>
          <p:nvPr>
            <p:ph type="sldNum" sz="quarter" idx="12"/>
          </p:nvPr>
        </p:nvSpPr>
        <p:spPr/>
        <p:txBody>
          <a:bodyPr/>
          <a:lstStyle>
            <a:lvl1pPr>
              <a:defRPr/>
            </a:lvl1pPr>
          </a:lstStyle>
          <a:p>
            <a:fld id="{06A5AF48-EE0E-45D2-B59C-1BA87832ED14}" type="slidenum">
              <a:rPr lang="en-US" altLang="zh-CN"/>
              <a:pPr/>
              <a:t>‹#›</a:t>
            </a:fld>
            <a:endParaRPr lang="en-US" altLang="zh-CN"/>
          </a:p>
        </p:txBody>
      </p:sp>
    </p:spTree>
    <p:extLst>
      <p:ext uri="{BB962C8B-B14F-4D97-AF65-F5344CB8AC3E}">
        <p14:creationId xmlns:p14="http://schemas.microsoft.com/office/powerpoint/2010/main" val="3045054477"/>
      </p:ext>
    </p:extLst>
  </p:cSld>
  <p:clrMapOvr>
    <a:masterClrMapping/>
  </p:clrMapOvr>
  <p:transition>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E487F8-81C3-3CF8-A787-459D39E9855E}"/>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8129969-90FA-81FF-6D18-C33B72808F99}"/>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895DA4B-C175-87EB-46D9-36C078B262C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4317141-D55F-8963-05EF-8B86BC4B5F10}"/>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EE34CEDE-85D9-F179-DD08-5F45A4AE4631}"/>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40016DE3-EF5D-F472-C2EE-DBE386AA8C95}"/>
              </a:ext>
            </a:extLst>
          </p:cNvPr>
          <p:cNvSpPr>
            <a:spLocks noGrp="1"/>
          </p:cNvSpPr>
          <p:nvPr>
            <p:ph type="sldNum" sz="quarter" idx="12"/>
          </p:nvPr>
        </p:nvSpPr>
        <p:spPr/>
        <p:txBody>
          <a:bodyPr/>
          <a:lstStyle>
            <a:lvl1pPr>
              <a:defRPr/>
            </a:lvl1pPr>
          </a:lstStyle>
          <a:p>
            <a:fld id="{F32E004A-A301-424A-A723-0BCDC18B2EF0}" type="slidenum">
              <a:rPr lang="en-US" altLang="zh-CN"/>
              <a:pPr/>
              <a:t>‹#›</a:t>
            </a:fld>
            <a:endParaRPr lang="en-US" altLang="zh-CN"/>
          </a:p>
        </p:txBody>
      </p:sp>
    </p:spTree>
    <p:extLst>
      <p:ext uri="{BB962C8B-B14F-4D97-AF65-F5344CB8AC3E}">
        <p14:creationId xmlns:p14="http://schemas.microsoft.com/office/powerpoint/2010/main" val="1259711361"/>
      </p:ext>
    </p:extLst>
  </p:cSld>
  <p:clrMapOvr>
    <a:masterClrMapping/>
  </p:clrMapOvr>
  <p:transition>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75069C-7635-94AA-EEF1-D1A6678E394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7D70850-7D2B-E881-0527-63EEC46DE25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DA5E60B-7E92-AD21-C94A-79E364AA78C7}"/>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8901D5F3-E1BC-D0A7-E154-F0AB0A4C6CD4}"/>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F44C0560-FB56-0E22-5419-FD8A977C4FB6}"/>
              </a:ext>
            </a:extLst>
          </p:cNvPr>
          <p:cNvSpPr>
            <a:spLocks noGrp="1"/>
          </p:cNvSpPr>
          <p:nvPr>
            <p:ph type="sldNum" sz="quarter" idx="12"/>
          </p:nvPr>
        </p:nvSpPr>
        <p:spPr/>
        <p:txBody>
          <a:bodyPr/>
          <a:lstStyle>
            <a:lvl1pPr>
              <a:defRPr/>
            </a:lvl1pPr>
          </a:lstStyle>
          <a:p>
            <a:fld id="{DE3879DF-D8A9-49F4-83C0-EFDC5DE60567}" type="slidenum">
              <a:rPr lang="en-US" altLang="zh-CN"/>
              <a:pPr/>
              <a:t>‹#›</a:t>
            </a:fld>
            <a:endParaRPr lang="en-US" altLang="zh-CN"/>
          </a:p>
        </p:txBody>
      </p:sp>
    </p:spTree>
    <p:extLst>
      <p:ext uri="{BB962C8B-B14F-4D97-AF65-F5344CB8AC3E}">
        <p14:creationId xmlns:p14="http://schemas.microsoft.com/office/powerpoint/2010/main" val="2704944969"/>
      </p:ext>
    </p:extLst>
  </p:cSld>
  <p:clrMapOvr>
    <a:masterClrMapping/>
  </p:clrMapOvr>
  <p:transition>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D01330F-9F3C-1E31-4A8B-A561CE18E794}"/>
              </a:ext>
            </a:extLst>
          </p:cNvPr>
          <p:cNvSpPr>
            <a:spLocks noGrp="1"/>
          </p:cNvSpPr>
          <p:nvPr>
            <p:ph type="title" orient="vert"/>
          </p:nvPr>
        </p:nvSpPr>
        <p:spPr>
          <a:xfrm>
            <a:off x="6704013" y="228600"/>
            <a:ext cx="2135187" cy="587057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6A63769-C1B4-5AE5-4F38-AC81C25C0415}"/>
              </a:ext>
            </a:extLst>
          </p:cNvPr>
          <p:cNvSpPr>
            <a:spLocks noGrp="1"/>
          </p:cNvSpPr>
          <p:nvPr>
            <p:ph type="body" orient="vert" idx="1"/>
          </p:nvPr>
        </p:nvSpPr>
        <p:spPr>
          <a:xfrm>
            <a:off x="298450" y="228600"/>
            <a:ext cx="6253163" cy="587057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6979FF8-0016-E1DB-4F54-0E993F12978F}"/>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C3E116C4-F175-56B9-5912-46CA4C5B62F0}"/>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44A2073D-7CF1-2DA3-E6E9-EA299F5BD484}"/>
              </a:ext>
            </a:extLst>
          </p:cNvPr>
          <p:cNvSpPr>
            <a:spLocks noGrp="1"/>
          </p:cNvSpPr>
          <p:nvPr>
            <p:ph type="sldNum" sz="quarter" idx="12"/>
          </p:nvPr>
        </p:nvSpPr>
        <p:spPr/>
        <p:txBody>
          <a:bodyPr/>
          <a:lstStyle>
            <a:lvl1pPr>
              <a:defRPr/>
            </a:lvl1pPr>
          </a:lstStyle>
          <a:p>
            <a:fld id="{1A0F662A-CDA4-4BBA-AE6F-79B0659F1965}" type="slidenum">
              <a:rPr lang="en-US" altLang="zh-CN"/>
              <a:pPr/>
              <a:t>‹#›</a:t>
            </a:fld>
            <a:endParaRPr lang="en-US" altLang="zh-CN"/>
          </a:p>
        </p:txBody>
      </p:sp>
    </p:spTree>
    <p:extLst>
      <p:ext uri="{BB962C8B-B14F-4D97-AF65-F5344CB8AC3E}">
        <p14:creationId xmlns:p14="http://schemas.microsoft.com/office/powerpoint/2010/main" val="2801363446"/>
      </p:ext>
    </p:extLst>
  </p:cSld>
  <p:clrMapOvr>
    <a:masterClrMapping/>
  </p:clrMapOvr>
  <p:transition>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75106" name="Group 2">
            <a:extLst>
              <a:ext uri="{FF2B5EF4-FFF2-40B4-BE49-F238E27FC236}">
                <a16:creationId xmlns:a16="http://schemas.microsoft.com/office/drawing/2014/main" id="{BE62804D-6A14-B9C3-091A-BBF236861385}"/>
              </a:ext>
            </a:extLst>
          </p:cNvPr>
          <p:cNvGrpSpPr>
            <a:grpSpLocks/>
          </p:cNvGrpSpPr>
          <p:nvPr/>
        </p:nvGrpSpPr>
        <p:grpSpPr bwMode="auto">
          <a:xfrm>
            <a:off x="566738" y="0"/>
            <a:ext cx="7891462" cy="6821488"/>
            <a:chOff x="349" y="23"/>
            <a:chExt cx="4971" cy="4297"/>
          </a:xfrm>
        </p:grpSpPr>
        <p:sp>
          <p:nvSpPr>
            <p:cNvPr id="175107" name="Rectangle 3">
              <a:extLst>
                <a:ext uri="{FF2B5EF4-FFF2-40B4-BE49-F238E27FC236}">
                  <a16:creationId xmlns:a16="http://schemas.microsoft.com/office/drawing/2014/main" id="{56212EBB-87EA-97DF-CB22-95F420AA5756}"/>
                </a:ext>
              </a:extLst>
            </p:cNvPr>
            <p:cNvSpPr>
              <a:spLocks noChangeArrowheads="1"/>
            </p:cNvSpPr>
            <p:nvPr/>
          </p:nvSpPr>
          <p:spPr bwMode="auto">
            <a:xfrm>
              <a:off x="384" y="23"/>
              <a:ext cx="21"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108" name="Freeform 4">
              <a:extLst>
                <a:ext uri="{FF2B5EF4-FFF2-40B4-BE49-F238E27FC236}">
                  <a16:creationId xmlns:a16="http://schemas.microsoft.com/office/drawing/2014/main" id="{2D455A1A-986A-3DC9-BC93-47BEEF4A7B15}"/>
                </a:ext>
              </a:extLst>
            </p:cNvPr>
            <p:cNvSpPr>
              <a:spLocks noEditPoints="1"/>
            </p:cNvSpPr>
            <p:nvPr/>
          </p:nvSpPr>
          <p:spPr bwMode="auto">
            <a:xfrm>
              <a:off x="384"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09" name="Freeform 5">
              <a:extLst>
                <a:ext uri="{FF2B5EF4-FFF2-40B4-BE49-F238E27FC236}">
                  <a16:creationId xmlns:a16="http://schemas.microsoft.com/office/drawing/2014/main" id="{0498B9B0-FE18-537C-3FA8-CDB29B06733C}"/>
                </a:ext>
              </a:extLst>
            </p:cNvPr>
            <p:cNvSpPr>
              <a:spLocks noEditPoints="1"/>
            </p:cNvSpPr>
            <p:nvPr/>
          </p:nvSpPr>
          <p:spPr bwMode="auto">
            <a:xfrm>
              <a:off x="384"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10" name="Freeform 6">
              <a:extLst>
                <a:ext uri="{FF2B5EF4-FFF2-40B4-BE49-F238E27FC236}">
                  <a16:creationId xmlns:a16="http://schemas.microsoft.com/office/drawing/2014/main" id="{8963D2BC-1328-68C4-5304-8A1DB0C21649}"/>
                </a:ext>
              </a:extLst>
            </p:cNvPr>
            <p:cNvSpPr>
              <a:spLocks noEditPoints="1"/>
            </p:cNvSpPr>
            <p:nvPr/>
          </p:nvSpPr>
          <p:spPr bwMode="auto">
            <a:xfrm>
              <a:off x="384"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11" name="Freeform 7">
              <a:extLst>
                <a:ext uri="{FF2B5EF4-FFF2-40B4-BE49-F238E27FC236}">
                  <a16:creationId xmlns:a16="http://schemas.microsoft.com/office/drawing/2014/main" id="{A8D4CE52-5248-0C64-FCF6-7D8123C61436}"/>
                </a:ext>
              </a:extLst>
            </p:cNvPr>
            <p:cNvSpPr>
              <a:spLocks noEditPoints="1"/>
            </p:cNvSpPr>
            <p:nvPr/>
          </p:nvSpPr>
          <p:spPr bwMode="auto">
            <a:xfrm>
              <a:off x="384"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12" name="Freeform 8">
              <a:extLst>
                <a:ext uri="{FF2B5EF4-FFF2-40B4-BE49-F238E27FC236}">
                  <a16:creationId xmlns:a16="http://schemas.microsoft.com/office/drawing/2014/main" id="{28D57829-A492-BB32-8F04-16A0E5C44A19}"/>
                </a:ext>
              </a:extLst>
            </p:cNvPr>
            <p:cNvSpPr>
              <a:spLocks noEditPoints="1"/>
            </p:cNvSpPr>
            <p:nvPr/>
          </p:nvSpPr>
          <p:spPr bwMode="auto">
            <a:xfrm>
              <a:off x="384"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13" name="Freeform 9">
              <a:extLst>
                <a:ext uri="{FF2B5EF4-FFF2-40B4-BE49-F238E27FC236}">
                  <a16:creationId xmlns:a16="http://schemas.microsoft.com/office/drawing/2014/main" id="{A78C0E64-0E3B-9B3F-711A-92ED527650F0}"/>
                </a:ext>
              </a:extLst>
            </p:cNvPr>
            <p:cNvSpPr>
              <a:spLocks noEditPoints="1"/>
            </p:cNvSpPr>
            <p:nvPr/>
          </p:nvSpPr>
          <p:spPr bwMode="auto">
            <a:xfrm>
              <a:off x="384"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14" name="Freeform 10">
              <a:extLst>
                <a:ext uri="{FF2B5EF4-FFF2-40B4-BE49-F238E27FC236}">
                  <a16:creationId xmlns:a16="http://schemas.microsoft.com/office/drawing/2014/main" id="{9C9D66C0-4858-CB62-7D44-F41D73700F52}"/>
                </a:ext>
              </a:extLst>
            </p:cNvPr>
            <p:cNvSpPr>
              <a:spLocks noEditPoints="1"/>
            </p:cNvSpPr>
            <p:nvPr/>
          </p:nvSpPr>
          <p:spPr bwMode="auto">
            <a:xfrm>
              <a:off x="384"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15" name="Freeform 11">
              <a:extLst>
                <a:ext uri="{FF2B5EF4-FFF2-40B4-BE49-F238E27FC236}">
                  <a16:creationId xmlns:a16="http://schemas.microsoft.com/office/drawing/2014/main" id="{F201AE90-08EC-8240-B436-12746493436D}"/>
                </a:ext>
              </a:extLst>
            </p:cNvPr>
            <p:cNvSpPr>
              <a:spLocks noEditPoints="1"/>
            </p:cNvSpPr>
            <p:nvPr/>
          </p:nvSpPr>
          <p:spPr bwMode="auto">
            <a:xfrm>
              <a:off x="384"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16" name="Freeform 12">
              <a:extLst>
                <a:ext uri="{FF2B5EF4-FFF2-40B4-BE49-F238E27FC236}">
                  <a16:creationId xmlns:a16="http://schemas.microsoft.com/office/drawing/2014/main" id="{6781915B-2D3D-5EA3-D561-B2A0F12F1E75}"/>
                </a:ext>
              </a:extLst>
            </p:cNvPr>
            <p:cNvSpPr>
              <a:spLocks noEditPoints="1"/>
            </p:cNvSpPr>
            <p:nvPr/>
          </p:nvSpPr>
          <p:spPr bwMode="auto">
            <a:xfrm>
              <a:off x="384"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17" name="Freeform 13">
              <a:extLst>
                <a:ext uri="{FF2B5EF4-FFF2-40B4-BE49-F238E27FC236}">
                  <a16:creationId xmlns:a16="http://schemas.microsoft.com/office/drawing/2014/main" id="{72029590-1F19-360B-0F06-205A2846E2DE}"/>
                </a:ext>
              </a:extLst>
            </p:cNvPr>
            <p:cNvSpPr>
              <a:spLocks noEditPoints="1"/>
            </p:cNvSpPr>
            <p:nvPr/>
          </p:nvSpPr>
          <p:spPr bwMode="auto">
            <a:xfrm>
              <a:off x="384"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18" name="Rectangle 14">
              <a:extLst>
                <a:ext uri="{FF2B5EF4-FFF2-40B4-BE49-F238E27FC236}">
                  <a16:creationId xmlns:a16="http://schemas.microsoft.com/office/drawing/2014/main" id="{DF0F07AF-93B9-7EF0-CCD5-6F010B9D3C0B}"/>
                </a:ext>
              </a:extLst>
            </p:cNvPr>
            <p:cNvSpPr>
              <a:spLocks noChangeArrowheads="1"/>
            </p:cNvSpPr>
            <p:nvPr/>
          </p:nvSpPr>
          <p:spPr bwMode="auto">
            <a:xfrm>
              <a:off x="384" y="4269"/>
              <a:ext cx="21"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119" name="Rectangle 15">
              <a:extLst>
                <a:ext uri="{FF2B5EF4-FFF2-40B4-BE49-F238E27FC236}">
                  <a16:creationId xmlns:a16="http://schemas.microsoft.com/office/drawing/2014/main" id="{2DD9BD80-F79A-E40C-EACD-430A1AB099EF}"/>
                </a:ext>
              </a:extLst>
            </p:cNvPr>
            <p:cNvSpPr>
              <a:spLocks noChangeArrowheads="1"/>
            </p:cNvSpPr>
            <p:nvPr/>
          </p:nvSpPr>
          <p:spPr bwMode="auto">
            <a:xfrm>
              <a:off x="829" y="23"/>
              <a:ext cx="21"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120" name="Freeform 16">
              <a:extLst>
                <a:ext uri="{FF2B5EF4-FFF2-40B4-BE49-F238E27FC236}">
                  <a16:creationId xmlns:a16="http://schemas.microsoft.com/office/drawing/2014/main" id="{D4210B6F-582D-6397-A190-81E7DF510992}"/>
                </a:ext>
              </a:extLst>
            </p:cNvPr>
            <p:cNvSpPr>
              <a:spLocks noEditPoints="1"/>
            </p:cNvSpPr>
            <p:nvPr/>
          </p:nvSpPr>
          <p:spPr bwMode="auto">
            <a:xfrm>
              <a:off x="829"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21" name="Freeform 17">
              <a:extLst>
                <a:ext uri="{FF2B5EF4-FFF2-40B4-BE49-F238E27FC236}">
                  <a16:creationId xmlns:a16="http://schemas.microsoft.com/office/drawing/2014/main" id="{687E2F1A-0F96-F1CA-A683-36776E47CA98}"/>
                </a:ext>
              </a:extLst>
            </p:cNvPr>
            <p:cNvSpPr>
              <a:spLocks noEditPoints="1"/>
            </p:cNvSpPr>
            <p:nvPr/>
          </p:nvSpPr>
          <p:spPr bwMode="auto">
            <a:xfrm>
              <a:off x="829"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22" name="Freeform 18">
              <a:extLst>
                <a:ext uri="{FF2B5EF4-FFF2-40B4-BE49-F238E27FC236}">
                  <a16:creationId xmlns:a16="http://schemas.microsoft.com/office/drawing/2014/main" id="{5427B8DA-C89F-8F01-8A0E-F05A9579D994}"/>
                </a:ext>
              </a:extLst>
            </p:cNvPr>
            <p:cNvSpPr>
              <a:spLocks noEditPoints="1"/>
            </p:cNvSpPr>
            <p:nvPr/>
          </p:nvSpPr>
          <p:spPr bwMode="auto">
            <a:xfrm>
              <a:off x="829"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23" name="Freeform 19">
              <a:extLst>
                <a:ext uri="{FF2B5EF4-FFF2-40B4-BE49-F238E27FC236}">
                  <a16:creationId xmlns:a16="http://schemas.microsoft.com/office/drawing/2014/main" id="{30506D8B-2821-D0A3-C6F3-FB501C647F66}"/>
                </a:ext>
              </a:extLst>
            </p:cNvPr>
            <p:cNvSpPr>
              <a:spLocks noEditPoints="1"/>
            </p:cNvSpPr>
            <p:nvPr/>
          </p:nvSpPr>
          <p:spPr bwMode="auto">
            <a:xfrm>
              <a:off x="829"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24" name="Freeform 20">
              <a:extLst>
                <a:ext uri="{FF2B5EF4-FFF2-40B4-BE49-F238E27FC236}">
                  <a16:creationId xmlns:a16="http://schemas.microsoft.com/office/drawing/2014/main" id="{E9F41D1D-8684-5187-F9D5-92531E3521CA}"/>
                </a:ext>
              </a:extLst>
            </p:cNvPr>
            <p:cNvSpPr>
              <a:spLocks noEditPoints="1"/>
            </p:cNvSpPr>
            <p:nvPr/>
          </p:nvSpPr>
          <p:spPr bwMode="auto">
            <a:xfrm>
              <a:off x="829"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25" name="Freeform 21">
              <a:extLst>
                <a:ext uri="{FF2B5EF4-FFF2-40B4-BE49-F238E27FC236}">
                  <a16:creationId xmlns:a16="http://schemas.microsoft.com/office/drawing/2014/main" id="{0BCF1C34-8C38-6466-47C2-C79DF65B9628}"/>
                </a:ext>
              </a:extLst>
            </p:cNvPr>
            <p:cNvSpPr>
              <a:spLocks noEditPoints="1"/>
            </p:cNvSpPr>
            <p:nvPr/>
          </p:nvSpPr>
          <p:spPr bwMode="auto">
            <a:xfrm>
              <a:off x="829"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26" name="Freeform 22">
              <a:extLst>
                <a:ext uri="{FF2B5EF4-FFF2-40B4-BE49-F238E27FC236}">
                  <a16:creationId xmlns:a16="http://schemas.microsoft.com/office/drawing/2014/main" id="{3DDE51E3-3A92-CD87-B107-5AA72FF9A262}"/>
                </a:ext>
              </a:extLst>
            </p:cNvPr>
            <p:cNvSpPr>
              <a:spLocks noEditPoints="1"/>
            </p:cNvSpPr>
            <p:nvPr/>
          </p:nvSpPr>
          <p:spPr bwMode="auto">
            <a:xfrm>
              <a:off x="829"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27" name="Freeform 23">
              <a:extLst>
                <a:ext uri="{FF2B5EF4-FFF2-40B4-BE49-F238E27FC236}">
                  <a16:creationId xmlns:a16="http://schemas.microsoft.com/office/drawing/2014/main" id="{9F3C9842-B2EF-368C-2A1E-7B4A22430FC5}"/>
                </a:ext>
              </a:extLst>
            </p:cNvPr>
            <p:cNvSpPr>
              <a:spLocks noEditPoints="1"/>
            </p:cNvSpPr>
            <p:nvPr/>
          </p:nvSpPr>
          <p:spPr bwMode="auto">
            <a:xfrm>
              <a:off x="829"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28" name="Freeform 24">
              <a:extLst>
                <a:ext uri="{FF2B5EF4-FFF2-40B4-BE49-F238E27FC236}">
                  <a16:creationId xmlns:a16="http://schemas.microsoft.com/office/drawing/2014/main" id="{2487BAD2-EA7D-AB18-8540-CB13350BEA85}"/>
                </a:ext>
              </a:extLst>
            </p:cNvPr>
            <p:cNvSpPr>
              <a:spLocks noEditPoints="1"/>
            </p:cNvSpPr>
            <p:nvPr/>
          </p:nvSpPr>
          <p:spPr bwMode="auto">
            <a:xfrm>
              <a:off x="829"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29" name="Freeform 25">
              <a:extLst>
                <a:ext uri="{FF2B5EF4-FFF2-40B4-BE49-F238E27FC236}">
                  <a16:creationId xmlns:a16="http://schemas.microsoft.com/office/drawing/2014/main" id="{13BE0AD6-6D7F-DF26-38EA-C239E205ED0C}"/>
                </a:ext>
              </a:extLst>
            </p:cNvPr>
            <p:cNvSpPr>
              <a:spLocks noEditPoints="1"/>
            </p:cNvSpPr>
            <p:nvPr/>
          </p:nvSpPr>
          <p:spPr bwMode="auto">
            <a:xfrm>
              <a:off x="829"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30" name="Rectangle 26">
              <a:extLst>
                <a:ext uri="{FF2B5EF4-FFF2-40B4-BE49-F238E27FC236}">
                  <a16:creationId xmlns:a16="http://schemas.microsoft.com/office/drawing/2014/main" id="{1B67611A-EC06-F806-9177-25755B8FDD75}"/>
                </a:ext>
              </a:extLst>
            </p:cNvPr>
            <p:cNvSpPr>
              <a:spLocks noChangeArrowheads="1"/>
            </p:cNvSpPr>
            <p:nvPr/>
          </p:nvSpPr>
          <p:spPr bwMode="auto">
            <a:xfrm>
              <a:off x="829" y="4269"/>
              <a:ext cx="21"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131" name="Rectangle 27">
              <a:extLst>
                <a:ext uri="{FF2B5EF4-FFF2-40B4-BE49-F238E27FC236}">
                  <a16:creationId xmlns:a16="http://schemas.microsoft.com/office/drawing/2014/main" id="{454418CE-A33C-45B2-3A5A-1FEA01700181}"/>
                </a:ext>
              </a:extLst>
            </p:cNvPr>
            <p:cNvSpPr>
              <a:spLocks noChangeArrowheads="1"/>
            </p:cNvSpPr>
            <p:nvPr/>
          </p:nvSpPr>
          <p:spPr bwMode="auto">
            <a:xfrm>
              <a:off x="1279" y="23"/>
              <a:ext cx="21"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132" name="Freeform 28">
              <a:extLst>
                <a:ext uri="{FF2B5EF4-FFF2-40B4-BE49-F238E27FC236}">
                  <a16:creationId xmlns:a16="http://schemas.microsoft.com/office/drawing/2014/main" id="{37B1993A-B7C0-8921-3BF4-E519DD35A5A2}"/>
                </a:ext>
              </a:extLst>
            </p:cNvPr>
            <p:cNvSpPr>
              <a:spLocks noEditPoints="1"/>
            </p:cNvSpPr>
            <p:nvPr/>
          </p:nvSpPr>
          <p:spPr bwMode="auto">
            <a:xfrm>
              <a:off x="1279"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33" name="Freeform 29">
              <a:extLst>
                <a:ext uri="{FF2B5EF4-FFF2-40B4-BE49-F238E27FC236}">
                  <a16:creationId xmlns:a16="http://schemas.microsoft.com/office/drawing/2014/main" id="{33156E3B-FC49-97C2-59CC-71778AF9ADC9}"/>
                </a:ext>
              </a:extLst>
            </p:cNvPr>
            <p:cNvSpPr>
              <a:spLocks noEditPoints="1"/>
            </p:cNvSpPr>
            <p:nvPr/>
          </p:nvSpPr>
          <p:spPr bwMode="auto">
            <a:xfrm>
              <a:off x="1279"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34" name="Freeform 30">
              <a:extLst>
                <a:ext uri="{FF2B5EF4-FFF2-40B4-BE49-F238E27FC236}">
                  <a16:creationId xmlns:a16="http://schemas.microsoft.com/office/drawing/2014/main" id="{D75B686E-33D2-EA48-714A-D17E9C4E69D5}"/>
                </a:ext>
              </a:extLst>
            </p:cNvPr>
            <p:cNvSpPr>
              <a:spLocks noEditPoints="1"/>
            </p:cNvSpPr>
            <p:nvPr/>
          </p:nvSpPr>
          <p:spPr bwMode="auto">
            <a:xfrm>
              <a:off x="1279"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35" name="Freeform 31">
              <a:extLst>
                <a:ext uri="{FF2B5EF4-FFF2-40B4-BE49-F238E27FC236}">
                  <a16:creationId xmlns:a16="http://schemas.microsoft.com/office/drawing/2014/main" id="{A1F1115A-DE35-31C3-CDC0-E2AF3C8ECA9F}"/>
                </a:ext>
              </a:extLst>
            </p:cNvPr>
            <p:cNvSpPr>
              <a:spLocks noEditPoints="1"/>
            </p:cNvSpPr>
            <p:nvPr/>
          </p:nvSpPr>
          <p:spPr bwMode="auto">
            <a:xfrm>
              <a:off x="1279"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36" name="Freeform 32">
              <a:extLst>
                <a:ext uri="{FF2B5EF4-FFF2-40B4-BE49-F238E27FC236}">
                  <a16:creationId xmlns:a16="http://schemas.microsoft.com/office/drawing/2014/main" id="{4CDB28D1-7601-20E6-FE84-2A53B6CD064B}"/>
                </a:ext>
              </a:extLst>
            </p:cNvPr>
            <p:cNvSpPr>
              <a:spLocks noEditPoints="1"/>
            </p:cNvSpPr>
            <p:nvPr/>
          </p:nvSpPr>
          <p:spPr bwMode="auto">
            <a:xfrm>
              <a:off x="1279"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37" name="Freeform 33">
              <a:extLst>
                <a:ext uri="{FF2B5EF4-FFF2-40B4-BE49-F238E27FC236}">
                  <a16:creationId xmlns:a16="http://schemas.microsoft.com/office/drawing/2014/main" id="{37B0A107-CD16-76B7-E9E4-9A801EAB0EFE}"/>
                </a:ext>
              </a:extLst>
            </p:cNvPr>
            <p:cNvSpPr>
              <a:spLocks noEditPoints="1"/>
            </p:cNvSpPr>
            <p:nvPr/>
          </p:nvSpPr>
          <p:spPr bwMode="auto">
            <a:xfrm>
              <a:off x="1279"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38" name="Freeform 34">
              <a:extLst>
                <a:ext uri="{FF2B5EF4-FFF2-40B4-BE49-F238E27FC236}">
                  <a16:creationId xmlns:a16="http://schemas.microsoft.com/office/drawing/2014/main" id="{E72BCA33-42CE-6F4C-82DB-29E9013A6B16}"/>
                </a:ext>
              </a:extLst>
            </p:cNvPr>
            <p:cNvSpPr>
              <a:spLocks noEditPoints="1"/>
            </p:cNvSpPr>
            <p:nvPr/>
          </p:nvSpPr>
          <p:spPr bwMode="auto">
            <a:xfrm>
              <a:off x="1279"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39" name="Freeform 35">
              <a:extLst>
                <a:ext uri="{FF2B5EF4-FFF2-40B4-BE49-F238E27FC236}">
                  <a16:creationId xmlns:a16="http://schemas.microsoft.com/office/drawing/2014/main" id="{C8499ED5-19F0-7C78-0E37-87B016D58E6A}"/>
                </a:ext>
              </a:extLst>
            </p:cNvPr>
            <p:cNvSpPr>
              <a:spLocks noEditPoints="1"/>
            </p:cNvSpPr>
            <p:nvPr/>
          </p:nvSpPr>
          <p:spPr bwMode="auto">
            <a:xfrm>
              <a:off x="1279"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40" name="Freeform 36">
              <a:extLst>
                <a:ext uri="{FF2B5EF4-FFF2-40B4-BE49-F238E27FC236}">
                  <a16:creationId xmlns:a16="http://schemas.microsoft.com/office/drawing/2014/main" id="{33647C23-0775-E434-47EB-37C72B3E571C}"/>
                </a:ext>
              </a:extLst>
            </p:cNvPr>
            <p:cNvSpPr>
              <a:spLocks noEditPoints="1"/>
            </p:cNvSpPr>
            <p:nvPr/>
          </p:nvSpPr>
          <p:spPr bwMode="auto">
            <a:xfrm>
              <a:off x="1279"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41" name="Freeform 37">
              <a:extLst>
                <a:ext uri="{FF2B5EF4-FFF2-40B4-BE49-F238E27FC236}">
                  <a16:creationId xmlns:a16="http://schemas.microsoft.com/office/drawing/2014/main" id="{B0739403-7C7E-9214-776A-542F6989A058}"/>
                </a:ext>
              </a:extLst>
            </p:cNvPr>
            <p:cNvSpPr>
              <a:spLocks noEditPoints="1"/>
            </p:cNvSpPr>
            <p:nvPr/>
          </p:nvSpPr>
          <p:spPr bwMode="auto">
            <a:xfrm>
              <a:off x="1279"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42" name="Rectangle 38">
              <a:extLst>
                <a:ext uri="{FF2B5EF4-FFF2-40B4-BE49-F238E27FC236}">
                  <a16:creationId xmlns:a16="http://schemas.microsoft.com/office/drawing/2014/main" id="{5ED2BA77-B5CE-ADD0-0A69-6DAC4FD0BA07}"/>
                </a:ext>
              </a:extLst>
            </p:cNvPr>
            <p:cNvSpPr>
              <a:spLocks noChangeArrowheads="1"/>
            </p:cNvSpPr>
            <p:nvPr/>
          </p:nvSpPr>
          <p:spPr bwMode="auto">
            <a:xfrm>
              <a:off x="1279" y="4269"/>
              <a:ext cx="21"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143" name="Rectangle 39">
              <a:extLst>
                <a:ext uri="{FF2B5EF4-FFF2-40B4-BE49-F238E27FC236}">
                  <a16:creationId xmlns:a16="http://schemas.microsoft.com/office/drawing/2014/main" id="{24140048-C667-52C8-97D3-F1F2503FFB8B}"/>
                </a:ext>
              </a:extLst>
            </p:cNvPr>
            <p:cNvSpPr>
              <a:spLocks noChangeArrowheads="1"/>
            </p:cNvSpPr>
            <p:nvPr/>
          </p:nvSpPr>
          <p:spPr bwMode="auto">
            <a:xfrm>
              <a:off x="1724" y="23"/>
              <a:ext cx="21"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144" name="Freeform 40">
              <a:extLst>
                <a:ext uri="{FF2B5EF4-FFF2-40B4-BE49-F238E27FC236}">
                  <a16:creationId xmlns:a16="http://schemas.microsoft.com/office/drawing/2014/main" id="{CF26E1FF-056C-4937-8799-A8EB90E20A54}"/>
                </a:ext>
              </a:extLst>
            </p:cNvPr>
            <p:cNvSpPr>
              <a:spLocks noEditPoints="1"/>
            </p:cNvSpPr>
            <p:nvPr/>
          </p:nvSpPr>
          <p:spPr bwMode="auto">
            <a:xfrm>
              <a:off x="1724"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45" name="Freeform 41">
              <a:extLst>
                <a:ext uri="{FF2B5EF4-FFF2-40B4-BE49-F238E27FC236}">
                  <a16:creationId xmlns:a16="http://schemas.microsoft.com/office/drawing/2014/main" id="{5D40E815-8582-DFCF-6043-2DF2FA1B7639}"/>
                </a:ext>
              </a:extLst>
            </p:cNvPr>
            <p:cNvSpPr>
              <a:spLocks noEditPoints="1"/>
            </p:cNvSpPr>
            <p:nvPr/>
          </p:nvSpPr>
          <p:spPr bwMode="auto">
            <a:xfrm>
              <a:off x="1724"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46" name="Freeform 42">
              <a:extLst>
                <a:ext uri="{FF2B5EF4-FFF2-40B4-BE49-F238E27FC236}">
                  <a16:creationId xmlns:a16="http://schemas.microsoft.com/office/drawing/2014/main" id="{3777E66B-BD1B-87C8-9F15-044070BCF6B0}"/>
                </a:ext>
              </a:extLst>
            </p:cNvPr>
            <p:cNvSpPr>
              <a:spLocks noEditPoints="1"/>
            </p:cNvSpPr>
            <p:nvPr/>
          </p:nvSpPr>
          <p:spPr bwMode="auto">
            <a:xfrm>
              <a:off x="1724"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47" name="Freeform 43">
              <a:extLst>
                <a:ext uri="{FF2B5EF4-FFF2-40B4-BE49-F238E27FC236}">
                  <a16:creationId xmlns:a16="http://schemas.microsoft.com/office/drawing/2014/main" id="{5B68B7F7-8984-A74F-3DD2-1F5E38D423BF}"/>
                </a:ext>
              </a:extLst>
            </p:cNvPr>
            <p:cNvSpPr>
              <a:spLocks noEditPoints="1"/>
            </p:cNvSpPr>
            <p:nvPr/>
          </p:nvSpPr>
          <p:spPr bwMode="auto">
            <a:xfrm>
              <a:off x="1724"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48" name="Freeform 44">
              <a:extLst>
                <a:ext uri="{FF2B5EF4-FFF2-40B4-BE49-F238E27FC236}">
                  <a16:creationId xmlns:a16="http://schemas.microsoft.com/office/drawing/2014/main" id="{FD5F0CE2-853E-B5DA-09E7-0581031BE274}"/>
                </a:ext>
              </a:extLst>
            </p:cNvPr>
            <p:cNvSpPr>
              <a:spLocks noEditPoints="1"/>
            </p:cNvSpPr>
            <p:nvPr/>
          </p:nvSpPr>
          <p:spPr bwMode="auto">
            <a:xfrm>
              <a:off x="1724"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49" name="Freeform 45">
              <a:extLst>
                <a:ext uri="{FF2B5EF4-FFF2-40B4-BE49-F238E27FC236}">
                  <a16:creationId xmlns:a16="http://schemas.microsoft.com/office/drawing/2014/main" id="{67F3AA82-F800-51B0-9726-1F50833437D3}"/>
                </a:ext>
              </a:extLst>
            </p:cNvPr>
            <p:cNvSpPr>
              <a:spLocks noEditPoints="1"/>
            </p:cNvSpPr>
            <p:nvPr/>
          </p:nvSpPr>
          <p:spPr bwMode="auto">
            <a:xfrm>
              <a:off x="1724"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50" name="Freeform 46">
              <a:extLst>
                <a:ext uri="{FF2B5EF4-FFF2-40B4-BE49-F238E27FC236}">
                  <a16:creationId xmlns:a16="http://schemas.microsoft.com/office/drawing/2014/main" id="{55C2C6B5-719E-5E17-4EB7-A49983065C7C}"/>
                </a:ext>
              </a:extLst>
            </p:cNvPr>
            <p:cNvSpPr>
              <a:spLocks noEditPoints="1"/>
            </p:cNvSpPr>
            <p:nvPr/>
          </p:nvSpPr>
          <p:spPr bwMode="auto">
            <a:xfrm>
              <a:off x="1724"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51" name="Freeform 47">
              <a:extLst>
                <a:ext uri="{FF2B5EF4-FFF2-40B4-BE49-F238E27FC236}">
                  <a16:creationId xmlns:a16="http://schemas.microsoft.com/office/drawing/2014/main" id="{8C7A04E5-BBF0-6D1C-F082-EBCA7E3BB78B}"/>
                </a:ext>
              </a:extLst>
            </p:cNvPr>
            <p:cNvSpPr>
              <a:spLocks noEditPoints="1"/>
            </p:cNvSpPr>
            <p:nvPr/>
          </p:nvSpPr>
          <p:spPr bwMode="auto">
            <a:xfrm>
              <a:off x="1724"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52" name="Freeform 48">
              <a:extLst>
                <a:ext uri="{FF2B5EF4-FFF2-40B4-BE49-F238E27FC236}">
                  <a16:creationId xmlns:a16="http://schemas.microsoft.com/office/drawing/2014/main" id="{C56FBAE9-66F3-2C2D-A46D-C4C5488DEC2C}"/>
                </a:ext>
              </a:extLst>
            </p:cNvPr>
            <p:cNvSpPr>
              <a:spLocks noEditPoints="1"/>
            </p:cNvSpPr>
            <p:nvPr/>
          </p:nvSpPr>
          <p:spPr bwMode="auto">
            <a:xfrm>
              <a:off x="1724"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53" name="Freeform 49">
              <a:extLst>
                <a:ext uri="{FF2B5EF4-FFF2-40B4-BE49-F238E27FC236}">
                  <a16:creationId xmlns:a16="http://schemas.microsoft.com/office/drawing/2014/main" id="{4F82A3C6-840D-9C21-E6F5-515EE911EE2A}"/>
                </a:ext>
              </a:extLst>
            </p:cNvPr>
            <p:cNvSpPr>
              <a:spLocks noEditPoints="1"/>
            </p:cNvSpPr>
            <p:nvPr/>
          </p:nvSpPr>
          <p:spPr bwMode="auto">
            <a:xfrm>
              <a:off x="1724"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54" name="Rectangle 50">
              <a:extLst>
                <a:ext uri="{FF2B5EF4-FFF2-40B4-BE49-F238E27FC236}">
                  <a16:creationId xmlns:a16="http://schemas.microsoft.com/office/drawing/2014/main" id="{B39D3AC3-EFC4-76BA-3DB4-1F57644612BB}"/>
                </a:ext>
              </a:extLst>
            </p:cNvPr>
            <p:cNvSpPr>
              <a:spLocks noChangeArrowheads="1"/>
            </p:cNvSpPr>
            <p:nvPr/>
          </p:nvSpPr>
          <p:spPr bwMode="auto">
            <a:xfrm>
              <a:off x="1724" y="4269"/>
              <a:ext cx="21"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155" name="Rectangle 51">
              <a:extLst>
                <a:ext uri="{FF2B5EF4-FFF2-40B4-BE49-F238E27FC236}">
                  <a16:creationId xmlns:a16="http://schemas.microsoft.com/office/drawing/2014/main" id="{CE931625-C357-C724-25EB-CB19CABD1C30}"/>
                </a:ext>
              </a:extLst>
            </p:cNvPr>
            <p:cNvSpPr>
              <a:spLocks noChangeArrowheads="1"/>
            </p:cNvSpPr>
            <p:nvPr/>
          </p:nvSpPr>
          <p:spPr bwMode="auto">
            <a:xfrm>
              <a:off x="2169" y="23"/>
              <a:ext cx="21"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156" name="Freeform 52">
              <a:extLst>
                <a:ext uri="{FF2B5EF4-FFF2-40B4-BE49-F238E27FC236}">
                  <a16:creationId xmlns:a16="http://schemas.microsoft.com/office/drawing/2014/main" id="{8E2B85F2-2ED6-3E44-EFCD-312DA6942A48}"/>
                </a:ext>
              </a:extLst>
            </p:cNvPr>
            <p:cNvSpPr>
              <a:spLocks noEditPoints="1"/>
            </p:cNvSpPr>
            <p:nvPr/>
          </p:nvSpPr>
          <p:spPr bwMode="auto">
            <a:xfrm>
              <a:off x="2169" y="225"/>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57" name="Freeform 53">
              <a:extLst>
                <a:ext uri="{FF2B5EF4-FFF2-40B4-BE49-F238E27FC236}">
                  <a16:creationId xmlns:a16="http://schemas.microsoft.com/office/drawing/2014/main" id="{BBF3B41A-A849-0FC7-87E8-B6F8D776ABC5}"/>
                </a:ext>
              </a:extLst>
            </p:cNvPr>
            <p:cNvSpPr>
              <a:spLocks noEditPoints="1"/>
            </p:cNvSpPr>
            <p:nvPr/>
          </p:nvSpPr>
          <p:spPr bwMode="auto">
            <a:xfrm>
              <a:off x="2169" y="630"/>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58" name="Freeform 54">
              <a:extLst>
                <a:ext uri="{FF2B5EF4-FFF2-40B4-BE49-F238E27FC236}">
                  <a16:creationId xmlns:a16="http://schemas.microsoft.com/office/drawing/2014/main" id="{1A42FD98-D1E5-363D-80B8-AC2455FD454E}"/>
                </a:ext>
              </a:extLst>
            </p:cNvPr>
            <p:cNvSpPr>
              <a:spLocks noEditPoints="1"/>
            </p:cNvSpPr>
            <p:nvPr/>
          </p:nvSpPr>
          <p:spPr bwMode="auto">
            <a:xfrm>
              <a:off x="2169" y="1034"/>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59" name="Freeform 55">
              <a:extLst>
                <a:ext uri="{FF2B5EF4-FFF2-40B4-BE49-F238E27FC236}">
                  <a16:creationId xmlns:a16="http://schemas.microsoft.com/office/drawing/2014/main" id="{4C1FBE8E-3ABA-3535-6604-A5BF906A2B3E}"/>
                </a:ext>
              </a:extLst>
            </p:cNvPr>
            <p:cNvSpPr>
              <a:spLocks noEditPoints="1"/>
            </p:cNvSpPr>
            <p:nvPr/>
          </p:nvSpPr>
          <p:spPr bwMode="auto">
            <a:xfrm>
              <a:off x="2169" y="1438"/>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60" name="Freeform 56">
              <a:extLst>
                <a:ext uri="{FF2B5EF4-FFF2-40B4-BE49-F238E27FC236}">
                  <a16:creationId xmlns:a16="http://schemas.microsoft.com/office/drawing/2014/main" id="{65CF92FD-6817-0B27-001E-54DC19D6CD8E}"/>
                </a:ext>
              </a:extLst>
            </p:cNvPr>
            <p:cNvSpPr>
              <a:spLocks noEditPoints="1"/>
            </p:cNvSpPr>
            <p:nvPr/>
          </p:nvSpPr>
          <p:spPr bwMode="auto">
            <a:xfrm>
              <a:off x="2169" y="1843"/>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61" name="Freeform 57">
              <a:extLst>
                <a:ext uri="{FF2B5EF4-FFF2-40B4-BE49-F238E27FC236}">
                  <a16:creationId xmlns:a16="http://schemas.microsoft.com/office/drawing/2014/main" id="{9A05A725-4253-1DB8-D1D5-33B05B05B566}"/>
                </a:ext>
              </a:extLst>
            </p:cNvPr>
            <p:cNvSpPr>
              <a:spLocks noEditPoints="1"/>
            </p:cNvSpPr>
            <p:nvPr/>
          </p:nvSpPr>
          <p:spPr bwMode="auto">
            <a:xfrm>
              <a:off x="2169" y="2247"/>
              <a:ext cx="21"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62" name="Freeform 58">
              <a:extLst>
                <a:ext uri="{FF2B5EF4-FFF2-40B4-BE49-F238E27FC236}">
                  <a16:creationId xmlns:a16="http://schemas.microsoft.com/office/drawing/2014/main" id="{2D1768E1-D9C7-D521-3189-3EA238FDCCC0}"/>
                </a:ext>
              </a:extLst>
            </p:cNvPr>
            <p:cNvSpPr>
              <a:spLocks noEditPoints="1"/>
            </p:cNvSpPr>
            <p:nvPr/>
          </p:nvSpPr>
          <p:spPr bwMode="auto">
            <a:xfrm>
              <a:off x="2169" y="2652"/>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63" name="Freeform 59">
              <a:extLst>
                <a:ext uri="{FF2B5EF4-FFF2-40B4-BE49-F238E27FC236}">
                  <a16:creationId xmlns:a16="http://schemas.microsoft.com/office/drawing/2014/main" id="{1E05D215-A0C8-3D4D-9D0B-DF33227014FB}"/>
                </a:ext>
              </a:extLst>
            </p:cNvPr>
            <p:cNvSpPr>
              <a:spLocks noEditPoints="1"/>
            </p:cNvSpPr>
            <p:nvPr/>
          </p:nvSpPr>
          <p:spPr bwMode="auto">
            <a:xfrm>
              <a:off x="2169" y="3056"/>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64" name="Freeform 60">
              <a:extLst>
                <a:ext uri="{FF2B5EF4-FFF2-40B4-BE49-F238E27FC236}">
                  <a16:creationId xmlns:a16="http://schemas.microsoft.com/office/drawing/2014/main" id="{F47C988C-23E8-A3DE-A48E-B247CAE92140}"/>
                </a:ext>
              </a:extLst>
            </p:cNvPr>
            <p:cNvSpPr>
              <a:spLocks noEditPoints="1"/>
            </p:cNvSpPr>
            <p:nvPr/>
          </p:nvSpPr>
          <p:spPr bwMode="auto">
            <a:xfrm>
              <a:off x="2169" y="3461"/>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65" name="Freeform 61">
              <a:extLst>
                <a:ext uri="{FF2B5EF4-FFF2-40B4-BE49-F238E27FC236}">
                  <a16:creationId xmlns:a16="http://schemas.microsoft.com/office/drawing/2014/main" id="{25291245-CCF5-A4F9-CD8D-F4166DA4FDE1}"/>
                </a:ext>
              </a:extLst>
            </p:cNvPr>
            <p:cNvSpPr>
              <a:spLocks noEditPoints="1"/>
            </p:cNvSpPr>
            <p:nvPr/>
          </p:nvSpPr>
          <p:spPr bwMode="auto">
            <a:xfrm>
              <a:off x="2169" y="3865"/>
              <a:ext cx="21"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66" name="Rectangle 62">
              <a:extLst>
                <a:ext uri="{FF2B5EF4-FFF2-40B4-BE49-F238E27FC236}">
                  <a16:creationId xmlns:a16="http://schemas.microsoft.com/office/drawing/2014/main" id="{C4283A30-15AE-D50A-7B20-ABD8F0218156}"/>
                </a:ext>
              </a:extLst>
            </p:cNvPr>
            <p:cNvSpPr>
              <a:spLocks noChangeArrowheads="1"/>
            </p:cNvSpPr>
            <p:nvPr/>
          </p:nvSpPr>
          <p:spPr bwMode="auto">
            <a:xfrm>
              <a:off x="2169" y="4269"/>
              <a:ext cx="21"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167" name="Rectangle 63">
              <a:extLst>
                <a:ext uri="{FF2B5EF4-FFF2-40B4-BE49-F238E27FC236}">
                  <a16:creationId xmlns:a16="http://schemas.microsoft.com/office/drawing/2014/main" id="{470C8B70-6D4F-ADDA-F149-2422350504E3}"/>
                </a:ext>
              </a:extLst>
            </p:cNvPr>
            <p:cNvSpPr>
              <a:spLocks noChangeArrowheads="1"/>
            </p:cNvSpPr>
            <p:nvPr/>
          </p:nvSpPr>
          <p:spPr bwMode="auto">
            <a:xfrm>
              <a:off x="2620" y="23"/>
              <a:ext cx="20"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168" name="Freeform 64">
              <a:extLst>
                <a:ext uri="{FF2B5EF4-FFF2-40B4-BE49-F238E27FC236}">
                  <a16:creationId xmlns:a16="http://schemas.microsoft.com/office/drawing/2014/main" id="{F390B0AF-C83D-CFD5-8651-A9E46BCC9438}"/>
                </a:ext>
              </a:extLst>
            </p:cNvPr>
            <p:cNvSpPr>
              <a:spLocks noEditPoints="1"/>
            </p:cNvSpPr>
            <p:nvPr/>
          </p:nvSpPr>
          <p:spPr bwMode="auto">
            <a:xfrm>
              <a:off x="262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69" name="Freeform 65">
              <a:extLst>
                <a:ext uri="{FF2B5EF4-FFF2-40B4-BE49-F238E27FC236}">
                  <a16:creationId xmlns:a16="http://schemas.microsoft.com/office/drawing/2014/main" id="{76755B30-3633-07EB-8291-37D10144B7A3}"/>
                </a:ext>
              </a:extLst>
            </p:cNvPr>
            <p:cNvSpPr>
              <a:spLocks noEditPoints="1"/>
            </p:cNvSpPr>
            <p:nvPr/>
          </p:nvSpPr>
          <p:spPr bwMode="auto">
            <a:xfrm>
              <a:off x="262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70" name="Freeform 66">
              <a:extLst>
                <a:ext uri="{FF2B5EF4-FFF2-40B4-BE49-F238E27FC236}">
                  <a16:creationId xmlns:a16="http://schemas.microsoft.com/office/drawing/2014/main" id="{99C456C7-7BC7-EF9C-7144-97E18D0A43FB}"/>
                </a:ext>
              </a:extLst>
            </p:cNvPr>
            <p:cNvSpPr>
              <a:spLocks noEditPoints="1"/>
            </p:cNvSpPr>
            <p:nvPr/>
          </p:nvSpPr>
          <p:spPr bwMode="auto">
            <a:xfrm>
              <a:off x="262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71" name="Freeform 67">
              <a:extLst>
                <a:ext uri="{FF2B5EF4-FFF2-40B4-BE49-F238E27FC236}">
                  <a16:creationId xmlns:a16="http://schemas.microsoft.com/office/drawing/2014/main" id="{2CFC0AD5-F8B9-C3CF-9936-6D16889A721D}"/>
                </a:ext>
              </a:extLst>
            </p:cNvPr>
            <p:cNvSpPr>
              <a:spLocks noEditPoints="1"/>
            </p:cNvSpPr>
            <p:nvPr/>
          </p:nvSpPr>
          <p:spPr bwMode="auto">
            <a:xfrm>
              <a:off x="262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72" name="Freeform 68">
              <a:extLst>
                <a:ext uri="{FF2B5EF4-FFF2-40B4-BE49-F238E27FC236}">
                  <a16:creationId xmlns:a16="http://schemas.microsoft.com/office/drawing/2014/main" id="{32A5BFDF-35F1-1F11-3B03-405D9326F84E}"/>
                </a:ext>
              </a:extLst>
            </p:cNvPr>
            <p:cNvSpPr>
              <a:spLocks noEditPoints="1"/>
            </p:cNvSpPr>
            <p:nvPr/>
          </p:nvSpPr>
          <p:spPr bwMode="auto">
            <a:xfrm>
              <a:off x="262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73" name="Freeform 69">
              <a:extLst>
                <a:ext uri="{FF2B5EF4-FFF2-40B4-BE49-F238E27FC236}">
                  <a16:creationId xmlns:a16="http://schemas.microsoft.com/office/drawing/2014/main" id="{AEF5CED8-2DF8-2CA3-DC9F-5EA431052643}"/>
                </a:ext>
              </a:extLst>
            </p:cNvPr>
            <p:cNvSpPr>
              <a:spLocks noEditPoints="1"/>
            </p:cNvSpPr>
            <p:nvPr/>
          </p:nvSpPr>
          <p:spPr bwMode="auto">
            <a:xfrm>
              <a:off x="262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74" name="Freeform 70">
              <a:extLst>
                <a:ext uri="{FF2B5EF4-FFF2-40B4-BE49-F238E27FC236}">
                  <a16:creationId xmlns:a16="http://schemas.microsoft.com/office/drawing/2014/main" id="{6D88091A-2242-9542-6569-2E4D07AB4EF5}"/>
                </a:ext>
              </a:extLst>
            </p:cNvPr>
            <p:cNvSpPr>
              <a:spLocks noEditPoints="1"/>
            </p:cNvSpPr>
            <p:nvPr/>
          </p:nvSpPr>
          <p:spPr bwMode="auto">
            <a:xfrm>
              <a:off x="262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75" name="Freeform 71">
              <a:extLst>
                <a:ext uri="{FF2B5EF4-FFF2-40B4-BE49-F238E27FC236}">
                  <a16:creationId xmlns:a16="http://schemas.microsoft.com/office/drawing/2014/main" id="{CFB9572A-F322-2900-4ED9-E8697136781F}"/>
                </a:ext>
              </a:extLst>
            </p:cNvPr>
            <p:cNvSpPr>
              <a:spLocks noEditPoints="1"/>
            </p:cNvSpPr>
            <p:nvPr/>
          </p:nvSpPr>
          <p:spPr bwMode="auto">
            <a:xfrm>
              <a:off x="262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76" name="Freeform 72">
              <a:extLst>
                <a:ext uri="{FF2B5EF4-FFF2-40B4-BE49-F238E27FC236}">
                  <a16:creationId xmlns:a16="http://schemas.microsoft.com/office/drawing/2014/main" id="{E0FCDC6F-69EE-68E0-C360-D41856313CC7}"/>
                </a:ext>
              </a:extLst>
            </p:cNvPr>
            <p:cNvSpPr>
              <a:spLocks noEditPoints="1"/>
            </p:cNvSpPr>
            <p:nvPr/>
          </p:nvSpPr>
          <p:spPr bwMode="auto">
            <a:xfrm>
              <a:off x="262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77" name="Freeform 73">
              <a:extLst>
                <a:ext uri="{FF2B5EF4-FFF2-40B4-BE49-F238E27FC236}">
                  <a16:creationId xmlns:a16="http://schemas.microsoft.com/office/drawing/2014/main" id="{AD99BF37-A96F-2F46-23A6-B0D82EBA2F28}"/>
                </a:ext>
              </a:extLst>
            </p:cNvPr>
            <p:cNvSpPr>
              <a:spLocks noEditPoints="1"/>
            </p:cNvSpPr>
            <p:nvPr/>
          </p:nvSpPr>
          <p:spPr bwMode="auto">
            <a:xfrm>
              <a:off x="262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78" name="Rectangle 74">
              <a:extLst>
                <a:ext uri="{FF2B5EF4-FFF2-40B4-BE49-F238E27FC236}">
                  <a16:creationId xmlns:a16="http://schemas.microsoft.com/office/drawing/2014/main" id="{E9D9C169-359D-96D2-1F41-E2AD6BFE732C}"/>
                </a:ext>
              </a:extLst>
            </p:cNvPr>
            <p:cNvSpPr>
              <a:spLocks noChangeArrowheads="1"/>
            </p:cNvSpPr>
            <p:nvPr/>
          </p:nvSpPr>
          <p:spPr bwMode="auto">
            <a:xfrm>
              <a:off x="2620" y="4269"/>
              <a:ext cx="20"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179" name="Rectangle 75">
              <a:extLst>
                <a:ext uri="{FF2B5EF4-FFF2-40B4-BE49-F238E27FC236}">
                  <a16:creationId xmlns:a16="http://schemas.microsoft.com/office/drawing/2014/main" id="{EAC2B1F7-A5CB-BCB5-9E5A-76DBD83671EA}"/>
                </a:ext>
              </a:extLst>
            </p:cNvPr>
            <p:cNvSpPr>
              <a:spLocks noChangeArrowheads="1"/>
            </p:cNvSpPr>
            <p:nvPr/>
          </p:nvSpPr>
          <p:spPr bwMode="auto">
            <a:xfrm>
              <a:off x="3065" y="23"/>
              <a:ext cx="20"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180" name="Freeform 76">
              <a:extLst>
                <a:ext uri="{FF2B5EF4-FFF2-40B4-BE49-F238E27FC236}">
                  <a16:creationId xmlns:a16="http://schemas.microsoft.com/office/drawing/2014/main" id="{26288C17-03E0-9548-C6A7-7AEA06E1B1BE}"/>
                </a:ext>
              </a:extLst>
            </p:cNvPr>
            <p:cNvSpPr>
              <a:spLocks noEditPoints="1"/>
            </p:cNvSpPr>
            <p:nvPr/>
          </p:nvSpPr>
          <p:spPr bwMode="auto">
            <a:xfrm>
              <a:off x="3065"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81" name="Freeform 77">
              <a:extLst>
                <a:ext uri="{FF2B5EF4-FFF2-40B4-BE49-F238E27FC236}">
                  <a16:creationId xmlns:a16="http://schemas.microsoft.com/office/drawing/2014/main" id="{4B16C7B1-FE8E-9CE3-BE00-00B4E06B1B19}"/>
                </a:ext>
              </a:extLst>
            </p:cNvPr>
            <p:cNvSpPr>
              <a:spLocks noEditPoints="1"/>
            </p:cNvSpPr>
            <p:nvPr/>
          </p:nvSpPr>
          <p:spPr bwMode="auto">
            <a:xfrm>
              <a:off x="3065"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82" name="Freeform 78">
              <a:extLst>
                <a:ext uri="{FF2B5EF4-FFF2-40B4-BE49-F238E27FC236}">
                  <a16:creationId xmlns:a16="http://schemas.microsoft.com/office/drawing/2014/main" id="{B844BEB2-2D34-871B-E2C9-F78C8761FBA0}"/>
                </a:ext>
              </a:extLst>
            </p:cNvPr>
            <p:cNvSpPr>
              <a:spLocks noEditPoints="1"/>
            </p:cNvSpPr>
            <p:nvPr/>
          </p:nvSpPr>
          <p:spPr bwMode="auto">
            <a:xfrm>
              <a:off x="3065"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83" name="Freeform 79">
              <a:extLst>
                <a:ext uri="{FF2B5EF4-FFF2-40B4-BE49-F238E27FC236}">
                  <a16:creationId xmlns:a16="http://schemas.microsoft.com/office/drawing/2014/main" id="{B8E968CD-8FEE-0324-472A-70A90C36B064}"/>
                </a:ext>
              </a:extLst>
            </p:cNvPr>
            <p:cNvSpPr>
              <a:spLocks noEditPoints="1"/>
            </p:cNvSpPr>
            <p:nvPr/>
          </p:nvSpPr>
          <p:spPr bwMode="auto">
            <a:xfrm>
              <a:off x="3065"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84" name="Freeform 80">
              <a:extLst>
                <a:ext uri="{FF2B5EF4-FFF2-40B4-BE49-F238E27FC236}">
                  <a16:creationId xmlns:a16="http://schemas.microsoft.com/office/drawing/2014/main" id="{1930C702-701B-349C-DC3A-15BD5DE2EC73}"/>
                </a:ext>
              </a:extLst>
            </p:cNvPr>
            <p:cNvSpPr>
              <a:spLocks noEditPoints="1"/>
            </p:cNvSpPr>
            <p:nvPr/>
          </p:nvSpPr>
          <p:spPr bwMode="auto">
            <a:xfrm>
              <a:off x="3065"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85" name="Freeform 81">
              <a:extLst>
                <a:ext uri="{FF2B5EF4-FFF2-40B4-BE49-F238E27FC236}">
                  <a16:creationId xmlns:a16="http://schemas.microsoft.com/office/drawing/2014/main" id="{7ABC1895-B55A-6937-5597-A33A702BEAA4}"/>
                </a:ext>
              </a:extLst>
            </p:cNvPr>
            <p:cNvSpPr>
              <a:spLocks noEditPoints="1"/>
            </p:cNvSpPr>
            <p:nvPr/>
          </p:nvSpPr>
          <p:spPr bwMode="auto">
            <a:xfrm>
              <a:off x="3065"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86" name="Freeform 82">
              <a:extLst>
                <a:ext uri="{FF2B5EF4-FFF2-40B4-BE49-F238E27FC236}">
                  <a16:creationId xmlns:a16="http://schemas.microsoft.com/office/drawing/2014/main" id="{9837C948-42C5-2A83-E669-F7B8AD08A8A8}"/>
                </a:ext>
              </a:extLst>
            </p:cNvPr>
            <p:cNvSpPr>
              <a:spLocks noEditPoints="1"/>
            </p:cNvSpPr>
            <p:nvPr/>
          </p:nvSpPr>
          <p:spPr bwMode="auto">
            <a:xfrm>
              <a:off x="3065"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87" name="Freeform 83">
              <a:extLst>
                <a:ext uri="{FF2B5EF4-FFF2-40B4-BE49-F238E27FC236}">
                  <a16:creationId xmlns:a16="http://schemas.microsoft.com/office/drawing/2014/main" id="{EBDC14AA-6969-43D9-611C-69AFF7466143}"/>
                </a:ext>
              </a:extLst>
            </p:cNvPr>
            <p:cNvSpPr>
              <a:spLocks noEditPoints="1"/>
            </p:cNvSpPr>
            <p:nvPr/>
          </p:nvSpPr>
          <p:spPr bwMode="auto">
            <a:xfrm>
              <a:off x="3065"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88" name="Freeform 84">
              <a:extLst>
                <a:ext uri="{FF2B5EF4-FFF2-40B4-BE49-F238E27FC236}">
                  <a16:creationId xmlns:a16="http://schemas.microsoft.com/office/drawing/2014/main" id="{157853B4-FC69-C72D-5504-2E401F475BDA}"/>
                </a:ext>
              </a:extLst>
            </p:cNvPr>
            <p:cNvSpPr>
              <a:spLocks noEditPoints="1"/>
            </p:cNvSpPr>
            <p:nvPr/>
          </p:nvSpPr>
          <p:spPr bwMode="auto">
            <a:xfrm>
              <a:off x="3065"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89" name="Freeform 85">
              <a:extLst>
                <a:ext uri="{FF2B5EF4-FFF2-40B4-BE49-F238E27FC236}">
                  <a16:creationId xmlns:a16="http://schemas.microsoft.com/office/drawing/2014/main" id="{D09EFBF5-FC79-E0A2-2610-CC024FFB6F6B}"/>
                </a:ext>
              </a:extLst>
            </p:cNvPr>
            <p:cNvSpPr>
              <a:spLocks noEditPoints="1"/>
            </p:cNvSpPr>
            <p:nvPr/>
          </p:nvSpPr>
          <p:spPr bwMode="auto">
            <a:xfrm>
              <a:off x="3065"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90" name="Rectangle 86">
              <a:extLst>
                <a:ext uri="{FF2B5EF4-FFF2-40B4-BE49-F238E27FC236}">
                  <a16:creationId xmlns:a16="http://schemas.microsoft.com/office/drawing/2014/main" id="{5B858431-BC8C-C0EA-C5F6-2A1570B5A2DC}"/>
                </a:ext>
              </a:extLst>
            </p:cNvPr>
            <p:cNvSpPr>
              <a:spLocks noChangeArrowheads="1"/>
            </p:cNvSpPr>
            <p:nvPr/>
          </p:nvSpPr>
          <p:spPr bwMode="auto">
            <a:xfrm>
              <a:off x="3065" y="4269"/>
              <a:ext cx="20"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191" name="Rectangle 87">
              <a:extLst>
                <a:ext uri="{FF2B5EF4-FFF2-40B4-BE49-F238E27FC236}">
                  <a16:creationId xmlns:a16="http://schemas.microsoft.com/office/drawing/2014/main" id="{12026D03-8B4D-9E86-0B3D-5EB09FBAFA41}"/>
                </a:ext>
              </a:extLst>
            </p:cNvPr>
            <p:cNvSpPr>
              <a:spLocks noChangeArrowheads="1"/>
            </p:cNvSpPr>
            <p:nvPr/>
          </p:nvSpPr>
          <p:spPr bwMode="auto">
            <a:xfrm>
              <a:off x="3510" y="23"/>
              <a:ext cx="20"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192" name="Freeform 88">
              <a:extLst>
                <a:ext uri="{FF2B5EF4-FFF2-40B4-BE49-F238E27FC236}">
                  <a16:creationId xmlns:a16="http://schemas.microsoft.com/office/drawing/2014/main" id="{B0470A46-FCE9-4915-C0C9-D163487AA18B}"/>
                </a:ext>
              </a:extLst>
            </p:cNvPr>
            <p:cNvSpPr>
              <a:spLocks noEditPoints="1"/>
            </p:cNvSpPr>
            <p:nvPr/>
          </p:nvSpPr>
          <p:spPr bwMode="auto">
            <a:xfrm>
              <a:off x="351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93" name="Freeform 89">
              <a:extLst>
                <a:ext uri="{FF2B5EF4-FFF2-40B4-BE49-F238E27FC236}">
                  <a16:creationId xmlns:a16="http://schemas.microsoft.com/office/drawing/2014/main" id="{3263D8B5-D346-78D9-FE07-35ABA78DFC42}"/>
                </a:ext>
              </a:extLst>
            </p:cNvPr>
            <p:cNvSpPr>
              <a:spLocks noEditPoints="1"/>
            </p:cNvSpPr>
            <p:nvPr/>
          </p:nvSpPr>
          <p:spPr bwMode="auto">
            <a:xfrm>
              <a:off x="351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94" name="Freeform 90">
              <a:extLst>
                <a:ext uri="{FF2B5EF4-FFF2-40B4-BE49-F238E27FC236}">
                  <a16:creationId xmlns:a16="http://schemas.microsoft.com/office/drawing/2014/main" id="{8BA446DC-6C96-BE26-60DD-C59521A90582}"/>
                </a:ext>
              </a:extLst>
            </p:cNvPr>
            <p:cNvSpPr>
              <a:spLocks noEditPoints="1"/>
            </p:cNvSpPr>
            <p:nvPr/>
          </p:nvSpPr>
          <p:spPr bwMode="auto">
            <a:xfrm>
              <a:off x="351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95" name="Freeform 91">
              <a:extLst>
                <a:ext uri="{FF2B5EF4-FFF2-40B4-BE49-F238E27FC236}">
                  <a16:creationId xmlns:a16="http://schemas.microsoft.com/office/drawing/2014/main" id="{524AD3CA-BE2A-E0BE-CE0F-B6531EAD0F59}"/>
                </a:ext>
              </a:extLst>
            </p:cNvPr>
            <p:cNvSpPr>
              <a:spLocks noEditPoints="1"/>
            </p:cNvSpPr>
            <p:nvPr/>
          </p:nvSpPr>
          <p:spPr bwMode="auto">
            <a:xfrm>
              <a:off x="351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96" name="Freeform 92">
              <a:extLst>
                <a:ext uri="{FF2B5EF4-FFF2-40B4-BE49-F238E27FC236}">
                  <a16:creationId xmlns:a16="http://schemas.microsoft.com/office/drawing/2014/main" id="{27DCAD82-BDB8-29D2-87B6-D9622F952835}"/>
                </a:ext>
              </a:extLst>
            </p:cNvPr>
            <p:cNvSpPr>
              <a:spLocks noEditPoints="1"/>
            </p:cNvSpPr>
            <p:nvPr/>
          </p:nvSpPr>
          <p:spPr bwMode="auto">
            <a:xfrm>
              <a:off x="351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97" name="Freeform 93">
              <a:extLst>
                <a:ext uri="{FF2B5EF4-FFF2-40B4-BE49-F238E27FC236}">
                  <a16:creationId xmlns:a16="http://schemas.microsoft.com/office/drawing/2014/main" id="{CCC5D07A-BF42-1539-8152-F2904BE62636}"/>
                </a:ext>
              </a:extLst>
            </p:cNvPr>
            <p:cNvSpPr>
              <a:spLocks noEditPoints="1"/>
            </p:cNvSpPr>
            <p:nvPr/>
          </p:nvSpPr>
          <p:spPr bwMode="auto">
            <a:xfrm>
              <a:off x="351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98" name="Freeform 94">
              <a:extLst>
                <a:ext uri="{FF2B5EF4-FFF2-40B4-BE49-F238E27FC236}">
                  <a16:creationId xmlns:a16="http://schemas.microsoft.com/office/drawing/2014/main" id="{52F10586-A471-3FA8-AC13-81FA1AFCBBF3}"/>
                </a:ext>
              </a:extLst>
            </p:cNvPr>
            <p:cNvSpPr>
              <a:spLocks noEditPoints="1"/>
            </p:cNvSpPr>
            <p:nvPr/>
          </p:nvSpPr>
          <p:spPr bwMode="auto">
            <a:xfrm>
              <a:off x="351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199" name="Freeform 95">
              <a:extLst>
                <a:ext uri="{FF2B5EF4-FFF2-40B4-BE49-F238E27FC236}">
                  <a16:creationId xmlns:a16="http://schemas.microsoft.com/office/drawing/2014/main" id="{8367F32A-7C86-A53D-C85D-99AA86C91970}"/>
                </a:ext>
              </a:extLst>
            </p:cNvPr>
            <p:cNvSpPr>
              <a:spLocks noEditPoints="1"/>
            </p:cNvSpPr>
            <p:nvPr/>
          </p:nvSpPr>
          <p:spPr bwMode="auto">
            <a:xfrm>
              <a:off x="351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00" name="Freeform 96">
              <a:extLst>
                <a:ext uri="{FF2B5EF4-FFF2-40B4-BE49-F238E27FC236}">
                  <a16:creationId xmlns:a16="http://schemas.microsoft.com/office/drawing/2014/main" id="{96D65860-821E-678F-A128-944A3782997B}"/>
                </a:ext>
              </a:extLst>
            </p:cNvPr>
            <p:cNvSpPr>
              <a:spLocks noEditPoints="1"/>
            </p:cNvSpPr>
            <p:nvPr/>
          </p:nvSpPr>
          <p:spPr bwMode="auto">
            <a:xfrm>
              <a:off x="351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01" name="Freeform 97">
              <a:extLst>
                <a:ext uri="{FF2B5EF4-FFF2-40B4-BE49-F238E27FC236}">
                  <a16:creationId xmlns:a16="http://schemas.microsoft.com/office/drawing/2014/main" id="{69D96412-2113-B2E2-67AD-44656D0ECCDF}"/>
                </a:ext>
              </a:extLst>
            </p:cNvPr>
            <p:cNvSpPr>
              <a:spLocks noEditPoints="1"/>
            </p:cNvSpPr>
            <p:nvPr/>
          </p:nvSpPr>
          <p:spPr bwMode="auto">
            <a:xfrm>
              <a:off x="351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02" name="Rectangle 98">
              <a:extLst>
                <a:ext uri="{FF2B5EF4-FFF2-40B4-BE49-F238E27FC236}">
                  <a16:creationId xmlns:a16="http://schemas.microsoft.com/office/drawing/2014/main" id="{66A4983C-13E0-571E-E4AD-842E5B56F995}"/>
                </a:ext>
              </a:extLst>
            </p:cNvPr>
            <p:cNvSpPr>
              <a:spLocks noChangeArrowheads="1"/>
            </p:cNvSpPr>
            <p:nvPr/>
          </p:nvSpPr>
          <p:spPr bwMode="auto">
            <a:xfrm>
              <a:off x="3510" y="4269"/>
              <a:ext cx="20"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203" name="Rectangle 99">
              <a:extLst>
                <a:ext uri="{FF2B5EF4-FFF2-40B4-BE49-F238E27FC236}">
                  <a16:creationId xmlns:a16="http://schemas.microsoft.com/office/drawing/2014/main" id="{6A0F6743-E8F5-8285-284C-499867156B29}"/>
                </a:ext>
              </a:extLst>
            </p:cNvPr>
            <p:cNvSpPr>
              <a:spLocks noChangeArrowheads="1"/>
            </p:cNvSpPr>
            <p:nvPr/>
          </p:nvSpPr>
          <p:spPr bwMode="auto">
            <a:xfrm>
              <a:off x="3960" y="23"/>
              <a:ext cx="20"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204" name="Freeform 100">
              <a:extLst>
                <a:ext uri="{FF2B5EF4-FFF2-40B4-BE49-F238E27FC236}">
                  <a16:creationId xmlns:a16="http://schemas.microsoft.com/office/drawing/2014/main" id="{0796F383-8FD3-3AFD-2BEB-6E6CEF559458}"/>
                </a:ext>
              </a:extLst>
            </p:cNvPr>
            <p:cNvSpPr>
              <a:spLocks noEditPoints="1"/>
            </p:cNvSpPr>
            <p:nvPr/>
          </p:nvSpPr>
          <p:spPr bwMode="auto">
            <a:xfrm>
              <a:off x="396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05" name="Freeform 101">
              <a:extLst>
                <a:ext uri="{FF2B5EF4-FFF2-40B4-BE49-F238E27FC236}">
                  <a16:creationId xmlns:a16="http://schemas.microsoft.com/office/drawing/2014/main" id="{3DAEE448-80AF-1F15-7127-9ABF2BA5F22C}"/>
                </a:ext>
              </a:extLst>
            </p:cNvPr>
            <p:cNvSpPr>
              <a:spLocks noEditPoints="1"/>
            </p:cNvSpPr>
            <p:nvPr/>
          </p:nvSpPr>
          <p:spPr bwMode="auto">
            <a:xfrm>
              <a:off x="396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06" name="Freeform 102">
              <a:extLst>
                <a:ext uri="{FF2B5EF4-FFF2-40B4-BE49-F238E27FC236}">
                  <a16:creationId xmlns:a16="http://schemas.microsoft.com/office/drawing/2014/main" id="{C82D62F7-5F17-775E-0CAF-534EE3593D50}"/>
                </a:ext>
              </a:extLst>
            </p:cNvPr>
            <p:cNvSpPr>
              <a:spLocks noEditPoints="1"/>
            </p:cNvSpPr>
            <p:nvPr/>
          </p:nvSpPr>
          <p:spPr bwMode="auto">
            <a:xfrm>
              <a:off x="396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07" name="Freeform 103">
              <a:extLst>
                <a:ext uri="{FF2B5EF4-FFF2-40B4-BE49-F238E27FC236}">
                  <a16:creationId xmlns:a16="http://schemas.microsoft.com/office/drawing/2014/main" id="{D2AAF4D4-86A1-22C1-34D2-87C0F43148A3}"/>
                </a:ext>
              </a:extLst>
            </p:cNvPr>
            <p:cNvSpPr>
              <a:spLocks noEditPoints="1"/>
            </p:cNvSpPr>
            <p:nvPr/>
          </p:nvSpPr>
          <p:spPr bwMode="auto">
            <a:xfrm>
              <a:off x="396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08" name="Freeform 104">
              <a:extLst>
                <a:ext uri="{FF2B5EF4-FFF2-40B4-BE49-F238E27FC236}">
                  <a16:creationId xmlns:a16="http://schemas.microsoft.com/office/drawing/2014/main" id="{90A3609A-0618-3D9F-C0A6-04989BE2C94B}"/>
                </a:ext>
              </a:extLst>
            </p:cNvPr>
            <p:cNvSpPr>
              <a:spLocks noEditPoints="1"/>
            </p:cNvSpPr>
            <p:nvPr/>
          </p:nvSpPr>
          <p:spPr bwMode="auto">
            <a:xfrm>
              <a:off x="396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09" name="Freeform 105">
              <a:extLst>
                <a:ext uri="{FF2B5EF4-FFF2-40B4-BE49-F238E27FC236}">
                  <a16:creationId xmlns:a16="http://schemas.microsoft.com/office/drawing/2014/main" id="{DD7AC7E6-DA60-6C9D-8389-59B143112DB8}"/>
                </a:ext>
              </a:extLst>
            </p:cNvPr>
            <p:cNvSpPr>
              <a:spLocks noEditPoints="1"/>
            </p:cNvSpPr>
            <p:nvPr/>
          </p:nvSpPr>
          <p:spPr bwMode="auto">
            <a:xfrm>
              <a:off x="396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10" name="Freeform 106">
              <a:extLst>
                <a:ext uri="{FF2B5EF4-FFF2-40B4-BE49-F238E27FC236}">
                  <a16:creationId xmlns:a16="http://schemas.microsoft.com/office/drawing/2014/main" id="{01DAEDB6-F442-C61F-0742-DC8E5A81E895}"/>
                </a:ext>
              </a:extLst>
            </p:cNvPr>
            <p:cNvSpPr>
              <a:spLocks noEditPoints="1"/>
            </p:cNvSpPr>
            <p:nvPr/>
          </p:nvSpPr>
          <p:spPr bwMode="auto">
            <a:xfrm>
              <a:off x="396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11" name="Freeform 107">
              <a:extLst>
                <a:ext uri="{FF2B5EF4-FFF2-40B4-BE49-F238E27FC236}">
                  <a16:creationId xmlns:a16="http://schemas.microsoft.com/office/drawing/2014/main" id="{6073BC24-E0E2-0CA5-CACE-49B995719927}"/>
                </a:ext>
              </a:extLst>
            </p:cNvPr>
            <p:cNvSpPr>
              <a:spLocks noEditPoints="1"/>
            </p:cNvSpPr>
            <p:nvPr/>
          </p:nvSpPr>
          <p:spPr bwMode="auto">
            <a:xfrm>
              <a:off x="396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12" name="Freeform 108">
              <a:extLst>
                <a:ext uri="{FF2B5EF4-FFF2-40B4-BE49-F238E27FC236}">
                  <a16:creationId xmlns:a16="http://schemas.microsoft.com/office/drawing/2014/main" id="{E4988C2D-CC7B-99B9-8952-CDD762F2B51E}"/>
                </a:ext>
              </a:extLst>
            </p:cNvPr>
            <p:cNvSpPr>
              <a:spLocks noEditPoints="1"/>
            </p:cNvSpPr>
            <p:nvPr/>
          </p:nvSpPr>
          <p:spPr bwMode="auto">
            <a:xfrm>
              <a:off x="396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13" name="Freeform 109">
              <a:extLst>
                <a:ext uri="{FF2B5EF4-FFF2-40B4-BE49-F238E27FC236}">
                  <a16:creationId xmlns:a16="http://schemas.microsoft.com/office/drawing/2014/main" id="{525186E6-956C-7D88-F4D6-2452F31338D9}"/>
                </a:ext>
              </a:extLst>
            </p:cNvPr>
            <p:cNvSpPr>
              <a:spLocks noEditPoints="1"/>
            </p:cNvSpPr>
            <p:nvPr/>
          </p:nvSpPr>
          <p:spPr bwMode="auto">
            <a:xfrm>
              <a:off x="396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14" name="Rectangle 110">
              <a:extLst>
                <a:ext uri="{FF2B5EF4-FFF2-40B4-BE49-F238E27FC236}">
                  <a16:creationId xmlns:a16="http://schemas.microsoft.com/office/drawing/2014/main" id="{683948B9-6490-8CFE-1D9E-D171A3720508}"/>
                </a:ext>
              </a:extLst>
            </p:cNvPr>
            <p:cNvSpPr>
              <a:spLocks noChangeArrowheads="1"/>
            </p:cNvSpPr>
            <p:nvPr/>
          </p:nvSpPr>
          <p:spPr bwMode="auto">
            <a:xfrm>
              <a:off x="3960" y="4269"/>
              <a:ext cx="20"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215" name="Rectangle 111">
              <a:extLst>
                <a:ext uri="{FF2B5EF4-FFF2-40B4-BE49-F238E27FC236}">
                  <a16:creationId xmlns:a16="http://schemas.microsoft.com/office/drawing/2014/main" id="{654F062F-E835-0D2F-FF2C-361C68A3B973}"/>
                </a:ext>
              </a:extLst>
            </p:cNvPr>
            <p:cNvSpPr>
              <a:spLocks noChangeArrowheads="1"/>
            </p:cNvSpPr>
            <p:nvPr/>
          </p:nvSpPr>
          <p:spPr bwMode="auto">
            <a:xfrm>
              <a:off x="4405" y="23"/>
              <a:ext cx="20"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216" name="Freeform 112">
              <a:extLst>
                <a:ext uri="{FF2B5EF4-FFF2-40B4-BE49-F238E27FC236}">
                  <a16:creationId xmlns:a16="http://schemas.microsoft.com/office/drawing/2014/main" id="{A514B089-6C04-1AAF-F6BA-30E38BF004D4}"/>
                </a:ext>
              </a:extLst>
            </p:cNvPr>
            <p:cNvSpPr>
              <a:spLocks noEditPoints="1"/>
            </p:cNvSpPr>
            <p:nvPr/>
          </p:nvSpPr>
          <p:spPr bwMode="auto">
            <a:xfrm>
              <a:off x="4405"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17" name="Freeform 113">
              <a:extLst>
                <a:ext uri="{FF2B5EF4-FFF2-40B4-BE49-F238E27FC236}">
                  <a16:creationId xmlns:a16="http://schemas.microsoft.com/office/drawing/2014/main" id="{0165C2CB-2AC4-276B-EE58-B3DD31043DBC}"/>
                </a:ext>
              </a:extLst>
            </p:cNvPr>
            <p:cNvSpPr>
              <a:spLocks noEditPoints="1"/>
            </p:cNvSpPr>
            <p:nvPr/>
          </p:nvSpPr>
          <p:spPr bwMode="auto">
            <a:xfrm>
              <a:off x="4405"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18" name="Freeform 114">
              <a:extLst>
                <a:ext uri="{FF2B5EF4-FFF2-40B4-BE49-F238E27FC236}">
                  <a16:creationId xmlns:a16="http://schemas.microsoft.com/office/drawing/2014/main" id="{AAC4098D-FF51-6A56-54FC-FBE1F8666C3F}"/>
                </a:ext>
              </a:extLst>
            </p:cNvPr>
            <p:cNvSpPr>
              <a:spLocks noEditPoints="1"/>
            </p:cNvSpPr>
            <p:nvPr/>
          </p:nvSpPr>
          <p:spPr bwMode="auto">
            <a:xfrm>
              <a:off x="4405"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19" name="Freeform 115">
              <a:extLst>
                <a:ext uri="{FF2B5EF4-FFF2-40B4-BE49-F238E27FC236}">
                  <a16:creationId xmlns:a16="http://schemas.microsoft.com/office/drawing/2014/main" id="{EB75F7CA-DC69-8C6C-4B5A-CFFBF0B864CF}"/>
                </a:ext>
              </a:extLst>
            </p:cNvPr>
            <p:cNvSpPr>
              <a:spLocks noEditPoints="1"/>
            </p:cNvSpPr>
            <p:nvPr/>
          </p:nvSpPr>
          <p:spPr bwMode="auto">
            <a:xfrm>
              <a:off x="4405"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20" name="Freeform 116">
              <a:extLst>
                <a:ext uri="{FF2B5EF4-FFF2-40B4-BE49-F238E27FC236}">
                  <a16:creationId xmlns:a16="http://schemas.microsoft.com/office/drawing/2014/main" id="{EC204DB1-340A-8474-146E-0A2C89477418}"/>
                </a:ext>
              </a:extLst>
            </p:cNvPr>
            <p:cNvSpPr>
              <a:spLocks noEditPoints="1"/>
            </p:cNvSpPr>
            <p:nvPr/>
          </p:nvSpPr>
          <p:spPr bwMode="auto">
            <a:xfrm>
              <a:off x="4405"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21" name="Freeform 117">
              <a:extLst>
                <a:ext uri="{FF2B5EF4-FFF2-40B4-BE49-F238E27FC236}">
                  <a16:creationId xmlns:a16="http://schemas.microsoft.com/office/drawing/2014/main" id="{5E3E53BC-CA69-1DC5-C142-274E23EAF637}"/>
                </a:ext>
              </a:extLst>
            </p:cNvPr>
            <p:cNvSpPr>
              <a:spLocks noEditPoints="1"/>
            </p:cNvSpPr>
            <p:nvPr/>
          </p:nvSpPr>
          <p:spPr bwMode="auto">
            <a:xfrm>
              <a:off x="4405"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22" name="Freeform 118">
              <a:extLst>
                <a:ext uri="{FF2B5EF4-FFF2-40B4-BE49-F238E27FC236}">
                  <a16:creationId xmlns:a16="http://schemas.microsoft.com/office/drawing/2014/main" id="{800517E7-3F51-C1FF-1D7C-F48A3A429711}"/>
                </a:ext>
              </a:extLst>
            </p:cNvPr>
            <p:cNvSpPr>
              <a:spLocks noEditPoints="1"/>
            </p:cNvSpPr>
            <p:nvPr/>
          </p:nvSpPr>
          <p:spPr bwMode="auto">
            <a:xfrm>
              <a:off x="4405"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23" name="Freeform 119">
              <a:extLst>
                <a:ext uri="{FF2B5EF4-FFF2-40B4-BE49-F238E27FC236}">
                  <a16:creationId xmlns:a16="http://schemas.microsoft.com/office/drawing/2014/main" id="{86883CEA-70A5-633D-60EE-40D458B569F4}"/>
                </a:ext>
              </a:extLst>
            </p:cNvPr>
            <p:cNvSpPr>
              <a:spLocks noEditPoints="1"/>
            </p:cNvSpPr>
            <p:nvPr/>
          </p:nvSpPr>
          <p:spPr bwMode="auto">
            <a:xfrm>
              <a:off x="4405"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24" name="Freeform 120">
              <a:extLst>
                <a:ext uri="{FF2B5EF4-FFF2-40B4-BE49-F238E27FC236}">
                  <a16:creationId xmlns:a16="http://schemas.microsoft.com/office/drawing/2014/main" id="{D0D5A1D9-96BE-35F1-1ADB-C0134A4F44D8}"/>
                </a:ext>
              </a:extLst>
            </p:cNvPr>
            <p:cNvSpPr>
              <a:spLocks noEditPoints="1"/>
            </p:cNvSpPr>
            <p:nvPr/>
          </p:nvSpPr>
          <p:spPr bwMode="auto">
            <a:xfrm>
              <a:off x="4405"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25" name="Freeform 121">
              <a:extLst>
                <a:ext uri="{FF2B5EF4-FFF2-40B4-BE49-F238E27FC236}">
                  <a16:creationId xmlns:a16="http://schemas.microsoft.com/office/drawing/2014/main" id="{0C05518E-9489-86C9-009F-FB5757656237}"/>
                </a:ext>
              </a:extLst>
            </p:cNvPr>
            <p:cNvSpPr>
              <a:spLocks noEditPoints="1"/>
            </p:cNvSpPr>
            <p:nvPr/>
          </p:nvSpPr>
          <p:spPr bwMode="auto">
            <a:xfrm>
              <a:off x="4405"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26" name="Rectangle 122">
              <a:extLst>
                <a:ext uri="{FF2B5EF4-FFF2-40B4-BE49-F238E27FC236}">
                  <a16:creationId xmlns:a16="http://schemas.microsoft.com/office/drawing/2014/main" id="{BEBCBBB7-AF24-630C-A647-4F897E9E5CEB}"/>
                </a:ext>
              </a:extLst>
            </p:cNvPr>
            <p:cNvSpPr>
              <a:spLocks noChangeArrowheads="1"/>
            </p:cNvSpPr>
            <p:nvPr/>
          </p:nvSpPr>
          <p:spPr bwMode="auto">
            <a:xfrm>
              <a:off x="4405" y="4269"/>
              <a:ext cx="20"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227" name="Rectangle 123">
              <a:extLst>
                <a:ext uri="{FF2B5EF4-FFF2-40B4-BE49-F238E27FC236}">
                  <a16:creationId xmlns:a16="http://schemas.microsoft.com/office/drawing/2014/main" id="{A70E8146-C5F4-7B96-4BAC-45C597838D06}"/>
                </a:ext>
              </a:extLst>
            </p:cNvPr>
            <p:cNvSpPr>
              <a:spLocks noChangeArrowheads="1"/>
            </p:cNvSpPr>
            <p:nvPr/>
          </p:nvSpPr>
          <p:spPr bwMode="auto">
            <a:xfrm>
              <a:off x="4850" y="23"/>
              <a:ext cx="20"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228" name="Freeform 124">
              <a:extLst>
                <a:ext uri="{FF2B5EF4-FFF2-40B4-BE49-F238E27FC236}">
                  <a16:creationId xmlns:a16="http://schemas.microsoft.com/office/drawing/2014/main" id="{9508120A-17C2-74E6-9157-9C161C68B65E}"/>
                </a:ext>
              </a:extLst>
            </p:cNvPr>
            <p:cNvSpPr>
              <a:spLocks noEditPoints="1"/>
            </p:cNvSpPr>
            <p:nvPr/>
          </p:nvSpPr>
          <p:spPr bwMode="auto">
            <a:xfrm>
              <a:off x="485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29" name="Freeform 125">
              <a:extLst>
                <a:ext uri="{FF2B5EF4-FFF2-40B4-BE49-F238E27FC236}">
                  <a16:creationId xmlns:a16="http://schemas.microsoft.com/office/drawing/2014/main" id="{274CE854-0B1F-C3F1-9369-23788C549B6A}"/>
                </a:ext>
              </a:extLst>
            </p:cNvPr>
            <p:cNvSpPr>
              <a:spLocks noEditPoints="1"/>
            </p:cNvSpPr>
            <p:nvPr/>
          </p:nvSpPr>
          <p:spPr bwMode="auto">
            <a:xfrm>
              <a:off x="485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30" name="Freeform 126">
              <a:extLst>
                <a:ext uri="{FF2B5EF4-FFF2-40B4-BE49-F238E27FC236}">
                  <a16:creationId xmlns:a16="http://schemas.microsoft.com/office/drawing/2014/main" id="{085DA702-A170-2855-5C7D-B5D340D55281}"/>
                </a:ext>
              </a:extLst>
            </p:cNvPr>
            <p:cNvSpPr>
              <a:spLocks noEditPoints="1"/>
            </p:cNvSpPr>
            <p:nvPr/>
          </p:nvSpPr>
          <p:spPr bwMode="auto">
            <a:xfrm>
              <a:off x="485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31" name="Freeform 127">
              <a:extLst>
                <a:ext uri="{FF2B5EF4-FFF2-40B4-BE49-F238E27FC236}">
                  <a16:creationId xmlns:a16="http://schemas.microsoft.com/office/drawing/2014/main" id="{67225C87-CA47-C6BD-3692-E342152B30D1}"/>
                </a:ext>
              </a:extLst>
            </p:cNvPr>
            <p:cNvSpPr>
              <a:spLocks noEditPoints="1"/>
            </p:cNvSpPr>
            <p:nvPr/>
          </p:nvSpPr>
          <p:spPr bwMode="auto">
            <a:xfrm>
              <a:off x="485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32" name="Freeform 128">
              <a:extLst>
                <a:ext uri="{FF2B5EF4-FFF2-40B4-BE49-F238E27FC236}">
                  <a16:creationId xmlns:a16="http://schemas.microsoft.com/office/drawing/2014/main" id="{C03C75FE-2FB1-6127-FA3E-58170A9D8BDD}"/>
                </a:ext>
              </a:extLst>
            </p:cNvPr>
            <p:cNvSpPr>
              <a:spLocks noEditPoints="1"/>
            </p:cNvSpPr>
            <p:nvPr/>
          </p:nvSpPr>
          <p:spPr bwMode="auto">
            <a:xfrm>
              <a:off x="485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33" name="Freeform 129">
              <a:extLst>
                <a:ext uri="{FF2B5EF4-FFF2-40B4-BE49-F238E27FC236}">
                  <a16:creationId xmlns:a16="http://schemas.microsoft.com/office/drawing/2014/main" id="{EEE30814-D45D-EA39-ECA3-1095E0545631}"/>
                </a:ext>
              </a:extLst>
            </p:cNvPr>
            <p:cNvSpPr>
              <a:spLocks noEditPoints="1"/>
            </p:cNvSpPr>
            <p:nvPr/>
          </p:nvSpPr>
          <p:spPr bwMode="auto">
            <a:xfrm>
              <a:off x="485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34" name="Freeform 130">
              <a:extLst>
                <a:ext uri="{FF2B5EF4-FFF2-40B4-BE49-F238E27FC236}">
                  <a16:creationId xmlns:a16="http://schemas.microsoft.com/office/drawing/2014/main" id="{E9D259E8-6FBE-091E-681B-F6111BD4BD4C}"/>
                </a:ext>
              </a:extLst>
            </p:cNvPr>
            <p:cNvSpPr>
              <a:spLocks noEditPoints="1"/>
            </p:cNvSpPr>
            <p:nvPr/>
          </p:nvSpPr>
          <p:spPr bwMode="auto">
            <a:xfrm>
              <a:off x="485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35" name="Freeform 131">
              <a:extLst>
                <a:ext uri="{FF2B5EF4-FFF2-40B4-BE49-F238E27FC236}">
                  <a16:creationId xmlns:a16="http://schemas.microsoft.com/office/drawing/2014/main" id="{1309E417-2463-537C-2AC7-4E30525E1602}"/>
                </a:ext>
              </a:extLst>
            </p:cNvPr>
            <p:cNvSpPr>
              <a:spLocks noEditPoints="1"/>
            </p:cNvSpPr>
            <p:nvPr/>
          </p:nvSpPr>
          <p:spPr bwMode="auto">
            <a:xfrm>
              <a:off x="485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36" name="Freeform 132">
              <a:extLst>
                <a:ext uri="{FF2B5EF4-FFF2-40B4-BE49-F238E27FC236}">
                  <a16:creationId xmlns:a16="http://schemas.microsoft.com/office/drawing/2014/main" id="{267849B9-731D-A3D7-990A-2F9D72598A87}"/>
                </a:ext>
              </a:extLst>
            </p:cNvPr>
            <p:cNvSpPr>
              <a:spLocks noEditPoints="1"/>
            </p:cNvSpPr>
            <p:nvPr/>
          </p:nvSpPr>
          <p:spPr bwMode="auto">
            <a:xfrm>
              <a:off x="485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37" name="Freeform 133">
              <a:extLst>
                <a:ext uri="{FF2B5EF4-FFF2-40B4-BE49-F238E27FC236}">
                  <a16:creationId xmlns:a16="http://schemas.microsoft.com/office/drawing/2014/main" id="{FD7FA50B-25C5-7CC5-8F95-E5B067E8801C}"/>
                </a:ext>
              </a:extLst>
            </p:cNvPr>
            <p:cNvSpPr>
              <a:spLocks noEditPoints="1"/>
            </p:cNvSpPr>
            <p:nvPr/>
          </p:nvSpPr>
          <p:spPr bwMode="auto">
            <a:xfrm>
              <a:off x="485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38" name="Rectangle 134">
              <a:extLst>
                <a:ext uri="{FF2B5EF4-FFF2-40B4-BE49-F238E27FC236}">
                  <a16:creationId xmlns:a16="http://schemas.microsoft.com/office/drawing/2014/main" id="{EAF576E4-8CBF-1FA8-3A11-03A56D58E3F4}"/>
                </a:ext>
              </a:extLst>
            </p:cNvPr>
            <p:cNvSpPr>
              <a:spLocks noChangeArrowheads="1"/>
            </p:cNvSpPr>
            <p:nvPr/>
          </p:nvSpPr>
          <p:spPr bwMode="auto">
            <a:xfrm>
              <a:off x="4850" y="4269"/>
              <a:ext cx="20"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239" name="Rectangle 135">
              <a:extLst>
                <a:ext uri="{FF2B5EF4-FFF2-40B4-BE49-F238E27FC236}">
                  <a16:creationId xmlns:a16="http://schemas.microsoft.com/office/drawing/2014/main" id="{2EA5C9D2-0D28-E4E6-1204-0F4F269EEDFE}"/>
                </a:ext>
              </a:extLst>
            </p:cNvPr>
            <p:cNvSpPr>
              <a:spLocks noChangeArrowheads="1"/>
            </p:cNvSpPr>
            <p:nvPr/>
          </p:nvSpPr>
          <p:spPr bwMode="auto">
            <a:xfrm>
              <a:off x="5300" y="23"/>
              <a:ext cx="20" cy="10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240" name="Freeform 136">
              <a:extLst>
                <a:ext uri="{FF2B5EF4-FFF2-40B4-BE49-F238E27FC236}">
                  <a16:creationId xmlns:a16="http://schemas.microsoft.com/office/drawing/2014/main" id="{B1585D73-216B-5E8A-CA04-750F881B4C09}"/>
                </a:ext>
              </a:extLst>
            </p:cNvPr>
            <p:cNvSpPr>
              <a:spLocks noEditPoints="1"/>
            </p:cNvSpPr>
            <p:nvPr/>
          </p:nvSpPr>
          <p:spPr bwMode="auto">
            <a:xfrm>
              <a:off x="5300" y="225"/>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41" name="Freeform 137">
              <a:extLst>
                <a:ext uri="{FF2B5EF4-FFF2-40B4-BE49-F238E27FC236}">
                  <a16:creationId xmlns:a16="http://schemas.microsoft.com/office/drawing/2014/main" id="{DD926D86-FA8E-6394-6D84-E33F6771C84C}"/>
                </a:ext>
              </a:extLst>
            </p:cNvPr>
            <p:cNvSpPr>
              <a:spLocks noEditPoints="1"/>
            </p:cNvSpPr>
            <p:nvPr/>
          </p:nvSpPr>
          <p:spPr bwMode="auto">
            <a:xfrm>
              <a:off x="5300" y="630"/>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42" name="Freeform 138">
              <a:extLst>
                <a:ext uri="{FF2B5EF4-FFF2-40B4-BE49-F238E27FC236}">
                  <a16:creationId xmlns:a16="http://schemas.microsoft.com/office/drawing/2014/main" id="{C1BCDFFA-2F52-D43D-C9FE-56D249851848}"/>
                </a:ext>
              </a:extLst>
            </p:cNvPr>
            <p:cNvSpPr>
              <a:spLocks noEditPoints="1"/>
            </p:cNvSpPr>
            <p:nvPr/>
          </p:nvSpPr>
          <p:spPr bwMode="auto">
            <a:xfrm>
              <a:off x="5300" y="1034"/>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43" name="Freeform 139">
              <a:extLst>
                <a:ext uri="{FF2B5EF4-FFF2-40B4-BE49-F238E27FC236}">
                  <a16:creationId xmlns:a16="http://schemas.microsoft.com/office/drawing/2014/main" id="{323F2D25-8E4D-6382-7018-56FA22BB3B0E}"/>
                </a:ext>
              </a:extLst>
            </p:cNvPr>
            <p:cNvSpPr>
              <a:spLocks noEditPoints="1"/>
            </p:cNvSpPr>
            <p:nvPr/>
          </p:nvSpPr>
          <p:spPr bwMode="auto">
            <a:xfrm>
              <a:off x="5300" y="1438"/>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44" name="Freeform 140">
              <a:extLst>
                <a:ext uri="{FF2B5EF4-FFF2-40B4-BE49-F238E27FC236}">
                  <a16:creationId xmlns:a16="http://schemas.microsoft.com/office/drawing/2014/main" id="{76907334-A63A-61B2-F42A-388571A0437A}"/>
                </a:ext>
              </a:extLst>
            </p:cNvPr>
            <p:cNvSpPr>
              <a:spLocks noEditPoints="1"/>
            </p:cNvSpPr>
            <p:nvPr/>
          </p:nvSpPr>
          <p:spPr bwMode="auto">
            <a:xfrm>
              <a:off x="5300" y="1843"/>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45" name="Freeform 141">
              <a:extLst>
                <a:ext uri="{FF2B5EF4-FFF2-40B4-BE49-F238E27FC236}">
                  <a16:creationId xmlns:a16="http://schemas.microsoft.com/office/drawing/2014/main" id="{65673F1C-C339-738E-B336-3382CEB356AB}"/>
                </a:ext>
              </a:extLst>
            </p:cNvPr>
            <p:cNvSpPr>
              <a:spLocks noEditPoints="1"/>
            </p:cNvSpPr>
            <p:nvPr/>
          </p:nvSpPr>
          <p:spPr bwMode="auto">
            <a:xfrm>
              <a:off x="5300" y="2247"/>
              <a:ext cx="20" cy="304"/>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46" name="Freeform 142">
              <a:extLst>
                <a:ext uri="{FF2B5EF4-FFF2-40B4-BE49-F238E27FC236}">
                  <a16:creationId xmlns:a16="http://schemas.microsoft.com/office/drawing/2014/main" id="{C15D8D38-338F-F39B-9088-7FAC0E4857E2}"/>
                </a:ext>
              </a:extLst>
            </p:cNvPr>
            <p:cNvSpPr>
              <a:spLocks noEditPoints="1"/>
            </p:cNvSpPr>
            <p:nvPr/>
          </p:nvSpPr>
          <p:spPr bwMode="auto">
            <a:xfrm>
              <a:off x="5300" y="2652"/>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47" name="Freeform 143">
              <a:extLst>
                <a:ext uri="{FF2B5EF4-FFF2-40B4-BE49-F238E27FC236}">
                  <a16:creationId xmlns:a16="http://schemas.microsoft.com/office/drawing/2014/main" id="{54D33439-8F85-F160-59D0-2E8B09C25E42}"/>
                </a:ext>
              </a:extLst>
            </p:cNvPr>
            <p:cNvSpPr>
              <a:spLocks noEditPoints="1"/>
            </p:cNvSpPr>
            <p:nvPr/>
          </p:nvSpPr>
          <p:spPr bwMode="auto">
            <a:xfrm>
              <a:off x="5300" y="3056"/>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48" name="Freeform 144">
              <a:extLst>
                <a:ext uri="{FF2B5EF4-FFF2-40B4-BE49-F238E27FC236}">
                  <a16:creationId xmlns:a16="http://schemas.microsoft.com/office/drawing/2014/main" id="{833F1601-0488-99A8-A22D-0420D7BC51F5}"/>
                </a:ext>
              </a:extLst>
            </p:cNvPr>
            <p:cNvSpPr>
              <a:spLocks noEditPoints="1"/>
            </p:cNvSpPr>
            <p:nvPr/>
          </p:nvSpPr>
          <p:spPr bwMode="auto">
            <a:xfrm>
              <a:off x="5300" y="3461"/>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49" name="Freeform 145">
              <a:extLst>
                <a:ext uri="{FF2B5EF4-FFF2-40B4-BE49-F238E27FC236}">
                  <a16:creationId xmlns:a16="http://schemas.microsoft.com/office/drawing/2014/main" id="{9359F34C-3AED-161D-D6F9-D79C397F0B79}"/>
                </a:ext>
              </a:extLst>
            </p:cNvPr>
            <p:cNvSpPr>
              <a:spLocks noEditPoints="1"/>
            </p:cNvSpPr>
            <p:nvPr/>
          </p:nvSpPr>
          <p:spPr bwMode="auto">
            <a:xfrm>
              <a:off x="5300" y="3865"/>
              <a:ext cx="20" cy="303"/>
            </a:xfrm>
            <a:custGeom>
              <a:avLst/>
              <a:gdLst>
                <a:gd name="T0" fmla="*/ 0 w 4"/>
                <a:gd name="T1" fmla="*/ 0 h 60"/>
                <a:gd name="T2" fmla="*/ 0 w 4"/>
                <a:gd name="T3" fmla="*/ 20 h 60"/>
                <a:gd name="T4" fmla="*/ 4 w 4"/>
                <a:gd name="T5" fmla="*/ 20 h 60"/>
                <a:gd name="T6" fmla="*/ 4 w 4"/>
                <a:gd name="T7" fmla="*/ 0 h 60"/>
                <a:gd name="T8" fmla="*/ 0 w 4"/>
                <a:gd name="T9" fmla="*/ 0 h 60"/>
                <a:gd name="T10" fmla="*/ 0 w 4"/>
                <a:gd name="T11" fmla="*/ 40 h 60"/>
                <a:gd name="T12" fmla="*/ 0 w 4"/>
                <a:gd name="T13" fmla="*/ 60 h 60"/>
                <a:gd name="T14" fmla="*/ 4 w 4"/>
                <a:gd name="T15" fmla="*/ 60 h 60"/>
                <a:gd name="T16" fmla="*/ 4 w 4"/>
                <a:gd name="T17" fmla="*/ 40 h 60"/>
                <a:gd name="T18" fmla="*/ 0 w 4"/>
                <a:gd name="T19" fmla="*/ 4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 h="60">
                  <a:moveTo>
                    <a:pt x="0" y="0"/>
                  </a:moveTo>
                  <a:lnTo>
                    <a:pt x="0" y="20"/>
                  </a:lnTo>
                  <a:lnTo>
                    <a:pt x="4" y="20"/>
                  </a:lnTo>
                  <a:lnTo>
                    <a:pt x="4" y="0"/>
                  </a:lnTo>
                  <a:lnTo>
                    <a:pt x="0" y="0"/>
                  </a:lnTo>
                  <a:close/>
                  <a:moveTo>
                    <a:pt x="0" y="40"/>
                  </a:moveTo>
                  <a:lnTo>
                    <a:pt x="0" y="60"/>
                  </a:lnTo>
                  <a:lnTo>
                    <a:pt x="4" y="60"/>
                  </a:lnTo>
                  <a:lnTo>
                    <a:pt x="4" y="40"/>
                  </a:lnTo>
                  <a:lnTo>
                    <a:pt x="0" y="40"/>
                  </a:ln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50" name="Rectangle 146">
              <a:extLst>
                <a:ext uri="{FF2B5EF4-FFF2-40B4-BE49-F238E27FC236}">
                  <a16:creationId xmlns:a16="http://schemas.microsoft.com/office/drawing/2014/main" id="{ED458536-73D4-5C3C-B507-8DFB9522783A}"/>
                </a:ext>
              </a:extLst>
            </p:cNvPr>
            <p:cNvSpPr>
              <a:spLocks noChangeArrowheads="1"/>
            </p:cNvSpPr>
            <p:nvPr/>
          </p:nvSpPr>
          <p:spPr bwMode="auto">
            <a:xfrm>
              <a:off x="5300" y="4269"/>
              <a:ext cx="20" cy="51"/>
            </a:xfrm>
            <a:prstGeom prst="rect">
              <a:avLst/>
            </a:prstGeom>
            <a:solidFill>
              <a:schemeClr val="bg2">
                <a:alpha val="60001"/>
              </a:schemeClr>
            </a:solidFill>
            <a:ln>
              <a:noFill/>
            </a:ln>
            <a:extLst>
              <a:ext uri="{91240B29-F687-4F45-9708-019B960494DF}">
                <a14:hiddenLine xmlns:a14="http://schemas.microsoft.com/office/drawing/2010/main" w="0">
                  <a:solidFill>
                    <a:srgbClr val="000000"/>
                  </a:solidFill>
                  <a:miter lim="800000"/>
                  <a:headEnd/>
                  <a:tailEnd/>
                </a14:hiddenLine>
              </a:ext>
            </a:extLst>
          </p:spPr>
          <p:txBody>
            <a:bodyPr/>
            <a:lstStyle/>
            <a:p>
              <a:endParaRPr lang="zh-CN" altLang="en-US"/>
            </a:p>
          </p:txBody>
        </p:sp>
        <p:sp>
          <p:nvSpPr>
            <p:cNvPr id="175251" name="Freeform 147">
              <a:extLst>
                <a:ext uri="{FF2B5EF4-FFF2-40B4-BE49-F238E27FC236}">
                  <a16:creationId xmlns:a16="http://schemas.microsoft.com/office/drawing/2014/main" id="{39AA3417-3F28-402C-5BB6-CAB15A5B753E}"/>
                </a:ext>
              </a:extLst>
            </p:cNvPr>
            <p:cNvSpPr>
              <a:spLocks/>
            </p:cNvSpPr>
            <p:nvPr/>
          </p:nvSpPr>
          <p:spPr bwMode="auto">
            <a:xfrm>
              <a:off x="349" y="3304"/>
              <a:ext cx="20" cy="10"/>
            </a:xfrm>
            <a:custGeom>
              <a:avLst/>
              <a:gdLst>
                <a:gd name="T0" fmla="*/ 0 w 4"/>
                <a:gd name="T1" fmla="*/ 1 h 2"/>
                <a:gd name="T2" fmla="*/ 0 w 4"/>
                <a:gd name="T3" fmla="*/ 1 h 2"/>
              </a:gdLst>
              <a:ahLst/>
              <a:cxnLst>
                <a:cxn ang="0">
                  <a:pos x="T0" y="T1"/>
                </a:cxn>
                <a:cxn ang="0">
                  <a:pos x="T2" y="T3"/>
                </a:cxn>
              </a:cxnLst>
              <a:rect l="0" t="0" r="r" b="b"/>
              <a:pathLst>
                <a:path w="4" h="2">
                  <a:moveTo>
                    <a:pt x="0" y="1"/>
                  </a:moveTo>
                  <a:cubicBezTo>
                    <a:pt x="1" y="2"/>
                    <a:pt x="4" y="0"/>
                    <a:pt x="0" y="1"/>
                  </a:cubicBezTo>
                  <a:close/>
                </a:path>
              </a:pathLst>
            </a:custGeom>
            <a:solidFill>
              <a:schemeClr val="bg2">
                <a:alpha val="60001"/>
              </a:schemeClr>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175252" name="Group 148">
            <a:extLst>
              <a:ext uri="{FF2B5EF4-FFF2-40B4-BE49-F238E27FC236}">
                <a16:creationId xmlns:a16="http://schemas.microsoft.com/office/drawing/2014/main" id="{78C451BF-ED88-EF36-BDF1-8A3015F78B29}"/>
              </a:ext>
            </a:extLst>
          </p:cNvPr>
          <p:cNvGrpSpPr>
            <a:grpSpLocks/>
          </p:cNvGrpSpPr>
          <p:nvPr/>
        </p:nvGrpSpPr>
        <p:grpSpPr bwMode="auto">
          <a:xfrm>
            <a:off x="1066800" y="3444875"/>
            <a:ext cx="533400" cy="492125"/>
            <a:chOff x="96" y="2784"/>
            <a:chExt cx="1062" cy="981"/>
          </a:xfrm>
        </p:grpSpPr>
        <p:sp>
          <p:nvSpPr>
            <p:cNvPr id="175253" name="Freeform 149">
              <a:extLst>
                <a:ext uri="{FF2B5EF4-FFF2-40B4-BE49-F238E27FC236}">
                  <a16:creationId xmlns:a16="http://schemas.microsoft.com/office/drawing/2014/main" id="{6A37D63B-3494-04F3-199E-CE4F533B0BAA}"/>
                </a:ext>
              </a:extLst>
            </p:cNvPr>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54" name="Freeform 150">
              <a:extLst>
                <a:ext uri="{FF2B5EF4-FFF2-40B4-BE49-F238E27FC236}">
                  <a16:creationId xmlns:a16="http://schemas.microsoft.com/office/drawing/2014/main" id="{67BDABCF-079D-F949-F223-E9DA95679FEF}"/>
                </a:ext>
              </a:extLst>
            </p:cNvPr>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55" name="Freeform 151">
              <a:extLst>
                <a:ext uri="{FF2B5EF4-FFF2-40B4-BE49-F238E27FC236}">
                  <a16:creationId xmlns:a16="http://schemas.microsoft.com/office/drawing/2014/main" id="{9D194769-D41A-9425-8312-0F455FDBACE0}"/>
                </a:ext>
              </a:extLst>
            </p:cNvPr>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56" name="Freeform 152">
              <a:extLst>
                <a:ext uri="{FF2B5EF4-FFF2-40B4-BE49-F238E27FC236}">
                  <a16:creationId xmlns:a16="http://schemas.microsoft.com/office/drawing/2014/main" id="{2D23DE6B-1E71-B5D7-D161-F4750164F6BB}"/>
                </a:ext>
              </a:extLst>
            </p:cNvPr>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57" name="Freeform 153">
              <a:extLst>
                <a:ext uri="{FF2B5EF4-FFF2-40B4-BE49-F238E27FC236}">
                  <a16:creationId xmlns:a16="http://schemas.microsoft.com/office/drawing/2014/main" id="{1034F2F5-ADFC-12C2-93B9-E8D9910B79DF}"/>
                </a:ext>
              </a:extLst>
            </p:cNvPr>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58" name="Freeform 154">
              <a:extLst>
                <a:ext uri="{FF2B5EF4-FFF2-40B4-BE49-F238E27FC236}">
                  <a16:creationId xmlns:a16="http://schemas.microsoft.com/office/drawing/2014/main" id="{443E99E5-F99C-EBC7-3098-BF5434A8DFD8}"/>
                </a:ext>
              </a:extLst>
            </p:cNvPr>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59" name="Freeform 155">
              <a:extLst>
                <a:ext uri="{FF2B5EF4-FFF2-40B4-BE49-F238E27FC236}">
                  <a16:creationId xmlns:a16="http://schemas.microsoft.com/office/drawing/2014/main" id="{CF680AA6-768B-2BD0-BDE5-8C81700CD42D}"/>
                </a:ext>
              </a:extLst>
            </p:cNvPr>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60" name="Freeform 156">
              <a:extLst>
                <a:ext uri="{FF2B5EF4-FFF2-40B4-BE49-F238E27FC236}">
                  <a16:creationId xmlns:a16="http://schemas.microsoft.com/office/drawing/2014/main" id="{2D6DBEDB-8C7B-B371-5B42-DD509784DF11}"/>
                </a:ext>
              </a:extLst>
            </p:cNvPr>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61" name="Freeform 157">
              <a:extLst>
                <a:ext uri="{FF2B5EF4-FFF2-40B4-BE49-F238E27FC236}">
                  <a16:creationId xmlns:a16="http://schemas.microsoft.com/office/drawing/2014/main" id="{41AA3AC0-170C-2E9F-DBD3-30E000EBAF9F}"/>
                </a:ext>
              </a:extLst>
            </p:cNvPr>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62" name="Freeform 158">
              <a:extLst>
                <a:ext uri="{FF2B5EF4-FFF2-40B4-BE49-F238E27FC236}">
                  <a16:creationId xmlns:a16="http://schemas.microsoft.com/office/drawing/2014/main" id="{55A4D4FD-DD2F-C34F-BCF1-16FB29FDCEA3}"/>
                </a:ext>
              </a:extLst>
            </p:cNvPr>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63" name="Freeform 159">
              <a:extLst>
                <a:ext uri="{FF2B5EF4-FFF2-40B4-BE49-F238E27FC236}">
                  <a16:creationId xmlns:a16="http://schemas.microsoft.com/office/drawing/2014/main" id="{186C7A58-FBAA-F63F-DB8D-6451AC0F796B}"/>
                </a:ext>
              </a:extLst>
            </p:cNvPr>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64" name="Freeform 160">
              <a:extLst>
                <a:ext uri="{FF2B5EF4-FFF2-40B4-BE49-F238E27FC236}">
                  <a16:creationId xmlns:a16="http://schemas.microsoft.com/office/drawing/2014/main" id="{EBC86C48-ACF8-C9C4-048F-C8027C20B3E1}"/>
                </a:ext>
              </a:extLst>
            </p:cNvPr>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65" name="Freeform 161">
              <a:extLst>
                <a:ext uri="{FF2B5EF4-FFF2-40B4-BE49-F238E27FC236}">
                  <a16:creationId xmlns:a16="http://schemas.microsoft.com/office/drawing/2014/main" id="{EDC2FC2B-276B-4D66-FD91-DE66159C9279}"/>
                </a:ext>
              </a:extLst>
            </p:cNvPr>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175266" name="Group 162">
            <a:extLst>
              <a:ext uri="{FF2B5EF4-FFF2-40B4-BE49-F238E27FC236}">
                <a16:creationId xmlns:a16="http://schemas.microsoft.com/office/drawing/2014/main" id="{E50D2128-CBB6-CADC-874E-87176BC4CEEC}"/>
              </a:ext>
            </a:extLst>
          </p:cNvPr>
          <p:cNvGrpSpPr>
            <a:grpSpLocks/>
          </p:cNvGrpSpPr>
          <p:nvPr/>
        </p:nvGrpSpPr>
        <p:grpSpPr bwMode="auto">
          <a:xfrm>
            <a:off x="1066800" y="4552950"/>
            <a:ext cx="533400" cy="492125"/>
            <a:chOff x="96" y="2784"/>
            <a:chExt cx="1062" cy="981"/>
          </a:xfrm>
        </p:grpSpPr>
        <p:sp>
          <p:nvSpPr>
            <p:cNvPr id="175267" name="Freeform 163">
              <a:extLst>
                <a:ext uri="{FF2B5EF4-FFF2-40B4-BE49-F238E27FC236}">
                  <a16:creationId xmlns:a16="http://schemas.microsoft.com/office/drawing/2014/main" id="{424E260C-F0AE-0232-6AD0-CE891CE58D72}"/>
                </a:ext>
              </a:extLst>
            </p:cNvPr>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68" name="Freeform 164">
              <a:extLst>
                <a:ext uri="{FF2B5EF4-FFF2-40B4-BE49-F238E27FC236}">
                  <a16:creationId xmlns:a16="http://schemas.microsoft.com/office/drawing/2014/main" id="{F83BB0C9-A122-067C-626B-489F95E88C2E}"/>
                </a:ext>
              </a:extLst>
            </p:cNvPr>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69" name="Freeform 165">
              <a:extLst>
                <a:ext uri="{FF2B5EF4-FFF2-40B4-BE49-F238E27FC236}">
                  <a16:creationId xmlns:a16="http://schemas.microsoft.com/office/drawing/2014/main" id="{BE30D7C4-ACB9-0CB9-8163-A2880744FC0C}"/>
                </a:ext>
              </a:extLst>
            </p:cNvPr>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70" name="Freeform 166">
              <a:extLst>
                <a:ext uri="{FF2B5EF4-FFF2-40B4-BE49-F238E27FC236}">
                  <a16:creationId xmlns:a16="http://schemas.microsoft.com/office/drawing/2014/main" id="{FF618ADA-BFCF-F364-7941-909A8908A9EF}"/>
                </a:ext>
              </a:extLst>
            </p:cNvPr>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71" name="Freeform 167">
              <a:extLst>
                <a:ext uri="{FF2B5EF4-FFF2-40B4-BE49-F238E27FC236}">
                  <a16:creationId xmlns:a16="http://schemas.microsoft.com/office/drawing/2014/main" id="{244070EB-878D-4CC7-4F8B-B19A23C0867D}"/>
                </a:ext>
              </a:extLst>
            </p:cNvPr>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72" name="Freeform 168">
              <a:extLst>
                <a:ext uri="{FF2B5EF4-FFF2-40B4-BE49-F238E27FC236}">
                  <a16:creationId xmlns:a16="http://schemas.microsoft.com/office/drawing/2014/main" id="{CC902154-CD08-5A4D-EA31-CE4666ACF9D6}"/>
                </a:ext>
              </a:extLst>
            </p:cNvPr>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73" name="Freeform 169">
              <a:extLst>
                <a:ext uri="{FF2B5EF4-FFF2-40B4-BE49-F238E27FC236}">
                  <a16:creationId xmlns:a16="http://schemas.microsoft.com/office/drawing/2014/main" id="{1F57A004-38EB-5A0F-ADE0-3F7F37792E89}"/>
                </a:ext>
              </a:extLst>
            </p:cNvPr>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74" name="Freeform 170">
              <a:extLst>
                <a:ext uri="{FF2B5EF4-FFF2-40B4-BE49-F238E27FC236}">
                  <a16:creationId xmlns:a16="http://schemas.microsoft.com/office/drawing/2014/main" id="{A7AF3710-BDA6-B5A3-CF76-4F27FB5A9154}"/>
                </a:ext>
              </a:extLst>
            </p:cNvPr>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75" name="Freeform 171">
              <a:extLst>
                <a:ext uri="{FF2B5EF4-FFF2-40B4-BE49-F238E27FC236}">
                  <a16:creationId xmlns:a16="http://schemas.microsoft.com/office/drawing/2014/main" id="{E3B00F30-4FEA-CEB7-F829-49E8FB38E521}"/>
                </a:ext>
              </a:extLst>
            </p:cNvPr>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76" name="Freeform 172">
              <a:extLst>
                <a:ext uri="{FF2B5EF4-FFF2-40B4-BE49-F238E27FC236}">
                  <a16:creationId xmlns:a16="http://schemas.microsoft.com/office/drawing/2014/main" id="{78F9A3D4-F339-185F-5651-902015570D75}"/>
                </a:ext>
              </a:extLst>
            </p:cNvPr>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77" name="Freeform 173">
              <a:extLst>
                <a:ext uri="{FF2B5EF4-FFF2-40B4-BE49-F238E27FC236}">
                  <a16:creationId xmlns:a16="http://schemas.microsoft.com/office/drawing/2014/main" id="{377FA4FF-B67E-6501-3FC6-AFD3AB5E2068}"/>
                </a:ext>
              </a:extLst>
            </p:cNvPr>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78" name="Freeform 174">
              <a:extLst>
                <a:ext uri="{FF2B5EF4-FFF2-40B4-BE49-F238E27FC236}">
                  <a16:creationId xmlns:a16="http://schemas.microsoft.com/office/drawing/2014/main" id="{E19ED8C0-45EB-D059-8CFD-1AB9BFE658C1}"/>
                </a:ext>
              </a:extLst>
            </p:cNvPr>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79" name="Freeform 175">
              <a:extLst>
                <a:ext uri="{FF2B5EF4-FFF2-40B4-BE49-F238E27FC236}">
                  <a16:creationId xmlns:a16="http://schemas.microsoft.com/office/drawing/2014/main" id="{6A8F615D-4618-62DA-401C-7DB6B7A3AFE6}"/>
                </a:ext>
              </a:extLst>
            </p:cNvPr>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175280" name="Group 176">
            <a:extLst>
              <a:ext uri="{FF2B5EF4-FFF2-40B4-BE49-F238E27FC236}">
                <a16:creationId xmlns:a16="http://schemas.microsoft.com/office/drawing/2014/main" id="{FA796263-A1C9-AC95-CD2E-4A9AD20764EF}"/>
              </a:ext>
            </a:extLst>
          </p:cNvPr>
          <p:cNvGrpSpPr>
            <a:grpSpLocks/>
          </p:cNvGrpSpPr>
          <p:nvPr/>
        </p:nvGrpSpPr>
        <p:grpSpPr bwMode="auto">
          <a:xfrm>
            <a:off x="1066800" y="5562600"/>
            <a:ext cx="533400" cy="492125"/>
            <a:chOff x="96" y="2784"/>
            <a:chExt cx="1062" cy="981"/>
          </a:xfrm>
        </p:grpSpPr>
        <p:sp>
          <p:nvSpPr>
            <p:cNvPr id="175281" name="Freeform 177">
              <a:extLst>
                <a:ext uri="{FF2B5EF4-FFF2-40B4-BE49-F238E27FC236}">
                  <a16:creationId xmlns:a16="http://schemas.microsoft.com/office/drawing/2014/main" id="{369545FB-FA91-6B0C-620B-0F70DAC4250A}"/>
                </a:ext>
              </a:extLst>
            </p:cNvPr>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82" name="Freeform 178">
              <a:extLst>
                <a:ext uri="{FF2B5EF4-FFF2-40B4-BE49-F238E27FC236}">
                  <a16:creationId xmlns:a16="http://schemas.microsoft.com/office/drawing/2014/main" id="{9FAD189B-09B6-8FA5-D3E4-35CE09750DE4}"/>
                </a:ext>
              </a:extLst>
            </p:cNvPr>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83" name="Freeform 179">
              <a:extLst>
                <a:ext uri="{FF2B5EF4-FFF2-40B4-BE49-F238E27FC236}">
                  <a16:creationId xmlns:a16="http://schemas.microsoft.com/office/drawing/2014/main" id="{9A3C6E3B-C0BE-1AB2-3EE2-525210EA94EF}"/>
                </a:ext>
              </a:extLst>
            </p:cNvPr>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84" name="Freeform 180">
              <a:extLst>
                <a:ext uri="{FF2B5EF4-FFF2-40B4-BE49-F238E27FC236}">
                  <a16:creationId xmlns:a16="http://schemas.microsoft.com/office/drawing/2014/main" id="{2E027A62-7DBF-E55B-8457-12B959F189DE}"/>
                </a:ext>
              </a:extLst>
            </p:cNvPr>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85" name="Freeform 181">
              <a:extLst>
                <a:ext uri="{FF2B5EF4-FFF2-40B4-BE49-F238E27FC236}">
                  <a16:creationId xmlns:a16="http://schemas.microsoft.com/office/drawing/2014/main" id="{FD24304A-E93D-F704-BC22-EB07206DBABD}"/>
                </a:ext>
              </a:extLst>
            </p:cNvPr>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86" name="Freeform 182">
              <a:extLst>
                <a:ext uri="{FF2B5EF4-FFF2-40B4-BE49-F238E27FC236}">
                  <a16:creationId xmlns:a16="http://schemas.microsoft.com/office/drawing/2014/main" id="{F32B98BB-4C6E-5770-4229-74387C965A1C}"/>
                </a:ext>
              </a:extLst>
            </p:cNvPr>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87" name="Freeform 183">
              <a:extLst>
                <a:ext uri="{FF2B5EF4-FFF2-40B4-BE49-F238E27FC236}">
                  <a16:creationId xmlns:a16="http://schemas.microsoft.com/office/drawing/2014/main" id="{552E984B-C082-F4DB-BBC7-10D829387350}"/>
                </a:ext>
              </a:extLst>
            </p:cNvPr>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88" name="Freeform 184">
              <a:extLst>
                <a:ext uri="{FF2B5EF4-FFF2-40B4-BE49-F238E27FC236}">
                  <a16:creationId xmlns:a16="http://schemas.microsoft.com/office/drawing/2014/main" id="{850FA72F-EE6F-6245-96C0-D0532C049B80}"/>
                </a:ext>
              </a:extLst>
            </p:cNvPr>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89" name="Freeform 185">
              <a:extLst>
                <a:ext uri="{FF2B5EF4-FFF2-40B4-BE49-F238E27FC236}">
                  <a16:creationId xmlns:a16="http://schemas.microsoft.com/office/drawing/2014/main" id="{8026EAA1-2664-975D-1F65-0070D8156ACB}"/>
                </a:ext>
              </a:extLst>
            </p:cNvPr>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90" name="Freeform 186">
              <a:extLst>
                <a:ext uri="{FF2B5EF4-FFF2-40B4-BE49-F238E27FC236}">
                  <a16:creationId xmlns:a16="http://schemas.microsoft.com/office/drawing/2014/main" id="{0AC6FDCC-5456-A476-AF5A-FC29A7905D60}"/>
                </a:ext>
              </a:extLst>
            </p:cNvPr>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91" name="Freeform 187">
              <a:extLst>
                <a:ext uri="{FF2B5EF4-FFF2-40B4-BE49-F238E27FC236}">
                  <a16:creationId xmlns:a16="http://schemas.microsoft.com/office/drawing/2014/main" id="{AD52968B-87D8-7118-0E5B-87818BF482DC}"/>
                </a:ext>
              </a:extLst>
            </p:cNvPr>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92" name="Freeform 188">
              <a:extLst>
                <a:ext uri="{FF2B5EF4-FFF2-40B4-BE49-F238E27FC236}">
                  <a16:creationId xmlns:a16="http://schemas.microsoft.com/office/drawing/2014/main" id="{9CFD32BB-504B-8B92-357F-C1BB859F5409}"/>
                </a:ext>
              </a:extLst>
            </p:cNvPr>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93" name="Freeform 189">
              <a:extLst>
                <a:ext uri="{FF2B5EF4-FFF2-40B4-BE49-F238E27FC236}">
                  <a16:creationId xmlns:a16="http://schemas.microsoft.com/office/drawing/2014/main" id="{F8D04107-C2FF-2EA3-34E4-5434C72C0B79}"/>
                </a:ext>
              </a:extLst>
            </p:cNvPr>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175294" name="Group 190">
            <a:extLst>
              <a:ext uri="{FF2B5EF4-FFF2-40B4-BE49-F238E27FC236}">
                <a16:creationId xmlns:a16="http://schemas.microsoft.com/office/drawing/2014/main" id="{3E5096F1-9B3D-F021-AC46-432C321DCF4F}"/>
              </a:ext>
            </a:extLst>
          </p:cNvPr>
          <p:cNvGrpSpPr>
            <a:grpSpLocks/>
          </p:cNvGrpSpPr>
          <p:nvPr/>
        </p:nvGrpSpPr>
        <p:grpSpPr bwMode="auto">
          <a:xfrm>
            <a:off x="381000" y="3962400"/>
            <a:ext cx="533400" cy="492125"/>
            <a:chOff x="96" y="2784"/>
            <a:chExt cx="1062" cy="981"/>
          </a:xfrm>
        </p:grpSpPr>
        <p:sp>
          <p:nvSpPr>
            <p:cNvPr id="175295" name="Freeform 191">
              <a:extLst>
                <a:ext uri="{FF2B5EF4-FFF2-40B4-BE49-F238E27FC236}">
                  <a16:creationId xmlns:a16="http://schemas.microsoft.com/office/drawing/2014/main" id="{442A9D43-BDA4-372D-189E-DFF66BE90E12}"/>
                </a:ext>
              </a:extLst>
            </p:cNvPr>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96" name="Freeform 192">
              <a:extLst>
                <a:ext uri="{FF2B5EF4-FFF2-40B4-BE49-F238E27FC236}">
                  <a16:creationId xmlns:a16="http://schemas.microsoft.com/office/drawing/2014/main" id="{B8C0671A-8D8A-3B2E-4F15-BA391AFDD53F}"/>
                </a:ext>
              </a:extLst>
            </p:cNvPr>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97" name="Freeform 193">
              <a:extLst>
                <a:ext uri="{FF2B5EF4-FFF2-40B4-BE49-F238E27FC236}">
                  <a16:creationId xmlns:a16="http://schemas.microsoft.com/office/drawing/2014/main" id="{F67AAF7F-7C7C-72F9-AF5A-EC28A94E5290}"/>
                </a:ext>
              </a:extLst>
            </p:cNvPr>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98" name="Freeform 194">
              <a:extLst>
                <a:ext uri="{FF2B5EF4-FFF2-40B4-BE49-F238E27FC236}">
                  <a16:creationId xmlns:a16="http://schemas.microsoft.com/office/drawing/2014/main" id="{B163C5FA-794D-17E4-CBEC-92864A257549}"/>
                </a:ext>
              </a:extLst>
            </p:cNvPr>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299" name="Freeform 195">
              <a:extLst>
                <a:ext uri="{FF2B5EF4-FFF2-40B4-BE49-F238E27FC236}">
                  <a16:creationId xmlns:a16="http://schemas.microsoft.com/office/drawing/2014/main" id="{2E272422-F3D1-FEA2-0725-CACD6CDBA382}"/>
                </a:ext>
              </a:extLst>
            </p:cNvPr>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00" name="Freeform 196">
              <a:extLst>
                <a:ext uri="{FF2B5EF4-FFF2-40B4-BE49-F238E27FC236}">
                  <a16:creationId xmlns:a16="http://schemas.microsoft.com/office/drawing/2014/main" id="{C9C10544-BAB5-6870-A0A6-E67B99F637E2}"/>
                </a:ext>
              </a:extLst>
            </p:cNvPr>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01" name="Freeform 197">
              <a:extLst>
                <a:ext uri="{FF2B5EF4-FFF2-40B4-BE49-F238E27FC236}">
                  <a16:creationId xmlns:a16="http://schemas.microsoft.com/office/drawing/2014/main" id="{13974C01-B310-EDAF-2241-E7714B6C3F88}"/>
                </a:ext>
              </a:extLst>
            </p:cNvPr>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02" name="Freeform 198">
              <a:extLst>
                <a:ext uri="{FF2B5EF4-FFF2-40B4-BE49-F238E27FC236}">
                  <a16:creationId xmlns:a16="http://schemas.microsoft.com/office/drawing/2014/main" id="{68080F35-3E45-7967-121A-DE3013FAB5DC}"/>
                </a:ext>
              </a:extLst>
            </p:cNvPr>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03" name="Freeform 199">
              <a:extLst>
                <a:ext uri="{FF2B5EF4-FFF2-40B4-BE49-F238E27FC236}">
                  <a16:creationId xmlns:a16="http://schemas.microsoft.com/office/drawing/2014/main" id="{B038C749-74CB-C169-8FD9-74362CE852CA}"/>
                </a:ext>
              </a:extLst>
            </p:cNvPr>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04" name="Freeform 200">
              <a:extLst>
                <a:ext uri="{FF2B5EF4-FFF2-40B4-BE49-F238E27FC236}">
                  <a16:creationId xmlns:a16="http://schemas.microsoft.com/office/drawing/2014/main" id="{40B9AD94-5DB8-4D9C-FD10-A094A94D18EC}"/>
                </a:ext>
              </a:extLst>
            </p:cNvPr>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05" name="Freeform 201">
              <a:extLst>
                <a:ext uri="{FF2B5EF4-FFF2-40B4-BE49-F238E27FC236}">
                  <a16:creationId xmlns:a16="http://schemas.microsoft.com/office/drawing/2014/main" id="{FF29D8C2-7557-7EBC-2577-8C4706A62806}"/>
                </a:ext>
              </a:extLst>
            </p:cNvPr>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06" name="Freeform 202">
              <a:extLst>
                <a:ext uri="{FF2B5EF4-FFF2-40B4-BE49-F238E27FC236}">
                  <a16:creationId xmlns:a16="http://schemas.microsoft.com/office/drawing/2014/main" id="{36B48845-FA59-8113-BE6A-510121EF66F0}"/>
                </a:ext>
              </a:extLst>
            </p:cNvPr>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07" name="Freeform 203">
              <a:extLst>
                <a:ext uri="{FF2B5EF4-FFF2-40B4-BE49-F238E27FC236}">
                  <a16:creationId xmlns:a16="http://schemas.microsoft.com/office/drawing/2014/main" id="{35235034-D5A0-6BBF-FC51-0DCF9058AB26}"/>
                </a:ext>
              </a:extLst>
            </p:cNvPr>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175308" name="Group 204">
            <a:extLst>
              <a:ext uri="{FF2B5EF4-FFF2-40B4-BE49-F238E27FC236}">
                <a16:creationId xmlns:a16="http://schemas.microsoft.com/office/drawing/2014/main" id="{ED2FA2F4-6B99-865A-EE98-E647573CCE54}"/>
              </a:ext>
            </a:extLst>
          </p:cNvPr>
          <p:cNvGrpSpPr>
            <a:grpSpLocks/>
          </p:cNvGrpSpPr>
          <p:nvPr/>
        </p:nvGrpSpPr>
        <p:grpSpPr bwMode="auto">
          <a:xfrm>
            <a:off x="381000" y="5070475"/>
            <a:ext cx="533400" cy="492125"/>
            <a:chOff x="96" y="2784"/>
            <a:chExt cx="1062" cy="981"/>
          </a:xfrm>
        </p:grpSpPr>
        <p:sp>
          <p:nvSpPr>
            <p:cNvPr id="175309" name="Freeform 205">
              <a:extLst>
                <a:ext uri="{FF2B5EF4-FFF2-40B4-BE49-F238E27FC236}">
                  <a16:creationId xmlns:a16="http://schemas.microsoft.com/office/drawing/2014/main" id="{5B3A8EEB-DECA-7DA9-CDBF-53E9F9A0259B}"/>
                </a:ext>
              </a:extLst>
            </p:cNvPr>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10" name="Freeform 206">
              <a:extLst>
                <a:ext uri="{FF2B5EF4-FFF2-40B4-BE49-F238E27FC236}">
                  <a16:creationId xmlns:a16="http://schemas.microsoft.com/office/drawing/2014/main" id="{BFB1E987-11E9-B0C9-597A-A051D4783C4C}"/>
                </a:ext>
              </a:extLst>
            </p:cNvPr>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11" name="Freeform 207">
              <a:extLst>
                <a:ext uri="{FF2B5EF4-FFF2-40B4-BE49-F238E27FC236}">
                  <a16:creationId xmlns:a16="http://schemas.microsoft.com/office/drawing/2014/main" id="{E85C335E-24C4-1377-CF20-23F410691484}"/>
                </a:ext>
              </a:extLst>
            </p:cNvPr>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12" name="Freeform 208">
              <a:extLst>
                <a:ext uri="{FF2B5EF4-FFF2-40B4-BE49-F238E27FC236}">
                  <a16:creationId xmlns:a16="http://schemas.microsoft.com/office/drawing/2014/main" id="{EC82CC29-9FED-4822-1DFD-E83069850CAE}"/>
                </a:ext>
              </a:extLst>
            </p:cNvPr>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13" name="Freeform 209">
              <a:extLst>
                <a:ext uri="{FF2B5EF4-FFF2-40B4-BE49-F238E27FC236}">
                  <a16:creationId xmlns:a16="http://schemas.microsoft.com/office/drawing/2014/main" id="{EE1FFD1E-A51C-A6E5-6E58-889150848B83}"/>
                </a:ext>
              </a:extLst>
            </p:cNvPr>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14" name="Freeform 210">
              <a:extLst>
                <a:ext uri="{FF2B5EF4-FFF2-40B4-BE49-F238E27FC236}">
                  <a16:creationId xmlns:a16="http://schemas.microsoft.com/office/drawing/2014/main" id="{9349826C-D273-4DE8-160F-225263317AEA}"/>
                </a:ext>
              </a:extLst>
            </p:cNvPr>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15" name="Freeform 211">
              <a:extLst>
                <a:ext uri="{FF2B5EF4-FFF2-40B4-BE49-F238E27FC236}">
                  <a16:creationId xmlns:a16="http://schemas.microsoft.com/office/drawing/2014/main" id="{419140BE-66D9-F933-D1D4-1C0FFA81C3D8}"/>
                </a:ext>
              </a:extLst>
            </p:cNvPr>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16" name="Freeform 212">
              <a:extLst>
                <a:ext uri="{FF2B5EF4-FFF2-40B4-BE49-F238E27FC236}">
                  <a16:creationId xmlns:a16="http://schemas.microsoft.com/office/drawing/2014/main" id="{9CEB3043-613B-4B9A-7518-CC0BCB1802BA}"/>
                </a:ext>
              </a:extLst>
            </p:cNvPr>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17" name="Freeform 213">
              <a:extLst>
                <a:ext uri="{FF2B5EF4-FFF2-40B4-BE49-F238E27FC236}">
                  <a16:creationId xmlns:a16="http://schemas.microsoft.com/office/drawing/2014/main" id="{06E9D5F8-3321-22CB-DA17-A9A8D2C9B9D1}"/>
                </a:ext>
              </a:extLst>
            </p:cNvPr>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18" name="Freeform 214">
              <a:extLst>
                <a:ext uri="{FF2B5EF4-FFF2-40B4-BE49-F238E27FC236}">
                  <a16:creationId xmlns:a16="http://schemas.microsoft.com/office/drawing/2014/main" id="{AEC37D5A-7A87-FEF5-A120-F49457F9FB5E}"/>
                </a:ext>
              </a:extLst>
            </p:cNvPr>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19" name="Freeform 215">
              <a:extLst>
                <a:ext uri="{FF2B5EF4-FFF2-40B4-BE49-F238E27FC236}">
                  <a16:creationId xmlns:a16="http://schemas.microsoft.com/office/drawing/2014/main" id="{EBAE4F6C-91F4-701D-34E5-8C143FA64D1F}"/>
                </a:ext>
              </a:extLst>
            </p:cNvPr>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20" name="Freeform 216">
              <a:extLst>
                <a:ext uri="{FF2B5EF4-FFF2-40B4-BE49-F238E27FC236}">
                  <a16:creationId xmlns:a16="http://schemas.microsoft.com/office/drawing/2014/main" id="{D8B0BB8E-9570-6F80-48DC-3D456D56FED7}"/>
                </a:ext>
              </a:extLst>
            </p:cNvPr>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21" name="Freeform 217">
              <a:extLst>
                <a:ext uri="{FF2B5EF4-FFF2-40B4-BE49-F238E27FC236}">
                  <a16:creationId xmlns:a16="http://schemas.microsoft.com/office/drawing/2014/main" id="{217D7474-1A21-324D-E7F1-C4ED2F7F70C0}"/>
                </a:ext>
              </a:extLst>
            </p:cNvPr>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175322" name="Group 218">
            <a:extLst>
              <a:ext uri="{FF2B5EF4-FFF2-40B4-BE49-F238E27FC236}">
                <a16:creationId xmlns:a16="http://schemas.microsoft.com/office/drawing/2014/main" id="{7756E3FA-2F37-A6EC-AA0A-C6B5A4A7B230}"/>
              </a:ext>
            </a:extLst>
          </p:cNvPr>
          <p:cNvGrpSpPr>
            <a:grpSpLocks/>
          </p:cNvGrpSpPr>
          <p:nvPr/>
        </p:nvGrpSpPr>
        <p:grpSpPr bwMode="auto">
          <a:xfrm>
            <a:off x="381000" y="6121400"/>
            <a:ext cx="533400" cy="492125"/>
            <a:chOff x="96" y="2784"/>
            <a:chExt cx="1062" cy="981"/>
          </a:xfrm>
        </p:grpSpPr>
        <p:sp>
          <p:nvSpPr>
            <p:cNvPr id="175323" name="Freeform 219">
              <a:extLst>
                <a:ext uri="{FF2B5EF4-FFF2-40B4-BE49-F238E27FC236}">
                  <a16:creationId xmlns:a16="http://schemas.microsoft.com/office/drawing/2014/main" id="{7DA13BE8-EA33-1D21-3D4A-032A36E8A80A}"/>
                </a:ext>
              </a:extLst>
            </p:cNvPr>
            <p:cNvSpPr>
              <a:spLocks/>
            </p:cNvSpPr>
            <p:nvPr userDrawn="1"/>
          </p:nvSpPr>
          <p:spPr bwMode="auto">
            <a:xfrm>
              <a:off x="121" y="2784"/>
              <a:ext cx="207" cy="81"/>
            </a:xfrm>
            <a:custGeom>
              <a:avLst/>
              <a:gdLst>
                <a:gd name="T0" fmla="*/ 30 w 41"/>
                <a:gd name="T1" fmla="*/ 12 h 16"/>
                <a:gd name="T2" fmla="*/ 37 w 41"/>
                <a:gd name="T3" fmla="*/ 10 h 16"/>
                <a:gd name="T4" fmla="*/ 38 w 41"/>
                <a:gd name="T5" fmla="*/ 9 h 16"/>
                <a:gd name="T6" fmla="*/ 31 w 41"/>
                <a:gd name="T7" fmla="*/ 1 h 16"/>
                <a:gd name="T8" fmla="*/ 8 w 41"/>
                <a:gd name="T9" fmla="*/ 11 h 16"/>
                <a:gd name="T10" fmla="*/ 30 w 41"/>
                <a:gd name="T11" fmla="*/ 12 h 16"/>
              </a:gdLst>
              <a:ahLst/>
              <a:cxnLst>
                <a:cxn ang="0">
                  <a:pos x="T0" y="T1"/>
                </a:cxn>
                <a:cxn ang="0">
                  <a:pos x="T2" y="T3"/>
                </a:cxn>
                <a:cxn ang="0">
                  <a:pos x="T4" y="T5"/>
                </a:cxn>
                <a:cxn ang="0">
                  <a:pos x="T6" y="T7"/>
                </a:cxn>
                <a:cxn ang="0">
                  <a:pos x="T8" y="T9"/>
                </a:cxn>
                <a:cxn ang="0">
                  <a:pos x="T10" y="T11"/>
                </a:cxn>
              </a:cxnLst>
              <a:rect l="0" t="0" r="r" b="b"/>
              <a:pathLst>
                <a:path w="41" h="16">
                  <a:moveTo>
                    <a:pt x="30" y="12"/>
                  </a:moveTo>
                  <a:cubicBezTo>
                    <a:pt x="34" y="11"/>
                    <a:pt x="36" y="10"/>
                    <a:pt x="37" y="10"/>
                  </a:cubicBezTo>
                  <a:cubicBezTo>
                    <a:pt x="37" y="10"/>
                    <a:pt x="38" y="9"/>
                    <a:pt x="38" y="9"/>
                  </a:cubicBezTo>
                  <a:cubicBezTo>
                    <a:pt x="41" y="6"/>
                    <a:pt x="37" y="1"/>
                    <a:pt x="31" y="1"/>
                  </a:cubicBezTo>
                  <a:cubicBezTo>
                    <a:pt x="31" y="1"/>
                    <a:pt x="0" y="0"/>
                    <a:pt x="8" y="11"/>
                  </a:cubicBezTo>
                  <a:cubicBezTo>
                    <a:pt x="8" y="11"/>
                    <a:pt x="15" y="16"/>
                    <a:pt x="30" y="1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24" name="Freeform 220">
              <a:extLst>
                <a:ext uri="{FF2B5EF4-FFF2-40B4-BE49-F238E27FC236}">
                  <a16:creationId xmlns:a16="http://schemas.microsoft.com/office/drawing/2014/main" id="{B8A8BA5B-4A06-53C1-8D55-A6AF4F0CFCD3}"/>
                </a:ext>
              </a:extLst>
            </p:cNvPr>
            <p:cNvSpPr>
              <a:spLocks noEditPoints="1"/>
            </p:cNvSpPr>
            <p:nvPr userDrawn="1"/>
          </p:nvSpPr>
          <p:spPr bwMode="auto">
            <a:xfrm>
              <a:off x="96" y="2789"/>
              <a:ext cx="1062" cy="976"/>
            </a:xfrm>
            <a:custGeom>
              <a:avLst/>
              <a:gdLst>
                <a:gd name="T0" fmla="*/ 163 w 210"/>
                <a:gd name="T1" fmla="*/ 155 h 193"/>
                <a:gd name="T2" fmla="*/ 152 w 210"/>
                <a:gd name="T3" fmla="*/ 125 h 193"/>
                <a:gd name="T4" fmla="*/ 142 w 210"/>
                <a:gd name="T5" fmla="*/ 99 h 193"/>
                <a:gd name="T6" fmla="*/ 165 w 210"/>
                <a:gd name="T7" fmla="*/ 93 h 193"/>
                <a:gd name="T8" fmla="*/ 146 w 210"/>
                <a:gd name="T9" fmla="*/ 82 h 193"/>
                <a:gd name="T10" fmla="*/ 157 w 210"/>
                <a:gd name="T11" fmla="*/ 83 h 193"/>
                <a:gd name="T12" fmla="*/ 157 w 210"/>
                <a:gd name="T13" fmla="*/ 77 h 193"/>
                <a:gd name="T14" fmla="*/ 135 w 210"/>
                <a:gd name="T15" fmla="*/ 78 h 193"/>
                <a:gd name="T16" fmla="*/ 128 w 210"/>
                <a:gd name="T17" fmla="*/ 125 h 193"/>
                <a:gd name="T18" fmla="*/ 124 w 210"/>
                <a:gd name="T19" fmla="*/ 84 h 193"/>
                <a:gd name="T20" fmla="*/ 118 w 210"/>
                <a:gd name="T21" fmla="*/ 67 h 193"/>
                <a:gd name="T22" fmla="*/ 124 w 210"/>
                <a:gd name="T23" fmla="*/ 51 h 193"/>
                <a:gd name="T24" fmla="*/ 121 w 210"/>
                <a:gd name="T25" fmla="*/ 37 h 193"/>
                <a:gd name="T26" fmla="*/ 119 w 210"/>
                <a:gd name="T27" fmla="*/ 24 h 193"/>
                <a:gd name="T28" fmla="*/ 132 w 210"/>
                <a:gd name="T29" fmla="*/ 39 h 193"/>
                <a:gd name="T30" fmla="*/ 149 w 210"/>
                <a:gd name="T31" fmla="*/ 18 h 193"/>
                <a:gd name="T32" fmla="*/ 147 w 210"/>
                <a:gd name="T33" fmla="*/ 36 h 193"/>
                <a:gd name="T34" fmla="*/ 143 w 210"/>
                <a:gd name="T35" fmla="*/ 48 h 193"/>
                <a:gd name="T36" fmla="*/ 144 w 210"/>
                <a:gd name="T37" fmla="*/ 67 h 193"/>
                <a:gd name="T38" fmla="*/ 199 w 210"/>
                <a:gd name="T39" fmla="*/ 29 h 193"/>
                <a:gd name="T40" fmla="*/ 90 w 210"/>
                <a:gd name="T41" fmla="*/ 1 h 193"/>
                <a:gd name="T42" fmla="*/ 56 w 210"/>
                <a:gd name="T43" fmla="*/ 8 h 193"/>
                <a:gd name="T44" fmla="*/ 85 w 210"/>
                <a:gd name="T45" fmla="*/ 12 h 193"/>
                <a:gd name="T46" fmla="*/ 60 w 210"/>
                <a:gd name="T47" fmla="*/ 22 h 193"/>
                <a:gd name="T48" fmla="*/ 58 w 210"/>
                <a:gd name="T49" fmla="*/ 29 h 193"/>
                <a:gd name="T50" fmla="*/ 38 w 210"/>
                <a:gd name="T51" fmla="*/ 17 h 193"/>
                <a:gd name="T52" fmla="*/ 13 w 210"/>
                <a:gd name="T53" fmla="*/ 115 h 193"/>
                <a:gd name="T54" fmla="*/ 61 w 210"/>
                <a:gd name="T55" fmla="*/ 146 h 193"/>
                <a:gd name="T56" fmla="*/ 45 w 210"/>
                <a:gd name="T57" fmla="*/ 133 h 193"/>
                <a:gd name="T58" fmla="*/ 35 w 210"/>
                <a:gd name="T59" fmla="*/ 145 h 193"/>
                <a:gd name="T60" fmla="*/ 32 w 210"/>
                <a:gd name="T61" fmla="*/ 128 h 193"/>
                <a:gd name="T62" fmla="*/ 46 w 210"/>
                <a:gd name="T63" fmla="*/ 86 h 193"/>
                <a:gd name="T64" fmla="*/ 67 w 210"/>
                <a:gd name="T65" fmla="*/ 83 h 193"/>
                <a:gd name="T66" fmla="*/ 71 w 210"/>
                <a:gd name="T67" fmla="*/ 95 h 193"/>
                <a:gd name="T68" fmla="*/ 61 w 210"/>
                <a:gd name="T69" fmla="*/ 121 h 193"/>
                <a:gd name="T70" fmla="*/ 91 w 210"/>
                <a:gd name="T71" fmla="*/ 180 h 193"/>
                <a:gd name="T72" fmla="*/ 186 w 210"/>
                <a:gd name="T73" fmla="*/ 166 h 193"/>
                <a:gd name="T74" fmla="*/ 182 w 210"/>
                <a:gd name="T75" fmla="*/ 66 h 193"/>
                <a:gd name="T76" fmla="*/ 165 w 210"/>
                <a:gd name="T77" fmla="*/ 60 h 193"/>
                <a:gd name="T78" fmla="*/ 113 w 210"/>
                <a:gd name="T79" fmla="*/ 61 h 193"/>
                <a:gd name="T80" fmla="*/ 108 w 210"/>
                <a:gd name="T81" fmla="*/ 87 h 193"/>
                <a:gd name="T82" fmla="*/ 114 w 210"/>
                <a:gd name="T83" fmla="*/ 50 h 193"/>
                <a:gd name="T84" fmla="*/ 89 w 210"/>
                <a:gd name="T85" fmla="*/ 26 h 193"/>
                <a:gd name="T86" fmla="*/ 105 w 210"/>
                <a:gd name="T87" fmla="*/ 35 h 193"/>
                <a:gd name="T88" fmla="*/ 61 w 210"/>
                <a:gd name="T89" fmla="*/ 72 h 193"/>
                <a:gd name="T90" fmla="*/ 24 w 210"/>
                <a:gd name="T91" fmla="*/ 37 h 193"/>
                <a:gd name="T92" fmla="*/ 68 w 210"/>
                <a:gd name="T93" fmla="*/ 40 h 193"/>
                <a:gd name="T94" fmla="*/ 79 w 210"/>
                <a:gd name="T95" fmla="*/ 40 h 193"/>
                <a:gd name="T96" fmla="*/ 108 w 210"/>
                <a:gd name="T97" fmla="*/ 45 h 193"/>
                <a:gd name="T98" fmla="*/ 99 w 210"/>
                <a:gd name="T99" fmla="*/ 93 h 193"/>
                <a:gd name="T100" fmla="*/ 93 w 210"/>
                <a:gd name="T101" fmla="*/ 51 h 193"/>
                <a:gd name="T102" fmla="*/ 61 w 210"/>
                <a:gd name="T103" fmla="*/ 72 h 193"/>
                <a:gd name="T104" fmla="*/ 80 w 210"/>
                <a:gd name="T105" fmla="*/ 82 h 193"/>
                <a:gd name="T106" fmla="*/ 88 w 210"/>
                <a:gd name="T107" fmla="*/ 58 h 193"/>
                <a:gd name="T108" fmla="*/ 102 w 210"/>
                <a:gd name="T109" fmla="*/ 145 h 193"/>
                <a:gd name="T110" fmla="*/ 82 w 210"/>
                <a:gd name="T111" fmla="*/ 96 h 193"/>
                <a:gd name="T112" fmla="*/ 117 w 210"/>
                <a:gd name="T113" fmla="*/ 106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193">
                  <a:moveTo>
                    <a:pt x="186" y="166"/>
                  </a:moveTo>
                  <a:cubicBezTo>
                    <a:pt x="167" y="166"/>
                    <a:pt x="163" y="155"/>
                    <a:pt x="163" y="155"/>
                  </a:cubicBezTo>
                  <a:cubicBezTo>
                    <a:pt x="163" y="155"/>
                    <a:pt x="162" y="147"/>
                    <a:pt x="154" y="145"/>
                  </a:cubicBezTo>
                  <a:cubicBezTo>
                    <a:pt x="135" y="140"/>
                    <a:pt x="147" y="128"/>
                    <a:pt x="152" y="125"/>
                  </a:cubicBezTo>
                  <a:cubicBezTo>
                    <a:pt x="157" y="123"/>
                    <a:pt x="154" y="122"/>
                    <a:pt x="150" y="120"/>
                  </a:cubicBezTo>
                  <a:cubicBezTo>
                    <a:pt x="142" y="115"/>
                    <a:pt x="141" y="109"/>
                    <a:pt x="142" y="99"/>
                  </a:cubicBezTo>
                  <a:cubicBezTo>
                    <a:pt x="142" y="88"/>
                    <a:pt x="149" y="91"/>
                    <a:pt x="149" y="91"/>
                  </a:cubicBezTo>
                  <a:cubicBezTo>
                    <a:pt x="149" y="91"/>
                    <a:pt x="160" y="96"/>
                    <a:pt x="165" y="93"/>
                  </a:cubicBezTo>
                  <a:cubicBezTo>
                    <a:pt x="169" y="91"/>
                    <a:pt x="167" y="88"/>
                    <a:pt x="165" y="89"/>
                  </a:cubicBezTo>
                  <a:cubicBezTo>
                    <a:pt x="163" y="91"/>
                    <a:pt x="148" y="89"/>
                    <a:pt x="146" y="82"/>
                  </a:cubicBezTo>
                  <a:cubicBezTo>
                    <a:pt x="144" y="74"/>
                    <a:pt x="150" y="78"/>
                    <a:pt x="151" y="78"/>
                  </a:cubicBezTo>
                  <a:cubicBezTo>
                    <a:pt x="153" y="79"/>
                    <a:pt x="153" y="81"/>
                    <a:pt x="157" y="83"/>
                  </a:cubicBezTo>
                  <a:cubicBezTo>
                    <a:pt x="168" y="88"/>
                    <a:pt x="162" y="82"/>
                    <a:pt x="162" y="82"/>
                  </a:cubicBezTo>
                  <a:cubicBezTo>
                    <a:pt x="162" y="82"/>
                    <a:pt x="162" y="82"/>
                    <a:pt x="157" y="77"/>
                  </a:cubicBezTo>
                  <a:cubicBezTo>
                    <a:pt x="152" y="71"/>
                    <a:pt x="145" y="73"/>
                    <a:pt x="139" y="73"/>
                  </a:cubicBezTo>
                  <a:cubicBezTo>
                    <a:pt x="133" y="73"/>
                    <a:pt x="135" y="78"/>
                    <a:pt x="135" y="78"/>
                  </a:cubicBezTo>
                  <a:cubicBezTo>
                    <a:pt x="135" y="78"/>
                    <a:pt x="134" y="88"/>
                    <a:pt x="133" y="106"/>
                  </a:cubicBezTo>
                  <a:cubicBezTo>
                    <a:pt x="132" y="124"/>
                    <a:pt x="129" y="126"/>
                    <a:pt x="128" y="125"/>
                  </a:cubicBezTo>
                  <a:cubicBezTo>
                    <a:pt x="127" y="123"/>
                    <a:pt x="125" y="114"/>
                    <a:pt x="125" y="111"/>
                  </a:cubicBezTo>
                  <a:cubicBezTo>
                    <a:pt x="125" y="108"/>
                    <a:pt x="123" y="97"/>
                    <a:pt x="124" y="84"/>
                  </a:cubicBezTo>
                  <a:cubicBezTo>
                    <a:pt x="125" y="72"/>
                    <a:pt x="128" y="77"/>
                    <a:pt x="120" y="74"/>
                  </a:cubicBezTo>
                  <a:cubicBezTo>
                    <a:pt x="111" y="71"/>
                    <a:pt x="116" y="67"/>
                    <a:pt x="118" y="67"/>
                  </a:cubicBezTo>
                  <a:cubicBezTo>
                    <a:pt x="121" y="67"/>
                    <a:pt x="125" y="69"/>
                    <a:pt x="126" y="67"/>
                  </a:cubicBezTo>
                  <a:cubicBezTo>
                    <a:pt x="127" y="59"/>
                    <a:pt x="128" y="52"/>
                    <a:pt x="124" y="51"/>
                  </a:cubicBezTo>
                  <a:cubicBezTo>
                    <a:pt x="115" y="47"/>
                    <a:pt x="119" y="45"/>
                    <a:pt x="122" y="44"/>
                  </a:cubicBezTo>
                  <a:cubicBezTo>
                    <a:pt x="125" y="43"/>
                    <a:pt x="126" y="35"/>
                    <a:pt x="121" y="37"/>
                  </a:cubicBezTo>
                  <a:cubicBezTo>
                    <a:pt x="112" y="40"/>
                    <a:pt x="113" y="32"/>
                    <a:pt x="115" y="31"/>
                  </a:cubicBezTo>
                  <a:cubicBezTo>
                    <a:pt x="117" y="30"/>
                    <a:pt x="120" y="32"/>
                    <a:pt x="119" y="24"/>
                  </a:cubicBezTo>
                  <a:cubicBezTo>
                    <a:pt x="117" y="17"/>
                    <a:pt x="124" y="14"/>
                    <a:pt x="126" y="21"/>
                  </a:cubicBezTo>
                  <a:cubicBezTo>
                    <a:pt x="127" y="28"/>
                    <a:pt x="130" y="42"/>
                    <a:pt x="132" y="39"/>
                  </a:cubicBezTo>
                  <a:cubicBezTo>
                    <a:pt x="134" y="35"/>
                    <a:pt x="138" y="22"/>
                    <a:pt x="142" y="16"/>
                  </a:cubicBezTo>
                  <a:cubicBezTo>
                    <a:pt x="145" y="10"/>
                    <a:pt x="150" y="15"/>
                    <a:pt x="149" y="18"/>
                  </a:cubicBezTo>
                  <a:cubicBezTo>
                    <a:pt x="144" y="33"/>
                    <a:pt x="152" y="34"/>
                    <a:pt x="152" y="34"/>
                  </a:cubicBezTo>
                  <a:cubicBezTo>
                    <a:pt x="152" y="34"/>
                    <a:pt x="151" y="36"/>
                    <a:pt x="147" y="36"/>
                  </a:cubicBezTo>
                  <a:cubicBezTo>
                    <a:pt x="137" y="35"/>
                    <a:pt x="141" y="41"/>
                    <a:pt x="145" y="43"/>
                  </a:cubicBezTo>
                  <a:cubicBezTo>
                    <a:pt x="154" y="46"/>
                    <a:pt x="148" y="48"/>
                    <a:pt x="143" y="48"/>
                  </a:cubicBezTo>
                  <a:cubicBezTo>
                    <a:pt x="139" y="48"/>
                    <a:pt x="136" y="50"/>
                    <a:pt x="135" y="55"/>
                  </a:cubicBezTo>
                  <a:cubicBezTo>
                    <a:pt x="132" y="70"/>
                    <a:pt x="144" y="67"/>
                    <a:pt x="144" y="67"/>
                  </a:cubicBezTo>
                  <a:cubicBezTo>
                    <a:pt x="162" y="72"/>
                    <a:pt x="189" y="69"/>
                    <a:pt x="189" y="69"/>
                  </a:cubicBezTo>
                  <a:cubicBezTo>
                    <a:pt x="209" y="75"/>
                    <a:pt x="200" y="45"/>
                    <a:pt x="199" y="29"/>
                  </a:cubicBezTo>
                  <a:cubicBezTo>
                    <a:pt x="197" y="13"/>
                    <a:pt x="195" y="5"/>
                    <a:pt x="181" y="2"/>
                  </a:cubicBezTo>
                  <a:cubicBezTo>
                    <a:pt x="168" y="0"/>
                    <a:pt x="90" y="1"/>
                    <a:pt x="90" y="1"/>
                  </a:cubicBezTo>
                  <a:cubicBezTo>
                    <a:pt x="87" y="2"/>
                    <a:pt x="56" y="1"/>
                    <a:pt x="56" y="1"/>
                  </a:cubicBezTo>
                  <a:cubicBezTo>
                    <a:pt x="56" y="1"/>
                    <a:pt x="54" y="8"/>
                    <a:pt x="56" y="8"/>
                  </a:cubicBezTo>
                  <a:cubicBezTo>
                    <a:pt x="61" y="8"/>
                    <a:pt x="80" y="9"/>
                    <a:pt x="80" y="9"/>
                  </a:cubicBezTo>
                  <a:cubicBezTo>
                    <a:pt x="81" y="9"/>
                    <a:pt x="90" y="8"/>
                    <a:pt x="85" y="12"/>
                  </a:cubicBezTo>
                  <a:cubicBezTo>
                    <a:pt x="80" y="16"/>
                    <a:pt x="69" y="16"/>
                    <a:pt x="62" y="16"/>
                  </a:cubicBezTo>
                  <a:cubicBezTo>
                    <a:pt x="47" y="15"/>
                    <a:pt x="54" y="22"/>
                    <a:pt x="60" y="22"/>
                  </a:cubicBezTo>
                  <a:cubicBezTo>
                    <a:pt x="78" y="22"/>
                    <a:pt x="82" y="26"/>
                    <a:pt x="74" y="27"/>
                  </a:cubicBezTo>
                  <a:cubicBezTo>
                    <a:pt x="67" y="28"/>
                    <a:pt x="65" y="28"/>
                    <a:pt x="58" y="29"/>
                  </a:cubicBezTo>
                  <a:cubicBezTo>
                    <a:pt x="2" y="38"/>
                    <a:pt x="21" y="23"/>
                    <a:pt x="26" y="23"/>
                  </a:cubicBezTo>
                  <a:cubicBezTo>
                    <a:pt x="49" y="23"/>
                    <a:pt x="44" y="15"/>
                    <a:pt x="38" y="17"/>
                  </a:cubicBezTo>
                  <a:cubicBezTo>
                    <a:pt x="32" y="18"/>
                    <a:pt x="12" y="11"/>
                    <a:pt x="9" y="24"/>
                  </a:cubicBezTo>
                  <a:cubicBezTo>
                    <a:pt x="7" y="37"/>
                    <a:pt x="15" y="103"/>
                    <a:pt x="13" y="115"/>
                  </a:cubicBezTo>
                  <a:cubicBezTo>
                    <a:pt x="0" y="193"/>
                    <a:pt x="71" y="176"/>
                    <a:pt x="71" y="176"/>
                  </a:cubicBezTo>
                  <a:cubicBezTo>
                    <a:pt x="56" y="164"/>
                    <a:pt x="62" y="153"/>
                    <a:pt x="61" y="146"/>
                  </a:cubicBezTo>
                  <a:cubicBezTo>
                    <a:pt x="57" y="125"/>
                    <a:pt x="55" y="122"/>
                    <a:pt x="51" y="124"/>
                  </a:cubicBezTo>
                  <a:cubicBezTo>
                    <a:pt x="43" y="128"/>
                    <a:pt x="44" y="130"/>
                    <a:pt x="45" y="133"/>
                  </a:cubicBezTo>
                  <a:cubicBezTo>
                    <a:pt x="51" y="151"/>
                    <a:pt x="37" y="137"/>
                    <a:pt x="37" y="137"/>
                  </a:cubicBezTo>
                  <a:cubicBezTo>
                    <a:pt x="35" y="138"/>
                    <a:pt x="34" y="142"/>
                    <a:pt x="35" y="145"/>
                  </a:cubicBezTo>
                  <a:cubicBezTo>
                    <a:pt x="47" y="168"/>
                    <a:pt x="36" y="162"/>
                    <a:pt x="33" y="158"/>
                  </a:cubicBezTo>
                  <a:cubicBezTo>
                    <a:pt x="22" y="142"/>
                    <a:pt x="33" y="133"/>
                    <a:pt x="32" y="128"/>
                  </a:cubicBezTo>
                  <a:cubicBezTo>
                    <a:pt x="27" y="108"/>
                    <a:pt x="42" y="100"/>
                    <a:pt x="44" y="97"/>
                  </a:cubicBezTo>
                  <a:cubicBezTo>
                    <a:pt x="46" y="93"/>
                    <a:pt x="45" y="92"/>
                    <a:pt x="46" y="86"/>
                  </a:cubicBezTo>
                  <a:cubicBezTo>
                    <a:pt x="48" y="72"/>
                    <a:pt x="55" y="79"/>
                    <a:pt x="55" y="84"/>
                  </a:cubicBezTo>
                  <a:cubicBezTo>
                    <a:pt x="53" y="100"/>
                    <a:pt x="63" y="88"/>
                    <a:pt x="67" y="83"/>
                  </a:cubicBezTo>
                  <a:cubicBezTo>
                    <a:pt x="78" y="68"/>
                    <a:pt x="77" y="84"/>
                    <a:pt x="75" y="87"/>
                  </a:cubicBezTo>
                  <a:cubicBezTo>
                    <a:pt x="72" y="89"/>
                    <a:pt x="71" y="93"/>
                    <a:pt x="71" y="95"/>
                  </a:cubicBezTo>
                  <a:cubicBezTo>
                    <a:pt x="74" y="103"/>
                    <a:pt x="69" y="111"/>
                    <a:pt x="67" y="112"/>
                  </a:cubicBezTo>
                  <a:cubicBezTo>
                    <a:pt x="66" y="112"/>
                    <a:pt x="61" y="114"/>
                    <a:pt x="61" y="121"/>
                  </a:cubicBezTo>
                  <a:cubicBezTo>
                    <a:pt x="61" y="127"/>
                    <a:pt x="69" y="139"/>
                    <a:pt x="69" y="143"/>
                  </a:cubicBezTo>
                  <a:cubicBezTo>
                    <a:pt x="69" y="178"/>
                    <a:pt x="84" y="181"/>
                    <a:pt x="91" y="180"/>
                  </a:cubicBezTo>
                  <a:cubicBezTo>
                    <a:pt x="98" y="179"/>
                    <a:pt x="159" y="177"/>
                    <a:pt x="185" y="175"/>
                  </a:cubicBezTo>
                  <a:cubicBezTo>
                    <a:pt x="210" y="173"/>
                    <a:pt x="193" y="166"/>
                    <a:pt x="186" y="166"/>
                  </a:cubicBezTo>
                  <a:close/>
                  <a:moveTo>
                    <a:pt x="165" y="60"/>
                  </a:moveTo>
                  <a:cubicBezTo>
                    <a:pt x="203" y="61"/>
                    <a:pt x="185" y="64"/>
                    <a:pt x="182" y="66"/>
                  </a:cubicBezTo>
                  <a:cubicBezTo>
                    <a:pt x="178" y="68"/>
                    <a:pt x="182" y="66"/>
                    <a:pt x="167" y="65"/>
                  </a:cubicBezTo>
                  <a:cubicBezTo>
                    <a:pt x="152" y="65"/>
                    <a:pt x="165" y="60"/>
                    <a:pt x="165" y="60"/>
                  </a:cubicBezTo>
                  <a:close/>
                  <a:moveTo>
                    <a:pt x="114" y="50"/>
                  </a:moveTo>
                  <a:cubicBezTo>
                    <a:pt x="121" y="55"/>
                    <a:pt x="113" y="61"/>
                    <a:pt x="113" y="61"/>
                  </a:cubicBezTo>
                  <a:cubicBezTo>
                    <a:pt x="113" y="61"/>
                    <a:pt x="108" y="70"/>
                    <a:pt x="112" y="78"/>
                  </a:cubicBezTo>
                  <a:cubicBezTo>
                    <a:pt x="116" y="87"/>
                    <a:pt x="116" y="97"/>
                    <a:pt x="108" y="87"/>
                  </a:cubicBezTo>
                  <a:cubicBezTo>
                    <a:pt x="100" y="78"/>
                    <a:pt x="105" y="58"/>
                    <a:pt x="107" y="53"/>
                  </a:cubicBezTo>
                  <a:cubicBezTo>
                    <a:pt x="107" y="53"/>
                    <a:pt x="107" y="44"/>
                    <a:pt x="114" y="50"/>
                  </a:cubicBezTo>
                  <a:close/>
                  <a:moveTo>
                    <a:pt x="83" y="29"/>
                  </a:moveTo>
                  <a:cubicBezTo>
                    <a:pt x="83" y="25"/>
                    <a:pt x="89" y="26"/>
                    <a:pt x="89" y="26"/>
                  </a:cubicBezTo>
                  <a:cubicBezTo>
                    <a:pt x="89" y="26"/>
                    <a:pt x="99" y="30"/>
                    <a:pt x="104" y="30"/>
                  </a:cubicBezTo>
                  <a:cubicBezTo>
                    <a:pt x="108" y="29"/>
                    <a:pt x="114" y="35"/>
                    <a:pt x="105" y="35"/>
                  </a:cubicBezTo>
                  <a:cubicBezTo>
                    <a:pt x="96" y="35"/>
                    <a:pt x="82" y="39"/>
                    <a:pt x="83" y="29"/>
                  </a:cubicBezTo>
                  <a:close/>
                  <a:moveTo>
                    <a:pt x="61" y="72"/>
                  </a:moveTo>
                  <a:cubicBezTo>
                    <a:pt x="55" y="72"/>
                    <a:pt x="16" y="87"/>
                    <a:pt x="16" y="48"/>
                  </a:cubicBezTo>
                  <a:cubicBezTo>
                    <a:pt x="16" y="39"/>
                    <a:pt x="14" y="31"/>
                    <a:pt x="24" y="37"/>
                  </a:cubicBezTo>
                  <a:cubicBezTo>
                    <a:pt x="35" y="42"/>
                    <a:pt x="25" y="42"/>
                    <a:pt x="49" y="40"/>
                  </a:cubicBezTo>
                  <a:cubicBezTo>
                    <a:pt x="49" y="40"/>
                    <a:pt x="66" y="41"/>
                    <a:pt x="68" y="40"/>
                  </a:cubicBezTo>
                  <a:cubicBezTo>
                    <a:pt x="71" y="38"/>
                    <a:pt x="69" y="34"/>
                    <a:pt x="74" y="34"/>
                  </a:cubicBezTo>
                  <a:cubicBezTo>
                    <a:pt x="80" y="34"/>
                    <a:pt x="79" y="40"/>
                    <a:pt x="79" y="40"/>
                  </a:cubicBezTo>
                  <a:cubicBezTo>
                    <a:pt x="79" y="40"/>
                    <a:pt x="74" y="46"/>
                    <a:pt x="109" y="41"/>
                  </a:cubicBezTo>
                  <a:cubicBezTo>
                    <a:pt x="113" y="41"/>
                    <a:pt x="117" y="45"/>
                    <a:pt x="108" y="45"/>
                  </a:cubicBezTo>
                  <a:cubicBezTo>
                    <a:pt x="104" y="45"/>
                    <a:pt x="97" y="48"/>
                    <a:pt x="100" y="53"/>
                  </a:cubicBezTo>
                  <a:cubicBezTo>
                    <a:pt x="102" y="58"/>
                    <a:pt x="99" y="93"/>
                    <a:pt x="99" y="93"/>
                  </a:cubicBezTo>
                  <a:cubicBezTo>
                    <a:pt x="99" y="93"/>
                    <a:pt x="97" y="100"/>
                    <a:pt x="94" y="90"/>
                  </a:cubicBezTo>
                  <a:cubicBezTo>
                    <a:pt x="93" y="86"/>
                    <a:pt x="94" y="53"/>
                    <a:pt x="93" y="51"/>
                  </a:cubicBezTo>
                  <a:cubicBezTo>
                    <a:pt x="93" y="48"/>
                    <a:pt x="77" y="45"/>
                    <a:pt x="77" y="57"/>
                  </a:cubicBezTo>
                  <a:cubicBezTo>
                    <a:pt x="77" y="68"/>
                    <a:pt x="73" y="71"/>
                    <a:pt x="61" y="72"/>
                  </a:cubicBezTo>
                  <a:close/>
                  <a:moveTo>
                    <a:pt x="85" y="84"/>
                  </a:moveTo>
                  <a:cubicBezTo>
                    <a:pt x="82" y="88"/>
                    <a:pt x="78" y="90"/>
                    <a:pt x="80" y="82"/>
                  </a:cubicBezTo>
                  <a:cubicBezTo>
                    <a:pt x="81" y="74"/>
                    <a:pt x="83" y="63"/>
                    <a:pt x="83" y="57"/>
                  </a:cubicBezTo>
                  <a:cubicBezTo>
                    <a:pt x="83" y="57"/>
                    <a:pt x="87" y="50"/>
                    <a:pt x="88" y="58"/>
                  </a:cubicBezTo>
                  <a:cubicBezTo>
                    <a:pt x="89" y="66"/>
                    <a:pt x="87" y="81"/>
                    <a:pt x="85" y="84"/>
                  </a:cubicBezTo>
                  <a:close/>
                  <a:moveTo>
                    <a:pt x="102" y="145"/>
                  </a:moveTo>
                  <a:cubicBezTo>
                    <a:pt x="78" y="144"/>
                    <a:pt x="77" y="148"/>
                    <a:pt x="77" y="117"/>
                  </a:cubicBezTo>
                  <a:cubicBezTo>
                    <a:pt x="77" y="86"/>
                    <a:pt x="81" y="93"/>
                    <a:pt x="82" y="96"/>
                  </a:cubicBezTo>
                  <a:cubicBezTo>
                    <a:pt x="82" y="96"/>
                    <a:pt x="90" y="116"/>
                    <a:pt x="111" y="101"/>
                  </a:cubicBezTo>
                  <a:cubicBezTo>
                    <a:pt x="114" y="98"/>
                    <a:pt x="116" y="96"/>
                    <a:pt x="117" y="106"/>
                  </a:cubicBezTo>
                  <a:cubicBezTo>
                    <a:pt x="117" y="117"/>
                    <a:pt x="127" y="145"/>
                    <a:pt x="102" y="14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25" name="Freeform 221">
              <a:extLst>
                <a:ext uri="{FF2B5EF4-FFF2-40B4-BE49-F238E27FC236}">
                  <a16:creationId xmlns:a16="http://schemas.microsoft.com/office/drawing/2014/main" id="{D9F7DB24-2E76-0A90-737B-465DF3C1BF69}"/>
                </a:ext>
              </a:extLst>
            </p:cNvPr>
            <p:cNvSpPr>
              <a:spLocks/>
            </p:cNvSpPr>
            <p:nvPr userDrawn="1"/>
          </p:nvSpPr>
          <p:spPr bwMode="auto">
            <a:xfrm>
              <a:off x="348" y="3254"/>
              <a:ext cx="86" cy="102"/>
            </a:xfrm>
            <a:custGeom>
              <a:avLst/>
              <a:gdLst>
                <a:gd name="T0" fmla="*/ 14 w 17"/>
                <a:gd name="T1" fmla="*/ 5 h 20"/>
                <a:gd name="T2" fmla="*/ 9 w 17"/>
                <a:gd name="T3" fmla="*/ 20 h 20"/>
                <a:gd name="T4" fmla="*/ 14 w 17"/>
                <a:gd name="T5" fmla="*/ 5 h 20"/>
              </a:gdLst>
              <a:ahLst/>
              <a:cxnLst>
                <a:cxn ang="0">
                  <a:pos x="T0" y="T1"/>
                </a:cxn>
                <a:cxn ang="0">
                  <a:pos x="T2" y="T3"/>
                </a:cxn>
                <a:cxn ang="0">
                  <a:pos x="T4" y="T5"/>
                </a:cxn>
              </a:cxnLst>
              <a:rect l="0" t="0" r="r" b="b"/>
              <a:pathLst>
                <a:path w="17" h="20">
                  <a:moveTo>
                    <a:pt x="14" y="5"/>
                  </a:moveTo>
                  <a:cubicBezTo>
                    <a:pt x="13" y="0"/>
                    <a:pt x="0" y="8"/>
                    <a:pt x="9" y="20"/>
                  </a:cubicBezTo>
                  <a:cubicBezTo>
                    <a:pt x="9" y="20"/>
                    <a:pt x="17" y="17"/>
                    <a:pt x="14" y="5"/>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26" name="Freeform 222">
              <a:extLst>
                <a:ext uri="{FF2B5EF4-FFF2-40B4-BE49-F238E27FC236}">
                  <a16:creationId xmlns:a16="http://schemas.microsoft.com/office/drawing/2014/main" id="{0C0FFCF0-396B-81BA-BD85-5E2302DAFC39}"/>
                </a:ext>
              </a:extLst>
            </p:cNvPr>
            <p:cNvSpPr>
              <a:spLocks/>
            </p:cNvSpPr>
            <p:nvPr userDrawn="1"/>
          </p:nvSpPr>
          <p:spPr bwMode="auto">
            <a:xfrm>
              <a:off x="267" y="3295"/>
              <a:ext cx="76" cy="136"/>
            </a:xfrm>
            <a:custGeom>
              <a:avLst/>
              <a:gdLst>
                <a:gd name="T0" fmla="*/ 7 w 15"/>
                <a:gd name="T1" fmla="*/ 10 h 27"/>
                <a:gd name="T2" fmla="*/ 4 w 15"/>
                <a:gd name="T3" fmla="*/ 25 h 27"/>
                <a:gd name="T4" fmla="*/ 15 w 15"/>
                <a:gd name="T5" fmla="*/ 16 h 27"/>
                <a:gd name="T6" fmla="*/ 13 w 15"/>
                <a:gd name="T7" fmla="*/ 8 h 27"/>
                <a:gd name="T8" fmla="*/ 7 w 15"/>
                <a:gd name="T9" fmla="*/ 10 h 27"/>
              </a:gdLst>
              <a:ahLst/>
              <a:cxnLst>
                <a:cxn ang="0">
                  <a:pos x="T0" y="T1"/>
                </a:cxn>
                <a:cxn ang="0">
                  <a:pos x="T2" y="T3"/>
                </a:cxn>
                <a:cxn ang="0">
                  <a:pos x="T4" y="T5"/>
                </a:cxn>
                <a:cxn ang="0">
                  <a:pos x="T6" y="T7"/>
                </a:cxn>
                <a:cxn ang="0">
                  <a:pos x="T8" y="T9"/>
                </a:cxn>
              </a:cxnLst>
              <a:rect l="0" t="0" r="r" b="b"/>
              <a:pathLst>
                <a:path w="15" h="27">
                  <a:moveTo>
                    <a:pt x="7" y="10"/>
                  </a:moveTo>
                  <a:cubicBezTo>
                    <a:pt x="0" y="19"/>
                    <a:pt x="2" y="23"/>
                    <a:pt x="4" y="25"/>
                  </a:cubicBezTo>
                  <a:cubicBezTo>
                    <a:pt x="7" y="27"/>
                    <a:pt x="11" y="26"/>
                    <a:pt x="15" y="16"/>
                  </a:cubicBezTo>
                  <a:cubicBezTo>
                    <a:pt x="15" y="16"/>
                    <a:pt x="12" y="11"/>
                    <a:pt x="13" y="8"/>
                  </a:cubicBezTo>
                  <a:cubicBezTo>
                    <a:pt x="15" y="6"/>
                    <a:pt x="14" y="0"/>
                    <a:pt x="7" y="1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27" name="Freeform 223">
              <a:extLst>
                <a:ext uri="{FF2B5EF4-FFF2-40B4-BE49-F238E27FC236}">
                  <a16:creationId xmlns:a16="http://schemas.microsoft.com/office/drawing/2014/main" id="{AE142DC0-77F6-A54B-EAFB-05C40F9502A6}"/>
                </a:ext>
              </a:extLst>
            </p:cNvPr>
            <p:cNvSpPr>
              <a:spLocks/>
            </p:cNvSpPr>
            <p:nvPr userDrawn="1"/>
          </p:nvSpPr>
          <p:spPr bwMode="auto">
            <a:xfrm>
              <a:off x="222" y="3022"/>
              <a:ext cx="243" cy="116"/>
            </a:xfrm>
            <a:custGeom>
              <a:avLst/>
              <a:gdLst>
                <a:gd name="T0" fmla="*/ 40 w 48"/>
                <a:gd name="T1" fmla="*/ 2 h 23"/>
                <a:gd name="T2" fmla="*/ 9 w 48"/>
                <a:gd name="T3" fmla="*/ 1 h 23"/>
                <a:gd name="T4" fmla="*/ 1 w 48"/>
                <a:gd name="T5" fmla="*/ 9 h 23"/>
                <a:gd name="T6" fmla="*/ 22 w 48"/>
                <a:gd name="T7" fmla="*/ 21 h 23"/>
                <a:gd name="T8" fmla="*/ 34 w 48"/>
                <a:gd name="T9" fmla="*/ 20 h 23"/>
                <a:gd name="T10" fmla="*/ 40 w 48"/>
                <a:gd name="T11" fmla="*/ 19 h 23"/>
                <a:gd name="T12" fmla="*/ 40 w 48"/>
                <a:gd name="T13" fmla="*/ 2 h 23"/>
              </a:gdLst>
              <a:ahLst/>
              <a:cxnLst>
                <a:cxn ang="0">
                  <a:pos x="T0" y="T1"/>
                </a:cxn>
                <a:cxn ang="0">
                  <a:pos x="T2" y="T3"/>
                </a:cxn>
                <a:cxn ang="0">
                  <a:pos x="T4" y="T5"/>
                </a:cxn>
                <a:cxn ang="0">
                  <a:pos x="T6" y="T7"/>
                </a:cxn>
                <a:cxn ang="0">
                  <a:pos x="T8" y="T9"/>
                </a:cxn>
                <a:cxn ang="0">
                  <a:pos x="T10" y="T11"/>
                </a:cxn>
                <a:cxn ang="0">
                  <a:pos x="T12" y="T13"/>
                </a:cxn>
              </a:cxnLst>
              <a:rect l="0" t="0" r="r" b="b"/>
              <a:pathLst>
                <a:path w="48" h="23">
                  <a:moveTo>
                    <a:pt x="40" y="2"/>
                  </a:moveTo>
                  <a:cubicBezTo>
                    <a:pt x="38" y="3"/>
                    <a:pt x="9" y="1"/>
                    <a:pt x="9" y="1"/>
                  </a:cubicBezTo>
                  <a:cubicBezTo>
                    <a:pt x="5" y="1"/>
                    <a:pt x="1" y="0"/>
                    <a:pt x="1" y="9"/>
                  </a:cubicBezTo>
                  <a:cubicBezTo>
                    <a:pt x="0" y="23"/>
                    <a:pt x="17" y="21"/>
                    <a:pt x="22" y="21"/>
                  </a:cubicBezTo>
                  <a:cubicBezTo>
                    <a:pt x="26" y="21"/>
                    <a:pt x="30" y="18"/>
                    <a:pt x="34" y="20"/>
                  </a:cubicBezTo>
                  <a:cubicBezTo>
                    <a:pt x="34" y="20"/>
                    <a:pt x="38" y="23"/>
                    <a:pt x="40" y="19"/>
                  </a:cubicBezTo>
                  <a:cubicBezTo>
                    <a:pt x="48" y="5"/>
                    <a:pt x="43" y="0"/>
                    <a:pt x="40"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28" name="Freeform 224">
              <a:extLst>
                <a:ext uri="{FF2B5EF4-FFF2-40B4-BE49-F238E27FC236}">
                  <a16:creationId xmlns:a16="http://schemas.microsoft.com/office/drawing/2014/main" id="{54BA9815-7D01-FF31-CE2B-9A4F6225B686}"/>
                </a:ext>
              </a:extLst>
            </p:cNvPr>
            <p:cNvSpPr>
              <a:spLocks/>
            </p:cNvSpPr>
            <p:nvPr userDrawn="1"/>
          </p:nvSpPr>
          <p:spPr bwMode="auto">
            <a:xfrm>
              <a:off x="500" y="3345"/>
              <a:ext cx="177" cy="187"/>
            </a:xfrm>
            <a:custGeom>
              <a:avLst/>
              <a:gdLst>
                <a:gd name="T0" fmla="*/ 24 w 35"/>
                <a:gd name="T1" fmla="*/ 2 h 37"/>
                <a:gd name="T2" fmla="*/ 11 w 35"/>
                <a:gd name="T3" fmla="*/ 2 h 37"/>
                <a:gd name="T4" fmla="*/ 4 w 35"/>
                <a:gd name="T5" fmla="*/ 20 h 37"/>
                <a:gd name="T6" fmla="*/ 28 w 35"/>
                <a:gd name="T7" fmla="*/ 22 h 37"/>
                <a:gd name="T8" fmla="*/ 24 w 35"/>
                <a:gd name="T9" fmla="*/ 2 h 37"/>
              </a:gdLst>
              <a:ahLst/>
              <a:cxnLst>
                <a:cxn ang="0">
                  <a:pos x="T0" y="T1"/>
                </a:cxn>
                <a:cxn ang="0">
                  <a:pos x="T2" y="T3"/>
                </a:cxn>
                <a:cxn ang="0">
                  <a:pos x="T4" y="T5"/>
                </a:cxn>
                <a:cxn ang="0">
                  <a:pos x="T6" y="T7"/>
                </a:cxn>
                <a:cxn ang="0">
                  <a:pos x="T8" y="T9"/>
                </a:cxn>
              </a:cxnLst>
              <a:rect l="0" t="0" r="r" b="b"/>
              <a:pathLst>
                <a:path w="35" h="37">
                  <a:moveTo>
                    <a:pt x="24" y="2"/>
                  </a:moveTo>
                  <a:cubicBezTo>
                    <a:pt x="19" y="3"/>
                    <a:pt x="11" y="2"/>
                    <a:pt x="11" y="2"/>
                  </a:cubicBezTo>
                  <a:cubicBezTo>
                    <a:pt x="0" y="2"/>
                    <a:pt x="5" y="14"/>
                    <a:pt x="4" y="20"/>
                  </a:cubicBezTo>
                  <a:cubicBezTo>
                    <a:pt x="3" y="27"/>
                    <a:pt x="22" y="37"/>
                    <a:pt x="28" y="22"/>
                  </a:cubicBezTo>
                  <a:cubicBezTo>
                    <a:pt x="35" y="7"/>
                    <a:pt x="28" y="0"/>
                    <a:pt x="24"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29" name="Freeform 225">
              <a:extLst>
                <a:ext uri="{FF2B5EF4-FFF2-40B4-BE49-F238E27FC236}">
                  <a16:creationId xmlns:a16="http://schemas.microsoft.com/office/drawing/2014/main" id="{15566A91-A31E-E0E3-C28A-897F3BB2F96D}"/>
                </a:ext>
              </a:extLst>
            </p:cNvPr>
            <p:cNvSpPr>
              <a:spLocks/>
            </p:cNvSpPr>
            <p:nvPr userDrawn="1"/>
          </p:nvSpPr>
          <p:spPr bwMode="auto">
            <a:xfrm>
              <a:off x="905" y="3158"/>
              <a:ext cx="177" cy="36"/>
            </a:xfrm>
            <a:custGeom>
              <a:avLst/>
              <a:gdLst>
                <a:gd name="T0" fmla="*/ 5 w 35"/>
                <a:gd name="T1" fmla="*/ 0 h 7"/>
                <a:gd name="T2" fmla="*/ 14 w 35"/>
                <a:gd name="T3" fmla="*/ 5 h 7"/>
                <a:gd name="T4" fmla="*/ 5 w 35"/>
                <a:gd name="T5" fmla="*/ 0 h 7"/>
              </a:gdLst>
              <a:ahLst/>
              <a:cxnLst>
                <a:cxn ang="0">
                  <a:pos x="T0" y="T1"/>
                </a:cxn>
                <a:cxn ang="0">
                  <a:pos x="T2" y="T3"/>
                </a:cxn>
                <a:cxn ang="0">
                  <a:pos x="T4" y="T5"/>
                </a:cxn>
              </a:cxnLst>
              <a:rect l="0" t="0" r="r" b="b"/>
              <a:pathLst>
                <a:path w="35" h="7">
                  <a:moveTo>
                    <a:pt x="5" y="0"/>
                  </a:moveTo>
                  <a:cubicBezTo>
                    <a:pt x="0" y="0"/>
                    <a:pt x="7" y="7"/>
                    <a:pt x="14" y="5"/>
                  </a:cubicBezTo>
                  <a:cubicBezTo>
                    <a:pt x="35" y="1"/>
                    <a:pt x="5" y="0"/>
                    <a:pt x="5" y="0"/>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30" name="Freeform 226">
              <a:extLst>
                <a:ext uri="{FF2B5EF4-FFF2-40B4-BE49-F238E27FC236}">
                  <a16:creationId xmlns:a16="http://schemas.microsoft.com/office/drawing/2014/main" id="{ED261B32-AC74-E9EF-7645-C118FF17AF72}"/>
                </a:ext>
              </a:extLst>
            </p:cNvPr>
            <p:cNvSpPr>
              <a:spLocks/>
            </p:cNvSpPr>
            <p:nvPr userDrawn="1"/>
          </p:nvSpPr>
          <p:spPr bwMode="auto">
            <a:xfrm>
              <a:off x="965" y="3153"/>
              <a:ext cx="137" cy="81"/>
            </a:xfrm>
            <a:custGeom>
              <a:avLst/>
              <a:gdLst>
                <a:gd name="T0" fmla="*/ 7 w 27"/>
                <a:gd name="T1" fmla="*/ 13 h 16"/>
                <a:gd name="T2" fmla="*/ 25 w 27"/>
                <a:gd name="T3" fmla="*/ 6 h 16"/>
                <a:gd name="T4" fmla="*/ 17 w 27"/>
                <a:gd name="T5" fmla="*/ 1 h 16"/>
                <a:gd name="T6" fmla="*/ 7 w 27"/>
                <a:gd name="T7" fmla="*/ 11 h 16"/>
                <a:gd name="T8" fmla="*/ 7 w 27"/>
                <a:gd name="T9" fmla="*/ 13 h 16"/>
              </a:gdLst>
              <a:ahLst/>
              <a:cxnLst>
                <a:cxn ang="0">
                  <a:pos x="T0" y="T1"/>
                </a:cxn>
                <a:cxn ang="0">
                  <a:pos x="T2" y="T3"/>
                </a:cxn>
                <a:cxn ang="0">
                  <a:pos x="T4" y="T5"/>
                </a:cxn>
                <a:cxn ang="0">
                  <a:pos x="T6" y="T7"/>
                </a:cxn>
                <a:cxn ang="0">
                  <a:pos x="T8" y="T9"/>
                </a:cxn>
              </a:cxnLst>
              <a:rect l="0" t="0" r="r" b="b"/>
              <a:pathLst>
                <a:path w="27" h="16">
                  <a:moveTo>
                    <a:pt x="7" y="13"/>
                  </a:moveTo>
                  <a:cubicBezTo>
                    <a:pt x="7" y="13"/>
                    <a:pt x="18" y="16"/>
                    <a:pt x="25" y="6"/>
                  </a:cubicBezTo>
                  <a:cubicBezTo>
                    <a:pt x="27" y="2"/>
                    <a:pt x="23" y="0"/>
                    <a:pt x="17" y="1"/>
                  </a:cubicBezTo>
                  <a:cubicBezTo>
                    <a:pt x="13" y="1"/>
                    <a:pt x="14" y="11"/>
                    <a:pt x="7" y="11"/>
                  </a:cubicBezTo>
                  <a:cubicBezTo>
                    <a:pt x="0" y="11"/>
                    <a:pt x="7" y="13"/>
                    <a:pt x="7" y="1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31" name="Freeform 227">
              <a:extLst>
                <a:ext uri="{FF2B5EF4-FFF2-40B4-BE49-F238E27FC236}">
                  <a16:creationId xmlns:a16="http://schemas.microsoft.com/office/drawing/2014/main" id="{990F8F6C-574E-2949-F9C9-23B8D4A1B2B7}"/>
                </a:ext>
              </a:extLst>
            </p:cNvPr>
            <p:cNvSpPr>
              <a:spLocks/>
            </p:cNvSpPr>
            <p:nvPr userDrawn="1"/>
          </p:nvSpPr>
          <p:spPr bwMode="auto">
            <a:xfrm>
              <a:off x="960" y="3204"/>
              <a:ext cx="177" cy="86"/>
            </a:xfrm>
            <a:custGeom>
              <a:avLst/>
              <a:gdLst>
                <a:gd name="T0" fmla="*/ 25 w 35"/>
                <a:gd name="T1" fmla="*/ 6 h 17"/>
                <a:gd name="T2" fmla="*/ 8 w 35"/>
                <a:gd name="T3" fmla="*/ 10 h 17"/>
                <a:gd name="T4" fmla="*/ 6 w 35"/>
                <a:gd name="T5" fmla="*/ 13 h 17"/>
                <a:gd name="T6" fmla="*/ 27 w 35"/>
                <a:gd name="T7" fmla="*/ 12 h 17"/>
                <a:gd name="T8" fmla="*/ 25 w 35"/>
                <a:gd name="T9" fmla="*/ 6 h 17"/>
              </a:gdLst>
              <a:ahLst/>
              <a:cxnLst>
                <a:cxn ang="0">
                  <a:pos x="T0" y="T1"/>
                </a:cxn>
                <a:cxn ang="0">
                  <a:pos x="T2" y="T3"/>
                </a:cxn>
                <a:cxn ang="0">
                  <a:pos x="T4" y="T5"/>
                </a:cxn>
                <a:cxn ang="0">
                  <a:pos x="T6" y="T7"/>
                </a:cxn>
                <a:cxn ang="0">
                  <a:pos x="T8" y="T9"/>
                </a:cxn>
              </a:cxnLst>
              <a:rect l="0" t="0" r="r" b="b"/>
              <a:pathLst>
                <a:path w="35" h="17">
                  <a:moveTo>
                    <a:pt x="25" y="6"/>
                  </a:moveTo>
                  <a:cubicBezTo>
                    <a:pt x="20" y="12"/>
                    <a:pt x="8" y="10"/>
                    <a:pt x="8" y="10"/>
                  </a:cubicBezTo>
                  <a:cubicBezTo>
                    <a:pt x="8" y="10"/>
                    <a:pt x="0" y="9"/>
                    <a:pt x="6" y="13"/>
                  </a:cubicBezTo>
                  <a:cubicBezTo>
                    <a:pt x="11" y="17"/>
                    <a:pt x="18" y="15"/>
                    <a:pt x="27" y="12"/>
                  </a:cubicBezTo>
                  <a:cubicBezTo>
                    <a:pt x="35" y="8"/>
                    <a:pt x="31" y="0"/>
                    <a:pt x="25" y="6"/>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32" name="Freeform 228">
              <a:extLst>
                <a:ext uri="{FF2B5EF4-FFF2-40B4-BE49-F238E27FC236}">
                  <a16:creationId xmlns:a16="http://schemas.microsoft.com/office/drawing/2014/main" id="{54E301CA-AB02-5936-4319-2395CC272963}"/>
                </a:ext>
              </a:extLst>
            </p:cNvPr>
            <p:cNvSpPr>
              <a:spLocks/>
            </p:cNvSpPr>
            <p:nvPr userDrawn="1"/>
          </p:nvSpPr>
          <p:spPr bwMode="auto">
            <a:xfrm>
              <a:off x="844" y="3285"/>
              <a:ext cx="248" cy="60"/>
            </a:xfrm>
            <a:custGeom>
              <a:avLst/>
              <a:gdLst>
                <a:gd name="T0" fmla="*/ 40 w 49"/>
                <a:gd name="T1" fmla="*/ 3 h 12"/>
                <a:gd name="T2" fmla="*/ 29 w 49"/>
                <a:gd name="T3" fmla="*/ 1 h 12"/>
                <a:gd name="T4" fmla="*/ 7 w 49"/>
                <a:gd name="T5" fmla="*/ 0 h 12"/>
                <a:gd name="T6" fmla="*/ 2 w 49"/>
                <a:gd name="T7" fmla="*/ 5 h 12"/>
                <a:gd name="T8" fmla="*/ 20 w 49"/>
                <a:gd name="T9" fmla="*/ 8 h 12"/>
                <a:gd name="T10" fmla="*/ 41 w 49"/>
                <a:gd name="T11" fmla="*/ 8 h 12"/>
                <a:gd name="T12" fmla="*/ 40 w 49"/>
                <a:gd name="T13" fmla="*/ 3 h 12"/>
              </a:gdLst>
              <a:ahLst/>
              <a:cxnLst>
                <a:cxn ang="0">
                  <a:pos x="T0" y="T1"/>
                </a:cxn>
                <a:cxn ang="0">
                  <a:pos x="T2" y="T3"/>
                </a:cxn>
                <a:cxn ang="0">
                  <a:pos x="T4" y="T5"/>
                </a:cxn>
                <a:cxn ang="0">
                  <a:pos x="T6" y="T7"/>
                </a:cxn>
                <a:cxn ang="0">
                  <a:pos x="T8" y="T9"/>
                </a:cxn>
                <a:cxn ang="0">
                  <a:pos x="T10" y="T11"/>
                </a:cxn>
                <a:cxn ang="0">
                  <a:pos x="T12" y="T13"/>
                </a:cxn>
              </a:cxnLst>
              <a:rect l="0" t="0" r="r" b="b"/>
              <a:pathLst>
                <a:path w="49" h="12">
                  <a:moveTo>
                    <a:pt x="40" y="3"/>
                  </a:moveTo>
                  <a:cubicBezTo>
                    <a:pt x="37" y="2"/>
                    <a:pt x="36" y="0"/>
                    <a:pt x="29" y="1"/>
                  </a:cubicBezTo>
                  <a:cubicBezTo>
                    <a:pt x="13" y="4"/>
                    <a:pt x="7" y="0"/>
                    <a:pt x="7" y="0"/>
                  </a:cubicBezTo>
                  <a:cubicBezTo>
                    <a:pt x="7" y="0"/>
                    <a:pt x="0" y="3"/>
                    <a:pt x="2" y="5"/>
                  </a:cubicBezTo>
                  <a:cubicBezTo>
                    <a:pt x="5" y="7"/>
                    <a:pt x="17" y="8"/>
                    <a:pt x="20" y="8"/>
                  </a:cubicBezTo>
                  <a:cubicBezTo>
                    <a:pt x="23" y="8"/>
                    <a:pt x="34" y="12"/>
                    <a:pt x="41" y="8"/>
                  </a:cubicBezTo>
                  <a:cubicBezTo>
                    <a:pt x="49" y="4"/>
                    <a:pt x="44" y="3"/>
                    <a:pt x="40" y="3"/>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33" name="Freeform 229">
              <a:extLst>
                <a:ext uri="{FF2B5EF4-FFF2-40B4-BE49-F238E27FC236}">
                  <a16:creationId xmlns:a16="http://schemas.microsoft.com/office/drawing/2014/main" id="{04AE28B8-682D-2E5F-E255-3DB860760B03}"/>
                </a:ext>
              </a:extLst>
            </p:cNvPr>
            <p:cNvSpPr>
              <a:spLocks/>
            </p:cNvSpPr>
            <p:nvPr userDrawn="1"/>
          </p:nvSpPr>
          <p:spPr bwMode="auto">
            <a:xfrm>
              <a:off x="869" y="3340"/>
              <a:ext cx="203" cy="56"/>
            </a:xfrm>
            <a:custGeom>
              <a:avLst/>
              <a:gdLst>
                <a:gd name="T0" fmla="*/ 37 w 40"/>
                <a:gd name="T1" fmla="*/ 2 h 11"/>
                <a:gd name="T2" fmla="*/ 26 w 40"/>
                <a:gd name="T3" fmla="*/ 4 h 11"/>
                <a:gd name="T4" fmla="*/ 13 w 40"/>
                <a:gd name="T5" fmla="*/ 3 h 11"/>
                <a:gd name="T6" fmla="*/ 1 w 40"/>
                <a:gd name="T7" fmla="*/ 2 h 11"/>
                <a:gd name="T8" fmla="*/ 35 w 40"/>
                <a:gd name="T9" fmla="*/ 8 h 11"/>
                <a:gd name="T10" fmla="*/ 37 w 40"/>
                <a:gd name="T11" fmla="*/ 2 h 11"/>
              </a:gdLst>
              <a:ahLst/>
              <a:cxnLst>
                <a:cxn ang="0">
                  <a:pos x="T0" y="T1"/>
                </a:cxn>
                <a:cxn ang="0">
                  <a:pos x="T2" y="T3"/>
                </a:cxn>
                <a:cxn ang="0">
                  <a:pos x="T4" y="T5"/>
                </a:cxn>
                <a:cxn ang="0">
                  <a:pos x="T6" y="T7"/>
                </a:cxn>
                <a:cxn ang="0">
                  <a:pos x="T8" y="T9"/>
                </a:cxn>
                <a:cxn ang="0">
                  <a:pos x="T10" y="T11"/>
                </a:cxn>
              </a:cxnLst>
              <a:rect l="0" t="0" r="r" b="b"/>
              <a:pathLst>
                <a:path w="40" h="11">
                  <a:moveTo>
                    <a:pt x="37" y="2"/>
                  </a:moveTo>
                  <a:cubicBezTo>
                    <a:pt x="34" y="4"/>
                    <a:pt x="30" y="4"/>
                    <a:pt x="26" y="4"/>
                  </a:cubicBezTo>
                  <a:cubicBezTo>
                    <a:pt x="23" y="4"/>
                    <a:pt x="16" y="2"/>
                    <a:pt x="13" y="3"/>
                  </a:cubicBezTo>
                  <a:cubicBezTo>
                    <a:pt x="10" y="4"/>
                    <a:pt x="1" y="2"/>
                    <a:pt x="1" y="2"/>
                  </a:cubicBezTo>
                  <a:cubicBezTo>
                    <a:pt x="0" y="11"/>
                    <a:pt x="30" y="10"/>
                    <a:pt x="35" y="8"/>
                  </a:cubicBezTo>
                  <a:cubicBezTo>
                    <a:pt x="40" y="5"/>
                    <a:pt x="40" y="0"/>
                    <a:pt x="37"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34" name="Freeform 230">
              <a:extLst>
                <a:ext uri="{FF2B5EF4-FFF2-40B4-BE49-F238E27FC236}">
                  <a16:creationId xmlns:a16="http://schemas.microsoft.com/office/drawing/2014/main" id="{15382458-7AC4-8E4F-52C3-68815BCEAE9F}"/>
                </a:ext>
              </a:extLst>
            </p:cNvPr>
            <p:cNvSpPr>
              <a:spLocks/>
            </p:cNvSpPr>
            <p:nvPr userDrawn="1"/>
          </p:nvSpPr>
          <p:spPr bwMode="auto">
            <a:xfrm>
              <a:off x="859" y="3386"/>
              <a:ext cx="207" cy="172"/>
            </a:xfrm>
            <a:custGeom>
              <a:avLst/>
              <a:gdLst>
                <a:gd name="T0" fmla="*/ 28 w 41"/>
                <a:gd name="T1" fmla="*/ 9 h 34"/>
                <a:gd name="T2" fmla="*/ 13 w 41"/>
                <a:gd name="T3" fmla="*/ 6 h 34"/>
                <a:gd name="T4" fmla="*/ 4 w 41"/>
                <a:gd name="T5" fmla="*/ 15 h 34"/>
                <a:gd name="T6" fmla="*/ 1 w 41"/>
                <a:gd name="T7" fmla="*/ 19 h 34"/>
                <a:gd name="T8" fmla="*/ 9 w 41"/>
                <a:gd name="T9" fmla="*/ 19 h 34"/>
                <a:gd name="T10" fmla="*/ 17 w 41"/>
                <a:gd name="T11" fmla="*/ 27 h 34"/>
                <a:gd name="T12" fmla="*/ 21 w 41"/>
                <a:gd name="T13" fmla="*/ 30 h 34"/>
                <a:gd name="T14" fmla="*/ 29 w 41"/>
                <a:gd name="T15" fmla="*/ 19 h 34"/>
                <a:gd name="T16" fmla="*/ 39 w 41"/>
                <a:gd name="T17" fmla="*/ 19 h 34"/>
                <a:gd name="T18" fmla="*/ 28 w 41"/>
                <a:gd name="T19" fmla="*/ 9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4">
                  <a:moveTo>
                    <a:pt x="28" y="9"/>
                  </a:moveTo>
                  <a:cubicBezTo>
                    <a:pt x="28" y="6"/>
                    <a:pt x="14" y="0"/>
                    <a:pt x="13" y="6"/>
                  </a:cubicBezTo>
                  <a:cubicBezTo>
                    <a:pt x="11" y="12"/>
                    <a:pt x="4" y="15"/>
                    <a:pt x="4" y="15"/>
                  </a:cubicBezTo>
                  <a:cubicBezTo>
                    <a:pt x="0" y="16"/>
                    <a:pt x="0" y="16"/>
                    <a:pt x="1" y="19"/>
                  </a:cubicBezTo>
                  <a:cubicBezTo>
                    <a:pt x="1" y="22"/>
                    <a:pt x="4" y="24"/>
                    <a:pt x="9" y="19"/>
                  </a:cubicBezTo>
                  <a:cubicBezTo>
                    <a:pt x="17" y="10"/>
                    <a:pt x="17" y="26"/>
                    <a:pt x="17" y="27"/>
                  </a:cubicBezTo>
                  <a:cubicBezTo>
                    <a:pt x="18" y="29"/>
                    <a:pt x="19" y="34"/>
                    <a:pt x="21" y="30"/>
                  </a:cubicBezTo>
                  <a:cubicBezTo>
                    <a:pt x="22" y="26"/>
                    <a:pt x="25" y="14"/>
                    <a:pt x="29" y="19"/>
                  </a:cubicBezTo>
                  <a:cubicBezTo>
                    <a:pt x="35" y="27"/>
                    <a:pt x="41" y="19"/>
                    <a:pt x="39" y="19"/>
                  </a:cubicBezTo>
                  <a:cubicBezTo>
                    <a:pt x="38" y="18"/>
                    <a:pt x="28" y="13"/>
                    <a:pt x="28" y="9"/>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35" name="Freeform 231">
              <a:extLst>
                <a:ext uri="{FF2B5EF4-FFF2-40B4-BE49-F238E27FC236}">
                  <a16:creationId xmlns:a16="http://schemas.microsoft.com/office/drawing/2014/main" id="{452588CF-D017-9290-D259-A058A612B877}"/>
                </a:ext>
              </a:extLst>
            </p:cNvPr>
            <p:cNvSpPr>
              <a:spLocks/>
            </p:cNvSpPr>
            <p:nvPr userDrawn="1"/>
          </p:nvSpPr>
          <p:spPr bwMode="auto">
            <a:xfrm>
              <a:off x="996" y="3305"/>
              <a:ext cx="126" cy="318"/>
            </a:xfrm>
            <a:custGeom>
              <a:avLst/>
              <a:gdLst>
                <a:gd name="T0" fmla="*/ 22 w 25"/>
                <a:gd name="T1" fmla="*/ 2 h 63"/>
                <a:gd name="T2" fmla="*/ 18 w 25"/>
                <a:gd name="T3" fmla="*/ 17 h 63"/>
                <a:gd name="T4" fmla="*/ 7 w 25"/>
                <a:gd name="T5" fmla="*/ 20 h 63"/>
                <a:gd name="T6" fmla="*/ 7 w 25"/>
                <a:gd name="T7" fmla="*/ 23 h 63"/>
                <a:gd name="T8" fmla="*/ 17 w 25"/>
                <a:gd name="T9" fmla="*/ 34 h 63"/>
                <a:gd name="T10" fmla="*/ 12 w 25"/>
                <a:gd name="T11" fmla="*/ 45 h 63"/>
                <a:gd name="T12" fmla="*/ 0 w 25"/>
                <a:gd name="T13" fmla="*/ 55 h 63"/>
                <a:gd name="T14" fmla="*/ 5 w 25"/>
                <a:gd name="T15" fmla="*/ 58 h 63"/>
                <a:gd name="T16" fmla="*/ 16 w 25"/>
                <a:gd name="T17" fmla="*/ 62 h 63"/>
                <a:gd name="T18" fmla="*/ 23 w 25"/>
                <a:gd name="T19" fmla="*/ 57 h 63"/>
                <a:gd name="T20" fmla="*/ 25 w 25"/>
                <a:gd name="T21" fmla="*/ 14 h 63"/>
                <a:gd name="T22" fmla="*/ 25 w 25"/>
                <a:gd name="T23" fmla="*/ 2 h 63"/>
                <a:gd name="T24" fmla="*/ 22 w 25"/>
                <a:gd name="T25" fmla="*/ 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63">
                  <a:moveTo>
                    <a:pt x="22" y="2"/>
                  </a:moveTo>
                  <a:cubicBezTo>
                    <a:pt x="22" y="2"/>
                    <a:pt x="20" y="15"/>
                    <a:pt x="18" y="17"/>
                  </a:cubicBezTo>
                  <a:cubicBezTo>
                    <a:pt x="15" y="19"/>
                    <a:pt x="10" y="20"/>
                    <a:pt x="7" y="20"/>
                  </a:cubicBezTo>
                  <a:cubicBezTo>
                    <a:pt x="4" y="19"/>
                    <a:pt x="4" y="22"/>
                    <a:pt x="7" y="23"/>
                  </a:cubicBezTo>
                  <a:cubicBezTo>
                    <a:pt x="10" y="24"/>
                    <a:pt x="17" y="29"/>
                    <a:pt x="17" y="34"/>
                  </a:cubicBezTo>
                  <a:cubicBezTo>
                    <a:pt x="17" y="40"/>
                    <a:pt x="17" y="44"/>
                    <a:pt x="12" y="45"/>
                  </a:cubicBezTo>
                  <a:cubicBezTo>
                    <a:pt x="6" y="46"/>
                    <a:pt x="0" y="47"/>
                    <a:pt x="0" y="55"/>
                  </a:cubicBezTo>
                  <a:cubicBezTo>
                    <a:pt x="0" y="55"/>
                    <a:pt x="3" y="57"/>
                    <a:pt x="5" y="58"/>
                  </a:cubicBezTo>
                  <a:cubicBezTo>
                    <a:pt x="8" y="58"/>
                    <a:pt x="14" y="61"/>
                    <a:pt x="16" y="62"/>
                  </a:cubicBezTo>
                  <a:cubicBezTo>
                    <a:pt x="18" y="63"/>
                    <a:pt x="23" y="61"/>
                    <a:pt x="23" y="57"/>
                  </a:cubicBezTo>
                  <a:cubicBezTo>
                    <a:pt x="24" y="52"/>
                    <a:pt x="24" y="20"/>
                    <a:pt x="25" y="14"/>
                  </a:cubicBezTo>
                  <a:cubicBezTo>
                    <a:pt x="25" y="9"/>
                    <a:pt x="25" y="3"/>
                    <a:pt x="25" y="2"/>
                  </a:cubicBezTo>
                  <a:cubicBezTo>
                    <a:pt x="25" y="1"/>
                    <a:pt x="22" y="0"/>
                    <a:pt x="22" y="2"/>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nvGrpSpPr>
          <p:cNvPr id="175336" name="Group 232">
            <a:extLst>
              <a:ext uri="{FF2B5EF4-FFF2-40B4-BE49-F238E27FC236}">
                <a16:creationId xmlns:a16="http://schemas.microsoft.com/office/drawing/2014/main" id="{C08CD7F6-E6C8-3A5A-2FCB-9A17E393AC81}"/>
              </a:ext>
            </a:extLst>
          </p:cNvPr>
          <p:cNvGrpSpPr>
            <a:grpSpLocks/>
          </p:cNvGrpSpPr>
          <p:nvPr/>
        </p:nvGrpSpPr>
        <p:grpSpPr bwMode="auto">
          <a:xfrm>
            <a:off x="6934200" y="-7938"/>
            <a:ext cx="2317750" cy="2063751"/>
            <a:chOff x="4080" y="-5"/>
            <a:chExt cx="1748" cy="1556"/>
          </a:xfrm>
        </p:grpSpPr>
        <p:sp>
          <p:nvSpPr>
            <p:cNvPr id="175337" name="Freeform 233">
              <a:extLst>
                <a:ext uri="{FF2B5EF4-FFF2-40B4-BE49-F238E27FC236}">
                  <a16:creationId xmlns:a16="http://schemas.microsoft.com/office/drawing/2014/main" id="{2DB94D0C-300D-9EAD-39F2-877B09EEAAC4}"/>
                </a:ext>
              </a:extLst>
            </p:cNvPr>
            <p:cNvSpPr>
              <a:spLocks/>
            </p:cNvSpPr>
            <p:nvPr userDrawn="1"/>
          </p:nvSpPr>
          <p:spPr bwMode="auto">
            <a:xfrm>
              <a:off x="4161" y="-5"/>
              <a:ext cx="1586" cy="1443"/>
            </a:xfrm>
            <a:custGeom>
              <a:avLst/>
              <a:gdLst>
                <a:gd name="T0" fmla="*/ 23 w 546"/>
                <a:gd name="T1" fmla="*/ 4 h 497"/>
                <a:gd name="T2" fmla="*/ 11 w 546"/>
                <a:gd name="T3" fmla="*/ 71 h 497"/>
                <a:gd name="T4" fmla="*/ 25 w 546"/>
                <a:gd name="T5" fmla="*/ 393 h 497"/>
                <a:gd name="T6" fmla="*/ 54 w 546"/>
                <a:gd name="T7" fmla="*/ 457 h 497"/>
                <a:gd name="T8" fmla="*/ 158 w 546"/>
                <a:gd name="T9" fmla="*/ 482 h 497"/>
                <a:gd name="T10" fmla="*/ 204 w 546"/>
                <a:gd name="T11" fmla="*/ 495 h 497"/>
                <a:gd name="T12" fmla="*/ 520 w 546"/>
                <a:gd name="T13" fmla="*/ 475 h 497"/>
                <a:gd name="T14" fmla="*/ 533 w 546"/>
                <a:gd name="T15" fmla="*/ 167 h 497"/>
                <a:gd name="T16" fmla="*/ 369 w 546"/>
                <a:gd name="T17" fmla="*/ 16 h 497"/>
                <a:gd name="T18" fmla="*/ 249 w 546"/>
                <a:gd name="T19" fmla="*/ 29 h 497"/>
                <a:gd name="T20" fmla="*/ 198 w 546"/>
                <a:gd name="T21" fmla="*/ 11 h 497"/>
                <a:gd name="T22" fmla="*/ 151 w 546"/>
                <a:gd name="T23" fmla="*/ 2 h 497"/>
                <a:gd name="T24" fmla="*/ 23 w 546"/>
                <a:gd name="T25" fmla="*/ 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6" h="497">
                  <a:moveTo>
                    <a:pt x="23" y="4"/>
                  </a:moveTo>
                  <a:cubicBezTo>
                    <a:pt x="23" y="4"/>
                    <a:pt x="0" y="34"/>
                    <a:pt x="11" y="71"/>
                  </a:cubicBezTo>
                  <a:cubicBezTo>
                    <a:pt x="19" y="100"/>
                    <a:pt x="25" y="393"/>
                    <a:pt x="25" y="393"/>
                  </a:cubicBezTo>
                  <a:cubicBezTo>
                    <a:pt x="25" y="393"/>
                    <a:pt x="42" y="452"/>
                    <a:pt x="54" y="457"/>
                  </a:cubicBezTo>
                  <a:cubicBezTo>
                    <a:pt x="66" y="462"/>
                    <a:pt x="158" y="482"/>
                    <a:pt x="158" y="482"/>
                  </a:cubicBezTo>
                  <a:cubicBezTo>
                    <a:pt x="158" y="482"/>
                    <a:pt x="191" y="497"/>
                    <a:pt x="204" y="495"/>
                  </a:cubicBezTo>
                  <a:cubicBezTo>
                    <a:pt x="217" y="494"/>
                    <a:pt x="506" y="487"/>
                    <a:pt x="520" y="475"/>
                  </a:cubicBezTo>
                  <a:cubicBezTo>
                    <a:pt x="533" y="463"/>
                    <a:pt x="546" y="218"/>
                    <a:pt x="533" y="167"/>
                  </a:cubicBezTo>
                  <a:cubicBezTo>
                    <a:pt x="520" y="117"/>
                    <a:pt x="404" y="14"/>
                    <a:pt x="369" y="16"/>
                  </a:cubicBezTo>
                  <a:cubicBezTo>
                    <a:pt x="335" y="17"/>
                    <a:pt x="249" y="29"/>
                    <a:pt x="249" y="29"/>
                  </a:cubicBezTo>
                  <a:lnTo>
                    <a:pt x="198" y="11"/>
                  </a:lnTo>
                  <a:lnTo>
                    <a:pt x="151" y="2"/>
                  </a:lnTo>
                  <a:cubicBezTo>
                    <a:pt x="151" y="2"/>
                    <a:pt x="79" y="0"/>
                    <a:pt x="23" y="4"/>
                  </a:cubicBezTo>
                  <a:close/>
                </a:path>
              </a:pathLst>
            </a:custGeom>
            <a:solidFill>
              <a:schemeClr val="accent2"/>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nvGrpSpPr>
            <p:cNvPr id="175338" name="Group 234">
              <a:extLst>
                <a:ext uri="{FF2B5EF4-FFF2-40B4-BE49-F238E27FC236}">
                  <a16:creationId xmlns:a16="http://schemas.microsoft.com/office/drawing/2014/main" id="{1EC99D48-41C4-C91D-A035-197BF845FC28}"/>
                </a:ext>
              </a:extLst>
            </p:cNvPr>
            <p:cNvGrpSpPr>
              <a:grpSpLocks/>
            </p:cNvGrpSpPr>
            <p:nvPr userDrawn="1"/>
          </p:nvGrpSpPr>
          <p:grpSpPr bwMode="auto">
            <a:xfrm>
              <a:off x="4080" y="0"/>
              <a:ext cx="1748" cy="1551"/>
              <a:chOff x="2918" y="18"/>
              <a:chExt cx="2958" cy="2699"/>
            </a:xfrm>
          </p:grpSpPr>
          <p:sp>
            <p:nvSpPr>
              <p:cNvPr id="175339" name="Freeform 235">
                <a:extLst>
                  <a:ext uri="{FF2B5EF4-FFF2-40B4-BE49-F238E27FC236}">
                    <a16:creationId xmlns:a16="http://schemas.microsoft.com/office/drawing/2014/main" id="{0A42DAFD-C58B-D8CB-062C-5EC72C5C9939}"/>
                  </a:ext>
                </a:extLst>
              </p:cNvPr>
              <p:cNvSpPr>
                <a:spLocks/>
              </p:cNvSpPr>
              <p:nvPr/>
            </p:nvSpPr>
            <p:spPr bwMode="auto">
              <a:xfrm>
                <a:off x="3060" y="18"/>
                <a:ext cx="490" cy="187"/>
              </a:xfrm>
              <a:custGeom>
                <a:avLst/>
                <a:gdLst>
                  <a:gd name="T0" fmla="*/ 71 w 97"/>
                  <a:gd name="T1" fmla="*/ 25 h 37"/>
                  <a:gd name="T2" fmla="*/ 91 w 97"/>
                  <a:gd name="T3" fmla="*/ 20 h 37"/>
                  <a:gd name="T4" fmla="*/ 92 w 97"/>
                  <a:gd name="T5" fmla="*/ 17 h 37"/>
                  <a:gd name="T6" fmla="*/ 88 w 97"/>
                  <a:gd name="T7" fmla="*/ 0 h 37"/>
                  <a:gd name="T8" fmla="*/ 25 w 97"/>
                  <a:gd name="T9" fmla="*/ 0 h 37"/>
                  <a:gd name="T10" fmla="*/ 10 w 97"/>
                  <a:gd name="T11" fmla="*/ 22 h 37"/>
                  <a:gd name="T12" fmla="*/ 71 w 97"/>
                  <a:gd name="T13" fmla="*/ 25 h 37"/>
                </a:gdLst>
                <a:ahLst/>
                <a:cxnLst>
                  <a:cxn ang="0">
                    <a:pos x="T0" y="T1"/>
                  </a:cxn>
                  <a:cxn ang="0">
                    <a:pos x="T2" y="T3"/>
                  </a:cxn>
                  <a:cxn ang="0">
                    <a:pos x="T4" y="T5"/>
                  </a:cxn>
                  <a:cxn ang="0">
                    <a:pos x="T6" y="T7"/>
                  </a:cxn>
                  <a:cxn ang="0">
                    <a:pos x="T8" y="T9"/>
                  </a:cxn>
                  <a:cxn ang="0">
                    <a:pos x="T10" y="T11"/>
                  </a:cxn>
                  <a:cxn ang="0">
                    <a:pos x="T12" y="T13"/>
                  </a:cxn>
                </a:cxnLst>
                <a:rect l="0" t="0" r="r" b="b"/>
                <a:pathLst>
                  <a:path w="97" h="37">
                    <a:moveTo>
                      <a:pt x="71" y="25"/>
                    </a:moveTo>
                    <a:cubicBezTo>
                      <a:pt x="81" y="22"/>
                      <a:pt x="87" y="21"/>
                      <a:pt x="91" y="20"/>
                    </a:cubicBezTo>
                    <a:cubicBezTo>
                      <a:pt x="91" y="19"/>
                      <a:pt x="91" y="19"/>
                      <a:pt x="92" y="17"/>
                    </a:cubicBezTo>
                    <a:cubicBezTo>
                      <a:pt x="97" y="11"/>
                      <a:pt x="95" y="4"/>
                      <a:pt x="88" y="0"/>
                    </a:cubicBezTo>
                    <a:lnTo>
                      <a:pt x="25" y="0"/>
                    </a:lnTo>
                    <a:cubicBezTo>
                      <a:pt x="10" y="3"/>
                      <a:pt x="0" y="10"/>
                      <a:pt x="10" y="22"/>
                    </a:cubicBezTo>
                    <a:cubicBezTo>
                      <a:pt x="10" y="22"/>
                      <a:pt x="28" y="37"/>
                      <a:pt x="71" y="2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40" name="Freeform 236">
                <a:extLst>
                  <a:ext uri="{FF2B5EF4-FFF2-40B4-BE49-F238E27FC236}">
                    <a16:creationId xmlns:a16="http://schemas.microsoft.com/office/drawing/2014/main" id="{AA0CEBCB-2DDA-1481-D425-6AA1813A0859}"/>
                  </a:ext>
                </a:extLst>
              </p:cNvPr>
              <p:cNvSpPr>
                <a:spLocks noEditPoints="1"/>
              </p:cNvSpPr>
              <p:nvPr/>
            </p:nvSpPr>
            <p:spPr bwMode="auto">
              <a:xfrm>
                <a:off x="2918" y="18"/>
                <a:ext cx="2958" cy="2699"/>
              </a:xfrm>
              <a:custGeom>
                <a:avLst/>
                <a:gdLst>
                  <a:gd name="T0" fmla="*/ 504 w 585"/>
                  <a:gd name="T1" fmla="*/ 1 h 534"/>
                  <a:gd name="T2" fmla="*/ 157 w 585"/>
                  <a:gd name="T3" fmla="*/ 0 h 534"/>
                  <a:gd name="T4" fmla="*/ 225 w 585"/>
                  <a:gd name="T5" fmla="*/ 21 h 534"/>
                  <a:gd name="T6" fmla="*/ 174 w 585"/>
                  <a:gd name="T7" fmla="*/ 39 h 534"/>
                  <a:gd name="T8" fmla="*/ 207 w 585"/>
                  <a:gd name="T9" fmla="*/ 71 h 534"/>
                  <a:gd name="T10" fmla="*/ 74 w 585"/>
                  <a:gd name="T11" fmla="*/ 60 h 534"/>
                  <a:gd name="T12" fmla="*/ 26 w 585"/>
                  <a:gd name="T13" fmla="*/ 63 h 534"/>
                  <a:gd name="T14" fmla="*/ 199 w 585"/>
                  <a:gd name="T15" fmla="*/ 487 h 534"/>
                  <a:gd name="T16" fmla="*/ 144 w 585"/>
                  <a:gd name="T17" fmla="*/ 341 h 534"/>
                  <a:gd name="T18" fmla="*/ 105 w 585"/>
                  <a:gd name="T19" fmla="*/ 376 h 534"/>
                  <a:gd name="T20" fmla="*/ 94 w 585"/>
                  <a:gd name="T21" fmla="*/ 435 h 534"/>
                  <a:gd name="T22" fmla="*/ 124 w 585"/>
                  <a:gd name="T23" fmla="*/ 265 h 534"/>
                  <a:gd name="T24" fmla="*/ 153 w 585"/>
                  <a:gd name="T25" fmla="*/ 228 h 534"/>
                  <a:gd name="T26" fmla="*/ 209 w 585"/>
                  <a:gd name="T27" fmla="*/ 237 h 534"/>
                  <a:gd name="T28" fmla="*/ 188 w 585"/>
                  <a:gd name="T29" fmla="*/ 306 h 534"/>
                  <a:gd name="T30" fmla="*/ 192 w 585"/>
                  <a:gd name="T31" fmla="*/ 395 h 534"/>
                  <a:gd name="T32" fmla="*/ 515 w 585"/>
                  <a:gd name="T33" fmla="*/ 483 h 534"/>
                  <a:gd name="T34" fmla="*/ 454 w 585"/>
                  <a:gd name="T35" fmla="*/ 427 h 534"/>
                  <a:gd name="T36" fmla="*/ 425 w 585"/>
                  <a:gd name="T37" fmla="*/ 345 h 534"/>
                  <a:gd name="T38" fmla="*/ 396 w 585"/>
                  <a:gd name="T39" fmla="*/ 270 h 534"/>
                  <a:gd name="T40" fmla="*/ 460 w 585"/>
                  <a:gd name="T41" fmla="*/ 256 h 534"/>
                  <a:gd name="T42" fmla="*/ 407 w 585"/>
                  <a:gd name="T43" fmla="*/ 223 h 534"/>
                  <a:gd name="T44" fmla="*/ 439 w 585"/>
                  <a:gd name="T45" fmla="*/ 226 h 534"/>
                  <a:gd name="T46" fmla="*/ 438 w 585"/>
                  <a:gd name="T47" fmla="*/ 209 h 534"/>
                  <a:gd name="T48" fmla="*/ 376 w 585"/>
                  <a:gd name="T49" fmla="*/ 211 h 534"/>
                  <a:gd name="T50" fmla="*/ 357 w 585"/>
                  <a:gd name="T51" fmla="*/ 343 h 534"/>
                  <a:gd name="T52" fmla="*/ 347 w 585"/>
                  <a:gd name="T53" fmla="*/ 230 h 534"/>
                  <a:gd name="T54" fmla="*/ 331 w 585"/>
                  <a:gd name="T55" fmla="*/ 182 h 534"/>
                  <a:gd name="T56" fmla="*/ 347 w 585"/>
                  <a:gd name="T57" fmla="*/ 136 h 534"/>
                  <a:gd name="T58" fmla="*/ 339 w 585"/>
                  <a:gd name="T59" fmla="*/ 99 h 534"/>
                  <a:gd name="T60" fmla="*/ 331 w 585"/>
                  <a:gd name="T61" fmla="*/ 62 h 534"/>
                  <a:gd name="T62" fmla="*/ 369 w 585"/>
                  <a:gd name="T63" fmla="*/ 103 h 534"/>
                  <a:gd name="T64" fmla="*/ 415 w 585"/>
                  <a:gd name="T65" fmla="*/ 47 h 534"/>
                  <a:gd name="T66" fmla="*/ 409 w 585"/>
                  <a:gd name="T67" fmla="*/ 95 h 534"/>
                  <a:gd name="T68" fmla="*/ 401 w 585"/>
                  <a:gd name="T69" fmla="*/ 130 h 534"/>
                  <a:gd name="T70" fmla="*/ 401 w 585"/>
                  <a:gd name="T71" fmla="*/ 181 h 534"/>
                  <a:gd name="T72" fmla="*/ 558 w 585"/>
                  <a:gd name="T73" fmla="*/ 181 h 534"/>
                  <a:gd name="T74" fmla="*/ 554 w 585"/>
                  <a:gd name="T75" fmla="*/ 76 h 534"/>
                  <a:gd name="T76" fmla="*/ 249 w 585"/>
                  <a:gd name="T77" fmla="*/ 69 h 534"/>
                  <a:gd name="T78" fmla="*/ 293 w 585"/>
                  <a:gd name="T79" fmla="*/ 93 h 534"/>
                  <a:gd name="T80" fmla="*/ 171 w 585"/>
                  <a:gd name="T81" fmla="*/ 195 h 534"/>
                  <a:gd name="T82" fmla="*/ 69 w 585"/>
                  <a:gd name="T83" fmla="*/ 98 h 534"/>
                  <a:gd name="T84" fmla="*/ 191 w 585"/>
                  <a:gd name="T85" fmla="*/ 106 h 534"/>
                  <a:gd name="T86" fmla="*/ 220 w 585"/>
                  <a:gd name="T87" fmla="*/ 105 h 534"/>
                  <a:gd name="T88" fmla="*/ 302 w 585"/>
                  <a:gd name="T89" fmla="*/ 121 h 534"/>
                  <a:gd name="T90" fmla="*/ 276 w 585"/>
                  <a:gd name="T91" fmla="*/ 256 h 534"/>
                  <a:gd name="T92" fmla="*/ 260 w 585"/>
                  <a:gd name="T93" fmla="*/ 137 h 534"/>
                  <a:gd name="T94" fmla="*/ 171 w 585"/>
                  <a:gd name="T95" fmla="*/ 195 h 534"/>
                  <a:gd name="T96" fmla="*/ 223 w 585"/>
                  <a:gd name="T97" fmla="*/ 225 h 534"/>
                  <a:gd name="T98" fmla="*/ 247 w 585"/>
                  <a:gd name="T99" fmla="*/ 158 h 534"/>
                  <a:gd name="T100" fmla="*/ 326 w 585"/>
                  <a:gd name="T101" fmla="*/ 292 h 534"/>
                  <a:gd name="T102" fmla="*/ 215 w 585"/>
                  <a:gd name="T103" fmla="*/ 321 h 534"/>
                  <a:gd name="T104" fmla="*/ 309 w 585"/>
                  <a:gd name="T105" fmla="*/ 277 h 534"/>
                  <a:gd name="T106" fmla="*/ 318 w 585"/>
                  <a:gd name="T107" fmla="*/ 133 h 534"/>
                  <a:gd name="T108" fmla="*/ 313 w 585"/>
                  <a:gd name="T109" fmla="*/ 213 h 534"/>
                  <a:gd name="T110" fmla="*/ 299 w 585"/>
                  <a:gd name="T111" fmla="*/ 144 h 534"/>
                  <a:gd name="T112" fmla="*/ 507 w 585"/>
                  <a:gd name="T113" fmla="*/ 179 h 534"/>
                  <a:gd name="T114" fmla="*/ 461 w 585"/>
                  <a:gd name="T115" fmla="*/ 162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85" h="534">
                    <a:moveTo>
                      <a:pt x="554" y="76"/>
                    </a:moveTo>
                    <a:cubicBezTo>
                      <a:pt x="551" y="32"/>
                      <a:pt x="543" y="9"/>
                      <a:pt x="504" y="1"/>
                    </a:cubicBezTo>
                    <a:cubicBezTo>
                      <a:pt x="500" y="1"/>
                      <a:pt x="494" y="0"/>
                      <a:pt x="486" y="0"/>
                    </a:cubicBezTo>
                    <a:lnTo>
                      <a:pt x="157" y="0"/>
                    </a:lnTo>
                    <a:cubicBezTo>
                      <a:pt x="156" y="5"/>
                      <a:pt x="153" y="17"/>
                      <a:pt x="158" y="17"/>
                    </a:cubicBezTo>
                    <a:cubicBezTo>
                      <a:pt x="171" y="17"/>
                      <a:pt x="223" y="21"/>
                      <a:pt x="225" y="21"/>
                    </a:cubicBezTo>
                    <a:cubicBezTo>
                      <a:pt x="226" y="21"/>
                      <a:pt x="250" y="16"/>
                      <a:pt x="237" y="28"/>
                    </a:cubicBezTo>
                    <a:cubicBezTo>
                      <a:pt x="223" y="41"/>
                      <a:pt x="192" y="41"/>
                      <a:pt x="174" y="39"/>
                    </a:cubicBezTo>
                    <a:cubicBezTo>
                      <a:pt x="131" y="36"/>
                      <a:pt x="152" y="56"/>
                      <a:pt x="168" y="56"/>
                    </a:cubicBezTo>
                    <a:cubicBezTo>
                      <a:pt x="218" y="56"/>
                      <a:pt x="228" y="68"/>
                      <a:pt x="207" y="71"/>
                    </a:cubicBezTo>
                    <a:cubicBezTo>
                      <a:pt x="186" y="74"/>
                      <a:pt x="182" y="73"/>
                      <a:pt x="162" y="76"/>
                    </a:cubicBezTo>
                    <a:cubicBezTo>
                      <a:pt x="7" y="101"/>
                      <a:pt x="59" y="60"/>
                      <a:pt x="74" y="60"/>
                    </a:cubicBezTo>
                    <a:cubicBezTo>
                      <a:pt x="139" y="59"/>
                      <a:pt x="123" y="37"/>
                      <a:pt x="107" y="42"/>
                    </a:cubicBezTo>
                    <a:cubicBezTo>
                      <a:pt x="91" y="46"/>
                      <a:pt x="34" y="27"/>
                      <a:pt x="26" y="63"/>
                    </a:cubicBezTo>
                    <a:cubicBezTo>
                      <a:pt x="19" y="100"/>
                      <a:pt x="42" y="282"/>
                      <a:pt x="36" y="317"/>
                    </a:cubicBezTo>
                    <a:cubicBezTo>
                      <a:pt x="0" y="534"/>
                      <a:pt x="199" y="487"/>
                      <a:pt x="199" y="487"/>
                    </a:cubicBezTo>
                    <a:cubicBezTo>
                      <a:pt x="156" y="453"/>
                      <a:pt x="174" y="421"/>
                      <a:pt x="171" y="403"/>
                    </a:cubicBezTo>
                    <a:cubicBezTo>
                      <a:pt x="161" y="345"/>
                      <a:pt x="154" y="337"/>
                      <a:pt x="144" y="341"/>
                    </a:cubicBezTo>
                    <a:cubicBezTo>
                      <a:pt x="121" y="352"/>
                      <a:pt x="123" y="358"/>
                      <a:pt x="126" y="367"/>
                    </a:cubicBezTo>
                    <a:cubicBezTo>
                      <a:pt x="142" y="416"/>
                      <a:pt x="105" y="376"/>
                      <a:pt x="105" y="376"/>
                    </a:cubicBezTo>
                    <a:cubicBezTo>
                      <a:pt x="98" y="380"/>
                      <a:pt x="95" y="390"/>
                      <a:pt x="99" y="399"/>
                    </a:cubicBezTo>
                    <a:cubicBezTo>
                      <a:pt x="131" y="463"/>
                      <a:pt x="101" y="446"/>
                      <a:pt x="94" y="435"/>
                    </a:cubicBezTo>
                    <a:cubicBezTo>
                      <a:pt x="61" y="390"/>
                      <a:pt x="92" y="366"/>
                      <a:pt x="88" y="352"/>
                    </a:cubicBezTo>
                    <a:cubicBezTo>
                      <a:pt x="75" y="295"/>
                      <a:pt x="118" y="274"/>
                      <a:pt x="124" y="265"/>
                    </a:cubicBezTo>
                    <a:cubicBezTo>
                      <a:pt x="130" y="256"/>
                      <a:pt x="127" y="253"/>
                      <a:pt x="129" y="234"/>
                    </a:cubicBezTo>
                    <a:cubicBezTo>
                      <a:pt x="136" y="195"/>
                      <a:pt x="155" y="216"/>
                      <a:pt x="153" y="228"/>
                    </a:cubicBezTo>
                    <a:cubicBezTo>
                      <a:pt x="148" y="274"/>
                      <a:pt x="176" y="242"/>
                      <a:pt x="186" y="228"/>
                    </a:cubicBezTo>
                    <a:cubicBezTo>
                      <a:pt x="218" y="186"/>
                      <a:pt x="214" y="229"/>
                      <a:pt x="209" y="237"/>
                    </a:cubicBezTo>
                    <a:cubicBezTo>
                      <a:pt x="203" y="244"/>
                      <a:pt x="198" y="255"/>
                      <a:pt x="200" y="260"/>
                    </a:cubicBezTo>
                    <a:cubicBezTo>
                      <a:pt x="208" y="283"/>
                      <a:pt x="193" y="305"/>
                      <a:pt x="188" y="306"/>
                    </a:cubicBezTo>
                    <a:cubicBezTo>
                      <a:pt x="184" y="308"/>
                      <a:pt x="170" y="314"/>
                      <a:pt x="170" y="332"/>
                    </a:cubicBezTo>
                    <a:cubicBezTo>
                      <a:pt x="171" y="350"/>
                      <a:pt x="192" y="382"/>
                      <a:pt x="192" y="395"/>
                    </a:cubicBezTo>
                    <a:cubicBezTo>
                      <a:pt x="193" y="492"/>
                      <a:pt x="236" y="499"/>
                      <a:pt x="255" y="497"/>
                    </a:cubicBezTo>
                    <a:cubicBezTo>
                      <a:pt x="275" y="496"/>
                      <a:pt x="445" y="490"/>
                      <a:pt x="515" y="483"/>
                    </a:cubicBezTo>
                    <a:cubicBezTo>
                      <a:pt x="585" y="477"/>
                      <a:pt x="538" y="458"/>
                      <a:pt x="518" y="458"/>
                    </a:cubicBezTo>
                    <a:cubicBezTo>
                      <a:pt x="467" y="458"/>
                      <a:pt x="454" y="427"/>
                      <a:pt x="454" y="427"/>
                    </a:cubicBezTo>
                    <a:cubicBezTo>
                      <a:pt x="454" y="427"/>
                      <a:pt x="453" y="405"/>
                      <a:pt x="431" y="400"/>
                    </a:cubicBezTo>
                    <a:cubicBezTo>
                      <a:pt x="376" y="385"/>
                      <a:pt x="411" y="353"/>
                      <a:pt x="425" y="345"/>
                    </a:cubicBezTo>
                    <a:cubicBezTo>
                      <a:pt x="438" y="338"/>
                      <a:pt x="430" y="335"/>
                      <a:pt x="420" y="329"/>
                    </a:cubicBezTo>
                    <a:cubicBezTo>
                      <a:pt x="398" y="316"/>
                      <a:pt x="394" y="300"/>
                      <a:pt x="396" y="270"/>
                    </a:cubicBezTo>
                    <a:cubicBezTo>
                      <a:pt x="397" y="240"/>
                      <a:pt x="416" y="249"/>
                      <a:pt x="416" y="249"/>
                    </a:cubicBezTo>
                    <a:cubicBezTo>
                      <a:pt x="416" y="249"/>
                      <a:pt x="448" y="262"/>
                      <a:pt x="460" y="256"/>
                    </a:cubicBezTo>
                    <a:cubicBezTo>
                      <a:pt x="472" y="250"/>
                      <a:pt x="467" y="239"/>
                      <a:pt x="461" y="244"/>
                    </a:cubicBezTo>
                    <a:cubicBezTo>
                      <a:pt x="455" y="248"/>
                      <a:pt x="412" y="244"/>
                      <a:pt x="407" y="223"/>
                    </a:cubicBezTo>
                    <a:cubicBezTo>
                      <a:pt x="403" y="202"/>
                      <a:pt x="418" y="213"/>
                      <a:pt x="422" y="214"/>
                    </a:cubicBezTo>
                    <a:cubicBezTo>
                      <a:pt x="427" y="216"/>
                      <a:pt x="427" y="220"/>
                      <a:pt x="439" y="226"/>
                    </a:cubicBezTo>
                    <a:cubicBezTo>
                      <a:pt x="468" y="241"/>
                      <a:pt x="454" y="224"/>
                      <a:pt x="454" y="224"/>
                    </a:cubicBezTo>
                    <a:cubicBezTo>
                      <a:pt x="454" y="224"/>
                      <a:pt x="454" y="224"/>
                      <a:pt x="438" y="209"/>
                    </a:cubicBezTo>
                    <a:cubicBezTo>
                      <a:pt x="423" y="194"/>
                      <a:pt x="406" y="199"/>
                      <a:pt x="389" y="199"/>
                    </a:cubicBezTo>
                    <a:cubicBezTo>
                      <a:pt x="373" y="199"/>
                      <a:pt x="376" y="211"/>
                      <a:pt x="376" y="211"/>
                    </a:cubicBezTo>
                    <a:cubicBezTo>
                      <a:pt x="376" y="211"/>
                      <a:pt x="373" y="242"/>
                      <a:pt x="370" y="291"/>
                    </a:cubicBezTo>
                    <a:cubicBezTo>
                      <a:pt x="368" y="341"/>
                      <a:pt x="360" y="347"/>
                      <a:pt x="357" y="343"/>
                    </a:cubicBezTo>
                    <a:cubicBezTo>
                      <a:pt x="354" y="338"/>
                      <a:pt x="350" y="313"/>
                      <a:pt x="350" y="305"/>
                    </a:cubicBezTo>
                    <a:cubicBezTo>
                      <a:pt x="350" y="298"/>
                      <a:pt x="345" y="264"/>
                      <a:pt x="347" y="230"/>
                    </a:cubicBezTo>
                    <a:cubicBezTo>
                      <a:pt x="350" y="195"/>
                      <a:pt x="356" y="210"/>
                      <a:pt x="334" y="201"/>
                    </a:cubicBezTo>
                    <a:cubicBezTo>
                      <a:pt x="311" y="192"/>
                      <a:pt x="323" y="182"/>
                      <a:pt x="331" y="182"/>
                    </a:cubicBezTo>
                    <a:cubicBezTo>
                      <a:pt x="338" y="182"/>
                      <a:pt x="350" y="189"/>
                      <a:pt x="352" y="181"/>
                    </a:cubicBezTo>
                    <a:cubicBezTo>
                      <a:pt x="356" y="160"/>
                      <a:pt x="359" y="141"/>
                      <a:pt x="347" y="136"/>
                    </a:cubicBezTo>
                    <a:cubicBezTo>
                      <a:pt x="322" y="127"/>
                      <a:pt x="332" y="121"/>
                      <a:pt x="341" y="118"/>
                    </a:cubicBezTo>
                    <a:cubicBezTo>
                      <a:pt x="350" y="115"/>
                      <a:pt x="352" y="94"/>
                      <a:pt x="339" y="99"/>
                    </a:cubicBezTo>
                    <a:cubicBezTo>
                      <a:pt x="313" y="107"/>
                      <a:pt x="316" y="85"/>
                      <a:pt x="321" y="82"/>
                    </a:cubicBezTo>
                    <a:cubicBezTo>
                      <a:pt x="325" y="79"/>
                      <a:pt x="334" y="83"/>
                      <a:pt x="331" y="62"/>
                    </a:cubicBezTo>
                    <a:cubicBezTo>
                      <a:pt x="328" y="41"/>
                      <a:pt x="347" y="34"/>
                      <a:pt x="351" y="53"/>
                    </a:cubicBezTo>
                    <a:cubicBezTo>
                      <a:pt x="354" y="73"/>
                      <a:pt x="363" y="112"/>
                      <a:pt x="369" y="103"/>
                    </a:cubicBezTo>
                    <a:cubicBezTo>
                      <a:pt x="375" y="94"/>
                      <a:pt x="385" y="57"/>
                      <a:pt x="395" y="41"/>
                    </a:cubicBezTo>
                    <a:cubicBezTo>
                      <a:pt x="406" y="24"/>
                      <a:pt x="418" y="38"/>
                      <a:pt x="415" y="47"/>
                    </a:cubicBezTo>
                    <a:cubicBezTo>
                      <a:pt x="401" y="88"/>
                      <a:pt x="426" y="90"/>
                      <a:pt x="426" y="90"/>
                    </a:cubicBezTo>
                    <a:cubicBezTo>
                      <a:pt x="426" y="90"/>
                      <a:pt x="423" y="96"/>
                      <a:pt x="409" y="95"/>
                    </a:cubicBezTo>
                    <a:cubicBezTo>
                      <a:pt x="382" y="92"/>
                      <a:pt x="393" y="110"/>
                      <a:pt x="405" y="115"/>
                    </a:cubicBezTo>
                    <a:cubicBezTo>
                      <a:pt x="431" y="124"/>
                      <a:pt x="414" y="130"/>
                      <a:pt x="401" y="130"/>
                    </a:cubicBezTo>
                    <a:cubicBezTo>
                      <a:pt x="387" y="130"/>
                      <a:pt x="381" y="134"/>
                      <a:pt x="378" y="148"/>
                    </a:cubicBezTo>
                    <a:cubicBezTo>
                      <a:pt x="369" y="191"/>
                      <a:pt x="401" y="181"/>
                      <a:pt x="401" y="181"/>
                    </a:cubicBezTo>
                    <a:cubicBezTo>
                      <a:pt x="452" y="195"/>
                      <a:pt x="528" y="188"/>
                      <a:pt x="528" y="188"/>
                    </a:cubicBezTo>
                    <a:cubicBezTo>
                      <a:pt x="543" y="192"/>
                      <a:pt x="552" y="189"/>
                      <a:pt x="558" y="181"/>
                    </a:cubicBezTo>
                    <a:lnTo>
                      <a:pt x="558" y="103"/>
                    </a:lnTo>
                    <a:cubicBezTo>
                      <a:pt x="556" y="93"/>
                      <a:pt x="555" y="84"/>
                      <a:pt x="554" y="76"/>
                    </a:cubicBezTo>
                    <a:close/>
                    <a:moveTo>
                      <a:pt x="231" y="77"/>
                    </a:moveTo>
                    <a:cubicBezTo>
                      <a:pt x="233" y="65"/>
                      <a:pt x="249" y="69"/>
                      <a:pt x="249" y="69"/>
                    </a:cubicBezTo>
                    <a:cubicBezTo>
                      <a:pt x="249" y="69"/>
                      <a:pt x="278" y="79"/>
                      <a:pt x="290" y="78"/>
                    </a:cubicBezTo>
                    <a:cubicBezTo>
                      <a:pt x="301" y="76"/>
                      <a:pt x="318" y="93"/>
                      <a:pt x="293" y="93"/>
                    </a:cubicBezTo>
                    <a:cubicBezTo>
                      <a:pt x="267" y="93"/>
                      <a:pt x="228" y="104"/>
                      <a:pt x="231" y="77"/>
                    </a:cubicBezTo>
                    <a:close/>
                    <a:moveTo>
                      <a:pt x="171" y="195"/>
                    </a:moveTo>
                    <a:cubicBezTo>
                      <a:pt x="153" y="195"/>
                      <a:pt x="46" y="237"/>
                      <a:pt x="45" y="128"/>
                    </a:cubicBezTo>
                    <a:cubicBezTo>
                      <a:pt x="45" y="104"/>
                      <a:pt x="39" y="83"/>
                      <a:pt x="69" y="98"/>
                    </a:cubicBezTo>
                    <a:cubicBezTo>
                      <a:pt x="99" y="112"/>
                      <a:pt x="72" y="111"/>
                      <a:pt x="137" y="108"/>
                    </a:cubicBezTo>
                    <a:cubicBezTo>
                      <a:pt x="137" y="108"/>
                      <a:pt x="184" y="110"/>
                      <a:pt x="191" y="106"/>
                    </a:cubicBezTo>
                    <a:cubicBezTo>
                      <a:pt x="199" y="101"/>
                      <a:pt x="192" y="91"/>
                      <a:pt x="207" y="91"/>
                    </a:cubicBezTo>
                    <a:cubicBezTo>
                      <a:pt x="222" y="90"/>
                      <a:pt x="220" y="105"/>
                      <a:pt x="220" y="105"/>
                    </a:cubicBezTo>
                    <a:cubicBezTo>
                      <a:pt x="220" y="105"/>
                      <a:pt x="207" y="124"/>
                      <a:pt x="305" y="111"/>
                    </a:cubicBezTo>
                    <a:cubicBezTo>
                      <a:pt x="317" y="109"/>
                      <a:pt x="327" y="121"/>
                      <a:pt x="302" y="121"/>
                    </a:cubicBezTo>
                    <a:cubicBezTo>
                      <a:pt x="290" y="122"/>
                      <a:pt x="272" y="128"/>
                      <a:pt x="278" y="143"/>
                    </a:cubicBezTo>
                    <a:cubicBezTo>
                      <a:pt x="284" y="158"/>
                      <a:pt x="276" y="256"/>
                      <a:pt x="276" y="256"/>
                    </a:cubicBezTo>
                    <a:cubicBezTo>
                      <a:pt x="276" y="256"/>
                      <a:pt x="271" y="274"/>
                      <a:pt x="262" y="245"/>
                    </a:cubicBezTo>
                    <a:cubicBezTo>
                      <a:pt x="259" y="235"/>
                      <a:pt x="262" y="144"/>
                      <a:pt x="260" y="137"/>
                    </a:cubicBezTo>
                    <a:cubicBezTo>
                      <a:pt x="259" y="129"/>
                      <a:pt x="217" y="122"/>
                      <a:pt x="215" y="154"/>
                    </a:cubicBezTo>
                    <a:cubicBezTo>
                      <a:pt x="214" y="185"/>
                      <a:pt x="205" y="195"/>
                      <a:pt x="171" y="195"/>
                    </a:cubicBezTo>
                    <a:close/>
                    <a:moveTo>
                      <a:pt x="237" y="231"/>
                    </a:moveTo>
                    <a:cubicBezTo>
                      <a:pt x="230" y="240"/>
                      <a:pt x="219" y="247"/>
                      <a:pt x="223" y="225"/>
                    </a:cubicBezTo>
                    <a:cubicBezTo>
                      <a:pt x="228" y="202"/>
                      <a:pt x="232" y="170"/>
                      <a:pt x="232" y="155"/>
                    </a:cubicBezTo>
                    <a:cubicBezTo>
                      <a:pt x="232" y="155"/>
                      <a:pt x="244" y="135"/>
                      <a:pt x="247" y="158"/>
                    </a:cubicBezTo>
                    <a:cubicBezTo>
                      <a:pt x="250" y="181"/>
                      <a:pt x="244" y="221"/>
                      <a:pt x="237" y="231"/>
                    </a:cubicBezTo>
                    <a:close/>
                    <a:moveTo>
                      <a:pt x="326" y="292"/>
                    </a:moveTo>
                    <a:cubicBezTo>
                      <a:pt x="327" y="320"/>
                      <a:pt x="355" y="400"/>
                      <a:pt x="286" y="399"/>
                    </a:cubicBezTo>
                    <a:cubicBezTo>
                      <a:pt x="217" y="398"/>
                      <a:pt x="214" y="409"/>
                      <a:pt x="215" y="321"/>
                    </a:cubicBezTo>
                    <a:cubicBezTo>
                      <a:pt x="216" y="236"/>
                      <a:pt x="225" y="253"/>
                      <a:pt x="230" y="264"/>
                    </a:cubicBezTo>
                    <a:cubicBezTo>
                      <a:pt x="230" y="264"/>
                      <a:pt x="253" y="318"/>
                      <a:pt x="309" y="277"/>
                    </a:cubicBezTo>
                    <a:cubicBezTo>
                      <a:pt x="319" y="269"/>
                      <a:pt x="324" y="263"/>
                      <a:pt x="326" y="292"/>
                    </a:cubicBezTo>
                    <a:close/>
                    <a:moveTo>
                      <a:pt x="318" y="133"/>
                    </a:moveTo>
                    <a:cubicBezTo>
                      <a:pt x="338" y="148"/>
                      <a:pt x="316" y="165"/>
                      <a:pt x="316" y="165"/>
                    </a:cubicBezTo>
                    <a:cubicBezTo>
                      <a:pt x="316" y="165"/>
                      <a:pt x="302" y="189"/>
                      <a:pt x="313" y="213"/>
                    </a:cubicBezTo>
                    <a:cubicBezTo>
                      <a:pt x="324" y="237"/>
                      <a:pt x="324" y="265"/>
                      <a:pt x="301" y="239"/>
                    </a:cubicBezTo>
                    <a:cubicBezTo>
                      <a:pt x="279" y="214"/>
                      <a:pt x="293" y="156"/>
                      <a:pt x="299" y="144"/>
                    </a:cubicBezTo>
                    <a:cubicBezTo>
                      <a:pt x="299" y="144"/>
                      <a:pt x="299" y="118"/>
                      <a:pt x="318" y="133"/>
                    </a:cubicBezTo>
                    <a:close/>
                    <a:moveTo>
                      <a:pt x="507" y="179"/>
                    </a:moveTo>
                    <a:cubicBezTo>
                      <a:pt x="498" y="185"/>
                      <a:pt x="507" y="179"/>
                      <a:pt x="465" y="177"/>
                    </a:cubicBezTo>
                    <a:cubicBezTo>
                      <a:pt x="423" y="176"/>
                      <a:pt x="461" y="162"/>
                      <a:pt x="461" y="162"/>
                    </a:cubicBezTo>
                    <a:cubicBezTo>
                      <a:pt x="565" y="166"/>
                      <a:pt x="516" y="173"/>
                      <a:pt x="507" y="17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41" name="Freeform 237">
                <a:extLst>
                  <a:ext uri="{FF2B5EF4-FFF2-40B4-BE49-F238E27FC236}">
                    <a16:creationId xmlns:a16="http://schemas.microsoft.com/office/drawing/2014/main" id="{4F589F52-E190-D314-C64C-C20D3D863A6A}"/>
                  </a:ext>
                </a:extLst>
              </p:cNvPr>
              <p:cNvSpPr>
                <a:spLocks/>
              </p:cNvSpPr>
              <p:nvPr/>
            </p:nvSpPr>
            <p:spPr bwMode="auto">
              <a:xfrm>
                <a:off x="3621" y="1287"/>
                <a:ext cx="238" cy="283"/>
              </a:xfrm>
              <a:custGeom>
                <a:avLst/>
                <a:gdLst>
                  <a:gd name="T0" fmla="*/ 40 w 47"/>
                  <a:gd name="T1" fmla="*/ 15 h 56"/>
                  <a:gd name="T2" fmla="*/ 27 w 47"/>
                  <a:gd name="T3" fmla="*/ 56 h 56"/>
                  <a:gd name="T4" fmla="*/ 40 w 47"/>
                  <a:gd name="T5" fmla="*/ 15 h 56"/>
                </a:gdLst>
                <a:ahLst/>
                <a:cxnLst>
                  <a:cxn ang="0">
                    <a:pos x="T0" y="T1"/>
                  </a:cxn>
                  <a:cxn ang="0">
                    <a:pos x="T2" y="T3"/>
                  </a:cxn>
                  <a:cxn ang="0">
                    <a:pos x="T4" y="T5"/>
                  </a:cxn>
                </a:cxnLst>
                <a:rect l="0" t="0" r="r" b="b"/>
                <a:pathLst>
                  <a:path w="47" h="56">
                    <a:moveTo>
                      <a:pt x="40" y="15"/>
                    </a:moveTo>
                    <a:cubicBezTo>
                      <a:pt x="37" y="0"/>
                      <a:pt x="0" y="23"/>
                      <a:pt x="27" y="56"/>
                    </a:cubicBezTo>
                    <a:cubicBezTo>
                      <a:pt x="27" y="56"/>
                      <a:pt x="47" y="49"/>
                      <a:pt x="40" y="1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42" name="Freeform 238">
                <a:extLst>
                  <a:ext uri="{FF2B5EF4-FFF2-40B4-BE49-F238E27FC236}">
                    <a16:creationId xmlns:a16="http://schemas.microsoft.com/office/drawing/2014/main" id="{5C5B3D6E-63E8-8A88-2F19-A5517E34BA80}"/>
                  </a:ext>
                </a:extLst>
              </p:cNvPr>
              <p:cNvSpPr>
                <a:spLocks/>
              </p:cNvSpPr>
              <p:nvPr/>
            </p:nvSpPr>
            <p:spPr bwMode="auto">
              <a:xfrm>
                <a:off x="3403" y="1403"/>
                <a:ext cx="208" cy="379"/>
              </a:xfrm>
              <a:custGeom>
                <a:avLst/>
                <a:gdLst>
                  <a:gd name="T0" fmla="*/ 19 w 41"/>
                  <a:gd name="T1" fmla="*/ 27 h 75"/>
                  <a:gd name="T2" fmla="*/ 12 w 41"/>
                  <a:gd name="T3" fmla="*/ 69 h 75"/>
                  <a:gd name="T4" fmla="*/ 40 w 41"/>
                  <a:gd name="T5" fmla="*/ 45 h 75"/>
                  <a:gd name="T6" fmla="*/ 37 w 41"/>
                  <a:gd name="T7" fmla="*/ 24 h 75"/>
                  <a:gd name="T8" fmla="*/ 19 w 41"/>
                  <a:gd name="T9" fmla="*/ 27 h 75"/>
                </a:gdLst>
                <a:ahLst/>
                <a:cxnLst>
                  <a:cxn ang="0">
                    <a:pos x="T0" y="T1"/>
                  </a:cxn>
                  <a:cxn ang="0">
                    <a:pos x="T2" y="T3"/>
                  </a:cxn>
                  <a:cxn ang="0">
                    <a:pos x="T4" y="T5"/>
                  </a:cxn>
                  <a:cxn ang="0">
                    <a:pos x="T6" y="T7"/>
                  </a:cxn>
                  <a:cxn ang="0">
                    <a:pos x="T8" y="T9"/>
                  </a:cxn>
                </a:cxnLst>
                <a:rect l="0" t="0" r="r" b="b"/>
                <a:pathLst>
                  <a:path w="41" h="75">
                    <a:moveTo>
                      <a:pt x="19" y="27"/>
                    </a:moveTo>
                    <a:cubicBezTo>
                      <a:pt x="0" y="54"/>
                      <a:pt x="6" y="63"/>
                      <a:pt x="12" y="69"/>
                    </a:cubicBezTo>
                    <a:cubicBezTo>
                      <a:pt x="18" y="75"/>
                      <a:pt x="30" y="74"/>
                      <a:pt x="40" y="45"/>
                    </a:cubicBezTo>
                    <a:cubicBezTo>
                      <a:pt x="40" y="45"/>
                      <a:pt x="32" y="31"/>
                      <a:pt x="37" y="24"/>
                    </a:cubicBezTo>
                    <a:cubicBezTo>
                      <a:pt x="41" y="16"/>
                      <a:pt x="38" y="0"/>
                      <a:pt x="19" y="2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43" name="Freeform 239">
                <a:extLst>
                  <a:ext uri="{FF2B5EF4-FFF2-40B4-BE49-F238E27FC236}">
                    <a16:creationId xmlns:a16="http://schemas.microsoft.com/office/drawing/2014/main" id="{49817259-9166-68EB-1414-A903F4858F94}"/>
                  </a:ext>
                </a:extLst>
              </p:cNvPr>
              <p:cNvSpPr>
                <a:spLocks/>
              </p:cNvSpPr>
              <p:nvPr/>
            </p:nvSpPr>
            <p:spPr bwMode="auto">
              <a:xfrm>
                <a:off x="3272" y="645"/>
                <a:ext cx="683" cy="318"/>
              </a:xfrm>
              <a:custGeom>
                <a:avLst/>
                <a:gdLst>
                  <a:gd name="T0" fmla="*/ 112 w 135"/>
                  <a:gd name="T1" fmla="*/ 4 h 63"/>
                  <a:gd name="T2" fmla="*/ 24 w 135"/>
                  <a:gd name="T3" fmla="*/ 4 h 63"/>
                  <a:gd name="T4" fmla="*/ 2 w 135"/>
                  <a:gd name="T5" fmla="*/ 25 h 63"/>
                  <a:gd name="T6" fmla="*/ 60 w 135"/>
                  <a:gd name="T7" fmla="*/ 58 h 63"/>
                  <a:gd name="T8" fmla="*/ 96 w 135"/>
                  <a:gd name="T9" fmla="*/ 54 h 63"/>
                  <a:gd name="T10" fmla="*/ 113 w 135"/>
                  <a:gd name="T11" fmla="*/ 53 h 63"/>
                  <a:gd name="T12" fmla="*/ 112 w 135"/>
                  <a:gd name="T13" fmla="*/ 4 h 63"/>
                </a:gdLst>
                <a:ahLst/>
                <a:cxnLst>
                  <a:cxn ang="0">
                    <a:pos x="T0" y="T1"/>
                  </a:cxn>
                  <a:cxn ang="0">
                    <a:pos x="T2" y="T3"/>
                  </a:cxn>
                  <a:cxn ang="0">
                    <a:pos x="T4" y="T5"/>
                  </a:cxn>
                  <a:cxn ang="0">
                    <a:pos x="T6" y="T7"/>
                  </a:cxn>
                  <a:cxn ang="0">
                    <a:pos x="T8" y="T9"/>
                  </a:cxn>
                  <a:cxn ang="0">
                    <a:pos x="T10" y="T11"/>
                  </a:cxn>
                  <a:cxn ang="0">
                    <a:pos x="T12" y="T13"/>
                  </a:cxn>
                </a:cxnLst>
                <a:rect l="0" t="0" r="r" b="b"/>
                <a:pathLst>
                  <a:path w="135" h="63">
                    <a:moveTo>
                      <a:pt x="112" y="4"/>
                    </a:moveTo>
                    <a:cubicBezTo>
                      <a:pt x="105" y="9"/>
                      <a:pt x="24" y="4"/>
                      <a:pt x="24" y="4"/>
                    </a:cubicBezTo>
                    <a:cubicBezTo>
                      <a:pt x="15" y="4"/>
                      <a:pt x="3" y="1"/>
                      <a:pt x="2" y="25"/>
                    </a:cubicBezTo>
                    <a:cubicBezTo>
                      <a:pt x="0" y="63"/>
                      <a:pt x="48" y="58"/>
                      <a:pt x="60" y="58"/>
                    </a:cubicBezTo>
                    <a:cubicBezTo>
                      <a:pt x="72" y="58"/>
                      <a:pt x="84" y="48"/>
                      <a:pt x="96" y="54"/>
                    </a:cubicBezTo>
                    <a:cubicBezTo>
                      <a:pt x="96" y="54"/>
                      <a:pt x="107" y="63"/>
                      <a:pt x="113" y="53"/>
                    </a:cubicBezTo>
                    <a:cubicBezTo>
                      <a:pt x="135" y="13"/>
                      <a:pt x="120" y="0"/>
                      <a:pt x="112" y="4"/>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44" name="Freeform 240">
                <a:extLst>
                  <a:ext uri="{FF2B5EF4-FFF2-40B4-BE49-F238E27FC236}">
                    <a16:creationId xmlns:a16="http://schemas.microsoft.com/office/drawing/2014/main" id="{C98C19FA-CF1C-FFA3-50FF-BE976A4D0CF4}"/>
                  </a:ext>
                </a:extLst>
              </p:cNvPr>
              <p:cNvSpPr>
                <a:spLocks/>
              </p:cNvSpPr>
              <p:nvPr/>
            </p:nvSpPr>
            <p:spPr bwMode="auto">
              <a:xfrm>
                <a:off x="4046" y="1545"/>
                <a:ext cx="490" cy="515"/>
              </a:xfrm>
              <a:custGeom>
                <a:avLst/>
                <a:gdLst>
                  <a:gd name="T0" fmla="*/ 67 w 97"/>
                  <a:gd name="T1" fmla="*/ 5 h 102"/>
                  <a:gd name="T2" fmla="*/ 31 w 97"/>
                  <a:gd name="T3" fmla="*/ 5 h 102"/>
                  <a:gd name="T4" fmla="*/ 12 w 97"/>
                  <a:gd name="T5" fmla="*/ 57 h 102"/>
                  <a:gd name="T6" fmla="*/ 79 w 97"/>
                  <a:gd name="T7" fmla="*/ 62 h 102"/>
                  <a:gd name="T8" fmla="*/ 67 w 97"/>
                  <a:gd name="T9" fmla="*/ 5 h 102"/>
                </a:gdLst>
                <a:ahLst/>
                <a:cxnLst>
                  <a:cxn ang="0">
                    <a:pos x="T0" y="T1"/>
                  </a:cxn>
                  <a:cxn ang="0">
                    <a:pos x="T2" y="T3"/>
                  </a:cxn>
                  <a:cxn ang="0">
                    <a:pos x="T4" y="T5"/>
                  </a:cxn>
                  <a:cxn ang="0">
                    <a:pos x="T6" y="T7"/>
                  </a:cxn>
                  <a:cxn ang="0">
                    <a:pos x="T8" y="T9"/>
                  </a:cxn>
                </a:cxnLst>
                <a:rect l="0" t="0" r="r" b="b"/>
                <a:pathLst>
                  <a:path w="97" h="102">
                    <a:moveTo>
                      <a:pt x="67" y="5"/>
                    </a:moveTo>
                    <a:cubicBezTo>
                      <a:pt x="55" y="10"/>
                      <a:pt x="31" y="5"/>
                      <a:pt x="31" y="5"/>
                    </a:cubicBezTo>
                    <a:cubicBezTo>
                      <a:pt x="0" y="6"/>
                      <a:pt x="16" y="39"/>
                      <a:pt x="12" y="57"/>
                    </a:cubicBezTo>
                    <a:cubicBezTo>
                      <a:pt x="8" y="76"/>
                      <a:pt x="63" y="102"/>
                      <a:pt x="79" y="62"/>
                    </a:cubicBezTo>
                    <a:cubicBezTo>
                      <a:pt x="97" y="20"/>
                      <a:pt x="79" y="0"/>
                      <a:pt x="67" y="5"/>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45" name="Freeform 241">
                <a:extLst>
                  <a:ext uri="{FF2B5EF4-FFF2-40B4-BE49-F238E27FC236}">
                    <a16:creationId xmlns:a16="http://schemas.microsoft.com/office/drawing/2014/main" id="{336DD434-9301-6B57-E6B2-EBD291824AE5}"/>
                  </a:ext>
                </a:extLst>
              </p:cNvPr>
              <p:cNvSpPr>
                <a:spLocks/>
              </p:cNvSpPr>
              <p:nvPr/>
            </p:nvSpPr>
            <p:spPr bwMode="auto">
              <a:xfrm>
                <a:off x="5173" y="1024"/>
                <a:ext cx="501" cy="96"/>
              </a:xfrm>
              <a:custGeom>
                <a:avLst/>
                <a:gdLst>
                  <a:gd name="T0" fmla="*/ 15 w 99"/>
                  <a:gd name="T1" fmla="*/ 0 h 19"/>
                  <a:gd name="T2" fmla="*/ 40 w 99"/>
                  <a:gd name="T3" fmla="*/ 15 h 19"/>
                  <a:gd name="T4" fmla="*/ 15 w 99"/>
                  <a:gd name="T5" fmla="*/ 0 h 19"/>
                </a:gdLst>
                <a:ahLst/>
                <a:cxnLst>
                  <a:cxn ang="0">
                    <a:pos x="T0" y="T1"/>
                  </a:cxn>
                  <a:cxn ang="0">
                    <a:pos x="T2" y="T3"/>
                  </a:cxn>
                  <a:cxn ang="0">
                    <a:pos x="T4" y="T5"/>
                  </a:cxn>
                </a:cxnLst>
                <a:rect l="0" t="0" r="r" b="b"/>
                <a:pathLst>
                  <a:path w="99" h="19">
                    <a:moveTo>
                      <a:pt x="15" y="0"/>
                    </a:moveTo>
                    <a:cubicBezTo>
                      <a:pt x="0" y="0"/>
                      <a:pt x="19" y="19"/>
                      <a:pt x="40" y="15"/>
                    </a:cubicBezTo>
                    <a:cubicBezTo>
                      <a:pt x="99" y="1"/>
                      <a:pt x="15" y="0"/>
                      <a:pt x="15" y="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46" name="Freeform 242">
                <a:extLst>
                  <a:ext uri="{FF2B5EF4-FFF2-40B4-BE49-F238E27FC236}">
                    <a16:creationId xmlns:a16="http://schemas.microsoft.com/office/drawing/2014/main" id="{CD057814-A031-2081-4766-BDD364C23F6D}"/>
                  </a:ext>
                </a:extLst>
              </p:cNvPr>
              <p:cNvSpPr>
                <a:spLocks/>
              </p:cNvSpPr>
              <p:nvPr/>
            </p:nvSpPr>
            <p:spPr bwMode="auto">
              <a:xfrm>
                <a:off x="5340" y="1004"/>
                <a:ext cx="385" cy="237"/>
              </a:xfrm>
              <a:custGeom>
                <a:avLst/>
                <a:gdLst>
                  <a:gd name="T0" fmla="*/ 21 w 76"/>
                  <a:gd name="T1" fmla="*/ 37 h 47"/>
                  <a:gd name="T2" fmla="*/ 70 w 76"/>
                  <a:gd name="T3" fmla="*/ 17 h 47"/>
                  <a:gd name="T4" fmla="*/ 48 w 76"/>
                  <a:gd name="T5" fmla="*/ 3 h 47"/>
                  <a:gd name="T6" fmla="*/ 19 w 76"/>
                  <a:gd name="T7" fmla="*/ 32 h 47"/>
                  <a:gd name="T8" fmla="*/ 21 w 76"/>
                  <a:gd name="T9" fmla="*/ 37 h 47"/>
                </a:gdLst>
                <a:ahLst/>
                <a:cxnLst>
                  <a:cxn ang="0">
                    <a:pos x="T0" y="T1"/>
                  </a:cxn>
                  <a:cxn ang="0">
                    <a:pos x="T2" y="T3"/>
                  </a:cxn>
                  <a:cxn ang="0">
                    <a:pos x="T4" y="T5"/>
                  </a:cxn>
                  <a:cxn ang="0">
                    <a:pos x="T6" y="T7"/>
                  </a:cxn>
                  <a:cxn ang="0">
                    <a:pos x="T8" y="T9"/>
                  </a:cxn>
                </a:cxnLst>
                <a:rect l="0" t="0" r="r" b="b"/>
                <a:pathLst>
                  <a:path w="76" h="47">
                    <a:moveTo>
                      <a:pt x="21" y="37"/>
                    </a:moveTo>
                    <a:cubicBezTo>
                      <a:pt x="21" y="37"/>
                      <a:pt x="50" y="47"/>
                      <a:pt x="70" y="17"/>
                    </a:cubicBezTo>
                    <a:cubicBezTo>
                      <a:pt x="76" y="7"/>
                      <a:pt x="65" y="0"/>
                      <a:pt x="48" y="3"/>
                    </a:cubicBezTo>
                    <a:cubicBezTo>
                      <a:pt x="39" y="5"/>
                      <a:pt x="39" y="32"/>
                      <a:pt x="19" y="32"/>
                    </a:cubicBezTo>
                    <a:cubicBezTo>
                      <a:pt x="0" y="32"/>
                      <a:pt x="21" y="37"/>
                      <a:pt x="21" y="37"/>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47" name="Freeform 243">
                <a:extLst>
                  <a:ext uri="{FF2B5EF4-FFF2-40B4-BE49-F238E27FC236}">
                    <a16:creationId xmlns:a16="http://schemas.microsoft.com/office/drawing/2014/main" id="{3678CA17-A86B-2E56-FEBF-0B5EB7B5FDBB}"/>
                  </a:ext>
                </a:extLst>
              </p:cNvPr>
              <p:cNvSpPr>
                <a:spLocks/>
              </p:cNvSpPr>
              <p:nvPr/>
            </p:nvSpPr>
            <p:spPr bwMode="auto">
              <a:xfrm>
                <a:off x="5325" y="1201"/>
                <a:ext cx="415" cy="187"/>
              </a:xfrm>
              <a:custGeom>
                <a:avLst/>
                <a:gdLst>
                  <a:gd name="T0" fmla="*/ 72 w 82"/>
                  <a:gd name="T1" fmla="*/ 6 h 37"/>
                  <a:gd name="T2" fmla="*/ 24 w 82"/>
                  <a:gd name="T3" fmla="*/ 17 h 37"/>
                  <a:gd name="T4" fmla="*/ 17 w 82"/>
                  <a:gd name="T5" fmla="*/ 26 h 37"/>
                  <a:gd name="T6" fmla="*/ 76 w 82"/>
                  <a:gd name="T7" fmla="*/ 23 h 37"/>
                  <a:gd name="T8" fmla="*/ 82 w 82"/>
                  <a:gd name="T9" fmla="*/ 20 h 37"/>
                  <a:gd name="T10" fmla="*/ 82 w 82"/>
                  <a:gd name="T11" fmla="*/ 0 h 37"/>
                  <a:gd name="T12" fmla="*/ 72 w 82"/>
                  <a:gd name="T13" fmla="*/ 6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72" y="6"/>
                    </a:moveTo>
                    <a:cubicBezTo>
                      <a:pt x="57" y="23"/>
                      <a:pt x="24" y="17"/>
                      <a:pt x="24" y="17"/>
                    </a:cubicBezTo>
                    <a:cubicBezTo>
                      <a:pt x="24" y="17"/>
                      <a:pt x="0" y="16"/>
                      <a:pt x="17" y="26"/>
                    </a:cubicBezTo>
                    <a:cubicBezTo>
                      <a:pt x="33" y="37"/>
                      <a:pt x="53" y="32"/>
                      <a:pt x="76" y="23"/>
                    </a:cubicBezTo>
                    <a:cubicBezTo>
                      <a:pt x="78" y="22"/>
                      <a:pt x="80" y="21"/>
                      <a:pt x="82" y="20"/>
                    </a:cubicBezTo>
                    <a:lnTo>
                      <a:pt x="82" y="0"/>
                    </a:lnTo>
                    <a:cubicBezTo>
                      <a:pt x="79" y="1"/>
                      <a:pt x="75" y="2"/>
                      <a:pt x="72" y="6"/>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48" name="Freeform 244">
                <a:extLst>
                  <a:ext uri="{FF2B5EF4-FFF2-40B4-BE49-F238E27FC236}">
                    <a16:creationId xmlns:a16="http://schemas.microsoft.com/office/drawing/2014/main" id="{DADCCDA7-11A7-2F54-602D-DC0C4A2AC318}"/>
                  </a:ext>
                </a:extLst>
              </p:cNvPr>
              <p:cNvSpPr>
                <a:spLocks/>
              </p:cNvSpPr>
              <p:nvPr/>
            </p:nvSpPr>
            <p:spPr bwMode="auto">
              <a:xfrm>
                <a:off x="5001" y="1378"/>
                <a:ext cx="698" cy="167"/>
              </a:xfrm>
              <a:custGeom>
                <a:avLst/>
                <a:gdLst>
                  <a:gd name="T0" fmla="*/ 21 w 138"/>
                  <a:gd name="T1" fmla="*/ 1 h 33"/>
                  <a:gd name="T2" fmla="*/ 8 w 138"/>
                  <a:gd name="T3" fmla="*/ 14 h 33"/>
                  <a:gd name="T4" fmla="*/ 57 w 138"/>
                  <a:gd name="T5" fmla="*/ 22 h 33"/>
                  <a:gd name="T6" fmla="*/ 117 w 138"/>
                  <a:gd name="T7" fmla="*/ 23 h 33"/>
                  <a:gd name="T8" fmla="*/ 114 w 138"/>
                  <a:gd name="T9" fmla="*/ 8 h 33"/>
                  <a:gd name="T10" fmla="*/ 82 w 138"/>
                  <a:gd name="T11" fmla="*/ 3 h 33"/>
                  <a:gd name="T12" fmla="*/ 21 w 138"/>
                  <a:gd name="T13" fmla="*/ 1 h 33"/>
                </a:gdLst>
                <a:ahLst/>
                <a:cxnLst>
                  <a:cxn ang="0">
                    <a:pos x="T0" y="T1"/>
                  </a:cxn>
                  <a:cxn ang="0">
                    <a:pos x="T2" y="T3"/>
                  </a:cxn>
                  <a:cxn ang="0">
                    <a:pos x="T4" y="T5"/>
                  </a:cxn>
                  <a:cxn ang="0">
                    <a:pos x="T6" y="T7"/>
                  </a:cxn>
                  <a:cxn ang="0">
                    <a:pos x="T8" y="T9"/>
                  </a:cxn>
                  <a:cxn ang="0">
                    <a:pos x="T10" y="T11"/>
                  </a:cxn>
                  <a:cxn ang="0">
                    <a:pos x="T12" y="T13"/>
                  </a:cxn>
                </a:cxnLst>
                <a:rect l="0" t="0" r="r" b="b"/>
                <a:pathLst>
                  <a:path w="138" h="33">
                    <a:moveTo>
                      <a:pt x="21" y="1"/>
                    </a:moveTo>
                    <a:cubicBezTo>
                      <a:pt x="21" y="1"/>
                      <a:pt x="0" y="8"/>
                      <a:pt x="8" y="14"/>
                    </a:cubicBezTo>
                    <a:cubicBezTo>
                      <a:pt x="15" y="20"/>
                      <a:pt x="48" y="22"/>
                      <a:pt x="57" y="22"/>
                    </a:cubicBezTo>
                    <a:cubicBezTo>
                      <a:pt x="66" y="22"/>
                      <a:pt x="96" y="33"/>
                      <a:pt x="117" y="23"/>
                    </a:cubicBezTo>
                    <a:cubicBezTo>
                      <a:pt x="138" y="12"/>
                      <a:pt x="123" y="9"/>
                      <a:pt x="114" y="8"/>
                    </a:cubicBezTo>
                    <a:cubicBezTo>
                      <a:pt x="105" y="6"/>
                      <a:pt x="102" y="0"/>
                      <a:pt x="82" y="3"/>
                    </a:cubicBezTo>
                    <a:cubicBezTo>
                      <a:pt x="37" y="11"/>
                      <a:pt x="21" y="1"/>
                      <a:pt x="21" y="1"/>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49" name="Freeform 245">
                <a:extLst>
                  <a:ext uri="{FF2B5EF4-FFF2-40B4-BE49-F238E27FC236}">
                    <a16:creationId xmlns:a16="http://schemas.microsoft.com/office/drawing/2014/main" id="{6E6E91BE-4414-8972-A24E-F97092066956}"/>
                  </a:ext>
                </a:extLst>
              </p:cNvPr>
              <p:cNvSpPr>
                <a:spLocks/>
              </p:cNvSpPr>
              <p:nvPr/>
            </p:nvSpPr>
            <p:spPr bwMode="auto">
              <a:xfrm>
                <a:off x="5077" y="1540"/>
                <a:ext cx="567" cy="146"/>
              </a:xfrm>
              <a:custGeom>
                <a:avLst/>
                <a:gdLst>
                  <a:gd name="T0" fmla="*/ 98 w 112"/>
                  <a:gd name="T1" fmla="*/ 19 h 29"/>
                  <a:gd name="T2" fmla="*/ 103 w 112"/>
                  <a:gd name="T3" fmla="*/ 4 h 29"/>
                  <a:gd name="T4" fmla="*/ 74 w 112"/>
                  <a:gd name="T5" fmla="*/ 10 h 29"/>
                  <a:gd name="T6" fmla="*/ 36 w 112"/>
                  <a:gd name="T7" fmla="*/ 6 h 29"/>
                  <a:gd name="T8" fmla="*/ 2 w 112"/>
                  <a:gd name="T9" fmla="*/ 4 h 29"/>
                  <a:gd name="T10" fmla="*/ 98 w 112"/>
                  <a:gd name="T11" fmla="*/ 19 h 29"/>
                </a:gdLst>
                <a:ahLst/>
                <a:cxnLst>
                  <a:cxn ang="0">
                    <a:pos x="T0" y="T1"/>
                  </a:cxn>
                  <a:cxn ang="0">
                    <a:pos x="T2" y="T3"/>
                  </a:cxn>
                  <a:cxn ang="0">
                    <a:pos x="T4" y="T5"/>
                  </a:cxn>
                  <a:cxn ang="0">
                    <a:pos x="T6" y="T7"/>
                  </a:cxn>
                  <a:cxn ang="0">
                    <a:pos x="T8" y="T9"/>
                  </a:cxn>
                  <a:cxn ang="0">
                    <a:pos x="T10" y="T11"/>
                  </a:cxn>
                </a:cxnLst>
                <a:rect l="0" t="0" r="r" b="b"/>
                <a:pathLst>
                  <a:path w="112" h="29">
                    <a:moveTo>
                      <a:pt x="98" y="19"/>
                    </a:moveTo>
                    <a:cubicBezTo>
                      <a:pt x="112" y="13"/>
                      <a:pt x="111" y="0"/>
                      <a:pt x="103" y="4"/>
                    </a:cubicBezTo>
                    <a:cubicBezTo>
                      <a:pt x="96" y="9"/>
                      <a:pt x="83" y="10"/>
                      <a:pt x="74" y="10"/>
                    </a:cubicBezTo>
                    <a:cubicBezTo>
                      <a:pt x="65" y="11"/>
                      <a:pt x="45" y="3"/>
                      <a:pt x="36" y="6"/>
                    </a:cubicBezTo>
                    <a:cubicBezTo>
                      <a:pt x="27" y="9"/>
                      <a:pt x="2" y="4"/>
                      <a:pt x="2" y="4"/>
                    </a:cubicBezTo>
                    <a:cubicBezTo>
                      <a:pt x="0" y="29"/>
                      <a:pt x="83" y="25"/>
                      <a:pt x="98" y="19"/>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50" name="Freeform 246">
                <a:extLst>
                  <a:ext uri="{FF2B5EF4-FFF2-40B4-BE49-F238E27FC236}">
                    <a16:creationId xmlns:a16="http://schemas.microsoft.com/office/drawing/2014/main" id="{BDF7D65A-26CB-0087-C381-D41D4A90FA52}"/>
                  </a:ext>
                </a:extLst>
              </p:cNvPr>
              <p:cNvSpPr>
                <a:spLocks/>
              </p:cNvSpPr>
              <p:nvPr/>
            </p:nvSpPr>
            <p:spPr bwMode="auto">
              <a:xfrm>
                <a:off x="5042" y="1656"/>
                <a:ext cx="581" cy="480"/>
              </a:xfrm>
              <a:custGeom>
                <a:avLst/>
                <a:gdLst>
                  <a:gd name="T0" fmla="*/ 3 w 115"/>
                  <a:gd name="T1" fmla="*/ 53 h 95"/>
                  <a:gd name="T2" fmla="*/ 26 w 115"/>
                  <a:gd name="T3" fmla="*/ 54 h 95"/>
                  <a:gd name="T4" fmla="*/ 50 w 115"/>
                  <a:gd name="T5" fmla="*/ 77 h 95"/>
                  <a:gd name="T6" fmla="*/ 59 w 115"/>
                  <a:gd name="T7" fmla="*/ 84 h 95"/>
                  <a:gd name="T8" fmla="*/ 81 w 115"/>
                  <a:gd name="T9" fmla="*/ 52 h 95"/>
                  <a:gd name="T10" fmla="*/ 111 w 115"/>
                  <a:gd name="T11" fmla="*/ 52 h 95"/>
                  <a:gd name="T12" fmla="*/ 79 w 115"/>
                  <a:gd name="T13" fmla="*/ 27 h 95"/>
                  <a:gd name="T14" fmla="*/ 37 w 115"/>
                  <a:gd name="T15" fmla="*/ 16 h 95"/>
                  <a:gd name="T16" fmla="*/ 12 w 115"/>
                  <a:gd name="T17" fmla="*/ 41 h 95"/>
                  <a:gd name="T18" fmla="*/ 3 w 115"/>
                  <a:gd name="T19" fmla="*/ 5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95">
                    <a:moveTo>
                      <a:pt x="3" y="53"/>
                    </a:moveTo>
                    <a:cubicBezTo>
                      <a:pt x="5" y="60"/>
                      <a:pt x="14" y="68"/>
                      <a:pt x="26" y="54"/>
                    </a:cubicBezTo>
                    <a:cubicBezTo>
                      <a:pt x="48" y="29"/>
                      <a:pt x="48" y="72"/>
                      <a:pt x="50" y="77"/>
                    </a:cubicBezTo>
                    <a:cubicBezTo>
                      <a:pt x="51" y="81"/>
                      <a:pt x="54" y="95"/>
                      <a:pt x="59" y="84"/>
                    </a:cubicBezTo>
                    <a:cubicBezTo>
                      <a:pt x="63" y="74"/>
                      <a:pt x="70" y="39"/>
                      <a:pt x="81" y="52"/>
                    </a:cubicBezTo>
                    <a:cubicBezTo>
                      <a:pt x="100" y="76"/>
                      <a:pt x="115" y="54"/>
                      <a:pt x="111" y="52"/>
                    </a:cubicBezTo>
                    <a:cubicBezTo>
                      <a:pt x="106" y="51"/>
                      <a:pt x="79" y="37"/>
                      <a:pt x="79" y="27"/>
                    </a:cubicBezTo>
                    <a:cubicBezTo>
                      <a:pt x="79" y="16"/>
                      <a:pt x="42" y="0"/>
                      <a:pt x="37" y="16"/>
                    </a:cubicBezTo>
                    <a:cubicBezTo>
                      <a:pt x="33" y="33"/>
                      <a:pt x="12" y="41"/>
                      <a:pt x="12" y="41"/>
                    </a:cubicBezTo>
                    <a:cubicBezTo>
                      <a:pt x="0" y="44"/>
                      <a:pt x="2" y="45"/>
                      <a:pt x="3" y="53"/>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75351" name="Freeform 247">
                <a:extLst>
                  <a:ext uri="{FF2B5EF4-FFF2-40B4-BE49-F238E27FC236}">
                    <a16:creationId xmlns:a16="http://schemas.microsoft.com/office/drawing/2014/main" id="{26EBF51F-DDF3-5BD7-CCFF-F989B30FC0C1}"/>
                  </a:ext>
                </a:extLst>
              </p:cNvPr>
              <p:cNvSpPr>
                <a:spLocks/>
              </p:cNvSpPr>
              <p:nvPr/>
            </p:nvSpPr>
            <p:spPr bwMode="auto">
              <a:xfrm>
                <a:off x="5421" y="1464"/>
                <a:ext cx="329" cy="854"/>
              </a:xfrm>
              <a:custGeom>
                <a:avLst/>
                <a:gdLst>
                  <a:gd name="T0" fmla="*/ 51 w 65"/>
                  <a:gd name="T1" fmla="*/ 40 h 169"/>
                  <a:gd name="T2" fmla="*/ 22 w 65"/>
                  <a:gd name="T3" fmla="*/ 49 h 169"/>
                  <a:gd name="T4" fmla="*/ 22 w 65"/>
                  <a:gd name="T5" fmla="*/ 59 h 169"/>
                  <a:gd name="T6" fmla="*/ 50 w 65"/>
                  <a:gd name="T7" fmla="*/ 90 h 169"/>
                  <a:gd name="T8" fmla="*/ 34 w 65"/>
                  <a:gd name="T9" fmla="*/ 118 h 169"/>
                  <a:gd name="T10" fmla="*/ 0 w 65"/>
                  <a:gd name="T11" fmla="*/ 148 h 169"/>
                  <a:gd name="T12" fmla="*/ 17 w 65"/>
                  <a:gd name="T13" fmla="*/ 155 h 169"/>
                  <a:gd name="T14" fmla="*/ 47 w 65"/>
                  <a:gd name="T15" fmla="*/ 166 h 169"/>
                  <a:gd name="T16" fmla="*/ 63 w 65"/>
                  <a:gd name="T17" fmla="*/ 162 h 169"/>
                  <a:gd name="T18" fmla="*/ 65 w 65"/>
                  <a:gd name="T19" fmla="*/ 0 h 169"/>
                  <a:gd name="T20" fmla="*/ 51 w 65"/>
                  <a:gd name="T21" fmla="*/ 4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169">
                    <a:moveTo>
                      <a:pt x="51" y="40"/>
                    </a:moveTo>
                    <a:cubicBezTo>
                      <a:pt x="44" y="46"/>
                      <a:pt x="30" y="49"/>
                      <a:pt x="22" y="49"/>
                    </a:cubicBezTo>
                    <a:cubicBezTo>
                      <a:pt x="13" y="48"/>
                      <a:pt x="14" y="56"/>
                      <a:pt x="22" y="59"/>
                    </a:cubicBezTo>
                    <a:cubicBezTo>
                      <a:pt x="30" y="62"/>
                      <a:pt x="49" y="75"/>
                      <a:pt x="50" y="90"/>
                    </a:cubicBezTo>
                    <a:cubicBezTo>
                      <a:pt x="50" y="104"/>
                      <a:pt x="51" y="115"/>
                      <a:pt x="34" y="118"/>
                    </a:cubicBezTo>
                    <a:cubicBezTo>
                      <a:pt x="18" y="122"/>
                      <a:pt x="3" y="124"/>
                      <a:pt x="0" y="148"/>
                    </a:cubicBezTo>
                    <a:cubicBezTo>
                      <a:pt x="0" y="148"/>
                      <a:pt x="10" y="154"/>
                      <a:pt x="17" y="155"/>
                    </a:cubicBezTo>
                    <a:cubicBezTo>
                      <a:pt x="23" y="155"/>
                      <a:pt x="42" y="163"/>
                      <a:pt x="47" y="166"/>
                    </a:cubicBezTo>
                    <a:cubicBezTo>
                      <a:pt x="51" y="169"/>
                      <a:pt x="58" y="167"/>
                      <a:pt x="63" y="162"/>
                    </a:cubicBezTo>
                    <a:lnTo>
                      <a:pt x="65" y="0"/>
                    </a:lnTo>
                    <a:cubicBezTo>
                      <a:pt x="64" y="8"/>
                      <a:pt x="58" y="36"/>
                      <a:pt x="51" y="40"/>
                    </a:cubicBezTo>
                    <a:close/>
                  </a:path>
                </a:pathLst>
              </a:custGeom>
              <a:solidFill>
                <a:schemeClr val="bg1"/>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grpSp>
      <p:sp>
        <p:nvSpPr>
          <p:cNvPr id="175352" name="Rectangle 248">
            <a:extLst>
              <a:ext uri="{FF2B5EF4-FFF2-40B4-BE49-F238E27FC236}">
                <a16:creationId xmlns:a16="http://schemas.microsoft.com/office/drawing/2014/main" id="{1581EF2E-1BB5-9B8C-4144-22911DD65DB6}"/>
              </a:ext>
            </a:extLst>
          </p:cNvPr>
          <p:cNvSpPr>
            <a:spLocks noGrp="1" noRot="1" noChangeArrowheads="1"/>
          </p:cNvSpPr>
          <p:nvPr>
            <p:ph type="title"/>
          </p:nvPr>
        </p:nvSpPr>
        <p:spPr bwMode="auto">
          <a:xfrm>
            <a:off x="298450" y="22860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75353" name="Rectangle 249">
            <a:extLst>
              <a:ext uri="{FF2B5EF4-FFF2-40B4-BE49-F238E27FC236}">
                <a16:creationId xmlns:a16="http://schemas.microsoft.com/office/drawing/2014/main" id="{831ECEAB-D946-8D24-6F58-C418D3744128}"/>
              </a:ext>
            </a:extLst>
          </p:cNvPr>
          <p:cNvSpPr>
            <a:spLocks noGrp="1" noRot="1" noChangeArrowheads="1"/>
          </p:cNvSpPr>
          <p:nvPr>
            <p:ph type="body" idx="1"/>
          </p:nvPr>
        </p:nvSpPr>
        <p:spPr bwMode="auto">
          <a:xfrm>
            <a:off x="609600" y="1600200"/>
            <a:ext cx="8153400" cy="449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75354" name="Rectangle 250">
            <a:extLst>
              <a:ext uri="{FF2B5EF4-FFF2-40B4-BE49-F238E27FC236}">
                <a16:creationId xmlns:a16="http://schemas.microsoft.com/office/drawing/2014/main" id="{F7883DFB-9F1D-90DF-0C47-0D4008AFDB8E}"/>
              </a:ext>
            </a:extLst>
          </p:cNvPr>
          <p:cNvSpPr>
            <a:spLocks noGrp="1" noChangeArrowheads="1"/>
          </p:cNvSpPr>
          <p:nvPr>
            <p:ph type="dt" sz="half" idx="2"/>
          </p:nvPr>
        </p:nvSpPr>
        <p:spPr bwMode="auto">
          <a:xfrm>
            <a:off x="298450"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a:lvl1pPr>
          </a:lstStyle>
          <a:p>
            <a:endParaRPr lang="en-US" altLang="zh-CN"/>
          </a:p>
        </p:txBody>
      </p:sp>
      <p:sp>
        <p:nvSpPr>
          <p:cNvPr id="175355" name="Rectangle 251">
            <a:extLst>
              <a:ext uri="{FF2B5EF4-FFF2-40B4-BE49-F238E27FC236}">
                <a16:creationId xmlns:a16="http://schemas.microsoft.com/office/drawing/2014/main" id="{DEFFC658-EEBC-0F65-78CC-19FA77786880}"/>
              </a:ext>
            </a:extLst>
          </p:cNvPr>
          <p:cNvSpPr>
            <a:spLocks noGrp="1" noChangeArrowheads="1"/>
          </p:cNvSpPr>
          <p:nvPr>
            <p:ph type="ftr" sz="quarter" idx="3"/>
          </p:nvPr>
        </p:nvSpPr>
        <p:spPr bwMode="auto">
          <a:xfrm>
            <a:off x="3121025"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75356" name="Rectangle 252">
            <a:extLst>
              <a:ext uri="{FF2B5EF4-FFF2-40B4-BE49-F238E27FC236}">
                <a16:creationId xmlns:a16="http://schemas.microsoft.com/office/drawing/2014/main" id="{0CD75121-8626-A98A-243C-CFE17FE8B145}"/>
              </a:ext>
            </a:extLst>
          </p:cNvPr>
          <p:cNvSpPr>
            <a:spLocks noGrp="1" noChangeArrowheads="1"/>
          </p:cNvSpPr>
          <p:nvPr>
            <p:ph type="sldNum" sz="quarter" idx="4"/>
          </p:nvPr>
        </p:nvSpPr>
        <p:spPr bwMode="auto">
          <a:xfrm>
            <a:off x="6550025" y="6245225"/>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8D69912F-783A-41A8-AD6D-A1512E4825FE}"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Lst>
  <p:transition>
    <p:blinds dir="vert"/>
  </p:transition>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SzPct val="85000"/>
        <a:buFont typeface="Wingdings" panose="05000000000000000000" pitchFamily="2" charset="2"/>
        <a:buChar char="Ø"/>
        <a:defRPr sz="2800" kern="1200">
          <a:solidFill>
            <a:schemeClr val="tx1"/>
          </a:solidFill>
          <a:latin typeface="+mn-lt"/>
          <a:ea typeface="+mn-ea"/>
          <a:cs typeface="+mn-cs"/>
        </a:defRPr>
      </a:lvl2pPr>
      <a:lvl3pPr marL="1143000" indent="-228600" algn="l" rtl="0" fontAlgn="base">
        <a:spcBef>
          <a:spcPct val="20000"/>
        </a:spcBef>
        <a:spcAft>
          <a:spcPct val="0"/>
        </a:spcAft>
        <a:buClr>
          <a:schemeClr val="hlink"/>
        </a:buClr>
        <a:buSzPct val="95000"/>
        <a:buFont typeface="Wingdings 2" pitchFamily="18" charset="2"/>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SzPct val="90000"/>
        <a:buFont typeface="Wingdings" panose="05000000000000000000" pitchFamily="2" charset="2"/>
        <a:buChar char="Ø"/>
        <a:defRPr sz="2000" kern="1200">
          <a:solidFill>
            <a:schemeClr val="tx1"/>
          </a:solidFill>
          <a:latin typeface="+mn-lt"/>
          <a:ea typeface="+mn-ea"/>
          <a:cs typeface="+mn-cs"/>
        </a:defRPr>
      </a:lvl4pPr>
      <a:lvl5pPr marL="2057400" indent="-228600" algn="l" rtl="0" fontAlgn="base">
        <a:spcBef>
          <a:spcPct val="20000"/>
        </a:spcBef>
        <a:spcAft>
          <a:spcPct val="0"/>
        </a:spcAft>
        <a:buClr>
          <a:schemeClr val="hlink"/>
        </a:buClr>
        <a:buFont typeface="Wingdings 2" pitchFamily="18"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Lnsxuxx@zsu.edu.cn"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2.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8.wmf"/><Relationship Id="rId3" Type="http://schemas.openxmlformats.org/officeDocument/2006/relationships/image" Target="../media/image3.wmf"/><Relationship Id="rId7" Type="http://schemas.openxmlformats.org/officeDocument/2006/relationships/image" Target="../media/image5.wmf"/><Relationship Id="rId12" Type="http://schemas.openxmlformats.org/officeDocument/2006/relationships/oleObject" Target="../embeddings/oleObject8.bin"/><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11" Type="http://schemas.openxmlformats.org/officeDocument/2006/relationships/image" Target="../media/image7.wmf"/><Relationship Id="rId5" Type="http://schemas.openxmlformats.org/officeDocument/2006/relationships/image" Target="../media/image4.wmf"/><Relationship Id="rId15" Type="http://schemas.openxmlformats.org/officeDocument/2006/relationships/image" Target="../media/image9.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6.wmf"/><Relationship Id="rId14" Type="http://schemas.openxmlformats.org/officeDocument/2006/relationships/oleObject" Target="../embeddings/oleObject9.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oleObject" Target="../embeddings/oleObject16.bin"/><Relationship Id="rId3" Type="http://schemas.openxmlformats.org/officeDocument/2006/relationships/image" Target="../media/image10.wmf"/><Relationship Id="rId7" Type="http://schemas.openxmlformats.org/officeDocument/2006/relationships/image" Target="../media/image12.wmf"/><Relationship Id="rId12" Type="http://schemas.openxmlformats.org/officeDocument/2006/relationships/image" Target="../media/image14.w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12.bin"/><Relationship Id="rId11" Type="http://schemas.openxmlformats.org/officeDocument/2006/relationships/oleObject" Target="../embeddings/oleObject15.bin"/><Relationship Id="rId5" Type="http://schemas.openxmlformats.org/officeDocument/2006/relationships/image" Target="../media/image11.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13.wmf"/><Relationship Id="rId14" Type="http://schemas.openxmlformats.org/officeDocument/2006/relationships/image" Target="../media/image15.wmf"/></Relationships>
</file>

<file path=ppt/slides/_rels/slide8.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wmf"/><Relationship Id="rId7" Type="http://schemas.openxmlformats.org/officeDocument/2006/relationships/image" Target="../media/image22.wmf"/><Relationship Id="rId2" Type="http://schemas.openxmlformats.org/officeDocument/2006/relationships/oleObject" Target="../embeddings/oleObject19.bin"/><Relationship Id="rId1" Type="http://schemas.openxmlformats.org/officeDocument/2006/relationships/slideLayout" Target="../slideLayouts/slideLayout2.xml"/><Relationship Id="rId6" Type="http://schemas.openxmlformats.org/officeDocument/2006/relationships/oleObject" Target="../embeddings/oleObject21.bin"/><Relationship Id="rId5" Type="http://schemas.openxmlformats.org/officeDocument/2006/relationships/image" Target="../media/image21.wmf"/><Relationship Id="rId4" Type="http://schemas.openxmlformats.org/officeDocument/2006/relationships/oleObject" Target="../embeddings/oleObject20.bin"/></Relationships>
</file>

<file path=ppt/slides/_rels/slide17.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2.bin"/><Relationship Id="rId1" Type="http://schemas.openxmlformats.org/officeDocument/2006/relationships/slideLayout" Target="../slideLayouts/slideLayout2.xml"/><Relationship Id="rId5" Type="http://schemas.openxmlformats.org/officeDocument/2006/relationships/image" Target="../media/image24.wmf"/><Relationship Id="rId4" Type="http://schemas.openxmlformats.org/officeDocument/2006/relationships/oleObject" Target="../embeddings/oleObject23.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7.wmf"/><Relationship Id="rId5" Type="http://schemas.openxmlformats.org/officeDocument/2006/relationships/oleObject" Target="../embeddings/oleObject25.bin"/><Relationship Id="rId4" Type="http://schemas.openxmlformats.org/officeDocument/2006/relationships/image" Target="../media/image26.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wmf"/><Relationship Id="rId7" Type="http://schemas.openxmlformats.org/officeDocument/2006/relationships/image" Target="../media/image29.wmf"/><Relationship Id="rId2" Type="http://schemas.openxmlformats.org/officeDocument/2006/relationships/oleObject" Target="../embeddings/oleObject26.bin"/><Relationship Id="rId1" Type="http://schemas.openxmlformats.org/officeDocument/2006/relationships/slideLayout" Target="../slideLayouts/slideLayout2.xml"/><Relationship Id="rId6" Type="http://schemas.openxmlformats.org/officeDocument/2006/relationships/oleObject" Target="../embeddings/oleObject28.bin"/><Relationship Id="rId5" Type="http://schemas.openxmlformats.org/officeDocument/2006/relationships/image" Target="../media/image28.wmf"/><Relationship Id="rId4" Type="http://schemas.openxmlformats.org/officeDocument/2006/relationships/oleObject" Target="../embeddings/oleObject27.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30.wmf"/><Relationship Id="rId7" Type="http://schemas.openxmlformats.org/officeDocument/2006/relationships/image" Target="../media/image32.wmf"/><Relationship Id="rId2" Type="http://schemas.openxmlformats.org/officeDocument/2006/relationships/oleObject" Target="../embeddings/oleObject29.bin"/><Relationship Id="rId1" Type="http://schemas.openxmlformats.org/officeDocument/2006/relationships/slideLayout" Target="../slideLayouts/slideLayout2.xml"/><Relationship Id="rId6" Type="http://schemas.openxmlformats.org/officeDocument/2006/relationships/oleObject" Target="../embeddings/oleObject31.bin"/><Relationship Id="rId11" Type="http://schemas.openxmlformats.org/officeDocument/2006/relationships/image" Target="../media/image34.wmf"/><Relationship Id="rId5" Type="http://schemas.openxmlformats.org/officeDocument/2006/relationships/image" Target="../media/image31.wmf"/><Relationship Id="rId10" Type="http://schemas.openxmlformats.org/officeDocument/2006/relationships/oleObject" Target="../embeddings/oleObject33.bin"/><Relationship Id="rId4" Type="http://schemas.openxmlformats.org/officeDocument/2006/relationships/oleObject" Target="../embeddings/oleObject30.bin"/><Relationship Id="rId9" Type="http://schemas.openxmlformats.org/officeDocument/2006/relationships/image" Target="../media/image33.wmf"/></Relationships>
</file>

<file path=ppt/slides/_rels/slide24.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34.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40.wmf"/><Relationship Id="rId3" Type="http://schemas.openxmlformats.org/officeDocument/2006/relationships/image" Target="../media/image18.wmf"/><Relationship Id="rId7" Type="http://schemas.openxmlformats.org/officeDocument/2006/relationships/image" Target="../media/image37.wmf"/><Relationship Id="rId12" Type="http://schemas.openxmlformats.org/officeDocument/2006/relationships/oleObject" Target="../embeddings/oleObject40.bin"/><Relationship Id="rId2" Type="http://schemas.openxmlformats.org/officeDocument/2006/relationships/oleObject" Target="../embeddings/oleObject35.bin"/><Relationship Id="rId1" Type="http://schemas.openxmlformats.org/officeDocument/2006/relationships/slideLayout" Target="../slideLayouts/slideLayout2.xml"/><Relationship Id="rId6" Type="http://schemas.openxmlformats.org/officeDocument/2006/relationships/oleObject" Target="../embeddings/oleObject37.bin"/><Relationship Id="rId11" Type="http://schemas.openxmlformats.org/officeDocument/2006/relationships/image" Target="../media/image39.wmf"/><Relationship Id="rId5" Type="http://schemas.openxmlformats.org/officeDocument/2006/relationships/image" Target="../media/image36.wmf"/><Relationship Id="rId15" Type="http://schemas.openxmlformats.org/officeDocument/2006/relationships/image" Target="../media/image34.w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38.wmf"/><Relationship Id="rId14" Type="http://schemas.openxmlformats.org/officeDocument/2006/relationships/oleObject" Target="../embeddings/oleObject41.bin"/></Relationships>
</file>

<file path=ppt/slides/_rels/slide26.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42.bin"/><Relationship Id="rId1" Type="http://schemas.openxmlformats.org/officeDocument/2006/relationships/slideLayout" Target="../slideLayouts/slideLayout2.xml"/><Relationship Id="rId5" Type="http://schemas.openxmlformats.org/officeDocument/2006/relationships/image" Target="../media/image42.wmf"/><Relationship Id="rId4" Type="http://schemas.openxmlformats.org/officeDocument/2006/relationships/oleObject" Target="../embeddings/oleObject43.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47.bin"/><Relationship Id="rId3" Type="http://schemas.openxmlformats.org/officeDocument/2006/relationships/image" Target="../media/image18.wmf"/><Relationship Id="rId7" Type="http://schemas.openxmlformats.org/officeDocument/2006/relationships/image" Target="../media/image29.wmf"/><Relationship Id="rId2" Type="http://schemas.openxmlformats.org/officeDocument/2006/relationships/oleObject" Target="../embeddings/oleObject44.bin"/><Relationship Id="rId1" Type="http://schemas.openxmlformats.org/officeDocument/2006/relationships/slideLayout" Target="../slideLayouts/slideLayout2.xml"/><Relationship Id="rId6" Type="http://schemas.openxmlformats.org/officeDocument/2006/relationships/oleObject" Target="../embeddings/oleObject46.bin"/><Relationship Id="rId11" Type="http://schemas.openxmlformats.org/officeDocument/2006/relationships/oleObject" Target="../embeddings/oleObject49.bin"/><Relationship Id="rId5" Type="http://schemas.openxmlformats.org/officeDocument/2006/relationships/image" Target="../media/image28.wmf"/><Relationship Id="rId10" Type="http://schemas.openxmlformats.org/officeDocument/2006/relationships/oleObject" Target="../embeddings/oleObject48.bin"/><Relationship Id="rId4" Type="http://schemas.openxmlformats.org/officeDocument/2006/relationships/oleObject" Target="../embeddings/oleObject45.bin"/><Relationship Id="rId9" Type="http://schemas.openxmlformats.org/officeDocument/2006/relationships/image" Target="../media/image43.wmf"/></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53.bin"/><Relationship Id="rId13" Type="http://schemas.openxmlformats.org/officeDocument/2006/relationships/image" Target="../media/image47.wmf"/><Relationship Id="rId3" Type="http://schemas.openxmlformats.org/officeDocument/2006/relationships/image" Target="../media/image44.wmf"/><Relationship Id="rId7" Type="http://schemas.openxmlformats.org/officeDocument/2006/relationships/image" Target="../media/image46.wmf"/><Relationship Id="rId12" Type="http://schemas.openxmlformats.org/officeDocument/2006/relationships/oleObject" Target="../embeddings/oleObject55.bin"/><Relationship Id="rId2" Type="http://schemas.openxmlformats.org/officeDocument/2006/relationships/oleObject" Target="../embeddings/oleObject50.bin"/><Relationship Id="rId1" Type="http://schemas.openxmlformats.org/officeDocument/2006/relationships/slideLayout" Target="../slideLayouts/slideLayout2.xml"/><Relationship Id="rId6" Type="http://schemas.openxmlformats.org/officeDocument/2006/relationships/oleObject" Target="../embeddings/oleObject52.bin"/><Relationship Id="rId11" Type="http://schemas.openxmlformats.org/officeDocument/2006/relationships/image" Target="../media/image34.wmf"/><Relationship Id="rId5" Type="http://schemas.openxmlformats.org/officeDocument/2006/relationships/image" Target="../media/image45.wmf"/><Relationship Id="rId10" Type="http://schemas.openxmlformats.org/officeDocument/2006/relationships/oleObject" Target="../embeddings/oleObject54.bin"/><Relationship Id="rId4" Type="http://schemas.openxmlformats.org/officeDocument/2006/relationships/oleObject" Target="../embeddings/oleObject51.bin"/><Relationship Id="rId9" Type="http://schemas.openxmlformats.org/officeDocument/2006/relationships/image" Target="../media/image40.wmf"/></Relationships>
</file>

<file path=ppt/slides/_rels/slide29.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oleObject" Target="../embeddings/oleObject56.bin"/><Relationship Id="rId1" Type="http://schemas.openxmlformats.org/officeDocument/2006/relationships/slideLayout" Target="../slideLayouts/slideLayout2.xml"/><Relationship Id="rId5" Type="http://schemas.openxmlformats.org/officeDocument/2006/relationships/image" Target="../media/image49.wmf"/><Relationship Id="rId4" Type="http://schemas.openxmlformats.org/officeDocument/2006/relationships/oleObject" Target="../embeddings/oleObject57.bin"/></Relationships>
</file>

<file path=ppt/slides/_rels/slide3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58.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62.bin"/><Relationship Id="rId3" Type="http://schemas.openxmlformats.org/officeDocument/2006/relationships/image" Target="../media/image52.wmf"/><Relationship Id="rId7" Type="http://schemas.openxmlformats.org/officeDocument/2006/relationships/image" Target="../media/image54.wmf"/><Relationship Id="rId2" Type="http://schemas.openxmlformats.org/officeDocument/2006/relationships/oleObject" Target="../embeddings/oleObject59.bin"/><Relationship Id="rId1" Type="http://schemas.openxmlformats.org/officeDocument/2006/relationships/slideLayout" Target="../slideLayouts/slideLayout2.xml"/><Relationship Id="rId6" Type="http://schemas.openxmlformats.org/officeDocument/2006/relationships/oleObject" Target="../embeddings/oleObject61.bin"/><Relationship Id="rId11" Type="http://schemas.openxmlformats.org/officeDocument/2006/relationships/image" Target="../media/image56.wmf"/><Relationship Id="rId5" Type="http://schemas.openxmlformats.org/officeDocument/2006/relationships/image" Target="../media/image53.wmf"/><Relationship Id="rId10" Type="http://schemas.openxmlformats.org/officeDocument/2006/relationships/oleObject" Target="../embeddings/oleObject63.bin"/><Relationship Id="rId4" Type="http://schemas.openxmlformats.org/officeDocument/2006/relationships/oleObject" Target="../embeddings/oleObject60.bin"/><Relationship Id="rId9" Type="http://schemas.openxmlformats.org/officeDocument/2006/relationships/image" Target="../media/image55.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828237D-3ACE-7B3D-705A-4D38C615113E}"/>
              </a:ext>
            </a:extLst>
          </p:cNvPr>
          <p:cNvSpPr>
            <a:spLocks noGrp="1" noRot="1" noChangeArrowheads="1"/>
          </p:cNvSpPr>
          <p:nvPr>
            <p:ph type="title"/>
          </p:nvPr>
        </p:nvSpPr>
        <p:spPr>
          <a:xfrm>
            <a:off x="395288" y="533400"/>
            <a:ext cx="8540750" cy="1816100"/>
          </a:xfrm>
        </p:spPr>
        <p:txBody>
          <a:bodyPr/>
          <a:lstStyle/>
          <a:p>
            <a:r>
              <a:rPr lang="zh-CN" altLang="en-US" sz="4800" b="1">
                <a:solidFill>
                  <a:srgbClr val="CC0000"/>
                </a:solidFill>
              </a:rPr>
              <a:t>中级宏观经济学</a:t>
            </a:r>
          </a:p>
        </p:txBody>
      </p:sp>
      <p:sp>
        <p:nvSpPr>
          <p:cNvPr id="2052" name="Rectangle 4">
            <a:extLst>
              <a:ext uri="{FF2B5EF4-FFF2-40B4-BE49-F238E27FC236}">
                <a16:creationId xmlns:a16="http://schemas.microsoft.com/office/drawing/2014/main" id="{86696145-F44D-1F5A-EADB-86803ABC13D5}"/>
              </a:ext>
            </a:extLst>
          </p:cNvPr>
          <p:cNvSpPr>
            <a:spLocks noGrp="1" noRot="1" noChangeArrowheads="1"/>
          </p:cNvSpPr>
          <p:nvPr>
            <p:ph type="body" idx="1"/>
          </p:nvPr>
        </p:nvSpPr>
        <p:spPr>
          <a:xfrm>
            <a:off x="2438400" y="3979863"/>
            <a:ext cx="4648200" cy="1735137"/>
          </a:xfrm>
        </p:spPr>
        <p:txBody>
          <a:bodyPr/>
          <a:lstStyle/>
          <a:p>
            <a:pPr>
              <a:lnSpc>
                <a:spcPct val="80000"/>
              </a:lnSpc>
            </a:pPr>
            <a:r>
              <a:rPr lang="zh-CN" altLang="en-US" sz="2800" b="1">
                <a:solidFill>
                  <a:srgbClr val="000000"/>
                </a:solidFill>
                <a:latin typeface="华文楷体" pitchFamily="2" charset="-122"/>
                <a:ea typeface="华文楷体" pitchFamily="2" charset="-122"/>
              </a:rPr>
              <a:t>徐现祥</a:t>
            </a:r>
          </a:p>
          <a:p>
            <a:pPr>
              <a:lnSpc>
                <a:spcPct val="80000"/>
              </a:lnSpc>
            </a:pPr>
            <a:r>
              <a:rPr lang="en-US" altLang="zh-CN" sz="2800" b="1">
                <a:solidFill>
                  <a:srgbClr val="000000"/>
                </a:solidFill>
                <a:latin typeface="华文楷体" pitchFamily="2" charset="-122"/>
                <a:ea typeface="华文楷体" pitchFamily="2" charset="-122"/>
                <a:hlinkClick r:id="rId2"/>
              </a:rPr>
              <a:t>Lnsxuxx@zsu.edu.cn</a:t>
            </a:r>
            <a:endParaRPr lang="en-US" altLang="zh-CN" sz="2800" b="1">
              <a:solidFill>
                <a:srgbClr val="000000"/>
              </a:solidFill>
              <a:latin typeface="华文楷体" pitchFamily="2" charset="-122"/>
              <a:ea typeface="华文楷体" pitchFamily="2" charset="-122"/>
            </a:endParaRPr>
          </a:p>
          <a:p>
            <a:pPr>
              <a:lnSpc>
                <a:spcPct val="80000"/>
              </a:lnSpc>
            </a:pPr>
            <a:r>
              <a:rPr lang="en-US" altLang="zh-CN" sz="2800" b="1">
                <a:solidFill>
                  <a:srgbClr val="000000"/>
                </a:solidFill>
                <a:latin typeface="华文楷体" pitchFamily="2" charset="-122"/>
                <a:ea typeface="华文楷体" pitchFamily="2" charset="-122"/>
              </a:rPr>
              <a:t>84112173(O)</a:t>
            </a:r>
          </a:p>
          <a:p>
            <a:pPr>
              <a:lnSpc>
                <a:spcPct val="80000"/>
              </a:lnSpc>
            </a:pPr>
            <a:endParaRPr lang="en-US" altLang="zh-CN" sz="2800" b="1">
              <a:solidFill>
                <a:srgbClr val="000000"/>
              </a:solidFill>
              <a:latin typeface="华文楷体" pitchFamily="2" charset="-122"/>
              <a:ea typeface="华文楷体" pitchFamily="2" charset="-122"/>
            </a:endParaRPr>
          </a:p>
        </p:txBody>
      </p:sp>
    </p:spTree>
  </p:cSld>
  <p:clrMapOvr>
    <a:masterClrMapping/>
  </p:clrMapOvr>
  <p:transition>
    <p:blinds dir="vert"/>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7618" name="Rectangle 2">
            <a:extLst>
              <a:ext uri="{FF2B5EF4-FFF2-40B4-BE49-F238E27FC236}">
                <a16:creationId xmlns:a16="http://schemas.microsoft.com/office/drawing/2014/main" id="{6311A8A7-DF29-2EC5-8B62-22988197232B}"/>
              </a:ext>
            </a:extLst>
          </p:cNvPr>
          <p:cNvSpPr>
            <a:spLocks noGrp="1" noRot="1" noChangeArrowheads="1"/>
          </p:cNvSpPr>
          <p:nvPr>
            <p:ph type="title"/>
          </p:nvPr>
        </p:nvSpPr>
        <p:spPr/>
        <p:txBody>
          <a:bodyPr/>
          <a:lstStyle/>
          <a:p>
            <a:r>
              <a:rPr lang="zh-CN" altLang="en-US" b="1">
                <a:effectLst>
                  <a:outerShdw blurRad="38100" dist="38100" dir="2700000" algn="tl">
                    <a:srgbClr val="C0C0C0"/>
                  </a:outerShdw>
                </a:effectLst>
              </a:rPr>
              <a:t>课程简介</a:t>
            </a:r>
          </a:p>
        </p:txBody>
      </p:sp>
      <p:sp>
        <p:nvSpPr>
          <p:cNvPr id="367619" name="Rectangle 3">
            <a:extLst>
              <a:ext uri="{FF2B5EF4-FFF2-40B4-BE49-F238E27FC236}">
                <a16:creationId xmlns:a16="http://schemas.microsoft.com/office/drawing/2014/main" id="{3744924F-BEA2-771C-2C26-74B6E3F206B1}"/>
              </a:ext>
            </a:extLst>
          </p:cNvPr>
          <p:cNvSpPr>
            <a:spLocks noGrp="1" noRot="1" noChangeArrowheads="1"/>
          </p:cNvSpPr>
          <p:nvPr>
            <p:ph type="body" idx="1"/>
          </p:nvPr>
        </p:nvSpPr>
        <p:spPr>
          <a:xfrm>
            <a:off x="552450" y="1657350"/>
            <a:ext cx="7905750" cy="4732338"/>
          </a:xfrm>
        </p:spPr>
        <p:txBody>
          <a:bodyPr/>
          <a:lstStyle/>
          <a:p>
            <a:pPr>
              <a:lnSpc>
                <a:spcPct val="90000"/>
              </a:lnSpc>
            </a:pPr>
            <a:r>
              <a:rPr lang="zh-CN" altLang="en-US" sz="3600" b="1"/>
              <a:t>序论：</a:t>
            </a:r>
          </a:p>
          <a:p>
            <a:pPr lvl="1">
              <a:lnSpc>
                <a:spcPct val="90000"/>
              </a:lnSpc>
            </a:pPr>
            <a:r>
              <a:rPr lang="zh-CN" altLang="en-US" b="1"/>
              <a:t>宏观经济现象、国民经济核算和总供给总需求模型</a:t>
            </a:r>
          </a:p>
          <a:p>
            <a:pPr>
              <a:lnSpc>
                <a:spcPct val="90000"/>
              </a:lnSpc>
            </a:pPr>
            <a:r>
              <a:rPr lang="zh-CN" altLang="en-US" sz="3600" b="1"/>
              <a:t>总供给</a:t>
            </a:r>
          </a:p>
          <a:p>
            <a:pPr lvl="1">
              <a:lnSpc>
                <a:spcPct val="90000"/>
              </a:lnSpc>
            </a:pPr>
            <a:r>
              <a:rPr lang="zh-CN" altLang="en-US" b="1"/>
              <a:t>经济增长、经济波动和总供给曲线的推导</a:t>
            </a:r>
          </a:p>
          <a:p>
            <a:pPr>
              <a:lnSpc>
                <a:spcPct val="90000"/>
              </a:lnSpc>
            </a:pPr>
            <a:r>
              <a:rPr lang="zh-CN" altLang="en-US" sz="3600" b="1"/>
              <a:t>总需求 </a:t>
            </a:r>
          </a:p>
          <a:p>
            <a:pPr lvl="1">
              <a:lnSpc>
                <a:spcPct val="90000"/>
              </a:lnSpc>
            </a:pPr>
            <a:r>
              <a:rPr lang="en-US" altLang="zh-CN" b="1"/>
              <a:t>IS-LM</a:t>
            </a:r>
            <a:r>
              <a:rPr lang="zh-CN" altLang="en-US" b="1"/>
              <a:t>模型、微观基础和总需求曲线的推导</a:t>
            </a:r>
          </a:p>
          <a:p>
            <a:pPr>
              <a:lnSpc>
                <a:spcPct val="90000"/>
              </a:lnSpc>
            </a:pPr>
            <a:r>
              <a:rPr lang="zh-CN" altLang="en-US" sz="3600" b="1"/>
              <a:t>宏观经济管理</a:t>
            </a:r>
          </a:p>
          <a:p>
            <a:pPr lvl="1">
              <a:lnSpc>
                <a:spcPct val="90000"/>
              </a:lnSpc>
            </a:pPr>
            <a:r>
              <a:rPr lang="zh-CN" altLang="en-US" b="1"/>
              <a:t>目标、政策和绩效</a:t>
            </a:r>
          </a:p>
        </p:txBody>
      </p:sp>
      <p:sp>
        <p:nvSpPr>
          <p:cNvPr id="367620" name="Oval 4">
            <a:extLst>
              <a:ext uri="{FF2B5EF4-FFF2-40B4-BE49-F238E27FC236}">
                <a16:creationId xmlns:a16="http://schemas.microsoft.com/office/drawing/2014/main" id="{E34762D6-14D0-49CC-46F5-97C960CCAEF2}"/>
              </a:ext>
            </a:extLst>
          </p:cNvPr>
          <p:cNvSpPr>
            <a:spLocks noChangeArrowheads="1"/>
          </p:cNvSpPr>
          <p:nvPr/>
        </p:nvSpPr>
        <p:spPr bwMode="auto">
          <a:xfrm>
            <a:off x="5003800" y="3644900"/>
            <a:ext cx="3024188" cy="576263"/>
          </a:xfrm>
          <a:prstGeom prst="ellipse">
            <a:avLst/>
          </a:prstGeom>
          <a:noFill/>
          <a:ln w="5715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zh-CN" sz="2400">
              <a:solidFill>
                <a:srgbClr val="FF0000"/>
              </a:solidFill>
              <a:latin typeface="Times New Roman" panose="02020603050405020304" pitchFamily="18" charset="0"/>
            </a:endParaRPr>
          </a:p>
        </p:txBody>
      </p:sp>
    </p:spTree>
  </p:cSld>
  <p:clrMapOvr>
    <a:masterClrMapping/>
  </p:clrMapOvr>
  <p:transition spd="slow">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7619">
                                            <p:txEl>
                                              <p:pRg st="0" end="0"/>
                                            </p:txEl>
                                          </p:spTgt>
                                        </p:tgtEl>
                                        <p:attrNameLst>
                                          <p:attrName>style.visibility</p:attrName>
                                        </p:attrNameLst>
                                      </p:cBhvr>
                                      <p:to>
                                        <p:strVal val="visible"/>
                                      </p:to>
                                    </p:set>
                                    <p:animEffect transition="in" filter="box(in)">
                                      <p:cBhvr>
                                        <p:cTn id="7" dur="500"/>
                                        <p:tgtEl>
                                          <p:spTgt spid="367619">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67619">
                                            <p:txEl>
                                              <p:pRg st="1" end="1"/>
                                            </p:txEl>
                                          </p:spTgt>
                                        </p:tgtEl>
                                        <p:attrNameLst>
                                          <p:attrName>style.visibility</p:attrName>
                                        </p:attrNameLst>
                                      </p:cBhvr>
                                      <p:to>
                                        <p:strVal val="visible"/>
                                      </p:to>
                                    </p:set>
                                    <p:animEffect transition="in" filter="box(in)">
                                      <p:cBhvr>
                                        <p:cTn id="10" dur="500"/>
                                        <p:tgtEl>
                                          <p:spTgt spid="36761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367619">
                                            <p:txEl>
                                              <p:pRg st="2" end="2"/>
                                            </p:txEl>
                                          </p:spTgt>
                                        </p:tgtEl>
                                        <p:attrNameLst>
                                          <p:attrName>style.visibility</p:attrName>
                                        </p:attrNameLst>
                                      </p:cBhvr>
                                      <p:to>
                                        <p:strVal val="visible"/>
                                      </p:to>
                                    </p:set>
                                    <p:animEffect transition="in" filter="box(in)">
                                      <p:cBhvr>
                                        <p:cTn id="15" dur="500"/>
                                        <p:tgtEl>
                                          <p:spTgt spid="367619">
                                            <p:txEl>
                                              <p:pRg st="2" end="2"/>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367619">
                                            <p:txEl>
                                              <p:pRg st="3" end="3"/>
                                            </p:txEl>
                                          </p:spTgt>
                                        </p:tgtEl>
                                        <p:attrNameLst>
                                          <p:attrName>style.visibility</p:attrName>
                                        </p:attrNameLst>
                                      </p:cBhvr>
                                      <p:to>
                                        <p:strVal val="visible"/>
                                      </p:to>
                                    </p:set>
                                    <p:animEffect transition="in" filter="box(in)">
                                      <p:cBhvr>
                                        <p:cTn id="18" dur="500"/>
                                        <p:tgtEl>
                                          <p:spTgt spid="367619">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367619">
                                            <p:txEl>
                                              <p:pRg st="4" end="4"/>
                                            </p:txEl>
                                          </p:spTgt>
                                        </p:tgtEl>
                                        <p:attrNameLst>
                                          <p:attrName>style.visibility</p:attrName>
                                        </p:attrNameLst>
                                      </p:cBhvr>
                                      <p:to>
                                        <p:strVal val="visible"/>
                                      </p:to>
                                    </p:set>
                                    <p:animEffect transition="in" filter="box(in)">
                                      <p:cBhvr>
                                        <p:cTn id="23" dur="500"/>
                                        <p:tgtEl>
                                          <p:spTgt spid="367619">
                                            <p:txEl>
                                              <p:pRg st="4" end="4"/>
                                            </p:txEl>
                                          </p:spTgt>
                                        </p:tgtEl>
                                      </p:cBhvr>
                                    </p:animEffect>
                                  </p:childTnLst>
                                </p:cTn>
                              </p:par>
                              <p:par>
                                <p:cTn id="24" presetID="4" presetClass="entr" presetSubtype="16" fill="hold" nodeType="withEffect">
                                  <p:stCondLst>
                                    <p:cond delay="0"/>
                                  </p:stCondLst>
                                  <p:childTnLst>
                                    <p:set>
                                      <p:cBhvr>
                                        <p:cTn id="25" dur="1" fill="hold">
                                          <p:stCondLst>
                                            <p:cond delay="0"/>
                                          </p:stCondLst>
                                        </p:cTn>
                                        <p:tgtEl>
                                          <p:spTgt spid="367619">
                                            <p:txEl>
                                              <p:pRg st="5" end="5"/>
                                            </p:txEl>
                                          </p:spTgt>
                                        </p:tgtEl>
                                        <p:attrNameLst>
                                          <p:attrName>style.visibility</p:attrName>
                                        </p:attrNameLst>
                                      </p:cBhvr>
                                      <p:to>
                                        <p:strVal val="visible"/>
                                      </p:to>
                                    </p:set>
                                    <p:animEffect transition="in" filter="box(in)">
                                      <p:cBhvr>
                                        <p:cTn id="26" dur="500"/>
                                        <p:tgtEl>
                                          <p:spTgt spid="367619">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nodeType="clickEffect">
                                  <p:stCondLst>
                                    <p:cond delay="0"/>
                                  </p:stCondLst>
                                  <p:childTnLst>
                                    <p:set>
                                      <p:cBhvr>
                                        <p:cTn id="30" dur="1" fill="hold">
                                          <p:stCondLst>
                                            <p:cond delay="0"/>
                                          </p:stCondLst>
                                        </p:cTn>
                                        <p:tgtEl>
                                          <p:spTgt spid="367619">
                                            <p:txEl>
                                              <p:pRg st="6" end="6"/>
                                            </p:txEl>
                                          </p:spTgt>
                                        </p:tgtEl>
                                        <p:attrNameLst>
                                          <p:attrName>style.visibility</p:attrName>
                                        </p:attrNameLst>
                                      </p:cBhvr>
                                      <p:to>
                                        <p:strVal val="visible"/>
                                      </p:to>
                                    </p:set>
                                    <p:animEffect transition="in" filter="box(in)">
                                      <p:cBhvr>
                                        <p:cTn id="31" dur="500"/>
                                        <p:tgtEl>
                                          <p:spTgt spid="367619">
                                            <p:txEl>
                                              <p:pRg st="6" end="6"/>
                                            </p:txEl>
                                          </p:spTgt>
                                        </p:tgtEl>
                                      </p:cBhvr>
                                    </p:animEffect>
                                  </p:childTnLst>
                                </p:cTn>
                              </p:par>
                              <p:par>
                                <p:cTn id="32" presetID="4" presetClass="entr" presetSubtype="16" fill="hold" nodeType="withEffect">
                                  <p:stCondLst>
                                    <p:cond delay="0"/>
                                  </p:stCondLst>
                                  <p:childTnLst>
                                    <p:set>
                                      <p:cBhvr>
                                        <p:cTn id="33" dur="1" fill="hold">
                                          <p:stCondLst>
                                            <p:cond delay="0"/>
                                          </p:stCondLst>
                                        </p:cTn>
                                        <p:tgtEl>
                                          <p:spTgt spid="367619">
                                            <p:txEl>
                                              <p:pRg st="7" end="7"/>
                                            </p:txEl>
                                          </p:spTgt>
                                        </p:tgtEl>
                                        <p:attrNameLst>
                                          <p:attrName>style.visibility</p:attrName>
                                        </p:attrNameLst>
                                      </p:cBhvr>
                                      <p:to>
                                        <p:strVal val="visible"/>
                                      </p:to>
                                    </p:set>
                                    <p:animEffect transition="in" filter="box(in)">
                                      <p:cBhvr>
                                        <p:cTn id="34" dur="500"/>
                                        <p:tgtEl>
                                          <p:spTgt spid="367619">
                                            <p:txEl>
                                              <p:pRg st="7" end="7"/>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9" presetClass="entr" presetSubtype="10" fill="hold" nodeType="clickEffect">
                                  <p:stCondLst>
                                    <p:cond delay="0"/>
                                  </p:stCondLst>
                                  <p:childTnLst>
                                    <p:set>
                                      <p:cBhvr>
                                        <p:cTn id="38" dur="1" fill="hold">
                                          <p:stCondLst>
                                            <p:cond delay="0"/>
                                          </p:stCondLst>
                                        </p:cTn>
                                        <p:tgtEl>
                                          <p:spTgt spid="367620"/>
                                        </p:tgtEl>
                                        <p:attrNameLst>
                                          <p:attrName>style.visibility</p:attrName>
                                        </p:attrNameLst>
                                      </p:cBhvr>
                                      <p:to>
                                        <p:strVal val="visible"/>
                                      </p:to>
                                    </p:set>
                                    <p:anim calcmode="lin" valueType="num">
                                      <p:cBhvr>
                                        <p:cTn id="39" dur="5000" fill="hold"/>
                                        <p:tgtEl>
                                          <p:spTgt spid="367620"/>
                                        </p:tgtEl>
                                        <p:attrNameLst>
                                          <p:attrName>ppt_w</p:attrName>
                                        </p:attrNameLst>
                                      </p:cBhvr>
                                      <p:tavLst>
                                        <p:tav tm="0" fmla="#ppt_w*sin(2.5*pi*$)">
                                          <p:val>
                                            <p:fltVal val="0"/>
                                          </p:val>
                                        </p:tav>
                                        <p:tav tm="100000">
                                          <p:val>
                                            <p:fltVal val="1"/>
                                          </p:val>
                                        </p:tav>
                                      </p:tavLst>
                                    </p:anim>
                                    <p:anim calcmode="lin" valueType="num">
                                      <p:cBhvr>
                                        <p:cTn id="40" dur="5000" fill="hold"/>
                                        <p:tgtEl>
                                          <p:spTgt spid="36762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19" grpId="0" build="p" autoUpdateAnimBg="0"/>
      <p:bldP spid="367620" grpId="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1186" name="Rectangle 2">
            <a:extLst>
              <a:ext uri="{FF2B5EF4-FFF2-40B4-BE49-F238E27FC236}">
                <a16:creationId xmlns:a16="http://schemas.microsoft.com/office/drawing/2014/main" id="{6C3BE138-01F3-10B5-0EAA-D4AE6F03994A}"/>
              </a:ext>
            </a:extLst>
          </p:cNvPr>
          <p:cNvSpPr>
            <a:spLocks noGrp="1" noRot="1" noChangeArrowheads="1"/>
          </p:cNvSpPr>
          <p:nvPr>
            <p:ph type="title"/>
          </p:nvPr>
        </p:nvSpPr>
        <p:spPr/>
        <p:txBody>
          <a:bodyPr/>
          <a:lstStyle/>
          <a:p>
            <a:r>
              <a:rPr lang="zh-CN" altLang="en-US" b="1">
                <a:solidFill>
                  <a:srgbClr val="CC0000"/>
                </a:solidFill>
              </a:rPr>
              <a:t>主要内容</a:t>
            </a:r>
          </a:p>
        </p:txBody>
      </p:sp>
      <p:sp>
        <p:nvSpPr>
          <p:cNvPr id="221189" name="Rectangle 5">
            <a:extLst>
              <a:ext uri="{FF2B5EF4-FFF2-40B4-BE49-F238E27FC236}">
                <a16:creationId xmlns:a16="http://schemas.microsoft.com/office/drawing/2014/main" id="{A01BD1E9-ACE7-E21D-344E-4EA17C952C0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21190" name="Rectangle 6">
            <a:extLst>
              <a:ext uri="{FF2B5EF4-FFF2-40B4-BE49-F238E27FC236}">
                <a16:creationId xmlns:a16="http://schemas.microsoft.com/office/drawing/2014/main" id="{DD2D6FD5-8EF8-94DB-15A3-B8D0FD33E20A}"/>
              </a:ext>
            </a:extLst>
          </p:cNvPr>
          <p:cNvSpPr>
            <a:spLocks noRot="1" noChangeArrowheads="1"/>
          </p:cNvSpPr>
          <p:nvPr/>
        </p:nvSpPr>
        <p:spPr bwMode="auto">
          <a:xfrm>
            <a:off x="2286000" y="2590800"/>
            <a:ext cx="54864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3200" b="1"/>
              <a:t>自然失业率</a:t>
            </a:r>
          </a:p>
          <a:p>
            <a:pPr>
              <a:spcBef>
                <a:spcPct val="20000"/>
              </a:spcBef>
              <a:buClr>
                <a:schemeClr val="hlink"/>
              </a:buClr>
              <a:buSzPct val="85000"/>
              <a:buFont typeface="Wingdings" panose="05000000000000000000" pitchFamily="2" charset="2"/>
              <a:buChar char="§"/>
            </a:pPr>
            <a:r>
              <a:rPr lang="en-US" altLang="zh-CN" sz="3200" b="1"/>
              <a:t>Phillips</a:t>
            </a:r>
            <a:r>
              <a:rPr lang="zh-CN" altLang="en-US" sz="3200" b="1"/>
              <a:t>曲线</a:t>
            </a:r>
          </a:p>
          <a:p>
            <a:pPr>
              <a:spcBef>
                <a:spcPct val="20000"/>
              </a:spcBef>
              <a:buClr>
                <a:schemeClr val="hlink"/>
              </a:buClr>
              <a:buSzPct val="85000"/>
              <a:buFont typeface="Wingdings" panose="05000000000000000000" pitchFamily="2" charset="2"/>
              <a:buChar char="§"/>
            </a:pPr>
            <a:r>
              <a:rPr lang="zh-CN" altLang="en-US" sz="3200" b="1"/>
              <a:t>总供给曲线</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221186"/>
                                        </p:tgtEl>
                                        <p:attrNameLst>
                                          <p:attrName>style.visibility</p:attrName>
                                        </p:attrNameLst>
                                      </p:cBhvr>
                                      <p:to>
                                        <p:strVal val="visible"/>
                                      </p:to>
                                    </p:set>
                                    <p:animEffect transition="in" filter="slide(fromTop)">
                                      <p:cBhvr>
                                        <p:cTn id="7" dur="500"/>
                                        <p:tgtEl>
                                          <p:spTgt spid="2211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221190"/>
                                        </p:tgtEl>
                                        <p:attrNameLst>
                                          <p:attrName>style.visibility</p:attrName>
                                        </p:attrNameLst>
                                      </p:cBhvr>
                                      <p:to>
                                        <p:strVal val="visible"/>
                                      </p:to>
                                    </p:set>
                                    <p:animEffect transition="in" filter="slide(fromBottom)">
                                      <p:cBhvr>
                                        <p:cTn id="12" dur="500"/>
                                        <p:tgtEl>
                                          <p:spTgt spid="221190"/>
                                        </p:tgtEl>
                                      </p:cBhvr>
                                    </p:animEffect>
                                  </p:childTnLst>
                                  <p:subTnLst>
                                    <p:animClr clrSpc="rgb" dir="cw">
                                      <p:cBhvr override="childStyle">
                                        <p:cTn dur="1" fill="hold" display="0" masterRel="nextClick" afterEffect="1"/>
                                        <p:tgtEl>
                                          <p:spTgt spid="221190"/>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6" grpId="0" autoUpdateAnimBg="0"/>
      <p:bldP spid="221190"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5698" name="Rectangle 2">
            <a:extLst>
              <a:ext uri="{FF2B5EF4-FFF2-40B4-BE49-F238E27FC236}">
                <a16:creationId xmlns:a16="http://schemas.microsoft.com/office/drawing/2014/main" id="{18E9552F-33C2-DAFE-74FD-61D54742EEEC}"/>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1.1 </a:t>
            </a:r>
            <a:r>
              <a:rPr lang="zh-CN" altLang="en-US" b="1">
                <a:solidFill>
                  <a:srgbClr val="CC0000"/>
                </a:solidFill>
              </a:rPr>
              <a:t>自然失业率</a:t>
            </a:r>
            <a:r>
              <a:rPr lang="en-US" altLang="zh-CN" b="1">
                <a:solidFill>
                  <a:srgbClr val="CC0000"/>
                </a:solidFill>
              </a:rPr>
              <a:t>_</a:t>
            </a:r>
            <a:r>
              <a:rPr lang="zh-CN" altLang="en-US" b="1">
                <a:solidFill>
                  <a:srgbClr val="CC0000"/>
                </a:solidFill>
              </a:rPr>
              <a:t>提出问题</a:t>
            </a:r>
          </a:p>
        </p:txBody>
      </p:sp>
      <p:sp>
        <p:nvSpPr>
          <p:cNvPr id="285699" name="Rectangle 3">
            <a:extLst>
              <a:ext uri="{FF2B5EF4-FFF2-40B4-BE49-F238E27FC236}">
                <a16:creationId xmlns:a16="http://schemas.microsoft.com/office/drawing/2014/main" id="{C76BBBEB-7B06-9B10-9BBF-CF8941B7FA4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85702" name="Rectangle 6">
            <a:extLst>
              <a:ext uri="{FF2B5EF4-FFF2-40B4-BE49-F238E27FC236}">
                <a16:creationId xmlns:a16="http://schemas.microsoft.com/office/drawing/2014/main" id="{EF18F855-7687-8876-3A40-48829430AE36}"/>
              </a:ext>
            </a:extLst>
          </p:cNvPr>
          <p:cNvSpPr>
            <a:spLocks noRot="1" noChangeArrowheads="1"/>
          </p:cNvSpPr>
          <p:nvPr/>
        </p:nvSpPr>
        <p:spPr bwMode="auto">
          <a:xfrm>
            <a:off x="1066800" y="1447800"/>
            <a:ext cx="7010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3200" b="1"/>
              <a:t>经济增长理论假定充分就业。</a:t>
            </a:r>
            <a:endParaRPr lang="zh-CN" altLang="en-US" sz="2000" b="1"/>
          </a:p>
        </p:txBody>
      </p:sp>
      <p:sp>
        <p:nvSpPr>
          <p:cNvPr id="285703" name="Rectangle 7">
            <a:extLst>
              <a:ext uri="{FF2B5EF4-FFF2-40B4-BE49-F238E27FC236}">
                <a16:creationId xmlns:a16="http://schemas.microsoft.com/office/drawing/2014/main" id="{FDE0B471-059A-27AC-14C7-2026856CAF7F}"/>
              </a:ext>
            </a:extLst>
          </p:cNvPr>
          <p:cNvSpPr>
            <a:spLocks noRot="1" noChangeArrowheads="1"/>
          </p:cNvSpPr>
          <p:nvPr/>
        </p:nvSpPr>
        <p:spPr bwMode="auto">
          <a:xfrm>
            <a:off x="1066800" y="5105400"/>
            <a:ext cx="7162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3200" b="1"/>
              <a:t>充分就业是否意味着没有失业？</a:t>
            </a:r>
          </a:p>
        </p:txBody>
      </p:sp>
      <p:grpSp>
        <p:nvGrpSpPr>
          <p:cNvPr id="285726" name="Group 30">
            <a:extLst>
              <a:ext uri="{FF2B5EF4-FFF2-40B4-BE49-F238E27FC236}">
                <a16:creationId xmlns:a16="http://schemas.microsoft.com/office/drawing/2014/main" id="{16DB1D31-C711-BC82-989F-F72637DF32AF}"/>
              </a:ext>
            </a:extLst>
          </p:cNvPr>
          <p:cNvGrpSpPr>
            <a:grpSpLocks/>
          </p:cNvGrpSpPr>
          <p:nvPr/>
        </p:nvGrpSpPr>
        <p:grpSpPr bwMode="auto">
          <a:xfrm>
            <a:off x="5181600" y="2743200"/>
            <a:ext cx="2286000" cy="1646238"/>
            <a:chOff x="1872" y="1728"/>
            <a:chExt cx="1440" cy="1037"/>
          </a:xfrm>
        </p:grpSpPr>
        <p:sp>
          <p:nvSpPr>
            <p:cNvPr id="285715" name="Line 19">
              <a:extLst>
                <a:ext uri="{FF2B5EF4-FFF2-40B4-BE49-F238E27FC236}">
                  <a16:creationId xmlns:a16="http://schemas.microsoft.com/office/drawing/2014/main" id="{C3F0B716-A6DA-C1AD-BD4D-6C9DCDC5AFB5}"/>
                </a:ext>
              </a:extLst>
            </p:cNvPr>
            <p:cNvSpPr>
              <a:spLocks noChangeShapeType="1"/>
            </p:cNvSpPr>
            <p:nvPr/>
          </p:nvSpPr>
          <p:spPr bwMode="auto">
            <a:xfrm>
              <a:off x="1872" y="1824"/>
              <a:ext cx="1104" cy="864"/>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5716" name="Line 20">
              <a:extLst>
                <a:ext uri="{FF2B5EF4-FFF2-40B4-BE49-F238E27FC236}">
                  <a16:creationId xmlns:a16="http://schemas.microsoft.com/office/drawing/2014/main" id="{1799AB44-22BF-F25F-9105-F4FC48380328}"/>
                </a:ext>
              </a:extLst>
            </p:cNvPr>
            <p:cNvSpPr>
              <a:spLocks noChangeShapeType="1"/>
            </p:cNvSpPr>
            <p:nvPr/>
          </p:nvSpPr>
          <p:spPr bwMode="auto">
            <a:xfrm flipV="1">
              <a:off x="1920" y="1824"/>
              <a:ext cx="1152" cy="91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5721" name="Text Box 25">
              <a:extLst>
                <a:ext uri="{FF2B5EF4-FFF2-40B4-BE49-F238E27FC236}">
                  <a16:creationId xmlns:a16="http://schemas.microsoft.com/office/drawing/2014/main" id="{7FD34B51-A602-0A91-F52A-9C0370ADE416}"/>
                </a:ext>
              </a:extLst>
            </p:cNvPr>
            <p:cNvSpPr txBox="1">
              <a:spLocks noChangeArrowheads="1"/>
            </p:cNvSpPr>
            <p:nvPr/>
          </p:nvSpPr>
          <p:spPr bwMode="auto">
            <a:xfrm>
              <a:off x="3072" y="1728"/>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solidFill>
                    <a:schemeClr val="tx2"/>
                  </a:solidFill>
                </a:rPr>
                <a:t>S</a:t>
              </a:r>
            </a:p>
          </p:txBody>
        </p:sp>
        <p:sp>
          <p:nvSpPr>
            <p:cNvPr id="285722" name="Text Box 26">
              <a:extLst>
                <a:ext uri="{FF2B5EF4-FFF2-40B4-BE49-F238E27FC236}">
                  <a16:creationId xmlns:a16="http://schemas.microsoft.com/office/drawing/2014/main" id="{E3733AC1-FB8A-6559-ECD5-78E560FD6E05}"/>
                </a:ext>
              </a:extLst>
            </p:cNvPr>
            <p:cNvSpPr txBox="1">
              <a:spLocks noChangeArrowheads="1"/>
            </p:cNvSpPr>
            <p:nvPr/>
          </p:nvSpPr>
          <p:spPr bwMode="auto">
            <a:xfrm>
              <a:off x="2976" y="2592"/>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solidFill>
                    <a:schemeClr val="tx2"/>
                  </a:solidFill>
                </a:rPr>
                <a:t>D</a:t>
              </a:r>
            </a:p>
          </p:txBody>
        </p:sp>
      </p:grpSp>
      <p:grpSp>
        <p:nvGrpSpPr>
          <p:cNvPr id="285727" name="Group 31">
            <a:extLst>
              <a:ext uri="{FF2B5EF4-FFF2-40B4-BE49-F238E27FC236}">
                <a16:creationId xmlns:a16="http://schemas.microsoft.com/office/drawing/2014/main" id="{EE0DBD96-4C50-BB1D-4E84-104430065BFA}"/>
              </a:ext>
            </a:extLst>
          </p:cNvPr>
          <p:cNvGrpSpPr>
            <a:grpSpLocks/>
          </p:cNvGrpSpPr>
          <p:nvPr/>
        </p:nvGrpSpPr>
        <p:grpSpPr bwMode="auto">
          <a:xfrm>
            <a:off x="4343400" y="3505200"/>
            <a:ext cx="2057400" cy="1265238"/>
            <a:chOff x="1344" y="2208"/>
            <a:chExt cx="1296" cy="797"/>
          </a:xfrm>
        </p:grpSpPr>
        <p:sp>
          <p:nvSpPr>
            <p:cNvPr id="285717" name="Freeform 21">
              <a:extLst>
                <a:ext uri="{FF2B5EF4-FFF2-40B4-BE49-F238E27FC236}">
                  <a16:creationId xmlns:a16="http://schemas.microsoft.com/office/drawing/2014/main" id="{6E5AE190-41DD-9DDD-2F21-3CC722A1EDBF}"/>
                </a:ext>
              </a:extLst>
            </p:cNvPr>
            <p:cNvSpPr>
              <a:spLocks/>
            </p:cNvSpPr>
            <p:nvPr/>
          </p:nvSpPr>
          <p:spPr bwMode="auto">
            <a:xfrm>
              <a:off x="1582" y="2287"/>
              <a:ext cx="903" cy="1"/>
            </a:xfrm>
            <a:custGeom>
              <a:avLst/>
              <a:gdLst>
                <a:gd name="T0" fmla="*/ 0 w 903"/>
                <a:gd name="T1" fmla="*/ 0 h 1"/>
                <a:gd name="T2" fmla="*/ 903 w 903"/>
                <a:gd name="T3" fmla="*/ 0 h 1"/>
              </a:gdLst>
              <a:ahLst/>
              <a:cxnLst>
                <a:cxn ang="0">
                  <a:pos x="T0" y="T1"/>
                </a:cxn>
                <a:cxn ang="0">
                  <a:pos x="T2" y="T3"/>
                </a:cxn>
              </a:cxnLst>
              <a:rect l="0" t="0" r="r" b="b"/>
              <a:pathLst>
                <a:path w="903" h="1">
                  <a:moveTo>
                    <a:pt x="0" y="0"/>
                  </a:moveTo>
                  <a:lnTo>
                    <a:pt x="903" y="0"/>
                  </a:lnTo>
                </a:path>
              </a:pathLst>
            </a:custGeom>
            <a:noFill/>
            <a:ln w="38100" cap="rnd" cmpd="sng">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5718" name="Freeform 22">
              <a:extLst>
                <a:ext uri="{FF2B5EF4-FFF2-40B4-BE49-F238E27FC236}">
                  <a16:creationId xmlns:a16="http://schemas.microsoft.com/office/drawing/2014/main" id="{745021FF-EC6E-ADDE-55CC-DBFA98B0C060}"/>
                </a:ext>
              </a:extLst>
            </p:cNvPr>
            <p:cNvSpPr>
              <a:spLocks/>
            </p:cNvSpPr>
            <p:nvPr/>
          </p:nvSpPr>
          <p:spPr bwMode="auto">
            <a:xfrm>
              <a:off x="2476" y="2313"/>
              <a:ext cx="1" cy="507"/>
            </a:xfrm>
            <a:custGeom>
              <a:avLst/>
              <a:gdLst>
                <a:gd name="T0" fmla="*/ 0 w 1"/>
                <a:gd name="T1" fmla="*/ 0 h 507"/>
                <a:gd name="T2" fmla="*/ 0 w 1"/>
                <a:gd name="T3" fmla="*/ 507 h 507"/>
              </a:gdLst>
              <a:ahLst/>
              <a:cxnLst>
                <a:cxn ang="0">
                  <a:pos x="T0" y="T1"/>
                </a:cxn>
                <a:cxn ang="0">
                  <a:pos x="T2" y="T3"/>
                </a:cxn>
              </a:cxnLst>
              <a:rect l="0" t="0" r="r" b="b"/>
              <a:pathLst>
                <a:path w="1" h="507">
                  <a:moveTo>
                    <a:pt x="0" y="0"/>
                  </a:moveTo>
                  <a:lnTo>
                    <a:pt x="0" y="507"/>
                  </a:lnTo>
                </a:path>
              </a:pathLst>
            </a:custGeom>
            <a:noFill/>
            <a:ln w="38100" cap="rnd" cmpd="sng">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5720" name="Text Box 24">
              <a:extLst>
                <a:ext uri="{FF2B5EF4-FFF2-40B4-BE49-F238E27FC236}">
                  <a16:creationId xmlns:a16="http://schemas.microsoft.com/office/drawing/2014/main" id="{F5E6B968-502B-0093-6F45-6EBAD5BE26DF}"/>
                </a:ext>
              </a:extLst>
            </p:cNvPr>
            <p:cNvSpPr txBox="1">
              <a:spLocks noChangeArrowheads="1"/>
            </p:cNvSpPr>
            <p:nvPr/>
          </p:nvSpPr>
          <p:spPr bwMode="auto">
            <a:xfrm>
              <a:off x="2400" y="2832"/>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L*</a:t>
              </a:r>
            </a:p>
          </p:txBody>
        </p:sp>
        <p:sp>
          <p:nvSpPr>
            <p:cNvPr id="285723" name="Text Box 27">
              <a:extLst>
                <a:ext uri="{FF2B5EF4-FFF2-40B4-BE49-F238E27FC236}">
                  <a16:creationId xmlns:a16="http://schemas.microsoft.com/office/drawing/2014/main" id="{41A66A80-89EC-FADC-5D8D-EDAE9CE1D1C0}"/>
                </a:ext>
              </a:extLst>
            </p:cNvPr>
            <p:cNvSpPr txBox="1">
              <a:spLocks noChangeArrowheads="1"/>
            </p:cNvSpPr>
            <p:nvPr/>
          </p:nvSpPr>
          <p:spPr bwMode="auto">
            <a:xfrm>
              <a:off x="1344" y="2208"/>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W*</a:t>
              </a:r>
            </a:p>
          </p:txBody>
        </p:sp>
      </p:grpSp>
      <p:grpSp>
        <p:nvGrpSpPr>
          <p:cNvPr id="285725" name="Group 29">
            <a:extLst>
              <a:ext uri="{FF2B5EF4-FFF2-40B4-BE49-F238E27FC236}">
                <a16:creationId xmlns:a16="http://schemas.microsoft.com/office/drawing/2014/main" id="{4F85EBD1-2D70-16B1-371B-86854653C25A}"/>
              </a:ext>
            </a:extLst>
          </p:cNvPr>
          <p:cNvGrpSpPr>
            <a:grpSpLocks/>
          </p:cNvGrpSpPr>
          <p:nvPr/>
        </p:nvGrpSpPr>
        <p:grpSpPr bwMode="auto">
          <a:xfrm>
            <a:off x="4267200" y="2438400"/>
            <a:ext cx="3581400" cy="2324100"/>
            <a:chOff x="1296" y="1536"/>
            <a:chExt cx="2256" cy="1464"/>
          </a:xfrm>
        </p:grpSpPr>
        <p:sp>
          <p:nvSpPr>
            <p:cNvPr id="285713" name="Line 17">
              <a:extLst>
                <a:ext uri="{FF2B5EF4-FFF2-40B4-BE49-F238E27FC236}">
                  <a16:creationId xmlns:a16="http://schemas.microsoft.com/office/drawing/2014/main" id="{B8C35006-F63B-A7B6-CC16-80185283DF69}"/>
                </a:ext>
              </a:extLst>
            </p:cNvPr>
            <p:cNvSpPr>
              <a:spLocks noChangeShapeType="1"/>
            </p:cNvSpPr>
            <p:nvPr/>
          </p:nvSpPr>
          <p:spPr bwMode="auto">
            <a:xfrm>
              <a:off x="1584" y="1536"/>
              <a:ext cx="0" cy="12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5714" name="Line 18">
              <a:extLst>
                <a:ext uri="{FF2B5EF4-FFF2-40B4-BE49-F238E27FC236}">
                  <a16:creationId xmlns:a16="http://schemas.microsoft.com/office/drawing/2014/main" id="{EAAF4943-8AA5-835F-1183-F0B6EAA6F69C}"/>
                </a:ext>
              </a:extLst>
            </p:cNvPr>
            <p:cNvSpPr>
              <a:spLocks noChangeShapeType="1"/>
            </p:cNvSpPr>
            <p:nvPr/>
          </p:nvSpPr>
          <p:spPr bwMode="auto">
            <a:xfrm>
              <a:off x="1584" y="2832"/>
              <a:ext cx="17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5719" name="Text Box 23">
              <a:extLst>
                <a:ext uri="{FF2B5EF4-FFF2-40B4-BE49-F238E27FC236}">
                  <a16:creationId xmlns:a16="http://schemas.microsoft.com/office/drawing/2014/main" id="{5B48F806-A9F6-A22B-DD6C-2435154669FC}"/>
                </a:ext>
              </a:extLst>
            </p:cNvPr>
            <p:cNvSpPr txBox="1">
              <a:spLocks noChangeArrowheads="1"/>
            </p:cNvSpPr>
            <p:nvPr/>
          </p:nvSpPr>
          <p:spPr bwMode="auto">
            <a:xfrm>
              <a:off x="3312" y="2827"/>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L</a:t>
              </a:r>
            </a:p>
          </p:txBody>
        </p:sp>
        <p:sp>
          <p:nvSpPr>
            <p:cNvPr id="285724" name="Text Box 28">
              <a:extLst>
                <a:ext uri="{FF2B5EF4-FFF2-40B4-BE49-F238E27FC236}">
                  <a16:creationId xmlns:a16="http://schemas.microsoft.com/office/drawing/2014/main" id="{198C0525-2B2F-BF15-2588-81F970C71417}"/>
                </a:ext>
              </a:extLst>
            </p:cNvPr>
            <p:cNvSpPr txBox="1">
              <a:spLocks noChangeArrowheads="1"/>
            </p:cNvSpPr>
            <p:nvPr/>
          </p:nvSpPr>
          <p:spPr bwMode="auto">
            <a:xfrm>
              <a:off x="1296" y="1536"/>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W</a:t>
              </a:r>
            </a:p>
          </p:txBody>
        </p:sp>
      </p:grpSp>
      <p:sp>
        <p:nvSpPr>
          <p:cNvPr id="285728" name="Rectangle 32">
            <a:extLst>
              <a:ext uri="{FF2B5EF4-FFF2-40B4-BE49-F238E27FC236}">
                <a16:creationId xmlns:a16="http://schemas.microsoft.com/office/drawing/2014/main" id="{FC42BDD2-B360-8601-8F19-6E1C678DC41D}"/>
              </a:ext>
            </a:extLst>
          </p:cNvPr>
          <p:cNvSpPr>
            <a:spLocks noRot="1" noChangeArrowheads="1"/>
          </p:cNvSpPr>
          <p:nvPr/>
        </p:nvSpPr>
        <p:spPr bwMode="auto">
          <a:xfrm>
            <a:off x="990600" y="2667000"/>
            <a:ext cx="304800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劳动力市场出清；工资水平与失业无关。</a:t>
            </a:r>
            <a:r>
              <a:rPr lang="zh-CN" altLang="en-US" sz="2800" b="1">
                <a:solidFill>
                  <a:schemeClr val="tx2"/>
                </a:solidFill>
              </a:rPr>
              <a:t>与什么有关？</a:t>
            </a:r>
          </a:p>
        </p:txBody>
      </p:sp>
      <p:sp>
        <p:nvSpPr>
          <p:cNvPr id="285729" name="Rectangle 33">
            <a:extLst>
              <a:ext uri="{FF2B5EF4-FFF2-40B4-BE49-F238E27FC236}">
                <a16:creationId xmlns:a16="http://schemas.microsoft.com/office/drawing/2014/main" id="{920FB8A4-5C3B-E79B-0C2B-C8A61C71BD21}"/>
              </a:ext>
            </a:extLst>
          </p:cNvPr>
          <p:cNvSpPr>
            <a:spLocks noRot="1" noChangeArrowheads="1"/>
          </p:cNvSpPr>
          <p:nvPr/>
        </p:nvSpPr>
        <p:spPr bwMode="auto">
          <a:xfrm>
            <a:off x="1066800" y="5867400"/>
            <a:ext cx="7162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400" b="1"/>
              <a:t>模型中没有失业；观察到的失业都是摩擦失业。</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285698"/>
                                        </p:tgtEl>
                                        <p:attrNameLst>
                                          <p:attrName>style.visibility</p:attrName>
                                        </p:attrNameLst>
                                      </p:cBhvr>
                                      <p:to>
                                        <p:strVal val="visible"/>
                                      </p:to>
                                    </p:set>
                                    <p:animEffect transition="in" filter="slide(fromTop)">
                                      <p:cBhvr>
                                        <p:cTn id="7" dur="500"/>
                                        <p:tgtEl>
                                          <p:spTgt spid="2856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285702"/>
                                        </p:tgtEl>
                                        <p:attrNameLst>
                                          <p:attrName>style.visibility</p:attrName>
                                        </p:attrNameLst>
                                      </p:cBhvr>
                                      <p:to>
                                        <p:strVal val="visible"/>
                                      </p:to>
                                    </p:set>
                                    <p:animEffect transition="in" filter="slide(fromBottom)">
                                      <p:cBhvr>
                                        <p:cTn id="12" dur="500"/>
                                        <p:tgtEl>
                                          <p:spTgt spid="2857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285725"/>
                                        </p:tgtEl>
                                        <p:attrNameLst>
                                          <p:attrName>style.visibility</p:attrName>
                                        </p:attrNameLst>
                                      </p:cBhvr>
                                      <p:to>
                                        <p:strVal val="visible"/>
                                      </p:to>
                                    </p:set>
                                    <p:animEffect transition="in" filter="box(out)">
                                      <p:cBhvr>
                                        <p:cTn id="17" dur="500"/>
                                        <p:tgtEl>
                                          <p:spTgt spid="28572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285726"/>
                                        </p:tgtEl>
                                        <p:attrNameLst>
                                          <p:attrName>style.visibility</p:attrName>
                                        </p:attrNameLst>
                                      </p:cBhvr>
                                      <p:to>
                                        <p:strVal val="visible"/>
                                      </p:to>
                                    </p:set>
                                    <p:animEffect transition="in" filter="box(out)">
                                      <p:cBhvr>
                                        <p:cTn id="22" dur="500"/>
                                        <p:tgtEl>
                                          <p:spTgt spid="28572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285727"/>
                                        </p:tgtEl>
                                        <p:attrNameLst>
                                          <p:attrName>style.visibility</p:attrName>
                                        </p:attrNameLst>
                                      </p:cBhvr>
                                      <p:to>
                                        <p:strVal val="visible"/>
                                      </p:to>
                                    </p:set>
                                    <p:animEffect transition="in" filter="box(out)">
                                      <p:cBhvr>
                                        <p:cTn id="27" dur="500"/>
                                        <p:tgtEl>
                                          <p:spTgt spid="28572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285728"/>
                                        </p:tgtEl>
                                        <p:attrNameLst>
                                          <p:attrName>style.visibility</p:attrName>
                                        </p:attrNameLst>
                                      </p:cBhvr>
                                      <p:to>
                                        <p:strVal val="visible"/>
                                      </p:to>
                                    </p:set>
                                    <p:animEffect transition="in" filter="slide(fromBottom)">
                                      <p:cBhvr>
                                        <p:cTn id="32" dur="500"/>
                                        <p:tgtEl>
                                          <p:spTgt spid="28572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285703"/>
                                        </p:tgtEl>
                                        <p:attrNameLst>
                                          <p:attrName>style.visibility</p:attrName>
                                        </p:attrNameLst>
                                      </p:cBhvr>
                                      <p:to>
                                        <p:strVal val="visible"/>
                                      </p:to>
                                    </p:set>
                                    <p:animEffect transition="in" filter="slide(fromBottom)">
                                      <p:cBhvr>
                                        <p:cTn id="37" dur="500"/>
                                        <p:tgtEl>
                                          <p:spTgt spid="28570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285729"/>
                                        </p:tgtEl>
                                        <p:attrNameLst>
                                          <p:attrName>style.visibility</p:attrName>
                                        </p:attrNameLst>
                                      </p:cBhvr>
                                      <p:to>
                                        <p:strVal val="visible"/>
                                      </p:to>
                                    </p:set>
                                    <p:animEffect transition="in" filter="slide(fromBottom)">
                                      <p:cBhvr>
                                        <p:cTn id="42" dur="500"/>
                                        <p:tgtEl>
                                          <p:spTgt spid="285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698" grpId="0" autoUpdateAnimBg="0"/>
      <p:bldP spid="285702" grpId="0" autoUpdateAnimBg="0"/>
      <p:bldP spid="285703" grpId="0" autoUpdateAnimBg="0"/>
      <p:bldP spid="285728" grpId="0" autoUpdateAnimBg="0"/>
      <p:bldP spid="285729"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1778" name="Rectangle 2">
            <a:extLst>
              <a:ext uri="{FF2B5EF4-FFF2-40B4-BE49-F238E27FC236}">
                <a16:creationId xmlns:a16="http://schemas.microsoft.com/office/drawing/2014/main" id="{B86E3BB8-9965-68CA-304E-586F927FD386}"/>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1.2 </a:t>
            </a:r>
            <a:r>
              <a:rPr lang="zh-CN" altLang="en-US" b="1">
                <a:solidFill>
                  <a:srgbClr val="CC0000"/>
                </a:solidFill>
              </a:rPr>
              <a:t>自然失业率</a:t>
            </a:r>
            <a:r>
              <a:rPr lang="en-US" altLang="zh-CN" b="1">
                <a:solidFill>
                  <a:srgbClr val="CC0000"/>
                </a:solidFill>
              </a:rPr>
              <a:t>_</a:t>
            </a:r>
            <a:r>
              <a:rPr lang="zh-CN" altLang="en-US" b="1">
                <a:solidFill>
                  <a:srgbClr val="CC0000"/>
                </a:solidFill>
              </a:rPr>
              <a:t>一个描述性模型</a:t>
            </a:r>
          </a:p>
        </p:txBody>
      </p:sp>
      <p:sp>
        <p:nvSpPr>
          <p:cNvPr id="331779" name="Rectangle 3">
            <a:extLst>
              <a:ext uri="{FF2B5EF4-FFF2-40B4-BE49-F238E27FC236}">
                <a16:creationId xmlns:a16="http://schemas.microsoft.com/office/drawing/2014/main" id="{418EA663-85E0-226B-57A1-56E7C90F353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31780" name="Rectangle 4">
            <a:extLst>
              <a:ext uri="{FF2B5EF4-FFF2-40B4-BE49-F238E27FC236}">
                <a16:creationId xmlns:a16="http://schemas.microsoft.com/office/drawing/2014/main" id="{68F30FFB-95C6-41EA-FFA9-88F25CE0D4F6}"/>
              </a:ext>
            </a:extLst>
          </p:cNvPr>
          <p:cNvSpPr>
            <a:spLocks noRot="1" noChangeArrowheads="1"/>
          </p:cNvSpPr>
          <p:nvPr/>
        </p:nvSpPr>
        <p:spPr bwMode="auto">
          <a:xfrm>
            <a:off x="1066800" y="1447800"/>
            <a:ext cx="80772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3200" b="1"/>
              <a:t>两个基本概念</a:t>
            </a:r>
          </a:p>
          <a:p>
            <a:pPr lvl="1">
              <a:spcBef>
                <a:spcPct val="20000"/>
              </a:spcBef>
              <a:buClr>
                <a:schemeClr val="hlink"/>
              </a:buClr>
              <a:buSzPct val="85000"/>
              <a:buFont typeface="Wingdings" panose="05000000000000000000" pitchFamily="2" charset="2"/>
              <a:buChar char="§"/>
            </a:pPr>
            <a:r>
              <a:rPr lang="zh-CN" altLang="en-US" sz="2000" b="1"/>
              <a:t>劳动力：劳动年龄人口中的就业者和正在积极找工作的失业者。</a:t>
            </a:r>
          </a:p>
        </p:txBody>
      </p:sp>
      <p:graphicFrame>
        <p:nvGraphicFramePr>
          <p:cNvPr id="331799" name="Object 23">
            <a:extLst>
              <a:ext uri="{FF2B5EF4-FFF2-40B4-BE49-F238E27FC236}">
                <a16:creationId xmlns:a16="http://schemas.microsoft.com/office/drawing/2014/main" id="{B14C1195-7839-78FF-4141-5F92C7DCEDF2}"/>
              </a:ext>
            </a:extLst>
          </p:cNvPr>
          <p:cNvGraphicFramePr>
            <a:graphicFrameLocks noChangeAspect="1"/>
          </p:cNvGraphicFramePr>
          <p:nvPr/>
        </p:nvGraphicFramePr>
        <p:xfrm>
          <a:off x="3200400" y="2454275"/>
          <a:ext cx="1219200" cy="365125"/>
        </p:xfrm>
        <a:graphic>
          <a:graphicData uri="http://schemas.openxmlformats.org/presentationml/2006/ole">
            <mc:AlternateContent xmlns:mc="http://schemas.openxmlformats.org/markup-compatibility/2006">
              <mc:Choice xmlns:v="urn:schemas-microsoft-com:vml" Requires="v">
                <p:oleObj name="Equation" r:id="rId2" imgW="761760" imgH="228600" progId="Equation.DSMT4">
                  <p:embed/>
                </p:oleObj>
              </mc:Choice>
              <mc:Fallback>
                <p:oleObj name="Equation" r:id="rId2" imgW="761760" imgH="228600" progId="Equation.DSMT4">
                  <p:embed/>
                  <p:pic>
                    <p:nvPicPr>
                      <p:cNvPr id="0" name="Object 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2454275"/>
                        <a:ext cx="1219200" cy="36512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1800" name="Rectangle 24">
            <a:extLst>
              <a:ext uri="{FF2B5EF4-FFF2-40B4-BE49-F238E27FC236}">
                <a16:creationId xmlns:a16="http://schemas.microsoft.com/office/drawing/2014/main" id="{35C3C272-1214-8640-1632-F71564166E69}"/>
              </a:ext>
            </a:extLst>
          </p:cNvPr>
          <p:cNvSpPr>
            <a:spLocks noRot="1" noChangeArrowheads="1"/>
          </p:cNvSpPr>
          <p:nvPr/>
        </p:nvSpPr>
        <p:spPr bwMode="auto">
          <a:xfrm>
            <a:off x="1066800" y="2971800"/>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000" b="1"/>
              <a:t>失业率：</a:t>
            </a:r>
          </a:p>
        </p:txBody>
      </p:sp>
      <p:graphicFrame>
        <p:nvGraphicFramePr>
          <p:cNvPr id="331801" name="Object 25">
            <a:extLst>
              <a:ext uri="{FF2B5EF4-FFF2-40B4-BE49-F238E27FC236}">
                <a16:creationId xmlns:a16="http://schemas.microsoft.com/office/drawing/2014/main" id="{6B70E96A-0F62-A3F8-FE4E-51B335F1D585}"/>
              </a:ext>
            </a:extLst>
          </p:cNvPr>
          <p:cNvGraphicFramePr>
            <a:graphicFrameLocks noChangeAspect="1"/>
          </p:cNvGraphicFramePr>
          <p:nvPr/>
        </p:nvGraphicFramePr>
        <p:xfrm>
          <a:off x="3327400" y="2892425"/>
          <a:ext cx="812800" cy="688975"/>
        </p:xfrm>
        <a:graphic>
          <a:graphicData uri="http://schemas.openxmlformats.org/presentationml/2006/ole">
            <mc:AlternateContent xmlns:mc="http://schemas.openxmlformats.org/markup-compatibility/2006">
              <mc:Choice xmlns:v="urn:schemas-microsoft-com:vml" Requires="v">
                <p:oleObj name="Equation" r:id="rId4" imgW="507960" imgH="431640" progId="Equation.DSMT4">
                  <p:embed/>
                </p:oleObj>
              </mc:Choice>
              <mc:Fallback>
                <p:oleObj name="Equation" r:id="rId4" imgW="507960" imgH="431640" progId="Equation.DSMT4">
                  <p:embed/>
                  <p:pic>
                    <p:nvPicPr>
                      <p:cNvPr id="0" name="Object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27400" y="2892425"/>
                        <a:ext cx="812800" cy="68897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1802" name="Rectangle 26">
            <a:extLst>
              <a:ext uri="{FF2B5EF4-FFF2-40B4-BE49-F238E27FC236}">
                <a16:creationId xmlns:a16="http://schemas.microsoft.com/office/drawing/2014/main" id="{9C025550-32AF-9C53-2D8A-4F0D56D00A5D}"/>
              </a:ext>
            </a:extLst>
          </p:cNvPr>
          <p:cNvSpPr>
            <a:spLocks noRot="1" noChangeArrowheads="1"/>
          </p:cNvSpPr>
          <p:nvPr/>
        </p:nvSpPr>
        <p:spPr bwMode="auto">
          <a:xfrm>
            <a:off x="1066800" y="3581400"/>
            <a:ext cx="76962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3200" b="1"/>
              <a:t>三个基本假定</a:t>
            </a:r>
          </a:p>
          <a:p>
            <a:pPr lvl="1">
              <a:spcBef>
                <a:spcPct val="20000"/>
              </a:spcBef>
              <a:buClr>
                <a:schemeClr val="hlink"/>
              </a:buClr>
              <a:buSzPct val="85000"/>
              <a:buFont typeface="Wingdings" panose="05000000000000000000" pitchFamily="2" charset="2"/>
              <a:buChar char="§"/>
            </a:pPr>
            <a:r>
              <a:rPr lang="zh-CN" altLang="en-US" sz="2400" b="1"/>
              <a:t>劳动力的增长速度等于人口增长速度，</a:t>
            </a:r>
            <a:r>
              <a:rPr lang="en-US" altLang="zh-CN" sz="2400" b="1"/>
              <a:t>n</a:t>
            </a:r>
            <a:r>
              <a:rPr lang="zh-CN" altLang="en-US" sz="2400" b="1"/>
              <a:t>。</a:t>
            </a:r>
          </a:p>
        </p:txBody>
      </p:sp>
      <p:sp>
        <p:nvSpPr>
          <p:cNvPr id="331803" name="Rectangle 27">
            <a:extLst>
              <a:ext uri="{FF2B5EF4-FFF2-40B4-BE49-F238E27FC236}">
                <a16:creationId xmlns:a16="http://schemas.microsoft.com/office/drawing/2014/main" id="{9CD097A9-161B-4390-A616-1CD4C5501366}"/>
              </a:ext>
            </a:extLst>
          </p:cNvPr>
          <p:cNvSpPr>
            <a:spLocks noRot="1" noChangeArrowheads="1"/>
          </p:cNvSpPr>
          <p:nvPr/>
        </p:nvSpPr>
        <p:spPr bwMode="auto">
          <a:xfrm>
            <a:off x="1066800" y="4800600"/>
            <a:ext cx="7696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400" b="1"/>
              <a:t>在每一期，就业者中将会有一部分人失去工作，所占比重记为</a:t>
            </a:r>
            <a:r>
              <a:rPr lang="en-US" altLang="zh-CN" sz="2400" b="1"/>
              <a:t>e</a:t>
            </a:r>
            <a:r>
              <a:rPr lang="zh-CN" altLang="en-US" sz="2400" b="1"/>
              <a:t>。</a:t>
            </a:r>
          </a:p>
        </p:txBody>
      </p:sp>
      <p:sp>
        <p:nvSpPr>
          <p:cNvPr id="331804" name="Rectangle 28">
            <a:extLst>
              <a:ext uri="{FF2B5EF4-FFF2-40B4-BE49-F238E27FC236}">
                <a16:creationId xmlns:a16="http://schemas.microsoft.com/office/drawing/2014/main" id="{94C31991-A44A-5F89-7FAC-082EB99F1FB0}"/>
              </a:ext>
            </a:extLst>
          </p:cNvPr>
          <p:cNvSpPr>
            <a:spLocks noRot="1" noChangeArrowheads="1"/>
          </p:cNvSpPr>
          <p:nvPr/>
        </p:nvSpPr>
        <p:spPr bwMode="auto">
          <a:xfrm>
            <a:off x="1066800" y="5715000"/>
            <a:ext cx="7696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400" b="1"/>
              <a:t>在每一期，失业者中将会有一部分人再就业，所占比重记为</a:t>
            </a:r>
            <a:r>
              <a:rPr lang="en-US" altLang="zh-CN" sz="2400" b="1"/>
              <a:t>b</a:t>
            </a:r>
            <a:r>
              <a:rPr lang="zh-CN" altLang="en-US" sz="2400" b="1"/>
              <a:t>。</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31778"/>
                                        </p:tgtEl>
                                        <p:attrNameLst>
                                          <p:attrName>style.visibility</p:attrName>
                                        </p:attrNameLst>
                                      </p:cBhvr>
                                      <p:to>
                                        <p:strVal val="visible"/>
                                      </p:to>
                                    </p:set>
                                    <p:animEffect transition="in" filter="slide(fromTop)">
                                      <p:cBhvr>
                                        <p:cTn id="7" dur="500"/>
                                        <p:tgtEl>
                                          <p:spTgt spid="3317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31780"/>
                                        </p:tgtEl>
                                        <p:attrNameLst>
                                          <p:attrName>style.visibility</p:attrName>
                                        </p:attrNameLst>
                                      </p:cBhvr>
                                      <p:to>
                                        <p:strVal val="visible"/>
                                      </p:to>
                                    </p:set>
                                    <p:animEffect transition="in" filter="slide(fromBottom)">
                                      <p:cBhvr>
                                        <p:cTn id="12" dur="500"/>
                                        <p:tgtEl>
                                          <p:spTgt spid="3317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1" fill="hold" nodeType="clickEffect">
                                  <p:stCondLst>
                                    <p:cond delay="0"/>
                                  </p:stCondLst>
                                  <p:childTnLst>
                                    <p:set>
                                      <p:cBhvr>
                                        <p:cTn id="16" dur="1" fill="hold">
                                          <p:stCondLst>
                                            <p:cond delay="0"/>
                                          </p:stCondLst>
                                        </p:cTn>
                                        <p:tgtEl>
                                          <p:spTgt spid="331799"/>
                                        </p:tgtEl>
                                        <p:attrNameLst>
                                          <p:attrName>style.visibility</p:attrName>
                                        </p:attrNameLst>
                                      </p:cBhvr>
                                      <p:to>
                                        <p:strVal val="visible"/>
                                      </p:to>
                                    </p:set>
                                    <p:animEffect transition="in" filter="slide(fromTop)">
                                      <p:cBhvr>
                                        <p:cTn id="17" dur="500"/>
                                        <p:tgtEl>
                                          <p:spTgt spid="3317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331800"/>
                                        </p:tgtEl>
                                        <p:attrNameLst>
                                          <p:attrName>style.visibility</p:attrName>
                                        </p:attrNameLst>
                                      </p:cBhvr>
                                      <p:to>
                                        <p:strVal val="visible"/>
                                      </p:to>
                                    </p:set>
                                    <p:animEffect transition="in" filter="slide(fromBottom)">
                                      <p:cBhvr>
                                        <p:cTn id="22" dur="500"/>
                                        <p:tgtEl>
                                          <p:spTgt spid="3318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nodeType="clickEffect">
                                  <p:stCondLst>
                                    <p:cond delay="0"/>
                                  </p:stCondLst>
                                  <p:childTnLst>
                                    <p:set>
                                      <p:cBhvr>
                                        <p:cTn id="26" dur="1" fill="hold">
                                          <p:stCondLst>
                                            <p:cond delay="0"/>
                                          </p:stCondLst>
                                        </p:cTn>
                                        <p:tgtEl>
                                          <p:spTgt spid="331801"/>
                                        </p:tgtEl>
                                        <p:attrNameLst>
                                          <p:attrName>style.visibility</p:attrName>
                                        </p:attrNameLst>
                                      </p:cBhvr>
                                      <p:to>
                                        <p:strVal val="visible"/>
                                      </p:to>
                                    </p:set>
                                    <p:animEffect transition="in" filter="slide(fromLeft)">
                                      <p:cBhvr>
                                        <p:cTn id="27" dur="500"/>
                                        <p:tgtEl>
                                          <p:spTgt spid="33180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331802"/>
                                        </p:tgtEl>
                                        <p:attrNameLst>
                                          <p:attrName>style.visibility</p:attrName>
                                        </p:attrNameLst>
                                      </p:cBhvr>
                                      <p:to>
                                        <p:strVal val="visible"/>
                                      </p:to>
                                    </p:set>
                                    <p:animEffect transition="in" filter="slide(fromBottom)">
                                      <p:cBhvr>
                                        <p:cTn id="32" dur="500"/>
                                        <p:tgtEl>
                                          <p:spTgt spid="33180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nodeType="clickEffect">
                                  <p:stCondLst>
                                    <p:cond delay="0"/>
                                  </p:stCondLst>
                                  <p:childTnLst>
                                    <p:set>
                                      <p:cBhvr>
                                        <p:cTn id="36" dur="1" fill="hold">
                                          <p:stCondLst>
                                            <p:cond delay="0"/>
                                          </p:stCondLst>
                                        </p:cTn>
                                        <p:tgtEl>
                                          <p:spTgt spid="331803"/>
                                        </p:tgtEl>
                                        <p:attrNameLst>
                                          <p:attrName>style.visibility</p:attrName>
                                        </p:attrNameLst>
                                      </p:cBhvr>
                                      <p:to>
                                        <p:strVal val="visible"/>
                                      </p:to>
                                    </p:set>
                                    <p:animEffect transition="in" filter="slide(fromBottom)">
                                      <p:cBhvr>
                                        <p:cTn id="37" dur="500"/>
                                        <p:tgtEl>
                                          <p:spTgt spid="33180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331804"/>
                                        </p:tgtEl>
                                        <p:attrNameLst>
                                          <p:attrName>style.visibility</p:attrName>
                                        </p:attrNameLst>
                                      </p:cBhvr>
                                      <p:to>
                                        <p:strVal val="visible"/>
                                      </p:to>
                                    </p:set>
                                    <p:animEffect transition="in" filter="slide(fromBottom)">
                                      <p:cBhvr>
                                        <p:cTn id="42" dur="500"/>
                                        <p:tgtEl>
                                          <p:spTgt spid="331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778" grpId="0" autoUpdateAnimBg="0"/>
      <p:bldP spid="331780" grpId="0" autoUpdateAnimBg="0"/>
      <p:bldP spid="331800" grpId="0" autoUpdateAnimBg="0"/>
      <p:bldP spid="331802" grpId="0" autoUpdateAnimBg="0"/>
      <p:bldP spid="331803" grpId="0" autoUpdateAnimBg="0"/>
      <p:bldP spid="33180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2802" name="Rectangle 2">
            <a:extLst>
              <a:ext uri="{FF2B5EF4-FFF2-40B4-BE49-F238E27FC236}">
                <a16:creationId xmlns:a16="http://schemas.microsoft.com/office/drawing/2014/main" id="{7C5499F1-2F53-7708-C977-CF15E9F337F2}"/>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1.2 </a:t>
            </a:r>
            <a:r>
              <a:rPr lang="zh-CN" altLang="en-US" b="1">
                <a:solidFill>
                  <a:srgbClr val="CC0000"/>
                </a:solidFill>
              </a:rPr>
              <a:t>自然失业率</a:t>
            </a:r>
            <a:r>
              <a:rPr lang="en-US" altLang="zh-CN" b="1">
                <a:solidFill>
                  <a:srgbClr val="CC0000"/>
                </a:solidFill>
              </a:rPr>
              <a:t>_</a:t>
            </a:r>
            <a:r>
              <a:rPr lang="zh-CN" altLang="en-US" b="1">
                <a:solidFill>
                  <a:srgbClr val="CC0000"/>
                </a:solidFill>
              </a:rPr>
              <a:t>一个描述性模型</a:t>
            </a:r>
          </a:p>
        </p:txBody>
      </p:sp>
      <p:sp>
        <p:nvSpPr>
          <p:cNvPr id="332803" name="Rectangle 3">
            <a:extLst>
              <a:ext uri="{FF2B5EF4-FFF2-40B4-BE49-F238E27FC236}">
                <a16:creationId xmlns:a16="http://schemas.microsoft.com/office/drawing/2014/main" id="{D1CE8306-D18D-7AC9-E539-41D4F98EC4C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32804" name="Rectangle 4">
            <a:extLst>
              <a:ext uri="{FF2B5EF4-FFF2-40B4-BE49-F238E27FC236}">
                <a16:creationId xmlns:a16="http://schemas.microsoft.com/office/drawing/2014/main" id="{CCD912F9-DF6C-B219-57E5-FBEE3FD03622}"/>
              </a:ext>
            </a:extLst>
          </p:cNvPr>
          <p:cNvSpPr>
            <a:spLocks noRot="1" noChangeArrowheads="1"/>
          </p:cNvSpPr>
          <p:nvPr/>
        </p:nvSpPr>
        <p:spPr bwMode="auto">
          <a:xfrm>
            <a:off x="1066800" y="1447800"/>
            <a:ext cx="5592763"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3200" b="1"/>
              <a:t>在时刻</a:t>
            </a:r>
            <a:r>
              <a:rPr lang="en-US" altLang="zh-CN" sz="3200" b="1"/>
              <a:t>t</a:t>
            </a:r>
            <a:r>
              <a:rPr lang="zh-CN" altLang="en-US" sz="3200" b="1"/>
              <a:t>，失业者的构成：</a:t>
            </a:r>
          </a:p>
          <a:p>
            <a:pPr lvl="1">
              <a:spcBef>
                <a:spcPct val="20000"/>
              </a:spcBef>
              <a:buClr>
                <a:schemeClr val="hlink"/>
              </a:buClr>
              <a:buSzPct val="85000"/>
              <a:buFont typeface="Wingdings" panose="05000000000000000000" pitchFamily="2" charset="2"/>
              <a:buChar char="§"/>
            </a:pPr>
            <a:r>
              <a:rPr lang="zh-CN" altLang="en-US" sz="2000" b="1"/>
              <a:t>在上一期，没有找到工作的失业者</a:t>
            </a:r>
          </a:p>
        </p:txBody>
      </p:sp>
      <p:graphicFrame>
        <p:nvGraphicFramePr>
          <p:cNvPr id="332805" name="Object 5">
            <a:extLst>
              <a:ext uri="{FF2B5EF4-FFF2-40B4-BE49-F238E27FC236}">
                <a16:creationId xmlns:a16="http://schemas.microsoft.com/office/drawing/2014/main" id="{8D724AAF-A240-D16C-8789-FF497D2BBCB8}"/>
              </a:ext>
            </a:extLst>
          </p:cNvPr>
          <p:cNvGraphicFramePr>
            <a:graphicFrameLocks noChangeAspect="1"/>
          </p:cNvGraphicFramePr>
          <p:nvPr/>
        </p:nvGraphicFramePr>
        <p:xfrm>
          <a:off x="6350000" y="2057400"/>
          <a:ext cx="1016000" cy="365125"/>
        </p:xfrm>
        <a:graphic>
          <a:graphicData uri="http://schemas.openxmlformats.org/presentationml/2006/ole">
            <mc:AlternateContent xmlns:mc="http://schemas.openxmlformats.org/markup-compatibility/2006">
              <mc:Choice xmlns:v="urn:schemas-microsoft-com:vml" Requires="v">
                <p:oleObj name="Equation" r:id="rId2" imgW="634680" imgH="228600" progId="Equation.DSMT4">
                  <p:embed/>
                </p:oleObj>
              </mc:Choice>
              <mc:Fallback>
                <p:oleObj name="Equation" r:id="rId2" imgW="634680" imgH="22860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00" y="2057400"/>
                        <a:ext cx="1016000" cy="36512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2806" name="Rectangle 6">
            <a:extLst>
              <a:ext uri="{FF2B5EF4-FFF2-40B4-BE49-F238E27FC236}">
                <a16:creationId xmlns:a16="http://schemas.microsoft.com/office/drawing/2014/main" id="{905032E3-C24D-D6F4-8A56-CB1563409603}"/>
              </a:ext>
            </a:extLst>
          </p:cNvPr>
          <p:cNvSpPr>
            <a:spLocks noRot="1" noChangeArrowheads="1"/>
          </p:cNvSpPr>
          <p:nvPr/>
        </p:nvSpPr>
        <p:spPr bwMode="auto">
          <a:xfrm>
            <a:off x="1042988" y="2565400"/>
            <a:ext cx="464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000" b="1"/>
              <a:t>在上一期，新增加的失业者</a:t>
            </a:r>
          </a:p>
        </p:txBody>
      </p:sp>
      <p:graphicFrame>
        <p:nvGraphicFramePr>
          <p:cNvPr id="332807" name="Object 7">
            <a:extLst>
              <a:ext uri="{FF2B5EF4-FFF2-40B4-BE49-F238E27FC236}">
                <a16:creationId xmlns:a16="http://schemas.microsoft.com/office/drawing/2014/main" id="{27B22D51-9C95-1FC0-5D1C-DCD07242C093}"/>
              </a:ext>
            </a:extLst>
          </p:cNvPr>
          <p:cNvGraphicFramePr>
            <a:graphicFrameLocks noChangeAspect="1"/>
          </p:cNvGraphicFramePr>
          <p:nvPr/>
        </p:nvGraphicFramePr>
        <p:xfrm>
          <a:off x="5802313" y="2676525"/>
          <a:ext cx="2009775" cy="363538"/>
        </p:xfrm>
        <a:graphic>
          <a:graphicData uri="http://schemas.openxmlformats.org/presentationml/2006/ole">
            <mc:AlternateContent xmlns:mc="http://schemas.openxmlformats.org/markup-compatibility/2006">
              <mc:Choice xmlns:v="urn:schemas-microsoft-com:vml" Requires="v">
                <p:oleObj name="Equation" r:id="rId4" imgW="1257120" imgH="228600" progId="Equation.DSMT4">
                  <p:embed/>
                </p:oleObj>
              </mc:Choice>
              <mc:Fallback>
                <p:oleObj name="Equation" r:id="rId4" imgW="1257120" imgH="2286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02313" y="2676525"/>
                        <a:ext cx="2009775" cy="36353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2808" name="Rectangle 8">
            <a:extLst>
              <a:ext uri="{FF2B5EF4-FFF2-40B4-BE49-F238E27FC236}">
                <a16:creationId xmlns:a16="http://schemas.microsoft.com/office/drawing/2014/main" id="{598ED715-C51B-6F06-1346-622611C38DBE}"/>
              </a:ext>
            </a:extLst>
          </p:cNvPr>
          <p:cNvSpPr>
            <a:spLocks noRot="1" noChangeArrowheads="1"/>
          </p:cNvSpPr>
          <p:nvPr/>
        </p:nvSpPr>
        <p:spPr bwMode="auto">
          <a:xfrm>
            <a:off x="1066800" y="3124200"/>
            <a:ext cx="7696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3200" b="1"/>
              <a:t>在时刻</a:t>
            </a:r>
            <a:r>
              <a:rPr lang="en-US" altLang="zh-CN" sz="3200" b="1"/>
              <a:t>t</a:t>
            </a:r>
            <a:r>
              <a:rPr lang="zh-CN" altLang="en-US" sz="3200" b="1"/>
              <a:t>，失业率就可以表示为</a:t>
            </a:r>
            <a:endParaRPr lang="zh-CN" altLang="en-US" sz="2400" b="1"/>
          </a:p>
        </p:txBody>
      </p:sp>
      <p:graphicFrame>
        <p:nvGraphicFramePr>
          <p:cNvPr id="332811" name="Object 11">
            <a:extLst>
              <a:ext uri="{FF2B5EF4-FFF2-40B4-BE49-F238E27FC236}">
                <a16:creationId xmlns:a16="http://schemas.microsoft.com/office/drawing/2014/main" id="{F459BEF8-314B-9A2D-EA93-12CE08A1C456}"/>
              </a:ext>
            </a:extLst>
          </p:cNvPr>
          <p:cNvGraphicFramePr>
            <a:graphicFrameLocks noChangeAspect="1"/>
          </p:cNvGraphicFramePr>
          <p:nvPr/>
        </p:nvGraphicFramePr>
        <p:xfrm>
          <a:off x="1435100" y="3957638"/>
          <a:ext cx="3533775" cy="690562"/>
        </p:xfrm>
        <a:graphic>
          <a:graphicData uri="http://schemas.openxmlformats.org/presentationml/2006/ole">
            <mc:AlternateContent xmlns:mc="http://schemas.openxmlformats.org/markup-compatibility/2006">
              <mc:Choice xmlns:v="urn:schemas-microsoft-com:vml" Requires="v">
                <p:oleObj name="Equation" r:id="rId6" imgW="2209680" imgH="431640" progId="Equation.DSMT4">
                  <p:embed/>
                </p:oleObj>
              </mc:Choice>
              <mc:Fallback>
                <p:oleObj name="Equation" r:id="rId6" imgW="2209680" imgH="431640"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5100" y="3957638"/>
                        <a:ext cx="3533775" cy="6905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2812" name="Object 12">
            <a:extLst>
              <a:ext uri="{FF2B5EF4-FFF2-40B4-BE49-F238E27FC236}">
                <a16:creationId xmlns:a16="http://schemas.microsoft.com/office/drawing/2014/main" id="{242865CE-DF3D-9DCE-D862-54315C0CD770}"/>
              </a:ext>
            </a:extLst>
          </p:cNvPr>
          <p:cNvGraphicFramePr>
            <a:graphicFrameLocks noChangeAspect="1"/>
          </p:cNvGraphicFramePr>
          <p:nvPr/>
        </p:nvGraphicFramePr>
        <p:xfrm>
          <a:off x="5181600" y="3957638"/>
          <a:ext cx="2274888" cy="690562"/>
        </p:xfrm>
        <a:graphic>
          <a:graphicData uri="http://schemas.openxmlformats.org/presentationml/2006/ole">
            <mc:AlternateContent xmlns:mc="http://schemas.openxmlformats.org/markup-compatibility/2006">
              <mc:Choice xmlns:v="urn:schemas-microsoft-com:vml" Requires="v">
                <p:oleObj name="Equation" r:id="rId8" imgW="1422360" imgH="431640" progId="Equation.DSMT4">
                  <p:embed/>
                </p:oleObj>
              </mc:Choice>
              <mc:Fallback>
                <p:oleObj name="Equation" r:id="rId8" imgW="1422360" imgH="431640"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81600" y="3957638"/>
                        <a:ext cx="2274888" cy="6905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2813" name="Object 13">
            <a:extLst>
              <a:ext uri="{FF2B5EF4-FFF2-40B4-BE49-F238E27FC236}">
                <a16:creationId xmlns:a16="http://schemas.microsoft.com/office/drawing/2014/main" id="{32B775D8-A789-DB70-728E-91AE3F7EBFE2}"/>
              </a:ext>
            </a:extLst>
          </p:cNvPr>
          <p:cNvGraphicFramePr>
            <a:graphicFrameLocks noChangeAspect="1"/>
          </p:cNvGraphicFramePr>
          <p:nvPr/>
        </p:nvGraphicFramePr>
        <p:xfrm>
          <a:off x="1403350" y="4872038"/>
          <a:ext cx="2822575" cy="690562"/>
        </p:xfrm>
        <a:graphic>
          <a:graphicData uri="http://schemas.openxmlformats.org/presentationml/2006/ole">
            <mc:AlternateContent xmlns:mc="http://schemas.openxmlformats.org/markup-compatibility/2006">
              <mc:Choice xmlns:v="urn:schemas-microsoft-com:vml" Requires="v">
                <p:oleObj name="Equation" r:id="rId10" imgW="1765080" imgH="431640" progId="Equation.DSMT4">
                  <p:embed/>
                </p:oleObj>
              </mc:Choice>
              <mc:Fallback>
                <p:oleObj name="Equation" r:id="rId10" imgW="1765080" imgH="431640" progId="Equation.DSMT4">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03350" y="4872038"/>
                        <a:ext cx="2822575" cy="690562"/>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2814" name="Object 14">
            <a:extLst>
              <a:ext uri="{FF2B5EF4-FFF2-40B4-BE49-F238E27FC236}">
                <a16:creationId xmlns:a16="http://schemas.microsoft.com/office/drawing/2014/main" id="{23161E2D-961A-CCEF-80BB-E0E0413174EE}"/>
              </a:ext>
            </a:extLst>
          </p:cNvPr>
          <p:cNvGraphicFramePr>
            <a:graphicFrameLocks noChangeAspect="1"/>
          </p:cNvGraphicFramePr>
          <p:nvPr/>
        </p:nvGraphicFramePr>
        <p:xfrm>
          <a:off x="4552950" y="4886325"/>
          <a:ext cx="2395538" cy="669925"/>
        </p:xfrm>
        <a:graphic>
          <a:graphicData uri="http://schemas.openxmlformats.org/presentationml/2006/ole">
            <mc:AlternateContent xmlns:mc="http://schemas.openxmlformats.org/markup-compatibility/2006">
              <mc:Choice xmlns:v="urn:schemas-microsoft-com:vml" Requires="v">
                <p:oleObj name="Equation" r:id="rId12" imgW="1498320" imgH="419040" progId="Equation.DSMT4">
                  <p:embed/>
                </p:oleObj>
              </mc:Choice>
              <mc:Fallback>
                <p:oleObj name="Equation" r:id="rId12" imgW="1498320" imgH="419040"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52950" y="4886325"/>
                        <a:ext cx="2395538" cy="669925"/>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2815" name="Object 15">
            <a:extLst>
              <a:ext uri="{FF2B5EF4-FFF2-40B4-BE49-F238E27FC236}">
                <a16:creationId xmlns:a16="http://schemas.microsoft.com/office/drawing/2014/main" id="{A71F0B8D-371C-BCAD-0F25-27F27F12F63B}"/>
              </a:ext>
            </a:extLst>
          </p:cNvPr>
          <p:cNvGraphicFramePr>
            <a:graphicFrameLocks noChangeAspect="1"/>
          </p:cNvGraphicFramePr>
          <p:nvPr/>
        </p:nvGraphicFramePr>
        <p:xfrm>
          <a:off x="1495425" y="5705475"/>
          <a:ext cx="4676775" cy="923925"/>
        </p:xfrm>
        <a:graphic>
          <a:graphicData uri="http://schemas.openxmlformats.org/presentationml/2006/ole">
            <mc:AlternateContent xmlns:mc="http://schemas.openxmlformats.org/markup-compatibility/2006">
              <mc:Choice xmlns:v="urn:schemas-microsoft-com:vml" Requires="v">
                <p:oleObj name="Equation" r:id="rId14" imgW="1828800" imgH="419040" progId="Equation.DSMT4">
                  <p:embed/>
                </p:oleObj>
              </mc:Choice>
              <mc:Fallback>
                <p:oleObj name="Equation" r:id="rId14" imgW="1828800" imgH="419040" progId="Equation.DSMT4">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95425" y="5705475"/>
                        <a:ext cx="4676775" cy="923925"/>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32802"/>
                                        </p:tgtEl>
                                        <p:attrNameLst>
                                          <p:attrName>style.visibility</p:attrName>
                                        </p:attrNameLst>
                                      </p:cBhvr>
                                      <p:to>
                                        <p:strVal val="visible"/>
                                      </p:to>
                                    </p:set>
                                    <p:animEffect transition="in" filter="slide(fromTop)">
                                      <p:cBhvr>
                                        <p:cTn id="7" dur="500"/>
                                        <p:tgtEl>
                                          <p:spTgt spid="3328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32804"/>
                                        </p:tgtEl>
                                        <p:attrNameLst>
                                          <p:attrName>style.visibility</p:attrName>
                                        </p:attrNameLst>
                                      </p:cBhvr>
                                      <p:to>
                                        <p:strVal val="visible"/>
                                      </p:to>
                                    </p:set>
                                    <p:animEffect transition="in" filter="slide(fromBottom)">
                                      <p:cBhvr>
                                        <p:cTn id="12" dur="500"/>
                                        <p:tgtEl>
                                          <p:spTgt spid="3328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nodeType="clickEffect">
                                  <p:stCondLst>
                                    <p:cond delay="0"/>
                                  </p:stCondLst>
                                  <p:childTnLst>
                                    <p:set>
                                      <p:cBhvr>
                                        <p:cTn id="16" dur="1" fill="hold">
                                          <p:stCondLst>
                                            <p:cond delay="0"/>
                                          </p:stCondLst>
                                        </p:cTn>
                                        <p:tgtEl>
                                          <p:spTgt spid="332805"/>
                                        </p:tgtEl>
                                        <p:attrNameLst>
                                          <p:attrName>style.visibility</p:attrName>
                                        </p:attrNameLst>
                                      </p:cBhvr>
                                      <p:to>
                                        <p:strVal val="visible"/>
                                      </p:to>
                                    </p:set>
                                    <p:animEffect transition="in" filter="slide(fromLeft)">
                                      <p:cBhvr>
                                        <p:cTn id="17" dur="500"/>
                                        <p:tgtEl>
                                          <p:spTgt spid="33280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332806"/>
                                        </p:tgtEl>
                                        <p:attrNameLst>
                                          <p:attrName>style.visibility</p:attrName>
                                        </p:attrNameLst>
                                      </p:cBhvr>
                                      <p:to>
                                        <p:strVal val="visible"/>
                                      </p:to>
                                    </p:set>
                                    <p:animEffect transition="in" filter="slide(fromBottom)">
                                      <p:cBhvr>
                                        <p:cTn id="22" dur="500"/>
                                        <p:tgtEl>
                                          <p:spTgt spid="3328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nodeType="clickEffect">
                                  <p:stCondLst>
                                    <p:cond delay="0"/>
                                  </p:stCondLst>
                                  <p:childTnLst>
                                    <p:set>
                                      <p:cBhvr>
                                        <p:cTn id="26" dur="1" fill="hold">
                                          <p:stCondLst>
                                            <p:cond delay="0"/>
                                          </p:stCondLst>
                                        </p:cTn>
                                        <p:tgtEl>
                                          <p:spTgt spid="332807"/>
                                        </p:tgtEl>
                                        <p:attrNameLst>
                                          <p:attrName>style.visibility</p:attrName>
                                        </p:attrNameLst>
                                      </p:cBhvr>
                                      <p:to>
                                        <p:strVal val="visible"/>
                                      </p:to>
                                    </p:set>
                                    <p:animEffect transition="in" filter="slide(fromLeft)">
                                      <p:cBhvr>
                                        <p:cTn id="27" dur="500"/>
                                        <p:tgtEl>
                                          <p:spTgt spid="33280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332808"/>
                                        </p:tgtEl>
                                        <p:attrNameLst>
                                          <p:attrName>style.visibility</p:attrName>
                                        </p:attrNameLst>
                                      </p:cBhvr>
                                      <p:to>
                                        <p:strVal val="visible"/>
                                      </p:to>
                                    </p:set>
                                    <p:animEffect transition="in" filter="slide(fromBottom)">
                                      <p:cBhvr>
                                        <p:cTn id="32" dur="500"/>
                                        <p:tgtEl>
                                          <p:spTgt spid="33280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1" fill="hold" nodeType="clickEffect">
                                  <p:stCondLst>
                                    <p:cond delay="0"/>
                                  </p:stCondLst>
                                  <p:childTnLst>
                                    <p:set>
                                      <p:cBhvr>
                                        <p:cTn id="36" dur="1" fill="hold">
                                          <p:stCondLst>
                                            <p:cond delay="0"/>
                                          </p:stCondLst>
                                        </p:cTn>
                                        <p:tgtEl>
                                          <p:spTgt spid="332811"/>
                                        </p:tgtEl>
                                        <p:attrNameLst>
                                          <p:attrName>style.visibility</p:attrName>
                                        </p:attrNameLst>
                                      </p:cBhvr>
                                      <p:to>
                                        <p:strVal val="visible"/>
                                      </p:to>
                                    </p:set>
                                    <p:animEffect transition="in" filter="slide(fromTop)">
                                      <p:cBhvr>
                                        <p:cTn id="37" dur="500"/>
                                        <p:tgtEl>
                                          <p:spTgt spid="3328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1" fill="hold" nodeType="clickEffect">
                                  <p:stCondLst>
                                    <p:cond delay="0"/>
                                  </p:stCondLst>
                                  <p:childTnLst>
                                    <p:set>
                                      <p:cBhvr>
                                        <p:cTn id="41" dur="1" fill="hold">
                                          <p:stCondLst>
                                            <p:cond delay="0"/>
                                          </p:stCondLst>
                                        </p:cTn>
                                        <p:tgtEl>
                                          <p:spTgt spid="332812"/>
                                        </p:tgtEl>
                                        <p:attrNameLst>
                                          <p:attrName>style.visibility</p:attrName>
                                        </p:attrNameLst>
                                      </p:cBhvr>
                                      <p:to>
                                        <p:strVal val="visible"/>
                                      </p:to>
                                    </p:set>
                                    <p:animEffect transition="in" filter="slide(fromTop)">
                                      <p:cBhvr>
                                        <p:cTn id="42" dur="500"/>
                                        <p:tgtEl>
                                          <p:spTgt spid="33281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1" fill="hold" nodeType="clickEffect">
                                  <p:stCondLst>
                                    <p:cond delay="0"/>
                                  </p:stCondLst>
                                  <p:childTnLst>
                                    <p:set>
                                      <p:cBhvr>
                                        <p:cTn id="46" dur="1" fill="hold">
                                          <p:stCondLst>
                                            <p:cond delay="0"/>
                                          </p:stCondLst>
                                        </p:cTn>
                                        <p:tgtEl>
                                          <p:spTgt spid="332813"/>
                                        </p:tgtEl>
                                        <p:attrNameLst>
                                          <p:attrName>style.visibility</p:attrName>
                                        </p:attrNameLst>
                                      </p:cBhvr>
                                      <p:to>
                                        <p:strVal val="visible"/>
                                      </p:to>
                                    </p:set>
                                    <p:animEffect transition="in" filter="slide(fromTop)">
                                      <p:cBhvr>
                                        <p:cTn id="47" dur="500"/>
                                        <p:tgtEl>
                                          <p:spTgt spid="33281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1" fill="hold" nodeType="clickEffect">
                                  <p:stCondLst>
                                    <p:cond delay="0"/>
                                  </p:stCondLst>
                                  <p:childTnLst>
                                    <p:set>
                                      <p:cBhvr>
                                        <p:cTn id="51" dur="1" fill="hold">
                                          <p:stCondLst>
                                            <p:cond delay="0"/>
                                          </p:stCondLst>
                                        </p:cTn>
                                        <p:tgtEl>
                                          <p:spTgt spid="332814"/>
                                        </p:tgtEl>
                                        <p:attrNameLst>
                                          <p:attrName>style.visibility</p:attrName>
                                        </p:attrNameLst>
                                      </p:cBhvr>
                                      <p:to>
                                        <p:strVal val="visible"/>
                                      </p:to>
                                    </p:set>
                                    <p:animEffect transition="in" filter="slide(fromTop)">
                                      <p:cBhvr>
                                        <p:cTn id="52" dur="500"/>
                                        <p:tgtEl>
                                          <p:spTgt spid="33281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1" fill="hold" nodeType="clickEffect">
                                  <p:stCondLst>
                                    <p:cond delay="0"/>
                                  </p:stCondLst>
                                  <p:childTnLst>
                                    <p:set>
                                      <p:cBhvr>
                                        <p:cTn id="56" dur="1" fill="hold">
                                          <p:stCondLst>
                                            <p:cond delay="0"/>
                                          </p:stCondLst>
                                        </p:cTn>
                                        <p:tgtEl>
                                          <p:spTgt spid="332815"/>
                                        </p:tgtEl>
                                        <p:attrNameLst>
                                          <p:attrName>style.visibility</p:attrName>
                                        </p:attrNameLst>
                                      </p:cBhvr>
                                      <p:to>
                                        <p:strVal val="visible"/>
                                      </p:to>
                                    </p:set>
                                    <p:animEffect transition="in" filter="slide(fromTop)">
                                      <p:cBhvr>
                                        <p:cTn id="57" dur="500"/>
                                        <p:tgtEl>
                                          <p:spTgt spid="3328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2" grpId="0" autoUpdateAnimBg="0"/>
      <p:bldP spid="332804" grpId="0" autoUpdateAnimBg="0"/>
      <p:bldP spid="332806" grpId="0" autoUpdateAnimBg="0"/>
      <p:bldP spid="332808"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5874" name="Rectangle 2">
            <a:extLst>
              <a:ext uri="{FF2B5EF4-FFF2-40B4-BE49-F238E27FC236}">
                <a16:creationId xmlns:a16="http://schemas.microsoft.com/office/drawing/2014/main" id="{4D43E235-89FE-6016-1723-9C8952A60BB9}"/>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1.2 </a:t>
            </a:r>
            <a:r>
              <a:rPr lang="zh-CN" altLang="en-US" b="1">
                <a:solidFill>
                  <a:srgbClr val="CC0000"/>
                </a:solidFill>
              </a:rPr>
              <a:t>自然失业率</a:t>
            </a:r>
            <a:r>
              <a:rPr lang="en-US" altLang="zh-CN" b="1">
                <a:solidFill>
                  <a:srgbClr val="CC0000"/>
                </a:solidFill>
              </a:rPr>
              <a:t>_</a:t>
            </a:r>
            <a:r>
              <a:rPr lang="zh-CN" altLang="en-US" b="1">
                <a:solidFill>
                  <a:srgbClr val="CC0000"/>
                </a:solidFill>
              </a:rPr>
              <a:t>一个描述性模型</a:t>
            </a:r>
          </a:p>
        </p:txBody>
      </p:sp>
      <p:sp>
        <p:nvSpPr>
          <p:cNvPr id="335875" name="Rectangle 3">
            <a:extLst>
              <a:ext uri="{FF2B5EF4-FFF2-40B4-BE49-F238E27FC236}">
                <a16:creationId xmlns:a16="http://schemas.microsoft.com/office/drawing/2014/main" id="{D0C01F87-5B55-22DA-D9E0-4D2F7C6BD36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35876" name="Rectangle 4">
            <a:extLst>
              <a:ext uri="{FF2B5EF4-FFF2-40B4-BE49-F238E27FC236}">
                <a16:creationId xmlns:a16="http://schemas.microsoft.com/office/drawing/2014/main" id="{372F7268-4358-4CE7-C470-62B96CDF74E5}"/>
              </a:ext>
            </a:extLst>
          </p:cNvPr>
          <p:cNvSpPr>
            <a:spLocks noRot="1" noChangeArrowheads="1"/>
          </p:cNvSpPr>
          <p:nvPr/>
        </p:nvSpPr>
        <p:spPr bwMode="auto">
          <a:xfrm>
            <a:off x="1219200" y="2819400"/>
            <a:ext cx="2590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3200" b="1"/>
              <a:t>稳定状态</a:t>
            </a:r>
            <a:endParaRPr lang="zh-CN" altLang="en-US" sz="2400" b="1"/>
          </a:p>
        </p:txBody>
      </p:sp>
      <p:graphicFrame>
        <p:nvGraphicFramePr>
          <p:cNvPr id="335877" name="Object 5">
            <a:extLst>
              <a:ext uri="{FF2B5EF4-FFF2-40B4-BE49-F238E27FC236}">
                <a16:creationId xmlns:a16="http://schemas.microsoft.com/office/drawing/2014/main" id="{D3C3C40A-875A-9345-E559-9AF338EF4E96}"/>
              </a:ext>
            </a:extLst>
          </p:cNvPr>
          <p:cNvGraphicFramePr>
            <a:graphicFrameLocks noChangeAspect="1"/>
          </p:cNvGraphicFramePr>
          <p:nvPr/>
        </p:nvGraphicFramePr>
        <p:xfrm>
          <a:off x="1371600" y="1524000"/>
          <a:ext cx="4222750" cy="923925"/>
        </p:xfrm>
        <a:graphic>
          <a:graphicData uri="http://schemas.openxmlformats.org/presentationml/2006/ole">
            <mc:AlternateContent xmlns:mc="http://schemas.openxmlformats.org/markup-compatibility/2006">
              <mc:Choice xmlns:v="urn:schemas-microsoft-com:vml" Requires="v">
                <p:oleObj name="Equation" r:id="rId2" imgW="1650960" imgH="419040" progId="Equation.DSMT4">
                  <p:embed/>
                </p:oleObj>
              </mc:Choice>
              <mc:Fallback>
                <p:oleObj name="Equation" r:id="rId2" imgW="1650960" imgH="41904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524000"/>
                        <a:ext cx="4222750" cy="92392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5878" name="Line 6">
            <a:extLst>
              <a:ext uri="{FF2B5EF4-FFF2-40B4-BE49-F238E27FC236}">
                <a16:creationId xmlns:a16="http://schemas.microsoft.com/office/drawing/2014/main" id="{7B677DFD-4189-FDE5-CC3B-3508EF598D64}"/>
              </a:ext>
            </a:extLst>
          </p:cNvPr>
          <p:cNvSpPr>
            <a:spLocks noChangeShapeType="1"/>
          </p:cNvSpPr>
          <p:nvPr/>
        </p:nvSpPr>
        <p:spPr bwMode="auto">
          <a:xfrm flipV="1">
            <a:off x="5562600" y="3498850"/>
            <a:ext cx="2895600" cy="685800"/>
          </a:xfrm>
          <a:prstGeom prst="line">
            <a:avLst/>
          </a:prstGeom>
          <a:noFill/>
          <a:ln w="571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335879" name="Group 7">
            <a:extLst>
              <a:ext uri="{FF2B5EF4-FFF2-40B4-BE49-F238E27FC236}">
                <a16:creationId xmlns:a16="http://schemas.microsoft.com/office/drawing/2014/main" id="{DCB5160B-51D8-90DE-A7E7-0C686386ECED}"/>
              </a:ext>
            </a:extLst>
          </p:cNvPr>
          <p:cNvGrpSpPr>
            <a:grpSpLocks/>
          </p:cNvGrpSpPr>
          <p:nvPr/>
        </p:nvGrpSpPr>
        <p:grpSpPr bwMode="auto">
          <a:xfrm>
            <a:off x="5562600" y="2889250"/>
            <a:ext cx="3352800" cy="1981200"/>
            <a:chOff x="3504" y="1820"/>
            <a:chExt cx="2112" cy="1248"/>
          </a:xfrm>
        </p:grpSpPr>
        <p:sp>
          <p:nvSpPr>
            <p:cNvPr id="335880" name="Line 8">
              <a:extLst>
                <a:ext uri="{FF2B5EF4-FFF2-40B4-BE49-F238E27FC236}">
                  <a16:creationId xmlns:a16="http://schemas.microsoft.com/office/drawing/2014/main" id="{2ED98089-48E2-A4C8-4494-C9D62F4B5A90}"/>
                </a:ext>
              </a:extLst>
            </p:cNvPr>
            <p:cNvSpPr>
              <a:spLocks noChangeShapeType="1"/>
            </p:cNvSpPr>
            <p:nvPr/>
          </p:nvSpPr>
          <p:spPr bwMode="auto">
            <a:xfrm flipV="1">
              <a:off x="3504" y="1916"/>
              <a:ext cx="1488" cy="1152"/>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5881" name="Text Box 9">
              <a:extLst>
                <a:ext uri="{FF2B5EF4-FFF2-40B4-BE49-F238E27FC236}">
                  <a16:creationId xmlns:a16="http://schemas.microsoft.com/office/drawing/2014/main" id="{97412286-A7E9-36CF-7BA4-CAE33E0279E3}"/>
                </a:ext>
              </a:extLst>
            </p:cNvPr>
            <p:cNvSpPr txBox="1">
              <a:spLocks noChangeArrowheads="1"/>
            </p:cNvSpPr>
            <p:nvPr/>
          </p:nvSpPr>
          <p:spPr bwMode="auto">
            <a:xfrm>
              <a:off x="4896" y="1820"/>
              <a:ext cx="72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solidFill>
                    <a:schemeClr val="tx2"/>
                  </a:solidFill>
                </a:rPr>
                <a:t>45</a:t>
              </a:r>
              <a:r>
                <a:rPr lang="zh-CN" altLang="en-US" b="1">
                  <a:solidFill>
                    <a:schemeClr val="tx2"/>
                  </a:solidFill>
                </a:rPr>
                <a:t>度线</a:t>
              </a:r>
            </a:p>
          </p:txBody>
        </p:sp>
      </p:grpSp>
      <p:sp>
        <p:nvSpPr>
          <p:cNvPr id="335882" name="Text Box 10">
            <a:extLst>
              <a:ext uri="{FF2B5EF4-FFF2-40B4-BE49-F238E27FC236}">
                <a16:creationId xmlns:a16="http://schemas.microsoft.com/office/drawing/2014/main" id="{16C53945-0DC4-8BD5-0856-87E7E2391210}"/>
              </a:ext>
            </a:extLst>
          </p:cNvPr>
          <p:cNvSpPr txBox="1">
            <a:spLocks noChangeArrowheads="1"/>
          </p:cNvSpPr>
          <p:nvPr/>
        </p:nvSpPr>
        <p:spPr bwMode="auto">
          <a:xfrm>
            <a:off x="8305800" y="4892675"/>
            <a:ext cx="381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endParaRPr lang="zh-CN" altLang="zh-CN" b="1"/>
          </a:p>
        </p:txBody>
      </p:sp>
      <p:grpSp>
        <p:nvGrpSpPr>
          <p:cNvPr id="335883" name="Group 11">
            <a:extLst>
              <a:ext uri="{FF2B5EF4-FFF2-40B4-BE49-F238E27FC236}">
                <a16:creationId xmlns:a16="http://schemas.microsoft.com/office/drawing/2014/main" id="{3AD2A852-7B85-1406-170B-BAAA4D1E1C73}"/>
              </a:ext>
            </a:extLst>
          </p:cNvPr>
          <p:cNvGrpSpPr>
            <a:grpSpLocks/>
          </p:cNvGrpSpPr>
          <p:nvPr/>
        </p:nvGrpSpPr>
        <p:grpSpPr bwMode="auto">
          <a:xfrm>
            <a:off x="5181600" y="2736850"/>
            <a:ext cx="3810000" cy="2341563"/>
            <a:chOff x="3264" y="1724"/>
            <a:chExt cx="2400" cy="1475"/>
          </a:xfrm>
        </p:grpSpPr>
        <p:sp>
          <p:nvSpPr>
            <p:cNvPr id="335884" name="Line 12">
              <a:extLst>
                <a:ext uri="{FF2B5EF4-FFF2-40B4-BE49-F238E27FC236}">
                  <a16:creationId xmlns:a16="http://schemas.microsoft.com/office/drawing/2014/main" id="{D5AD0104-0B1A-1C3F-7D2B-799AFF839D99}"/>
                </a:ext>
              </a:extLst>
            </p:cNvPr>
            <p:cNvSpPr>
              <a:spLocks noChangeShapeType="1"/>
            </p:cNvSpPr>
            <p:nvPr/>
          </p:nvSpPr>
          <p:spPr bwMode="auto">
            <a:xfrm>
              <a:off x="3504" y="1791"/>
              <a:ext cx="0" cy="12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5885" name="Line 13">
              <a:extLst>
                <a:ext uri="{FF2B5EF4-FFF2-40B4-BE49-F238E27FC236}">
                  <a16:creationId xmlns:a16="http://schemas.microsoft.com/office/drawing/2014/main" id="{CF91984D-A2C7-E325-BFA4-CA3AD0228DC2}"/>
                </a:ext>
              </a:extLst>
            </p:cNvPr>
            <p:cNvSpPr>
              <a:spLocks noChangeShapeType="1"/>
            </p:cNvSpPr>
            <p:nvPr/>
          </p:nvSpPr>
          <p:spPr bwMode="auto">
            <a:xfrm>
              <a:off x="3504" y="3087"/>
              <a:ext cx="17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335886" name="Object 14">
              <a:extLst>
                <a:ext uri="{FF2B5EF4-FFF2-40B4-BE49-F238E27FC236}">
                  <a16:creationId xmlns:a16="http://schemas.microsoft.com/office/drawing/2014/main" id="{CC1BC5D9-5203-975F-6DB2-B426F50125EF}"/>
                </a:ext>
              </a:extLst>
            </p:cNvPr>
            <p:cNvGraphicFramePr>
              <a:graphicFrameLocks noChangeAspect="1"/>
            </p:cNvGraphicFramePr>
            <p:nvPr/>
          </p:nvGraphicFramePr>
          <p:xfrm>
            <a:off x="5328" y="2924"/>
            <a:ext cx="336" cy="275"/>
          </p:xfrm>
          <a:graphic>
            <a:graphicData uri="http://schemas.openxmlformats.org/presentationml/2006/ole">
              <mc:AlternateContent xmlns:mc="http://schemas.openxmlformats.org/markup-compatibility/2006">
                <mc:Choice xmlns:v="urn:schemas-microsoft-com:vml" Requires="v">
                  <p:oleObj name="Equation" r:id="rId4" imgW="241200" imgH="228600" progId="Equation.DSMT4">
                    <p:embed/>
                  </p:oleObj>
                </mc:Choice>
                <mc:Fallback>
                  <p:oleObj name="Equation" r:id="rId4" imgW="241200" imgH="228600" progId="Equation.DSMT4">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28" y="2924"/>
                          <a:ext cx="336"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5887" name="Object 15">
              <a:extLst>
                <a:ext uri="{FF2B5EF4-FFF2-40B4-BE49-F238E27FC236}">
                  <a16:creationId xmlns:a16="http://schemas.microsoft.com/office/drawing/2014/main" id="{0F43B1A2-8461-DA16-700B-F6C8BC764D5F}"/>
                </a:ext>
              </a:extLst>
            </p:cNvPr>
            <p:cNvGraphicFramePr>
              <a:graphicFrameLocks noChangeAspect="1"/>
            </p:cNvGraphicFramePr>
            <p:nvPr/>
          </p:nvGraphicFramePr>
          <p:xfrm>
            <a:off x="3264" y="1724"/>
            <a:ext cx="192" cy="288"/>
          </p:xfrm>
          <a:graphic>
            <a:graphicData uri="http://schemas.openxmlformats.org/presentationml/2006/ole">
              <mc:AlternateContent xmlns:mc="http://schemas.openxmlformats.org/markup-compatibility/2006">
                <mc:Choice xmlns:v="urn:schemas-microsoft-com:vml" Requires="v">
                  <p:oleObj name="Equation" r:id="rId6" imgW="152280" imgH="228600" progId="Equation.DSMT4">
                    <p:embed/>
                  </p:oleObj>
                </mc:Choice>
                <mc:Fallback>
                  <p:oleObj name="Equation" r:id="rId6" imgW="152280" imgH="228600" progId="Equation.DSMT4">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64" y="1724"/>
                          <a:ext cx="1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35888" name="Group 16">
            <a:extLst>
              <a:ext uri="{FF2B5EF4-FFF2-40B4-BE49-F238E27FC236}">
                <a16:creationId xmlns:a16="http://schemas.microsoft.com/office/drawing/2014/main" id="{2BA243E3-6259-D65C-F2F8-26213B123819}"/>
              </a:ext>
            </a:extLst>
          </p:cNvPr>
          <p:cNvGrpSpPr>
            <a:grpSpLocks/>
          </p:cNvGrpSpPr>
          <p:nvPr/>
        </p:nvGrpSpPr>
        <p:grpSpPr bwMode="auto">
          <a:xfrm>
            <a:off x="5105400" y="3651250"/>
            <a:ext cx="2014538" cy="1682750"/>
            <a:chOff x="3216" y="2300"/>
            <a:chExt cx="1269" cy="1060"/>
          </a:xfrm>
        </p:grpSpPr>
        <p:sp>
          <p:nvSpPr>
            <p:cNvPr id="335889" name="Freeform 17">
              <a:extLst>
                <a:ext uri="{FF2B5EF4-FFF2-40B4-BE49-F238E27FC236}">
                  <a16:creationId xmlns:a16="http://schemas.microsoft.com/office/drawing/2014/main" id="{76E9E23C-C019-311C-09DB-6357D871599E}"/>
                </a:ext>
              </a:extLst>
            </p:cNvPr>
            <p:cNvSpPr>
              <a:spLocks/>
            </p:cNvSpPr>
            <p:nvPr/>
          </p:nvSpPr>
          <p:spPr bwMode="auto">
            <a:xfrm>
              <a:off x="3511" y="2430"/>
              <a:ext cx="800" cy="1"/>
            </a:xfrm>
            <a:custGeom>
              <a:avLst/>
              <a:gdLst>
                <a:gd name="T0" fmla="*/ 0 w 800"/>
                <a:gd name="T1" fmla="*/ 0 h 1"/>
                <a:gd name="T2" fmla="*/ 800 w 800"/>
                <a:gd name="T3" fmla="*/ 0 h 1"/>
              </a:gdLst>
              <a:ahLst/>
              <a:cxnLst>
                <a:cxn ang="0">
                  <a:pos x="T0" y="T1"/>
                </a:cxn>
                <a:cxn ang="0">
                  <a:pos x="T2" y="T3"/>
                </a:cxn>
              </a:cxnLst>
              <a:rect l="0" t="0" r="r" b="b"/>
              <a:pathLst>
                <a:path w="800" h="1">
                  <a:moveTo>
                    <a:pt x="0" y="0"/>
                  </a:moveTo>
                  <a:lnTo>
                    <a:pt x="800" y="0"/>
                  </a:lnTo>
                </a:path>
              </a:pathLst>
            </a:custGeom>
            <a:noFill/>
            <a:ln w="38100" cap="rnd" cmpd="sng">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5890" name="Freeform 18">
              <a:extLst>
                <a:ext uri="{FF2B5EF4-FFF2-40B4-BE49-F238E27FC236}">
                  <a16:creationId xmlns:a16="http://schemas.microsoft.com/office/drawing/2014/main" id="{D3595E6A-560A-8247-C538-FAEDDFF1B8CE}"/>
                </a:ext>
              </a:extLst>
            </p:cNvPr>
            <p:cNvSpPr>
              <a:spLocks/>
            </p:cNvSpPr>
            <p:nvPr/>
          </p:nvSpPr>
          <p:spPr bwMode="auto">
            <a:xfrm flipH="1">
              <a:off x="4253" y="2453"/>
              <a:ext cx="47" cy="615"/>
            </a:xfrm>
            <a:custGeom>
              <a:avLst/>
              <a:gdLst>
                <a:gd name="T0" fmla="*/ 0 w 1"/>
                <a:gd name="T1" fmla="*/ 0 h 507"/>
                <a:gd name="T2" fmla="*/ 0 w 1"/>
                <a:gd name="T3" fmla="*/ 507 h 507"/>
              </a:gdLst>
              <a:ahLst/>
              <a:cxnLst>
                <a:cxn ang="0">
                  <a:pos x="T0" y="T1"/>
                </a:cxn>
                <a:cxn ang="0">
                  <a:pos x="T2" y="T3"/>
                </a:cxn>
              </a:cxnLst>
              <a:rect l="0" t="0" r="r" b="b"/>
              <a:pathLst>
                <a:path w="1" h="507">
                  <a:moveTo>
                    <a:pt x="0" y="0"/>
                  </a:moveTo>
                  <a:lnTo>
                    <a:pt x="0" y="507"/>
                  </a:lnTo>
                </a:path>
              </a:pathLst>
            </a:custGeom>
            <a:noFill/>
            <a:ln w="38100" cap="rnd" cmpd="sng">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335891" name="Object 19">
              <a:extLst>
                <a:ext uri="{FF2B5EF4-FFF2-40B4-BE49-F238E27FC236}">
                  <a16:creationId xmlns:a16="http://schemas.microsoft.com/office/drawing/2014/main" id="{97F55E4D-3A16-A402-E1EE-9B014824E1FE}"/>
                </a:ext>
              </a:extLst>
            </p:cNvPr>
            <p:cNvGraphicFramePr>
              <a:graphicFrameLocks noChangeAspect="1"/>
            </p:cNvGraphicFramePr>
            <p:nvPr/>
          </p:nvGraphicFramePr>
          <p:xfrm>
            <a:off x="4202" y="3146"/>
            <a:ext cx="283" cy="214"/>
          </p:xfrm>
          <a:graphic>
            <a:graphicData uri="http://schemas.openxmlformats.org/presentationml/2006/ole">
              <mc:AlternateContent xmlns:mc="http://schemas.openxmlformats.org/markup-compatibility/2006">
                <mc:Choice xmlns:v="urn:schemas-microsoft-com:vml" Requires="v">
                  <p:oleObj name="Equation" r:id="rId8" imgW="203040" imgH="177480" progId="Equation.DSMT4">
                    <p:embed/>
                  </p:oleObj>
                </mc:Choice>
                <mc:Fallback>
                  <p:oleObj name="Equation" r:id="rId8" imgW="203040" imgH="177480" progId="Equation.DSMT4">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02" y="3146"/>
                          <a:ext cx="283"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5892" name="Object 20">
              <a:extLst>
                <a:ext uri="{FF2B5EF4-FFF2-40B4-BE49-F238E27FC236}">
                  <a16:creationId xmlns:a16="http://schemas.microsoft.com/office/drawing/2014/main" id="{11635136-71B1-11ED-961A-A0BFCA7FC05B}"/>
                </a:ext>
              </a:extLst>
            </p:cNvPr>
            <p:cNvGraphicFramePr>
              <a:graphicFrameLocks noChangeAspect="1"/>
            </p:cNvGraphicFramePr>
            <p:nvPr/>
          </p:nvGraphicFramePr>
          <p:xfrm>
            <a:off x="3216" y="2300"/>
            <a:ext cx="283" cy="214"/>
          </p:xfrm>
          <a:graphic>
            <a:graphicData uri="http://schemas.openxmlformats.org/presentationml/2006/ole">
              <mc:AlternateContent xmlns:mc="http://schemas.openxmlformats.org/markup-compatibility/2006">
                <mc:Choice xmlns:v="urn:schemas-microsoft-com:vml" Requires="v">
                  <p:oleObj name="Equation" r:id="rId10" imgW="203040" imgH="177480" progId="Equation.DSMT4">
                    <p:embed/>
                  </p:oleObj>
                </mc:Choice>
                <mc:Fallback>
                  <p:oleObj name="Equation" r:id="rId10" imgW="203040" imgH="177480" progId="Equation.DSMT4">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16" y="2300"/>
                          <a:ext cx="283"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35893" name="Line 21">
            <a:extLst>
              <a:ext uri="{FF2B5EF4-FFF2-40B4-BE49-F238E27FC236}">
                <a16:creationId xmlns:a16="http://schemas.microsoft.com/office/drawing/2014/main" id="{B41F72C5-587C-5C6A-BEC4-CD93AA0A28C8}"/>
              </a:ext>
            </a:extLst>
          </p:cNvPr>
          <p:cNvSpPr>
            <a:spLocks noChangeShapeType="1"/>
          </p:cNvSpPr>
          <p:nvPr/>
        </p:nvSpPr>
        <p:spPr bwMode="auto">
          <a:xfrm>
            <a:off x="5791200" y="41910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5894" name="Line 22">
            <a:extLst>
              <a:ext uri="{FF2B5EF4-FFF2-40B4-BE49-F238E27FC236}">
                <a16:creationId xmlns:a16="http://schemas.microsoft.com/office/drawing/2014/main" id="{6E99C736-95E3-B8DB-02E0-A169233A340A}"/>
              </a:ext>
            </a:extLst>
          </p:cNvPr>
          <p:cNvSpPr>
            <a:spLocks noChangeShapeType="1"/>
          </p:cNvSpPr>
          <p:nvPr/>
        </p:nvSpPr>
        <p:spPr bwMode="auto">
          <a:xfrm flipV="1">
            <a:off x="6400800" y="3962400"/>
            <a:ext cx="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335895" name="Group 23">
            <a:extLst>
              <a:ext uri="{FF2B5EF4-FFF2-40B4-BE49-F238E27FC236}">
                <a16:creationId xmlns:a16="http://schemas.microsoft.com/office/drawing/2014/main" id="{867DD337-A791-D64A-C601-233E60629FB5}"/>
              </a:ext>
            </a:extLst>
          </p:cNvPr>
          <p:cNvGrpSpPr>
            <a:grpSpLocks/>
          </p:cNvGrpSpPr>
          <p:nvPr/>
        </p:nvGrpSpPr>
        <p:grpSpPr bwMode="auto">
          <a:xfrm>
            <a:off x="5638800" y="4114800"/>
            <a:ext cx="457200" cy="1143000"/>
            <a:chOff x="3552" y="2592"/>
            <a:chExt cx="288" cy="720"/>
          </a:xfrm>
        </p:grpSpPr>
        <p:sp>
          <p:nvSpPr>
            <p:cNvPr id="335896" name="Line 24">
              <a:extLst>
                <a:ext uri="{FF2B5EF4-FFF2-40B4-BE49-F238E27FC236}">
                  <a16:creationId xmlns:a16="http://schemas.microsoft.com/office/drawing/2014/main" id="{E2FC5014-3F2B-8F28-1119-3974B16C8648}"/>
                </a:ext>
              </a:extLst>
            </p:cNvPr>
            <p:cNvSpPr>
              <a:spLocks noChangeShapeType="1"/>
            </p:cNvSpPr>
            <p:nvPr/>
          </p:nvSpPr>
          <p:spPr bwMode="auto">
            <a:xfrm flipV="1">
              <a:off x="3648" y="2592"/>
              <a:ext cx="0"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335897" name="Object 25">
              <a:extLst>
                <a:ext uri="{FF2B5EF4-FFF2-40B4-BE49-F238E27FC236}">
                  <a16:creationId xmlns:a16="http://schemas.microsoft.com/office/drawing/2014/main" id="{C9243B21-E665-626C-C89F-90618F60A89E}"/>
                </a:ext>
              </a:extLst>
            </p:cNvPr>
            <p:cNvGraphicFramePr>
              <a:graphicFrameLocks noChangeAspect="1"/>
            </p:cNvGraphicFramePr>
            <p:nvPr/>
          </p:nvGraphicFramePr>
          <p:xfrm>
            <a:off x="3552" y="3024"/>
            <a:ext cx="288" cy="288"/>
          </p:xfrm>
          <a:graphic>
            <a:graphicData uri="http://schemas.openxmlformats.org/presentationml/2006/ole">
              <mc:AlternateContent xmlns:mc="http://schemas.openxmlformats.org/markup-compatibility/2006">
                <mc:Choice xmlns:v="urn:schemas-microsoft-com:vml" Requires="v">
                  <p:oleObj name="Equation" r:id="rId11" imgW="164880" imgH="228600" progId="Equation.DSMT4">
                    <p:embed/>
                  </p:oleObj>
                </mc:Choice>
                <mc:Fallback>
                  <p:oleObj name="Equation" r:id="rId11" imgW="164880" imgH="228600" progId="Equation.DSMT4">
                    <p:embed/>
                    <p:pic>
                      <p:nvPicPr>
                        <p:cNvPr id="0"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52" y="3024"/>
                          <a:ext cx="28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35898" name="Line 26">
            <a:extLst>
              <a:ext uri="{FF2B5EF4-FFF2-40B4-BE49-F238E27FC236}">
                <a16:creationId xmlns:a16="http://schemas.microsoft.com/office/drawing/2014/main" id="{74E60321-D784-EAF6-8387-8EE13F4F8CB3}"/>
              </a:ext>
            </a:extLst>
          </p:cNvPr>
          <p:cNvSpPr>
            <a:spLocks noChangeShapeType="1"/>
          </p:cNvSpPr>
          <p:nvPr/>
        </p:nvSpPr>
        <p:spPr bwMode="auto">
          <a:xfrm>
            <a:off x="6400800" y="39624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335899" name="Object 27">
            <a:extLst>
              <a:ext uri="{FF2B5EF4-FFF2-40B4-BE49-F238E27FC236}">
                <a16:creationId xmlns:a16="http://schemas.microsoft.com/office/drawing/2014/main" id="{D16282ED-ABCD-5200-20DC-8AD2CF6A3BDA}"/>
              </a:ext>
            </a:extLst>
          </p:cNvPr>
          <p:cNvGraphicFramePr>
            <a:graphicFrameLocks noChangeAspect="1"/>
          </p:cNvGraphicFramePr>
          <p:nvPr/>
        </p:nvGraphicFramePr>
        <p:xfrm>
          <a:off x="1600200" y="3657600"/>
          <a:ext cx="2176463" cy="868363"/>
        </p:xfrm>
        <a:graphic>
          <a:graphicData uri="http://schemas.openxmlformats.org/presentationml/2006/ole">
            <mc:AlternateContent xmlns:mc="http://schemas.openxmlformats.org/markup-compatibility/2006">
              <mc:Choice xmlns:v="urn:schemas-microsoft-com:vml" Requires="v">
                <p:oleObj name="Equation" r:id="rId13" imgW="850680" imgH="393480" progId="Equation.DSMT4">
                  <p:embed/>
                </p:oleObj>
              </mc:Choice>
              <mc:Fallback>
                <p:oleObj name="Equation" r:id="rId13" imgW="850680" imgH="393480" progId="Equation.DSMT4">
                  <p:embed/>
                  <p:pic>
                    <p:nvPicPr>
                      <p:cNvPr id="0" name="Object 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00200" y="3657600"/>
                        <a:ext cx="2176463" cy="86836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5900" name="Rectangle 28">
            <a:extLst>
              <a:ext uri="{FF2B5EF4-FFF2-40B4-BE49-F238E27FC236}">
                <a16:creationId xmlns:a16="http://schemas.microsoft.com/office/drawing/2014/main" id="{C5708ECA-421F-4187-5607-25BA8E057478}"/>
              </a:ext>
            </a:extLst>
          </p:cNvPr>
          <p:cNvSpPr>
            <a:spLocks noRot="1" noChangeArrowheads="1"/>
          </p:cNvSpPr>
          <p:nvPr/>
        </p:nvSpPr>
        <p:spPr bwMode="auto">
          <a:xfrm>
            <a:off x="1371600" y="4953000"/>
            <a:ext cx="396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en-US" altLang="zh-CN" sz="3200" b="1" i="1"/>
              <a:t>u</a:t>
            </a:r>
            <a:r>
              <a:rPr lang="en-US" altLang="zh-CN" sz="3200" b="1"/>
              <a:t>*</a:t>
            </a:r>
            <a:r>
              <a:rPr lang="zh-CN" altLang="en-US" sz="3200" b="1"/>
              <a:t>就是自然失业率</a:t>
            </a:r>
            <a:endParaRPr lang="zh-CN" altLang="en-US" sz="2400" b="1"/>
          </a:p>
        </p:txBody>
      </p:sp>
      <p:sp>
        <p:nvSpPr>
          <p:cNvPr id="335901" name="Rectangle 29">
            <a:extLst>
              <a:ext uri="{FF2B5EF4-FFF2-40B4-BE49-F238E27FC236}">
                <a16:creationId xmlns:a16="http://schemas.microsoft.com/office/drawing/2014/main" id="{AC05C168-42FF-F682-FE14-6F07F3C7E763}"/>
              </a:ext>
            </a:extLst>
          </p:cNvPr>
          <p:cNvSpPr>
            <a:spLocks noRot="1" noChangeArrowheads="1"/>
          </p:cNvSpPr>
          <p:nvPr/>
        </p:nvSpPr>
        <p:spPr bwMode="auto">
          <a:xfrm>
            <a:off x="323850" y="5638800"/>
            <a:ext cx="85915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3200" b="1">
                <a:solidFill>
                  <a:schemeClr val="tx2"/>
                </a:solidFill>
              </a:rPr>
              <a:t>自然失业率</a:t>
            </a:r>
            <a:r>
              <a:rPr lang="zh-CN" altLang="en-US" sz="3200" b="1"/>
              <a:t>就是当劳动市场处于均衡时，存在于劳动市场的摩擦所造成的失业率。</a:t>
            </a:r>
            <a:endParaRPr lang="zh-CN" altLang="en-US" sz="2400" b="1"/>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35874"/>
                                        </p:tgtEl>
                                        <p:attrNameLst>
                                          <p:attrName>style.visibility</p:attrName>
                                        </p:attrNameLst>
                                      </p:cBhvr>
                                      <p:to>
                                        <p:strVal val="visible"/>
                                      </p:to>
                                    </p:set>
                                    <p:animEffect transition="in" filter="slide(fromTop)">
                                      <p:cBhvr>
                                        <p:cTn id="7" dur="500"/>
                                        <p:tgtEl>
                                          <p:spTgt spid="3358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1" fill="hold" nodeType="clickEffect">
                                  <p:stCondLst>
                                    <p:cond delay="0"/>
                                  </p:stCondLst>
                                  <p:childTnLst>
                                    <p:set>
                                      <p:cBhvr>
                                        <p:cTn id="11" dur="1" fill="hold">
                                          <p:stCondLst>
                                            <p:cond delay="0"/>
                                          </p:stCondLst>
                                        </p:cTn>
                                        <p:tgtEl>
                                          <p:spTgt spid="335877"/>
                                        </p:tgtEl>
                                        <p:attrNameLst>
                                          <p:attrName>style.visibility</p:attrName>
                                        </p:attrNameLst>
                                      </p:cBhvr>
                                      <p:to>
                                        <p:strVal val="visible"/>
                                      </p:to>
                                    </p:set>
                                    <p:animEffect transition="in" filter="slide(fromTop)">
                                      <p:cBhvr>
                                        <p:cTn id="12" dur="500"/>
                                        <p:tgtEl>
                                          <p:spTgt spid="3358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335876"/>
                                        </p:tgtEl>
                                        <p:attrNameLst>
                                          <p:attrName>style.visibility</p:attrName>
                                        </p:attrNameLst>
                                      </p:cBhvr>
                                      <p:to>
                                        <p:strVal val="visible"/>
                                      </p:to>
                                    </p:set>
                                    <p:animEffect transition="in" filter="slide(fromBottom)">
                                      <p:cBhvr>
                                        <p:cTn id="17" dur="500"/>
                                        <p:tgtEl>
                                          <p:spTgt spid="33587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335883"/>
                                        </p:tgtEl>
                                        <p:attrNameLst>
                                          <p:attrName>style.visibility</p:attrName>
                                        </p:attrNameLst>
                                      </p:cBhvr>
                                      <p:to>
                                        <p:strVal val="visible"/>
                                      </p:to>
                                    </p:set>
                                    <p:animEffect transition="in" filter="box(out)">
                                      <p:cBhvr>
                                        <p:cTn id="22" dur="500"/>
                                        <p:tgtEl>
                                          <p:spTgt spid="3358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335878"/>
                                        </p:tgtEl>
                                        <p:attrNameLst>
                                          <p:attrName>style.visibility</p:attrName>
                                        </p:attrNameLst>
                                      </p:cBhvr>
                                      <p:to>
                                        <p:strVal val="visible"/>
                                      </p:to>
                                    </p:set>
                                    <p:animEffect transition="in" filter="box(out)">
                                      <p:cBhvr>
                                        <p:cTn id="27" dur="500"/>
                                        <p:tgtEl>
                                          <p:spTgt spid="3358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335879"/>
                                        </p:tgtEl>
                                        <p:attrNameLst>
                                          <p:attrName>style.visibility</p:attrName>
                                        </p:attrNameLst>
                                      </p:cBhvr>
                                      <p:to>
                                        <p:strVal val="visible"/>
                                      </p:to>
                                    </p:set>
                                    <p:animEffect transition="in" filter="box(out)">
                                      <p:cBhvr>
                                        <p:cTn id="32" dur="500"/>
                                        <p:tgtEl>
                                          <p:spTgt spid="33587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335888"/>
                                        </p:tgtEl>
                                        <p:attrNameLst>
                                          <p:attrName>style.visibility</p:attrName>
                                        </p:attrNameLst>
                                      </p:cBhvr>
                                      <p:to>
                                        <p:strVal val="visible"/>
                                      </p:to>
                                    </p:set>
                                    <p:animEffect transition="in" filter="box(out)">
                                      <p:cBhvr>
                                        <p:cTn id="37" dur="500"/>
                                        <p:tgtEl>
                                          <p:spTgt spid="33588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335895"/>
                                        </p:tgtEl>
                                        <p:attrNameLst>
                                          <p:attrName>style.visibility</p:attrName>
                                        </p:attrNameLst>
                                      </p:cBhvr>
                                      <p:to>
                                        <p:strVal val="visible"/>
                                      </p:to>
                                    </p:set>
                                    <p:animEffect transition="in" filter="box(out)">
                                      <p:cBhvr>
                                        <p:cTn id="42" dur="500"/>
                                        <p:tgtEl>
                                          <p:spTgt spid="33589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nodeType="clickEffect">
                                  <p:stCondLst>
                                    <p:cond delay="0"/>
                                  </p:stCondLst>
                                  <p:childTnLst>
                                    <p:set>
                                      <p:cBhvr>
                                        <p:cTn id="46" dur="1" fill="hold">
                                          <p:stCondLst>
                                            <p:cond delay="0"/>
                                          </p:stCondLst>
                                        </p:cTn>
                                        <p:tgtEl>
                                          <p:spTgt spid="335893"/>
                                        </p:tgtEl>
                                        <p:attrNameLst>
                                          <p:attrName>style.visibility</p:attrName>
                                        </p:attrNameLst>
                                      </p:cBhvr>
                                      <p:to>
                                        <p:strVal val="visible"/>
                                      </p:to>
                                    </p:set>
                                    <p:animEffect transition="in" filter="box(out)">
                                      <p:cBhvr>
                                        <p:cTn id="47" dur="500"/>
                                        <p:tgtEl>
                                          <p:spTgt spid="33589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32" fill="hold" nodeType="clickEffect">
                                  <p:stCondLst>
                                    <p:cond delay="0"/>
                                  </p:stCondLst>
                                  <p:childTnLst>
                                    <p:set>
                                      <p:cBhvr>
                                        <p:cTn id="51" dur="1" fill="hold">
                                          <p:stCondLst>
                                            <p:cond delay="0"/>
                                          </p:stCondLst>
                                        </p:cTn>
                                        <p:tgtEl>
                                          <p:spTgt spid="335894"/>
                                        </p:tgtEl>
                                        <p:attrNameLst>
                                          <p:attrName>style.visibility</p:attrName>
                                        </p:attrNameLst>
                                      </p:cBhvr>
                                      <p:to>
                                        <p:strVal val="visible"/>
                                      </p:to>
                                    </p:set>
                                    <p:animEffect transition="in" filter="box(out)">
                                      <p:cBhvr>
                                        <p:cTn id="52" dur="500"/>
                                        <p:tgtEl>
                                          <p:spTgt spid="33589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8" fill="hold" nodeType="clickEffect">
                                  <p:stCondLst>
                                    <p:cond delay="0"/>
                                  </p:stCondLst>
                                  <p:childTnLst>
                                    <p:set>
                                      <p:cBhvr>
                                        <p:cTn id="56" dur="1" fill="hold">
                                          <p:stCondLst>
                                            <p:cond delay="0"/>
                                          </p:stCondLst>
                                        </p:cTn>
                                        <p:tgtEl>
                                          <p:spTgt spid="335898"/>
                                        </p:tgtEl>
                                        <p:attrNameLst>
                                          <p:attrName>style.visibility</p:attrName>
                                        </p:attrNameLst>
                                      </p:cBhvr>
                                      <p:to>
                                        <p:strVal val="visible"/>
                                      </p:to>
                                    </p:set>
                                    <p:animEffect transition="in" filter="slide(fromLeft)">
                                      <p:cBhvr>
                                        <p:cTn id="57" dur="500"/>
                                        <p:tgtEl>
                                          <p:spTgt spid="33589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1" fill="hold" nodeType="clickEffect">
                                  <p:stCondLst>
                                    <p:cond delay="0"/>
                                  </p:stCondLst>
                                  <p:childTnLst>
                                    <p:set>
                                      <p:cBhvr>
                                        <p:cTn id="61" dur="1" fill="hold">
                                          <p:stCondLst>
                                            <p:cond delay="0"/>
                                          </p:stCondLst>
                                        </p:cTn>
                                        <p:tgtEl>
                                          <p:spTgt spid="335899"/>
                                        </p:tgtEl>
                                        <p:attrNameLst>
                                          <p:attrName>style.visibility</p:attrName>
                                        </p:attrNameLst>
                                      </p:cBhvr>
                                      <p:to>
                                        <p:strVal val="visible"/>
                                      </p:to>
                                    </p:set>
                                    <p:animEffect transition="in" filter="slide(fromTop)">
                                      <p:cBhvr>
                                        <p:cTn id="62" dur="500"/>
                                        <p:tgtEl>
                                          <p:spTgt spid="33589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4" fill="hold" nodeType="clickEffect">
                                  <p:stCondLst>
                                    <p:cond delay="0"/>
                                  </p:stCondLst>
                                  <p:childTnLst>
                                    <p:set>
                                      <p:cBhvr>
                                        <p:cTn id="66" dur="1" fill="hold">
                                          <p:stCondLst>
                                            <p:cond delay="0"/>
                                          </p:stCondLst>
                                        </p:cTn>
                                        <p:tgtEl>
                                          <p:spTgt spid="335900"/>
                                        </p:tgtEl>
                                        <p:attrNameLst>
                                          <p:attrName>style.visibility</p:attrName>
                                        </p:attrNameLst>
                                      </p:cBhvr>
                                      <p:to>
                                        <p:strVal val="visible"/>
                                      </p:to>
                                    </p:set>
                                    <p:animEffect transition="in" filter="slide(fromBottom)">
                                      <p:cBhvr>
                                        <p:cTn id="67" dur="500"/>
                                        <p:tgtEl>
                                          <p:spTgt spid="33590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2" presetClass="entr" presetSubtype="4" fill="hold" nodeType="clickEffect">
                                  <p:stCondLst>
                                    <p:cond delay="0"/>
                                  </p:stCondLst>
                                  <p:childTnLst>
                                    <p:set>
                                      <p:cBhvr>
                                        <p:cTn id="71" dur="1" fill="hold">
                                          <p:stCondLst>
                                            <p:cond delay="0"/>
                                          </p:stCondLst>
                                        </p:cTn>
                                        <p:tgtEl>
                                          <p:spTgt spid="335901"/>
                                        </p:tgtEl>
                                        <p:attrNameLst>
                                          <p:attrName>style.visibility</p:attrName>
                                        </p:attrNameLst>
                                      </p:cBhvr>
                                      <p:to>
                                        <p:strVal val="visible"/>
                                      </p:to>
                                    </p:set>
                                    <p:animEffect transition="in" filter="slide(fromBottom)">
                                      <p:cBhvr>
                                        <p:cTn id="72" dur="500"/>
                                        <p:tgtEl>
                                          <p:spTgt spid="335901"/>
                                        </p:tgtEl>
                                      </p:cBhvr>
                                    </p:animEffect>
                                  </p:childTnLst>
                                  <p:subTnLst>
                                    <p:animClr clrSpc="rgb" dir="cw">
                                      <p:cBhvr override="childStyle">
                                        <p:cTn dur="1" fill="hold" display="0" masterRel="nextClick" afterEffect="1"/>
                                        <p:tgtEl>
                                          <p:spTgt spid="335901"/>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4" grpId="0" autoUpdateAnimBg="0"/>
      <p:bldP spid="335876" grpId="0" autoUpdateAnimBg="0"/>
      <p:bldP spid="335900" grpId="0" autoUpdateAnimBg="0"/>
      <p:bldP spid="335901"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6898" name="Rectangle 2">
            <a:extLst>
              <a:ext uri="{FF2B5EF4-FFF2-40B4-BE49-F238E27FC236}">
                <a16:creationId xmlns:a16="http://schemas.microsoft.com/office/drawing/2014/main" id="{E08E0BEC-9060-3CDF-982E-EB776632A5F4}"/>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1.3 </a:t>
            </a:r>
            <a:r>
              <a:rPr lang="zh-CN" altLang="en-US" b="1">
                <a:solidFill>
                  <a:srgbClr val="CC0000"/>
                </a:solidFill>
              </a:rPr>
              <a:t>自然失业率的性质</a:t>
            </a:r>
          </a:p>
        </p:txBody>
      </p:sp>
      <p:sp>
        <p:nvSpPr>
          <p:cNvPr id="336899" name="Rectangle 3">
            <a:extLst>
              <a:ext uri="{FF2B5EF4-FFF2-40B4-BE49-F238E27FC236}">
                <a16:creationId xmlns:a16="http://schemas.microsoft.com/office/drawing/2014/main" id="{AB71A856-E629-AEB7-4ED7-5CBA08082D7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336923" name="Object 27">
            <a:extLst>
              <a:ext uri="{FF2B5EF4-FFF2-40B4-BE49-F238E27FC236}">
                <a16:creationId xmlns:a16="http://schemas.microsoft.com/office/drawing/2014/main" id="{34849485-F175-0520-79E7-B5F543454040}"/>
              </a:ext>
            </a:extLst>
          </p:cNvPr>
          <p:cNvGraphicFramePr>
            <a:graphicFrameLocks noChangeAspect="1"/>
          </p:cNvGraphicFramePr>
          <p:nvPr/>
        </p:nvGraphicFramePr>
        <p:xfrm>
          <a:off x="1600200" y="1524000"/>
          <a:ext cx="2176463" cy="868363"/>
        </p:xfrm>
        <a:graphic>
          <a:graphicData uri="http://schemas.openxmlformats.org/presentationml/2006/ole">
            <mc:AlternateContent xmlns:mc="http://schemas.openxmlformats.org/markup-compatibility/2006">
              <mc:Choice xmlns:v="urn:schemas-microsoft-com:vml" Requires="v">
                <p:oleObj name="Equation" r:id="rId2" imgW="850680" imgH="393480" progId="Equation.DSMT4">
                  <p:embed/>
                </p:oleObj>
              </mc:Choice>
              <mc:Fallback>
                <p:oleObj name="Equation" r:id="rId2" imgW="850680" imgH="393480" progId="Equation.DSMT4">
                  <p:embed/>
                  <p:pic>
                    <p:nvPicPr>
                      <p:cNvPr id="0" name="Object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524000"/>
                        <a:ext cx="2176463" cy="86836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6924" name="Rectangle 28">
            <a:extLst>
              <a:ext uri="{FF2B5EF4-FFF2-40B4-BE49-F238E27FC236}">
                <a16:creationId xmlns:a16="http://schemas.microsoft.com/office/drawing/2014/main" id="{FDFC064A-1116-5C69-B50B-00D100053BF4}"/>
              </a:ext>
            </a:extLst>
          </p:cNvPr>
          <p:cNvSpPr>
            <a:spLocks noRot="1" noChangeArrowheads="1"/>
          </p:cNvSpPr>
          <p:nvPr/>
        </p:nvSpPr>
        <p:spPr bwMode="auto">
          <a:xfrm>
            <a:off x="1295400" y="2590800"/>
            <a:ext cx="6248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en-US" altLang="zh-CN" sz="3200" b="1" i="1"/>
              <a:t>u</a:t>
            </a:r>
            <a:r>
              <a:rPr lang="en-US" altLang="zh-CN" sz="3200" b="1"/>
              <a:t>*</a:t>
            </a:r>
            <a:r>
              <a:rPr lang="zh-CN" altLang="en-US" sz="3200" b="1"/>
              <a:t>是</a:t>
            </a:r>
            <a:r>
              <a:rPr lang="en-US" altLang="zh-CN" sz="3200" b="1"/>
              <a:t>b</a:t>
            </a:r>
            <a:r>
              <a:rPr lang="zh-CN" altLang="en-US" sz="3200" b="1"/>
              <a:t>的减函数；</a:t>
            </a:r>
            <a:r>
              <a:rPr lang="en-US" altLang="zh-CN" sz="3200" b="1"/>
              <a:t>e</a:t>
            </a:r>
            <a:r>
              <a:rPr lang="zh-CN" altLang="en-US" sz="3200" b="1"/>
              <a:t>的增函数</a:t>
            </a:r>
            <a:endParaRPr lang="zh-CN" altLang="en-US" sz="2400" b="1"/>
          </a:p>
        </p:txBody>
      </p:sp>
      <p:sp>
        <p:nvSpPr>
          <p:cNvPr id="336925" name="Rectangle 29">
            <a:extLst>
              <a:ext uri="{FF2B5EF4-FFF2-40B4-BE49-F238E27FC236}">
                <a16:creationId xmlns:a16="http://schemas.microsoft.com/office/drawing/2014/main" id="{F72C56EF-0C71-C9A6-AE42-3B2B7D66275D}"/>
              </a:ext>
            </a:extLst>
          </p:cNvPr>
          <p:cNvSpPr>
            <a:spLocks noRot="1" noChangeArrowheads="1"/>
          </p:cNvSpPr>
          <p:nvPr/>
        </p:nvSpPr>
        <p:spPr bwMode="auto">
          <a:xfrm>
            <a:off x="1295400" y="3352800"/>
            <a:ext cx="36576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3200" b="1">
                <a:solidFill>
                  <a:schemeClr val="tx2"/>
                </a:solidFill>
              </a:rPr>
              <a:t>当劳动市场出清时，工资与失业率无关，确切的说，是与自然失业率无关。</a:t>
            </a:r>
            <a:endParaRPr lang="zh-CN" altLang="en-US" sz="2400" b="1"/>
          </a:p>
        </p:txBody>
      </p:sp>
      <p:grpSp>
        <p:nvGrpSpPr>
          <p:cNvPr id="336956" name="Group 60">
            <a:extLst>
              <a:ext uri="{FF2B5EF4-FFF2-40B4-BE49-F238E27FC236}">
                <a16:creationId xmlns:a16="http://schemas.microsoft.com/office/drawing/2014/main" id="{D79FC2D6-BB0D-0F06-B642-F23D70688C46}"/>
              </a:ext>
            </a:extLst>
          </p:cNvPr>
          <p:cNvGrpSpPr>
            <a:grpSpLocks/>
          </p:cNvGrpSpPr>
          <p:nvPr/>
        </p:nvGrpSpPr>
        <p:grpSpPr bwMode="auto">
          <a:xfrm>
            <a:off x="5105400" y="3657600"/>
            <a:ext cx="3581400" cy="2378075"/>
            <a:chOff x="3216" y="2160"/>
            <a:chExt cx="2256" cy="1498"/>
          </a:xfrm>
        </p:grpSpPr>
        <p:sp>
          <p:nvSpPr>
            <p:cNvPr id="336944" name="Line 48">
              <a:extLst>
                <a:ext uri="{FF2B5EF4-FFF2-40B4-BE49-F238E27FC236}">
                  <a16:creationId xmlns:a16="http://schemas.microsoft.com/office/drawing/2014/main" id="{93097FA0-66AF-2C8F-5689-CDE6DAB5CA53}"/>
                </a:ext>
              </a:extLst>
            </p:cNvPr>
            <p:cNvSpPr>
              <a:spLocks noChangeShapeType="1"/>
            </p:cNvSpPr>
            <p:nvPr/>
          </p:nvSpPr>
          <p:spPr bwMode="auto">
            <a:xfrm flipH="1" flipV="1">
              <a:off x="4560" y="2333"/>
              <a:ext cx="0" cy="1104"/>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6945" name="Text Box 49">
              <a:extLst>
                <a:ext uri="{FF2B5EF4-FFF2-40B4-BE49-F238E27FC236}">
                  <a16:creationId xmlns:a16="http://schemas.microsoft.com/office/drawing/2014/main" id="{1836573B-98C3-5924-04B2-F538C56F9B1A}"/>
                </a:ext>
              </a:extLst>
            </p:cNvPr>
            <p:cNvSpPr txBox="1">
              <a:spLocks noChangeArrowheads="1"/>
            </p:cNvSpPr>
            <p:nvPr/>
          </p:nvSpPr>
          <p:spPr bwMode="auto">
            <a:xfrm>
              <a:off x="4416" y="3485"/>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solidFill>
                    <a:schemeClr val="tx2"/>
                  </a:solidFill>
                </a:rPr>
                <a:t>u*</a:t>
              </a:r>
            </a:p>
          </p:txBody>
        </p:sp>
        <p:sp>
          <p:nvSpPr>
            <p:cNvPr id="336947" name="Line 51">
              <a:extLst>
                <a:ext uri="{FF2B5EF4-FFF2-40B4-BE49-F238E27FC236}">
                  <a16:creationId xmlns:a16="http://schemas.microsoft.com/office/drawing/2014/main" id="{8D39C8FF-FD97-8A01-17EA-4BC6B681E1A5}"/>
                </a:ext>
              </a:extLst>
            </p:cNvPr>
            <p:cNvSpPr>
              <a:spLocks noChangeShapeType="1"/>
            </p:cNvSpPr>
            <p:nvPr/>
          </p:nvSpPr>
          <p:spPr bwMode="auto">
            <a:xfrm>
              <a:off x="3504" y="2160"/>
              <a:ext cx="0" cy="12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6948" name="Line 52">
              <a:extLst>
                <a:ext uri="{FF2B5EF4-FFF2-40B4-BE49-F238E27FC236}">
                  <a16:creationId xmlns:a16="http://schemas.microsoft.com/office/drawing/2014/main" id="{76C1E8C0-F58A-1908-98DD-64063C12972D}"/>
                </a:ext>
              </a:extLst>
            </p:cNvPr>
            <p:cNvSpPr>
              <a:spLocks noChangeShapeType="1"/>
            </p:cNvSpPr>
            <p:nvPr/>
          </p:nvSpPr>
          <p:spPr bwMode="auto">
            <a:xfrm>
              <a:off x="3504" y="3456"/>
              <a:ext cx="17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36949" name="Text Box 53">
              <a:extLst>
                <a:ext uri="{FF2B5EF4-FFF2-40B4-BE49-F238E27FC236}">
                  <a16:creationId xmlns:a16="http://schemas.microsoft.com/office/drawing/2014/main" id="{624641D2-DC86-EBC9-E0B8-79044BD4481E}"/>
                </a:ext>
              </a:extLst>
            </p:cNvPr>
            <p:cNvSpPr txBox="1">
              <a:spLocks noChangeArrowheads="1"/>
            </p:cNvSpPr>
            <p:nvPr/>
          </p:nvSpPr>
          <p:spPr bwMode="auto">
            <a:xfrm>
              <a:off x="5232" y="3451"/>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u</a:t>
              </a:r>
            </a:p>
          </p:txBody>
        </p:sp>
        <p:sp>
          <p:nvSpPr>
            <p:cNvPr id="336950" name="Text Box 54">
              <a:extLst>
                <a:ext uri="{FF2B5EF4-FFF2-40B4-BE49-F238E27FC236}">
                  <a16:creationId xmlns:a16="http://schemas.microsoft.com/office/drawing/2014/main" id="{07C43AE5-976D-2FC8-C2EE-678A61D489F1}"/>
                </a:ext>
              </a:extLst>
            </p:cNvPr>
            <p:cNvSpPr txBox="1">
              <a:spLocks noChangeArrowheads="1"/>
            </p:cNvSpPr>
            <p:nvPr/>
          </p:nvSpPr>
          <p:spPr bwMode="auto">
            <a:xfrm>
              <a:off x="3216" y="2160"/>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g</a:t>
              </a:r>
              <a:r>
                <a:rPr lang="en-US" altLang="zh-CN" b="1" baseline="-25000"/>
                <a:t>W</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36898"/>
                                        </p:tgtEl>
                                        <p:attrNameLst>
                                          <p:attrName>style.visibility</p:attrName>
                                        </p:attrNameLst>
                                      </p:cBhvr>
                                      <p:to>
                                        <p:strVal val="visible"/>
                                      </p:to>
                                    </p:set>
                                    <p:animEffect transition="in" filter="slide(fromTop)">
                                      <p:cBhvr>
                                        <p:cTn id="7" dur="500"/>
                                        <p:tgtEl>
                                          <p:spTgt spid="3368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1" fill="hold" nodeType="clickEffect">
                                  <p:stCondLst>
                                    <p:cond delay="0"/>
                                  </p:stCondLst>
                                  <p:childTnLst>
                                    <p:set>
                                      <p:cBhvr>
                                        <p:cTn id="11" dur="1" fill="hold">
                                          <p:stCondLst>
                                            <p:cond delay="0"/>
                                          </p:stCondLst>
                                        </p:cTn>
                                        <p:tgtEl>
                                          <p:spTgt spid="336923"/>
                                        </p:tgtEl>
                                        <p:attrNameLst>
                                          <p:attrName>style.visibility</p:attrName>
                                        </p:attrNameLst>
                                      </p:cBhvr>
                                      <p:to>
                                        <p:strVal val="visible"/>
                                      </p:to>
                                    </p:set>
                                    <p:animEffect transition="in" filter="slide(fromTop)">
                                      <p:cBhvr>
                                        <p:cTn id="12" dur="500"/>
                                        <p:tgtEl>
                                          <p:spTgt spid="3369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336924"/>
                                        </p:tgtEl>
                                        <p:attrNameLst>
                                          <p:attrName>style.visibility</p:attrName>
                                        </p:attrNameLst>
                                      </p:cBhvr>
                                      <p:to>
                                        <p:strVal val="visible"/>
                                      </p:to>
                                    </p:set>
                                    <p:animEffect transition="in" filter="slide(fromBottom)">
                                      <p:cBhvr>
                                        <p:cTn id="17" dur="500"/>
                                        <p:tgtEl>
                                          <p:spTgt spid="3369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336925"/>
                                        </p:tgtEl>
                                        <p:attrNameLst>
                                          <p:attrName>style.visibility</p:attrName>
                                        </p:attrNameLst>
                                      </p:cBhvr>
                                      <p:to>
                                        <p:strVal val="visible"/>
                                      </p:to>
                                    </p:set>
                                    <p:animEffect transition="in" filter="slide(fromBottom)">
                                      <p:cBhvr>
                                        <p:cTn id="22" dur="500"/>
                                        <p:tgtEl>
                                          <p:spTgt spid="33692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36956"/>
                                        </p:tgtEl>
                                        <p:attrNameLst>
                                          <p:attrName>style.visibility</p:attrName>
                                        </p:attrNameLst>
                                      </p:cBhvr>
                                      <p:to>
                                        <p:strVal val="visible"/>
                                      </p:to>
                                    </p:set>
                                    <p:animEffect transition="in" filter="box(in)">
                                      <p:cBhvr>
                                        <p:cTn id="27" dur="500"/>
                                        <p:tgtEl>
                                          <p:spTgt spid="336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898" grpId="0" autoUpdateAnimBg="0"/>
      <p:bldP spid="336924" grpId="0" autoUpdateAnimBg="0"/>
      <p:bldP spid="336925"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37944" name="Picture 24">
            <a:extLst>
              <a:ext uri="{FF2B5EF4-FFF2-40B4-BE49-F238E27FC236}">
                <a16:creationId xmlns:a16="http://schemas.microsoft.com/office/drawing/2014/main" id="{ACB8857C-BA33-90B1-355D-D9C2CC439A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0" y="2451100"/>
            <a:ext cx="5619750" cy="440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7922" name="Rectangle 2">
            <a:extLst>
              <a:ext uri="{FF2B5EF4-FFF2-40B4-BE49-F238E27FC236}">
                <a16:creationId xmlns:a16="http://schemas.microsoft.com/office/drawing/2014/main" id="{3BFFC1EA-F10B-CAB8-4B5A-32B306D6E86E}"/>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2.1 Phillips</a:t>
            </a:r>
            <a:r>
              <a:rPr lang="zh-CN" altLang="en-US" b="1">
                <a:solidFill>
                  <a:srgbClr val="CC0000"/>
                </a:solidFill>
              </a:rPr>
              <a:t>曲线</a:t>
            </a:r>
            <a:r>
              <a:rPr lang="en-US" altLang="zh-CN" b="1">
                <a:solidFill>
                  <a:srgbClr val="CC0000"/>
                </a:solidFill>
              </a:rPr>
              <a:t>_</a:t>
            </a:r>
            <a:r>
              <a:rPr lang="zh-CN" altLang="en-US" b="1">
                <a:solidFill>
                  <a:srgbClr val="CC0000"/>
                </a:solidFill>
              </a:rPr>
              <a:t>引入</a:t>
            </a:r>
          </a:p>
        </p:txBody>
      </p:sp>
      <p:sp>
        <p:nvSpPr>
          <p:cNvPr id="337923" name="Rectangle 3">
            <a:extLst>
              <a:ext uri="{FF2B5EF4-FFF2-40B4-BE49-F238E27FC236}">
                <a16:creationId xmlns:a16="http://schemas.microsoft.com/office/drawing/2014/main" id="{F79E90AA-D9E6-A339-ADDF-C695C17B7C0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37925" name="Rectangle 5">
            <a:extLst>
              <a:ext uri="{FF2B5EF4-FFF2-40B4-BE49-F238E27FC236}">
                <a16:creationId xmlns:a16="http://schemas.microsoft.com/office/drawing/2014/main" id="{1001DB36-338F-49EE-9241-07F08E3854D8}"/>
              </a:ext>
            </a:extLst>
          </p:cNvPr>
          <p:cNvSpPr>
            <a:spLocks noRot="1" noChangeArrowheads="1"/>
          </p:cNvSpPr>
          <p:nvPr/>
        </p:nvSpPr>
        <p:spPr bwMode="auto">
          <a:xfrm>
            <a:off x="395288" y="1524000"/>
            <a:ext cx="8748712"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3200" b="1"/>
              <a:t>自然失业率是我们考察失业率的一个基准，实际失业率的波动要比自然失业率大的多。</a:t>
            </a:r>
            <a:endParaRPr lang="zh-CN" altLang="en-US" sz="2400" b="1"/>
          </a:p>
        </p:txBody>
      </p:sp>
      <p:sp>
        <p:nvSpPr>
          <p:cNvPr id="337926" name="Rectangle 6">
            <a:extLst>
              <a:ext uri="{FF2B5EF4-FFF2-40B4-BE49-F238E27FC236}">
                <a16:creationId xmlns:a16="http://schemas.microsoft.com/office/drawing/2014/main" id="{0AC636EA-B11F-1D41-EAF5-50AA0799F68F}"/>
              </a:ext>
            </a:extLst>
          </p:cNvPr>
          <p:cNvSpPr>
            <a:spLocks noRot="1" noChangeArrowheads="1"/>
          </p:cNvSpPr>
          <p:nvPr/>
        </p:nvSpPr>
        <p:spPr bwMode="auto">
          <a:xfrm>
            <a:off x="533400" y="3048000"/>
            <a:ext cx="28194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3200" b="1">
                <a:solidFill>
                  <a:schemeClr val="tx2"/>
                </a:solidFill>
              </a:rPr>
              <a:t>当劳动力市场未实现（偏离）充分就业均衡时，工资是否与失业率相关？</a:t>
            </a:r>
            <a:endParaRPr lang="zh-CN" altLang="en-US" sz="2400" b="1"/>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37922"/>
                                        </p:tgtEl>
                                        <p:attrNameLst>
                                          <p:attrName>style.visibility</p:attrName>
                                        </p:attrNameLst>
                                      </p:cBhvr>
                                      <p:to>
                                        <p:strVal val="visible"/>
                                      </p:to>
                                    </p:set>
                                    <p:animEffect transition="in" filter="slide(fromTop)">
                                      <p:cBhvr>
                                        <p:cTn id="7" dur="500"/>
                                        <p:tgtEl>
                                          <p:spTgt spid="3379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37925"/>
                                        </p:tgtEl>
                                        <p:attrNameLst>
                                          <p:attrName>style.visibility</p:attrName>
                                        </p:attrNameLst>
                                      </p:cBhvr>
                                      <p:to>
                                        <p:strVal val="visible"/>
                                      </p:to>
                                    </p:set>
                                    <p:animEffect transition="in" filter="slide(fromBottom)">
                                      <p:cBhvr>
                                        <p:cTn id="12" dur="500"/>
                                        <p:tgtEl>
                                          <p:spTgt spid="3379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337944"/>
                                        </p:tgtEl>
                                        <p:attrNameLst>
                                          <p:attrName>style.visibility</p:attrName>
                                        </p:attrNameLst>
                                      </p:cBhvr>
                                      <p:to>
                                        <p:strVal val="visible"/>
                                      </p:to>
                                    </p:set>
                                    <p:animEffect transition="in" filter="box(out)">
                                      <p:cBhvr>
                                        <p:cTn id="17" dur="500"/>
                                        <p:tgtEl>
                                          <p:spTgt spid="3379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nodeType="clickEffect">
                                  <p:stCondLst>
                                    <p:cond delay="0"/>
                                  </p:stCondLst>
                                  <p:childTnLst>
                                    <p:set>
                                      <p:cBhvr>
                                        <p:cTn id="21" dur="1" fill="hold">
                                          <p:stCondLst>
                                            <p:cond delay="0"/>
                                          </p:stCondLst>
                                        </p:cTn>
                                        <p:tgtEl>
                                          <p:spTgt spid="337926"/>
                                        </p:tgtEl>
                                        <p:attrNameLst>
                                          <p:attrName>style.visibility</p:attrName>
                                        </p:attrNameLst>
                                      </p:cBhvr>
                                      <p:to>
                                        <p:strVal val="visible"/>
                                      </p:to>
                                    </p:set>
                                    <p:animEffect transition="in" filter="slide(fromLeft)">
                                      <p:cBhvr>
                                        <p:cTn id="22" dur="500"/>
                                        <p:tgtEl>
                                          <p:spTgt spid="337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2" grpId="0" autoUpdateAnimBg="0"/>
      <p:bldP spid="337925" grpId="0" autoUpdateAnimBg="0"/>
      <p:bldP spid="337926"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8947" name="Rectangle 3">
            <a:extLst>
              <a:ext uri="{FF2B5EF4-FFF2-40B4-BE49-F238E27FC236}">
                <a16:creationId xmlns:a16="http://schemas.microsoft.com/office/drawing/2014/main" id="{18A7FD19-FF5B-47CC-79B3-2456808B891B}"/>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2.1 Phillips</a:t>
            </a:r>
            <a:r>
              <a:rPr lang="zh-CN" altLang="en-US" b="1">
                <a:solidFill>
                  <a:srgbClr val="CC0000"/>
                </a:solidFill>
              </a:rPr>
              <a:t>曲线</a:t>
            </a:r>
            <a:r>
              <a:rPr lang="en-US" altLang="zh-CN" b="1">
                <a:solidFill>
                  <a:srgbClr val="CC0000"/>
                </a:solidFill>
              </a:rPr>
              <a:t>_</a:t>
            </a:r>
            <a:r>
              <a:rPr lang="zh-CN" altLang="en-US" b="1">
                <a:solidFill>
                  <a:srgbClr val="CC0000"/>
                </a:solidFill>
              </a:rPr>
              <a:t>引入</a:t>
            </a:r>
          </a:p>
        </p:txBody>
      </p:sp>
      <p:sp>
        <p:nvSpPr>
          <p:cNvPr id="338948" name="Rectangle 4">
            <a:extLst>
              <a:ext uri="{FF2B5EF4-FFF2-40B4-BE49-F238E27FC236}">
                <a16:creationId xmlns:a16="http://schemas.microsoft.com/office/drawing/2014/main" id="{39C74B00-8FC3-2A72-2758-55FEE970FC0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38949" name="Rectangle 5">
            <a:extLst>
              <a:ext uri="{FF2B5EF4-FFF2-40B4-BE49-F238E27FC236}">
                <a16:creationId xmlns:a16="http://schemas.microsoft.com/office/drawing/2014/main" id="{8565DB28-0A00-9C26-5B9C-EE08C7809F3E}"/>
              </a:ext>
            </a:extLst>
          </p:cNvPr>
          <p:cNvSpPr>
            <a:spLocks noRot="1" noChangeArrowheads="1"/>
          </p:cNvSpPr>
          <p:nvPr/>
        </p:nvSpPr>
        <p:spPr bwMode="auto">
          <a:xfrm>
            <a:off x="304800" y="1524000"/>
            <a:ext cx="86106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en-US" altLang="zh-CN" sz="2400" b="1"/>
              <a:t>Phillips</a:t>
            </a:r>
            <a:r>
              <a:rPr lang="zh-CN" altLang="en-US" sz="2400" b="1"/>
              <a:t>教授（</a:t>
            </a:r>
            <a:r>
              <a:rPr lang="en-US" altLang="zh-CN" sz="2400" b="1"/>
              <a:t>1958</a:t>
            </a:r>
            <a:r>
              <a:rPr lang="zh-CN" altLang="en-US" sz="2400" b="1"/>
              <a:t>）在其著名的论文中，给出了肯定的回答，二者负相关。</a:t>
            </a:r>
          </a:p>
          <a:p>
            <a:pPr>
              <a:spcBef>
                <a:spcPct val="20000"/>
              </a:spcBef>
              <a:buClr>
                <a:schemeClr val="hlink"/>
              </a:buClr>
              <a:buSzPct val="85000"/>
              <a:buFont typeface="Wingdings" panose="05000000000000000000" pitchFamily="2" charset="2"/>
              <a:buChar char="§"/>
            </a:pPr>
            <a:r>
              <a:rPr lang="en-US" altLang="zh-CN" sz="2400" b="1">
                <a:latin typeface="Times New Roman" panose="02020603050405020304" pitchFamily="18" charset="0"/>
                <a:cs typeface="Times New Roman" panose="02020603050405020304" pitchFamily="18" charset="0"/>
              </a:rPr>
              <a:t>1914</a:t>
            </a:r>
            <a:r>
              <a:rPr lang="en-US" altLang="zh-CN" sz="2400" b="1"/>
              <a:t> </a:t>
            </a:r>
            <a:r>
              <a:rPr lang="zh-CN" altLang="en-US" sz="2400" b="1"/>
              <a:t>年，</a:t>
            </a:r>
            <a:r>
              <a:rPr lang="en-US" altLang="zh-CN" sz="2400" b="1">
                <a:latin typeface="Times New Roman" panose="02020603050405020304" pitchFamily="18" charset="0"/>
                <a:cs typeface="Times New Roman" panose="02020603050405020304" pitchFamily="18" charset="0"/>
              </a:rPr>
              <a:t>Phillips </a:t>
            </a:r>
            <a:r>
              <a:rPr lang="zh-CN" altLang="en-US" sz="2400" b="1"/>
              <a:t>出生在</a:t>
            </a:r>
            <a:r>
              <a:rPr lang="en-US" altLang="zh-CN" sz="2400" b="1">
                <a:latin typeface="Times New Roman" panose="02020603050405020304" pitchFamily="18" charset="0"/>
                <a:cs typeface="Times New Roman" panose="02020603050405020304" pitchFamily="18" charset="0"/>
              </a:rPr>
              <a:t>New Zealand </a:t>
            </a:r>
            <a:r>
              <a:rPr lang="zh-CN" altLang="en-US" sz="2400" b="1">
                <a:latin typeface="Times New Roman" panose="02020603050405020304" pitchFamily="18" charset="0"/>
              </a:rPr>
              <a:t>。</a:t>
            </a:r>
            <a:r>
              <a:rPr lang="zh-CN" altLang="en-US" sz="2400" b="1"/>
              <a:t> </a:t>
            </a:r>
          </a:p>
          <a:p>
            <a:pPr>
              <a:spcBef>
                <a:spcPct val="20000"/>
              </a:spcBef>
              <a:buClr>
                <a:schemeClr val="hlink"/>
              </a:buClr>
              <a:buSzPct val="85000"/>
              <a:buFont typeface="Wingdings" panose="05000000000000000000" pitchFamily="2" charset="2"/>
              <a:buChar char="§"/>
            </a:pPr>
            <a:r>
              <a:rPr lang="en-US" altLang="zh-CN" sz="2400" b="1">
                <a:latin typeface="Times New Roman" panose="02020603050405020304" pitchFamily="18" charset="0"/>
                <a:cs typeface="Times New Roman" panose="02020603050405020304" pitchFamily="18" charset="0"/>
              </a:rPr>
              <a:t>1937 </a:t>
            </a:r>
            <a:r>
              <a:rPr lang="zh-CN" altLang="en-US" sz="2400" b="1">
                <a:latin typeface="Times New Roman" panose="02020603050405020304" pitchFamily="18" charset="0"/>
              </a:rPr>
              <a:t>年，</a:t>
            </a:r>
            <a:r>
              <a:rPr lang="en-US" altLang="zh-CN" sz="2400" b="1">
                <a:latin typeface="Times New Roman" panose="02020603050405020304" pitchFamily="18" charset="0"/>
              </a:rPr>
              <a:t>Phillips</a:t>
            </a:r>
            <a:r>
              <a:rPr lang="zh-CN" altLang="en-US" sz="2400" b="1">
                <a:latin typeface="Times New Roman" panose="02020603050405020304" pitchFamily="18" charset="0"/>
              </a:rPr>
              <a:t>途经澳大利亚、中国、俄罗斯到达英国</a:t>
            </a:r>
          </a:p>
          <a:p>
            <a:pPr>
              <a:spcBef>
                <a:spcPct val="20000"/>
              </a:spcBef>
              <a:buClr>
                <a:schemeClr val="hlink"/>
              </a:buClr>
              <a:buSzPct val="85000"/>
              <a:buFont typeface="Wingdings" panose="05000000000000000000" pitchFamily="2" charset="2"/>
              <a:buChar char="§"/>
            </a:pPr>
            <a:r>
              <a:rPr lang="en-US" altLang="zh-CN" sz="2400" b="1">
                <a:latin typeface="Times New Roman" panose="02020603050405020304" pitchFamily="18" charset="0"/>
              </a:rPr>
              <a:t>1946 </a:t>
            </a:r>
            <a:r>
              <a:rPr lang="zh-CN" altLang="en-US" sz="2400" b="1">
                <a:latin typeface="Times New Roman" panose="02020603050405020304" pitchFamily="18" charset="0"/>
              </a:rPr>
              <a:t>至</a:t>
            </a:r>
            <a:r>
              <a:rPr lang="en-US" altLang="zh-CN" sz="2400" b="1">
                <a:latin typeface="Times New Roman" panose="02020603050405020304" pitchFamily="18" charset="0"/>
              </a:rPr>
              <a:t>1949</a:t>
            </a:r>
            <a:r>
              <a:rPr lang="zh-CN" altLang="en-US" sz="2400" b="1">
                <a:latin typeface="Times New Roman" panose="02020603050405020304" pitchFamily="18" charset="0"/>
              </a:rPr>
              <a:t>，在 </a:t>
            </a:r>
            <a:r>
              <a:rPr lang="en-US" altLang="zh-CN" sz="2400" b="1">
                <a:latin typeface="Times New Roman" panose="02020603050405020304" pitchFamily="18" charset="0"/>
              </a:rPr>
              <a:t>London School of Economics </a:t>
            </a:r>
            <a:r>
              <a:rPr lang="zh-CN" altLang="en-US" sz="2400" b="1">
                <a:latin typeface="Times New Roman" panose="02020603050405020304" pitchFamily="18" charset="0"/>
              </a:rPr>
              <a:t>学习，毕业后留校任教</a:t>
            </a:r>
          </a:p>
          <a:p>
            <a:pPr>
              <a:spcBef>
                <a:spcPct val="20000"/>
              </a:spcBef>
              <a:buClr>
                <a:schemeClr val="hlink"/>
              </a:buClr>
              <a:buSzPct val="85000"/>
              <a:buFont typeface="Wingdings" panose="05000000000000000000" pitchFamily="2" charset="2"/>
              <a:buChar char="§"/>
            </a:pPr>
            <a:r>
              <a:rPr lang="en-US" altLang="zh-CN" sz="2400" b="1">
                <a:latin typeface="Times New Roman" panose="02020603050405020304" pitchFamily="18" charset="0"/>
              </a:rPr>
              <a:t>1958</a:t>
            </a:r>
            <a:r>
              <a:rPr lang="zh-CN" altLang="en-US" sz="2400" b="1">
                <a:latin typeface="Times New Roman" panose="02020603050405020304" pitchFamily="18" charset="0"/>
              </a:rPr>
              <a:t>年，</a:t>
            </a:r>
            <a:r>
              <a:rPr lang="en-US" altLang="zh-CN" sz="2400" b="1">
                <a:latin typeface="Times New Roman" panose="02020603050405020304" pitchFamily="18" charset="0"/>
              </a:rPr>
              <a:t>Phillips</a:t>
            </a:r>
            <a:r>
              <a:rPr lang="zh-CN" altLang="en-US" sz="2400" b="1">
                <a:latin typeface="Times New Roman" panose="02020603050405020304" pitchFamily="18" charset="0"/>
              </a:rPr>
              <a:t>成为 </a:t>
            </a:r>
            <a:r>
              <a:rPr lang="en-US" altLang="zh-CN" sz="2400" b="1">
                <a:latin typeface="Times New Roman" panose="02020603050405020304" pitchFamily="18" charset="0"/>
              </a:rPr>
              <a:t>LSE </a:t>
            </a:r>
            <a:r>
              <a:rPr lang="zh-CN" altLang="en-US" sz="2400" b="1">
                <a:latin typeface="Times New Roman" panose="02020603050405020304" pitchFamily="18" charset="0"/>
              </a:rPr>
              <a:t>的教授</a:t>
            </a:r>
          </a:p>
          <a:p>
            <a:pPr algn="just">
              <a:spcBef>
                <a:spcPct val="20000"/>
              </a:spcBef>
              <a:buClr>
                <a:schemeClr val="hlink"/>
              </a:buClr>
              <a:buSzPct val="85000"/>
              <a:buFont typeface="Wingdings" panose="05000000000000000000" pitchFamily="2" charset="2"/>
              <a:buChar char="§"/>
            </a:pPr>
            <a:r>
              <a:rPr lang="en-US" altLang="zh-CN" sz="2400" b="1">
                <a:latin typeface="Times New Roman" panose="02020603050405020304" pitchFamily="18" charset="0"/>
              </a:rPr>
              <a:t>1967, </a:t>
            </a:r>
            <a:r>
              <a:rPr lang="zh-CN" altLang="en-US" sz="2400" b="1">
                <a:latin typeface="Times New Roman" panose="02020603050405020304" pitchFamily="18" charset="0"/>
              </a:rPr>
              <a:t>他到</a:t>
            </a:r>
            <a:r>
              <a:rPr lang="en-US" altLang="zh-CN" sz="2400" b="1">
                <a:latin typeface="Times New Roman" panose="02020603050405020304" pitchFamily="18" charset="0"/>
              </a:rPr>
              <a:t>Australian National University</a:t>
            </a:r>
            <a:r>
              <a:rPr lang="zh-CN" altLang="en-US" sz="2400" b="1">
                <a:latin typeface="Times New Roman" panose="02020603050405020304" pitchFamily="18" charset="0"/>
              </a:rPr>
              <a:t>任教 </a:t>
            </a:r>
          </a:p>
          <a:p>
            <a:pPr algn="just">
              <a:spcBef>
                <a:spcPct val="20000"/>
              </a:spcBef>
              <a:buClr>
                <a:schemeClr val="hlink"/>
              </a:buClr>
              <a:buSzPct val="85000"/>
              <a:buFont typeface="Wingdings" panose="05000000000000000000" pitchFamily="2" charset="2"/>
              <a:buChar char="§"/>
            </a:pPr>
            <a:r>
              <a:rPr lang="en-US" altLang="zh-CN" sz="2400" b="1">
                <a:latin typeface="Times New Roman" panose="02020603050405020304" pitchFamily="18" charset="0"/>
              </a:rPr>
              <a:t>1969</a:t>
            </a:r>
            <a:r>
              <a:rPr lang="zh-CN" altLang="en-US" sz="2400" b="1">
                <a:latin typeface="Times New Roman" panose="02020603050405020304" pitchFamily="18" charset="0"/>
              </a:rPr>
              <a:t>年</a:t>
            </a:r>
            <a:r>
              <a:rPr lang="en-US" altLang="zh-CN" sz="2400" b="1">
                <a:latin typeface="Times New Roman" panose="02020603050405020304" pitchFamily="18" charset="0"/>
              </a:rPr>
              <a:t>, </a:t>
            </a:r>
            <a:r>
              <a:rPr lang="zh-CN" altLang="en-US" sz="2400" b="1">
                <a:latin typeface="Times New Roman" panose="02020603050405020304" pitchFamily="18" charset="0"/>
              </a:rPr>
              <a:t>他</a:t>
            </a:r>
            <a:r>
              <a:rPr lang="zh-CN" altLang="en-US" sz="2400" b="1"/>
              <a:t>“</a:t>
            </a:r>
            <a:r>
              <a:rPr lang="zh-CN" altLang="en-US" sz="2400" b="1">
                <a:latin typeface="Times New Roman" panose="02020603050405020304" pitchFamily="18" charset="0"/>
              </a:rPr>
              <a:t>衣锦还乡</a:t>
            </a:r>
            <a:r>
              <a:rPr lang="zh-CN" altLang="en-US" sz="2400" b="1"/>
              <a:t>”</a:t>
            </a:r>
            <a:r>
              <a:rPr lang="zh-CN" altLang="en-US" sz="2400" b="1">
                <a:latin typeface="Times New Roman" panose="02020603050405020304" pitchFamily="18" charset="0"/>
              </a:rPr>
              <a:t>，</a:t>
            </a:r>
            <a:r>
              <a:rPr lang="en-US" altLang="zh-CN" sz="2400" b="1">
                <a:latin typeface="Times New Roman" panose="02020603050405020304" pitchFamily="18" charset="0"/>
              </a:rPr>
              <a:t>6</a:t>
            </a:r>
            <a:r>
              <a:rPr lang="zh-CN" altLang="en-US" sz="2400" b="1">
                <a:latin typeface="Times New Roman" panose="02020603050405020304" pitchFamily="18" charset="0"/>
              </a:rPr>
              <a:t>年后去世。</a:t>
            </a:r>
          </a:p>
        </p:txBody>
      </p:sp>
      <p:sp>
        <p:nvSpPr>
          <p:cNvPr id="338956" name="Rectangle 12">
            <a:extLst>
              <a:ext uri="{FF2B5EF4-FFF2-40B4-BE49-F238E27FC236}">
                <a16:creationId xmlns:a16="http://schemas.microsoft.com/office/drawing/2014/main" id="{49CCC853-CCB4-4372-D500-9F4864C87554}"/>
              </a:ext>
            </a:extLst>
          </p:cNvPr>
          <p:cNvSpPr>
            <a:spLocks noRot="1" noChangeArrowheads="1"/>
          </p:cNvSpPr>
          <p:nvPr/>
        </p:nvSpPr>
        <p:spPr bwMode="auto">
          <a:xfrm>
            <a:off x="304800" y="5410200"/>
            <a:ext cx="8588375"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en-US" altLang="zh-CN" sz="2400" b="1">
                <a:latin typeface="Times New Roman" panose="02020603050405020304" pitchFamily="18" charset="0"/>
              </a:rPr>
              <a:t>Phillips</a:t>
            </a:r>
            <a:r>
              <a:rPr lang="zh-CN" altLang="en-US" sz="2400" b="1">
                <a:latin typeface="Times New Roman" panose="02020603050405020304" pitchFamily="18" charset="0"/>
              </a:rPr>
              <a:t>教授因其</a:t>
            </a:r>
            <a:r>
              <a:rPr lang="en-US" altLang="zh-CN" sz="2400" b="1">
                <a:latin typeface="Times New Roman" panose="02020603050405020304" pitchFamily="18" charset="0"/>
              </a:rPr>
              <a:t>1958</a:t>
            </a:r>
            <a:r>
              <a:rPr lang="zh-CN" altLang="en-US" sz="2400" b="1">
                <a:latin typeface="Times New Roman" panose="02020603050405020304" pitchFamily="18" charset="0"/>
              </a:rPr>
              <a:t>年的一篇论文而名扬天下，原因至少是</a:t>
            </a:r>
          </a:p>
          <a:p>
            <a:pPr lvl="1">
              <a:spcBef>
                <a:spcPct val="20000"/>
              </a:spcBef>
              <a:buClr>
                <a:schemeClr val="hlink"/>
              </a:buClr>
              <a:buSzPct val="85000"/>
              <a:buFont typeface="Wingdings" panose="05000000000000000000" pitchFamily="2" charset="2"/>
              <a:buChar char="§"/>
            </a:pPr>
            <a:r>
              <a:rPr lang="zh-CN" altLang="en-US" sz="2400" b="1">
                <a:latin typeface="Times New Roman" panose="02020603050405020304" pitchFamily="18" charset="0"/>
              </a:rPr>
              <a:t>一个是</a:t>
            </a:r>
            <a:r>
              <a:rPr lang="en-US" altLang="zh-CN" sz="2400" b="1">
                <a:latin typeface="Times New Roman" panose="02020603050405020304" pitchFamily="18" charset="0"/>
              </a:rPr>
              <a:t>Phillips</a:t>
            </a:r>
            <a:r>
              <a:rPr lang="zh-CN" altLang="en-US" sz="2400" b="1">
                <a:latin typeface="Times New Roman" panose="02020603050405020304" pitchFamily="18" charset="0"/>
              </a:rPr>
              <a:t>曲线简洁、优美</a:t>
            </a:r>
          </a:p>
          <a:p>
            <a:pPr lvl="1">
              <a:spcBef>
                <a:spcPct val="20000"/>
              </a:spcBef>
              <a:buClr>
                <a:schemeClr val="hlink"/>
              </a:buClr>
              <a:buSzPct val="85000"/>
              <a:buFont typeface="Wingdings" panose="05000000000000000000" pitchFamily="2" charset="2"/>
              <a:buChar char="§"/>
            </a:pPr>
            <a:r>
              <a:rPr lang="zh-CN" altLang="en-US" sz="2400" b="1">
                <a:latin typeface="Times New Roman" panose="02020603050405020304" pitchFamily="18" charset="0"/>
              </a:rPr>
              <a:t>另一个是</a:t>
            </a:r>
            <a:r>
              <a:rPr lang="en-US" altLang="zh-CN" sz="2400" b="1">
                <a:latin typeface="Times New Roman" panose="02020603050405020304" pitchFamily="18" charset="0"/>
              </a:rPr>
              <a:t>Phillips</a:t>
            </a:r>
            <a:r>
              <a:rPr lang="zh-CN" altLang="en-US" sz="2400" b="1">
                <a:latin typeface="Times New Roman" panose="02020603050405020304" pitchFamily="18" charset="0"/>
              </a:rPr>
              <a:t>曲线引发了大量研究。</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38947"/>
                                        </p:tgtEl>
                                        <p:attrNameLst>
                                          <p:attrName>style.visibility</p:attrName>
                                        </p:attrNameLst>
                                      </p:cBhvr>
                                      <p:to>
                                        <p:strVal val="visible"/>
                                      </p:to>
                                    </p:set>
                                    <p:animEffect transition="in" filter="slide(fromTop)">
                                      <p:cBhvr>
                                        <p:cTn id="7" dur="500"/>
                                        <p:tgtEl>
                                          <p:spTgt spid="3389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338949"/>
                                        </p:tgtEl>
                                        <p:attrNameLst>
                                          <p:attrName>style.visibility</p:attrName>
                                        </p:attrNameLst>
                                      </p:cBhvr>
                                      <p:to>
                                        <p:strVal val="visible"/>
                                      </p:to>
                                    </p:set>
                                    <p:animEffect transition="in" filter="barn(outHorizontal)">
                                      <p:cBhvr>
                                        <p:cTn id="12" dur="500"/>
                                        <p:tgtEl>
                                          <p:spTgt spid="3389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37" fill="hold" nodeType="clickEffect">
                                  <p:stCondLst>
                                    <p:cond delay="0"/>
                                  </p:stCondLst>
                                  <p:childTnLst>
                                    <p:set>
                                      <p:cBhvr>
                                        <p:cTn id="16" dur="1" fill="hold">
                                          <p:stCondLst>
                                            <p:cond delay="0"/>
                                          </p:stCondLst>
                                        </p:cTn>
                                        <p:tgtEl>
                                          <p:spTgt spid="338956"/>
                                        </p:tgtEl>
                                        <p:attrNameLst>
                                          <p:attrName>style.visibility</p:attrName>
                                        </p:attrNameLst>
                                      </p:cBhvr>
                                      <p:to>
                                        <p:strVal val="visible"/>
                                      </p:to>
                                    </p:set>
                                    <p:animEffect transition="in" filter="barn(outVertical)">
                                      <p:cBhvr>
                                        <p:cTn id="17" dur="500"/>
                                        <p:tgtEl>
                                          <p:spTgt spid="338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7" grpId="0" autoUpdateAnimBg="0"/>
      <p:bldP spid="338949" grpId="0" autoUpdateAnimBg="0"/>
      <p:bldP spid="338956"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39970" name="Picture 2">
            <a:extLst>
              <a:ext uri="{FF2B5EF4-FFF2-40B4-BE49-F238E27FC236}">
                <a16:creationId xmlns:a16="http://schemas.microsoft.com/office/drawing/2014/main" id="{90F9B21C-44FF-F5DC-1B03-35A8558B68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1524000"/>
            <a:ext cx="5197475" cy="4181475"/>
          </a:xfrm>
          <a:prstGeom prst="rect">
            <a:avLst/>
          </a:prstGeom>
          <a:noFill/>
          <a:extLst>
            <a:ext uri="{909E8E84-426E-40DD-AFC4-6F175D3DCCD1}">
              <a14:hiddenFill xmlns:a14="http://schemas.microsoft.com/office/drawing/2010/main">
                <a:solidFill>
                  <a:srgbClr val="FFFFFF"/>
                </a:solidFill>
              </a14:hiddenFill>
            </a:ext>
          </a:extLst>
        </p:spPr>
      </p:pic>
      <p:sp>
        <p:nvSpPr>
          <p:cNvPr id="339971" name="Rectangle 3">
            <a:extLst>
              <a:ext uri="{FF2B5EF4-FFF2-40B4-BE49-F238E27FC236}">
                <a16:creationId xmlns:a16="http://schemas.microsoft.com/office/drawing/2014/main" id="{346436AB-A89C-EE75-90E2-AAA877D348B6}"/>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2.2 Phillips</a:t>
            </a:r>
            <a:r>
              <a:rPr lang="zh-CN" altLang="en-US" b="1">
                <a:solidFill>
                  <a:srgbClr val="CC0000"/>
                </a:solidFill>
              </a:rPr>
              <a:t>曲线</a:t>
            </a:r>
            <a:r>
              <a:rPr lang="en-US" altLang="zh-CN" b="1">
                <a:solidFill>
                  <a:srgbClr val="CC0000"/>
                </a:solidFill>
              </a:rPr>
              <a:t>_</a:t>
            </a:r>
            <a:r>
              <a:rPr lang="zh-CN" altLang="en-US" b="1">
                <a:solidFill>
                  <a:srgbClr val="CC0000"/>
                </a:solidFill>
              </a:rPr>
              <a:t>提出</a:t>
            </a:r>
          </a:p>
        </p:txBody>
      </p:sp>
      <p:sp>
        <p:nvSpPr>
          <p:cNvPr id="339972" name="Rectangle 4">
            <a:extLst>
              <a:ext uri="{FF2B5EF4-FFF2-40B4-BE49-F238E27FC236}">
                <a16:creationId xmlns:a16="http://schemas.microsoft.com/office/drawing/2014/main" id="{CE94DBA4-52D3-60B4-BBAA-E53E8E8A878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39973" name="Rectangle 5">
            <a:extLst>
              <a:ext uri="{FF2B5EF4-FFF2-40B4-BE49-F238E27FC236}">
                <a16:creationId xmlns:a16="http://schemas.microsoft.com/office/drawing/2014/main" id="{9CA709FB-74AE-60F9-7312-7CD5192918AD}"/>
              </a:ext>
            </a:extLst>
          </p:cNvPr>
          <p:cNvSpPr>
            <a:spLocks noRot="1" noChangeArrowheads="1"/>
          </p:cNvSpPr>
          <p:nvPr/>
        </p:nvSpPr>
        <p:spPr bwMode="auto">
          <a:xfrm>
            <a:off x="304800" y="1524000"/>
            <a:ext cx="33528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en-US" altLang="zh-CN" sz="2400" b="1"/>
              <a:t>Phillips</a:t>
            </a:r>
            <a:r>
              <a:rPr lang="zh-CN" altLang="en-US" sz="2400" b="1"/>
              <a:t>教授在其</a:t>
            </a:r>
            <a:r>
              <a:rPr lang="en-US" altLang="zh-CN" sz="2400" b="1"/>
              <a:t>1958</a:t>
            </a:r>
            <a:r>
              <a:rPr lang="zh-CN" altLang="en-US" sz="2400" b="1"/>
              <a:t>年的论文中提出了，现在称之为的</a:t>
            </a:r>
            <a:r>
              <a:rPr lang="en-US" altLang="zh-CN" sz="2400" b="1"/>
              <a:t>Phillips</a:t>
            </a:r>
            <a:r>
              <a:rPr lang="zh-CN" altLang="en-US" sz="2400" b="1"/>
              <a:t>曲线</a:t>
            </a:r>
          </a:p>
        </p:txBody>
      </p:sp>
      <p:graphicFrame>
        <p:nvGraphicFramePr>
          <p:cNvPr id="339974" name="Object 6">
            <a:extLst>
              <a:ext uri="{FF2B5EF4-FFF2-40B4-BE49-F238E27FC236}">
                <a16:creationId xmlns:a16="http://schemas.microsoft.com/office/drawing/2014/main" id="{0AD76DCC-27DE-C04F-E8EF-7271546DCC52}"/>
              </a:ext>
            </a:extLst>
          </p:cNvPr>
          <p:cNvGraphicFramePr>
            <a:graphicFrameLocks noChangeAspect="1"/>
          </p:cNvGraphicFramePr>
          <p:nvPr/>
        </p:nvGraphicFramePr>
        <p:xfrm>
          <a:off x="927100" y="3810000"/>
          <a:ext cx="2106613" cy="547688"/>
        </p:xfrm>
        <a:graphic>
          <a:graphicData uri="http://schemas.openxmlformats.org/presentationml/2006/ole">
            <mc:AlternateContent xmlns:mc="http://schemas.openxmlformats.org/markup-compatibility/2006">
              <mc:Choice xmlns:v="urn:schemas-microsoft-com:vml" Requires="v">
                <p:oleObj name="Equation" r:id="rId3" imgW="1002960" imgH="228600" progId="Equation.DSMT4">
                  <p:embed/>
                </p:oleObj>
              </mc:Choice>
              <mc:Fallback>
                <p:oleObj name="Equation" r:id="rId3" imgW="1002960" imgH="2286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7100" y="3810000"/>
                        <a:ext cx="2106613" cy="54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9975" name="Rectangle 7">
            <a:extLst>
              <a:ext uri="{FF2B5EF4-FFF2-40B4-BE49-F238E27FC236}">
                <a16:creationId xmlns:a16="http://schemas.microsoft.com/office/drawing/2014/main" id="{9C026810-50F4-6063-D160-A5BC9A70B81F}"/>
              </a:ext>
            </a:extLst>
          </p:cNvPr>
          <p:cNvSpPr>
            <a:spLocks noRot="1" noChangeArrowheads="1"/>
          </p:cNvSpPr>
          <p:nvPr/>
        </p:nvSpPr>
        <p:spPr bwMode="auto">
          <a:xfrm>
            <a:off x="304800" y="3276600"/>
            <a:ext cx="3352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en-US" altLang="zh-CN" sz="2400" b="1"/>
              <a:t>Phillips</a:t>
            </a:r>
            <a:r>
              <a:rPr lang="zh-CN" altLang="en-US" sz="2400" b="1"/>
              <a:t>曲线的表达式</a:t>
            </a:r>
          </a:p>
        </p:txBody>
      </p:sp>
      <p:sp>
        <p:nvSpPr>
          <p:cNvPr id="339976" name="Rectangle 8">
            <a:extLst>
              <a:ext uri="{FF2B5EF4-FFF2-40B4-BE49-F238E27FC236}">
                <a16:creationId xmlns:a16="http://schemas.microsoft.com/office/drawing/2014/main" id="{527A96B6-4864-D5FF-134E-DAE4962555C2}"/>
              </a:ext>
            </a:extLst>
          </p:cNvPr>
          <p:cNvSpPr>
            <a:spLocks noRot="1" noChangeArrowheads="1"/>
          </p:cNvSpPr>
          <p:nvPr/>
        </p:nvSpPr>
        <p:spPr bwMode="auto">
          <a:xfrm>
            <a:off x="228600" y="4267200"/>
            <a:ext cx="33528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en-US" altLang="zh-CN" sz="2400" b="1"/>
              <a:t>Phillips</a:t>
            </a:r>
            <a:r>
              <a:rPr lang="zh-CN" altLang="en-US" sz="2400" b="1"/>
              <a:t>曲线的经济含义如下：</a:t>
            </a:r>
          </a:p>
          <a:p>
            <a:pPr lvl="1">
              <a:spcBef>
                <a:spcPct val="20000"/>
              </a:spcBef>
              <a:buClr>
                <a:schemeClr val="hlink"/>
              </a:buClr>
              <a:buSzPct val="85000"/>
              <a:buFont typeface="Wingdings" panose="05000000000000000000" pitchFamily="2" charset="2"/>
              <a:buChar char="§"/>
            </a:pPr>
            <a:r>
              <a:rPr lang="zh-CN" altLang="en-US" sz="2400" b="1"/>
              <a:t>实际失业率超过自然失业率，工资下降；反之工资上升</a:t>
            </a:r>
          </a:p>
        </p:txBody>
      </p:sp>
      <p:sp>
        <p:nvSpPr>
          <p:cNvPr id="339977" name="Rectangle 9">
            <a:extLst>
              <a:ext uri="{FF2B5EF4-FFF2-40B4-BE49-F238E27FC236}">
                <a16:creationId xmlns:a16="http://schemas.microsoft.com/office/drawing/2014/main" id="{FE1110CE-0180-16EE-621F-E8854211C641}"/>
              </a:ext>
            </a:extLst>
          </p:cNvPr>
          <p:cNvSpPr>
            <a:spLocks noRot="1" noChangeArrowheads="1"/>
          </p:cNvSpPr>
          <p:nvPr/>
        </p:nvSpPr>
        <p:spPr bwMode="auto">
          <a:xfrm>
            <a:off x="152400" y="6248400"/>
            <a:ext cx="8610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400" b="1"/>
              <a:t>当实际失业率等于自然失业率，工资与失业无关。</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39971"/>
                                        </p:tgtEl>
                                        <p:attrNameLst>
                                          <p:attrName>style.visibility</p:attrName>
                                        </p:attrNameLst>
                                      </p:cBhvr>
                                      <p:to>
                                        <p:strVal val="visible"/>
                                      </p:to>
                                    </p:set>
                                    <p:animEffect transition="in" filter="slide(fromTop)">
                                      <p:cBhvr>
                                        <p:cTn id="7" dur="500"/>
                                        <p:tgtEl>
                                          <p:spTgt spid="3399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39973"/>
                                        </p:tgtEl>
                                        <p:attrNameLst>
                                          <p:attrName>style.visibility</p:attrName>
                                        </p:attrNameLst>
                                      </p:cBhvr>
                                      <p:to>
                                        <p:strVal val="visible"/>
                                      </p:to>
                                    </p:set>
                                    <p:animEffect transition="in" filter="slide(fromBottom)">
                                      <p:cBhvr>
                                        <p:cTn id="12" dur="500"/>
                                        <p:tgtEl>
                                          <p:spTgt spid="3399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339970"/>
                                        </p:tgtEl>
                                        <p:attrNameLst>
                                          <p:attrName>style.visibility</p:attrName>
                                        </p:attrNameLst>
                                      </p:cBhvr>
                                      <p:to>
                                        <p:strVal val="visible"/>
                                      </p:to>
                                    </p:set>
                                    <p:animEffect transition="in" filter="box(out)">
                                      <p:cBhvr>
                                        <p:cTn id="17" dur="500"/>
                                        <p:tgtEl>
                                          <p:spTgt spid="33997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1" fill="hold" nodeType="clickEffect">
                                  <p:stCondLst>
                                    <p:cond delay="0"/>
                                  </p:stCondLst>
                                  <p:childTnLst>
                                    <p:set>
                                      <p:cBhvr>
                                        <p:cTn id="21" dur="1" fill="hold">
                                          <p:stCondLst>
                                            <p:cond delay="0"/>
                                          </p:stCondLst>
                                        </p:cTn>
                                        <p:tgtEl>
                                          <p:spTgt spid="339975"/>
                                        </p:tgtEl>
                                        <p:attrNameLst>
                                          <p:attrName>style.visibility</p:attrName>
                                        </p:attrNameLst>
                                      </p:cBhvr>
                                      <p:to>
                                        <p:strVal val="visible"/>
                                      </p:to>
                                    </p:set>
                                    <p:animEffect transition="in" filter="slide(fromTop)">
                                      <p:cBhvr>
                                        <p:cTn id="22" dur="500"/>
                                        <p:tgtEl>
                                          <p:spTgt spid="3399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1" fill="hold" nodeType="clickEffect">
                                  <p:stCondLst>
                                    <p:cond delay="0"/>
                                  </p:stCondLst>
                                  <p:childTnLst>
                                    <p:set>
                                      <p:cBhvr>
                                        <p:cTn id="26" dur="1" fill="hold">
                                          <p:stCondLst>
                                            <p:cond delay="0"/>
                                          </p:stCondLst>
                                        </p:cTn>
                                        <p:tgtEl>
                                          <p:spTgt spid="339974"/>
                                        </p:tgtEl>
                                        <p:attrNameLst>
                                          <p:attrName>style.visibility</p:attrName>
                                        </p:attrNameLst>
                                      </p:cBhvr>
                                      <p:to>
                                        <p:strVal val="visible"/>
                                      </p:to>
                                    </p:set>
                                    <p:animEffect transition="in" filter="slide(fromTop)">
                                      <p:cBhvr>
                                        <p:cTn id="27" dur="500"/>
                                        <p:tgtEl>
                                          <p:spTgt spid="33997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339976"/>
                                        </p:tgtEl>
                                        <p:attrNameLst>
                                          <p:attrName>style.visibility</p:attrName>
                                        </p:attrNameLst>
                                      </p:cBhvr>
                                      <p:to>
                                        <p:strVal val="visible"/>
                                      </p:to>
                                    </p:set>
                                    <p:animEffect transition="in" filter="slide(fromBottom)">
                                      <p:cBhvr>
                                        <p:cTn id="32" dur="500"/>
                                        <p:tgtEl>
                                          <p:spTgt spid="33997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1" fill="hold" nodeType="clickEffect">
                                  <p:stCondLst>
                                    <p:cond delay="0"/>
                                  </p:stCondLst>
                                  <p:childTnLst>
                                    <p:set>
                                      <p:cBhvr>
                                        <p:cTn id="36" dur="1" fill="hold">
                                          <p:stCondLst>
                                            <p:cond delay="0"/>
                                          </p:stCondLst>
                                        </p:cTn>
                                        <p:tgtEl>
                                          <p:spTgt spid="339977"/>
                                        </p:tgtEl>
                                        <p:attrNameLst>
                                          <p:attrName>style.visibility</p:attrName>
                                        </p:attrNameLst>
                                      </p:cBhvr>
                                      <p:to>
                                        <p:strVal val="visible"/>
                                      </p:to>
                                    </p:set>
                                    <p:animEffect transition="in" filter="slide(fromTop)">
                                      <p:cBhvr>
                                        <p:cTn id="37" dur="500"/>
                                        <p:tgtEl>
                                          <p:spTgt spid="339977"/>
                                        </p:tgtEl>
                                      </p:cBhvr>
                                    </p:animEffect>
                                  </p:childTnLst>
                                  <p:subTnLst>
                                    <p:animClr clrSpc="rgb" dir="cw">
                                      <p:cBhvr override="childStyle">
                                        <p:cTn dur="1" fill="hold" display="0" masterRel="nextClick" afterEffect="1"/>
                                        <p:tgtEl>
                                          <p:spTgt spid="339977"/>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1" grpId="0" autoUpdateAnimBg="0"/>
      <p:bldP spid="339973" grpId="0" autoUpdateAnimBg="0"/>
      <p:bldP spid="339975" grpId="0" autoUpdateAnimBg="0"/>
      <p:bldP spid="339976" grpId="0" autoUpdateAnimBg="0"/>
      <p:bldP spid="339977"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0995" name="Rectangle 3">
            <a:extLst>
              <a:ext uri="{FF2B5EF4-FFF2-40B4-BE49-F238E27FC236}">
                <a16:creationId xmlns:a16="http://schemas.microsoft.com/office/drawing/2014/main" id="{E044491F-35FE-8CDD-6650-AD077FE16ECE}"/>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2.3 Phillips</a:t>
            </a:r>
            <a:r>
              <a:rPr lang="zh-CN" altLang="en-US" b="1">
                <a:solidFill>
                  <a:srgbClr val="CC0000"/>
                </a:solidFill>
              </a:rPr>
              <a:t>曲线</a:t>
            </a:r>
            <a:r>
              <a:rPr lang="en-US" altLang="zh-CN" b="1">
                <a:solidFill>
                  <a:srgbClr val="CC0000"/>
                </a:solidFill>
              </a:rPr>
              <a:t>_</a:t>
            </a:r>
            <a:r>
              <a:rPr lang="zh-CN" altLang="en-US" b="1">
                <a:solidFill>
                  <a:srgbClr val="CC0000"/>
                </a:solidFill>
              </a:rPr>
              <a:t>作用</a:t>
            </a:r>
          </a:p>
        </p:txBody>
      </p:sp>
      <p:sp>
        <p:nvSpPr>
          <p:cNvPr id="340996" name="Rectangle 4">
            <a:extLst>
              <a:ext uri="{FF2B5EF4-FFF2-40B4-BE49-F238E27FC236}">
                <a16:creationId xmlns:a16="http://schemas.microsoft.com/office/drawing/2014/main" id="{4532B05E-5448-4C88-5CEF-E3C7F296B04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40997" name="Rectangle 5">
            <a:extLst>
              <a:ext uri="{FF2B5EF4-FFF2-40B4-BE49-F238E27FC236}">
                <a16:creationId xmlns:a16="http://schemas.microsoft.com/office/drawing/2014/main" id="{21FF756B-7C0D-127A-FD55-773921416432}"/>
              </a:ext>
            </a:extLst>
          </p:cNvPr>
          <p:cNvSpPr>
            <a:spLocks noRot="1" noChangeArrowheads="1"/>
          </p:cNvSpPr>
          <p:nvPr/>
        </p:nvSpPr>
        <p:spPr bwMode="auto">
          <a:xfrm>
            <a:off x="304800" y="1524000"/>
            <a:ext cx="8382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en-US" altLang="zh-CN" sz="2400" b="1"/>
              <a:t>Phillips</a:t>
            </a:r>
            <a:r>
              <a:rPr lang="zh-CN" altLang="en-US" sz="2400" b="1"/>
              <a:t>曲线的政策含义：</a:t>
            </a:r>
            <a:r>
              <a:rPr lang="zh-CN" altLang="en-US" sz="2400" b="1">
                <a:solidFill>
                  <a:schemeClr val="tx2"/>
                </a:solidFill>
              </a:rPr>
              <a:t>宏观经济政策分析的基石</a:t>
            </a:r>
          </a:p>
          <a:p>
            <a:pPr lvl="1">
              <a:spcBef>
                <a:spcPct val="20000"/>
              </a:spcBef>
              <a:buClr>
                <a:schemeClr val="hlink"/>
              </a:buClr>
              <a:buSzPct val="85000"/>
              <a:buFont typeface="Wingdings" panose="05000000000000000000" pitchFamily="2" charset="2"/>
              <a:buChar char="§"/>
            </a:pPr>
            <a:r>
              <a:rPr lang="zh-CN" altLang="en-US" sz="2000" b="1"/>
              <a:t>失业和通货膨胀不可兼得，但至少可</a:t>
            </a:r>
            <a:r>
              <a:rPr lang="zh-CN" altLang="en-US" sz="2000" b="1">
                <a:solidFill>
                  <a:schemeClr val="tx2"/>
                </a:solidFill>
              </a:rPr>
              <a:t>安需取舍</a:t>
            </a:r>
            <a:r>
              <a:rPr lang="zh-CN" altLang="en-US" sz="2000" b="1"/>
              <a:t>。</a:t>
            </a:r>
          </a:p>
        </p:txBody>
      </p:sp>
      <p:sp>
        <p:nvSpPr>
          <p:cNvPr id="340999" name="Rectangle 7">
            <a:extLst>
              <a:ext uri="{FF2B5EF4-FFF2-40B4-BE49-F238E27FC236}">
                <a16:creationId xmlns:a16="http://schemas.microsoft.com/office/drawing/2014/main" id="{3F2017B8-4E32-C822-933E-955247F07AE5}"/>
              </a:ext>
            </a:extLst>
          </p:cNvPr>
          <p:cNvSpPr>
            <a:spLocks noRot="1" noChangeArrowheads="1"/>
          </p:cNvSpPr>
          <p:nvPr/>
        </p:nvSpPr>
        <p:spPr bwMode="auto">
          <a:xfrm>
            <a:off x="381000" y="2514600"/>
            <a:ext cx="7696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en-US" altLang="zh-CN" sz="2400" b="1"/>
              <a:t>Phillips</a:t>
            </a:r>
            <a:r>
              <a:rPr lang="zh-CN" altLang="en-US" sz="2400" b="1"/>
              <a:t>曲线的理论含义：</a:t>
            </a:r>
            <a:r>
              <a:rPr lang="zh-CN" altLang="en-US" sz="2400" b="1">
                <a:solidFill>
                  <a:schemeClr val="tx2"/>
                </a:solidFill>
              </a:rPr>
              <a:t>为什么工资是黏性的</a:t>
            </a:r>
          </a:p>
          <a:p>
            <a:pPr lvl="1">
              <a:spcBef>
                <a:spcPct val="20000"/>
              </a:spcBef>
              <a:buClr>
                <a:schemeClr val="hlink"/>
              </a:buClr>
              <a:buSzPct val="85000"/>
              <a:buFont typeface="Wingdings" panose="05000000000000000000" pitchFamily="2" charset="2"/>
              <a:buChar char="§"/>
            </a:pPr>
            <a:r>
              <a:rPr lang="zh-CN" altLang="en-US" sz="2400" b="1"/>
              <a:t>主要有两类解释：新古典主义和新凯恩斯主义</a:t>
            </a:r>
          </a:p>
        </p:txBody>
      </p:sp>
      <p:sp>
        <p:nvSpPr>
          <p:cNvPr id="341002" name="Rectangle 10">
            <a:extLst>
              <a:ext uri="{FF2B5EF4-FFF2-40B4-BE49-F238E27FC236}">
                <a16:creationId xmlns:a16="http://schemas.microsoft.com/office/drawing/2014/main" id="{17861767-A1DF-F255-0E92-D9D6562D94CB}"/>
              </a:ext>
            </a:extLst>
          </p:cNvPr>
          <p:cNvSpPr>
            <a:spLocks noRot="1" noChangeArrowheads="1"/>
          </p:cNvSpPr>
          <p:nvPr/>
        </p:nvSpPr>
        <p:spPr bwMode="auto">
          <a:xfrm>
            <a:off x="304800" y="3657600"/>
            <a:ext cx="83058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400" b="1"/>
              <a:t>新古典主义的解释：</a:t>
            </a:r>
            <a:r>
              <a:rPr lang="zh-CN" altLang="en-US" sz="2400" b="1">
                <a:solidFill>
                  <a:schemeClr val="tx2"/>
                </a:solidFill>
              </a:rPr>
              <a:t>不完全信息</a:t>
            </a:r>
          </a:p>
          <a:p>
            <a:pPr lvl="1">
              <a:spcBef>
                <a:spcPct val="20000"/>
              </a:spcBef>
              <a:buClr>
                <a:schemeClr val="hlink"/>
              </a:buClr>
              <a:buSzPct val="85000"/>
              <a:buFont typeface="Wingdings" panose="05000000000000000000" pitchFamily="2" charset="2"/>
              <a:buChar char="§"/>
            </a:pPr>
            <a:r>
              <a:rPr lang="zh-CN" altLang="en-US" sz="2000" b="1"/>
              <a:t>假定工人无法确认工资水平变动是源于一般价格水平的上升还是自身工资水平的相对上升。</a:t>
            </a:r>
          </a:p>
          <a:p>
            <a:pPr lvl="1">
              <a:spcBef>
                <a:spcPct val="20000"/>
              </a:spcBef>
              <a:buClr>
                <a:schemeClr val="hlink"/>
              </a:buClr>
              <a:buSzPct val="85000"/>
              <a:buFont typeface="Wingdings" panose="05000000000000000000" pitchFamily="2" charset="2"/>
              <a:buChar char="§"/>
            </a:pPr>
            <a:r>
              <a:rPr lang="zh-CN" altLang="en-US" sz="2000" b="1"/>
              <a:t>如果是前者，工人不会提供更多劳动；如果是后者，工人应提供更多劳动。</a:t>
            </a:r>
          </a:p>
          <a:p>
            <a:pPr lvl="1">
              <a:spcBef>
                <a:spcPct val="20000"/>
              </a:spcBef>
              <a:buClr>
                <a:schemeClr val="hlink"/>
              </a:buClr>
              <a:buSzPct val="85000"/>
              <a:buFont typeface="Wingdings" panose="05000000000000000000" pitchFamily="2" charset="2"/>
              <a:buChar char="§"/>
            </a:pPr>
            <a:r>
              <a:rPr lang="zh-CN" altLang="en-US" sz="2000" b="1"/>
              <a:t>由于存在不完全信息，工人只好折中处理，多工作一点。</a:t>
            </a:r>
          </a:p>
          <a:p>
            <a:pPr lvl="1">
              <a:spcBef>
                <a:spcPct val="20000"/>
              </a:spcBef>
              <a:buClr>
                <a:schemeClr val="hlink"/>
              </a:buClr>
              <a:buSzPct val="85000"/>
              <a:buFont typeface="Wingdings" panose="05000000000000000000" pitchFamily="2" charset="2"/>
              <a:buChar char="§"/>
            </a:pPr>
            <a:r>
              <a:rPr lang="en-US" altLang="zh-CN" sz="2000" b="1"/>
              <a:t>Lucas</a:t>
            </a:r>
            <a:r>
              <a:rPr lang="zh-CN" altLang="en-US" sz="2000" b="1"/>
              <a:t>在市场出清（理性预期）的分析框架内揭示了在短期内存在</a:t>
            </a:r>
            <a:r>
              <a:rPr lang="en-US" altLang="zh-CN" sz="2000" b="1"/>
              <a:t>Phillips</a:t>
            </a:r>
            <a:r>
              <a:rPr lang="zh-CN" altLang="en-US" sz="2000" b="1"/>
              <a:t>曲线。</a:t>
            </a:r>
          </a:p>
        </p:txBody>
      </p:sp>
      <p:sp>
        <p:nvSpPr>
          <p:cNvPr id="341003" name="Line 11">
            <a:extLst>
              <a:ext uri="{FF2B5EF4-FFF2-40B4-BE49-F238E27FC236}">
                <a16:creationId xmlns:a16="http://schemas.microsoft.com/office/drawing/2014/main" id="{833A1E7D-86A7-5F59-09A5-3EF5DA298F4C}"/>
              </a:ext>
            </a:extLst>
          </p:cNvPr>
          <p:cNvSpPr>
            <a:spLocks noChangeShapeType="1"/>
          </p:cNvSpPr>
          <p:nvPr/>
        </p:nvSpPr>
        <p:spPr bwMode="auto">
          <a:xfrm>
            <a:off x="2057400" y="6172200"/>
            <a:ext cx="1066800" cy="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1004" name="Line 12">
            <a:extLst>
              <a:ext uri="{FF2B5EF4-FFF2-40B4-BE49-F238E27FC236}">
                <a16:creationId xmlns:a16="http://schemas.microsoft.com/office/drawing/2014/main" id="{E61ECFED-4D4B-CE10-89CC-5596C007D2E8}"/>
              </a:ext>
            </a:extLst>
          </p:cNvPr>
          <p:cNvSpPr>
            <a:spLocks noChangeShapeType="1"/>
          </p:cNvSpPr>
          <p:nvPr/>
        </p:nvSpPr>
        <p:spPr bwMode="auto">
          <a:xfrm>
            <a:off x="6934200" y="6172200"/>
            <a:ext cx="1066800" cy="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40995"/>
                                        </p:tgtEl>
                                        <p:attrNameLst>
                                          <p:attrName>style.visibility</p:attrName>
                                        </p:attrNameLst>
                                      </p:cBhvr>
                                      <p:to>
                                        <p:strVal val="visible"/>
                                      </p:to>
                                    </p:set>
                                    <p:animEffect transition="in" filter="slide(fromTop)">
                                      <p:cBhvr>
                                        <p:cTn id="7" dur="500"/>
                                        <p:tgtEl>
                                          <p:spTgt spid="3409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40997"/>
                                        </p:tgtEl>
                                        <p:attrNameLst>
                                          <p:attrName>style.visibility</p:attrName>
                                        </p:attrNameLst>
                                      </p:cBhvr>
                                      <p:to>
                                        <p:strVal val="visible"/>
                                      </p:to>
                                    </p:set>
                                    <p:animEffect transition="in" filter="slide(fromBottom)">
                                      <p:cBhvr>
                                        <p:cTn id="12" dur="500"/>
                                        <p:tgtEl>
                                          <p:spTgt spid="3409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1" fill="hold" nodeType="clickEffect">
                                  <p:stCondLst>
                                    <p:cond delay="0"/>
                                  </p:stCondLst>
                                  <p:childTnLst>
                                    <p:set>
                                      <p:cBhvr>
                                        <p:cTn id="16" dur="1" fill="hold">
                                          <p:stCondLst>
                                            <p:cond delay="0"/>
                                          </p:stCondLst>
                                        </p:cTn>
                                        <p:tgtEl>
                                          <p:spTgt spid="340999"/>
                                        </p:tgtEl>
                                        <p:attrNameLst>
                                          <p:attrName>style.visibility</p:attrName>
                                        </p:attrNameLst>
                                      </p:cBhvr>
                                      <p:to>
                                        <p:strVal val="visible"/>
                                      </p:to>
                                    </p:set>
                                    <p:animEffect transition="in" filter="slide(fromTop)">
                                      <p:cBhvr>
                                        <p:cTn id="17" dur="500"/>
                                        <p:tgtEl>
                                          <p:spTgt spid="3409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1" fill="hold" nodeType="clickEffect">
                                  <p:stCondLst>
                                    <p:cond delay="0"/>
                                  </p:stCondLst>
                                  <p:childTnLst>
                                    <p:set>
                                      <p:cBhvr>
                                        <p:cTn id="21" dur="1" fill="hold">
                                          <p:stCondLst>
                                            <p:cond delay="0"/>
                                          </p:stCondLst>
                                        </p:cTn>
                                        <p:tgtEl>
                                          <p:spTgt spid="341002"/>
                                        </p:tgtEl>
                                        <p:attrNameLst>
                                          <p:attrName>style.visibility</p:attrName>
                                        </p:attrNameLst>
                                      </p:cBhvr>
                                      <p:to>
                                        <p:strVal val="visible"/>
                                      </p:to>
                                    </p:set>
                                    <p:animEffect transition="in" filter="slide(fromTop)">
                                      <p:cBhvr>
                                        <p:cTn id="22" dur="500"/>
                                        <p:tgtEl>
                                          <p:spTgt spid="34100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341003"/>
                                        </p:tgtEl>
                                        <p:attrNameLst>
                                          <p:attrName>style.visibility</p:attrName>
                                        </p:attrNameLst>
                                      </p:cBhvr>
                                      <p:to>
                                        <p:strVal val="visible"/>
                                      </p:to>
                                    </p:set>
                                    <p:animEffect transition="in" filter="box(out)">
                                      <p:cBhvr>
                                        <p:cTn id="27" dur="500"/>
                                        <p:tgtEl>
                                          <p:spTgt spid="34100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341004"/>
                                        </p:tgtEl>
                                        <p:attrNameLst>
                                          <p:attrName>style.visibility</p:attrName>
                                        </p:attrNameLst>
                                      </p:cBhvr>
                                      <p:to>
                                        <p:strVal val="visible"/>
                                      </p:to>
                                    </p:set>
                                    <p:animEffect transition="in" filter="box(out)">
                                      <p:cBhvr>
                                        <p:cTn id="32" dur="500"/>
                                        <p:tgtEl>
                                          <p:spTgt spid="341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autoUpdateAnimBg="0"/>
      <p:bldP spid="340997" grpId="0" autoUpdateAnimBg="0"/>
      <p:bldP spid="340999" grpId="0" autoUpdateAnimBg="0"/>
      <p:bldP spid="341002"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4066" name="Rectangle 2">
            <a:extLst>
              <a:ext uri="{FF2B5EF4-FFF2-40B4-BE49-F238E27FC236}">
                <a16:creationId xmlns:a16="http://schemas.microsoft.com/office/drawing/2014/main" id="{97D648EC-5D8D-7599-75BC-382986FD6B71}"/>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2.3 Phillips</a:t>
            </a:r>
            <a:r>
              <a:rPr lang="zh-CN" altLang="en-US" b="1">
                <a:solidFill>
                  <a:srgbClr val="CC0000"/>
                </a:solidFill>
              </a:rPr>
              <a:t>曲线</a:t>
            </a:r>
            <a:r>
              <a:rPr lang="en-US" altLang="zh-CN" b="1">
                <a:solidFill>
                  <a:srgbClr val="CC0000"/>
                </a:solidFill>
              </a:rPr>
              <a:t>_</a:t>
            </a:r>
            <a:r>
              <a:rPr lang="zh-CN" altLang="en-US" b="1">
                <a:solidFill>
                  <a:srgbClr val="CC0000"/>
                </a:solidFill>
              </a:rPr>
              <a:t>作用</a:t>
            </a:r>
          </a:p>
        </p:txBody>
      </p:sp>
      <p:sp>
        <p:nvSpPr>
          <p:cNvPr id="344067" name="Rectangle 3">
            <a:extLst>
              <a:ext uri="{FF2B5EF4-FFF2-40B4-BE49-F238E27FC236}">
                <a16:creationId xmlns:a16="http://schemas.microsoft.com/office/drawing/2014/main" id="{F409119F-9310-33A8-CE48-E217F24D9F2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44068" name="Rectangle 4">
            <a:extLst>
              <a:ext uri="{FF2B5EF4-FFF2-40B4-BE49-F238E27FC236}">
                <a16:creationId xmlns:a16="http://schemas.microsoft.com/office/drawing/2014/main" id="{34776D3D-88C8-C3DF-2A7C-90CD46612648}"/>
              </a:ext>
            </a:extLst>
          </p:cNvPr>
          <p:cNvSpPr>
            <a:spLocks noRot="1" noChangeArrowheads="1"/>
          </p:cNvSpPr>
          <p:nvPr/>
        </p:nvSpPr>
        <p:spPr bwMode="auto">
          <a:xfrm>
            <a:off x="304800" y="1524000"/>
            <a:ext cx="83820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400" b="1"/>
              <a:t>新凯恩斯主义的解释：工资交错调整</a:t>
            </a:r>
          </a:p>
          <a:p>
            <a:pPr lvl="1">
              <a:spcBef>
                <a:spcPct val="20000"/>
              </a:spcBef>
              <a:buClr>
                <a:schemeClr val="hlink"/>
              </a:buClr>
              <a:buSzPct val="85000"/>
              <a:buFont typeface="Wingdings" panose="05000000000000000000" pitchFamily="2" charset="2"/>
              <a:buChar char="§"/>
            </a:pPr>
            <a:r>
              <a:rPr lang="zh-CN" altLang="en-US" sz="2000" b="1"/>
              <a:t>出发点：劳资双方是合同关系，工资等不可能随时调整，比如每年调整一次；而且分两批调整，</a:t>
            </a:r>
            <a:r>
              <a:rPr lang="en-US" altLang="zh-CN" sz="2000" b="1"/>
              <a:t>A</a:t>
            </a:r>
            <a:r>
              <a:rPr lang="zh-CN" altLang="en-US" sz="2000" b="1"/>
              <a:t>批是每年</a:t>
            </a:r>
            <a:r>
              <a:rPr lang="en-US" altLang="zh-CN" sz="2000" b="1"/>
              <a:t>1</a:t>
            </a:r>
            <a:r>
              <a:rPr lang="zh-CN" altLang="en-US" sz="2000" b="1"/>
              <a:t>月、</a:t>
            </a:r>
            <a:r>
              <a:rPr lang="en-US" altLang="zh-CN" sz="2000" b="1"/>
              <a:t>B</a:t>
            </a:r>
            <a:r>
              <a:rPr lang="zh-CN" altLang="en-US" sz="2000" b="1"/>
              <a:t>批是每年</a:t>
            </a:r>
            <a:r>
              <a:rPr lang="en-US" altLang="zh-CN" sz="2000" b="1"/>
              <a:t>7</a:t>
            </a:r>
            <a:r>
              <a:rPr lang="zh-CN" altLang="en-US" sz="2000" b="1"/>
              <a:t>月。</a:t>
            </a:r>
          </a:p>
          <a:p>
            <a:pPr lvl="1">
              <a:spcBef>
                <a:spcPct val="20000"/>
              </a:spcBef>
              <a:buClr>
                <a:schemeClr val="hlink"/>
              </a:buClr>
              <a:buSzPct val="85000"/>
              <a:buFont typeface="Wingdings" panose="05000000000000000000" pitchFamily="2" charset="2"/>
              <a:buChar char="§"/>
            </a:pPr>
            <a:r>
              <a:rPr lang="zh-CN" altLang="en-US" sz="2000" b="1"/>
              <a:t>假定</a:t>
            </a:r>
            <a:r>
              <a:rPr lang="en-US" altLang="zh-CN" sz="2000" b="1"/>
              <a:t>2006</a:t>
            </a:r>
            <a:r>
              <a:rPr lang="zh-CN" altLang="en-US" sz="2000" b="1"/>
              <a:t>年</a:t>
            </a:r>
            <a:r>
              <a:rPr lang="en-US" altLang="zh-CN" sz="2000" b="1"/>
              <a:t>10</a:t>
            </a:r>
            <a:r>
              <a:rPr lang="zh-CN" altLang="en-US" sz="2000" b="1"/>
              <a:t>月，对劳动的需求增加，工资将会如何调整？</a:t>
            </a:r>
          </a:p>
        </p:txBody>
      </p:sp>
      <p:grpSp>
        <p:nvGrpSpPr>
          <p:cNvPr id="344075" name="Group 11">
            <a:extLst>
              <a:ext uri="{FF2B5EF4-FFF2-40B4-BE49-F238E27FC236}">
                <a16:creationId xmlns:a16="http://schemas.microsoft.com/office/drawing/2014/main" id="{E2032D88-E184-1EB1-C352-E8BF3A0B81A8}"/>
              </a:ext>
            </a:extLst>
          </p:cNvPr>
          <p:cNvGrpSpPr>
            <a:grpSpLocks/>
          </p:cNvGrpSpPr>
          <p:nvPr/>
        </p:nvGrpSpPr>
        <p:grpSpPr bwMode="auto">
          <a:xfrm>
            <a:off x="990600" y="5181600"/>
            <a:ext cx="914400" cy="503238"/>
            <a:chOff x="624" y="2112"/>
            <a:chExt cx="480" cy="317"/>
          </a:xfrm>
        </p:grpSpPr>
        <p:sp>
          <p:nvSpPr>
            <p:cNvPr id="344073" name="Text Box 9">
              <a:extLst>
                <a:ext uri="{FF2B5EF4-FFF2-40B4-BE49-F238E27FC236}">
                  <a16:creationId xmlns:a16="http://schemas.microsoft.com/office/drawing/2014/main" id="{75237067-BF79-1E50-9186-1C16B2E36AAB}"/>
                </a:ext>
              </a:extLst>
            </p:cNvPr>
            <p:cNvSpPr txBox="1">
              <a:spLocks noChangeArrowheads="1"/>
            </p:cNvSpPr>
            <p:nvPr/>
          </p:nvSpPr>
          <p:spPr bwMode="auto">
            <a:xfrm>
              <a:off x="624" y="2256"/>
              <a:ext cx="48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2006.10</a:t>
              </a:r>
            </a:p>
          </p:txBody>
        </p:sp>
        <p:sp>
          <p:nvSpPr>
            <p:cNvPr id="344074" name="Line 10">
              <a:extLst>
                <a:ext uri="{FF2B5EF4-FFF2-40B4-BE49-F238E27FC236}">
                  <a16:creationId xmlns:a16="http://schemas.microsoft.com/office/drawing/2014/main" id="{52440D4C-931B-A693-1A5B-ABC780175BF4}"/>
                </a:ext>
              </a:extLst>
            </p:cNvPr>
            <p:cNvSpPr>
              <a:spLocks noChangeShapeType="1"/>
            </p:cNvSpPr>
            <p:nvPr/>
          </p:nvSpPr>
          <p:spPr bwMode="auto">
            <a:xfrm>
              <a:off x="864" y="2112"/>
              <a:ext cx="0" cy="4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44076" name="Group 12">
            <a:extLst>
              <a:ext uri="{FF2B5EF4-FFF2-40B4-BE49-F238E27FC236}">
                <a16:creationId xmlns:a16="http://schemas.microsoft.com/office/drawing/2014/main" id="{8AB75450-1073-D06A-E1BE-A48360B502BA}"/>
              </a:ext>
            </a:extLst>
          </p:cNvPr>
          <p:cNvGrpSpPr>
            <a:grpSpLocks/>
          </p:cNvGrpSpPr>
          <p:nvPr/>
        </p:nvGrpSpPr>
        <p:grpSpPr bwMode="auto">
          <a:xfrm>
            <a:off x="2362200" y="5181600"/>
            <a:ext cx="762000" cy="503238"/>
            <a:chOff x="624" y="2112"/>
            <a:chExt cx="480" cy="317"/>
          </a:xfrm>
        </p:grpSpPr>
        <p:sp>
          <p:nvSpPr>
            <p:cNvPr id="344077" name="Text Box 13">
              <a:extLst>
                <a:ext uri="{FF2B5EF4-FFF2-40B4-BE49-F238E27FC236}">
                  <a16:creationId xmlns:a16="http://schemas.microsoft.com/office/drawing/2014/main" id="{C565DE26-2267-8701-5577-E2D6BC9DB65F}"/>
                </a:ext>
              </a:extLst>
            </p:cNvPr>
            <p:cNvSpPr txBox="1">
              <a:spLocks noChangeArrowheads="1"/>
            </p:cNvSpPr>
            <p:nvPr/>
          </p:nvSpPr>
          <p:spPr bwMode="auto">
            <a:xfrm>
              <a:off x="624" y="2256"/>
              <a:ext cx="48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2007.1</a:t>
              </a:r>
            </a:p>
          </p:txBody>
        </p:sp>
        <p:sp>
          <p:nvSpPr>
            <p:cNvPr id="344078" name="Line 14">
              <a:extLst>
                <a:ext uri="{FF2B5EF4-FFF2-40B4-BE49-F238E27FC236}">
                  <a16:creationId xmlns:a16="http://schemas.microsoft.com/office/drawing/2014/main" id="{7D8E7EE7-DAC5-3D4C-3155-6075E789C026}"/>
                </a:ext>
              </a:extLst>
            </p:cNvPr>
            <p:cNvSpPr>
              <a:spLocks noChangeShapeType="1"/>
            </p:cNvSpPr>
            <p:nvPr/>
          </p:nvSpPr>
          <p:spPr bwMode="auto">
            <a:xfrm>
              <a:off x="864" y="2112"/>
              <a:ext cx="0" cy="4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44079" name="Group 15">
            <a:extLst>
              <a:ext uri="{FF2B5EF4-FFF2-40B4-BE49-F238E27FC236}">
                <a16:creationId xmlns:a16="http://schemas.microsoft.com/office/drawing/2014/main" id="{CA0747AC-0C68-8AE0-FC65-ED604673FCA8}"/>
              </a:ext>
            </a:extLst>
          </p:cNvPr>
          <p:cNvGrpSpPr>
            <a:grpSpLocks/>
          </p:cNvGrpSpPr>
          <p:nvPr/>
        </p:nvGrpSpPr>
        <p:grpSpPr bwMode="auto">
          <a:xfrm>
            <a:off x="5943600" y="5181600"/>
            <a:ext cx="762000" cy="503238"/>
            <a:chOff x="624" y="2112"/>
            <a:chExt cx="480" cy="317"/>
          </a:xfrm>
        </p:grpSpPr>
        <p:sp>
          <p:nvSpPr>
            <p:cNvPr id="344080" name="Text Box 16">
              <a:extLst>
                <a:ext uri="{FF2B5EF4-FFF2-40B4-BE49-F238E27FC236}">
                  <a16:creationId xmlns:a16="http://schemas.microsoft.com/office/drawing/2014/main" id="{998F79C3-9D3B-1F2E-6CCD-F668AF571B8B}"/>
                </a:ext>
              </a:extLst>
            </p:cNvPr>
            <p:cNvSpPr txBox="1">
              <a:spLocks noChangeArrowheads="1"/>
            </p:cNvSpPr>
            <p:nvPr/>
          </p:nvSpPr>
          <p:spPr bwMode="auto">
            <a:xfrm>
              <a:off x="624" y="2256"/>
              <a:ext cx="48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2007.7</a:t>
              </a:r>
            </a:p>
          </p:txBody>
        </p:sp>
        <p:sp>
          <p:nvSpPr>
            <p:cNvPr id="344081" name="Line 17">
              <a:extLst>
                <a:ext uri="{FF2B5EF4-FFF2-40B4-BE49-F238E27FC236}">
                  <a16:creationId xmlns:a16="http://schemas.microsoft.com/office/drawing/2014/main" id="{6B6F86E9-EA49-1BD2-957E-1935B566D933}"/>
                </a:ext>
              </a:extLst>
            </p:cNvPr>
            <p:cNvSpPr>
              <a:spLocks noChangeShapeType="1"/>
            </p:cNvSpPr>
            <p:nvPr/>
          </p:nvSpPr>
          <p:spPr bwMode="auto">
            <a:xfrm>
              <a:off x="864" y="2112"/>
              <a:ext cx="0" cy="48"/>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44084" name="Line 20">
            <a:extLst>
              <a:ext uri="{FF2B5EF4-FFF2-40B4-BE49-F238E27FC236}">
                <a16:creationId xmlns:a16="http://schemas.microsoft.com/office/drawing/2014/main" id="{A977C365-273A-A09D-D496-72FDC2DC4E88}"/>
              </a:ext>
            </a:extLst>
          </p:cNvPr>
          <p:cNvSpPr>
            <a:spLocks noChangeShapeType="1"/>
          </p:cNvSpPr>
          <p:nvPr/>
        </p:nvSpPr>
        <p:spPr bwMode="auto">
          <a:xfrm>
            <a:off x="1371600" y="4953000"/>
            <a:ext cx="1371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4085" name="Line 21">
            <a:extLst>
              <a:ext uri="{FF2B5EF4-FFF2-40B4-BE49-F238E27FC236}">
                <a16:creationId xmlns:a16="http://schemas.microsoft.com/office/drawing/2014/main" id="{175C125C-B55C-A5E1-9E53-0E7A2232F8A4}"/>
              </a:ext>
            </a:extLst>
          </p:cNvPr>
          <p:cNvSpPr>
            <a:spLocks noChangeShapeType="1"/>
          </p:cNvSpPr>
          <p:nvPr/>
        </p:nvSpPr>
        <p:spPr bwMode="auto">
          <a:xfrm>
            <a:off x="2743200" y="4495800"/>
            <a:ext cx="3581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4086" name="Line 22">
            <a:extLst>
              <a:ext uri="{FF2B5EF4-FFF2-40B4-BE49-F238E27FC236}">
                <a16:creationId xmlns:a16="http://schemas.microsoft.com/office/drawing/2014/main" id="{7DF6AB03-4A5B-CFE9-557F-796ABC712E91}"/>
              </a:ext>
            </a:extLst>
          </p:cNvPr>
          <p:cNvSpPr>
            <a:spLocks noChangeShapeType="1"/>
          </p:cNvSpPr>
          <p:nvPr/>
        </p:nvSpPr>
        <p:spPr bwMode="auto">
          <a:xfrm>
            <a:off x="6324600" y="3962400"/>
            <a:ext cx="685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4087" name="Text Box 23">
            <a:extLst>
              <a:ext uri="{FF2B5EF4-FFF2-40B4-BE49-F238E27FC236}">
                <a16:creationId xmlns:a16="http://schemas.microsoft.com/office/drawing/2014/main" id="{88E4E773-904D-62E8-7D6A-1541724FB321}"/>
              </a:ext>
            </a:extLst>
          </p:cNvPr>
          <p:cNvSpPr txBox="1">
            <a:spLocks noChangeArrowheads="1"/>
          </p:cNvSpPr>
          <p:nvPr/>
        </p:nvSpPr>
        <p:spPr bwMode="auto">
          <a:xfrm>
            <a:off x="914400" y="4830763"/>
            <a:ext cx="381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w</a:t>
            </a:r>
            <a:r>
              <a:rPr lang="en-US" altLang="zh-CN" b="1" baseline="-25000"/>
              <a:t>0</a:t>
            </a:r>
          </a:p>
        </p:txBody>
      </p:sp>
      <p:grpSp>
        <p:nvGrpSpPr>
          <p:cNvPr id="344091" name="Group 27">
            <a:extLst>
              <a:ext uri="{FF2B5EF4-FFF2-40B4-BE49-F238E27FC236}">
                <a16:creationId xmlns:a16="http://schemas.microsoft.com/office/drawing/2014/main" id="{024C4D14-0748-F2F1-6DDA-EAB6C2D7B658}"/>
              </a:ext>
            </a:extLst>
          </p:cNvPr>
          <p:cNvGrpSpPr>
            <a:grpSpLocks/>
          </p:cNvGrpSpPr>
          <p:nvPr/>
        </p:nvGrpSpPr>
        <p:grpSpPr bwMode="auto">
          <a:xfrm>
            <a:off x="914400" y="3276600"/>
            <a:ext cx="6172200" cy="304800"/>
            <a:chOff x="576" y="2064"/>
            <a:chExt cx="3888" cy="192"/>
          </a:xfrm>
        </p:grpSpPr>
        <p:sp>
          <p:nvSpPr>
            <p:cNvPr id="344088" name="Text Box 24">
              <a:extLst>
                <a:ext uri="{FF2B5EF4-FFF2-40B4-BE49-F238E27FC236}">
                  <a16:creationId xmlns:a16="http://schemas.microsoft.com/office/drawing/2014/main" id="{6B736730-E5E3-2C24-8B84-8D0CA1E6B39A}"/>
                </a:ext>
              </a:extLst>
            </p:cNvPr>
            <p:cNvSpPr txBox="1">
              <a:spLocks noChangeArrowheads="1"/>
            </p:cNvSpPr>
            <p:nvPr/>
          </p:nvSpPr>
          <p:spPr bwMode="auto">
            <a:xfrm>
              <a:off x="576" y="2083"/>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W </a:t>
              </a:r>
              <a:r>
                <a:rPr lang="en-US" altLang="zh-CN" sz="2400" b="1" baseline="30000"/>
                <a:t>*</a:t>
              </a:r>
            </a:p>
          </p:txBody>
        </p:sp>
        <p:sp>
          <p:nvSpPr>
            <p:cNvPr id="344089" name="Line 25">
              <a:extLst>
                <a:ext uri="{FF2B5EF4-FFF2-40B4-BE49-F238E27FC236}">
                  <a16:creationId xmlns:a16="http://schemas.microsoft.com/office/drawing/2014/main" id="{CF844AEC-06F1-1EEC-FAA4-31C5DC20B53F}"/>
                </a:ext>
              </a:extLst>
            </p:cNvPr>
            <p:cNvSpPr>
              <a:spLocks noChangeShapeType="1"/>
            </p:cNvSpPr>
            <p:nvPr/>
          </p:nvSpPr>
          <p:spPr bwMode="auto">
            <a:xfrm>
              <a:off x="864" y="2064"/>
              <a:ext cx="3600" cy="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44094" name="Group 30">
            <a:extLst>
              <a:ext uri="{FF2B5EF4-FFF2-40B4-BE49-F238E27FC236}">
                <a16:creationId xmlns:a16="http://schemas.microsoft.com/office/drawing/2014/main" id="{6C55F93B-D723-A611-BD05-EC4F1C41FE9C}"/>
              </a:ext>
            </a:extLst>
          </p:cNvPr>
          <p:cNvGrpSpPr>
            <a:grpSpLocks/>
          </p:cNvGrpSpPr>
          <p:nvPr/>
        </p:nvGrpSpPr>
        <p:grpSpPr bwMode="auto">
          <a:xfrm>
            <a:off x="1371600" y="3124200"/>
            <a:ext cx="6400800" cy="2255838"/>
            <a:chOff x="864" y="1968"/>
            <a:chExt cx="4032" cy="1421"/>
          </a:xfrm>
        </p:grpSpPr>
        <p:sp>
          <p:nvSpPr>
            <p:cNvPr id="344083" name="Line 19">
              <a:extLst>
                <a:ext uri="{FF2B5EF4-FFF2-40B4-BE49-F238E27FC236}">
                  <a16:creationId xmlns:a16="http://schemas.microsoft.com/office/drawing/2014/main" id="{5D39A264-DBA7-B002-E5F9-355C077D04C6}"/>
                </a:ext>
              </a:extLst>
            </p:cNvPr>
            <p:cNvSpPr>
              <a:spLocks noChangeShapeType="1"/>
            </p:cNvSpPr>
            <p:nvPr/>
          </p:nvSpPr>
          <p:spPr bwMode="auto">
            <a:xfrm>
              <a:off x="864" y="1968"/>
              <a:ext cx="0" cy="134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344093" name="Group 29">
              <a:extLst>
                <a:ext uri="{FF2B5EF4-FFF2-40B4-BE49-F238E27FC236}">
                  <a16:creationId xmlns:a16="http://schemas.microsoft.com/office/drawing/2014/main" id="{E4C038E4-1C80-FCFA-F9B1-E298D763A6BF}"/>
                </a:ext>
              </a:extLst>
            </p:cNvPr>
            <p:cNvGrpSpPr>
              <a:grpSpLocks/>
            </p:cNvGrpSpPr>
            <p:nvPr/>
          </p:nvGrpSpPr>
          <p:grpSpPr bwMode="auto">
            <a:xfrm>
              <a:off x="864" y="3216"/>
              <a:ext cx="4032" cy="173"/>
              <a:chOff x="864" y="3216"/>
              <a:chExt cx="4032" cy="173"/>
            </a:xfrm>
          </p:grpSpPr>
          <p:sp>
            <p:nvSpPr>
              <p:cNvPr id="344072" name="Line 8">
                <a:extLst>
                  <a:ext uri="{FF2B5EF4-FFF2-40B4-BE49-F238E27FC236}">
                    <a16:creationId xmlns:a16="http://schemas.microsoft.com/office/drawing/2014/main" id="{C7E171EE-AF80-73A2-8140-62AC372C7D91}"/>
                  </a:ext>
                </a:extLst>
              </p:cNvPr>
              <p:cNvSpPr>
                <a:spLocks noChangeShapeType="1"/>
              </p:cNvSpPr>
              <p:nvPr/>
            </p:nvSpPr>
            <p:spPr bwMode="auto">
              <a:xfrm>
                <a:off x="864" y="3312"/>
                <a:ext cx="3552" cy="0"/>
              </a:xfrm>
              <a:prstGeom prst="line">
                <a:avLst/>
              </a:prstGeom>
              <a:noFill/>
              <a:ln w="3810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4092" name="Text Box 28">
                <a:extLst>
                  <a:ext uri="{FF2B5EF4-FFF2-40B4-BE49-F238E27FC236}">
                    <a16:creationId xmlns:a16="http://schemas.microsoft.com/office/drawing/2014/main" id="{88D69595-F908-9932-F6ED-6711B53CF728}"/>
                  </a:ext>
                </a:extLst>
              </p:cNvPr>
              <p:cNvSpPr txBox="1">
                <a:spLocks noChangeArrowheads="1"/>
              </p:cNvSpPr>
              <p:nvPr/>
            </p:nvSpPr>
            <p:spPr bwMode="auto">
              <a:xfrm>
                <a:off x="4464" y="3216"/>
                <a:ext cx="43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zh-CN" altLang="en-US" b="1">
                    <a:solidFill>
                      <a:srgbClr val="00FF00"/>
                    </a:solidFill>
                  </a:rPr>
                  <a:t>时间</a:t>
                </a:r>
                <a:endParaRPr lang="zh-CN" altLang="en-US" b="1" baseline="-25000">
                  <a:solidFill>
                    <a:srgbClr val="00FF00"/>
                  </a:solidFill>
                </a:endParaRPr>
              </a:p>
            </p:txBody>
          </p:sp>
        </p:grpSp>
      </p:grpSp>
      <p:sp>
        <p:nvSpPr>
          <p:cNvPr id="344096" name="Rectangle 32">
            <a:extLst>
              <a:ext uri="{FF2B5EF4-FFF2-40B4-BE49-F238E27FC236}">
                <a16:creationId xmlns:a16="http://schemas.microsoft.com/office/drawing/2014/main" id="{AD648D7A-9A86-D7DE-257F-14A5E38F81E9}"/>
              </a:ext>
            </a:extLst>
          </p:cNvPr>
          <p:cNvSpPr>
            <a:spLocks noChangeArrowheads="1"/>
          </p:cNvSpPr>
          <p:nvPr/>
        </p:nvSpPr>
        <p:spPr bwMode="auto">
          <a:xfrm>
            <a:off x="3716338" y="3200400"/>
            <a:ext cx="1236662"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2000" b="1">
                <a:solidFill>
                  <a:schemeClr val="tx2"/>
                </a:solidFill>
              </a:rPr>
              <a:t>？</a:t>
            </a:r>
          </a:p>
        </p:txBody>
      </p:sp>
      <p:sp>
        <p:nvSpPr>
          <p:cNvPr id="344098" name="Rectangle 34">
            <a:extLst>
              <a:ext uri="{FF2B5EF4-FFF2-40B4-BE49-F238E27FC236}">
                <a16:creationId xmlns:a16="http://schemas.microsoft.com/office/drawing/2014/main" id="{7A12B8E4-0277-44AE-33C9-077ED2B9C542}"/>
              </a:ext>
            </a:extLst>
          </p:cNvPr>
          <p:cNvSpPr>
            <a:spLocks noRot="1" noChangeArrowheads="1"/>
          </p:cNvSpPr>
          <p:nvPr/>
        </p:nvSpPr>
        <p:spPr bwMode="auto">
          <a:xfrm>
            <a:off x="609600" y="5943600"/>
            <a:ext cx="8382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400" b="1"/>
              <a:t>两点补充：</a:t>
            </a:r>
            <a:r>
              <a:rPr lang="zh-CN" altLang="en-US" sz="2000" b="1"/>
              <a:t>为什么不经常调整工资？（菜单成本理论）厂商为什么不和失业者谈判？（内部人</a:t>
            </a:r>
            <a:r>
              <a:rPr lang="en-US" altLang="zh-CN" sz="2000" b="1"/>
              <a:t>-</a:t>
            </a:r>
            <a:r>
              <a:rPr lang="zh-CN" altLang="en-US" sz="2000" b="1"/>
              <a:t>外部人模型，效率工资理论）</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44066"/>
                                        </p:tgtEl>
                                        <p:attrNameLst>
                                          <p:attrName>style.visibility</p:attrName>
                                        </p:attrNameLst>
                                      </p:cBhvr>
                                      <p:to>
                                        <p:strVal val="visible"/>
                                      </p:to>
                                    </p:set>
                                    <p:animEffect transition="in" filter="slide(fromTop)">
                                      <p:cBhvr>
                                        <p:cTn id="7" dur="500"/>
                                        <p:tgtEl>
                                          <p:spTgt spid="3440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344068"/>
                                        </p:tgtEl>
                                        <p:attrNameLst>
                                          <p:attrName>style.visibility</p:attrName>
                                        </p:attrNameLst>
                                      </p:cBhvr>
                                      <p:to>
                                        <p:strVal val="visible"/>
                                      </p:to>
                                    </p:set>
                                    <p:animEffect transition="in" filter="box(out)">
                                      <p:cBhvr>
                                        <p:cTn id="12" dur="500"/>
                                        <p:tgtEl>
                                          <p:spTgt spid="3440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344094"/>
                                        </p:tgtEl>
                                        <p:attrNameLst>
                                          <p:attrName>style.visibility</p:attrName>
                                        </p:attrNameLst>
                                      </p:cBhvr>
                                      <p:to>
                                        <p:strVal val="visible"/>
                                      </p:to>
                                    </p:set>
                                    <p:animEffect transition="in" filter="box(out)">
                                      <p:cBhvr>
                                        <p:cTn id="17" dur="500"/>
                                        <p:tgtEl>
                                          <p:spTgt spid="3440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2" fill="hold" nodeType="clickEffect">
                                  <p:stCondLst>
                                    <p:cond delay="0"/>
                                  </p:stCondLst>
                                  <p:childTnLst>
                                    <p:set>
                                      <p:cBhvr>
                                        <p:cTn id="21" dur="1" fill="hold">
                                          <p:stCondLst>
                                            <p:cond delay="0"/>
                                          </p:stCondLst>
                                        </p:cTn>
                                        <p:tgtEl>
                                          <p:spTgt spid="344087"/>
                                        </p:tgtEl>
                                        <p:attrNameLst>
                                          <p:attrName>style.visibility</p:attrName>
                                        </p:attrNameLst>
                                      </p:cBhvr>
                                      <p:to>
                                        <p:strVal val="visible"/>
                                      </p:to>
                                    </p:set>
                                    <p:animEffect transition="in" filter="slide(fromRight)">
                                      <p:cBhvr>
                                        <p:cTn id="22" dur="500"/>
                                        <p:tgtEl>
                                          <p:spTgt spid="3440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nodeType="clickEffect">
                                  <p:stCondLst>
                                    <p:cond delay="0"/>
                                  </p:stCondLst>
                                  <p:childTnLst>
                                    <p:set>
                                      <p:cBhvr>
                                        <p:cTn id="26" dur="1" fill="hold">
                                          <p:stCondLst>
                                            <p:cond delay="0"/>
                                          </p:stCondLst>
                                        </p:cTn>
                                        <p:tgtEl>
                                          <p:spTgt spid="344091"/>
                                        </p:tgtEl>
                                        <p:attrNameLst>
                                          <p:attrName>style.visibility</p:attrName>
                                        </p:attrNameLst>
                                      </p:cBhvr>
                                      <p:to>
                                        <p:strVal val="visible"/>
                                      </p:to>
                                    </p:set>
                                    <p:animEffect transition="in" filter="slide(fromLeft)">
                                      <p:cBhvr>
                                        <p:cTn id="27" dur="500"/>
                                        <p:tgtEl>
                                          <p:spTgt spid="3440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344075"/>
                                        </p:tgtEl>
                                        <p:attrNameLst>
                                          <p:attrName>style.visibility</p:attrName>
                                        </p:attrNameLst>
                                      </p:cBhvr>
                                      <p:to>
                                        <p:strVal val="visible"/>
                                      </p:to>
                                    </p:set>
                                    <p:animEffect transition="in" filter="box(out)">
                                      <p:cBhvr>
                                        <p:cTn id="32" dur="500"/>
                                        <p:tgtEl>
                                          <p:spTgt spid="3440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344076"/>
                                        </p:tgtEl>
                                        <p:attrNameLst>
                                          <p:attrName>style.visibility</p:attrName>
                                        </p:attrNameLst>
                                      </p:cBhvr>
                                      <p:to>
                                        <p:strVal val="visible"/>
                                      </p:to>
                                    </p:set>
                                    <p:animEffect transition="in" filter="box(out)">
                                      <p:cBhvr>
                                        <p:cTn id="37" dur="500"/>
                                        <p:tgtEl>
                                          <p:spTgt spid="34407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344079"/>
                                        </p:tgtEl>
                                        <p:attrNameLst>
                                          <p:attrName>style.visibility</p:attrName>
                                        </p:attrNameLst>
                                      </p:cBhvr>
                                      <p:to>
                                        <p:strVal val="visible"/>
                                      </p:to>
                                    </p:set>
                                    <p:animEffect transition="in" filter="box(in)">
                                      <p:cBhvr>
                                        <p:cTn id="42" dur="500"/>
                                        <p:tgtEl>
                                          <p:spTgt spid="34407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nodeType="clickEffect">
                                  <p:stCondLst>
                                    <p:cond delay="0"/>
                                  </p:stCondLst>
                                  <p:childTnLst>
                                    <p:set>
                                      <p:cBhvr>
                                        <p:cTn id="46" dur="1" fill="hold">
                                          <p:stCondLst>
                                            <p:cond delay="0"/>
                                          </p:stCondLst>
                                        </p:cTn>
                                        <p:tgtEl>
                                          <p:spTgt spid="344084"/>
                                        </p:tgtEl>
                                        <p:attrNameLst>
                                          <p:attrName>style.visibility</p:attrName>
                                        </p:attrNameLst>
                                      </p:cBhvr>
                                      <p:to>
                                        <p:strVal val="visible"/>
                                      </p:to>
                                    </p:set>
                                    <p:animEffect transition="in" filter="box(in)">
                                      <p:cBhvr>
                                        <p:cTn id="47" dur="500"/>
                                        <p:tgtEl>
                                          <p:spTgt spid="34408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499"/>
                                          </p:stCondLst>
                                        </p:cTn>
                                        <p:tgtEl>
                                          <p:spTgt spid="344096"/>
                                        </p:tgtEl>
                                        <p:attrNameLst>
                                          <p:attrName>style.visibility</p:attrName>
                                        </p:attrNameLst>
                                      </p:cBhvr>
                                      <p:to>
                                        <p:strVal val="visible"/>
                                      </p:to>
                                    </p:set>
                                  </p:childTnLst>
                                  <p:subTnLst>
                                    <p:set>
                                      <p:cBhvr override="childStyle">
                                        <p:cTn dur="1" fill="hold" display="0" masterRel="nextClick" afterEffect="1"/>
                                        <p:tgtEl>
                                          <p:spTgt spid="344096"/>
                                        </p:tgtEl>
                                        <p:attrNameLst>
                                          <p:attrName>style.visibility</p:attrName>
                                        </p:attrNameLst>
                                      </p:cBhvr>
                                      <p:to>
                                        <p:strVal val="hidden"/>
                                      </p:to>
                                    </p:set>
                                  </p:subTnLst>
                                </p:cTn>
                              </p:par>
                            </p:childTnLst>
                          </p:cTn>
                        </p:par>
                      </p:childTnLst>
                    </p:cTn>
                  </p:par>
                  <p:par>
                    <p:cTn id="52" fill="hold" nodeType="clickPar">
                      <p:stCondLst>
                        <p:cond delay="indefinite"/>
                      </p:stCondLst>
                      <p:childTnLst>
                        <p:par>
                          <p:cTn id="53" fill="hold" nodeType="withGroup">
                            <p:stCondLst>
                              <p:cond delay="0"/>
                            </p:stCondLst>
                            <p:childTnLst>
                              <p:par>
                                <p:cTn id="54" presetID="4" presetClass="entr" presetSubtype="16" fill="hold" nodeType="clickEffect">
                                  <p:stCondLst>
                                    <p:cond delay="0"/>
                                  </p:stCondLst>
                                  <p:childTnLst>
                                    <p:set>
                                      <p:cBhvr>
                                        <p:cTn id="55" dur="1" fill="hold">
                                          <p:stCondLst>
                                            <p:cond delay="0"/>
                                          </p:stCondLst>
                                        </p:cTn>
                                        <p:tgtEl>
                                          <p:spTgt spid="344085"/>
                                        </p:tgtEl>
                                        <p:attrNameLst>
                                          <p:attrName>style.visibility</p:attrName>
                                        </p:attrNameLst>
                                      </p:cBhvr>
                                      <p:to>
                                        <p:strVal val="visible"/>
                                      </p:to>
                                    </p:set>
                                    <p:animEffect transition="in" filter="box(in)">
                                      <p:cBhvr>
                                        <p:cTn id="56" dur="500"/>
                                        <p:tgtEl>
                                          <p:spTgt spid="34408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4" presetClass="entr" presetSubtype="16" fill="hold" nodeType="clickEffect">
                                  <p:stCondLst>
                                    <p:cond delay="0"/>
                                  </p:stCondLst>
                                  <p:childTnLst>
                                    <p:set>
                                      <p:cBhvr>
                                        <p:cTn id="60" dur="1" fill="hold">
                                          <p:stCondLst>
                                            <p:cond delay="0"/>
                                          </p:stCondLst>
                                        </p:cTn>
                                        <p:tgtEl>
                                          <p:spTgt spid="344086"/>
                                        </p:tgtEl>
                                        <p:attrNameLst>
                                          <p:attrName>style.visibility</p:attrName>
                                        </p:attrNameLst>
                                      </p:cBhvr>
                                      <p:to>
                                        <p:strVal val="visible"/>
                                      </p:to>
                                    </p:set>
                                    <p:animEffect transition="in" filter="box(in)">
                                      <p:cBhvr>
                                        <p:cTn id="61" dur="500"/>
                                        <p:tgtEl>
                                          <p:spTgt spid="34408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4" presetClass="entr" presetSubtype="32" fill="hold" nodeType="clickEffect">
                                  <p:stCondLst>
                                    <p:cond delay="0"/>
                                  </p:stCondLst>
                                  <p:childTnLst>
                                    <p:set>
                                      <p:cBhvr>
                                        <p:cTn id="65" dur="1" fill="hold">
                                          <p:stCondLst>
                                            <p:cond delay="0"/>
                                          </p:stCondLst>
                                        </p:cTn>
                                        <p:tgtEl>
                                          <p:spTgt spid="344098"/>
                                        </p:tgtEl>
                                        <p:attrNameLst>
                                          <p:attrName>style.visibility</p:attrName>
                                        </p:attrNameLst>
                                      </p:cBhvr>
                                      <p:to>
                                        <p:strVal val="visible"/>
                                      </p:to>
                                    </p:set>
                                    <p:animEffect transition="in" filter="box(out)">
                                      <p:cBhvr>
                                        <p:cTn id="66" dur="500"/>
                                        <p:tgtEl>
                                          <p:spTgt spid="34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6" grpId="0" autoUpdateAnimBg="0"/>
      <p:bldP spid="344068" grpId="0" autoUpdateAnimBg="0"/>
      <p:bldP spid="344087" grpId="0" autoUpdateAnimBg="0"/>
      <p:bldP spid="344096" grpId="0" autoUpdateAnimBg="0"/>
      <p:bldP spid="344098"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42022" name="Picture 6">
            <a:extLst>
              <a:ext uri="{FF2B5EF4-FFF2-40B4-BE49-F238E27FC236}">
                <a16:creationId xmlns:a16="http://schemas.microsoft.com/office/drawing/2014/main" id="{B245C635-CEF7-5093-F61E-18D6CBEE36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012950"/>
            <a:ext cx="7005638" cy="4768850"/>
          </a:xfrm>
          <a:prstGeom prst="rect">
            <a:avLst/>
          </a:prstGeom>
          <a:noFill/>
          <a:extLst>
            <a:ext uri="{909E8E84-426E-40DD-AFC4-6F175D3DCCD1}">
              <a14:hiddenFill xmlns:a14="http://schemas.microsoft.com/office/drawing/2010/main">
                <a:solidFill>
                  <a:srgbClr val="FFFFFF"/>
                </a:solidFill>
              </a14:hiddenFill>
            </a:ext>
          </a:extLst>
        </p:spPr>
      </p:pic>
      <p:sp>
        <p:nvSpPr>
          <p:cNvPr id="342018" name="Rectangle 2">
            <a:extLst>
              <a:ext uri="{FF2B5EF4-FFF2-40B4-BE49-F238E27FC236}">
                <a16:creationId xmlns:a16="http://schemas.microsoft.com/office/drawing/2014/main" id="{8A3E8779-F024-BF3B-C1D2-04FF9EB83307}"/>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2.4 Phillips</a:t>
            </a:r>
            <a:r>
              <a:rPr lang="zh-CN" altLang="en-US" b="1">
                <a:solidFill>
                  <a:srgbClr val="CC0000"/>
                </a:solidFill>
              </a:rPr>
              <a:t>曲线</a:t>
            </a:r>
            <a:r>
              <a:rPr lang="en-US" altLang="zh-CN" b="1">
                <a:solidFill>
                  <a:srgbClr val="CC0000"/>
                </a:solidFill>
              </a:rPr>
              <a:t>_</a:t>
            </a:r>
            <a:r>
              <a:rPr lang="zh-CN" altLang="en-US" b="1">
                <a:solidFill>
                  <a:srgbClr val="CC0000"/>
                </a:solidFill>
              </a:rPr>
              <a:t>发展</a:t>
            </a:r>
          </a:p>
        </p:txBody>
      </p:sp>
      <p:sp>
        <p:nvSpPr>
          <p:cNvPr id="342019" name="Rectangle 3">
            <a:extLst>
              <a:ext uri="{FF2B5EF4-FFF2-40B4-BE49-F238E27FC236}">
                <a16:creationId xmlns:a16="http://schemas.microsoft.com/office/drawing/2014/main" id="{EED76F2F-B46F-251A-DC68-1E22EBA42DC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42020" name="Rectangle 4">
            <a:extLst>
              <a:ext uri="{FF2B5EF4-FFF2-40B4-BE49-F238E27FC236}">
                <a16:creationId xmlns:a16="http://schemas.microsoft.com/office/drawing/2014/main" id="{237A0FE6-FD81-89EF-8326-E737A75844A7}"/>
              </a:ext>
            </a:extLst>
          </p:cNvPr>
          <p:cNvSpPr>
            <a:spLocks noRot="1" noChangeArrowheads="1"/>
          </p:cNvSpPr>
          <p:nvPr/>
        </p:nvSpPr>
        <p:spPr bwMode="auto">
          <a:xfrm>
            <a:off x="304800" y="1524000"/>
            <a:ext cx="8839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400" b="1"/>
              <a:t>在上个世纪</a:t>
            </a:r>
            <a:r>
              <a:rPr lang="en-US" altLang="zh-CN" sz="2400" b="1"/>
              <a:t>70</a:t>
            </a:r>
            <a:r>
              <a:rPr lang="zh-CN" altLang="en-US" sz="2400" b="1"/>
              <a:t>年代以前，原始的</a:t>
            </a:r>
            <a:r>
              <a:rPr lang="en-US" altLang="zh-CN" sz="2400" b="1"/>
              <a:t>Phillips</a:t>
            </a:r>
            <a:r>
              <a:rPr lang="zh-CN" altLang="en-US" sz="2400" b="1"/>
              <a:t>曲线与实际比较吻合</a:t>
            </a:r>
            <a:endParaRPr lang="zh-CN" altLang="en-US" sz="2400" b="1">
              <a:solidFill>
                <a:schemeClr val="tx2"/>
              </a:solidFill>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42018"/>
                                        </p:tgtEl>
                                        <p:attrNameLst>
                                          <p:attrName>style.visibility</p:attrName>
                                        </p:attrNameLst>
                                      </p:cBhvr>
                                      <p:to>
                                        <p:strVal val="visible"/>
                                      </p:to>
                                    </p:set>
                                    <p:animEffect transition="in" filter="slide(fromTop)">
                                      <p:cBhvr>
                                        <p:cTn id="7" dur="500"/>
                                        <p:tgtEl>
                                          <p:spTgt spid="3420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42020"/>
                                        </p:tgtEl>
                                        <p:attrNameLst>
                                          <p:attrName>style.visibility</p:attrName>
                                        </p:attrNameLst>
                                      </p:cBhvr>
                                      <p:to>
                                        <p:strVal val="visible"/>
                                      </p:to>
                                    </p:set>
                                    <p:animEffect transition="in" filter="slide(fromBottom)">
                                      <p:cBhvr>
                                        <p:cTn id="12" dur="500"/>
                                        <p:tgtEl>
                                          <p:spTgt spid="3420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342022"/>
                                        </p:tgtEl>
                                        <p:attrNameLst>
                                          <p:attrName>style.visibility</p:attrName>
                                        </p:attrNameLst>
                                      </p:cBhvr>
                                      <p:to>
                                        <p:strVal val="visible"/>
                                      </p:to>
                                    </p:set>
                                    <p:animEffect transition="in" filter="box(out)">
                                      <p:cBhvr>
                                        <p:cTn id="17" dur="500"/>
                                        <p:tgtEl>
                                          <p:spTgt spid="342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018" grpId="0" autoUpdateAnimBg="0"/>
      <p:bldP spid="342020"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43046" name="Picture 6">
            <a:extLst>
              <a:ext uri="{FF2B5EF4-FFF2-40B4-BE49-F238E27FC236}">
                <a16:creationId xmlns:a16="http://schemas.microsoft.com/office/drawing/2014/main" id="{7A87646F-8450-E9AD-7735-4AFCA859B0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946275"/>
            <a:ext cx="6400800" cy="4835525"/>
          </a:xfrm>
          <a:prstGeom prst="rect">
            <a:avLst/>
          </a:prstGeom>
          <a:noFill/>
          <a:extLst>
            <a:ext uri="{909E8E84-426E-40DD-AFC4-6F175D3DCCD1}">
              <a14:hiddenFill xmlns:a14="http://schemas.microsoft.com/office/drawing/2010/main">
                <a:solidFill>
                  <a:srgbClr val="FFFFFF"/>
                </a:solidFill>
              </a14:hiddenFill>
            </a:ext>
          </a:extLst>
        </p:spPr>
      </p:pic>
      <p:sp>
        <p:nvSpPr>
          <p:cNvPr id="343043" name="Rectangle 3">
            <a:extLst>
              <a:ext uri="{FF2B5EF4-FFF2-40B4-BE49-F238E27FC236}">
                <a16:creationId xmlns:a16="http://schemas.microsoft.com/office/drawing/2014/main" id="{E1C9A6C1-F695-6B92-4663-410E629F5FE4}"/>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2.4 Phillips</a:t>
            </a:r>
            <a:r>
              <a:rPr lang="zh-CN" altLang="en-US" b="1">
                <a:solidFill>
                  <a:srgbClr val="CC0000"/>
                </a:solidFill>
              </a:rPr>
              <a:t>曲线</a:t>
            </a:r>
            <a:r>
              <a:rPr lang="en-US" altLang="zh-CN" b="1">
                <a:solidFill>
                  <a:srgbClr val="CC0000"/>
                </a:solidFill>
              </a:rPr>
              <a:t>_</a:t>
            </a:r>
            <a:r>
              <a:rPr lang="zh-CN" altLang="en-US" b="1">
                <a:solidFill>
                  <a:srgbClr val="CC0000"/>
                </a:solidFill>
              </a:rPr>
              <a:t>发展</a:t>
            </a:r>
          </a:p>
        </p:txBody>
      </p:sp>
      <p:sp>
        <p:nvSpPr>
          <p:cNvPr id="343044" name="Rectangle 4">
            <a:extLst>
              <a:ext uri="{FF2B5EF4-FFF2-40B4-BE49-F238E27FC236}">
                <a16:creationId xmlns:a16="http://schemas.microsoft.com/office/drawing/2014/main" id="{1D53E06E-C3F4-6496-116A-C36673DA477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43045" name="Rectangle 5">
            <a:extLst>
              <a:ext uri="{FF2B5EF4-FFF2-40B4-BE49-F238E27FC236}">
                <a16:creationId xmlns:a16="http://schemas.microsoft.com/office/drawing/2014/main" id="{D25EBE17-A0D3-E498-4F40-8D7FB80DE3BB}"/>
              </a:ext>
            </a:extLst>
          </p:cNvPr>
          <p:cNvSpPr>
            <a:spLocks noRot="1" noChangeArrowheads="1"/>
          </p:cNvSpPr>
          <p:nvPr/>
        </p:nvSpPr>
        <p:spPr bwMode="auto">
          <a:xfrm>
            <a:off x="304800" y="1524000"/>
            <a:ext cx="8839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400" b="1"/>
              <a:t>在上个世纪</a:t>
            </a:r>
            <a:r>
              <a:rPr lang="en-US" altLang="zh-CN" sz="2400" b="1"/>
              <a:t>70</a:t>
            </a:r>
            <a:r>
              <a:rPr lang="zh-CN" altLang="en-US" sz="2400" b="1"/>
              <a:t>年代后，原始的</a:t>
            </a:r>
            <a:r>
              <a:rPr lang="en-US" altLang="zh-CN" sz="2400" b="1"/>
              <a:t>Phillips</a:t>
            </a:r>
            <a:r>
              <a:rPr lang="zh-CN" altLang="en-US" sz="2400" b="1"/>
              <a:t>曲线与实际不再吻合</a:t>
            </a:r>
            <a:endParaRPr lang="zh-CN" altLang="en-US" sz="2400" b="1">
              <a:solidFill>
                <a:schemeClr val="tx2"/>
              </a:solidFill>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43043"/>
                                        </p:tgtEl>
                                        <p:attrNameLst>
                                          <p:attrName>style.visibility</p:attrName>
                                        </p:attrNameLst>
                                      </p:cBhvr>
                                      <p:to>
                                        <p:strVal val="visible"/>
                                      </p:to>
                                    </p:set>
                                    <p:animEffect transition="in" filter="slide(fromTop)">
                                      <p:cBhvr>
                                        <p:cTn id="7" dur="500"/>
                                        <p:tgtEl>
                                          <p:spTgt spid="3430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43045"/>
                                        </p:tgtEl>
                                        <p:attrNameLst>
                                          <p:attrName>style.visibility</p:attrName>
                                        </p:attrNameLst>
                                      </p:cBhvr>
                                      <p:to>
                                        <p:strVal val="visible"/>
                                      </p:to>
                                    </p:set>
                                    <p:animEffect transition="in" filter="slide(fromBottom)">
                                      <p:cBhvr>
                                        <p:cTn id="12" dur="500"/>
                                        <p:tgtEl>
                                          <p:spTgt spid="3430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343046"/>
                                        </p:tgtEl>
                                        <p:attrNameLst>
                                          <p:attrName>style.visibility</p:attrName>
                                        </p:attrNameLst>
                                      </p:cBhvr>
                                      <p:to>
                                        <p:strVal val="visible"/>
                                      </p:to>
                                    </p:set>
                                    <p:animEffect transition="in" filter="box(out)">
                                      <p:cBhvr>
                                        <p:cTn id="17" dur="500"/>
                                        <p:tgtEl>
                                          <p:spTgt spid="343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3043" grpId="0" autoUpdateAnimBg="0"/>
      <p:bldP spid="34304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7139" name="Rectangle 3">
            <a:extLst>
              <a:ext uri="{FF2B5EF4-FFF2-40B4-BE49-F238E27FC236}">
                <a16:creationId xmlns:a16="http://schemas.microsoft.com/office/drawing/2014/main" id="{483BB2E2-7D53-9C91-B672-C094F7B10965}"/>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2.4 Phillips</a:t>
            </a:r>
            <a:r>
              <a:rPr lang="zh-CN" altLang="en-US" b="1">
                <a:solidFill>
                  <a:srgbClr val="CC0000"/>
                </a:solidFill>
              </a:rPr>
              <a:t>曲线</a:t>
            </a:r>
            <a:r>
              <a:rPr lang="en-US" altLang="zh-CN" b="1">
                <a:solidFill>
                  <a:srgbClr val="CC0000"/>
                </a:solidFill>
              </a:rPr>
              <a:t>_</a:t>
            </a:r>
            <a:r>
              <a:rPr lang="zh-CN" altLang="en-US" b="1">
                <a:solidFill>
                  <a:srgbClr val="CC0000"/>
                </a:solidFill>
              </a:rPr>
              <a:t>发展</a:t>
            </a:r>
          </a:p>
        </p:txBody>
      </p:sp>
      <p:sp>
        <p:nvSpPr>
          <p:cNvPr id="347140" name="Rectangle 4">
            <a:extLst>
              <a:ext uri="{FF2B5EF4-FFF2-40B4-BE49-F238E27FC236}">
                <a16:creationId xmlns:a16="http://schemas.microsoft.com/office/drawing/2014/main" id="{C46412E3-EB48-9FF9-E12C-774AD24BDC6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47141" name="Rectangle 5">
            <a:extLst>
              <a:ext uri="{FF2B5EF4-FFF2-40B4-BE49-F238E27FC236}">
                <a16:creationId xmlns:a16="http://schemas.microsoft.com/office/drawing/2014/main" id="{4C790ED0-AD12-F300-86EB-079C5BF056B2}"/>
              </a:ext>
            </a:extLst>
          </p:cNvPr>
          <p:cNvSpPr>
            <a:spLocks noRot="1" noChangeArrowheads="1"/>
          </p:cNvSpPr>
          <p:nvPr/>
        </p:nvSpPr>
        <p:spPr bwMode="auto">
          <a:xfrm>
            <a:off x="304800" y="1524000"/>
            <a:ext cx="8763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400" b="1"/>
              <a:t>在上个世纪</a:t>
            </a:r>
            <a:r>
              <a:rPr lang="en-US" altLang="zh-CN" sz="2400" b="1"/>
              <a:t>70</a:t>
            </a:r>
            <a:r>
              <a:rPr lang="zh-CN" altLang="en-US" sz="2400" b="1"/>
              <a:t>年代后，原始的</a:t>
            </a:r>
            <a:r>
              <a:rPr lang="en-US" altLang="zh-CN" sz="2400" b="1"/>
              <a:t>Phillips</a:t>
            </a:r>
            <a:r>
              <a:rPr lang="zh-CN" altLang="en-US" sz="2400" b="1"/>
              <a:t>为什么失灵啦？</a:t>
            </a:r>
          </a:p>
          <a:p>
            <a:pPr lvl="1">
              <a:spcBef>
                <a:spcPct val="20000"/>
              </a:spcBef>
              <a:buClr>
                <a:schemeClr val="hlink"/>
              </a:buClr>
              <a:buSzPct val="85000"/>
              <a:buFont typeface="Wingdings" panose="05000000000000000000" pitchFamily="2" charset="2"/>
              <a:buChar char="§"/>
            </a:pPr>
            <a:r>
              <a:rPr lang="zh-CN" altLang="en-US" sz="2000" b="1"/>
              <a:t>仅通过</a:t>
            </a:r>
            <a:r>
              <a:rPr lang="en-US" altLang="zh-CN" sz="2000" b="1"/>
              <a:t>u*</a:t>
            </a:r>
            <a:r>
              <a:rPr lang="zh-CN" altLang="en-US" sz="2000" b="1"/>
              <a:t>的变化能否解释失业率与通货膨胀（工资变动率）</a:t>
            </a:r>
            <a:r>
              <a:rPr lang="en-US" altLang="zh-CN" sz="2000" b="1"/>
              <a:t>70</a:t>
            </a:r>
            <a:r>
              <a:rPr lang="zh-CN" altLang="en-US" sz="2000" b="1"/>
              <a:t>年之后的变动态势？</a:t>
            </a:r>
          </a:p>
        </p:txBody>
      </p:sp>
      <p:graphicFrame>
        <p:nvGraphicFramePr>
          <p:cNvPr id="347142" name="Object 6">
            <a:extLst>
              <a:ext uri="{FF2B5EF4-FFF2-40B4-BE49-F238E27FC236}">
                <a16:creationId xmlns:a16="http://schemas.microsoft.com/office/drawing/2014/main" id="{67D5E50A-5956-113A-DF5C-37554767F49C}"/>
              </a:ext>
            </a:extLst>
          </p:cNvPr>
          <p:cNvGraphicFramePr>
            <a:graphicFrameLocks noChangeAspect="1"/>
          </p:cNvGraphicFramePr>
          <p:nvPr/>
        </p:nvGraphicFramePr>
        <p:xfrm>
          <a:off x="927100" y="2819400"/>
          <a:ext cx="2106613" cy="547688"/>
        </p:xfrm>
        <a:graphic>
          <a:graphicData uri="http://schemas.openxmlformats.org/presentationml/2006/ole">
            <mc:AlternateContent xmlns:mc="http://schemas.openxmlformats.org/markup-compatibility/2006">
              <mc:Choice xmlns:v="urn:schemas-microsoft-com:vml" Requires="v">
                <p:oleObj name="Equation" r:id="rId2" imgW="1002960" imgH="228600" progId="Equation.DSMT4">
                  <p:embed/>
                </p:oleObj>
              </mc:Choice>
              <mc:Fallback>
                <p:oleObj name="Equation" r:id="rId2" imgW="1002960" imgH="228600" progId="Equation.DSMT4">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7100" y="2819400"/>
                        <a:ext cx="2106613" cy="54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7144" name="Line 8">
            <a:extLst>
              <a:ext uri="{FF2B5EF4-FFF2-40B4-BE49-F238E27FC236}">
                <a16:creationId xmlns:a16="http://schemas.microsoft.com/office/drawing/2014/main" id="{1C4A6B4A-B818-9D65-CEB9-D81A47198162}"/>
              </a:ext>
            </a:extLst>
          </p:cNvPr>
          <p:cNvSpPr>
            <a:spLocks noChangeShapeType="1"/>
          </p:cNvSpPr>
          <p:nvPr/>
        </p:nvSpPr>
        <p:spPr bwMode="auto">
          <a:xfrm>
            <a:off x="5257800" y="3733800"/>
            <a:ext cx="1752600" cy="1371600"/>
          </a:xfrm>
          <a:prstGeom prst="line">
            <a:avLst/>
          </a:prstGeom>
          <a:noFill/>
          <a:ln w="571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347158" name="Group 22">
            <a:extLst>
              <a:ext uri="{FF2B5EF4-FFF2-40B4-BE49-F238E27FC236}">
                <a16:creationId xmlns:a16="http://schemas.microsoft.com/office/drawing/2014/main" id="{7AD23142-BA9A-77C0-FDB9-4FF202F6E818}"/>
              </a:ext>
            </a:extLst>
          </p:cNvPr>
          <p:cNvGrpSpPr>
            <a:grpSpLocks/>
          </p:cNvGrpSpPr>
          <p:nvPr/>
        </p:nvGrpSpPr>
        <p:grpSpPr bwMode="auto">
          <a:xfrm>
            <a:off x="6324600" y="2971800"/>
            <a:ext cx="381000" cy="2103438"/>
            <a:chOff x="3984" y="1872"/>
            <a:chExt cx="240" cy="1325"/>
          </a:xfrm>
        </p:grpSpPr>
        <p:sp>
          <p:nvSpPr>
            <p:cNvPr id="347145" name="Line 9">
              <a:extLst>
                <a:ext uri="{FF2B5EF4-FFF2-40B4-BE49-F238E27FC236}">
                  <a16:creationId xmlns:a16="http://schemas.microsoft.com/office/drawing/2014/main" id="{CD1739BB-8B70-633E-9B18-291619C79759}"/>
                </a:ext>
              </a:extLst>
            </p:cNvPr>
            <p:cNvSpPr>
              <a:spLocks noChangeShapeType="1"/>
            </p:cNvSpPr>
            <p:nvPr/>
          </p:nvSpPr>
          <p:spPr bwMode="auto">
            <a:xfrm flipH="1" flipV="1">
              <a:off x="4128" y="1872"/>
              <a:ext cx="0" cy="1104"/>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7146" name="Text Box 10">
              <a:extLst>
                <a:ext uri="{FF2B5EF4-FFF2-40B4-BE49-F238E27FC236}">
                  <a16:creationId xmlns:a16="http://schemas.microsoft.com/office/drawing/2014/main" id="{C676249B-BE65-A0DE-A0A8-53CF955A4852}"/>
                </a:ext>
              </a:extLst>
            </p:cNvPr>
            <p:cNvSpPr txBox="1">
              <a:spLocks noChangeArrowheads="1"/>
            </p:cNvSpPr>
            <p:nvPr/>
          </p:nvSpPr>
          <p:spPr bwMode="auto">
            <a:xfrm>
              <a:off x="3984" y="3024"/>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solidFill>
                    <a:schemeClr val="tx2"/>
                  </a:solidFill>
                </a:rPr>
                <a:t>u*</a:t>
              </a:r>
            </a:p>
          </p:txBody>
        </p:sp>
      </p:grpSp>
      <p:grpSp>
        <p:nvGrpSpPr>
          <p:cNvPr id="347153" name="Group 17">
            <a:extLst>
              <a:ext uri="{FF2B5EF4-FFF2-40B4-BE49-F238E27FC236}">
                <a16:creationId xmlns:a16="http://schemas.microsoft.com/office/drawing/2014/main" id="{818595AA-4D8F-E974-B10E-049AE5E93135}"/>
              </a:ext>
            </a:extLst>
          </p:cNvPr>
          <p:cNvGrpSpPr>
            <a:grpSpLocks/>
          </p:cNvGrpSpPr>
          <p:nvPr/>
        </p:nvGrpSpPr>
        <p:grpSpPr bwMode="auto">
          <a:xfrm>
            <a:off x="4419600" y="2697163"/>
            <a:ext cx="3581400" cy="2324100"/>
            <a:chOff x="1296" y="1536"/>
            <a:chExt cx="2256" cy="1464"/>
          </a:xfrm>
        </p:grpSpPr>
        <p:sp>
          <p:nvSpPr>
            <p:cNvPr id="347154" name="Line 18">
              <a:extLst>
                <a:ext uri="{FF2B5EF4-FFF2-40B4-BE49-F238E27FC236}">
                  <a16:creationId xmlns:a16="http://schemas.microsoft.com/office/drawing/2014/main" id="{BE463C01-72F3-3D13-AEFF-DAEE73C5414A}"/>
                </a:ext>
              </a:extLst>
            </p:cNvPr>
            <p:cNvSpPr>
              <a:spLocks noChangeShapeType="1"/>
            </p:cNvSpPr>
            <p:nvPr/>
          </p:nvSpPr>
          <p:spPr bwMode="auto">
            <a:xfrm>
              <a:off x="1584" y="1536"/>
              <a:ext cx="0" cy="12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7155" name="Line 19">
              <a:extLst>
                <a:ext uri="{FF2B5EF4-FFF2-40B4-BE49-F238E27FC236}">
                  <a16:creationId xmlns:a16="http://schemas.microsoft.com/office/drawing/2014/main" id="{99D7B25A-B0D6-C580-E74D-3A2768EA65C4}"/>
                </a:ext>
              </a:extLst>
            </p:cNvPr>
            <p:cNvSpPr>
              <a:spLocks noChangeShapeType="1"/>
            </p:cNvSpPr>
            <p:nvPr/>
          </p:nvSpPr>
          <p:spPr bwMode="auto">
            <a:xfrm>
              <a:off x="1584" y="2832"/>
              <a:ext cx="17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7156" name="Text Box 20">
              <a:extLst>
                <a:ext uri="{FF2B5EF4-FFF2-40B4-BE49-F238E27FC236}">
                  <a16:creationId xmlns:a16="http://schemas.microsoft.com/office/drawing/2014/main" id="{F1D17A7D-32D2-F429-A6C0-3294CE749837}"/>
                </a:ext>
              </a:extLst>
            </p:cNvPr>
            <p:cNvSpPr txBox="1">
              <a:spLocks noChangeArrowheads="1"/>
            </p:cNvSpPr>
            <p:nvPr/>
          </p:nvSpPr>
          <p:spPr bwMode="auto">
            <a:xfrm>
              <a:off x="3312" y="2827"/>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u</a:t>
              </a:r>
            </a:p>
          </p:txBody>
        </p:sp>
        <p:sp>
          <p:nvSpPr>
            <p:cNvPr id="347157" name="Text Box 21">
              <a:extLst>
                <a:ext uri="{FF2B5EF4-FFF2-40B4-BE49-F238E27FC236}">
                  <a16:creationId xmlns:a16="http://schemas.microsoft.com/office/drawing/2014/main" id="{00B36288-6CB3-CAA7-826B-4454F7AA66E4}"/>
                </a:ext>
              </a:extLst>
            </p:cNvPr>
            <p:cNvSpPr txBox="1">
              <a:spLocks noChangeArrowheads="1"/>
            </p:cNvSpPr>
            <p:nvPr/>
          </p:nvSpPr>
          <p:spPr bwMode="auto">
            <a:xfrm>
              <a:off x="1296" y="1536"/>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g</a:t>
              </a:r>
              <a:r>
                <a:rPr lang="en-US" altLang="zh-CN" b="1" baseline="-25000"/>
                <a:t>W</a:t>
              </a:r>
            </a:p>
          </p:txBody>
        </p:sp>
      </p:grpSp>
      <p:grpSp>
        <p:nvGrpSpPr>
          <p:cNvPr id="347163" name="Group 27">
            <a:extLst>
              <a:ext uri="{FF2B5EF4-FFF2-40B4-BE49-F238E27FC236}">
                <a16:creationId xmlns:a16="http://schemas.microsoft.com/office/drawing/2014/main" id="{EE31D831-9912-EE0F-E769-8680917383B7}"/>
              </a:ext>
            </a:extLst>
          </p:cNvPr>
          <p:cNvGrpSpPr>
            <a:grpSpLocks/>
          </p:cNvGrpSpPr>
          <p:nvPr/>
        </p:nvGrpSpPr>
        <p:grpSpPr bwMode="auto">
          <a:xfrm>
            <a:off x="5943600" y="2971800"/>
            <a:ext cx="1752600" cy="2133600"/>
            <a:chOff x="3408" y="3072"/>
            <a:chExt cx="1104" cy="1344"/>
          </a:xfrm>
        </p:grpSpPr>
        <p:sp>
          <p:nvSpPr>
            <p:cNvPr id="347159" name="Line 23">
              <a:extLst>
                <a:ext uri="{FF2B5EF4-FFF2-40B4-BE49-F238E27FC236}">
                  <a16:creationId xmlns:a16="http://schemas.microsoft.com/office/drawing/2014/main" id="{0038A2B3-B9A1-DB8C-985E-EB0DF26A7ACF}"/>
                </a:ext>
              </a:extLst>
            </p:cNvPr>
            <p:cNvSpPr>
              <a:spLocks noChangeShapeType="1"/>
            </p:cNvSpPr>
            <p:nvPr/>
          </p:nvSpPr>
          <p:spPr bwMode="auto">
            <a:xfrm>
              <a:off x="3408" y="3552"/>
              <a:ext cx="1104" cy="864"/>
            </a:xfrm>
            <a:prstGeom prst="line">
              <a:avLst/>
            </a:prstGeom>
            <a:noFill/>
            <a:ln w="571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347160" name="Group 24">
              <a:extLst>
                <a:ext uri="{FF2B5EF4-FFF2-40B4-BE49-F238E27FC236}">
                  <a16:creationId xmlns:a16="http://schemas.microsoft.com/office/drawing/2014/main" id="{328DA32B-58F8-CCA2-9AB5-7917B2C926A2}"/>
                </a:ext>
              </a:extLst>
            </p:cNvPr>
            <p:cNvGrpSpPr>
              <a:grpSpLocks/>
            </p:cNvGrpSpPr>
            <p:nvPr/>
          </p:nvGrpSpPr>
          <p:grpSpPr bwMode="auto">
            <a:xfrm>
              <a:off x="4080" y="3072"/>
              <a:ext cx="240" cy="1325"/>
              <a:chOff x="3984" y="1872"/>
              <a:chExt cx="240" cy="1325"/>
            </a:xfrm>
          </p:grpSpPr>
          <p:sp>
            <p:nvSpPr>
              <p:cNvPr id="347161" name="Line 25">
                <a:extLst>
                  <a:ext uri="{FF2B5EF4-FFF2-40B4-BE49-F238E27FC236}">
                    <a16:creationId xmlns:a16="http://schemas.microsoft.com/office/drawing/2014/main" id="{CE1FA27A-FD7A-F006-58AE-7D4683F0713B}"/>
                  </a:ext>
                </a:extLst>
              </p:cNvPr>
              <p:cNvSpPr>
                <a:spLocks noChangeShapeType="1"/>
              </p:cNvSpPr>
              <p:nvPr/>
            </p:nvSpPr>
            <p:spPr bwMode="auto">
              <a:xfrm flipH="1" flipV="1">
                <a:off x="4128" y="1872"/>
                <a:ext cx="0" cy="1104"/>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7162" name="Text Box 26">
                <a:extLst>
                  <a:ext uri="{FF2B5EF4-FFF2-40B4-BE49-F238E27FC236}">
                    <a16:creationId xmlns:a16="http://schemas.microsoft.com/office/drawing/2014/main" id="{B63C6110-8CFB-C640-8721-73B76CFECA81}"/>
                  </a:ext>
                </a:extLst>
              </p:cNvPr>
              <p:cNvSpPr txBox="1">
                <a:spLocks noChangeArrowheads="1"/>
              </p:cNvSpPr>
              <p:nvPr/>
            </p:nvSpPr>
            <p:spPr bwMode="auto">
              <a:xfrm>
                <a:off x="3984" y="3024"/>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solidFill>
                      <a:schemeClr val="tx2"/>
                    </a:solidFill>
                  </a:rPr>
                  <a:t>u1*</a:t>
                </a:r>
              </a:p>
            </p:txBody>
          </p:sp>
        </p:grpSp>
      </p:grpSp>
      <p:sp>
        <p:nvSpPr>
          <p:cNvPr id="347164" name="Rectangle 28">
            <a:extLst>
              <a:ext uri="{FF2B5EF4-FFF2-40B4-BE49-F238E27FC236}">
                <a16:creationId xmlns:a16="http://schemas.microsoft.com/office/drawing/2014/main" id="{3241690C-ECAB-2578-8BA1-E067DE92A476}"/>
              </a:ext>
            </a:extLst>
          </p:cNvPr>
          <p:cNvSpPr>
            <a:spLocks noRot="1" noChangeArrowheads="1"/>
          </p:cNvSpPr>
          <p:nvPr/>
        </p:nvSpPr>
        <p:spPr bwMode="auto">
          <a:xfrm>
            <a:off x="381000" y="3505200"/>
            <a:ext cx="3886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000" b="1"/>
              <a:t>仅通过</a:t>
            </a:r>
            <a:r>
              <a:rPr lang="en-US" altLang="zh-CN" sz="2000" b="1"/>
              <a:t>u*</a:t>
            </a:r>
            <a:r>
              <a:rPr lang="zh-CN" altLang="en-US" sz="2000" b="1"/>
              <a:t>的变化来解释失业率与通货膨胀</a:t>
            </a:r>
            <a:r>
              <a:rPr lang="en-US" altLang="zh-CN" sz="2000" b="1"/>
              <a:t>70</a:t>
            </a:r>
            <a:r>
              <a:rPr lang="zh-CN" altLang="en-US" sz="2000" b="1"/>
              <a:t>年之后的变动态势，则需要假定</a:t>
            </a:r>
            <a:r>
              <a:rPr lang="en-US" altLang="zh-CN" sz="2000" b="1"/>
              <a:t>u*</a:t>
            </a:r>
            <a:r>
              <a:rPr lang="zh-CN" altLang="en-US" sz="2000" b="1"/>
              <a:t>大幅度上升</a:t>
            </a:r>
          </a:p>
        </p:txBody>
      </p:sp>
      <p:sp>
        <p:nvSpPr>
          <p:cNvPr id="347165" name="Rectangle 29">
            <a:extLst>
              <a:ext uri="{FF2B5EF4-FFF2-40B4-BE49-F238E27FC236}">
                <a16:creationId xmlns:a16="http://schemas.microsoft.com/office/drawing/2014/main" id="{D378D602-DE78-3D5D-C8B5-8768E06F4F5A}"/>
              </a:ext>
            </a:extLst>
          </p:cNvPr>
          <p:cNvSpPr>
            <a:spLocks noRot="1" noChangeArrowheads="1"/>
          </p:cNvSpPr>
          <p:nvPr/>
        </p:nvSpPr>
        <p:spPr bwMode="auto">
          <a:xfrm>
            <a:off x="457200" y="4648200"/>
            <a:ext cx="38862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000" b="1"/>
              <a:t>我们引入一个新的变量，预期通胀率。因为人们最关心的还是工资的实际增长率。</a:t>
            </a:r>
          </a:p>
        </p:txBody>
      </p:sp>
      <p:graphicFrame>
        <p:nvGraphicFramePr>
          <p:cNvPr id="347166" name="Object 30">
            <a:extLst>
              <a:ext uri="{FF2B5EF4-FFF2-40B4-BE49-F238E27FC236}">
                <a16:creationId xmlns:a16="http://schemas.microsoft.com/office/drawing/2014/main" id="{21E58B7B-4A38-7C8D-2A84-ACE569885B2F}"/>
              </a:ext>
            </a:extLst>
          </p:cNvPr>
          <p:cNvGraphicFramePr>
            <a:graphicFrameLocks noChangeAspect="1"/>
          </p:cNvGraphicFramePr>
          <p:nvPr/>
        </p:nvGraphicFramePr>
        <p:xfrm>
          <a:off x="838200" y="5776913"/>
          <a:ext cx="4613275" cy="1004887"/>
        </p:xfrm>
        <a:graphic>
          <a:graphicData uri="http://schemas.openxmlformats.org/presentationml/2006/ole">
            <mc:AlternateContent xmlns:mc="http://schemas.openxmlformats.org/markup-compatibility/2006">
              <mc:Choice xmlns:v="urn:schemas-microsoft-com:vml" Requires="v">
                <p:oleObj name="Equation" r:id="rId4" imgW="2197080" imgH="419040" progId="Equation.DSMT4">
                  <p:embed/>
                </p:oleObj>
              </mc:Choice>
              <mc:Fallback>
                <p:oleObj name="Equation" r:id="rId4" imgW="2197080" imgH="419040" progId="Equation.DSMT4">
                  <p:embed/>
                  <p:pic>
                    <p:nvPicPr>
                      <p:cNvPr id="0" name="Object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5776913"/>
                        <a:ext cx="4613275" cy="1004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7167" name="Object 31">
            <a:extLst>
              <a:ext uri="{FF2B5EF4-FFF2-40B4-BE49-F238E27FC236}">
                <a16:creationId xmlns:a16="http://schemas.microsoft.com/office/drawing/2014/main" id="{94F54FC9-F23A-0B38-2C77-DE3849B0F708}"/>
              </a:ext>
            </a:extLst>
          </p:cNvPr>
          <p:cNvGraphicFramePr>
            <a:graphicFrameLocks noChangeAspect="1"/>
          </p:cNvGraphicFramePr>
          <p:nvPr/>
        </p:nvGraphicFramePr>
        <p:xfrm>
          <a:off x="5894388" y="6019800"/>
          <a:ext cx="2640012" cy="609600"/>
        </p:xfrm>
        <a:graphic>
          <a:graphicData uri="http://schemas.openxmlformats.org/presentationml/2006/ole">
            <mc:AlternateContent xmlns:mc="http://schemas.openxmlformats.org/markup-compatibility/2006">
              <mc:Choice xmlns:v="urn:schemas-microsoft-com:vml" Requires="v">
                <p:oleObj name="Equation" r:id="rId6" imgW="1257120" imgH="253800" progId="Equation.DSMT4">
                  <p:embed/>
                </p:oleObj>
              </mc:Choice>
              <mc:Fallback>
                <p:oleObj name="Equation" r:id="rId6" imgW="1257120" imgH="253800" progId="Equation.DSMT4">
                  <p:embed/>
                  <p:pic>
                    <p:nvPicPr>
                      <p:cNvPr id="0" name="Object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94388" y="6019800"/>
                        <a:ext cx="2640012"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47139"/>
                                        </p:tgtEl>
                                        <p:attrNameLst>
                                          <p:attrName>style.visibility</p:attrName>
                                        </p:attrNameLst>
                                      </p:cBhvr>
                                      <p:to>
                                        <p:strVal val="visible"/>
                                      </p:to>
                                    </p:set>
                                    <p:animEffect transition="in" filter="slide(fromTop)">
                                      <p:cBhvr>
                                        <p:cTn id="7" dur="500"/>
                                        <p:tgtEl>
                                          <p:spTgt spid="3471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47141"/>
                                        </p:tgtEl>
                                        <p:attrNameLst>
                                          <p:attrName>style.visibility</p:attrName>
                                        </p:attrNameLst>
                                      </p:cBhvr>
                                      <p:to>
                                        <p:strVal val="visible"/>
                                      </p:to>
                                    </p:set>
                                    <p:animEffect transition="in" filter="slide(fromBottom)">
                                      <p:cBhvr>
                                        <p:cTn id="12" dur="500"/>
                                        <p:tgtEl>
                                          <p:spTgt spid="3471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1" fill="hold" nodeType="clickEffect">
                                  <p:stCondLst>
                                    <p:cond delay="0"/>
                                  </p:stCondLst>
                                  <p:childTnLst>
                                    <p:set>
                                      <p:cBhvr>
                                        <p:cTn id="16" dur="1" fill="hold">
                                          <p:stCondLst>
                                            <p:cond delay="0"/>
                                          </p:stCondLst>
                                        </p:cTn>
                                        <p:tgtEl>
                                          <p:spTgt spid="347142"/>
                                        </p:tgtEl>
                                        <p:attrNameLst>
                                          <p:attrName>style.visibility</p:attrName>
                                        </p:attrNameLst>
                                      </p:cBhvr>
                                      <p:to>
                                        <p:strVal val="visible"/>
                                      </p:to>
                                    </p:set>
                                    <p:animEffect transition="in" filter="slide(fromTop)">
                                      <p:cBhvr>
                                        <p:cTn id="17" dur="500"/>
                                        <p:tgtEl>
                                          <p:spTgt spid="3471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347153"/>
                                        </p:tgtEl>
                                        <p:attrNameLst>
                                          <p:attrName>style.visibility</p:attrName>
                                        </p:attrNameLst>
                                      </p:cBhvr>
                                      <p:to>
                                        <p:strVal val="visible"/>
                                      </p:to>
                                    </p:set>
                                    <p:animEffect transition="in" filter="box(out)">
                                      <p:cBhvr>
                                        <p:cTn id="22" dur="500"/>
                                        <p:tgtEl>
                                          <p:spTgt spid="3471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6" fill="hold" nodeType="clickEffect">
                                  <p:stCondLst>
                                    <p:cond delay="0"/>
                                  </p:stCondLst>
                                  <p:childTnLst>
                                    <p:set>
                                      <p:cBhvr>
                                        <p:cTn id="26" dur="1" fill="hold">
                                          <p:stCondLst>
                                            <p:cond delay="0"/>
                                          </p:stCondLst>
                                        </p:cTn>
                                        <p:tgtEl>
                                          <p:spTgt spid="347144"/>
                                        </p:tgtEl>
                                        <p:attrNameLst>
                                          <p:attrName>style.visibility</p:attrName>
                                        </p:attrNameLst>
                                      </p:cBhvr>
                                      <p:to>
                                        <p:strVal val="visible"/>
                                      </p:to>
                                    </p:set>
                                    <p:animEffect transition="in" filter="barn(inHorizontal)">
                                      <p:cBhvr>
                                        <p:cTn id="27" dur="500"/>
                                        <p:tgtEl>
                                          <p:spTgt spid="34714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6" fill="hold" nodeType="clickEffect">
                                  <p:stCondLst>
                                    <p:cond delay="0"/>
                                  </p:stCondLst>
                                  <p:childTnLst>
                                    <p:set>
                                      <p:cBhvr>
                                        <p:cTn id="31" dur="1" fill="hold">
                                          <p:stCondLst>
                                            <p:cond delay="0"/>
                                          </p:stCondLst>
                                        </p:cTn>
                                        <p:tgtEl>
                                          <p:spTgt spid="347158"/>
                                        </p:tgtEl>
                                        <p:attrNameLst>
                                          <p:attrName>style.visibility</p:attrName>
                                        </p:attrNameLst>
                                      </p:cBhvr>
                                      <p:to>
                                        <p:strVal val="visible"/>
                                      </p:to>
                                    </p:set>
                                    <p:animEffect transition="in" filter="barn(inHorizontal)">
                                      <p:cBhvr>
                                        <p:cTn id="32" dur="500"/>
                                        <p:tgtEl>
                                          <p:spTgt spid="34715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347163"/>
                                        </p:tgtEl>
                                        <p:attrNameLst>
                                          <p:attrName>style.visibility</p:attrName>
                                        </p:attrNameLst>
                                      </p:cBhvr>
                                      <p:to>
                                        <p:strVal val="visible"/>
                                      </p:to>
                                    </p:set>
                                    <p:animEffect transition="in" filter="barn(outHorizontal)">
                                      <p:cBhvr>
                                        <p:cTn id="37" dur="500"/>
                                        <p:tgtEl>
                                          <p:spTgt spid="34716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347164"/>
                                        </p:tgtEl>
                                        <p:attrNameLst>
                                          <p:attrName>style.visibility</p:attrName>
                                        </p:attrNameLst>
                                      </p:cBhvr>
                                      <p:to>
                                        <p:strVal val="visible"/>
                                      </p:to>
                                    </p:set>
                                    <p:animEffect transition="in" filter="slide(fromBottom)">
                                      <p:cBhvr>
                                        <p:cTn id="42" dur="500"/>
                                        <p:tgtEl>
                                          <p:spTgt spid="34716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nodeType="clickEffect">
                                  <p:stCondLst>
                                    <p:cond delay="0"/>
                                  </p:stCondLst>
                                  <p:childTnLst>
                                    <p:set>
                                      <p:cBhvr>
                                        <p:cTn id="46" dur="1" fill="hold">
                                          <p:stCondLst>
                                            <p:cond delay="0"/>
                                          </p:stCondLst>
                                        </p:cTn>
                                        <p:tgtEl>
                                          <p:spTgt spid="347165"/>
                                        </p:tgtEl>
                                        <p:attrNameLst>
                                          <p:attrName>style.visibility</p:attrName>
                                        </p:attrNameLst>
                                      </p:cBhvr>
                                      <p:to>
                                        <p:strVal val="visible"/>
                                      </p:to>
                                    </p:set>
                                    <p:animEffect transition="in" filter="slide(fromBottom)">
                                      <p:cBhvr>
                                        <p:cTn id="47" dur="500"/>
                                        <p:tgtEl>
                                          <p:spTgt spid="34716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1" fill="hold" nodeType="clickEffect">
                                  <p:stCondLst>
                                    <p:cond delay="0"/>
                                  </p:stCondLst>
                                  <p:childTnLst>
                                    <p:set>
                                      <p:cBhvr>
                                        <p:cTn id="51" dur="1" fill="hold">
                                          <p:stCondLst>
                                            <p:cond delay="0"/>
                                          </p:stCondLst>
                                        </p:cTn>
                                        <p:tgtEl>
                                          <p:spTgt spid="347166"/>
                                        </p:tgtEl>
                                        <p:attrNameLst>
                                          <p:attrName>style.visibility</p:attrName>
                                        </p:attrNameLst>
                                      </p:cBhvr>
                                      <p:to>
                                        <p:strVal val="visible"/>
                                      </p:to>
                                    </p:set>
                                    <p:animEffect transition="in" filter="slide(fromTop)">
                                      <p:cBhvr>
                                        <p:cTn id="52" dur="500"/>
                                        <p:tgtEl>
                                          <p:spTgt spid="34716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1" fill="hold" nodeType="clickEffect">
                                  <p:stCondLst>
                                    <p:cond delay="0"/>
                                  </p:stCondLst>
                                  <p:childTnLst>
                                    <p:set>
                                      <p:cBhvr>
                                        <p:cTn id="56" dur="1" fill="hold">
                                          <p:stCondLst>
                                            <p:cond delay="0"/>
                                          </p:stCondLst>
                                        </p:cTn>
                                        <p:tgtEl>
                                          <p:spTgt spid="347167"/>
                                        </p:tgtEl>
                                        <p:attrNameLst>
                                          <p:attrName>style.visibility</p:attrName>
                                        </p:attrNameLst>
                                      </p:cBhvr>
                                      <p:to>
                                        <p:strVal val="visible"/>
                                      </p:to>
                                    </p:set>
                                    <p:animEffect transition="in" filter="slide(fromTop)">
                                      <p:cBhvr>
                                        <p:cTn id="57" dur="500"/>
                                        <p:tgtEl>
                                          <p:spTgt spid="347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39" grpId="0" autoUpdateAnimBg="0"/>
      <p:bldP spid="347141" grpId="0" autoUpdateAnimBg="0"/>
      <p:bldP spid="347164" grpId="0" autoUpdateAnimBg="0"/>
      <p:bldP spid="347165"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62" name="Rectangle 2">
            <a:extLst>
              <a:ext uri="{FF2B5EF4-FFF2-40B4-BE49-F238E27FC236}">
                <a16:creationId xmlns:a16="http://schemas.microsoft.com/office/drawing/2014/main" id="{8238211D-1EB9-B33D-378B-0D732C701D36}"/>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2.4 Phillips</a:t>
            </a:r>
            <a:r>
              <a:rPr lang="zh-CN" altLang="en-US" b="1">
                <a:solidFill>
                  <a:srgbClr val="CC0000"/>
                </a:solidFill>
              </a:rPr>
              <a:t>曲线</a:t>
            </a:r>
            <a:r>
              <a:rPr lang="en-US" altLang="zh-CN" b="1">
                <a:solidFill>
                  <a:srgbClr val="CC0000"/>
                </a:solidFill>
              </a:rPr>
              <a:t>_</a:t>
            </a:r>
            <a:r>
              <a:rPr lang="zh-CN" altLang="en-US" b="1">
                <a:solidFill>
                  <a:srgbClr val="CC0000"/>
                </a:solidFill>
              </a:rPr>
              <a:t>发展</a:t>
            </a:r>
          </a:p>
        </p:txBody>
      </p:sp>
      <p:sp>
        <p:nvSpPr>
          <p:cNvPr id="348163" name="Rectangle 3">
            <a:extLst>
              <a:ext uri="{FF2B5EF4-FFF2-40B4-BE49-F238E27FC236}">
                <a16:creationId xmlns:a16="http://schemas.microsoft.com/office/drawing/2014/main" id="{BC64C7DF-0F86-B240-DEE3-DB12D911250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48164" name="Rectangle 4">
            <a:extLst>
              <a:ext uri="{FF2B5EF4-FFF2-40B4-BE49-F238E27FC236}">
                <a16:creationId xmlns:a16="http://schemas.microsoft.com/office/drawing/2014/main" id="{420B806B-2C10-92AB-584C-8B11B051FB23}"/>
              </a:ext>
            </a:extLst>
          </p:cNvPr>
          <p:cNvSpPr>
            <a:spLocks noRot="1" noChangeArrowheads="1"/>
          </p:cNvSpPr>
          <p:nvPr/>
        </p:nvSpPr>
        <p:spPr bwMode="auto">
          <a:xfrm>
            <a:off x="304800" y="1524000"/>
            <a:ext cx="4800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400" b="1"/>
              <a:t>原始的</a:t>
            </a:r>
            <a:r>
              <a:rPr lang="en-US" altLang="zh-CN" sz="2400" b="1"/>
              <a:t>Phillips</a:t>
            </a:r>
            <a:r>
              <a:rPr lang="zh-CN" altLang="en-US" sz="2400" b="1"/>
              <a:t>曲线就可以变为</a:t>
            </a:r>
            <a:endParaRPr lang="zh-CN" altLang="en-US" sz="2000" b="1"/>
          </a:p>
        </p:txBody>
      </p:sp>
      <p:graphicFrame>
        <p:nvGraphicFramePr>
          <p:cNvPr id="348165" name="Object 5">
            <a:extLst>
              <a:ext uri="{FF2B5EF4-FFF2-40B4-BE49-F238E27FC236}">
                <a16:creationId xmlns:a16="http://schemas.microsoft.com/office/drawing/2014/main" id="{5BB79D5A-B75B-9E5B-A10A-86798D8087DA}"/>
              </a:ext>
            </a:extLst>
          </p:cNvPr>
          <p:cNvGraphicFramePr>
            <a:graphicFrameLocks noChangeAspect="1"/>
          </p:cNvGraphicFramePr>
          <p:nvPr/>
        </p:nvGraphicFramePr>
        <p:xfrm>
          <a:off x="838200" y="2012950"/>
          <a:ext cx="2719388" cy="577850"/>
        </p:xfrm>
        <a:graphic>
          <a:graphicData uri="http://schemas.openxmlformats.org/presentationml/2006/ole">
            <mc:AlternateContent xmlns:mc="http://schemas.openxmlformats.org/markup-compatibility/2006">
              <mc:Choice xmlns:v="urn:schemas-microsoft-com:vml" Requires="v">
                <p:oleObj name="Equation" r:id="rId2" imgW="1295280" imgH="241200" progId="Equation.DSMT4">
                  <p:embed/>
                </p:oleObj>
              </mc:Choice>
              <mc:Fallback>
                <p:oleObj name="Equation" r:id="rId2" imgW="1295280" imgH="24120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12950"/>
                        <a:ext cx="2719388"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48170" name="Group 10">
            <a:extLst>
              <a:ext uri="{FF2B5EF4-FFF2-40B4-BE49-F238E27FC236}">
                <a16:creationId xmlns:a16="http://schemas.microsoft.com/office/drawing/2014/main" id="{31E4C71F-146B-073D-8BB2-25385205E378}"/>
              </a:ext>
            </a:extLst>
          </p:cNvPr>
          <p:cNvGrpSpPr>
            <a:grpSpLocks/>
          </p:cNvGrpSpPr>
          <p:nvPr/>
        </p:nvGrpSpPr>
        <p:grpSpPr bwMode="auto">
          <a:xfrm>
            <a:off x="4724400" y="2819400"/>
            <a:ext cx="3581400" cy="2324100"/>
            <a:chOff x="1296" y="1536"/>
            <a:chExt cx="2256" cy="1464"/>
          </a:xfrm>
        </p:grpSpPr>
        <p:sp>
          <p:nvSpPr>
            <p:cNvPr id="348171" name="Line 11">
              <a:extLst>
                <a:ext uri="{FF2B5EF4-FFF2-40B4-BE49-F238E27FC236}">
                  <a16:creationId xmlns:a16="http://schemas.microsoft.com/office/drawing/2014/main" id="{5CC7006A-2AB5-DD2D-778D-7924098F8AB9}"/>
                </a:ext>
              </a:extLst>
            </p:cNvPr>
            <p:cNvSpPr>
              <a:spLocks noChangeShapeType="1"/>
            </p:cNvSpPr>
            <p:nvPr/>
          </p:nvSpPr>
          <p:spPr bwMode="auto">
            <a:xfrm>
              <a:off x="1584" y="1536"/>
              <a:ext cx="0" cy="12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8172" name="Line 12">
              <a:extLst>
                <a:ext uri="{FF2B5EF4-FFF2-40B4-BE49-F238E27FC236}">
                  <a16:creationId xmlns:a16="http://schemas.microsoft.com/office/drawing/2014/main" id="{F1A3966B-41B5-F7DC-4507-1C7E9568AFED}"/>
                </a:ext>
              </a:extLst>
            </p:cNvPr>
            <p:cNvSpPr>
              <a:spLocks noChangeShapeType="1"/>
            </p:cNvSpPr>
            <p:nvPr/>
          </p:nvSpPr>
          <p:spPr bwMode="auto">
            <a:xfrm>
              <a:off x="1584" y="2832"/>
              <a:ext cx="17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8173" name="Text Box 13">
              <a:extLst>
                <a:ext uri="{FF2B5EF4-FFF2-40B4-BE49-F238E27FC236}">
                  <a16:creationId xmlns:a16="http://schemas.microsoft.com/office/drawing/2014/main" id="{C27B3BDE-8B26-8F2B-C5ED-80F2CF734B17}"/>
                </a:ext>
              </a:extLst>
            </p:cNvPr>
            <p:cNvSpPr txBox="1">
              <a:spLocks noChangeArrowheads="1"/>
            </p:cNvSpPr>
            <p:nvPr/>
          </p:nvSpPr>
          <p:spPr bwMode="auto">
            <a:xfrm>
              <a:off x="3312" y="2827"/>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u</a:t>
              </a:r>
            </a:p>
          </p:txBody>
        </p:sp>
        <p:sp>
          <p:nvSpPr>
            <p:cNvPr id="348174" name="Text Box 14">
              <a:extLst>
                <a:ext uri="{FF2B5EF4-FFF2-40B4-BE49-F238E27FC236}">
                  <a16:creationId xmlns:a16="http://schemas.microsoft.com/office/drawing/2014/main" id="{48FD4E82-3175-484B-DC06-438C53EC9A1E}"/>
                </a:ext>
              </a:extLst>
            </p:cNvPr>
            <p:cNvSpPr txBox="1">
              <a:spLocks noChangeArrowheads="1"/>
            </p:cNvSpPr>
            <p:nvPr/>
          </p:nvSpPr>
          <p:spPr bwMode="auto">
            <a:xfrm>
              <a:off x="1296" y="1536"/>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g</a:t>
              </a:r>
              <a:r>
                <a:rPr lang="en-US" altLang="zh-CN" b="1" baseline="-25000"/>
                <a:t>W</a:t>
              </a:r>
            </a:p>
          </p:txBody>
        </p:sp>
      </p:grpSp>
      <p:sp>
        <p:nvSpPr>
          <p:cNvPr id="348180" name="Rectangle 20">
            <a:extLst>
              <a:ext uri="{FF2B5EF4-FFF2-40B4-BE49-F238E27FC236}">
                <a16:creationId xmlns:a16="http://schemas.microsoft.com/office/drawing/2014/main" id="{0FC455BE-BD49-507F-6CCE-1438E337AFC5}"/>
              </a:ext>
            </a:extLst>
          </p:cNvPr>
          <p:cNvSpPr>
            <a:spLocks noRot="1" noChangeArrowheads="1"/>
          </p:cNvSpPr>
          <p:nvPr/>
        </p:nvSpPr>
        <p:spPr bwMode="auto">
          <a:xfrm>
            <a:off x="381000" y="3124200"/>
            <a:ext cx="3886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000" b="1"/>
              <a:t>如果</a:t>
            </a:r>
            <a:r>
              <a:rPr lang="en-US" altLang="zh-CN" sz="2000" b="1"/>
              <a:t>u*</a:t>
            </a:r>
            <a:r>
              <a:rPr lang="zh-CN" altLang="en-US" sz="2000" b="1"/>
              <a:t>不变，预期通货膨胀发生变化，比如增加，</a:t>
            </a:r>
            <a:r>
              <a:rPr lang="en-US" altLang="zh-CN" sz="2000" b="1"/>
              <a:t>Phillips</a:t>
            </a:r>
            <a:r>
              <a:rPr lang="zh-CN" altLang="en-US" sz="2000" b="1"/>
              <a:t>曲线将会如何变化？</a:t>
            </a:r>
          </a:p>
        </p:txBody>
      </p:sp>
      <p:sp>
        <p:nvSpPr>
          <p:cNvPr id="348181" name="Rectangle 21">
            <a:extLst>
              <a:ext uri="{FF2B5EF4-FFF2-40B4-BE49-F238E27FC236}">
                <a16:creationId xmlns:a16="http://schemas.microsoft.com/office/drawing/2014/main" id="{6ACAA293-A6C8-FD1C-FC3E-4567E8265687}"/>
              </a:ext>
            </a:extLst>
          </p:cNvPr>
          <p:cNvSpPr>
            <a:spLocks noRot="1" noChangeArrowheads="1"/>
          </p:cNvSpPr>
          <p:nvPr/>
        </p:nvSpPr>
        <p:spPr bwMode="auto">
          <a:xfrm>
            <a:off x="381000" y="4572000"/>
            <a:ext cx="38862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000" b="1"/>
              <a:t>如果</a:t>
            </a:r>
            <a:r>
              <a:rPr lang="en-US" altLang="zh-CN" sz="2000" b="1"/>
              <a:t>u*</a:t>
            </a:r>
            <a:r>
              <a:rPr lang="zh-CN" altLang="en-US" sz="2000" b="1"/>
              <a:t>也发生变化，比如提高，</a:t>
            </a:r>
            <a:r>
              <a:rPr lang="en-US" altLang="zh-CN" sz="2000" b="1"/>
              <a:t>Phillips</a:t>
            </a:r>
            <a:r>
              <a:rPr lang="zh-CN" altLang="en-US" sz="2000" b="1"/>
              <a:t>曲线将会如何变化？</a:t>
            </a:r>
          </a:p>
          <a:p>
            <a:pPr>
              <a:spcBef>
                <a:spcPct val="20000"/>
              </a:spcBef>
              <a:buClr>
                <a:schemeClr val="hlink"/>
              </a:buClr>
              <a:buSzPct val="85000"/>
              <a:buFont typeface="Wingdings" panose="05000000000000000000" pitchFamily="2" charset="2"/>
              <a:buChar char="§"/>
            </a:pPr>
            <a:r>
              <a:rPr lang="zh-CN" altLang="en-US" sz="2000" b="1">
                <a:solidFill>
                  <a:schemeClr val="tx2"/>
                </a:solidFill>
              </a:rPr>
              <a:t>请大家练习</a:t>
            </a:r>
          </a:p>
        </p:txBody>
      </p:sp>
      <p:graphicFrame>
        <p:nvGraphicFramePr>
          <p:cNvPr id="348184" name="Object 24">
            <a:extLst>
              <a:ext uri="{FF2B5EF4-FFF2-40B4-BE49-F238E27FC236}">
                <a16:creationId xmlns:a16="http://schemas.microsoft.com/office/drawing/2014/main" id="{5A4A7FFC-B4BE-D7DA-BD2C-73339A842FAE}"/>
              </a:ext>
            </a:extLst>
          </p:cNvPr>
          <p:cNvGraphicFramePr>
            <a:graphicFrameLocks noChangeAspect="1"/>
          </p:cNvGraphicFramePr>
          <p:nvPr/>
        </p:nvGraphicFramePr>
        <p:xfrm>
          <a:off x="4038600" y="2057400"/>
          <a:ext cx="2906713" cy="577850"/>
        </p:xfrm>
        <a:graphic>
          <a:graphicData uri="http://schemas.openxmlformats.org/presentationml/2006/ole">
            <mc:AlternateContent xmlns:mc="http://schemas.openxmlformats.org/markup-compatibility/2006">
              <mc:Choice xmlns:v="urn:schemas-microsoft-com:vml" Requires="v">
                <p:oleObj name="Equation" r:id="rId4" imgW="1384200" imgH="241200" progId="Equation.DSMT4">
                  <p:embed/>
                </p:oleObj>
              </mc:Choice>
              <mc:Fallback>
                <p:oleObj name="Equation" r:id="rId4" imgW="1384200" imgH="241200" progId="Equation.DSMT4">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2057400"/>
                        <a:ext cx="2906713"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186" name="Text Box 26">
            <a:extLst>
              <a:ext uri="{FF2B5EF4-FFF2-40B4-BE49-F238E27FC236}">
                <a16:creationId xmlns:a16="http://schemas.microsoft.com/office/drawing/2014/main" id="{D28BD7E5-62A9-21AC-8E55-A1008237D21A}"/>
              </a:ext>
            </a:extLst>
          </p:cNvPr>
          <p:cNvSpPr txBox="1">
            <a:spLocks noChangeArrowheads="1"/>
          </p:cNvSpPr>
          <p:nvPr/>
        </p:nvSpPr>
        <p:spPr bwMode="auto">
          <a:xfrm>
            <a:off x="7315200" y="522763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grpSp>
        <p:nvGrpSpPr>
          <p:cNvPr id="348190" name="Group 30">
            <a:extLst>
              <a:ext uri="{FF2B5EF4-FFF2-40B4-BE49-F238E27FC236}">
                <a16:creationId xmlns:a16="http://schemas.microsoft.com/office/drawing/2014/main" id="{F2170A56-1B3E-92DA-C10E-6B5554BBD043}"/>
              </a:ext>
            </a:extLst>
          </p:cNvPr>
          <p:cNvGrpSpPr>
            <a:grpSpLocks/>
          </p:cNvGrpSpPr>
          <p:nvPr/>
        </p:nvGrpSpPr>
        <p:grpSpPr bwMode="auto">
          <a:xfrm>
            <a:off x="5562600" y="3094038"/>
            <a:ext cx="2514600" cy="2424112"/>
            <a:chOff x="3312" y="1872"/>
            <a:chExt cx="1584" cy="1527"/>
          </a:xfrm>
        </p:grpSpPr>
        <p:sp>
          <p:nvSpPr>
            <p:cNvPr id="348166" name="Line 6">
              <a:extLst>
                <a:ext uri="{FF2B5EF4-FFF2-40B4-BE49-F238E27FC236}">
                  <a16:creationId xmlns:a16="http://schemas.microsoft.com/office/drawing/2014/main" id="{6D8390A5-4245-FBC5-29E8-93EB98F67D9A}"/>
                </a:ext>
              </a:extLst>
            </p:cNvPr>
            <p:cNvSpPr>
              <a:spLocks noChangeShapeType="1"/>
            </p:cNvSpPr>
            <p:nvPr/>
          </p:nvSpPr>
          <p:spPr bwMode="auto">
            <a:xfrm>
              <a:off x="3312" y="2352"/>
              <a:ext cx="1104" cy="864"/>
            </a:xfrm>
            <a:prstGeom prst="line">
              <a:avLst/>
            </a:prstGeom>
            <a:noFill/>
            <a:ln w="571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348167" name="Group 7">
              <a:extLst>
                <a:ext uri="{FF2B5EF4-FFF2-40B4-BE49-F238E27FC236}">
                  <a16:creationId xmlns:a16="http://schemas.microsoft.com/office/drawing/2014/main" id="{86FF1401-D1E8-455F-0EE2-145A57334C87}"/>
                </a:ext>
              </a:extLst>
            </p:cNvPr>
            <p:cNvGrpSpPr>
              <a:grpSpLocks/>
            </p:cNvGrpSpPr>
            <p:nvPr/>
          </p:nvGrpSpPr>
          <p:grpSpPr bwMode="auto">
            <a:xfrm>
              <a:off x="3984" y="1872"/>
              <a:ext cx="240" cy="1325"/>
              <a:chOff x="3984" y="1872"/>
              <a:chExt cx="240" cy="1325"/>
            </a:xfrm>
          </p:grpSpPr>
          <p:sp>
            <p:nvSpPr>
              <p:cNvPr id="348168" name="Line 8">
                <a:extLst>
                  <a:ext uri="{FF2B5EF4-FFF2-40B4-BE49-F238E27FC236}">
                    <a16:creationId xmlns:a16="http://schemas.microsoft.com/office/drawing/2014/main" id="{977E257B-92CE-FEFC-01FC-2177B9484B34}"/>
                  </a:ext>
                </a:extLst>
              </p:cNvPr>
              <p:cNvSpPr>
                <a:spLocks noChangeShapeType="1"/>
              </p:cNvSpPr>
              <p:nvPr/>
            </p:nvSpPr>
            <p:spPr bwMode="auto">
              <a:xfrm flipH="1" flipV="1">
                <a:off x="4128" y="1872"/>
                <a:ext cx="0" cy="1104"/>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8169" name="Text Box 9">
                <a:extLst>
                  <a:ext uri="{FF2B5EF4-FFF2-40B4-BE49-F238E27FC236}">
                    <a16:creationId xmlns:a16="http://schemas.microsoft.com/office/drawing/2014/main" id="{25FC51BD-459E-C88B-FD62-246F9E5F84F0}"/>
                  </a:ext>
                </a:extLst>
              </p:cNvPr>
              <p:cNvSpPr txBox="1">
                <a:spLocks noChangeArrowheads="1"/>
              </p:cNvSpPr>
              <p:nvPr/>
            </p:nvSpPr>
            <p:spPr bwMode="auto">
              <a:xfrm>
                <a:off x="3984" y="3024"/>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solidFill>
                      <a:schemeClr val="tx2"/>
                    </a:solidFill>
                  </a:rPr>
                  <a:t>u*</a:t>
                </a:r>
              </a:p>
            </p:txBody>
          </p:sp>
        </p:grpSp>
        <p:sp>
          <p:nvSpPr>
            <p:cNvPr id="348187" name="Text Box 27">
              <a:extLst>
                <a:ext uri="{FF2B5EF4-FFF2-40B4-BE49-F238E27FC236}">
                  <a16:creationId xmlns:a16="http://schemas.microsoft.com/office/drawing/2014/main" id="{EE0C30E6-D5F5-652D-B127-610BD83B7C41}"/>
                </a:ext>
              </a:extLst>
            </p:cNvPr>
            <p:cNvSpPr txBox="1">
              <a:spLocks noChangeArrowheads="1"/>
            </p:cNvSpPr>
            <p:nvPr/>
          </p:nvSpPr>
          <p:spPr bwMode="auto">
            <a:xfrm>
              <a:off x="4320" y="3168"/>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移动前</a:t>
              </a:r>
            </a:p>
          </p:txBody>
        </p:sp>
      </p:grpSp>
      <p:grpSp>
        <p:nvGrpSpPr>
          <p:cNvPr id="348191" name="Group 31">
            <a:extLst>
              <a:ext uri="{FF2B5EF4-FFF2-40B4-BE49-F238E27FC236}">
                <a16:creationId xmlns:a16="http://schemas.microsoft.com/office/drawing/2014/main" id="{157986C5-2364-F1F3-970A-195DCEEBD83A}"/>
              </a:ext>
            </a:extLst>
          </p:cNvPr>
          <p:cNvGrpSpPr>
            <a:grpSpLocks/>
          </p:cNvGrpSpPr>
          <p:nvPr/>
        </p:nvGrpSpPr>
        <p:grpSpPr bwMode="auto">
          <a:xfrm>
            <a:off x="6019800" y="3017838"/>
            <a:ext cx="2514600" cy="1524000"/>
            <a:chOff x="3600" y="1824"/>
            <a:chExt cx="1584" cy="960"/>
          </a:xfrm>
        </p:grpSpPr>
        <p:sp>
          <p:nvSpPr>
            <p:cNvPr id="348185" name="Line 25">
              <a:extLst>
                <a:ext uri="{FF2B5EF4-FFF2-40B4-BE49-F238E27FC236}">
                  <a16:creationId xmlns:a16="http://schemas.microsoft.com/office/drawing/2014/main" id="{1C899C6D-2DEB-A899-EE83-982BA42FDD18}"/>
                </a:ext>
              </a:extLst>
            </p:cNvPr>
            <p:cNvSpPr>
              <a:spLocks noChangeShapeType="1"/>
            </p:cNvSpPr>
            <p:nvPr/>
          </p:nvSpPr>
          <p:spPr bwMode="auto">
            <a:xfrm>
              <a:off x="3600" y="1824"/>
              <a:ext cx="1104" cy="864"/>
            </a:xfrm>
            <a:prstGeom prst="line">
              <a:avLst/>
            </a:prstGeom>
            <a:noFill/>
            <a:ln w="571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48188" name="Text Box 28">
              <a:extLst>
                <a:ext uri="{FF2B5EF4-FFF2-40B4-BE49-F238E27FC236}">
                  <a16:creationId xmlns:a16="http://schemas.microsoft.com/office/drawing/2014/main" id="{5FEE9297-D3E8-536C-73B5-8F1FFB8F556A}"/>
                </a:ext>
              </a:extLst>
            </p:cNvPr>
            <p:cNvSpPr txBox="1">
              <a:spLocks noChangeArrowheads="1"/>
            </p:cNvSpPr>
            <p:nvPr/>
          </p:nvSpPr>
          <p:spPr bwMode="auto">
            <a:xfrm>
              <a:off x="4608" y="2553"/>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移动后</a:t>
              </a:r>
            </a:p>
          </p:txBody>
        </p:sp>
      </p:grpSp>
      <p:sp>
        <p:nvSpPr>
          <p:cNvPr id="348192" name="Rectangle 32">
            <a:extLst>
              <a:ext uri="{FF2B5EF4-FFF2-40B4-BE49-F238E27FC236}">
                <a16:creationId xmlns:a16="http://schemas.microsoft.com/office/drawing/2014/main" id="{42F894B6-B3B6-EFDD-FD74-D2886D274F74}"/>
              </a:ext>
            </a:extLst>
          </p:cNvPr>
          <p:cNvSpPr>
            <a:spLocks noRot="1" noChangeArrowheads="1"/>
          </p:cNvSpPr>
          <p:nvPr/>
        </p:nvSpPr>
        <p:spPr bwMode="auto">
          <a:xfrm>
            <a:off x="381000" y="5943600"/>
            <a:ext cx="858361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400" b="1"/>
              <a:t>滞胀（</a:t>
            </a:r>
            <a:r>
              <a:rPr lang="en-US" altLang="zh-CN" sz="2400" b="1"/>
              <a:t>stagflation </a:t>
            </a:r>
            <a:r>
              <a:rPr lang="zh-CN" altLang="en-US" sz="2400" b="1"/>
              <a:t>）：高失业和高通货膨胀并存的现象。</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48162"/>
                                        </p:tgtEl>
                                        <p:attrNameLst>
                                          <p:attrName>style.visibility</p:attrName>
                                        </p:attrNameLst>
                                      </p:cBhvr>
                                      <p:to>
                                        <p:strVal val="visible"/>
                                      </p:to>
                                    </p:set>
                                    <p:animEffect transition="in" filter="slide(fromTop)">
                                      <p:cBhvr>
                                        <p:cTn id="7" dur="500"/>
                                        <p:tgtEl>
                                          <p:spTgt spid="3481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48164"/>
                                        </p:tgtEl>
                                        <p:attrNameLst>
                                          <p:attrName>style.visibility</p:attrName>
                                        </p:attrNameLst>
                                      </p:cBhvr>
                                      <p:to>
                                        <p:strVal val="visible"/>
                                      </p:to>
                                    </p:set>
                                    <p:animEffect transition="in" filter="slide(fromBottom)">
                                      <p:cBhvr>
                                        <p:cTn id="12" dur="500"/>
                                        <p:tgtEl>
                                          <p:spTgt spid="3481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1" fill="hold" nodeType="clickEffect">
                                  <p:stCondLst>
                                    <p:cond delay="0"/>
                                  </p:stCondLst>
                                  <p:childTnLst>
                                    <p:set>
                                      <p:cBhvr>
                                        <p:cTn id="16" dur="1" fill="hold">
                                          <p:stCondLst>
                                            <p:cond delay="0"/>
                                          </p:stCondLst>
                                        </p:cTn>
                                        <p:tgtEl>
                                          <p:spTgt spid="348165"/>
                                        </p:tgtEl>
                                        <p:attrNameLst>
                                          <p:attrName>style.visibility</p:attrName>
                                        </p:attrNameLst>
                                      </p:cBhvr>
                                      <p:to>
                                        <p:strVal val="visible"/>
                                      </p:to>
                                    </p:set>
                                    <p:animEffect transition="in" filter="slide(fromTop)">
                                      <p:cBhvr>
                                        <p:cTn id="17" dur="500"/>
                                        <p:tgtEl>
                                          <p:spTgt spid="3481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1" fill="hold" nodeType="clickEffect">
                                  <p:stCondLst>
                                    <p:cond delay="0"/>
                                  </p:stCondLst>
                                  <p:childTnLst>
                                    <p:set>
                                      <p:cBhvr>
                                        <p:cTn id="21" dur="1" fill="hold">
                                          <p:stCondLst>
                                            <p:cond delay="0"/>
                                          </p:stCondLst>
                                        </p:cTn>
                                        <p:tgtEl>
                                          <p:spTgt spid="348184"/>
                                        </p:tgtEl>
                                        <p:attrNameLst>
                                          <p:attrName>style.visibility</p:attrName>
                                        </p:attrNameLst>
                                      </p:cBhvr>
                                      <p:to>
                                        <p:strVal val="visible"/>
                                      </p:to>
                                    </p:set>
                                    <p:animEffect transition="in" filter="slide(fromTop)">
                                      <p:cBhvr>
                                        <p:cTn id="22" dur="500"/>
                                        <p:tgtEl>
                                          <p:spTgt spid="34818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348180"/>
                                        </p:tgtEl>
                                        <p:attrNameLst>
                                          <p:attrName>style.visibility</p:attrName>
                                        </p:attrNameLst>
                                      </p:cBhvr>
                                      <p:to>
                                        <p:strVal val="visible"/>
                                      </p:to>
                                    </p:set>
                                    <p:animEffect transition="in" filter="slide(fromBottom)">
                                      <p:cBhvr>
                                        <p:cTn id="27" dur="500"/>
                                        <p:tgtEl>
                                          <p:spTgt spid="34818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348170"/>
                                        </p:tgtEl>
                                        <p:attrNameLst>
                                          <p:attrName>style.visibility</p:attrName>
                                        </p:attrNameLst>
                                      </p:cBhvr>
                                      <p:to>
                                        <p:strVal val="visible"/>
                                      </p:to>
                                    </p:set>
                                    <p:animEffect transition="in" filter="box(out)">
                                      <p:cBhvr>
                                        <p:cTn id="32" dur="500"/>
                                        <p:tgtEl>
                                          <p:spTgt spid="34817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348190"/>
                                        </p:tgtEl>
                                        <p:attrNameLst>
                                          <p:attrName>style.visibility</p:attrName>
                                        </p:attrNameLst>
                                      </p:cBhvr>
                                      <p:to>
                                        <p:strVal val="visible"/>
                                      </p:to>
                                    </p:set>
                                    <p:animEffect transition="in" filter="box(in)">
                                      <p:cBhvr>
                                        <p:cTn id="37" dur="500"/>
                                        <p:tgtEl>
                                          <p:spTgt spid="34819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348191"/>
                                        </p:tgtEl>
                                        <p:attrNameLst>
                                          <p:attrName>style.visibility</p:attrName>
                                        </p:attrNameLst>
                                      </p:cBhvr>
                                      <p:to>
                                        <p:strVal val="visible"/>
                                      </p:to>
                                    </p:set>
                                    <p:animEffect transition="in" filter="box(in)">
                                      <p:cBhvr>
                                        <p:cTn id="42" dur="500"/>
                                        <p:tgtEl>
                                          <p:spTgt spid="34819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nodeType="clickEffect">
                                  <p:stCondLst>
                                    <p:cond delay="0"/>
                                  </p:stCondLst>
                                  <p:childTnLst>
                                    <p:set>
                                      <p:cBhvr>
                                        <p:cTn id="46" dur="1" fill="hold">
                                          <p:stCondLst>
                                            <p:cond delay="0"/>
                                          </p:stCondLst>
                                        </p:cTn>
                                        <p:tgtEl>
                                          <p:spTgt spid="348181"/>
                                        </p:tgtEl>
                                        <p:attrNameLst>
                                          <p:attrName>style.visibility</p:attrName>
                                        </p:attrNameLst>
                                      </p:cBhvr>
                                      <p:to>
                                        <p:strVal val="visible"/>
                                      </p:to>
                                    </p:set>
                                    <p:animEffect transition="in" filter="slide(fromBottom)">
                                      <p:cBhvr>
                                        <p:cTn id="47" dur="500"/>
                                        <p:tgtEl>
                                          <p:spTgt spid="34818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nodeType="clickEffect">
                                  <p:stCondLst>
                                    <p:cond delay="0"/>
                                  </p:stCondLst>
                                  <p:childTnLst>
                                    <p:set>
                                      <p:cBhvr>
                                        <p:cTn id="51" dur="1" fill="hold">
                                          <p:stCondLst>
                                            <p:cond delay="0"/>
                                          </p:stCondLst>
                                        </p:cTn>
                                        <p:tgtEl>
                                          <p:spTgt spid="348192"/>
                                        </p:tgtEl>
                                        <p:attrNameLst>
                                          <p:attrName>style.visibility</p:attrName>
                                        </p:attrNameLst>
                                      </p:cBhvr>
                                      <p:to>
                                        <p:strVal val="visible"/>
                                      </p:to>
                                    </p:set>
                                    <p:animEffect transition="in" filter="slide(fromBottom)">
                                      <p:cBhvr>
                                        <p:cTn id="52" dur="500"/>
                                        <p:tgtEl>
                                          <p:spTgt spid="348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2" grpId="0" autoUpdateAnimBg="0"/>
      <p:bldP spid="348164" grpId="0" autoUpdateAnimBg="0"/>
      <p:bldP spid="348180" grpId="0" autoUpdateAnimBg="0"/>
      <p:bldP spid="348181" grpId="0" autoUpdateAnimBg="0"/>
      <p:bldP spid="348192"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9186" name="Rectangle 2">
            <a:extLst>
              <a:ext uri="{FF2B5EF4-FFF2-40B4-BE49-F238E27FC236}">
                <a16:creationId xmlns:a16="http://schemas.microsoft.com/office/drawing/2014/main" id="{4AD307FC-EA33-D0FE-CA53-859C53BA2780}"/>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2.4 Phillips</a:t>
            </a:r>
            <a:r>
              <a:rPr lang="zh-CN" altLang="en-US" b="1">
                <a:solidFill>
                  <a:srgbClr val="CC0000"/>
                </a:solidFill>
              </a:rPr>
              <a:t>曲线</a:t>
            </a:r>
            <a:r>
              <a:rPr lang="en-US" altLang="zh-CN" b="1">
                <a:solidFill>
                  <a:srgbClr val="CC0000"/>
                </a:solidFill>
              </a:rPr>
              <a:t>_</a:t>
            </a:r>
            <a:r>
              <a:rPr lang="zh-CN" altLang="en-US" b="1">
                <a:solidFill>
                  <a:srgbClr val="CC0000"/>
                </a:solidFill>
              </a:rPr>
              <a:t>发展</a:t>
            </a:r>
          </a:p>
        </p:txBody>
      </p:sp>
      <p:sp>
        <p:nvSpPr>
          <p:cNvPr id="349187" name="Rectangle 3">
            <a:extLst>
              <a:ext uri="{FF2B5EF4-FFF2-40B4-BE49-F238E27FC236}">
                <a16:creationId xmlns:a16="http://schemas.microsoft.com/office/drawing/2014/main" id="{550D7CD8-6373-071D-4490-B8A2C896C89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49188" name="Rectangle 4">
            <a:extLst>
              <a:ext uri="{FF2B5EF4-FFF2-40B4-BE49-F238E27FC236}">
                <a16:creationId xmlns:a16="http://schemas.microsoft.com/office/drawing/2014/main" id="{A93A1C44-2971-BD58-ED38-4A370CFC6142}"/>
              </a:ext>
            </a:extLst>
          </p:cNvPr>
          <p:cNvSpPr>
            <a:spLocks noRot="1" noChangeArrowheads="1"/>
          </p:cNvSpPr>
          <p:nvPr/>
        </p:nvSpPr>
        <p:spPr bwMode="auto">
          <a:xfrm>
            <a:off x="304800" y="1981200"/>
            <a:ext cx="8458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400" b="1"/>
              <a:t>发展后的</a:t>
            </a:r>
            <a:r>
              <a:rPr lang="en-US" altLang="zh-CN" sz="2400" b="1"/>
              <a:t>Phillips</a:t>
            </a:r>
            <a:r>
              <a:rPr lang="zh-CN" altLang="en-US" sz="2400" b="1"/>
              <a:t>曲线与原始的</a:t>
            </a:r>
            <a:r>
              <a:rPr lang="en-US" altLang="zh-CN" sz="2400" b="1"/>
              <a:t>Phillips</a:t>
            </a:r>
            <a:r>
              <a:rPr lang="zh-CN" altLang="en-US" sz="2400" b="1"/>
              <a:t>曲线的关系：</a:t>
            </a:r>
          </a:p>
          <a:p>
            <a:pPr lvl="1">
              <a:spcBef>
                <a:spcPct val="20000"/>
              </a:spcBef>
              <a:buClr>
                <a:schemeClr val="hlink"/>
              </a:buClr>
              <a:buSzPct val="85000"/>
              <a:buFont typeface="Wingdings" panose="05000000000000000000" pitchFamily="2" charset="2"/>
              <a:buChar char="§"/>
            </a:pPr>
            <a:r>
              <a:rPr lang="zh-CN" altLang="en-US" sz="2000" b="1"/>
              <a:t>前者不是对后者的否定，而是把其作为一个特例，进而把其一般化</a:t>
            </a:r>
          </a:p>
        </p:txBody>
      </p:sp>
      <p:sp>
        <p:nvSpPr>
          <p:cNvPr id="349198" name="Text Box 14">
            <a:extLst>
              <a:ext uri="{FF2B5EF4-FFF2-40B4-BE49-F238E27FC236}">
                <a16:creationId xmlns:a16="http://schemas.microsoft.com/office/drawing/2014/main" id="{6FD68D15-646A-2791-5374-DA7E7E9BE754}"/>
              </a:ext>
            </a:extLst>
          </p:cNvPr>
          <p:cNvSpPr txBox="1">
            <a:spLocks noChangeArrowheads="1"/>
          </p:cNvSpPr>
          <p:nvPr/>
        </p:nvSpPr>
        <p:spPr bwMode="auto">
          <a:xfrm>
            <a:off x="7315200" y="522763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sp>
        <p:nvSpPr>
          <p:cNvPr id="349209" name="Rectangle 25">
            <a:extLst>
              <a:ext uri="{FF2B5EF4-FFF2-40B4-BE49-F238E27FC236}">
                <a16:creationId xmlns:a16="http://schemas.microsoft.com/office/drawing/2014/main" id="{94C5F101-9E53-869A-0006-DEA3A7EFD3EA}"/>
              </a:ext>
            </a:extLst>
          </p:cNvPr>
          <p:cNvSpPr>
            <a:spLocks noRot="1" noChangeArrowheads="1"/>
          </p:cNvSpPr>
          <p:nvPr/>
        </p:nvSpPr>
        <p:spPr bwMode="auto">
          <a:xfrm>
            <a:off x="228600" y="3810000"/>
            <a:ext cx="84582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en-US" altLang="zh-CN" sz="2400" b="1"/>
              <a:t>Phillips</a:t>
            </a:r>
            <a:r>
              <a:rPr lang="zh-CN" altLang="en-US" sz="2400" b="1"/>
              <a:t>曲线的发展进一步推进了经济理论的发展</a:t>
            </a:r>
          </a:p>
          <a:p>
            <a:pPr lvl="1">
              <a:spcBef>
                <a:spcPct val="20000"/>
              </a:spcBef>
              <a:buClr>
                <a:schemeClr val="hlink"/>
              </a:buClr>
              <a:buSzPct val="85000"/>
              <a:buFont typeface="Wingdings" panose="05000000000000000000" pitchFamily="2" charset="2"/>
              <a:buChar char="§"/>
            </a:pPr>
            <a:r>
              <a:rPr lang="zh-CN" altLang="en-US" sz="2000" b="1"/>
              <a:t>适应性预期：根于过去预测现在和未来；</a:t>
            </a:r>
            <a:r>
              <a:rPr lang="en-US" altLang="zh-CN" sz="2000" b="1"/>
              <a:t>Friedman</a:t>
            </a:r>
            <a:r>
              <a:rPr lang="zh-CN" altLang="en-US" sz="2000" b="1"/>
              <a:t>和</a:t>
            </a:r>
            <a:r>
              <a:rPr lang="en-US" altLang="zh-CN" sz="2000" b="1"/>
              <a:t>Phelps</a:t>
            </a:r>
            <a:r>
              <a:rPr lang="zh-CN" altLang="en-US" sz="2000" b="1"/>
              <a:t>做出了开创性贡献。</a:t>
            </a:r>
          </a:p>
          <a:p>
            <a:pPr lvl="1">
              <a:spcBef>
                <a:spcPct val="20000"/>
              </a:spcBef>
              <a:buClr>
                <a:schemeClr val="hlink"/>
              </a:buClr>
              <a:buSzPct val="85000"/>
              <a:buFont typeface="Wingdings" panose="05000000000000000000" pitchFamily="2" charset="2"/>
              <a:buChar char="§"/>
            </a:pPr>
            <a:r>
              <a:rPr lang="zh-CN" altLang="en-US" sz="2000" b="1"/>
              <a:t>理性预期：改变了宏观经济学的分析范式，从凯恩斯宏观经济学到新古典经济学（理性预期宏观经济学）</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49186"/>
                                        </p:tgtEl>
                                        <p:attrNameLst>
                                          <p:attrName>style.visibility</p:attrName>
                                        </p:attrNameLst>
                                      </p:cBhvr>
                                      <p:to>
                                        <p:strVal val="visible"/>
                                      </p:to>
                                    </p:set>
                                    <p:animEffect transition="in" filter="slide(fromTop)">
                                      <p:cBhvr>
                                        <p:cTn id="7" dur="500"/>
                                        <p:tgtEl>
                                          <p:spTgt spid="3491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49188"/>
                                        </p:tgtEl>
                                        <p:attrNameLst>
                                          <p:attrName>style.visibility</p:attrName>
                                        </p:attrNameLst>
                                      </p:cBhvr>
                                      <p:to>
                                        <p:strVal val="visible"/>
                                      </p:to>
                                    </p:set>
                                    <p:animEffect transition="in" filter="slide(fromBottom)">
                                      <p:cBhvr>
                                        <p:cTn id="12" dur="500"/>
                                        <p:tgtEl>
                                          <p:spTgt spid="3491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349209"/>
                                        </p:tgtEl>
                                        <p:attrNameLst>
                                          <p:attrName>style.visibility</p:attrName>
                                        </p:attrNameLst>
                                      </p:cBhvr>
                                      <p:to>
                                        <p:strVal val="visible"/>
                                      </p:to>
                                    </p:set>
                                    <p:animEffect transition="in" filter="slide(fromBottom)">
                                      <p:cBhvr>
                                        <p:cTn id="17" dur="500"/>
                                        <p:tgtEl>
                                          <p:spTgt spid="349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9186" grpId="0" autoUpdateAnimBg="0"/>
      <p:bldP spid="349188" grpId="0" autoUpdateAnimBg="0"/>
      <p:bldP spid="349209"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50215" name="Picture 7">
            <a:extLst>
              <a:ext uri="{FF2B5EF4-FFF2-40B4-BE49-F238E27FC236}">
                <a16:creationId xmlns:a16="http://schemas.microsoft.com/office/drawing/2014/main" id="{6937877D-46F4-0AA6-C6CD-176ABB918A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1722438"/>
            <a:ext cx="5205413" cy="5135562"/>
          </a:xfrm>
          <a:prstGeom prst="rect">
            <a:avLst/>
          </a:prstGeom>
          <a:noFill/>
          <a:extLst>
            <a:ext uri="{909E8E84-426E-40DD-AFC4-6F175D3DCCD1}">
              <a14:hiddenFill xmlns:a14="http://schemas.microsoft.com/office/drawing/2010/main">
                <a:solidFill>
                  <a:srgbClr val="FFFFFF"/>
                </a:solidFill>
              </a14:hiddenFill>
            </a:ext>
          </a:extLst>
        </p:spPr>
      </p:pic>
      <p:sp>
        <p:nvSpPr>
          <p:cNvPr id="350210" name="Rectangle 2">
            <a:extLst>
              <a:ext uri="{FF2B5EF4-FFF2-40B4-BE49-F238E27FC236}">
                <a16:creationId xmlns:a16="http://schemas.microsoft.com/office/drawing/2014/main" id="{1CB04462-E716-44DE-B5E2-512FEE2D5D3D}"/>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2.4 Phillips</a:t>
            </a:r>
            <a:r>
              <a:rPr lang="zh-CN" altLang="en-US" b="1">
                <a:solidFill>
                  <a:srgbClr val="CC0000"/>
                </a:solidFill>
              </a:rPr>
              <a:t>曲线</a:t>
            </a:r>
            <a:r>
              <a:rPr lang="en-US" altLang="zh-CN" b="1">
                <a:solidFill>
                  <a:srgbClr val="CC0000"/>
                </a:solidFill>
              </a:rPr>
              <a:t>_</a:t>
            </a:r>
            <a:r>
              <a:rPr lang="zh-CN" altLang="en-US" b="1">
                <a:solidFill>
                  <a:srgbClr val="CC0000"/>
                </a:solidFill>
              </a:rPr>
              <a:t>发展</a:t>
            </a:r>
          </a:p>
        </p:txBody>
      </p:sp>
      <p:sp>
        <p:nvSpPr>
          <p:cNvPr id="350211" name="Rectangle 3">
            <a:extLst>
              <a:ext uri="{FF2B5EF4-FFF2-40B4-BE49-F238E27FC236}">
                <a16:creationId xmlns:a16="http://schemas.microsoft.com/office/drawing/2014/main" id="{F33C4A9C-6D0F-5359-3FC4-D4C044A2BD8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50212" name="Rectangle 4">
            <a:extLst>
              <a:ext uri="{FF2B5EF4-FFF2-40B4-BE49-F238E27FC236}">
                <a16:creationId xmlns:a16="http://schemas.microsoft.com/office/drawing/2014/main" id="{7EDBD4D0-9D52-C372-759F-B199F09A1C13}"/>
              </a:ext>
            </a:extLst>
          </p:cNvPr>
          <p:cNvSpPr>
            <a:spLocks noRot="1" noChangeArrowheads="1"/>
          </p:cNvSpPr>
          <p:nvPr/>
        </p:nvSpPr>
        <p:spPr bwMode="auto">
          <a:xfrm>
            <a:off x="304800" y="1676400"/>
            <a:ext cx="335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400" b="1"/>
              <a:t>发展后的</a:t>
            </a:r>
            <a:r>
              <a:rPr lang="en-US" altLang="zh-CN" sz="2400" b="1"/>
              <a:t>Phillips</a:t>
            </a:r>
            <a:r>
              <a:rPr lang="zh-CN" altLang="en-US" sz="2400" b="1"/>
              <a:t>曲线是否与实际比较吻合</a:t>
            </a:r>
            <a:endParaRPr lang="zh-CN" altLang="en-US" sz="2000" b="1"/>
          </a:p>
        </p:txBody>
      </p:sp>
      <p:sp>
        <p:nvSpPr>
          <p:cNvPr id="350213" name="Text Box 5">
            <a:extLst>
              <a:ext uri="{FF2B5EF4-FFF2-40B4-BE49-F238E27FC236}">
                <a16:creationId xmlns:a16="http://schemas.microsoft.com/office/drawing/2014/main" id="{57E9CE9B-E6DF-6A70-0B73-6BB7885DBFEC}"/>
              </a:ext>
            </a:extLst>
          </p:cNvPr>
          <p:cNvSpPr txBox="1">
            <a:spLocks noChangeArrowheads="1"/>
          </p:cNvSpPr>
          <p:nvPr/>
        </p:nvSpPr>
        <p:spPr bwMode="auto">
          <a:xfrm>
            <a:off x="7315200" y="522763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grpSp>
        <p:nvGrpSpPr>
          <p:cNvPr id="350218" name="Group 10">
            <a:extLst>
              <a:ext uri="{FF2B5EF4-FFF2-40B4-BE49-F238E27FC236}">
                <a16:creationId xmlns:a16="http://schemas.microsoft.com/office/drawing/2014/main" id="{9DA412FA-9923-085B-FF61-8FC105B6034C}"/>
              </a:ext>
            </a:extLst>
          </p:cNvPr>
          <p:cNvGrpSpPr>
            <a:grpSpLocks/>
          </p:cNvGrpSpPr>
          <p:nvPr/>
        </p:nvGrpSpPr>
        <p:grpSpPr bwMode="auto">
          <a:xfrm>
            <a:off x="228600" y="3048000"/>
            <a:ext cx="3352800" cy="1568450"/>
            <a:chOff x="144" y="1920"/>
            <a:chExt cx="2112" cy="988"/>
          </a:xfrm>
        </p:grpSpPr>
        <p:graphicFrame>
          <p:nvGraphicFramePr>
            <p:cNvPr id="350216" name="Object 8">
              <a:extLst>
                <a:ext uri="{FF2B5EF4-FFF2-40B4-BE49-F238E27FC236}">
                  <a16:creationId xmlns:a16="http://schemas.microsoft.com/office/drawing/2014/main" id="{F498E9C6-6EEF-C560-794D-54630EA3A1DF}"/>
                </a:ext>
              </a:extLst>
            </p:cNvPr>
            <p:cNvGraphicFramePr>
              <a:graphicFrameLocks noChangeAspect="1"/>
            </p:cNvGraphicFramePr>
            <p:nvPr/>
          </p:nvGraphicFramePr>
          <p:xfrm>
            <a:off x="919" y="2544"/>
            <a:ext cx="739" cy="364"/>
          </p:xfrm>
          <a:graphic>
            <a:graphicData uri="http://schemas.openxmlformats.org/presentationml/2006/ole">
              <mc:AlternateContent xmlns:mc="http://schemas.openxmlformats.org/markup-compatibility/2006">
                <mc:Choice xmlns:v="urn:schemas-microsoft-com:vml" Requires="v">
                  <p:oleObj name="Equation" r:id="rId3" imgW="558720" imgH="241200" progId="Equation.DSMT4">
                    <p:embed/>
                  </p:oleObj>
                </mc:Choice>
                <mc:Fallback>
                  <p:oleObj name="Equation" r:id="rId3" imgW="558720" imgH="2412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 y="2544"/>
                          <a:ext cx="739"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0217" name="Rectangle 9">
              <a:extLst>
                <a:ext uri="{FF2B5EF4-FFF2-40B4-BE49-F238E27FC236}">
                  <a16:creationId xmlns:a16="http://schemas.microsoft.com/office/drawing/2014/main" id="{227BADF6-DB18-D9FE-0FA9-BEA9F6518599}"/>
                </a:ext>
              </a:extLst>
            </p:cNvPr>
            <p:cNvSpPr>
              <a:spLocks noRot="1" noChangeArrowheads="1"/>
            </p:cNvSpPr>
            <p:nvPr/>
          </p:nvSpPr>
          <p:spPr bwMode="auto">
            <a:xfrm>
              <a:off x="144" y="1920"/>
              <a:ext cx="2112"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400" b="1"/>
                <a:t>我们采用简单的适应性预期，即</a:t>
              </a:r>
              <a:endParaRPr lang="zh-CN" altLang="en-US" sz="2000" b="1"/>
            </a:p>
          </p:txBody>
        </p:sp>
      </p:grpSp>
      <p:grpSp>
        <p:nvGrpSpPr>
          <p:cNvPr id="350222" name="Group 14">
            <a:extLst>
              <a:ext uri="{FF2B5EF4-FFF2-40B4-BE49-F238E27FC236}">
                <a16:creationId xmlns:a16="http://schemas.microsoft.com/office/drawing/2014/main" id="{F5B23F8F-60B5-55C0-A612-F2C4721AB136}"/>
              </a:ext>
            </a:extLst>
          </p:cNvPr>
          <p:cNvGrpSpPr>
            <a:grpSpLocks/>
          </p:cNvGrpSpPr>
          <p:nvPr/>
        </p:nvGrpSpPr>
        <p:grpSpPr bwMode="auto">
          <a:xfrm>
            <a:off x="152400" y="4832350"/>
            <a:ext cx="3352800" cy="1506538"/>
            <a:chOff x="96" y="3044"/>
            <a:chExt cx="2112" cy="949"/>
          </a:xfrm>
        </p:grpSpPr>
        <p:graphicFrame>
          <p:nvGraphicFramePr>
            <p:cNvPr id="350220" name="Object 12">
              <a:extLst>
                <a:ext uri="{FF2B5EF4-FFF2-40B4-BE49-F238E27FC236}">
                  <a16:creationId xmlns:a16="http://schemas.microsoft.com/office/drawing/2014/main" id="{D4A44B37-4E83-BAE9-3042-A664DC4C3FA3}"/>
                </a:ext>
              </a:extLst>
            </p:cNvPr>
            <p:cNvGraphicFramePr>
              <a:graphicFrameLocks noChangeAspect="1"/>
            </p:cNvGraphicFramePr>
            <p:nvPr/>
          </p:nvGraphicFramePr>
          <p:xfrm>
            <a:off x="288" y="3648"/>
            <a:ext cx="1781" cy="345"/>
          </p:xfrm>
          <a:graphic>
            <a:graphicData uri="http://schemas.openxmlformats.org/presentationml/2006/ole">
              <mc:AlternateContent xmlns:mc="http://schemas.openxmlformats.org/markup-compatibility/2006">
                <mc:Choice xmlns:v="urn:schemas-microsoft-com:vml" Requires="v">
                  <p:oleObj name="Equation" r:id="rId5" imgW="1346040" imgH="228600" progId="Equation.DSMT4">
                    <p:embed/>
                  </p:oleObj>
                </mc:Choice>
                <mc:Fallback>
                  <p:oleObj name="Equation" r:id="rId5" imgW="1346040" imgH="228600"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 y="3648"/>
                          <a:ext cx="1781"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0221" name="Rectangle 13">
              <a:extLst>
                <a:ext uri="{FF2B5EF4-FFF2-40B4-BE49-F238E27FC236}">
                  <a16:creationId xmlns:a16="http://schemas.microsoft.com/office/drawing/2014/main" id="{D2C12A62-2594-C63D-3438-CD7CF3DEA4EE}"/>
                </a:ext>
              </a:extLst>
            </p:cNvPr>
            <p:cNvSpPr>
              <a:spLocks noRot="1" noChangeArrowheads="1"/>
            </p:cNvSpPr>
            <p:nvPr/>
          </p:nvSpPr>
          <p:spPr bwMode="auto">
            <a:xfrm>
              <a:off x="96" y="3044"/>
              <a:ext cx="2112"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en-US" altLang="zh-CN" sz="2400" b="1"/>
                <a:t>Phillips</a:t>
              </a:r>
              <a:r>
                <a:rPr lang="zh-CN" altLang="en-US" sz="2400" b="1"/>
                <a:t>曲线就可以变为</a:t>
              </a:r>
              <a:endParaRPr lang="zh-CN" altLang="en-US" sz="2000" b="1"/>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50210"/>
                                        </p:tgtEl>
                                        <p:attrNameLst>
                                          <p:attrName>style.visibility</p:attrName>
                                        </p:attrNameLst>
                                      </p:cBhvr>
                                      <p:to>
                                        <p:strVal val="visible"/>
                                      </p:to>
                                    </p:set>
                                    <p:animEffect transition="in" filter="slide(fromTop)">
                                      <p:cBhvr>
                                        <p:cTn id="7" dur="500"/>
                                        <p:tgtEl>
                                          <p:spTgt spid="3502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50212"/>
                                        </p:tgtEl>
                                        <p:attrNameLst>
                                          <p:attrName>style.visibility</p:attrName>
                                        </p:attrNameLst>
                                      </p:cBhvr>
                                      <p:to>
                                        <p:strVal val="visible"/>
                                      </p:to>
                                    </p:set>
                                    <p:animEffect transition="in" filter="slide(fromBottom)">
                                      <p:cBhvr>
                                        <p:cTn id="12" dur="500"/>
                                        <p:tgtEl>
                                          <p:spTgt spid="3502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1" fill="hold" nodeType="clickEffect">
                                  <p:stCondLst>
                                    <p:cond delay="0"/>
                                  </p:stCondLst>
                                  <p:childTnLst>
                                    <p:set>
                                      <p:cBhvr>
                                        <p:cTn id="16" dur="1" fill="hold">
                                          <p:stCondLst>
                                            <p:cond delay="0"/>
                                          </p:stCondLst>
                                        </p:cTn>
                                        <p:tgtEl>
                                          <p:spTgt spid="350218"/>
                                        </p:tgtEl>
                                        <p:attrNameLst>
                                          <p:attrName>style.visibility</p:attrName>
                                        </p:attrNameLst>
                                      </p:cBhvr>
                                      <p:to>
                                        <p:strVal val="visible"/>
                                      </p:to>
                                    </p:set>
                                    <p:animEffect transition="in" filter="slide(fromTop)">
                                      <p:cBhvr>
                                        <p:cTn id="17" dur="500"/>
                                        <p:tgtEl>
                                          <p:spTgt spid="3502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1" fill="hold" nodeType="clickEffect">
                                  <p:stCondLst>
                                    <p:cond delay="0"/>
                                  </p:stCondLst>
                                  <p:childTnLst>
                                    <p:set>
                                      <p:cBhvr>
                                        <p:cTn id="21" dur="1" fill="hold">
                                          <p:stCondLst>
                                            <p:cond delay="0"/>
                                          </p:stCondLst>
                                        </p:cTn>
                                        <p:tgtEl>
                                          <p:spTgt spid="350222"/>
                                        </p:tgtEl>
                                        <p:attrNameLst>
                                          <p:attrName>style.visibility</p:attrName>
                                        </p:attrNameLst>
                                      </p:cBhvr>
                                      <p:to>
                                        <p:strVal val="visible"/>
                                      </p:to>
                                    </p:set>
                                    <p:animEffect transition="in" filter="slide(fromTop)">
                                      <p:cBhvr>
                                        <p:cTn id="22" dur="500"/>
                                        <p:tgtEl>
                                          <p:spTgt spid="3502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50215"/>
                                        </p:tgtEl>
                                        <p:attrNameLst>
                                          <p:attrName>style.visibility</p:attrName>
                                        </p:attrNameLst>
                                      </p:cBhvr>
                                      <p:to>
                                        <p:strVal val="visible"/>
                                      </p:to>
                                    </p:set>
                                    <p:animEffect transition="in" filter="box(in)">
                                      <p:cBhvr>
                                        <p:cTn id="27" dur="500"/>
                                        <p:tgtEl>
                                          <p:spTgt spid="350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0" grpId="0" autoUpdateAnimBg="0"/>
      <p:bldP spid="350212"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1235" name="Rectangle 3">
            <a:extLst>
              <a:ext uri="{FF2B5EF4-FFF2-40B4-BE49-F238E27FC236}">
                <a16:creationId xmlns:a16="http://schemas.microsoft.com/office/drawing/2014/main" id="{FFA6C739-5EA4-A02C-5694-9FCE3FE4AB57}"/>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2.5 Phillips</a:t>
            </a:r>
            <a:r>
              <a:rPr lang="zh-CN" altLang="en-US" b="1">
                <a:solidFill>
                  <a:srgbClr val="CC0000"/>
                </a:solidFill>
              </a:rPr>
              <a:t>曲线</a:t>
            </a:r>
            <a:r>
              <a:rPr lang="en-US" altLang="zh-CN" b="1">
                <a:solidFill>
                  <a:srgbClr val="CC0000"/>
                </a:solidFill>
              </a:rPr>
              <a:t>_</a:t>
            </a:r>
            <a:r>
              <a:rPr lang="zh-CN" altLang="en-US" b="1">
                <a:solidFill>
                  <a:srgbClr val="CC0000"/>
                </a:solidFill>
              </a:rPr>
              <a:t>小结</a:t>
            </a:r>
          </a:p>
        </p:txBody>
      </p:sp>
      <p:sp>
        <p:nvSpPr>
          <p:cNvPr id="351236" name="Rectangle 4">
            <a:extLst>
              <a:ext uri="{FF2B5EF4-FFF2-40B4-BE49-F238E27FC236}">
                <a16:creationId xmlns:a16="http://schemas.microsoft.com/office/drawing/2014/main" id="{0600BC88-3BBA-4C38-DDB1-9FFB43271F7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351245" name="Group 13">
            <a:extLst>
              <a:ext uri="{FF2B5EF4-FFF2-40B4-BE49-F238E27FC236}">
                <a16:creationId xmlns:a16="http://schemas.microsoft.com/office/drawing/2014/main" id="{0443B758-7056-16B9-6C4D-74EA5A627300}"/>
              </a:ext>
            </a:extLst>
          </p:cNvPr>
          <p:cNvGrpSpPr>
            <a:grpSpLocks/>
          </p:cNvGrpSpPr>
          <p:nvPr/>
        </p:nvGrpSpPr>
        <p:grpSpPr bwMode="auto">
          <a:xfrm>
            <a:off x="990600" y="1508125"/>
            <a:ext cx="3581400" cy="2378075"/>
            <a:chOff x="3216" y="2160"/>
            <a:chExt cx="2256" cy="1498"/>
          </a:xfrm>
        </p:grpSpPr>
        <p:sp>
          <p:nvSpPr>
            <p:cNvPr id="351246" name="Line 14">
              <a:extLst>
                <a:ext uri="{FF2B5EF4-FFF2-40B4-BE49-F238E27FC236}">
                  <a16:creationId xmlns:a16="http://schemas.microsoft.com/office/drawing/2014/main" id="{D432C842-E6C6-65C7-C6E8-B460F02CC583}"/>
                </a:ext>
              </a:extLst>
            </p:cNvPr>
            <p:cNvSpPr>
              <a:spLocks noChangeShapeType="1"/>
            </p:cNvSpPr>
            <p:nvPr/>
          </p:nvSpPr>
          <p:spPr bwMode="auto">
            <a:xfrm flipH="1" flipV="1">
              <a:off x="4560" y="2333"/>
              <a:ext cx="0" cy="1104"/>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1247" name="Text Box 15">
              <a:extLst>
                <a:ext uri="{FF2B5EF4-FFF2-40B4-BE49-F238E27FC236}">
                  <a16:creationId xmlns:a16="http://schemas.microsoft.com/office/drawing/2014/main" id="{3707DDC7-088C-FF43-E53F-9FB6AB7A04AC}"/>
                </a:ext>
              </a:extLst>
            </p:cNvPr>
            <p:cNvSpPr txBox="1">
              <a:spLocks noChangeArrowheads="1"/>
            </p:cNvSpPr>
            <p:nvPr/>
          </p:nvSpPr>
          <p:spPr bwMode="auto">
            <a:xfrm>
              <a:off x="4416" y="3485"/>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solidFill>
                    <a:schemeClr val="tx2"/>
                  </a:solidFill>
                </a:rPr>
                <a:t>u*</a:t>
              </a:r>
            </a:p>
          </p:txBody>
        </p:sp>
        <p:sp>
          <p:nvSpPr>
            <p:cNvPr id="351248" name="Line 16">
              <a:extLst>
                <a:ext uri="{FF2B5EF4-FFF2-40B4-BE49-F238E27FC236}">
                  <a16:creationId xmlns:a16="http://schemas.microsoft.com/office/drawing/2014/main" id="{A9B35519-8FB5-F05C-A05D-B7BE10777544}"/>
                </a:ext>
              </a:extLst>
            </p:cNvPr>
            <p:cNvSpPr>
              <a:spLocks noChangeShapeType="1"/>
            </p:cNvSpPr>
            <p:nvPr/>
          </p:nvSpPr>
          <p:spPr bwMode="auto">
            <a:xfrm>
              <a:off x="3504" y="2160"/>
              <a:ext cx="0" cy="12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1249" name="Line 17">
              <a:extLst>
                <a:ext uri="{FF2B5EF4-FFF2-40B4-BE49-F238E27FC236}">
                  <a16:creationId xmlns:a16="http://schemas.microsoft.com/office/drawing/2014/main" id="{8CFD4CD8-1AFF-A51E-C46A-E11C03AA0651}"/>
                </a:ext>
              </a:extLst>
            </p:cNvPr>
            <p:cNvSpPr>
              <a:spLocks noChangeShapeType="1"/>
            </p:cNvSpPr>
            <p:nvPr/>
          </p:nvSpPr>
          <p:spPr bwMode="auto">
            <a:xfrm>
              <a:off x="3504" y="3456"/>
              <a:ext cx="17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1250" name="Text Box 18">
              <a:extLst>
                <a:ext uri="{FF2B5EF4-FFF2-40B4-BE49-F238E27FC236}">
                  <a16:creationId xmlns:a16="http://schemas.microsoft.com/office/drawing/2014/main" id="{085A014D-4EF3-05CE-6C22-9D4CA14A9BEC}"/>
                </a:ext>
              </a:extLst>
            </p:cNvPr>
            <p:cNvSpPr txBox="1">
              <a:spLocks noChangeArrowheads="1"/>
            </p:cNvSpPr>
            <p:nvPr/>
          </p:nvSpPr>
          <p:spPr bwMode="auto">
            <a:xfrm>
              <a:off x="5232" y="3451"/>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u</a:t>
              </a:r>
            </a:p>
          </p:txBody>
        </p:sp>
        <p:sp>
          <p:nvSpPr>
            <p:cNvPr id="351251" name="Text Box 19">
              <a:extLst>
                <a:ext uri="{FF2B5EF4-FFF2-40B4-BE49-F238E27FC236}">
                  <a16:creationId xmlns:a16="http://schemas.microsoft.com/office/drawing/2014/main" id="{83362B96-CD28-BAE3-9B80-8E47C1F60873}"/>
                </a:ext>
              </a:extLst>
            </p:cNvPr>
            <p:cNvSpPr txBox="1">
              <a:spLocks noChangeArrowheads="1"/>
            </p:cNvSpPr>
            <p:nvPr/>
          </p:nvSpPr>
          <p:spPr bwMode="auto">
            <a:xfrm>
              <a:off x="3216" y="2160"/>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g</a:t>
              </a:r>
              <a:r>
                <a:rPr lang="en-US" altLang="zh-CN" b="1" baseline="-25000"/>
                <a:t>W</a:t>
              </a:r>
            </a:p>
          </p:txBody>
        </p:sp>
      </p:grpSp>
      <p:grpSp>
        <p:nvGrpSpPr>
          <p:cNvPr id="351282" name="Group 50">
            <a:extLst>
              <a:ext uri="{FF2B5EF4-FFF2-40B4-BE49-F238E27FC236}">
                <a16:creationId xmlns:a16="http://schemas.microsoft.com/office/drawing/2014/main" id="{94BBE738-B188-5766-F12B-BA84B940E3B3}"/>
              </a:ext>
            </a:extLst>
          </p:cNvPr>
          <p:cNvGrpSpPr>
            <a:grpSpLocks/>
          </p:cNvGrpSpPr>
          <p:nvPr/>
        </p:nvGrpSpPr>
        <p:grpSpPr bwMode="auto">
          <a:xfrm>
            <a:off x="5257800" y="1485900"/>
            <a:ext cx="3581400" cy="2400300"/>
            <a:chOff x="3312" y="936"/>
            <a:chExt cx="2256" cy="1512"/>
          </a:xfrm>
        </p:grpSpPr>
        <p:sp>
          <p:nvSpPr>
            <p:cNvPr id="351252" name="Line 20">
              <a:extLst>
                <a:ext uri="{FF2B5EF4-FFF2-40B4-BE49-F238E27FC236}">
                  <a16:creationId xmlns:a16="http://schemas.microsoft.com/office/drawing/2014/main" id="{F02AA3F1-19DA-EB44-B472-E732EA2ADF78}"/>
                </a:ext>
              </a:extLst>
            </p:cNvPr>
            <p:cNvSpPr>
              <a:spLocks noChangeShapeType="1"/>
            </p:cNvSpPr>
            <p:nvPr/>
          </p:nvSpPr>
          <p:spPr bwMode="auto">
            <a:xfrm>
              <a:off x="3888" y="1584"/>
              <a:ext cx="1104" cy="864"/>
            </a:xfrm>
            <a:prstGeom prst="line">
              <a:avLst/>
            </a:prstGeom>
            <a:noFill/>
            <a:ln w="571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351253" name="Group 21">
              <a:extLst>
                <a:ext uri="{FF2B5EF4-FFF2-40B4-BE49-F238E27FC236}">
                  <a16:creationId xmlns:a16="http://schemas.microsoft.com/office/drawing/2014/main" id="{30EACA83-9174-4EA4-180B-5F2122A160D0}"/>
                </a:ext>
              </a:extLst>
            </p:cNvPr>
            <p:cNvGrpSpPr>
              <a:grpSpLocks/>
            </p:cNvGrpSpPr>
            <p:nvPr/>
          </p:nvGrpSpPr>
          <p:grpSpPr bwMode="auto">
            <a:xfrm>
              <a:off x="4560" y="1104"/>
              <a:ext cx="240" cy="1325"/>
              <a:chOff x="3984" y="1872"/>
              <a:chExt cx="240" cy="1325"/>
            </a:xfrm>
          </p:grpSpPr>
          <p:sp>
            <p:nvSpPr>
              <p:cNvPr id="351254" name="Line 22">
                <a:extLst>
                  <a:ext uri="{FF2B5EF4-FFF2-40B4-BE49-F238E27FC236}">
                    <a16:creationId xmlns:a16="http://schemas.microsoft.com/office/drawing/2014/main" id="{3F2993A0-AD39-6A85-076F-21C2DE0D35AE}"/>
                  </a:ext>
                </a:extLst>
              </p:cNvPr>
              <p:cNvSpPr>
                <a:spLocks noChangeShapeType="1"/>
              </p:cNvSpPr>
              <p:nvPr/>
            </p:nvSpPr>
            <p:spPr bwMode="auto">
              <a:xfrm flipH="1" flipV="1">
                <a:off x="4128" y="1872"/>
                <a:ext cx="0" cy="1104"/>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1255" name="Text Box 23">
                <a:extLst>
                  <a:ext uri="{FF2B5EF4-FFF2-40B4-BE49-F238E27FC236}">
                    <a16:creationId xmlns:a16="http://schemas.microsoft.com/office/drawing/2014/main" id="{A6563ED5-D63C-CB87-5D01-C9FAA595FD1C}"/>
                  </a:ext>
                </a:extLst>
              </p:cNvPr>
              <p:cNvSpPr txBox="1">
                <a:spLocks noChangeArrowheads="1"/>
              </p:cNvSpPr>
              <p:nvPr/>
            </p:nvSpPr>
            <p:spPr bwMode="auto">
              <a:xfrm>
                <a:off x="3984" y="3024"/>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solidFill>
                      <a:schemeClr val="tx2"/>
                    </a:solidFill>
                  </a:rPr>
                  <a:t>u*</a:t>
                </a:r>
              </a:p>
            </p:txBody>
          </p:sp>
        </p:grpSp>
        <p:grpSp>
          <p:nvGrpSpPr>
            <p:cNvPr id="351256" name="Group 24">
              <a:extLst>
                <a:ext uri="{FF2B5EF4-FFF2-40B4-BE49-F238E27FC236}">
                  <a16:creationId xmlns:a16="http://schemas.microsoft.com/office/drawing/2014/main" id="{6FC3FF23-83E1-D23F-D705-DD32B3DC65F9}"/>
                </a:ext>
              </a:extLst>
            </p:cNvPr>
            <p:cNvGrpSpPr>
              <a:grpSpLocks/>
            </p:cNvGrpSpPr>
            <p:nvPr/>
          </p:nvGrpSpPr>
          <p:grpSpPr bwMode="auto">
            <a:xfrm>
              <a:off x="3312" y="936"/>
              <a:ext cx="2256" cy="1464"/>
              <a:chOff x="1296" y="1536"/>
              <a:chExt cx="2256" cy="1464"/>
            </a:xfrm>
          </p:grpSpPr>
          <p:sp>
            <p:nvSpPr>
              <p:cNvPr id="351257" name="Line 25">
                <a:extLst>
                  <a:ext uri="{FF2B5EF4-FFF2-40B4-BE49-F238E27FC236}">
                    <a16:creationId xmlns:a16="http://schemas.microsoft.com/office/drawing/2014/main" id="{09ABF577-9B52-CEE4-F671-80EA49A34A82}"/>
                  </a:ext>
                </a:extLst>
              </p:cNvPr>
              <p:cNvSpPr>
                <a:spLocks noChangeShapeType="1"/>
              </p:cNvSpPr>
              <p:nvPr/>
            </p:nvSpPr>
            <p:spPr bwMode="auto">
              <a:xfrm>
                <a:off x="1584" y="1536"/>
                <a:ext cx="0" cy="12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1258" name="Line 26">
                <a:extLst>
                  <a:ext uri="{FF2B5EF4-FFF2-40B4-BE49-F238E27FC236}">
                    <a16:creationId xmlns:a16="http://schemas.microsoft.com/office/drawing/2014/main" id="{F3BDBBA4-3460-CCA0-5751-2F13C13A4BD1}"/>
                  </a:ext>
                </a:extLst>
              </p:cNvPr>
              <p:cNvSpPr>
                <a:spLocks noChangeShapeType="1"/>
              </p:cNvSpPr>
              <p:nvPr/>
            </p:nvSpPr>
            <p:spPr bwMode="auto">
              <a:xfrm>
                <a:off x="1584" y="2832"/>
                <a:ext cx="17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1259" name="Text Box 27">
                <a:extLst>
                  <a:ext uri="{FF2B5EF4-FFF2-40B4-BE49-F238E27FC236}">
                    <a16:creationId xmlns:a16="http://schemas.microsoft.com/office/drawing/2014/main" id="{EED12C0E-7E12-1ACE-0F61-3C98CF6E1FA6}"/>
                  </a:ext>
                </a:extLst>
              </p:cNvPr>
              <p:cNvSpPr txBox="1">
                <a:spLocks noChangeArrowheads="1"/>
              </p:cNvSpPr>
              <p:nvPr/>
            </p:nvSpPr>
            <p:spPr bwMode="auto">
              <a:xfrm>
                <a:off x="3312" y="2827"/>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u</a:t>
                </a:r>
              </a:p>
            </p:txBody>
          </p:sp>
          <p:sp>
            <p:nvSpPr>
              <p:cNvPr id="351260" name="Text Box 28">
                <a:extLst>
                  <a:ext uri="{FF2B5EF4-FFF2-40B4-BE49-F238E27FC236}">
                    <a16:creationId xmlns:a16="http://schemas.microsoft.com/office/drawing/2014/main" id="{0C8D6321-FB61-D4BB-0A46-EA54F6E497C5}"/>
                  </a:ext>
                </a:extLst>
              </p:cNvPr>
              <p:cNvSpPr txBox="1">
                <a:spLocks noChangeArrowheads="1"/>
              </p:cNvSpPr>
              <p:nvPr/>
            </p:nvSpPr>
            <p:spPr bwMode="auto">
              <a:xfrm>
                <a:off x="1296" y="1536"/>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g</a:t>
                </a:r>
                <a:r>
                  <a:rPr lang="en-US" altLang="zh-CN" b="1" baseline="-25000"/>
                  <a:t>W</a:t>
                </a:r>
              </a:p>
            </p:txBody>
          </p:sp>
        </p:grpSp>
      </p:grpSp>
      <p:grpSp>
        <p:nvGrpSpPr>
          <p:cNvPr id="351281" name="Group 49">
            <a:extLst>
              <a:ext uri="{FF2B5EF4-FFF2-40B4-BE49-F238E27FC236}">
                <a16:creationId xmlns:a16="http://schemas.microsoft.com/office/drawing/2014/main" id="{AD7B764C-962C-1DB9-7E29-9DF1DC9CD569}"/>
              </a:ext>
            </a:extLst>
          </p:cNvPr>
          <p:cNvGrpSpPr>
            <a:grpSpLocks/>
          </p:cNvGrpSpPr>
          <p:nvPr/>
        </p:nvGrpSpPr>
        <p:grpSpPr bwMode="auto">
          <a:xfrm>
            <a:off x="3276600" y="4235450"/>
            <a:ext cx="3810000" cy="2774950"/>
            <a:chOff x="3360" y="2620"/>
            <a:chExt cx="2400" cy="1748"/>
          </a:xfrm>
        </p:grpSpPr>
        <p:sp>
          <p:nvSpPr>
            <p:cNvPr id="351238" name="Text Box 6">
              <a:extLst>
                <a:ext uri="{FF2B5EF4-FFF2-40B4-BE49-F238E27FC236}">
                  <a16:creationId xmlns:a16="http://schemas.microsoft.com/office/drawing/2014/main" id="{F4DF6E3D-3311-7921-3968-6D9A0A4E2D35}"/>
                </a:ext>
              </a:extLst>
            </p:cNvPr>
            <p:cNvSpPr txBox="1">
              <a:spLocks noChangeArrowheads="1"/>
            </p:cNvSpPr>
            <p:nvPr/>
          </p:nvSpPr>
          <p:spPr bwMode="auto">
            <a:xfrm>
              <a:off x="4608" y="3389"/>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grpSp>
          <p:nvGrpSpPr>
            <p:cNvPr id="351266" name="Group 34">
              <a:extLst>
                <a:ext uri="{FF2B5EF4-FFF2-40B4-BE49-F238E27FC236}">
                  <a16:creationId xmlns:a16="http://schemas.microsoft.com/office/drawing/2014/main" id="{11486E03-703E-05AF-6D35-BE3658A62673}"/>
                </a:ext>
              </a:extLst>
            </p:cNvPr>
            <p:cNvGrpSpPr>
              <a:grpSpLocks/>
            </p:cNvGrpSpPr>
            <p:nvPr/>
          </p:nvGrpSpPr>
          <p:grpSpPr bwMode="auto">
            <a:xfrm>
              <a:off x="3360" y="2620"/>
              <a:ext cx="2256" cy="1464"/>
              <a:chOff x="1296" y="1536"/>
              <a:chExt cx="2256" cy="1464"/>
            </a:xfrm>
          </p:grpSpPr>
          <p:sp>
            <p:nvSpPr>
              <p:cNvPr id="351267" name="Line 35">
                <a:extLst>
                  <a:ext uri="{FF2B5EF4-FFF2-40B4-BE49-F238E27FC236}">
                    <a16:creationId xmlns:a16="http://schemas.microsoft.com/office/drawing/2014/main" id="{71635FEF-6183-EAC0-0490-358E6C9DAEC2}"/>
                  </a:ext>
                </a:extLst>
              </p:cNvPr>
              <p:cNvSpPr>
                <a:spLocks noChangeShapeType="1"/>
              </p:cNvSpPr>
              <p:nvPr/>
            </p:nvSpPr>
            <p:spPr bwMode="auto">
              <a:xfrm>
                <a:off x="1584" y="1536"/>
                <a:ext cx="0" cy="12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1268" name="Line 36">
                <a:extLst>
                  <a:ext uri="{FF2B5EF4-FFF2-40B4-BE49-F238E27FC236}">
                    <a16:creationId xmlns:a16="http://schemas.microsoft.com/office/drawing/2014/main" id="{F5B1BCD2-E916-51FB-5E18-8432FA4A7A93}"/>
                  </a:ext>
                </a:extLst>
              </p:cNvPr>
              <p:cNvSpPr>
                <a:spLocks noChangeShapeType="1"/>
              </p:cNvSpPr>
              <p:nvPr/>
            </p:nvSpPr>
            <p:spPr bwMode="auto">
              <a:xfrm>
                <a:off x="1584" y="2832"/>
                <a:ext cx="17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1269" name="Text Box 37">
                <a:extLst>
                  <a:ext uri="{FF2B5EF4-FFF2-40B4-BE49-F238E27FC236}">
                    <a16:creationId xmlns:a16="http://schemas.microsoft.com/office/drawing/2014/main" id="{7AFF9DED-EF8F-8E9A-8E6D-0C58ECC8B70F}"/>
                  </a:ext>
                </a:extLst>
              </p:cNvPr>
              <p:cNvSpPr txBox="1">
                <a:spLocks noChangeArrowheads="1"/>
              </p:cNvSpPr>
              <p:nvPr/>
            </p:nvSpPr>
            <p:spPr bwMode="auto">
              <a:xfrm>
                <a:off x="3312" y="2827"/>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u</a:t>
                </a:r>
              </a:p>
            </p:txBody>
          </p:sp>
          <p:sp>
            <p:nvSpPr>
              <p:cNvPr id="351270" name="Text Box 38">
                <a:extLst>
                  <a:ext uri="{FF2B5EF4-FFF2-40B4-BE49-F238E27FC236}">
                    <a16:creationId xmlns:a16="http://schemas.microsoft.com/office/drawing/2014/main" id="{79C1B26D-CFEA-D644-18B2-DECBF7039CBA}"/>
                  </a:ext>
                </a:extLst>
              </p:cNvPr>
              <p:cNvSpPr txBox="1">
                <a:spLocks noChangeArrowheads="1"/>
              </p:cNvSpPr>
              <p:nvPr/>
            </p:nvSpPr>
            <p:spPr bwMode="auto">
              <a:xfrm>
                <a:off x="1296" y="1536"/>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t>g</a:t>
                </a:r>
                <a:r>
                  <a:rPr lang="en-US" altLang="zh-CN" b="1" baseline="-25000"/>
                  <a:t>W</a:t>
                </a:r>
              </a:p>
            </p:txBody>
          </p:sp>
        </p:grpSp>
        <p:sp>
          <p:nvSpPr>
            <p:cNvPr id="351271" name="Text Box 39">
              <a:extLst>
                <a:ext uri="{FF2B5EF4-FFF2-40B4-BE49-F238E27FC236}">
                  <a16:creationId xmlns:a16="http://schemas.microsoft.com/office/drawing/2014/main" id="{A857AC6B-356A-03EC-46B8-8887188B0699}"/>
                </a:ext>
              </a:extLst>
            </p:cNvPr>
            <p:cNvSpPr txBox="1">
              <a:spLocks noChangeArrowheads="1"/>
            </p:cNvSpPr>
            <p:nvPr/>
          </p:nvSpPr>
          <p:spPr bwMode="auto">
            <a:xfrm>
              <a:off x="4992" y="4137"/>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zh-CN" altLang="zh-CN"/>
            </a:p>
          </p:txBody>
        </p:sp>
        <p:grpSp>
          <p:nvGrpSpPr>
            <p:cNvPr id="351272" name="Group 40">
              <a:extLst>
                <a:ext uri="{FF2B5EF4-FFF2-40B4-BE49-F238E27FC236}">
                  <a16:creationId xmlns:a16="http://schemas.microsoft.com/office/drawing/2014/main" id="{25F3B0F8-4C53-38F3-F9B2-9A5A6DAB0E0A}"/>
                </a:ext>
              </a:extLst>
            </p:cNvPr>
            <p:cNvGrpSpPr>
              <a:grpSpLocks/>
            </p:cNvGrpSpPr>
            <p:nvPr/>
          </p:nvGrpSpPr>
          <p:grpSpPr bwMode="auto">
            <a:xfrm>
              <a:off x="3888" y="2793"/>
              <a:ext cx="1584" cy="1527"/>
              <a:chOff x="3312" y="1872"/>
              <a:chExt cx="1584" cy="1527"/>
            </a:xfrm>
          </p:grpSpPr>
          <p:sp>
            <p:nvSpPr>
              <p:cNvPr id="351273" name="Line 41">
                <a:extLst>
                  <a:ext uri="{FF2B5EF4-FFF2-40B4-BE49-F238E27FC236}">
                    <a16:creationId xmlns:a16="http://schemas.microsoft.com/office/drawing/2014/main" id="{0F5BBB13-F1AF-D0CC-6B7C-2C0302A51E2E}"/>
                  </a:ext>
                </a:extLst>
              </p:cNvPr>
              <p:cNvSpPr>
                <a:spLocks noChangeShapeType="1"/>
              </p:cNvSpPr>
              <p:nvPr/>
            </p:nvSpPr>
            <p:spPr bwMode="auto">
              <a:xfrm>
                <a:off x="3312" y="2352"/>
                <a:ext cx="1104" cy="864"/>
              </a:xfrm>
              <a:prstGeom prst="line">
                <a:avLst/>
              </a:prstGeom>
              <a:noFill/>
              <a:ln w="571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351274" name="Group 42">
                <a:extLst>
                  <a:ext uri="{FF2B5EF4-FFF2-40B4-BE49-F238E27FC236}">
                    <a16:creationId xmlns:a16="http://schemas.microsoft.com/office/drawing/2014/main" id="{F8A516E7-1B43-7559-97F7-A737BF388779}"/>
                  </a:ext>
                </a:extLst>
              </p:cNvPr>
              <p:cNvGrpSpPr>
                <a:grpSpLocks/>
              </p:cNvGrpSpPr>
              <p:nvPr/>
            </p:nvGrpSpPr>
            <p:grpSpPr bwMode="auto">
              <a:xfrm>
                <a:off x="3984" y="1872"/>
                <a:ext cx="240" cy="1325"/>
                <a:chOff x="3984" y="1872"/>
                <a:chExt cx="240" cy="1325"/>
              </a:xfrm>
            </p:grpSpPr>
            <p:sp>
              <p:nvSpPr>
                <p:cNvPr id="351275" name="Line 43">
                  <a:extLst>
                    <a:ext uri="{FF2B5EF4-FFF2-40B4-BE49-F238E27FC236}">
                      <a16:creationId xmlns:a16="http://schemas.microsoft.com/office/drawing/2014/main" id="{37E9DCEB-02A3-3752-950F-413EB9548B01}"/>
                    </a:ext>
                  </a:extLst>
                </p:cNvPr>
                <p:cNvSpPr>
                  <a:spLocks noChangeShapeType="1"/>
                </p:cNvSpPr>
                <p:nvPr/>
              </p:nvSpPr>
              <p:spPr bwMode="auto">
                <a:xfrm flipH="1" flipV="1">
                  <a:off x="4128" y="1872"/>
                  <a:ext cx="0" cy="1104"/>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1276" name="Text Box 44">
                  <a:extLst>
                    <a:ext uri="{FF2B5EF4-FFF2-40B4-BE49-F238E27FC236}">
                      <a16:creationId xmlns:a16="http://schemas.microsoft.com/office/drawing/2014/main" id="{F05FE4C0-D255-3253-72DB-BEA33E4D2781}"/>
                    </a:ext>
                  </a:extLst>
                </p:cNvPr>
                <p:cNvSpPr txBox="1">
                  <a:spLocks noChangeArrowheads="1"/>
                </p:cNvSpPr>
                <p:nvPr/>
              </p:nvSpPr>
              <p:spPr bwMode="auto">
                <a:xfrm>
                  <a:off x="3984" y="3024"/>
                  <a:ext cx="24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b="1">
                      <a:solidFill>
                        <a:schemeClr val="tx2"/>
                      </a:solidFill>
                    </a:rPr>
                    <a:t>u*</a:t>
                  </a:r>
                </a:p>
              </p:txBody>
            </p:sp>
          </p:grpSp>
          <p:sp>
            <p:nvSpPr>
              <p:cNvPr id="351277" name="Text Box 45">
                <a:extLst>
                  <a:ext uri="{FF2B5EF4-FFF2-40B4-BE49-F238E27FC236}">
                    <a16:creationId xmlns:a16="http://schemas.microsoft.com/office/drawing/2014/main" id="{D6AFBCC9-CBED-6025-3F07-FF5AB05EB6CB}"/>
                  </a:ext>
                </a:extLst>
              </p:cNvPr>
              <p:cNvSpPr txBox="1">
                <a:spLocks noChangeArrowheads="1"/>
              </p:cNvSpPr>
              <p:nvPr/>
            </p:nvSpPr>
            <p:spPr bwMode="auto">
              <a:xfrm>
                <a:off x="4320" y="3168"/>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移动前</a:t>
                </a:r>
              </a:p>
            </p:txBody>
          </p:sp>
        </p:grpSp>
        <p:grpSp>
          <p:nvGrpSpPr>
            <p:cNvPr id="351278" name="Group 46">
              <a:extLst>
                <a:ext uri="{FF2B5EF4-FFF2-40B4-BE49-F238E27FC236}">
                  <a16:creationId xmlns:a16="http://schemas.microsoft.com/office/drawing/2014/main" id="{59A11139-04AA-0A73-2DC4-122B2714ACA5}"/>
                </a:ext>
              </a:extLst>
            </p:cNvPr>
            <p:cNvGrpSpPr>
              <a:grpSpLocks/>
            </p:cNvGrpSpPr>
            <p:nvPr/>
          </p:nvGrpSpPr>
          <p:grpSpPr bwMode="auto">
            <a:xfrm>
              <a:off x="4176" y="2745"/>
              <a:ext cx="1584" cy="960"/>
              <a:chOff x="3600" y="1824"/>
              <a:chExt cx="1584" cy="960"/>
            </a:xfrm>
          </p:grpSpPr>
          <p:sp>
            <p:nvSpPr>
              <p:cNvPr id="351279" name="Line 47">
                <a:extLst>
                  <a:ext uri="{FF2B5EF4-FFF2-40B4-BE49-F238E27FC236}">
                    <a16:creationId xmlns:a16="http://schemas.microsoft.com/office/drawing/2014/main" id="{86CB7174-E0BE-8CAC-DE4A-F639D1C66791}"/>
                  </a:ext>
                </a:extLst>
              </p:cNvPr>
              <p:cNvSpPr>
                <a:spLocks noChangeShapeType="1"/>
              </p:cNvSpPr>
              <p:nvPr/>
            </p:nvSpPr>
            <p:spPr bwMode="auto">
              <a:xfrm>
                <a:off x="3600" y="1824"/>
                <a:ext cx="1104" cy="864"/>
              </a:xfrm>
              <a:prstGeom prst="line">
                <a:avLst/>
              </a:prstGeom>
              <a:noFill/>
              <a:ln w="57150">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1280" name="Text Box 48">
                <a:extLst>
                  <a:ext uri="{FF2B5EF4-FFF2-40B4-BE49-F238E27FC236}">
                    <a16:creationId xmlns:a16="http://schemas.microsoft.com/office/drawing/2014/main" id="{C1334D69-6090-EC7F-9C57-C556C991E2EA}"/>
                  </a:ext>
                </a:extLst>
              </p:cNvPr>
              <p:cNvSpPr txBox="1">
                <a:spLocks noChangeArrowheads="1"/>
              </p:cNvSpPr>
              <p:nvPr/>
            </p:nvSpPr>
            <p:spPr bwMode="auto">
              <a:xfrm>
                <a:off x="4608" y="2553"/>
                <a:ext cx="5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移动后</a:t>
                </a:r>
              </a:p>
            </p:txBody>
          </p:sp>
        </p:grpSp>
      </p:grpSp>
      <p:sp>
        <p:nvSpPr>
          <p:cNvPr id="351283" name="AutoShape 51">
            <a:extLst>
              <a:ext uri="{FF2B5EF4-FFF2-40B4-BE49-F238E27FC236}">
                <a16:creationId xmlns:a16="http://schemas.microsoft.com/office/drawing/2014/main" id="{9054835E-C1FB-AD15-D5A8-1E6400B955F2}"/>
              </a:ext>
            </a:extLst>
          </p:cNvPr>
          <p:cNvSpPr>
            <a:spLocks noChangeArrowheads="1"/>
          </p:cNvSpPr>
          <p:nvPr/>
        </p:nvSpPr>
        <p:spPr bwMode="auto">
          <a:xfrm>
            <a:off x="4495800" y="2514600"/>
            <a:ext cx="914400" cy="533400"/>
          </a:xfrm>
          <a:prstGeom prst="rightArrow">
            <a:avLst>
              <a:gd name="adj1" fmla="val 50000"/>
              <a:gd name="adj2" fmla="val 4285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287" name="AutoShape 55">
            <a:extLst>
              <a:ext uri="{FF2B5EF4-FFF2-40B4-BE49-F238E27FC236}">
                <a16:creationId xmlns:a16="http://schemas.microsoft.com/office/drawing/2014/main" id="{56865737-9746-1F60-2106-800AB87A7BB7}"/>
              </a:ext>
            </a:extLst>
          </p:cNvPr>
          <p:cNvSpPr>
            <a:spLocks noChangeArrowheads="1"/>
          </p:cNvSpPr>
          <p:nvPr/>
        </p:nvSpPr>
        <p:spPr bwMode="auto">
          <a:xfrm rot="-8320182">
            <a:off x="2286000" y="3962400"/>
            <a:ext cx="914400" cy="533400"/>
          </a:xfrm>
          <a:prstGeom prst="rightArrow">
            <a:avLst>
              <a:gd name="adj1" fmla="val 50000"/>
              <a:gd name="adj2" fmla="val 4285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288" name="AutoShape 56">
            <a:extLst>
              <a:ext uri="{FF2B5EF4-FFF2-40B4-BE49-F238E27FC236}">
                <a16:creationId xmlns:a16="http://schemas.microsoft.com/office/drawing/2014/main" id="{4F3D3D5C-0F7D-326C-AAA9-0F2AE7DDA095}"/>
              </a:ext>
            </a:extLst>
          </p:cNvPr>
          <p:cNvSpPr>
            <a:spLocks noChangeArrowheads="1"/>
          </p:cNvSpPr>
          <p:nvPr/>
        </p:nvSpPr>
        <p:spPr bwMode="auto">
          <a:xfrm rot="-13216715">
            <a:off x="6324600" y="4114800"/>
            <a:ext cx="914400" cy="533400"/>
          </a:xfrm>
          <a:prstGeom prst="rightArrow">
            <a:avLst>
              <a:gd name="adj1" fmla="val 50000"/>
              <a:gd name="adj2" fmla="val 4285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51235"/>
                                        </p:tgtEl>
                                        <p:attrNameLst>
                                          <p:attrName>style.visibility</p:attrName>
                                        </p:attrNameLst>
                                      </p:cBhvr>
                                      <p:to>
                                        <p:strVal val="visible"/>
                                      </p:to>
                                    </p:set>
                                    <p:animEffect transition="in" filter="slide(fromTop)">
                                      <p:cBhvr>
                                        <p:cTn id="7" dur="500"/>
                                        <p:tgtEl>
                                          <p:spTgt spid="3512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1245"/>
                                        </p:tgtEl>
                                        <p:attrNameLst>
                                          <p:attrName>style.visibility</p:attrName>
                                        </p:attrNameLst>
                                      </p:cBhvr>
                                      <p:to>
                                        <p:strVal val="visible"/>
                                      </p:to>
                                    </p:set>
                                    <p:animEffect transition="in" filter="box(in)">
                                      <p:cBhvr>
                                        <p:cTn id="12" dur="500"/>
                                        <p:tgtEl>
                                          <p:spTgt spid="3512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1282"/>
                                        </p:tgtEl>
                                        <p:attrNameLst>
                                          <p:attrName>style.visibility</p:attrName>
                                        </p:attrNameLst>
                                      </p:cBhvr>
                                      <p:to>
                                        <p:strVal val="visible"/>
                                      </p:to>
                                    </p:set>
                                    <p:animEffect transition="in" filter="box(in)">
                                      <p:cBhvr>
                                        <p:cTn id="17" dur="500"/>
                                        <p:tgtEl>
                                          <p:spTgt spid="3512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51281"/>
                                        </p:tgtEl>
                                        <p:attrNameLst>
                                          <p:attrName>style.visibility</p:attrName>
                                        </p:attrNameLst>
                                      </p:cBhvr>
                                      <p:to>
                                        <p:strVal val="visible"/>
                                      </p:to>
                                    </p:set>
                                    <p:animEffect transition="in" filter="box(in)">
                                      <p:cBhvr>
                                        <p:cTn id="22" dur="500"/>
                                        <p:tgtEl>
                                          <p:spTgt spid="35128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16" fill="hold" nodeType="clickEffect">
                                  <p:stCondLst>
                                    <p:cond delay="0"/>
                                  </p:stCondLst>
                                  <p:childTnLst>
                                    <p:set>
                                      <p:cBhvr>
                                        <p:cTn id="26" dur="1" fill="hold">
                                          <p:stCondLst>
                                            <p:cond delay="0"/>
                                          </p:stCondLst>
                                        </p:cTn>
                                        <p:tgtEl>
                                          <p:spTgt spid="351283"/>
                                        </p:tgtEl>
                                        <p:attrNameLst>
                                          <p:attrName>style.visibility</p:attrName>
                                        </p:attrNameLst>
                                      </p:cBhvr>
                                      <p:to>
                                        <p:strVal val="visible"/>
                                      </p:to>
                                    </p:set>
                                    <p:anim calcmode="lin" valueType="num">
                                      <p:cBhvr>
                                        <p:cTn id="27" dur="500" fill="hold"/>
                                        <p:tgtEl>
                                          <p:spTgt spid="351283"/>
                                        </p:tgtEl>
                                        <p:attrNameLst>
                                          <p:attrName>ppt_w</p:attrName>
                                        </p:attrNameLst>
                                      </p:cBhvr>
                                      <p:tavLst>
                                        <p:tav tm="0">
                                          <p:val>
                                            <p:fltVal val="0"/>
                                          </p:val>
                                        </p:tav>
                                        <p:tav tm="100000">
                                          <p:val>
                                            <p:strVal val="#ppt_w"/>
                                          </p:val>
                                        </p:tav>
                                      </p:tavLst>
                                    </p:anim>
                                    <p:anim calcmode="lin" valueType="num">
                                      <p:cBhvr>
                                        <p:cTn id="28" dur="500" fill="hold"/>
                                        <p:tgtEl>
                                          <p:spTgt spid="351283"/>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16" fill="hold" nodeType="clickEffect">
                                  <p:stCondLst>
                                    <p:cond delay="0"/>
                                  </p:stCondLst>
                                  <p:childTnLst>
                                    <p:set>
                                      <p:cBhvr>
                                        <p:cTn id="32" dur="1" fill="hold">
                                          <p:stCondLst>
                                            <p:cond delay="0"/>
                                          </p:stCondLst>
                                        </p:cTn>
                                        <p:tgtEl>
                                          <p:spTgt spid="351288"/>
                                        </p:tgtEl>
                                        <p:attrNameLst>
                                          <p:attrName>style.visibility</p:attrName>
                                        </p:attrNameLst>
                                      </p:cBhvr>
                                      <p:to>
                                        <p:strVal val="visible"/>
                                      </p:to>
                                    </p:set>
                                    <p:anim calcmode="lin" valueType="num">
                                      <p:cBhvr>
                                        <p:cTn id="33" dur="500" fill="hold"/>
                                        <p:tgtEl>
                                          <p:spTgt spid="351288"/>
                                        </p:tgtEl>
                                        <p:attrNameLst>
                                          <p:attrName>ppt_w</p:attrName>
                                        </p:attrNameLst>
                                      </p:cBhvr>
                                      <p:tavLst>
                                        <p:tav tm="0">
                                          <p:val>
                                            <p:fltVal val="0"/>
                                          </p:val>
                                        </p:tav>
                                        <p:tav tm="100000">
                                          <p:val>
                                            <p:strVal val="#ppt_w"/>
                                          </p:val>
                                        </p:tav>
                                      </p:tavLst>
                                    </p:anim>
                                    <p:anim calcmode="lin" valueType="num">
                                      <p:cBhvr>
                                        <p:cTn id="34" dur="500" fill="hold"/>
                                        <p:tgtEl>
                                          <p:spTgt spid="351288"/>
                                        </p:tgtEl>
                                        <p:attrNameLst>
                                          <p:attrName>ppt_h</p:attrName>
                                        </p:attrNameLst>
                                      </p:cBhvr>
                                      <p:tavLst>
                                        <p:tav tm="0">
                                          <p:val>
                                            <p:fltVal val="0"/>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16" fill="hold" nodeType="clickEffect">
                                  <p:stCondLst>
                                    <p:cond delay="0"/>
                                  </p:stCondLst>
                                  <p:childTnLst>
                                    <p:set>
                                      <p:cBhvr>
                                        <p:cTn id="38" dur="1" fill="hold">
                                          <p:stCondLst>
                                            <p:cond delay="0"/>
                                          </p:stCondLst>
                                        </p:cTn>
                                        <p:tgtEl>
                                          <p:spTgt spid="351287"/>
                                        </p:tgtEl>
                                        <p:attrNameLst>
                                          <p:attrName>style.visibility</p:attrName>
                                        </p:attrNameLst>
                                      </p:cBhvr>
                                      <p:to>
                                        <p:strVal val="visible"/>
                                      </p:to>
                                    </p:set>
                                    <p:anim calcmode="lin" valueType="num">
                                      <p:cBhvr>
                                        <p:cTn id="39" dur="500" fill="hold"/>
                                        <p:tgtEl>
                                          <p:spTgt spid="351287"/>
                                        </p:tgtEl>
                                        <p:attrNameLst>
                                          <p:attrName>ppt_w</p:attrName>
                                        </p:attrNameLst>
                                      </p:cBhvr>
                                      <p:tavLst>
                                        <p:tav tm="0">
                                          <p:val>
                                            <p:fltVal val="0"/>
                                          </p:val>
                                        </p:tav>
                                        <p:tav tm="100000">
                                          <p:val>
                                            <p:strVal val="#ppt_w"/>
                                          </p:val>
                                        </p:tav>
                                      </p:tavLst>
                                    </p:anim>
                                    <p:anim calcmode="lin" valueType="num">
                                      <p:cBhvr>
                                        <p:cTn id="40" dur="500" fill="hold"/>
                                        <p:tgtEl>
                                          <p:spTgt spid="35128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5"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4306" name="Rectangle 2">
            <a:extLst>
              <a:ext uri="{FF2B5EF4-FFF2-40B4-BE49-F238E27FC236}">
                <a16:creationId xmlns:a16="http://schemas.microsoft.com/office/drawing/2014/main" id="{D62908DD-5AC2-282B-2FC9-747A693A508A}"/>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3.1</a:t>
            </a:r>
            <a:r>
              <a:rPr lang="zh-CN" altLang="en-US" b="1">
                <a:solidFill>
                  <a:srgbClr val="CC0000"/>
                </a:solidFill>
              </a:rPr>
              <a:t>总供给曲线</a:t>
            </a:r>
            <a:r>
              <a:rPr lang="en-US" altLang="zh-CN" b="1">
                <a:solidFill>
                  <a:srgbClr val="CC0000"/>
                </a:solidFill>
              </a:rPr>
              <a:t>_</a:t>
            </a:r>
            <a:r>
              <a:rPr lang="zh-CN" altLang="en-US" b="1">
                <a:solidFill>
                  <a:srgbClr val="CC0000"/>
                </a:solidFill>
              </a:rPr>
              <a:t>回顾</a:t>
            </a:r>
          </a:p>
        </p:txBody>
      </p:sp>
      <p:sp>
        <p:nvSpPr>
          <p:cNvPr id="354307" name="Rectangle 3">
            <a:extLst>
              <a:ext uri="{FF2B5EF4-FFF2-40B4-BE49-F238E27FC236}">
                <a16:creationId xmlns:a16="http://schemas.microsoft.com/office/drawing/2014/main" id="{EC115BCF-6A64-BCD7-DEE9-346951F068D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54308" name="Rectangle 4">
            <a:extLst>
              <a:ext uri="{FF2B5EF4-FFF2-40B4-BE49-F238E27FC236}">
                <a16:creationId xmlns:a16="http://schemas.microsoft.com/office/drawing/2014/main" id="{30A03878-1393-6353-DF77-7BDDD69FD938}"/>
              </a:ext>
            </a:extLst>
          </p:cNvPr>
          <p:cNvSpPr>
            <a:spLocks noRot="1" noChangeArrowheads="1"/>
          </p:cNvSpPr>
          <p:nvPr/>
        </p:nvSpPr>
        <p:spPr bwMode="auto">
          <a:xfrm>
            <a:off x="838200" y="1600200"/>
            <a:ext cx="7772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800" b="1"/>
              <a:t>总供给曲线：对于每一既定的</a:t>
            </a:r>
            <a:r>
              <a:rPr lang="zh-CN" altLang="en-US" sz="2800" b="1">
                <a:solidFill>
                  <a:schemeClr val="tx2"/>
                </a:solidFill>
              </a:rPr>
              <a:t>价格水平</a:t>
            </a:r>
            <a:r>
              <a:rPr lang="zh-CN" altLang="en-US" sz="2800" b="1"/>
              <a:t>，厂商所愿意提供的产量。</a:t>
            </a:r>
          </a:p>
        </p:txBody>
      </p:sp>
      <p:grpSp>
        <p:nvGrpSpPr>
          <p:cNvPr id="354309" name="Group 5">
            <a:extLst>
              <a:ext uri="{FF2B5EF4-FFF2-40B4-BE49-F238E27FC236}">
                <a16:creationId xmlns:a16="http://schemas.microsoft.com/office/drawing/2014/main" id="{A7C68198-6D96-DCD7-6498-C6140DA092CA}"/>
              </a:ext>
            </a:extLst>
          </p:cNvPr>
          <p:cNvGrpSpPr>
            <a:grpSpLocks/>
          </p:cNvGrpSpPr>
          <p:nvPr/>
        </p:nvGrpSpPr>
        <p:grpSpPr bwMode="auto">
          <a:xfrm>
            <a:off x="304800" y="2590800"/>
            <a:ext cx="3352800" cy="2984500"/>
            <a:chOff x="1440" y="1920"/>
            <a:chExt cx="2928" cy="2024"/>
          </a:xfrm>
        </p:grpSpPr>
        <p:sp>
          <p:nvSpPr>
            <p:cNvPr id="354310" name="Line 6">
              <a:extLst>
                <a:ext uri="{FF2B5EF4-FFF2-40B4-BE49-F238E27FC236}">
                  <a16:creationId xmlns:a16="http://schemas.microsoft.com/office/drawing/2014/main" id="{2B69E080-4F75-2857-81CE-BDBA183D5364}"/>
                </a:ext>
              </a:extLst>
            </p:cNvPr>
            <p:cNvSpPr>
              <a:spLocks noChangeShapeType="1"/>
            </p:cNvSpPr>
            <p:nvPr/>
          </p:nvSpPr>
          <p:spPr bwMode="auto">
            <a:xfrm>
              <a:off x="1776" y="1920"/>
              <a:ext cx="0" cy="168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4311" name="Line 7">
              <a:extLst>
                <a:ext uri="{FF2B5EF4-FFF2-40B4-BE49-F238E27FC236}">
                  <a16:creationId xmlns:a16="http://schemas.microsoft.com/office/drawing/2014/main" id="{0D78BA62-3608-F89B-6A0B-74793D6CF2B3}"/>
                </a:ext>
              </a:extLst>
            </p:cNvPr>
            <p:cNvSpPr>
              <a:spLocks noChangeShapeType="1"/>
            </p:cNvSpPr>
            <p:nvPr/>
          </p:nvSpPr>
          <p:spPr bwMode="auto">
            <a:xfrm>
              <a:off x="1776" y="3600"/>
              <a:ext cx="220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4312" name="Text Box 8">
              <a:extLst>
                <a:ext uri="{FF2B5EF4-FFF2-40B4-BE49-F238E27FC236}">
                  <a16:creationId xmlns:a16="http://schemas.microsoft.com/office/drawing/2014/main" id="{11688BDE-2CD9-93FE-8D50-A8DBBB39B454}"/>
                </a:ext>
              </a:extLst>
            </p:cNvPr>
            <p:cNvSpPr txBox="1">
              <a:spLocks noChangeArrowheads="1"/>
            </p:cNvSpPr>
            <p:nvPr/>
          </p:nvSpPr>
          <p:spPr bwMode="auto">
            <a:xfrm>
              <a:off x="1440" y="2016"/>
              <a:ext cx="250" cy="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价格水平</a:t>
              </a:r>
            </a:p>
            <a:p>
              <a:pPr algn="l">
                <a:spcBef>
                  <a:spcPct val="50000"/>
                </a:spcBef>
              </a:pPr>
              <a:r>
                <a:rPr lang="en-US" altLang="zh-CN" b="1"/>
                <a:t>P</a:t>
              </a:r>
            </a:p>
          </p:txBody>
        </p:sp>
        <p:sp>
          <p:nvSpPr>
            <p:cNvPr id="354313" name="Text Box 9">
              <a:extLst>
                <a:ext uri="{FF2B5EF4-FFF2-40B4-BE49-F238E27FC236}">
                  <a16:creationId xmlns:a16="http://schemas.microsoft.com/office/drawing/2014/main" id="{54139E70-2437-AC0A-232D-D1381A703E85}"/>
                </a:ext>
              </a:extLst>
            </p:cNvPr>
            <p:cNvSpPr txBox="1">
              <a:spLocks noChangeArrowheads="1"/>
            </p:cNvSpPr>
            <p:nvPr/>
          </p:nvSpPr>
          <p:spPr bwMode="auto">
            <a:xfrm>
              <a:off x="3600" y="3696"/>
              <a:ext cx="768"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产量 </a:t>
              </a:r>
              <a:r>
                <a:rPr lang="en-US" altLang="zh-CN" b="1"/>
                <a:t>Y</a:t>
              </a:r>
            </a:p>
          </p:txBody>
        </p:sp>
      </p:grpSp>
      <p:grpSp>
        <p:nvGrpSpPr>
          <p:cNvPr id="354314" name="Group 10">
            <a:extLst>
              <a:ext uri="{FF2B5EF4-FFF2-40B4-BE49-F238E27FC236}">
                <a16:creationId xmlns:a16="http://schemas.microsoft.com/office/drawing/2014/main" id="{BF2876FB-70A1-3913-479D-7935712C9AE2}"/>
              </a:ext>
            </a:extLst>
          </p:cNvPr>
          <p:cNvGrpSpPr>
            <a:grpSpLocks/>
          </p:cNvGrpSpPr>
          <p:nvPr/>
        </p:nvGrpSpPr>
        <p:grpSpPr bwMode="auto">
          <a:xfrm>
            <a:off x="1295400" y="2895600"/>
            <a:ext cx="685800" cy="2133600"/>
            <a:chOff x="3120" y="1920"/>
            <a:chExt cx="432" cy="1344"/>
          </a:xfrm>
        </p:grpSpPr>
        <p:sp>
          <p:nvSpPr>
            <p:cNvPr id="354315" name="Line 11">
              <a:extLst>
                <a:ext uri="{FF2B5EF4-FFF2-40B4-BE49-F238E27FC236}">
                  <a16:creationId xmlns:a16="http://schemas.microsoft.com/office/drawing/2014/main" id="{9326CDF1-A20F-0EC9-5417-72FBE8AA0626}"/>
                </a:ext>
              </a:extLst>
            </p:cNvPr>
            <p:cNvSpPr>
              <a:spLocks noChangeShapeType="1"/>
            </p:cNvSpPr>
            <p:nvPr/>
          </p:nvSpPr>
          <p:spPr bwMode="auto">
            <a:xfrm>
              <a:off x="3312" y="2112"/>
              <a:ext cx="0" cy="1152"/>
            </a:xfrm>
            <a:prstGeom prst="line">
              <a:avLst/>
            </a:prstGeom>
            <a:noFill/>
            <a:ln w="38100">
              <a:solidFill>
                <a:srgbClr val="24C03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4316" name="Text Box 12">
              <a:extLst>
                <a:ext uri="{FF2B5EF4-FFF2-40B4-BE49-F238E27FC236}">
                  <a16:creationId xmlns:a16="http://schemas.microsoft.com/office/drawing/2014/main" id="{C005A854-8D91-16CA-9693-B807E15CD035}"/>
                </a:ext>
              </a:extLst>
            </p:cNvPr>
            <p:cNvSpPr txBox="1">
              <a:spLocks noChangeArrowheads="1"/>
            </p:cNvSpPr>
            <p:nvPr/>
          </p:nvSpPr>
          <p:spPr bwMode="auto">
            <a:xfrm>
              <a:off x="3120" y="1920"/>
              <a:ext cx="4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solidFill>
                    <a:srgbClr val="24C03A"/>
                  </a:solidFill>
                </a:rPr>
                <a:t>Ａ</a:t>
              </a:r>
              <a:r>
                <a:rPr lang="en-US" altLang="zh-CN" b="1">
                  <a:solidFill>
                    <a:srgbClr val="24C03A"/>
                  </a:solidFill>
                </a:rPr>
                <a:t>S</a:t>
              </a:r>
            </a:p>
          </p:txBody>
        </p:sp>
      </p:grpSp>
      <p:sp>
        <p:nvSpPr>
          <p:cNvPr id="354317" name="Rectangle 13">
            <a:extLst>
              <a:ext uri="{FF2B5EF4-FFF2-40B4-BE49-F238E27FC236}">
                <a16:creationId xmlns:a16="http://schemas.microsoft.com/office/drawing/2014/main" id="{88C82E00-BB5B-6F83-BF87-9BF51857B392}"/>
              </a:ext>
            </a:extLst>
          </p:cNvPr>
          <p:cNvSpPr>
            <a:spLocks noRot="1" noChangeArrowheads="1"/>
          </p:cNvSpPr>
          <p:nvPr/>
        </p:nvSpPr>
        <p:spPr bwMode="auto">
          <a:xfrm>
            <a:off x="381000" y="5791200"/>
            <a:ext cx="2971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000" b="1"/>
              <a:t>长期供给曲线：生产潜力</a:t>
            </a:r>
          </a:p>
        </p:txBody>
      </p:sp>
      <p:grpSp>
        <p:nvGrpSpPr>
          <p:cNvPr id="354318" name="Group 14">
            <a:extLst>
              <a:ext uri="{FF2B5EF4-FFF2-40B4-BE49-F238E27FC236}">
                <a16:creationId xmlns:a16="http://schemas.microsoft.com/office/drawing/2014/main" id="{C089D085-0D0E-0360-6AF7-2B2FD6133169}"/>
              </a:ext>
            </a:extLst>
          </p:cNvPr>
          <p:cNvGrpSpPr>
            <a:grpSpLocks/>
          </p:cNvGrpSpPr>
          <p:nvPr/>
        </p:nvGrpSpPr>
        <p:grpSpPr bwMode="auto">
          <a:xfrm>
            <a:off x="3200400" y="2590800"/>
            <a:ext cx="3352800" cy="2984500"/>
            <a:chOff x="1440" y="1920"/>
            <a:chExt cx="2928" cy="2024"/>
          </a:xfrm>
        </p:grpSpPr>
        <p:sp>
          <p:nvSpPr>
            <p:cNvPr id="354319" name="Line 15">
              <a:extLst>
                <a:ext uri="{FF2B5EF4-FFF2-40B4-BE49-F238E27FC236}">
                  <a16:creationId xmlns:a16="http://schemas.microsoft.com/office/drawing/2014/main" id="{733C3096-686D-CC5C-FAD9-E48BBB23E6CA}"/>
                </a:ext>
              </a:extLst>
            </p:cNvPr>
            <p:cNvSpPr>
              <a:spLocks noChangeShapeType="1"/>
            </p:cNvSpPr>
            <p:nvPr/>
          </p:nvSpPr>
          <p:spPr bwMode="auto">
            <a:xfrm>
              <a:off x="1776" y="1920"/>
              <a:ext cx="0" cy="168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4320" name="Line 16">
              <a:extLst>
                <a:ext uri="{FF2B5EF4-FFF2-40B4-BE49-F238E27FC236}">
                  <a16:creationId xmlns:a16="http://schemas.microsoft.com/office/drawing/2014/main" id="{0B372975-3AC8-1ED1-A481-59ED820D1A90}"/>
                </a:ext>
              </a:extLst>
            </p:cNvPr>
            <p:cNvSpPr>
              <a:spLocks noChangeShapeType="1"/>
            </p:cNvSpPr>
            <p:nvPr/>
          </p:nvSpPr>
          <p:spPr bwMode="auto">
            <a:xfrm>
              <a:off x="1776" y="3600"/>
              <a:ext cx="220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4321" name="Text Box 17">
              <a:extLst>
                <a:ext uri="{FF2B5EF4-FFF2-40B4-BE49-F238E27FC236}">
                  <a16:creationId xmlns:a16="http://schemas.microsoft.com/office/drawing/2014/main" id="{F11D7EC5-7E11-CA2E-B90C-CFD7E31D9A47}"/>
                </a:ext>
              </a:extLst>
            </p:cNvPr>
            <p:cNvSpPr txBox="1">
              <a:spLocks noChangeArrowheads="1"/>
            </p:cNvSpPr>
            <p:nvPr/>
          </p:nvSpPr>
          <p:spPr bwMode="auto">
            <a:xfrm>
              <a:off x="1440" y="2016"/>
              <a:ext cx="250" cy="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价格水平</a:t>
              </a:r>
            </a:p>
            <a:p>
              <a:pPr algn="l">
                <a:spcBef>
                  <a:spcPct val="50000"/>
                </a:spcBef>
              </a:pPr>
              <a:r>
                <a:rPr lang="en-US" altLang="zh-CN" b="1"/>
                <a:t>P</a:t>
              </a:r>
            </a:p>
          </p:txBody>
        </p:sp>
        <p:sp>
          <p:nvSpPr>
            <p:cNvPr id="354322" name="Text Box 18">
              <a:extLst>
                <a:ext uri="{FF2B5EF4-FFF2-40B4-BE49-F238E27FC236}">
                  <a16:creationId xmlns:a16="http://schemas.microsoft.com/office/drawing/2014/main" id="{0DEF883E-7762-4C24-B29E-E684B0B7FD51}"/>
                </a:ext>
              </a:extLst>
            </p:cNvPr>
            <p:cNvSpPr txBox="1">
              <a:spLocks noChangeArrowheads="1"/>
            </p:cNvSpPr>
            <p:nvPr/>
          </p:nvSpPr>
          <p:spPr bwMode="auto">
            <a:xfrm>
              <a:off x="3600" y="3696"/>
              <a:ext cx="768"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产量 </a:t>
              </a:r>
              <a:r>
                <a:rPr lang="en-US" altLang="zh-CN" b="1"/>
                <a:t>Y</a:t>
              </a:r>
            </a:p>
          </p:txBody>
        </p:sp>
      </p:grpSp>
      <p:sp>
        <p:nvSpPr>
          <p:cNvPr id="354323" name="Rectangle 19">
            <a:extLst>
              <a:ext uri="{FF2B5EF4-FFF2-40B4-BE49-F238E27FC236}">
                <a16:creationId xmlns:a16="http://schemas.microsoft.com/office/drawing/2014/main" id="{20598F80-8086-6519-E333-B15BB4356046}"/>
              </a:ext>
            </a:extLst>
          </p:cNvPr>
          <p:cNvSpPr>
            <a:spLocks noRot="1" noChangeArrowheads="1"/>
          </p:cNvSpPr>
          <p:nvPr/>
        </p:nvSpPr>
        <p:spPr bwMode="auto">
          <a:xfrm>
            <a:off x="3276600" y="5791200"/>
            <a:ext cx="2971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000" b="1"/>
              <a:t>短期供给曲线：产量不受价格水平的影响</a:t>
            </a:r>
          </a:p>
        </p:txBody>
      </p:sp>
      <p:grpSp>
        <p:nvGrpSpPr>
          <p:cNvPr id="354324" name="Group 20">
            <a:extLst>
              <a:ext uri="{FF2B5EF4-FFF2-40B4-BE49-F238E27FC236}">
                <a16:creationId xmlns:a16="http://schemas.microsoft.com/office/drawing/2014/main" id="{B2D5CFB7-8AD8-2758-75B1-48BA568B2045}"/>
              </a:ext>
            </a:extLst>
          </p:cNvPr>
          <p:cNvGrpSpPr>
            <a:grpSpLocks/>
          </p:cNvGrpSpPr>
          <p:nvPr/>
        </p:nvGrpSpPr>
        <p:grpSpPr bwMode="auto">
          <a:xfrm>
            <a:off x="3732213" y="3733800"/>
            <a:ext cx="2439987" cy="366713"/>
            <a:chOff x="2351" y="2352"/>
            <a:chExt cx="1537" cy="231"/>
          </a:xfrm>
        </p:grpSpPr>
        <p:sp>
          <p:nvSpPr>
            <p:cNvPr id="354325" name="Line 21">
              <a:extLst>
                <a:ext uri="{FF2B5EF4-FFF2-40B4-BE49-F238E27FC236}">
                  <a16:creationId xmlns:a16="http://schemas.microsoft.com/office/drawing/2014/main" id="{EE37C116-382E-EDEF-274B-006F611BB109}"/>
                </a:ext>
              </a:extLst>
            </p:cNvPr>
            <p:cNvSpPr>
              <a:spLocks noChangeShapeType="1"/>
            </p:cNvSpPr>
            <p:nvPr/>
          </p:nvSpPr>
          <p:spPr bwMode="auto">
            <a:xfrm rot="5400000">
              <a:off x="2927" y="1895"/>
              <a:ext cx="0" cy="1152"/>
            </a:xfrm>
            <a:prstGeom prst="line">
              <a:avLst/>
            </a:prstGeom>
            <a:noFill/>
            <a:ln w="38100">
              <a:solidFill>
                <a:srgbClr val="24C03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4326" name="Text Box 22">
              <a:extLst>
                <a:ext uri="{FF2B5EF4-FFF2-40B4-BE49-F238E27FC236}">
                  <a16:creationId xmlns:a16="http://schemas.microsoft.com/office/drawing/2014/main" id="{4263F657-31B1-6380-8F13-1DC32B8D6FD4}"/>
                </a:ext>
              </a:extLst>
            </p:cNvPr>
            <p:cNvSpPr txBox="1">
              <a:spLocks noChangeArrowheads="1"/>
            </p:cNvSpPr>
            <p:nvPr/>
          </p:nvSpPr>
          <p:spPr bwMode="auto">
            <a:xfrm>
              <a:off x="3504" y="235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24C03A"/>
                  </a:solidFill>
                </a:rPr>
                <a:t>AS</a:t>
              </a:r>
            </a:p>
          </p:txBody>
        </p:sp>
      </p:grpSp>
      <p:grpSp>
        <p:nvGrpSpPr>
          <p:cNvPr id="354327" name="Group 23">
            <a:extLst>
              <a:ext uri="{FF2B5EF4-FFF2-40B4-BE49-F238E27FC236}">
                <a16:creationId xmlns:a16="http://schemas.microsoft.com/office/drawing/2014/main" id="{D377FC58-5F0C-6C8D-EB08-615DD77C596F}"/>
              </a:ext>
            </a:extLst>
          </p:cNvPr>
          <p:cNvGrpSpPr>
            <a:grpSpLocks/>
          </p:cNvGrpSpPr>
          <p:nvPr/>
        </p:nvGrpSpPr>
        <p:grpSpPr bwMode="auto">
          <a:xfrm>
            <a:off x="6019800" y="2590800"/>
            <a:ext cx="3352800" cy="2984500"/>
            <a:chOff x="1440" y="1920"/>
            <a:chExt cx="2928" cy="2024"/>
          </a:xfrm>
        </p:grpSpPr>
        <p:sp>
          <p:nvSpPr>
            <p:cNvPr id="354328" name="Line 24">
              <a:extLst>
                <a:ext uri="{FF2B5EF4-FFF2-40B4-BE49-F238E27FC236}">
                  <a16:creationId xmlns:a16="http://schemas.microsoft.com/office/drawing/2014/main" id="{FF76E4AB-C3C1-0A2A-1C44-2ABE7ECE06C6}"/>
                </a:ext>
              </a:extLst>
            </p:cNvPr>
            <p:cNvSpPr>
              <a:spLocks noChangeShapeType="1"/>
            </p:cNvSpPr>
            <p:nvPr/>
          </p:nvSpPr>
          <p:spPr bwMode="auto">
            <a:xfrm>
              <a:off x="1776" y="1920"/>
              <a:ext cx="0" cy="168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4329" name="Line 25">
              <a:extLst>
                <a:ext uri="{FF2B5EF4-FFF2-40B4-BE49-F238E27FC236}">
                  <a16:creationId xmlns:a16="http://schemas.microsoft.com/office/drawing/2014/main" id="{4A7A9D0D-EC02-C323-C325-1810EC7C682B}"/>
                </a:ext>
              </a:extLst>
            </p:cNvPr>
            <p:cNvSpPr>
              <a:spLocks noChangeShapeType="1"/>
            </p:cNvSpPr>
            <p:nvPr/>
          </p:nvSpPr>
          <p:spPr bwMode="auto">
            <a:xfrm>
              <a:off x="1776" y="3600"/>
              <a:ext cx="220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4330" name="Text Box 26">
              <a:extLst>
                <a:ext uri="{FF2B5EF4-FFF2-40B4-BE49-F238E27FC236}">
                  <a16:creationId xmlns:a16="http://schemas.microsoft.com/office/drawing/2014/main" id="{6B0A0689-D966-0928-CDDE-46E8ADE7DB3F}"/>
                </a:ext>
              </a:extLst>
            </p:cNvPr>
            <p:cNvSpPr txBox="1">
              <a:spLocks noChangeArrowheads="1"/>
            </p:cNvSpPr>
            <p:nvPr/>
          </p:nvSpPr>
          <p:spPr bwMode="auto">
            <a:xfrm>
              <a:off x="1440" y="2016"/>
              <a:ext cx="250" cy="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价格水平</a:t>
              </a:r>
            </a:p>
            <a:p>
              <a:pPr algn="l">
                <a:spcBef>
                  <a:spcPct val="50000"/>
                </a:spcBef>
              </a:pPr>
              <a:r>
                <a:rPr lang="en-US" altLang="zh-CN" b="1"/>
                <a:t>P</a:t>
              </a:r>
            </a:p>
          </p:txBody>
        </p:sp>
        <p:sp>
          <p:nvSpPr>
            <p:cNvPr id="354331" name="Text Box 27">
              <a:extLst>
                <a:ext uri="{FF2B5EF4-FFF2-40B4-BE49-F238E27FC236}">
                  <a16:creationId xmlns:a16="http://schemas.microsoft.com/office/drawing/2014/main" id="{53D92EC5-FC5E-AA1B-6068-42FD32B8B33D}"/>
                </a:ext>
              </a:extLst>
            </p:cNvPr>
            <p:cNvSpPr txBox="1">
              <a:spLocks noChangeArrowheads="1"/>
            </p:cNvSpPr>
            <p:nvPr/>
          </p:nvSpPr>
          <p:spPr bwMode="auto">
            <a:xfrm>
              <a:off x="3600" y="3696"/>
              <a:ext cx="768"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产量 </a:t>
              </a:r>
              <a:r>
                <a:rPr lang="en-US" altLang="zh-CN" b="1"/>
                <a:t>Y</a:t>
              </a:r>
            </a:p>
          </p:txBody>
        </p:sp>
      </p:grpSp>
      <p:sp>
        <p:nvSpPr>
          <p:cNvPr id="354332" name="Rectangle 28">
            <a:extLst>
              <a:ext uri="{FF2B5EF4-FFF2-40B4-BE49-F238E27FC236}">
                <a16:creationId xmlns:a16="http://schemas.microsoft.com/office/drawing/2014/main" id="{E3069329-E8C1-2415-05CA-BD2611FEBD68}"/>
              </a:ext>
            </a:extLst>
          </p:cNvPr>
          <p:cNvSpPr>
            <a:spLocks noRot="1" noChangeArrowheads="1"/>
          </p:cNvSpPr>
          <p:nvPr/>
        </p:nvSpPr>
        <p:spPr bwMode="auto">
          <a:xfrm>
            <a:off x="6096000" y="5791200"/>
            <a:ext cx="30480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000" b="1"/>
              <a:t>中期供给曲线：对于每一价格水平，厂商所愿意提供的产量</a:t>
            </a:r>
          </a:p>
        </p:txBody>
      </p:sp>
      <p:grpSp>
        <p:nvGrpSpPr>
          <p:cNvPr id="354333" name="Group 29">
            <a:extLst>
              <a:ext uri="{FF2B5EF4-FFF2-40B4-BE49-F238E27FC236}">
                <a16:creationId xmlns:a16="http://schemas.microsoft.com/office/drawing/2014/main" id="{6EA8EE73-470C-9B69-38FD-071C0D0D37D1}"/>
              </a:ext>
            </a:extLst>
          </p:cNvPr>
          <p:cNvGrpSpPr>
            <a:grpSpLocks/>
          </p:cNvGrpSpPr>
          <p:nvPr/>
        </p:nvGrpSpPr>
        <p:grpSpPr bwMode="auto">
          <a:xfrm rot="-1644279">
            <a:off x="6551613" y="3733800"/>
            <a:ext cx="2439987" cy="366713"/>
            <a:chOff x="2351" y="2352"/>
            <a:chExt cx="1537" cy="231"/>
          </a:xfrm>
        </p:grpSpPr>
        <p:sp>
          <p:nvSpPr>
            <p:cNvPr id="354334" name="Line 30">
              <a:extLst>
                <a:ext uri="{FF2B5EF4-FFF2-40B4-BE49-F238E27FC236}">
                  <a16:creationId xmlns:a16="http://schemas.microsoft.com/office/drawing/2014/main" id="{C74D07AA-62F8-50D5-04C4-1B811698C0F6}"/>
                </a:ext>
              </a:extLst>
            </p:cNvPr>
            <p:cNvSpPr>
              <a:spLocks noChangeShapeType="1"/>
            </p:cNvSpPr>
            <p:nvPr/>
          </p:nvSpPr>
          <p:spPr bwMode="auto">
            <a:xfrm rot="5400000">
              <a:off x="2927" y="1895"/>
              <a:ext cx="0" cy="1152"/>
            </a:xfrm>
            <a:prstGeom prst="line">
              <a:avLst/>
            </a:prstGeom>
            <a:noFill/>
            <a:ln w="38100">
              <a:solidFill>
                <a:srgbClr val="24C03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4335" name="Text Box 31">
              <a:extLst>
                <a:ext uri="{FF2B5EF4-FFF2-40B4-BE49-F238E27FC236}">
                  <a16:creationId xmlns:a16="http://schemas.microsoft.com/office/drawing/2014/main" id="{8727ED04-F26C-77BD-9E73-42019FFAAA9B}"/>
                </a:ext>
              </a:extLst>
            </p:cNvPr>
            <p:cNvSpPr txBox="1">
              <a:spLocks noChangeArrowheads="1"/>
            </p:cNvSpPr>
            <p:nvPr/>
          </p:nvSpPr>
          <p:spPr bwMode="auto">
            <a:xfrm>
              <a:off x="3504" y="235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24C03A"/>
                  </a:solidFill>
                </a:rPr>
                <a:t>AS</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54306"/>
                                        </p:tgtEl>
                                        <p:attrNameLst>
                                          <p:attrName>style.visibility</p:attrName>
                                        </p:attrNameLst>
                                      </p:cBhvr>
                                      <p:to>
                                        <p:strVal val="visible"/>
                                      </p:to>
                                    </p:set>
                                    <p:animEffect transition="in" filter="slide(fromTop)">
                                      <p:cBhvr>
                                        <p:cTn id="7" dur="500"/>
                                        <p:tgtEl>
                                          <p:spTgt spid="3543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54308"/>
                                        </p:tgtEl>
                                        <p:attrNameLst>
                                          <p:attrName>style.visibility</p:attrName>
                                        </p:attrNameLst>
                                      </p:cBhvr>
                                      <p:to>
                                        <p:strVal val="visible"/>
                                      </p:to>
                                    </p:set>
                                    <p:animEffect transition="in" filter="slide(fromBottom)">
                                      <p:cBhvr>
                                        <p:cTn id="12" dur="500"/>
                                        <p:tgtEl>
                                          <p:spTgt spid="3543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354317"/>
                                        </p:tgtEl>
                                        <p:attrNameLst>
                                          <p:attrName>style.visibility</p:attrName>
                                        </p:attrNameLst>
                                      </p:cBhvr>
                                      <p:to>
                                        <p:strVal val="visible"/>
                                      </p:to>
                                    </p:set>
                                    <p:animEffect transition="in" filter="slide(fromBottom)">
                                      <p:cBhvr>
                                        <p:cTn id="17" dur="500"/>
                                        <p:tgtEl>
                                          <p:spTgt spid="3543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54309"/>
                                        </p:tgtEl>
                                        <p:attrNameLst>
                                          <p:attrName>style.visibility</p:attrName>
                                        </p:attrNameLst>
                                      </p:cBhvr>
                                      <p:to>
                                        <p:strVal val="visible"/>
                                      </p:to>
                                    </p:set>
                                    <p:animEffect transition="in" filter="box(in)">
                                      <p:cBhvr>
                                        <p:cTn id="22" dur="500"/>
                                        <p:tgtEl>
                                          <p:spTgt spid="35430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354314"/>
                                        </p:tgtEl>
                                        <p:attrNameLst>
                                          <p:attrName>style.visibility</p:attrName>
                                        </p:attrNameLst>
                                      </p:cBhvr>
                                      <p:to>
                                        <p:strVal val="visible"/>
                                      </p:to>
                                    </p:set>
                                    <p:animEffect transition="in" filter="barn(outHorizontal)">
                                      <p:cBhvr>
                                        <p:cTn id="27" dur="500"/>
                                        <p:tgtEl>
                                          <p:spTgt spid="3543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354323"/>
                                        </p:tgtEl>
                                        <p:attrNameLst>
                                          <p:attrName>style.visibility</p:attrName>
                                        </p:attrNameLst>
                                      </p:cBhvr>
                                      <p:to>
                                        <p:strVal val="visible"/>
                                      </p:to>
                                    </p:set>
                                    <p:animEffect transition="in" filter="slide(fromBottom)">
                                      <p:cBhvr>
                                        <p:cTn id="32" dur="500"/>
                                        <p:tgtEl>
                                          <p:spTgt spid="35432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354318"/>
                                        </p:tgtEl>
                                        <p:attrNameLst>
                                          <p:attrName>style.visibility</p:attrName>
                                        </p:attrNameLst>
                                      </p:cBhvr>
                                      <p:to>
                                        <p:strVal val="visible"/>
                                      </p:to>
                                    </p:set>
                                    <p:animEffect transition="in" filter="box(in)">
                                      <p:cBhvr>
                                        <p:cTn id="37" dur="500"/>
                                        <p:tgtEl>
                                          <p:spTgt spid="35431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354324"/>
                                        </p:tgtEl>
                                        <p:attrNameLst>
                                          <p:attrName>style.visibility</p:attrName>
                                        </p:attrNameLst>
                                      </p:cBhvr>
                                      <p:to>
                                        <p:strVal val="visible"/>
                                      </p:to>
                                    </p:set>
                                    <p:animEffect transition="in" filter="slide(fromBottom)">
                                      <p:cBhvr>
                                        <p:cTn id="42" dur="500"/>
                                        <p:tgtEl>
                                          <p:spTgt spid="35432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nodeType="clickEffect">
                                  <p:stCondLst>
                                    <p:cond delay="0"/>
                                  </p:stCondLst>
                                  <p:childTnLst>
                                    <p:set>
                                      <p:cBhvr>
                                        <p:cTn id="46" dur="1" fill="hold">
                                          <p:stCondLst>
                                            <p:cond delay="0"/>
                                          </p:stCondLst>
                                        </p:cTn>
                                        <p:tgtEl>
                                          <p:spTgt spid="354332"/>
                                        </p:tgtEl>
                                        <p:attrNameLst>
                                          <p:attrName>style.visibility</p:attrName>
                                        </p:attrNameLst>
                                      </p:cBhvr>
                                      <p:to>
                                        <p:strVal val="visible"/>
                                      </p:to>
                                    </p:set>
                                    <p:animEffect transition="in" filter="slide(fromBottom)">
                                      <p:cBhvr>
                                        <p:cTn id="47" dur="500"/>
                                        <p:tgtEl>
                                          <p:spTgt spid="35433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nodeType="clickEffect">
                                  <p:stCondLst>
                                    <p:cond delay="0"/>
                                  </p:stCondLst>
                                  <p:childTnLst>
                                    <p:set>
                                      <p:cBhvr>
                                        <p:cTn id="51" dur="1" fill="hold">
                                          <p:stCondLst>
                                            <p:cond delay="0"/>
                                          </p:stCondLst>
                                        </p:cTn>
                                        <p:tgtEl>
                                          <p:spTgt spid="354327"/>
                                        </p:tgtEl>
                                        <p:attrNameLst>
                                          <p:attrName>style.visibility</p:attrName>
                                        </p:attrNameLst>
                                      </p:cBhvr>
                                      <p:to>
                                        <p:strVal val="visible"/>
                                      </p:to>
                                    </p:set>
                                    <p:animEffect transition="in" filter="box(in)">
                                      <p:cBhvr>
                                        <p:cTn id="52" dur="500"/>
                                        <p:tgtEl>
                                          <p:spTgt spid="35432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354333"/>
                                        </p:tgtEl>
                                        <p:attrNameLst>
                                          <p:attrName>style.visibility</p:attrName>
                                        </p:attrNameLst>
                                      </p:cBhvr>
                                      <p:to>
                                        <p:strVal val="visible"/>
                                      </p:to>
                                    </p:set>
                                    <p:animEffect transition="in" filter="barn(outHorizontal)">
                                      <p:cBhvr>
                                        <p:cTn id="57" dur="500"/>
                                        <p:tgtEl>
                                          <p:spTgt spid="354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4306" grpId="0" autoUpdateAnimBg="0"/>
      <p:bldP spid="354308" grpId="0" autoUpdateAnimBg="0"/>
      <p:bldP spid="354317" grpId="0" autoUpdateAnimBg="0"/>
      <p:bldP spid="354323" grpId="0" autoUpdateAnimBg="0"/>
      <p:bldP spid="354332"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5330" name="Rectangle 2">
            <a:extLst>
              <a:ext uri="{FF2B5EF4-FFF2-40B4-BE49-F238E27FC236}">
                <a16:creationId xmlns:a16="http://schemas.microsoft.com/office/drawing/2014/main" id="{D6EE6592-C4A6-116B-8678-B060A45E3ACB}"/>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3.2</a:t>
            </a:r>
            <a:r>
              <a:rPr lang="zh-CN" altLang="en-US" b="1">
                <a:solidFill>
                  <a:srgbClr val="CC0000"/>
                </a:solidFill>
              </a:rPr>
              <a:t>总供给曲线</a:t>
            </a:r>
            <a:r>
              <a:rPr lang="en-US" altLang="zh-CN" b="1">
                <a:solidFill>
                  <a:srgbClr val="CC0000"/>
                </a:solidFill>
              </a:rPr>
              <a:t>_</a:t>
            </a:r>
            <a:r>
              <a:rPr lang="zh-CN" altLang="en-US" b="1">
                <a:solidFill>
                  <a:srgbClr val="CC0000"/>
                </a:solidFill>
              </a:rPr>
              <a:t>推导</a:t>
            </a:r>
          </a:p>
        </p:txBody>
      </p:sp>
      <p:sp>
        <p:nvSpPr>
          <p:cNvPr id="355331" name="Rectangle 3">
            <a:extLst>
              <a:ext uri="{FF2B5EF4-FFF2-40B4-BE49-F238E27FC236}">
                <a16:creationId xmlns:a16="http://schemas.microsoft.com/office/drawing/2014/main" id="{BF155898-A639-FF2D-31E1-698D59B3B99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55332" name="Rectangle 4">
            <a:extLst>
              <a:ext uri="{FF2B5EF4-FFF2-40B4-BE49-F238E27FC236}">
                <a16:creationId xmlns:a16="http://schemas.microsoft.com/office/drawing/2014/main" id="{6D586938-249E-1D55-6488-E1074378B4E3}"/>
              </a:ext>
            </a:extLst>
          </p:cNvPr>
          <p:cNvSpPr>
            <a:spLocks noRot="1" noChangeArrowheads="1"/>
          </p:cNvSpPr>
          <p:nvPr/>
        </p:nvSpPr>
        <p:spPr bwMode="auto">
          <a:xfrm>
            <a:off x="838200" y="1600200"/>
            <a:ext cx="77724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800" b="1"/>
              <a:t>总供给曲线的推导，其核心是通过</a:t>
            </a:r>
            <a:r>
              <a:rPr lang="en-US" altLang="zh-CN" sz="2800" b="1"/>
              <a:t>Phillips</a:t>
            </a:r>
            <a:r>
              <a:rPr lang="zh-CN" altLang="en-US" sz="2800" b="1"/>
              <a:t>曲线寻找产出水平和价格水平之间的关系。具体步骤如下：</a:t>
            </a:r>
          </a:p>
        </p:txBody>
      </p:sp>
      <p:graphicFrame>
        <p:nvGraphicFramePr>
          <p:cNvPr id="355360" name="Object 32">
            <a:extLst>
              <a:ext uri="{FF2B5EF4-FFF2-40B4-BE49-F238E27FC236}">
                <a16:creationId xmlns:a16="http://schemas.microsoft.com/office/drawing/2014/main" id="{8D56FCF8-F8B5-61DA-A81C-E5123ADA69E0}"/>
              </a:ext>
            </a:extLst>
          </p:cNvPr>
          <p:cNvGraphicFramePr>
            <a:graphicFrameLocks noChangeAspect="1"/>
          </p:cNvGraphicFramePr>
          <p:nvPr/>
        </p:nvGraphicFramePr>
        <p:xfrm>
          <a:off x="3151188" y="3186113"/>
          <a:ext cx="2106612" cy="547687"/>
        </p:xfrm>
        <a:graphic>
          <a:graphicData uri="http://schemas.openxmlformats.org/presentationml/2006/ole">
            <mc:AlternateContent xmlns:mc="http://schemas.openxmlformats.org/markup-compatibility/2006">
              <mc:Choice xmlns:v="urn:schemas-microsoft-com:vml" Requires="v">
                <p:oleObj name="Equation" r:id="rId2" imgW="1002960" imgH="228600" progId="Equation.DSMT4">
                  <p:embed/>
                </p:oleObj>
              </mc:Choice>
              <mc:Fallback>
                <p:oleObj name="Equation" r:id="rId2" imgW="1002960" imgH="228600" progId="Equation.DSMT4">
                  <p:embed/>
                  <p:pic>
                    <p:nvPicPr>
                      <p:cNvPr id="0" name="Object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1188" y="3186113"/>
                        <a:ext cx="2106612" cy="547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5373" name="Group 45">
            <a:extLst>
              <a:ext uri="{FF2B5EF4-FFF2-40B4-BE49-F238E27FC236}">
                <a16:creationId xmlns:a16="http://schemas.microsoft.com/office/drawing/2014/main" id="{D3A49003-C258-FB45-2616-4AB632A549C9}"/>
              </a:ext>
            </a:extLst>
          </p:cNvPr>
          <p:cNvGrpSpPr>
            <a:grpSpLocks/>
          </p:cNvGrpSpPr>
          <p:nvPr/>
        </p:nvGrpSpPr>
        <p:grpSpPr bwMode="auto">
          <a:xfrm>
            <a:off x="3124200" y="3733800"/>
            <a:ext cx="427038" cy="1568450"/>
            <a:chOff x="1968" y="2352"/>
            <a:chExt cx="269" cy="988"/>
          </a:xfrm>
        </p:grpSpPr>
        <p:grpSp>
          <p:nvGrpSpPr>
            <p:cNvPr id="355371" name="Group 43">
              <a:extLst>
                <a:ext uri="{FF2B5EF4-FFF2-40B4-BE49-F238E27FC236}">
                  <a16:creationId xmlns:a16="http://schemas.microsoft.com/office/drawing/2014/main" id="{B75FCB8D-A458-9EB6-2746-8A73F63F1056}"/>
                </a:ext>
              </a:extLst>
            </p:cNvPr>
            <p:cNvGrpSpPr>
              <a:grpSpLocks/>
            </p:cNvGrpSpPr>
            <p:nvPr/>
          </p:nvGrpSpPr>
          <p:grpSpPr bwMode="auto">
            <a:xfrm>
              <a:off x="2016" y="2352"/>
              <a:ext cx="192" cy="672"/>
              <a:chOff x="2016" y="2352"/>
              <a:chExt cx="192" cy="672"/>
            </a:xfrm>
          </p:grpSpPr>
          <p:sp>
            <p:nvSpPr>
              <p:cNvPr id="355364" name="Line 36">
                <a:extLst>
                  <a:ext uri="{FF2B5EF4-FFF2-40B4-BE49-F238E27FC236}">
                    <a16:creationId xmlns:a16="http://schemas.microsoft.com/office/drawing/2014/main" id="{C5AF9303-2718-63BE-9818-C7CCA6AA1082}"/>
                  </a:ext>
                </a:extLst>
              </p:cNvPr>
              <p:cNvSpPr>
                <a:spLocks noChangeShapeType="1"/>
              </p:cNvSpPr>
              <p:nvPr/>
            </p:nvSpPr>
            <p:spPr bwMode="auto">
              <a:xfrm>
                <a:off x="2112" y="2352"/>
                <a:ext cx="0"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5366" name="Line 38">
                <a:extLst>
                  <a:ext uri="{FF2B5EF4-FFF2-40B4-BE49-F238E27FC236}">
                    <a16:creationId xmlns:a16="http://schemas.microsoft.com/office/drawing/2014/main" id="{1D2A94EF-44BE-821F-E43A-DBC529CBBC56}"/>
                  </a:ext>
                </a:extLst>
              </p:cNvPr>
              <p:cNvSpPr>
                <a:spLocks noChangeShapeType="1"/>
              </p:cNvSpPr>
              <p:nvPr/>
            </p:nvSpPr>
            <p:spPr bwMode="auto">
              <a:xfrm>
                <a:off x="2016" y="2352"/>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355369" name="Object 41">
              <a:extLst>
                <a:ext uri="{FF2B5EF4-FFF2-40B4-BE49-F238E27FC236}">
                  <a16:creationId xmlns:a16="http://schemas.microsoft.com/office/drawing/2014/main" id="{275E51E4-CC65-07D1-56D4-3C6106C769B5}"/>
                </a:ext>
              </a:extLst>
            </p:cNvPr>
            <p:cNvGraphicFramePr>
              <a:graphicFrameLocks noChangeAspect="1"/>
            </p:cNvGraphicFramePr>
            <p:nvPr/>
          </p:nvGraphicFramePr>
          <p:xfrm>
            <a:off x="1968" y="2976"/>
            <a:ext cx="269" cy="364"/>
          </p:xfrm>
          <a:graphic>
            <a:graphicData uri="http://schemas.openxmlformats.org/presentationml/2006/ole">
              <mc:AlternateContent xmlns:mc="http://schemas.openxmlformats.org/markup-compatibility/2006">
                <mc:Choice xmlns:v="urn:schemas-microsoft-com:vml" Requires="v">
                  <p:oleObj name="Equation" r:id="rId4" imgW="203040" imgH="241200" progId="Equation.DSMT4">
                    <p:embed/>
                  </p:oleObj>
                </mc:Choice>
                <mc:Fallback>
                  <p:oleObj name="Equation" r:id="rId4" imgW="203040" imgH="241200" progId="Equation.DSMT4">
                    <p:embed/>
                    <p:pic>
                      <p:nvPicPr>
                        <p:cNvPr id="0" name="Object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8" y="2976"/>
                          <a:ext cx="269"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55374" name="Group 46">
            <a:extLst>
              <a:ext uri="{FF2B5EF4-FFF2-40B4-BE49-F238E27FC236}">
                <a16:creationId xmlns:a16="http://schemas.microsoft.com/office/drawing/2014/main" id="{A5F785CD-B38D-9CD0-128C-EC326CE6ACBB}"/>
              </a:ext>
            </a:extLst>
          </p:cNvPr>
          <p:cNvGrpSpPr>
            <a:grpSpLocks/>
          </p:cNvGrpSpPr>
          <p:nvPr/>
        </p:nvGrpSpPr>
        <p:grpSpPr bwMode="auto">
          <a:xfrm>
            <a:off x="4343400" y="3733800"/>
            <a:ext cx="960438" cy="1524000"/>
            <a:chOff x="2736" y="2352"/>
            <a:chExt cx="605" cy="960"/>
          </a:xfrm>
        </p:grpSpPr>
        <p:grpSp>
          <p:nvGrpSpPr>
            <p:cNvPr id="355372" name="Group 44">
              <a:extLst>
                <a:ext uri="{FF2B5EF4-FFF2-40B4-BE49-F238E27FC236}">
                  <a16:creationId xmlns:a16="http://schemas.microsoft.com/office/drawing/2014/main" id="{97B02FE5-633A-8ABE-12CF-09A20710AA5C}"/>
                </a:ext>
              </a:extLst>
            </p:cNvPr>
            <p:cNvGrpSpPr>
              <a:grpSpLocks/>
            </p:cNvGrpSpPr>
            <p:nvPr/>
          </p:nvGrpSpPr>
          <p:grpSpPr bwMode="auto">
            <a:xfrm>
              <a:off x="2736" y="2352"/>
              <a:ext cx="432" cy="720"/>
              <a:chOff x="2736" y="2304"/>
              <a:chExt cx="432" cy="720"/>
            </a:xfrm>
          </p:grpSpPr>
          <p:sp>
            <p:nvSpPr>
              <p:cNvPr id="355367" name="Line 39">
                <a:extLst>
                  <a:ext uri="{FF2B5EF4-FFF2-40B4-BE49-F238E27FC236}">
                    <a16:creationId xmlns:a16="http://schemas.microsoft.com/office/drawing/2014/main" id="{AF5A3B83-385B-F27F-785C-0BE2EBEA67FB}"/>
                  </a:ext>
                </a:extLst>
              </p:cNvPr>
              <p:cNvSpPr>
                <a:spLocks noChangeShapeType="1"/>
              </p:cNvSpPr>
              <p:nvPr/>
            </p:nvSpPr>
            <p:spPr bwMode="auto">
              <a:xfrm>
                <a:off x="2736" y="230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5368" name="Line 40">
                <a:extLst>
                  <a:ext uri="{FF2B5EF4-FFF2-40B4-BE49-F238E27FC236}">
                    <a16:creationId xmlns:a16="http://schemas.microsoft.com/office/drawing/2014/main" id="{70AEAB07-8D5F-9508-9148-6E633E41B76F}"/>
                  </a:ext>
                </a:extLst>
              </p:cNvPr>
              <p:cNvSpPr>
                <a:spLocks noChangeShapeType="1"/>
              </p:cNvSpPr>
              <p:nvPr/>
            </p:nvSpPr>
            <p:spPr bwMode="auto">
              <a:xfrm>
                <a:off x="2976" y="2304"/>
                <a:ext cx="0" cy="7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355370" name="Object 42">
              <a:extLst>
                <a:ext uri="{FF2B5EF4-FFF2-40B4-BE49-F238E27FC236}">
                  <a16:creationId xmlns:a16="http://schemas.microsoft.com/office/drawing/2014/main" id="{A91A7C4F-35E8-ABA8-C576-077639B07E94}"/>
                </a:ext>
              </a:extLst>
            </p:cNvPr>
            <p:cNvGraphicFramePr>
              <a:graphicFrameLocks noChangeAspect="1"/>
            </p:cNvGraphicFramePr>
            <p:nvPr/>
          </p:nvGraphicFramePr>
          <p:xfrm>
            <a:off x="2736" y="3063"/>
            <a:ext cx="605" cy="249"/>
          </p:xfrm>
          <a:graphic>
            <a:graphicData uri="http://schemas.openxmlformats.org/presentationml/2006/ole">
              <mc:AlternateContent xmlns:mc="http://schemas.openxmlformats.org/markup-compatibility/2006">
                <mc:Choice xmlns:v="urn:schemas-microsoft-com:vml" Requires="v">
                  <p:oleObj name="Equation" r:id="rId6" imgW="457200" imgH="164880" progId="Equation.DSMT4">
                    <p:embed/>
                  </p:oleObj>
                </mc:Choice>
                <mc:Fallback>
                  <p:oleObj name="Equation" r:id="rId6" imgW="457200" imgH="164880" progId="Equation.DSMT4">
                    <p:embed/>
                    <p:pic>
                      <p:nvPicPr>
                        <p:cNvPr id="0" name="Object 4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36" y="3063"/>
                          <a:ext cx="605"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55330"/>
                                        </p:tgtEl>
                                        <p:attrNameLst>
                                          <p:attrName>style.visibility</p:attrName>
                                        </p:attrNameLst>
                                      </p:cBhvr>
                                      <p:to>
                                        <p:strVal val="visible"/>
                                      </p:to>
                                    </p:set>
                                    <p:animEffect transition="in" filter="slide(fromTop)">
                                      <p:cBhvr>
                                        <p:cTn id="7" dur="500"/>
                                        <p:tgtEl>
                                          <p:spTgt spid="3553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55332"/>
                                        </p:tgtEl>
                                        <p:attrNameLst>
                                          <p:attrName>style.visibility</p:attrName>
                                        </p:attrNameLst>
                                      </p:cBhvr>
                                      <p:to>
                                        <p:strVal val="visible"/>
                                      </p:to>
                                    </p:set>
                                    <p:animEffect transition="in" filter="slide(fromBottom)">
                                      <p:cBhvr>
                                        <p:cTn id="12" dur="500"/>
                                        <p:tgtEl>
                                          <p:spTgt spid="3553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1" fill="hold" nodeType="clickEffect">
                                  <p:stCondLst>
                                    <p:cond delay="0"/>
                                  </p:stCondLst>
                                  <p:childTnLst>
                                    <p:set>
                                      <p:cBhvr>
                                        <p:cTn id="16" dur="1" fill="hold">
                                          <p:stCondLst>
                                            <p:cond delay="0"/>
                                          </p:stCondLst>
                                        </p:cTn>
                                        <p:tgtEl>
                                          <p:spTgt spid="355360"/>
                                        </p:tgtEl>
                                        <p:attrNameLst>
                                          <p:attrName>style.visibility</p:attrName>
                                        </p:attrNameLst>
                                      </p:cBhvr>
                                      <p:to>
                                        <p:strVal val="visible"/>
                                      </p:to>
                                    </p:set>
                                    <p:animEffect transition="in" filter="slide(fromTop)">
                                      <p:cBhvr>
                                        <p:cTn id="17" dur="500"/>
                                        <p:tgtEl>
                                          <p:spTgt spid="3553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1" fill="hold" nodeType="clickEffect">
                                  <p:stCondLst>
                                    <p:cond delay="0"/>
                                  </p:stCondLst>
                                  <p:childTnLst>
                                    <p:set>
                                      <p:cBhvr>
                                        <p:cTn id="21" dur="1" fill="hold">
                                          <p:stCondLst>
                                            <p:cond delay="0"/>
                                          </p:stCondLst>
                                        </p:cTn>
                                        <p:tgtEl>
                                          <p:spTgt spid="355373"/>
                                        </p:tgtEl>
                                        <p:attrNameLst>
                                          <p:attrName>style.visibility</p:attrName>
                                        </p:attrNameLst>
                                      </p:cBhvr>
                                      <p:to>
                                        <p:strVal val="visible"/>
                                      </p:to>
                                    </p:set>
                                    <p:animEffect transition="in" filter="slide(fromTop)">
                                      <p:cBhvr>
                                        <p:cTn id="22" dur="500"/>
                                        <p:tgtEl>
                                          <p:spTgt spid="35537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1" fill="hold" nodeType="clickEffect">
                                  <p:stCondLst>
                                    <p:cond delay="0"/>
                                  </p:stCondLst>
                                  <p:childTnLst>
                                    <p:set>
                                      <p:cBhvr>
                                        <p:cTn id="26" dur="1" fill="hold">
                                          <p:stCondLst>
                                            <p:cond delay="0"/>
                                          </p:stCondLst>
                                        </p:cTn>
                                        <p:tgtEl>
                                          <p:spTgt spid="355374"/>
                                        </p:tgtEl>
                                        <p:attrNameLst>
                                          <p:attrName>style.visibility</p:attrName>
                                        </p:attrNameLst>
                                      </p:cBhvr>
                                      <p:to>
                                        <p:strVal val="visible"/>
                                      </p:to>
                                    </p:set>
                                    <p:animEffect transition="in" filter="slide(fromTop)">
                                      <p:cBhvr>
                                        <p:cTn id="27" dur="500"/>
                                        <p:tgtEl>
                                          <p:spTgt spid="355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0" grpId="0" autoUpdateAnimBg="0"/>
      <p:bldP spid="355332"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6354" name="Rectangle 2">
            <a:extLst>
              <a:ext uri="{FF2B5EF4-FFF2-40B4-BE49-F238E27FC236}">
                <a16:creationId xmlns:a16="http://schemas.microsoft.com/office/drawing/2014/main" id="{FB47F815-9001-CD90-5137-874F54B96439}"/>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3.3</a:t>
            </a:r>
            <a:r>
              <a:rPr lang="zh-CN" altLang="en-US" b="1">
                <a:solidFill>
                  <a:srgbClr val="CC0000"/>
                </a:solidFill>
              </a:rPr>
              <a:t>总供给曲线的推导</a:t>
            </a:r>
            <a:r>
              <a:rPr lang="en-US" altLang="zh-CN" b="1">
                <a:solidFill>
                  <a:srgbClr val="CC0000"/>
                </a:solidFill>
              </a:rPr>
              <a:t>_</a:t>
            </a:r>
            <a:r>
              <a:rPr lang="zh-CN" altLang="en-US" b="1">
                <a:solidFill>
                  <a:srgbClr val="CC0000"/>
                </a:solidFill>
              </a:rPr>
              <a:t>第一步</a:t>
            </a:r>
          </a:p>
        </p:txBody>
      </p:sp>
      <p:sp>
        <p:nvSpPr>
          <p:cNvPr id="356355" name="Rectangle 3">
            <a:extLst>
              <a:ext uri="{FF2B5EF4-FFF2-40B4-BE49-F238E27FC236}">
                <a16:creationId xmlns:a16="http://schemas.microsoft.com/office/drawing/2014/main" id="{4C074BB1-8952-B643-404C-41F1377FBCA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56356" name="Rectangle 4">
            <a:extLst>
              <a:ext uri="{FF2B5EF4-FFF2-40B4-BE49-F238E27FC236}">
                <a16:creationId xmlns:a16="http://schemas.microsoft.com/office/drawing/2014/main" id="{0CF670D7-DDAA-3179-763D-4834481D0FCE}"/>
              </a:ext>
            </a:extLst>
          </p:cNvPr>
          <p:cNvSpPr>
            <a:spLocks noRot="1" noChangeArrowheads="1"/>
          </p:cNvSpPr>
          <p:nvPr/>
        </p:nvSpPr>
        <p:spPr bwMode="auto">
          <a:xfrm>
            <a:off x="838200" y="1600200"/>
            <a:ext cx="2971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800" b="1"/>
              <a:t>总量生产函数</a:t>
            </a:r>
          </a:p>
        </p:txBody>
      </p:sp>
      <p:graphicFrame>
        <p:nvGraphicFramePr>
          <p:cNvPr id="356357" name="Object 5">
            <a:extLst>
              <a:ext uri="{FF2B5EF4-FFF2-40B4-BE49-F238E27FC236}">
                <a16:creationId xmlns:a16="http://schemas.microsoft.com/office/drawing/2014/main" id="{44130872-C78C-F865-6479-D8954D9A6565}"/>
              </a:ext>
            </a:extLst>
          </p:cNvPr>
          <p:cNvGraphicFramePr>
            <a:graphicFrameLocks noChangeAspect="1"/>
          </p:cNvGraphicFramePr>
          <p:nvPr/>
        </p:nvGraphicFramePr>
        <p:xfrm>
          <a:off x="3810000" y="1676400"/>
          <a:ext cx="1014413" cy="425450"/>
        </p:xfrm>
        <a:graphic>
          <a:graphicData uri="http://schemas.openxmlformats.org/presentationml/2006/ole">
            <mc:AlternateContent xmlns:mc="http://schemas.openxmlformats.org/markup-compatibility/2006">
              <mc:Choice xmlns:v="urn:schemas-microsoft-com:vml" Requires="v">
                <p:oleObj name="Equation" r:id="rId2" imgW="482400" imgH="177480" progId="Equation.DSMT4">
                  <p:embed/>
                </p:oleObj>
              </mc:Choice>
              <mc:Fallback>
                <p:oleObj name="Equation" r:id="rId2" imgW="482400" imgH="17748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1676400"/>
                        <a:ext cx="1014413"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6368" name="Rectangle 16">
            <a:extLst>
              <a:ext uri="{FF2B5EF4-FFF2-40B4-BE49-F238E27FC236}">
                <a16:creationId xmlns:a16="http://schemas.microsoft.com/office/drawing/2014/main" id="{D526434E-8660-C477-527F-4E5FFA02BC7E}"/>
              </a:ext>
            </a:extLst>
          </p:cNvPr>
          <p:cNvSpPr>
            <a:spLocks noRot="1" noChangeArrowheads="1"/>
          </p:cNvSpPr>
          <p:nvPr/>
        </p:nvSpPr>
        <p:spPr bwMode="auto">
          <a:xfrm>
            <a:off x="838200" y="2362200"/>
            <a:ext cx="7391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800" b="1"/>
              <a:t>假定工资水平为</a:t>
            </a:r>
            <a:r>
              <a:rPr lang="en-US" altLang="zh-CN" sz="2800" b="1"/>
              <a:t>W</a:t>
            </a:r>
            <a:r>
              <a:rPr lang="zh-CN" altLang="en-US" sz="2800" b="1"/>
              <a:t>，则（总）边际成本为</a:t>
            </a:r>
          </a:p>
        </p:txBody>
      </p:sp>
      <p:graphicFrame>
        <p:nvGraphicFramePr>
          <p:cNvPr id="356369" name="Object 17">
            <a:extLst>
              <a:ext uri="{FF2B5EF4-FFF2-40B4-BE49-F238E27FC236}">
                <a16:creationId xmlns:a16="http://schemas.microsoft.com/office/drawing/2014/main" id="{297A0A1B-82FD-AE12-C2F8-3B64DB64AAB8}"/>
              </a:ext>
            </a:extLst>
          </p:cNvPr>
          <p:cNvGraphicFramePr>
            <a:graphicFrameLocks noChangeAspect="1"/>
          </p:cNvGraphicFramePr>
          <p:nvPr/>
        </p:nvGraphicFramePr>
        <p:xfrm>
          <a:off x="2676525" y="2867025"/>
          <a:ext cx="1147763" cy="941388"/>
        </p:xfrm>
        <a:graphic>
          <a:graphicData uri="http://schemas.openxmlformats.org/presentationml/2006/ole">
            <mc:AlternateContent xmlns:mc="http://schemas.openxmlformats.org/markup-compatibility/2006">
              <mc:Choice xmlns:v="urn:schemas-microsoft-com:vml" Requires="v">
                <p:oleObj name="Equation" r:id="rId4" imgW="545760" imgH="393480" progId="Equation.DSMT4">
                  <p:embed/>
                </p:oleObj>
              </mc:Choice>
              <mc:Fallback>
                <p:oleObj name="Equation" r:id="rId4" imgW="545760" imgH="393480" progId="Equation.DSMT4">
                  <p:embed/>
                  <p:pic>
                    <p:nvPicPr>
                      <p:cNvPr id="0"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76525" y="2867025"/>
                        <a:ext cx="1147763" cy="941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6370" name="Rectangle 18">
            <a:extLst>
              <a:ext uri="{FF2B5EF4-FFF2-40B4-BE49-F238E27FC236}">
                <a16:creationId xmlns:a16="http://schemas.microsoft.com/office/drawing/2014/main" id="{70F7AF96-985A-418E-819E-DEDD84543D59}"/>
              </a:ext>
            </a:extLst>
          </p:cNvPr>
          <p:cNvSpPr>
            <a:spLocks noRot="1" noChangeArrowheads="1"/>
          </p:cNvSpPr>
          <p:nvPr/>
        </p:nvSpPr>
        <p:spPr bwMode="auto">
          <a:xfrm>
            <a:off x="838200" y="3810000"/>
            <a:ext cx="7391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800" b="1"/>
              <a:t>定价（企业利润最大的价格是多少）</a:t>
            </a:r>
          </a:p>
        </p:txBody>
      </p:sp>
      <p:grpSp>
        <p:nvGrpSpPr>
          <p:cNvPr id="356375" name="Group 23">
            <a:extLst>
              <a:ext uri="{FF2B5EF4-FFF2-40B4-BE49-F238E27FC236}">
                <a16:creationId xmlns:a16="http://schemas.microsoft.com/office/drawing/2014/main" id="{46A36CDD-4D77-7255-44BA-4669D23C5AC9}"/>
              </a:ext>
            </a:extLst>
          </p:cNvPr>
          <p:cNvGrpSpPr>
            <a:grpSpLocks/>
          </p:cNvGrpSpPr>
          <p:nvPr/>
        </p:nvGrpSpPr>
        <p:grpSpPr bwMode="auto">
          <a:xfrm>
            <a:off x="762000" y="4468813"/>
            <a:ext cx="4953000" cy="941387"/>
            <a:chOff x="480" y="2815"/>
            <a:chExt cx="3120" cy="593"/>
          </a:xfrm>
        </p:grpSpPr>
        <p:sp>
          <p:nvSpPr>
            <p:cNvPr id="356371" name="Rectangle 19">
              <a:extLst>
                <a:ext uri="{FF2B5EF4-FFF2-40B4-BE49-F238E27FC236}">
                  <a16:creationId xmlns:a16="http://schemas.microsoft.com/office/drawing/2014/main" id="{C37B1298-3942-B707-773C-2C4479FCC45B}"/>
                </a:ext>
              </a:extLst>
            </p:cNvPr>
            <p:cNvSpPr>
              <a:spLocks noRot="1" noChangeArrowheads="1"/>
            </p:cNvSpPr>
            <p:nvPr/>
          </p:nvSpPr>
          <p:spPr bwMode="auto">
            <a:xfrm>
              <a:off x="480" y="2928"/>
              <a:ext cx="17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竞争性市场</a:t>
              </a:r>
            </a:p>
          </p:txBody>
        </p:sp>
        <p:graphicFrame>
          <p:nvGraphicFramePr>
            <p:cNvPr id="356373" name="Object 21">
              <a:extLst>
                <a:ext uri="{FF2B5EF4-FFF2-40B4-BE49-F238E27FC236}">
                  <a16:creationId xmlns:a16="http://schemas.microsoft.com/office/drawing/2014/main" id="{0B1D8E8C-9487-3503-7CCB-3AC93F1E9329}"/>
                </a:ext>
              </a:extLst>
            </p:cNvPr>
            <p:cNvGraphicFramePr>
              <a:graphicFrameLocks noChangeAspect="1"/>
            </p:cNvGraphicFramePr>
            <p:nvPr/>
          </p:nvGraphicFramePr>
          <p:xfrm>
            <a:off x="2557" y="2815"/>
            <a:ext cx="1043" cy="593"/>
          </p:xfrm>
          <a:graphic>
            <a:graphicData uri="http://schemas.openxmlformats.org/presentationml/2006/ole">
              <mc:AlternateContent xmlns:mc="http://schemas.openxmlformats.org/markup-compatibility/2006">
                <mc:Choice xmlns:v="urn:schemas-microsoft-com:vml" Requires="v">
                  <p:oleObj name="Equation" r:id="rId6" imgW="787320" imgH="393480" progId="Equation.DSMT4">
                    <p:embed/>
                  </p:oleObj>
                </mc:Choice>
                <mc:Fallback>
                  <p:oleObj name="Equation" r:id="rId6" imgW="787320" imgH="393480" progId="Equation.DSMT4">
                    <p:embed/>
                    <p:pic>
                      <p:nvPicPr>
                        <p:cNvPr id="0" name="Object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7" y="2815"/>
                          <a:ext cx="1043" cy="5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56376" name="Group 24">
            <a:extLst>
              <a:ext uri="{FF2B5EF4-FFF2-40B4-BE49-F238E27FC236}">
                <a16:creationId xmlns:a16="http://schemas.microsoft.com/office/drawing/2014/main" id="{8B8DD8CC-3278-B2CC-A248-9D9D5BFA6A79}"/>
              </a:ext>
            </a:extLst>
          </p:cNvPr>
          <p:cNvGrpSpPr>
            <a:grpSpLocks/>
          </p:cNvGrpSpPr>
          <p:nvPr/>
        </p:nvGrpSpPr>
        <p:grpSpPr bwMode="auto">
          <a:xfrm>
            <a:off x="762000" y="5335588"/>
            <a:ext cx="5410200" cy="1092200"/>
            <a:chOff x="480" y="3361"/>
            <a:chExt cx="3408" cy="688"/>
          </a:xfrm>
        </p:grpSpPr>
        <p:sp>
          <p:nvSpPr>
            <p:cNvPr id="356372" name="Rectangle 20">
              <a:extLst>
                <a:ext uri="{FF2B5EF4-FFF2-40B4-BE49-F238E27FC236}">
                  <a16:creationId xmlns:a16="http://schemas.microsoft.com/office/drawing/2014/main" id="{92E1A9B3-0BE3-977C-C57B-CC769954C385}"/>
                </a:ext>
              </a:extLst>
            </p:cNvPr>
            <p:cNvSpPr>
              <a:spLocks noRot="1" noChangeArrowheads="1"/>
            </p:cNvSpPr>
            <p:nvPr/>
          </p:nvSpPr>
          <p:spPr bwMode="auto">
            <a:xfrm>
              <a:off x="480" y="3504"/>
              <a:ext cx="211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非竞争性市场</a:t>
              </a:r>
            </a:p>
          </p:txBody>
        </p:sp>
        <p:graphicFrame>
          <p:nvGraphicFramePr>
            <p:cNvPr id="356374" name="Object 22">
              <a:extLst>
                <a:ext uri="{FF2B5EF4-FFF2-40B4-BE49-F238E27FC236}">
                  <a16:creationId xmlns:a16="http://schemas.microsoft.com/office/drawing/2014/main" id="{75684CD5-DC28-484A-EFC7-7A1FC0A00C59}"/>
                </a:ext>
              </a:extLst>
            </p:cNvPr>
            <p:cNvGraphicFramePr>
              <a:graphicFrameLocks noChangeAspect="1"/>
            </p:cNvGraphicFramePr>
            <p:nvPr/>
          </p:nvGraphicFramePr>
          <p:xfrm>
            <a:off x="2508" y="3361"/>
            <a:ext cx="1380" cy="688"/>
          </p:xfrm>
          <a:graphic>
            <a:graphicData uri="http://schemas.openxmlformats.org/presentationml/2006/ole">
              <mc:AlternateContent xmlns:mc="http://schemas.openxmlformats.org/markup-compatibility/2006">
                <mc:Choice xmlns:v="urn:schemas-microsoft-com:vml" Requires="v">
                  <p:oleObj name="Equation" r:id="rId8" imgW="1041120" imgH="457200" progId="Equation.DSMT4">
                    <p:embed/>
                  </p:oleObj>
                </mc:Choice>
                <mc:Fallback>
                  <p:oleObj name="Equation" r:id="rId8" imgW="1041120" imgH="457200" progId="Equation.DSMT4">
                    <p:embed/>
                    <p:pic>
                      <p:nvPicPr>
                        <p:cNvPr id="0"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08" y="3361"/>
                          <a:ext cx="1380" cy="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56380" name="Group 28">
            <a:extLst>
              <a:ext uri="{FF2B5EF4-FFF2-40B4-BE49-F238E27FC236}">
                <a16:creationId xmlns:a16="http://schemas.microsoft.com/office/drawing/2014/main" id="{2BCC6FE1-F3A8-A966-7BFB-265CAF516ECE}"/>
              </a:ext>
            </a:extLst>
          </p:cNvPr>
          <p:cNvGrpSpPr>
            <a:grpSpLocks/>
          </p:cNvGrpSpPr>
          <p:nvPr/>
        </p:nvGrpSpPr>
        <p:grpSpPr bwMode="auto">
          <a:xfrm>
            <a:off x="6248400" y="4648200"/>
            <a:ext cx="1895475" cy="1524000"/>
            <a:chOff x="3936" y="2928"/>
            <a:chExt cx="1194" cy="960"/>
          </a:xfrm>
        </p:grpSpPr>
        <p:sp>
          <p:nvSpPr>
            <p:cNvPr id="356377" name="AutoShape 25">
              <a:extLst>
                <a:ext uri="{FF2B5EF4-FFF2-40B4-BE49-F238E27FC236}">
                  <a16:creationId xmlns:a16="http://schemas.microsoft.com/office/drawing/2014/main" id="{7478660E-5999-C9A8-69A1-706C04396843}"/>
                </a:ext>
              </a:extLst>
            </p:cNvPr>
            <p:cNvSpPr>
              <a:spLocks/>
            </p:cNvSpPr>
            <p:nvPr/>
          </p:nvSpPr>
          <p:spPr bwMode="auto">
            <a:xfrm>
              <a:off x="3936" y="2928"/>
              <a:ext cx="144" cy="960"/>
            </a:xfrm>
            <a:prstGeom prst="rightBrace">
              <a:avLst>
                <a:gd name="adj1" fmla="val 5555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6378" name="AutoShape 26">
              <a:extLst>
                <a:ext uri="{FF2B5EF4-FFF2-40B4-BE49-F238E27FC236}">
                  <a16:creationId xmlns:a16="http://schemas.microsoft.com/office/drawing/2014/main" id="{1B1F4E0D-EB2B-C0F6-3838-A50E0EBB4A8B}"/>
                </a:ext>
              </a:extLst>
            </p:cNvPr>
            <p:cNvSpPr>
              <a:spLocks noChangeArrowheads="1"/>
            </p:cNvSpPr>
            <p:nvPr/>
          </p:nvSpPr>
          <p:spPr bwMode="auto">
            <a:xfrm>
              <a:off x="4080" y="3360"/>
              <a:ext cx="240" cy="96"/>
            </a:xfrm>
            <a:prstGeom prst="rightArrow">
              <a:avLst>
                <a:gd name="adj1" fmla="val 50000"/>
                <a:gd name="adj2" fmla="val 62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56379" name="Object 27">
              <a:extLst>
                <a:ext uri="{FF2B5EF4-FFF2-40B4-BE49-F238E27FC236}">
                  <a16:creationId xmlns:a16="http://schemas.microsoft.com/office/drawing/2014/main" id="{E84B91B8-E473-076D-DDBC-2E983691A66A}"/>
                </a:ext>
              </a:extLst>
            </p:cNvPr>
            <p:cNvGraphicFramePr>
              <a:graphicFrameLocks noChangeAspect="1"/>
            </p:cNvGraphicFramePr>
            <p:nvPr/>
          </p:nvGraphicFramePr>
          <p:xfrm>
            <a:off x="4424" y="3216"/>
            <a:ext cx="706" cy="364"/>
          </p:xfrm>
          <a:graphic>
            <a:graphicData uri="http://schemas.openxmlformats.org/presentationml/2006/ole">
              <mc:AlternateContent xmlns:mc="http://schemas.openxmlformats.org/markup-compatibility/2006">
                <mc:Choice xmlns:v="urn:schemas-microsoft-com:vml" Requires="v">
                  <p:oleObj name="Equation" r:id="rId10" imgW="533160" imgH="241200" progId="Equation.DSMT4">
                    <p:embed/>
                  </p:oleObj>
                </mc:Choice>
                <mc:Fallback>
                  <p:oleObj name="Equation" r:id="rId10" imgW="533160" imgH="241200" progId="Equation.DSMT4">
                    <p:embed/>
                    <p:pic>
                      <p:nvPicPr>
                        <p:cNvPr id="0" name="Object 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24" y="3216"/>
                          <a:ext cx="706"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56354"/>
                                        </p:tgtEl>
                                        <p:attrNameLst>
                                          <p:attrName>style.visibility</p:attrName>
                                        </p:attrNameLst>
                                      </p:cBhvr>
                                      <p:to>
                                        <p:strVal val="visible"/>
                                      </p:to>
                                    </p:set>
                                    <p:animEffect transition="in" filter="slide(fromTop)">
                                      <p:cBhvr>
                                        <p:cTn id="7" dur="500"/>
                                        <p:tgtEl>
                                          <p:spTgt spid="3563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56356"/>
                                        </p:tgtEl>
                                        <p:attrNameLst>
                                          <p:attrName>style.visibility</p:attrName>
                                        </p:attrNameLst>
                                      </p:cBhvr>
                                      <p:to>
                                        <p:strVal val="visible"/>
                                      </p:to>
                                    </p:set>
                                    <p:animEffect transition="in" filter="slide(fromBottom)">
                                      <p:cBhvr>
                                        <p:cTn id="12" dur="500"/>
                                        <p:tgtEl>
                                          <p:spTgt spid="3563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nodeType="clickEffect">
                                  <p:stCondLst>
                                    <p:cond delay="0"/>
                                  </p:stCondLst>
                                  <p:childTnLst>
                                    <p:set>
                                      <p:cBhvr>
                                        <p:cTn id="16" dur="1" fill="hold">
                                          <p:stCondLst>
                                            <p:cond delay="0"/>
                                          </p:stCondLst>
                                        </p:cTn>
                                        <p:tgtEl>
                                          <p:spTgt spid="356357"/>
                                        </p:tgtEl>
                                        <p:attrNameLst>
                                          <p:attrName>style.visibility</p:attrName>
                                        </p:attrNameLst>
                                      </p:cBhvr>
                                      <p:to>
                                        <p:strVal val="visible"/>
                                      </p:to>
                                    </p:set>
                                    <p:animEffect transition="in" filter="slide(fromLeft)">
                                      <p:cBhvr>
                                        <p:cTn id="17" dur="500"/>
                                        <p:tgtEl>
                                          <p:spTgt spid="3563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356368"/>
                                        </p:tgtEl>
                                        <p:attrNameLst>
                                          <p:attrName>style.visibility</p:attrName>
                                        </p:attrNameLst>
                                      </p:cBhvr>
                                      <p:to>
                                        <p:strVal val="visible"/>
                                      </p:to>
                                    </p:set>
                                    <p:animEffect transition="in" filter="slide(fromBottom)">
                                      <p:cBhvr>
                                        <p:cTn id="22" dur="500"/>
                                        <p:tgtEl>
                                          <p:spTgt spid="3563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1" fill="hold" nodeType="clickEffect">
                                  <p:stCondLst>
                                    <p:cond delay="0"/>
                                  </p:stCondLst>
                                  <p:childTnLst>
                                    <p:set>
                                      <p:cBhvr>
                                        <p:cTn id="26" dur="1" fill="hold">
                                          <p:stCondLst>
                                            <p:cond delay="0"/>
                                          </p:stCondLst>
                                        </p:cTn>
                                        <p:tgtEl>
                                          <p:spTgt spid="356369"/>
                                        </p:tgtEl>
                                        <p:attrNameLst>
                                          <p:attrName>style.visibility</p:attrName>
                                        </p:attrNameLst>
                                      </p:cBhvr>
                                      <p:to>
                                        <p:strVal val="visible"/>
                                      </p:to>
                                    </p:set>
                                    <p:animEffect transition="in" filter="slide(fromTop)">
                                      <p:cBhvr>
                                        <p:cTn id="27" dur="500"/>
                                        <p:tgtEl>
                                          <p:spTgt spid="35636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356370"/>
                                        </p:tgtEl>
                                        <p:attrNameLst>
                                          <p:attrName>style.visibility</p:attrName>
                                        </p:attrNameLst>
                                      </p:cBhvr>
                                      <p:to>
                                        <p:strVal val="visible"/>
                                      </p:to>
                                    </p:set>
                                    <p:animEffect transition="in" filter="slide(fromBottom)">
                                      <p:cBhvr>
                                        <p:cTn id="32" dur="500"/>
                                        <p:tgtEl>
                                          <p:spTgt spid="35637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37" fill="hold" nodeType="clickEffect">
                                  <p:stCondLst>
                                    <p:cond delay="0"/>
                                  </p:stCondLst>
                                  <p:childTnLst>
                                    <p:set>
                                      <p:cBhvr>
                                        <p:cTn id="36" dur="1" fill="hold">
                                          <p:stCondLst>
                                            <p:cond delay="0"/>
                                          </p:stCondLst>
                                        </p:cTn>
                                        <p:tgtEl>
                                          <p:spTgt spid="356375"/>
                                        </p:tgtEl>
                                        <p:attrNameLst>
                                          <p:attrName>style.visibility</p:attrName>
                                        </p:attrNameLst>
                                      </p:cBhvr>
                                      <p:to>
                                        <p:strVal val="visible"/>
                                      </p:to>
                                    </p:set>
                                    <p:animEffect transition="in" filter="barn(outVertical)">
                                      <p:cBhvr>
                                        <p:cTn id="37" dur="500"/>
                                        <p:tgtEl>
                                          <p:spTgt spid="35637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37" fill="hold" nodeType="clickEffect">
                                  <p:stCondLst>
                                    <p:cond delay="0"/>
                                  </p:stCondLst>
                                  <p:childTnLst>
                                    <p:set>
                                      <p:cBhvr>
                                        <p:cTn id="41" dur="1" fill="hold">
                                          <p:stCondLst>
                                            <p:cond delay="0"/>
                                          </p:stCondLst>
                                        </p:cTn>
                                        <p:tgtEl>
                                          <p:spTgt spid="356376"/>
                                        </p:tgtEl>
                                        <p:attrNameLst>
                                          <p:attrName>style.visibility</p:attrName>
                                        </p:attrNameLst>
                                      </p:cBhvr>
                                      <p:to>
                                        <p:strVal val="visible"/>
                                      </p:to>
                                    </p:set>
                                    <p:animEffect transition="in" filter="barn(outVertical)">
                                      <p:cBhvr>
                                        <p:cTn id="42" dur="500"/>
                                        <p:tgtEl>
                                          <p:spTgt spid="35637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8" fill="hold" nodeType="clickEffect">
                                  <p:stCondLst>
                                    <p:cond delay="0"/>
                                  </p:stCondLst>
                                  <p:childTnLst>
                                    <p:set>
                                      <p:cBhvr>
                                        <p:cTn id="46" dur="1" fill="hold">
                                          <p:stCondLst>
                                            <p:cond delay="0"/>
                                          </p:stCondLst>
                                        </p:cTn>
                                        <p:tgtEl>
                                          <p:spTgt spid="356380"/>
                                        </p:tgtEl>
                                        <p:attrNameLst>
                                          <p:attrName>style.visibility</p:attrName>
                                        </p:attrNameLst>
                                      </p:cBhvr>
                                      <p:to>
                                        <p:strVal val="visible"/>
                                      </p:to>
                                    </p:set>
                                    <p:animEffect transition="in" filter="slide(fromLeft)">
                                      <p:cBhvr>
                                        <p:cTn id="47" dur="500"/>
                                        <p:tgtEl>
                                          <p:spTgt spid="3563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6354" grpId="0" autoUpdateAnimBg="0"/>
      <p:bldP spid="356356" grpId="0" autoUpdateAnimBg="0"/>
      <p:bldP spid="356368" grpId="0" autoUpdateAnimBg="0"/>
      <p:bldP spid="356370"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7378" name="Rectangle 2">
            <a:extLst>
              <a:ext uri="{FF2B5EF4-FFF2-40B4-BE49-F238E27FC236}">
                <a16:creationId xmlns:a16="http://schemas.microsoft.com/office/drawing/2014/main" id="{DB968676-52D1-AD9D-9681-D74E5262248E}"/>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3.3</a:t>
            </a:r>
            <a:r>
              <a:rPr lang="zh-CN" altLang="en-US" b="1">
                <a:solidFill>
                  <a:srgbClr val="CC0000"/>
                </a:solidFill>
              </a:rPr>
              <a:t>总供给曲线的推导</a:t>
            </a:r>
            <a:r>
              <a:rPr lang="en-US" altLang="zh-CN" b="1">
                <a:solidFill>
                  <a:srgbClr val="CC0000"/>
                </a:solidFill>
              </a:rPr>
              <a:t>_</a:t>
            </a:r>
            <a:r>
              <a:rPr lang="zh-CN" altLang="en-US" b="1">
                <a:solidFill>
                  <a:srgbClr val="CC0000"/>
                </a:solidFill>
              </a:rPr>
              <a:t>第二步</a:t>
            </a:r>
          </a:p>
        </p:txBody>
      </p:sp>
      <p:sp>
        <p:nvSpPr>
          <p:cNvPr id="357379" name="Rectangle 3">
            <a:extLst>
              <a:ext uri="{FF2B5EF4-FFF2-40B4-BE49-F238E27FC236}">
                <a16:creationId xmlns:a16="http://schemas.microsoft.com/office/drawing/2014/main" id="{DDFC2EA1-3317-4E9E-33D9-58C727EEF04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57384" name="Rectangle 8">
            <a:extLst>
              <a:ext uri="{FF2B5EF4-FFF2-40B4-BE49-F238E27FC236}">
                <a16:creationId xmlns:a16="http://schemas.microsoft.com/office/drawing/2014/main" id="{9AE4C443-C9A0-23D3-8C89-CEF6A2E3C064}"/>
              </a:ext>
            </a:extLst>
          </p:cNvPr>
          <p:cNvSpPr>
            <a:spLocks noRot="1" noChangeArrowheads="1"/>
          </p:cNvSpPr>
          <p:nvPr/>
        </p:nvSpPr>
        <p:spPr bwMode="auto">
          <a:xfrm>
            <a:off x="838200" y="2420938"/>
            <a:ext cx="7391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800" b="1"/>
              <a:t>失业率与产出水平之间的关系：</a:t>
            </a:r>
            <a:r>
              <a:rPr lang="en-US" altLang="zh-CN" sz="2800" b="1"/>
              <a:t>Okun</a:t>
            </a:r>
            <a:r>
              <a:rPr lang="zh-CN" altLang="en-US" sz="2800" b="1"/>
              <a:t>定律</a:t>
            </a:r>
          </a:p>
        </p:txBody>
      </p:sp>
      <p:sp>
        <p:nvSpPr>
          <p:cNvPr id="357386" name="Rectangle 10">
            <a:extLst>
              <a:ext uri="{FF2B5EF4-FFF2-40B4-BE49-F238E27FC236}">
                <a16:creationId xmlns:a16="http://schemas.microsoft.com/office/drawing/2014/main" id="{D2CDACA5-EEB4-2C67-7331-145F4F6C91BF}"/>
              </a:ext>
            </a:extLst>
          </p:cNvPr>
          <p:cNvSpPr>
            <a:spLocks noRot="1" noChangeArrowheads="1"/>
          </p:cNvSpPr>
          <p:nvPr/>
        </p:nvSpPr>
        <p:spPr bwMode="auto">
          <a:xfrm>
            <a:off x="762000" y="3259138"/>
            <a:ext cx="2819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en-US" altLang="zh-CN" sz="2800" b="1"/>
              <a:t>Okun</a:t>
            </a:r>
            <a:r>
              <a:rPr lang="zh-CN" altLang="en-US" sz="2800" b="1"/>
              <a:t>定律</a:t>
            </a:r>
          </a:p>
        </p:txBody>
      </p:sp>
      <p:graphicFrame>
        <p:nvGraphicFramePr>
          <p:cNvPr id="357387" name="Object 11">
            <a:extLst>
              <a:ext uri="{FF2B5EF4-FFF2-40B4-BE49-F238E27FC236}">
                <a16:creationId xmlns:a16="http://schemas.microsoft.com/office/drawing/2014/main" id="{067778B1-6648-028C-1888-A00B71867DD6}"/>
              </a:ext>
            </a:extLst>
          </p:cNvPr>
          <p:cNvGraphicFramePr>
            <a:graphicFrameLocks noChangeAspect="1"/>
          </p:cNvGraphicFramePr>
          <p:nvPr/>
        </p:nvGraphicFramePr>
        <p:xfrm>
          <a:off x="3448050" y="3106738"/>
          <a:ext cx="4383088" cy="941387"/>
        </p:xfrm>
        <a:graphic>
          <a:graphicData uri="http://schemas.openxmlformats.org/presentationml/2006/ole">
            <mc:AlternateContent xmlns:mc="http://schemas.openxmlformats.org/markup-compatibility/2006">
              <mc:Choice xmlns:v="urn:schemas-microsoft-com:vml" Requires="v">
                <p:oleObj name="Equation" r:id="rId2" imgW="2082600" imgH="393480" progId="Equation.DSMT4">
                  <p:embed/>
                </p:oleObj>
              </mc:Choice>
              <mc:Fallback>
                <p:oleObj name="Equation" r:id="rId2" imgW="2082600" imgH="393480" progId="Equation.DSMT4">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8050" y="3106738"/>
                        <a:ext cx="4383088" cy="941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57378"/>
                                        </p:tgtEl>
                                        <p:attrNameLst>
                                          <p:attrName>style.visibility</p:attrName>
                                        </p:attrNameLst>
                                      </p:cBhvr>
                                      <p:to>
                                        <p:strVal val="visible"/>
                                      </p:to>
                                    </p:set>
                                    <p:animEffect transition="in" filter="slide(fromTop)">
                                      <p:cBhvr>
                                        <p:cTn id="7" dur="500"/>
                                        <p:tgtEl>
                                          <p:spTgt spid="3573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57384"/>
                                        </p:tgtEl>
                                        <p:attrNameLst>
                                          <p:attrName>style.visibility</p:attrName>
                                        </p:attrNameLst>
                                      </p:cBhvr>
                                      <p:to>
                                        <p:strVal val="visible"/>
                                      </p:to>
                                    </p:set>
                                    <p:animEffect transition="in" filter="slide(fromBottom)">
                                      <p:cBhvr>
                                        <p:cTn id="12" dur="500"/>
                                        <p:tgtEl>
                                          <p:spTgt spid="35738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357386"/>
                                        </p:tgtEl>
                                        <p:attrNameLst>
                                          <p:attrName>style.visibility</p:attrName>
                                        </p:attrNameLst>
                                      </p:cBhvr>
                                      <p:to>
                                        <p:strVal val="visible"/>
                                      </p:to>
                                    </p:set>
                                    <p:animEffect transition="in" filter="slide(fromBottom)">
                                      <p:cBhvr>
                                        <p:cTn id="17" dur="500"/>
                                        <p:tgtEl>
                                          <p:spTgt spid="3573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nodeType="clickEffect">
                                  <p:stCondLst>
                                    <p:cond delay="0"/>
                                  </p:stCondLst>
                                  <p:childTnLst>
                                    <p:set>
                                      <p:cBhvr>
                                        <p:cTn id="21" dur="1" fill="hold">
                                          <p:stCondLst>
                                            <p:cond delay="0"/>
                                          </p:stCondLst>
                                        </p:cTn>
                                        <p:tgtEl>
                                          <p:spTgt spid="357387"/>
                                        </p:tgtEl>
                                        <p:attrNameLst>
                                          <p:attrName>style.visibility</p:attrName>
                                        </p:attrNameLst>
                                      </p:cBhvr>
                                      <p:to>
                                        <p:strVal val="visible"/>
                                      </p:to>
                                    </p:set>
                                    <p:animEffect transition="in" filter="slide(fromLeft)">
                                      <p:cBhvr>
                                        <p:cTn id="22" dur="500"/>
                                        <p:tgtEl>
                                          <p:spTgt spid="357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78" grpId="0" autoUpdateAnimBg="0"/>
      <p:bldP spid="357384" grpId="0" autoUpdateAnimBg="0"/>
      <p:bldP spid="357386"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02" name="Rectangle 2">
            <a:extLst>
              <a:ext uri="{FF2B5EF4-FFF2-40B4-BE49-F238E27FC236}">
                <a16:creationId xmlns:a16="http://schemas.microsoft.com/office/drawing/2014/main" id="{F6916916-6BC1-6A15-1937-031060AE32B8}"/>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3.4 </a:t>
            </a:r>
            <a:r>
              <a:rPr lang="zh-CN" altLang="en-US" b="1">
                <a:solidFill>
                  <a:srgbClr val="CC0000"/>
                </a:solidFill>
              </a:rPr>
              <a:t>总供给曲线的推导</a:t>
            </a:r>
          </a:p>
        </p:txBody>
      </p:sp>
      <p:sp>
        <p:nvSpPr>
          <p:cNvPr id="358403" name="Rectangle 3">
            <a:extLst>
              <a:ext uri="{FF2B5EF4-FFF2-40B4-BE49-F238E27FC236}">
                <a16:creationId xmlns:a16="http://schemas.microsoft.com/office/drawing/2014/main" id="{54D1F98A-EA6B-1D86-8E71-B8ADE5F472C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58404" name="Rectangle 4">
            <a:extLst>
              <a:ext uri="{FF2B5EF4-FFF2-40B4-BE49-F238E27FC236}">
                <a16:creationId xmlns:a16="http://schemas.microsoft.com/office/drawing/2014/main" id="{4056CBF5-4A81-0F44-6DD4-BDF228044D6A}"/>
              </a:ext>
            </a:extLst>
          </p:cNvPr>
          <p:cNvSpPr>
            <a:spLocks noRot="1" noChangeArrowheads="1"/>
          </p:cNvSpPr>
          <p:nvPr/>
        </p:nvSpPr>
        <p:spPr bwMode="auto">
          <a:xfrm>
            <a:off x="838200" y="1600200"/>
            <a:ext cx="7620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800" b="1"/>
              <a:t>把第一步、第二步的结果带入到</a:t>
            </a:r>
            <a:r>
              <a:rPr lang="en-US" altLang="zh-CN" sz="2800" b="1"/>
              <a:t>Phillips</a:t>
            </a:r>
            <a:r>
              <a:rPr lang="zh-CN" altLang="en-US" sz="2800" b="1"/>
              <a:t>曲线</a:t>
            </a:r>
          </a:p>
        </p:txBody>
      </p:sp>
      <p:sp>
        <p:nvSpPr>
          <p:cNvPr id="358411" name="Rectangle 11">
            <a:extLst>
              <a:ext uri="{FF2B5EF4-FFF2-40B4-BE49-F238E27FC236}">
                <a16:creationId xmlns:a16="http://schemas.microsoft.com/office/drawing/2014/main" id="{5D44AB49-E22B-E072-9E9F-07FEBA488337}"/>
              </a:ext>
            </a:extLst>
          </p:cNvPr>
          <p:cNvSpPr>
            <a:spLocks noRot="1" noChangeArrowheads="1"/>
          </p:cNvSpPr>
          <p:nvPr/>
        </p:nvSpPr>
        <p:spPr bwMode="auto">
          <a:xfrm>
            <a:off x="533400" y="4267200"/>
            <a:ext cx="7848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我们梦寐以求的总供给曲线</a:t>
            </a:r>
          </a:p>
        </p:txBody>
      </p:sp>
      <p:grpSp>
        <p:nvGrpSpPr>
          <p:cNvPr id="358431" name="Group 31">
            <a:extLst>
              <a:ext uri="{FF2B5EF4-FFF2-40B4-BE49-F238E27FC236}">
                <a16:creationId xmlns:a16="http://schemas.microsoft.com/office/drawing/2014/main" id="{2CAA8CE7-1BC2-7983-3E5C-5B09533F232B}"/>
              </a:ext>
            </a:extLst>
          </p:cNvPr>
          <p:cNvGrpSpPr>
            <a:grpSpLocks/>
          </p:cNvGrpSpPr>
          <p:nvPr/>
        </p:nvGrpSpPr>
        <p:grpSpPr bwMode="auto">
          <a:xfrm>
            <a:off x="3505200" y="2514600"/>
            <a:ext cx="2667000" cy="1219200"/>
            <a:chOff x="2208" y="1584"/>
            <a:chExt cx="1680" cy="768"/>
          </a:xfrm>
        </p:grpSpPr>
        <p:graphicFrame>
          <p:nvGraphicFramePr>
            <p:cNvPr id="358418" name="Object 18">
              <a:extLst>
                <a:ext uri="{FF2B5EF4-FFF2-40B4-BE49-F238E27FC236}">
                  <a16:creationId xmlns:a16="http://schemas.microsoft.com/office/drawing/2014/main" id="{BB2B4DE1-4151-E5CD-AAC5-F45A0BA0EBA0}"/>
                </a:ext>
              </a:extLst>
            </p:cNvPr>
            <p:cNvGraphicFramePr>
              <a:graphicFrameLocks noChangeAspect="1"/>
            </p:cNvGraphicFramePr>
            <p:nvPr/>
          </p:nvGraphicFramePr>
          <p:xfrm>
            <a:off x="2256" y="1728"/>
            <a:ext cx="1327" cy="345"/>
          </p:xfrm>
          <a:graphic>
            <a:graphicData uri="http://schemas.openxmlformats.org/presentationml/2006/ole">
              <mc:AlternateContent xmlns:mc="http://schemas.openxmlformats.org/markup-compatibility/2006">
                <mc:Choice xmlns:v="urn:schemas-microsoft-com:vml" Requires="v">
                  <p:oleObj name="Equation" r:id="rId2" imgW="1002960" imgH="228600" progId="Equation.DSMT4">
                    <p:embed/>
                  </p:oleObj>
                </mc:Choice>
                <mc:Fallback>
                  <p:oleObj name="Equation" r:id="rId2" imgW="1002960" imgH="228600" progId="Equation.DSMT4">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6" y="1728"/>
                          <a:ext cx="1327"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8425" name="Group 25">
              <a:extLst>
                <a:ext uri="{FF2B5EF4-FFF2-40B4-BE49-F238E27FC236}">
                  <a16:creationId xmlns:a16="http://schemas.microsoft.com/office/drawing/2014/main" id="{B10ADDF8-EA47-5A60-78F0-AA8A0E4872B0}"/>
                </a:ext>
              </a:extLst>
            </p:cNvPr>
            <p:cNvGrpSpPr>
              <a:grpSpLocks/>
            </p:cNvGrpSpPr>
            <p:nvPr/>
          </p:nvGrpSpPr>
          <p:grpSpPr bwMode="auto">
            <a:xfrm>
              <a:off x="2208" y="1584"/>
              <a:ext cx="1680" cy="768"/>
              <a:chOff x="2256" y="1584"/>
              <a:chExt cx="1680" cy="768"/>
            </a:xfrm>
          </p:grpSpPr>
          <p:grpSp>
            <p:nvGrpSpPr>
              <p:cNvPr id="358423" name="Group 23">
                <a:extLst>
                  <a:ext uri="{FF2B5EF4-FFF2-40B4-BE49-F238E27FC236}">
                    <a16:creationId xmlns:a16="http://schemas.microsoft.com/office/drawing/2014/main" id="{0817FFAF-88FE-CFDC-C7A5-BF4819A737FF}"/>
                  </a:ext>
                </a:extLst>
              </p:cNvPr>
              <p:cNvGrpSpPr>
                <a:grpSpLocks/>
              </p:cNvGrpSpPr>
              <p:nvPr/>
            </p:nvGrpSpPr>
            <p:grpSpPr bwMode="auto">
              <a:xfrm>
                <a:off x="2256" y="1584"/>
                <a:ext cx="1680" cy="768"/>
                <a:chOff x="2256" y="1584"/>
                <a:chExt cx="1680" cy="768"/>
              </a:xfrm>
            </p:grpSpPr>
            <p:sp>
              <p:nvSpPr>
                <p:cNvPr id="358419" name="Line 19">
                  <a:extLst>
                    <a:ext uri="{FF2B5EF4-FFF2-40B4-BE49-F238E27FC236}">
                      <a16:creationId xmlns:a16="http://schemas.microsoft.com/office/drawing/2014/main" id="{BFA677EF-97DB-BE2B-5FBD-13F3FB288A79}"/>
                    </a:ext>
                  </a:extLst>
                </p:cNvPr>
                <p:cNvSpPr>
                  <a:spLocks noChangeShapeType="1"/>
                </p:cNvSpPr>
                <p:nvPr/>
              </p:nvSpPr>
              <p:spPr bwMode="auto">
                <a:xfrm>
                  <a:off x="2256" y="1728"/>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8420" name="Line 20">
                  <a:extLst>
                    <a:ext uri="{FF2B5EF4-FFF2-40B4-BE49-F238E27FC236}">
                      <a16:creationId xmlns:a16="http://schemas.microsoft.com/office/drawing/2014/main" id="{F0F2DE51-B81D-5B04-55E1-E24238F6E98B}"/>
                    </a:ext>
                  </a:extLst>
                </p:cNvPr>
                <p:cNvSpPr>
                  <a:spLocks noChangeShapeType="1"/>
                </p:cNvSpPr>
                <p:nvPr/>
              </p:nvSpPr>
              <p:spPr bwMode="auto">
                <a:xfrm>
                  <a:off x="2256" y="2112"/>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8421" name="Line 21">
                  <a:extLst>
                    <a:ext uri="{FF2B5EF4-FFF2-40B4-BE49-F238E27FC236}">
                      <a16:creationId xmlns:a16="http://schemas.microsoft.com/office/drawing/2014/main" id="{0286CD6C-9D1A-EEF8-9B23-32B13B70C7B4}"/>
                    </a:ext>
                  </a:extLst>
                </p:cNvPr>
                <p:cNvSpPr>
                  <a:spLocks noChangeShapeType="1"/>
                </p:cNvSpPr>
                <p:nvPr/>
              </p:nvSpPr>
              <p:spPr bwMode="auto">
                <a:xfrm>
                  <a:off x="3408" y="1584"/>
                  <a:ext cx="528"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8422" name="Line 22">
                  <a:extLst>
                    <a:ext uri="{FF2B5EF4-FFF2-40B4-BE49-F238E27FC236}">
                      <a16:creationId xmlns:a16="http://schemas.microsoft.com/office/drawing/2014/main" id="{E672160F-8094-7BC5-D4D1-B8BFF31474B8}"/>
                    </a:ext>
                  </a:extLst>
                </p:cNvPr>
                <p:cNvSpPr>
                  <a:spLocks noChangeShapeType="1"/>
                </p:cNvSpPr>
                <p:nvPr/>
              </p:nvSpPr>
              <p:spPr bwMode="auto">
                <a:xfrm flipH="1">
                  <a:off x="3312" y="1920"/>
                  <a:ext cx="62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58424" name="Line 24">
                <a:extLst>
                  <a:ext uri="{FF2B5EF4-FFF2-40B4-BE49-F238E27FC236}">
                    <a16:creationId xmlns:a16="http://schemas.microsoft.com/office/drawing/2014/main" id="{1E1798B8-42AB-BF48-BEB3-B7B037A2FBE5}"/>
                  </a:ext>
                </a:extLst>
              </p:cNvPr>
              <p:cNvSpPr>
                <a:spLocks noChangeShapeType="1"/>
              </p:cNvSpPr>
              <p:nvPr/>
            </p:nvSpPr>
            <p:spPr bwMode="auto">
              <a:xfrm>
                <a:off x="2256" y="172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graphicFrame>
        <p:nvGraphicFramePr>
          <p:cNvPr id="358426" name="Object 26">
            <a:extLst>
              <a:ext uri="{FF2B5EF4-FFF2-40B4-BE49-F238E27FC236}">
                <a16:creationId xmlns:a16="http://schemas.microsoft.com/office/drawing/2014/main" id="{F33C7807-8031-04C6-07E5-60CCDC5B0252}"/>
              </a:ext>
            </a:extLst>
          </p:cNvPr>
          <p:cNvGraphicFramePr>
            <a:graphicFrameLocks noChangeAspect="1"/>
          </p:cNvGraphicFramePr>
          <p:nvPr/>
        </p:nvGraphicFramePr>
        <p:xfrm>
          <a:off x="6384925" y="2057400"/>
          <a:ext cx="2212975" cy="942975"/>
        </p:xfrm>
        <a:graphic>
          <a:graphicData uri="http://schemas.openxmlformats.org/presentationml/2006/ole">
            <mc:AlternateContent xmlns:mc="http://schemas.openxmlformats.org/markup-compatibility/2006">
              <mc:Choice xmlns:v="urn:schemas-microsoft-com:vml" Requires="v">
                <p:oleObj name="Equation" r:id="rId4" imgW="1054080" imgH="393480" progId="Equation.DSMT4">
                  <p:embed/>
                </p:oleObj>
              </mc:Choice>
              <mc:Fallback>
                <p:oleObj name="Equation" r:id="rId4" imgW="1054080" imgH="393480" progId="Equation.DSMT4">
                  <p:embed/>
                  <p:pic>
                    <p:nvPicPr>
                      <p:cNvPr id="0" name="Object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4925" y="2057400"/>
                        <a:ext cx="2212975" cy="94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27" name="Object 27">
            <a:extLst>
              <a:ext uri="{FF2B5EF4-FFF2-40B4-BE49-F238E27FC236}">
                <a16:creationId xmlns:a16="http://schemas.microsoft.com/office/drawing/2014/main" id="{D46C2E83-C254-FF67-675F-527FA92F6FCD}"/>
              </a:ext>
            </a:extLst>
          </p:cNvPr>
          <p:cNvGraphicFramePr>
            <a:graphicFrameLocks noChangeAspect="1"/>
          </p:cNvGraphicFramePr>
          <p:nvPr/>
        </p:nvGraphicFramePr>
        <p:xfrm>
          <a:off x="6443663" y="3065463"/>
          <a:ext cx="2000250" cy="1582737"/>
        </p:xfrm>
        <a:graphic>
          <a:graphicData uri="http://schemas.openxmlformats.org/presentationml/2006/ole">
            <mc:AlternateContent xmlns:mc="http://schemas.openxmlformats.org/markup-compatibility/2006">
              <mc:Choice xmlns:v="urn:schemas-microsoft-com:vml" Requires="v">
                <p:oleObj name="Equation" r:id="rId6" imgW="952200" imgH="660240" progId="Equation.DSMT4">
                  <p:embed/>
                </p:oleObj>
              </mc:Choice>
              <mc:Fallback>
                <p:oleObj name="Equation" r:id="rId6" imgW="952200" imgH="660240" progId="Equation.DSMT4">
                  <p:embed/>
                  <p:pic>
                    <p:nvPicPr>
                      <p:cNvPr id="0"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43663" y="3065463"/>
                        <a:ext cx="2000250" cy="1582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28" name="Object 28">
            <a:extLst>
              <a:ext uri="{FF2B5EF4-FFF2-40B4-BE49-F238E27FC236}">
                <a16:creationId xmlns:a16="http://schemas.microsoft.com/office/drawing/2014/main" id="{5E9089FB-FA3D-491D-C78D-CA1EAC9DFEFE}"/>
              </a:ext>
            </a:extLst>
          </p:cNvPr>
          <p:cNvGraphicFramePr>
            <a:graphicFrameLocks noChangeAspect="1"/>
          </p:cNvGraphicFramePr>
          <p:nvPr/>
        </p:nvGraphicFramePr>
        <p:xfrm>
          <a:off x="1466850" y="5213350"/>
          <a:ext cx="3333750" cy="1035050"/>
        </p:xfrm>
        <a:graphic>
          <a:graphicData uri="http://schemas.openxmlformats.org/presentationml/2006/ole">
            <mc:AlternateContent xmlns:mc="http://schemas.openxmlformats.org/markup-compatibility/2006">
              <mc:Choice xmlns:v="urn:schemas-microsoft-com:vml" Requires="v">
                <p:oleObj name="Equation" r:id="rId8" imgW="1587240" imgH="431640" progId="Equation.DSMT4">
                  <p:embed/>
                </p:oleObj>
              </mc:Choice>
              <mc:Fallback>
                <p:oleObj name="Equation" r:id="rId8" imgW="1587240" imgH="431640" progId="Equation.DSMT4">
                  <p:embed/>
                  <p:pic>
                    <p:nvPicPr>
                      <p:cNvPr id="0" name="Object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66850" y="5213350"/>
                        <a:ext cx="3333750"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29" name="Object 29">
            <a:extLst>
              <a:ext uri="{FF2B5EF4-FFF2-40B4-BE49-F238E27FC236}">
                <a16:creationId xmlns:a16="http://schemas.microsoft.com/office/drawing/2014/main" id="{203C316D-1729-0651-A98C-9BB7BEEBE53E}"/>
              </a:ext>
            </a:extLst>
          </p:cNvPr>
          <p:cNvGraphicFramePr>
            <a:graphicFrameLocks noChangeAspect="1"/>
          </p:cNvGraphicFramePr>
          <p:nvPr/>
        </p:nvGraphicFramePr>
        <p:xfrm>
          <a:off x="5276850" y="5411788"/>
          <a:ext cx="3333750" cy="608012"/>
        </p:xfrm>
        <a:graphic>
          <a:graphicData uri="http://schemas.openxmlformats.org/presentationml/2006/ole">
            <mc:AlternateContent xmlns:mc="http://schemas.openxmlformats.org/markup-compatibility/2006">
              <mc:Choice xmlns:v="urn:schemas-microsoft-com:vml" Requires="v">
                <p:oleObj name="Equation" r:id="rId10" imgW="1587240" imgH="253800" progId="Equation.DSMT4">
                  <p:embed/>
                </p:oleObj>
              </mc:Choice>
              <mc:Fallback>
                <p:oleObj name="Equation" r:id="rId10" imgW="1587240" imgH="253800" progId="Equation.DSMT4">
                  <p:embed/>
                  <p:pic>
                    <p:nvPicPr>
                      <p:cNvPr id="0"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76850" y="5411788"/>
                        <a:ext cx="3333750"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58436" name="Group 36">
            <a:extLst>
              <a:ext uri="{FF2B5EF4-FFF2-40B4-BE49-F238E27FC236}">
                <a16:creationId xmlns:a16="http://schemas.microsoft.com/office/drawing/2014/main" id="{5A35A03B-F0D5-D813-C0BE-39EC0341950A}"/>
              </a:ext>
            </a:extLst>
          </p:cNvPr>
          <p:cNvGrpSpPr>
            <a:grpSpLocks/>
          </p:cNvGrpSpPr>
          <p:nvPr/>
        </p:nvGrpSpPr>
        <p:grpSpPr bwMode="auto">
          <a:xfrm>
            <a:off x="685800" y="2335213"/>
            <a:ext cx="2787650" cy="1779587"/>
            <a:chOff x="452" y="1440"/>
            <a:chExt cx="1756" cy="1121"/>
          </a:xfrm>
        </p:grpSpPr>
        <p:graphicFrame>
          <p:nvGraphicFramePr>
            <p:cNvPr id="358437" name="Object 37">
              <a:extLst>
                <a:ext uri="{FF2B5EF4-FFF2-40B4-BE49-F238E27FC236}">
                  <a16:creationId xmlns:a16="http://schemas.microsoft.com/office/drawing/2014/main" id="{B8711C31-48E1-EA30-7AE5-6FE5B7EE47AE}"/>
                </a:ext>
              </a:extLst>
            </p:cNvPr>
            <p:cNvGraphicFramePr>
              <a:graphicFrameLocks noChangeAspect="1"/>
            </p:cNvGraphicFramePr>
            <p:nvPr/>
          </p:nvGraphicFramePr>
          <p:xfrm>
            <a:off x="452" y="1968"/>
            <a:ext cx="1684" cy="593"/>
          </p:xfrm>
          <a:graphic>
            <a:graphicData uri="http://schemas.openxmlformats.org/presentationml/2006/ole">
              <mc:AlternateContent xmlns:mc="http://schemas.openxmlformats.org/markup-compatibility/2006">
                <mc:Choice xmlns:v="urn:schemas-microsoft-com:vml" Requires="v">
                  <p:oleObj name="Equation" r:id="rId12" imgW="1269720" imgH="393480" progId="Equation.DSMT4">
                    <p:embed/>
                  </p:oleObj>
                </mc:Choice>
                <mc:Fallback>
                  <p:oleObj name="Equation" r:id="rId12" imgW="1269720" imgH="393480" progId="Equation.DSMT4">
                    <p:embed/>
                    <p:pic>
                      <p:nvPicPr>
                        <p:cNvPr id="0" name="Object 3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2" y="1968"/>
                          <a:ext cx="1684" cy="5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38" name="AutoShape 38">
              <a:extLst>
                <a:ext uri="{FF2B5EF4-FFF2-40B4-BE49-F238E27FC236}">
                  <a16:creationId xmlns:a16="http://schemas.microsoft.com/office/drawing/2014/main" id="{BA385340-7D9A-9A09-46BF-57B9EDC00380}"/>
                </a:ext>
              </a:extLst>
            </p:cNvPr>
            <p:cNvSpPr>
              <a:spLocks/>
            </p:cNvSpPr>
            <p:nvPr/>
          </p:nvSpPr>
          <p:spPr bwMode="auto">
            <a:xfrm>
              <a:off x="2064" y="1440"/>
              <a:ext cx="144" cy="960"/>
            </a:xfrm>
            <a:prstGeom prst="rightBrace">
              <a:avLst>
                <a:gd name="adj1" fmla="val 5555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58439" name="Object 39">
              <a:extLst>
                <a:ext uri="{FF2B5EF4-FFF2-40B4-BE49-F238E27FC236}">
                  <a16:creationId xmlns:a16="http://schemas.microsoft.com/office/drawing/2014/main" id="{2085C674-05D2-1FFD-FD8D-1D3310E3BF46}"/>
                </a:ext>
              </a:extLst>
            </p:cNvPr>
            <p:cNvGraphicFramePr>
              <a:graphicFrameLocks noChangeAspect="1"/>
            </p:cNvGraphicFramePr>
            <p:nvPr/>
          </p:nvGraphicFramePr>
          <p:xfrm>
            <a:off x="1214" y="1440"/>
            <a:ext cx="706" cy="364"/>
          </p:xfrm>
          <a:graphic>
            <a:graphicData uri="http://schemas.openxmlformats.org/presentationml/2006/ole">
              <mc:AlternateContent xmlns:mc="http://schemas.openxmlformats.org/markup-compatibility/2006">
                <mc:Choice xmlns:v="urn:schemas-microsoft-com:vml" Requires="v">
                  <p:oleObj name="Equation" r:id="rId14" imgW="533160" imgH="241200" progId="Equation.DSMT4">
                    <p:embed/>
                  </p:oleObj>
                </mc:Choice>
                <mc:Fallback>
                  <p:oleObj name="Equation" r:id="rId14" imgW="533160" imgH="241200" progId="Equation.DSMT4">
                    <p:embed/>
                    <p:pic>
                      <p:nvPicPr>
                        <p:cNvPr id="0" name="Object 3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14" y="1440"/>
                          <a:ext cx="706"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58402"/>
                                        </p:tgtEl>
                                        <p:attrNameLst>
                                          <p:attrName>style.visibility</p:attrName>
                                        </p:attrNameLst>
                                      </p:cBhvr>
                                      <p:to>
                                        <p:strVal val="visible"/>
                                      </p:to>
                                    </p:set>
                                    <p:animEffect transition="in" filter="slide(fromTop)">
                                      <p:cBhvr>
                                        <p:cTn id="7" dur="500"/>
                                        <p:tgtEl>
                                          <p:spTgt spid="3584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58404"/>
                                        </p:tgtEl>
                                        <p:attrNameLst>
                                          <p:attrName>style.visibility</p:attrName>
                                        </p:attrNameLst>
                                      </p:cBhvr>
                                      <p:to>
                                        <p:strVal val="visible"/>
                                      </p:to>
                                    </p:set>
                                    <p:animEffect transition="in" filter="slide(fromBottom)">
                                      <p:cBhvr>
                                        <p:cTn id="12" dur="500"/>
                                        <p:tgtEl>
                                          <p:spTgt spid="3584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8436"/>
                                        </p:tgtEl>
                                        <p:attrNameLst>
                                          <p:attrName>style.visibility</p:attrName>
                                        </p:attrNameLst>
                                      </p:cBhvr>
                                      <p:to>
                                        <p:strVal val="visible"/>
                                      </p:to>
                                    </p:set>
                                    <p:animEffect transition="in" filter="box(in)">
                                      <p:cBhvr>
                                        <p:cTn id="17" dur="500"/>
                                        <p:tgtEl>
                                          <p:spTgt spid="3584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nodeType="clickEffect">
                                  <p:stCondLst>
                                    <p:cond delay="0"/>
                                  </p:stCondLst>
                                  <p:childTnLst>
                                    <p:set>
                                      <p:cBhvr>
                                        <p:cTn id="21" dur="1" fill="hold">
                                          <p:stCondLst>
                                            <p:cond delay="0"/>
                                          </p:stCondLst>
                                        </p:cTn>
                                        <p:tgtEl>
                                          <p:spTgt spid="358431"/>
                                        </p:tgtEl>
                                        <p:attrNameLst>
                                          <p:attrName>style.visibility</p:attrName>
                                        </p:attrNameLst>
                                      </p:cBhvr>
                                      <p:to>
                                        <p:strVal val="visible"/>
                                      </p:to>
                                    </p:set>
                                    <p:animEffect transition="in" filter="slide(fromLeft)">
                                      <p:cBhvr>
                                        <p:cTn id="22" dur="500"/>
                                        <p:tgtEl>
                                          <p:spTgt spid="3584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nodeType="clickEffect">
                                  <p:stCondLst>
                                    <p:cond delay="0"/>
                                  </p:stCondLst>
                                  <p:childTnLst>
                                    <p:set>
                                      <p:cBhvr>
                                        <p:cTn id="26" dur="1" fill="hold">
                                          <p:stCondLst>
                                            <p:cond delay="0"/>
                                          </p:stCondLst>
                                        </p:cTn>
                                        <p:tgtEl>
                                          <p:spTgt spid="358426"/>
                                        </p:tgtEl>
                                        <p:attrNameLst>
                                          <p:attrName>style.visibility</p:attrName>
                                        </p:attrNameLst>
                                      </p:cBhvr>
                                      <p:to>
                                        <p:strVal val="visible"/>
                                      </p:to>
                                    </p:set>
                                    <p:animEffect transition="in" filter="slide(fromLeft)">
                                      <p:cBhvr>
                                        <p:cTn id="27" dur="500"/>
                                        <p:tgtEl>
                                          <p:spTgt spid="35842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nodeType="clickEffect">
                                  <p:stCondLst>
                                    <p:cond delay="0"/>
                                  </p:stCondLst>
                                  <p:childTnLst>
                                    <p:set>
                                      <p:cBhvr>
                                        <p:cTn id="31" dur="1" fill="hold">
                                          <p:stCondLst>
                                            <p:cond delay="0"/>
                                          </p:stCondLst>
                                        </p:cTn>
                                        <p:tgtEl>
                                          <p:spTgt spid="358427"/>
                                        </p:tgtEl>
                                        <p:attrNameLst>
                                          <p:attrName>style.visibility</p:attrName>
                                        </p:attrNameLst>
                                      </p:cBhvr>
                                      <p:to>
                                        <p:strVal val="visible"/>
                                      </p:to>
                                    </p:set>
                                    <p:animEffect transition="in" filter="slide(fromLeft)">
                                      <p:cBhvr>
                                        <p:cTn id="32" dur="500"/>
                                        <p:tgtEl>
                                          <p:spTgt spid="3584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358411"/>
                                        </p:tgtEl>
                                        <p:attrNameLst>
                                          <p:attrName>style.visibility</p:attrName>
                                        </p:attrNameLst>
                                      </p:cBhvr>
                                      <p:to>
                                        <p:strVal val="visible"/>
                                      </p:to>
                                    </p:set>
                                    <p:animEffect transition="in" filter="box(in)">
                                      <p:cBhvr>
                                        <p:cTn id="37" dur="500"/>
                                        <p:tgtEl>
                                          <p:spTgt spid="3584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1" fill="hold" nodeType="clickEffect">
                                  <p:stCondLst>
                                    <p:cond delay="0"/>
                                  </p:stCondLst>
                                  <p:childTnLst>
                                    <p:set>
                                      <p:cBhvr>
                                        <p:cTn id="41" dur="1" fill="hold">
                                          <p:stCondLst>
                                            <p:cond delay="0"/>
                                          </p:stCondLst>
                                        </p:cTn>
                                        <p:tgtEl>
                                          <p:spTgt spid="358428"/>
                                        </p:tgtEl>
                                        <p:attrNameLst>
                                          <p:attrName>style.visibility</p:attrName>
                                        </p:attrNameLst>
                                      </p:cBhvr>
                                      <p:to>
                                        <p:strVal val="visible"/>
                                      </p:to>
                                    </p:set>
                                    <p:animEffect transition="in" filter="slide(fromTop)">
                                      <p:cBhvr>
                                        <p:cTn id="42" dur="500"/>
                                        <p:tgtEl>
                                          <p:spTgt spid="35842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8" fill="hold" nodeType="clickEffect">
                                  <p:stCondLst>
                                    <p:cond delay="0"/>
                                  </p:stCondLst>
                                  <p:childTnLst>
                                    <p:set>
                                      <p:cBhvr>
                                        <p:cTn id="46" dur="1" fill="hold">
                                          <p:stCondLst>
                                            <p:cond delay="0"/>
                                          </p:stCondLst>
                                        </p:cTn>
                                        <p:tgtEl>
                                          <p:spTgt spid="358429"/>
                                        </p:tgtEl>
                                        <p:attrNameLst>
                                          <p:attrName>style.visibility</p:attrName>
                                        </p:attrNameLst>
                                      </p:cBhvr>
                                      <p:to>
                                        <p:strVal val="visible"/>
                                      </p:to>
                                    </p:set>
                                    <p:animEffect transition="in" filter="slide(fromLeft)">
                                      <p:cBhvr>
                                        <p:cTn id="47" dur="500"/>
                                        <p:tgtEl>
                                          <p:spTgt spid="358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2" grpId="0" autoUpdateAnimBg="0"/>
      <p:bldP spid="358404" grpId="0" autoUpdateAnimBg="0"/>
      <p:bldP spid="358411"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9447" name="Oval 23">
            <a:extLst>
              <a:ext uri="{FF2B5EF4-FFF2-40B4-BE49-F238E27FC236}">
                <a16:creationId xmlns:a16="http://schemas.microsoft.com/office/drawing/2014/main" id="{253992A4-6961-6494-E26B-1C0EFAB6DEC3}"/>
              </a:ext>
            </a:extLst>
          </p:cNvPr>
          <p:cNvSpPr>
            <a:spLocks noChangeArrowheads="1"/>
          </p:cNvSpPr>
          <p:nvPr/>
        </p:nvSpPr>
        <p:spPr bwMode="auto">
          <a:xfrm>
            <a:off x="2514600" y="2057400"/>
            <a:ext cx="457200" cy="533400"/>
          </a:xfrm>
          <a:prstGeom prst="ellipse">
            <a:avLst/>
          </a:prstGeom>
          <a:solidFill>
            <a:schemeClr val="tx2"/>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9426" name="Rectangle 2">
            <a:extLst>
              <a:ext uri="{FF2B5EF4-FFF2-40B4-BE49-F238E27FC236}">
                <a16:creationId xmlns:a16="http://schemas.microsoft.com/office/drawing/2014/main" id="{D8955001-2F25-0827-024C-68358208F2FC}"/>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3.5 </a:t>
            </a:r>
            <a:r>
              <a:rPr lang="zh-CN" altLang="en-US" b="1">
                <a:solidFill>
                  <a:srgbClr val="CC0000"/>
                </a:solidFill>
              </a:rPr>
              <a:t>总供给曲线的性质</a:t>
            </a:r>
          </a:p>
        </p:txBody>
      </p:sp>
      <p:sp>
        <p:nvSpPr>
          <p:cNvPr id="359427" name="Rectangle 3">
            <a:extLst>
              <a:ext uri="{FF2B5EF4-FFF2-40B4-BE49-F238E27FC236}">
                <a16:creationId xmlns:a16="http://schemas.microsoft.com/office/drawing/2014/main" id="{553E8938-B652-7DA2-E8CF-5213F7E065A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59429" name="Rectangle 5">
            <a:extLst>
              <a:ext uri="{FF2B5EF4-FFF2-40B4-BE49-F238E27FC236}">
                <a16:creationId xmlns:a16="http://schemas.microsoft.com/office/drawing/2014/main" id="{030E8F51-FE34-46FB-0C06-CC38C0E52935}"/>
              </a:ext>
            </a:extLst>
          </p:cNvPr>
          <p:cNvSpPr>
            <a:spLocks noRot="1" noChangeArrowheads="1"/>
          </p:cNvSpPr>
          <p:nvPr/>
        </p:nvSpPr>
        <p:spPr bwMode="auto">
          <a:xfrm>
            <a:off x="228600" y="1371600"/>
            <a:ext cx="8610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总供给曲线本质是描述了经济体的价格调整机制</a:t>
            </a:r>
          </a:p>
        </p:txBody>
      </p:sp>
      <p:graphicFrame>
        <p:nvGraphicFramePr>
          <p:cNvPr id="359446" name="Object 22">
            <a:extLst>
              <a:ext uri="{FF2B5EF4-FFF2-40B4-BE49-F238E27FC236}">
                <a16:creationId xmlns:a16="http://schemas.microsoft.com/office/drawing/2014/main" id="{BF78F196-41E9-B94A-1028-EFB9265188FA}"/>
              </a:ext>
            </a:extLst>
          </p:cNvPr>
          <p:cNvGraphicFramePr>
            <a:graphicFrameLocks noChangeAspect="1"/>
          </p:cNvGraphicFramePr>
          <p:nvPr/>
        </p:nvGraphicFramePr>
        <p:xfrm>
          <a:off x="1992313" y="2057400"/>
          <a:ext cx="2960687" cy="608013"/>
        </p:xfrm>
        <a:graphic>
          <a:graphicData uri="http://schemas.openxmlformats.org/presentationml/2006/ole">
            <mc:AlternateContent xmlns:mc="http://schemas.openxmlformats.org/markup-compatibility/2006">
              <mc:Choice xmlns:v="urn:schemas-microsoft-com:vml" Requires="v">
                <p:oleObj name="Equation" r:id="rId2" imgW="1409400" imgH="253800" progId="Equation.DSMT4">
                  <p:embed/>
                </p:oleObj>
              </mc:Choice>
              <mc:Fallback>
                <p:oleObj name="Equation" r:id="rId2" imgW="1409400" imgH="253800" progId="Equation.DSMT4">
                  <p:embed/>
                  <p:pic>
                    <p:nvPicPr>
                      <p:cNvPr id="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313" y="2057400"/>
                        <a:ext cx="2960687"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9448" name="Rectangle 24">
            <a:extLst>
              <a:ext uri="{FF2B5EF4-FFF2-40B4-BE49-F238E27FC236}">
                <a16:creationId xmlns:a16="http://schemas.microsoft.com/office/drawing/2014/main" id="{3915E630-86A4-287F-D219-3779E24D5EA1}"/>
              </a:ext>
            </a:extLst>
          </p:cNvPr>
          <p:cNvSpPr>
            <a:spLocks noRot="1" noChangeArrowheads="1"/>
          </p:cNvSpPr>
          <p:nvPr/>
        </p:nvSpPr>
        <p:spPr bwMode="auto">
          <a:xfrm>
            <a:off x="152400" y="2971800"/>
            <a:ext cx="51816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在时期</a:t>
            </a:r>
            <a:r>
              <a:rPr lang="en-US" altLang="zh-CN" sz="2800" b="1"/>
              <a:t>t</a:t>
            </a:r>
            <a:r>
              <a:rPr lang="zh-CN" altLang="en-US" sz="2800" b="1"/>
              <a:t>，</a:t>
            </a:r>
            <a:r>
              <a:rPr lang="en-US" altLang="zh-CN" sz="2800" b="1"/>
              <a:t>P</a:t>
            </a:r>
            <a:r>
              <a:rPr lang="en-US" altLang="zh-CN" sz="2800" b="1" baseline="-25000"/>
              <a:t>t-1</a:t>
            </a:r>
            <a:r>
              <a:rPr lang="zh-CN" altLang="en-US" sz="2800" b="1"/>
              <a:t>可视为常数，如果产出水平低于潜在产出水平，</a:t>
            </a:r>
            <a:r>
              <a:rPr lang="en-US" altLang="zh-CN" sz="2800" b="1"/>
              <a:t>p</a:t>
            </a:r>
            <a:r>
              <a:rPr lang="en-US" altLang="zh-CN" sz="2800" b="1" baseline="-25000"/>
              <a:t>t</a:t>
            </a:r>
            <a:r>
              <a:rPr lang="zh-CN" altLang="en-US" sz="2800" b="1"/>
              <a:t>则会下降，到了下一期， 总供给曲线就会向下平移；反之则会向上平移。</a:t>
            </a:r>
          </a:p>
        </p:txBody>
      </p:sp>
      <p:grpSp>
        <p:nvGrpSpPr>
          <p:cNvPr id="359449" name="Group 25">
            <a:extLst>
              <a:ext uri="{FF2B5EF4-FFF2-40B4-BE49-F238E27FC236}">
                <a16:creationId xmlns:a16="http://schemas.microsoft.com/office/drawing/2014/main" id="{4F601A98-7AF5-9812-C813-7461262CA529}"/>
              </a:ext>
            </a:extLst>
          </p:cNvPr>
          <p:cNvGrpSpPr>
            <a:grpSpLocks/>
          </p:cNvGrpSpPr>
          <p:nvPr/>
        </p:nvGrpSpPr>
        <p:grpSpPr bwMode="auto">
          <a:xfrm>
            <a:off x="5562600" y="3644900"/>
            <a:ext cx="3352800" cy="2984500"/>
            <a:chOff x="1440" y="1920"/>
            <a:chExt cx="2928" cy="2024"/>
          </a:xfrm>
        </p:grpSpPr>
        <p:sp>
          <p:nvSpPr>
            <p:cNvPr id="359450" name="Line 26">
              <a:extLst>
                <a:ext uri="{FF2B5EF4-FFF2-40B4-BE49-F238E27FC236}">
                  <a16:creationId xmlns:a16="http://schemas.microsoft.com/office/drawing/2014/main" id="{6B1E3A1B-C73E-8DC3-5DFC-678442C62A7D}"/>
                </a:ext>
              </a:extLst>
            </p:cNvPr>
            <p:cNvSpPr>
              <a:spLocks noChangeShapeType="1"/>
            </p:cNvSpPr>
            <p:nvPr/>
          </p:nvSpPr>
          <p:spPr bwMode="auto">
            <a:xfrm>
              <a:off x="1776" y="1920"/>
              <a:ext cx="0" cy="168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451" name="Line 27">
              <a:extLst>
                <a:ext uri="{FF2B5EF4-FFF2-40B4-BE49-F238E27FC236}">
                  <a16:creationId xmlns:a16="http://schemas.microsoft.com/office/drawing/2014/main" id="{CA9C32F4-9A20-2881-8CCB-E26FA0823041}"/>
                </a:ext>
              </a:extLst>
            </p:cNvPr>
            <p:cNvSpPr>
              <a:spLocks noChangeShapeType="1"/>
            </p:cNvSpPr>
            <p:nvPr/>
          </p:nvSpPr>
          <p:spPr bwMode="auto">
            <a:xfrm>
              <a:off x="1776" y="3600"/>
              <a:ext cx="220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452" name="Text Box 28">
              <a:extLst>
                <a:ext uri="{FF2B5EF4-FFF2-40B4-BE49-F238E27FC236}">
                  <a16:creationId xmlns:a16="http://schemas.microsoft.com/office/drawing/2014/main" id="{6E72433A-1F37-8469-20F2-BB46AA9046FD}"/>
                </a:ext>
              </a:extLst>
            </p:cNvPr>
            <p:cNvSpPr txBox="1">
              <a:spLocks noChangeArrowheads="1"/>
            </p:cNvSpPr>
            <p:nvPr/>
          </p:nvSpPr>
          <p:spPr bwMode="auto">
            <a:xfrm>
              <a:off x="1440" y="2016"/>
              <a:ext cx="250" cy="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价格水平</a:t>
              </a:r>
            </a:p>
            <a:p>
              <a:pPr algn="l">
                <a:spcBef>
                  <a:spcPct val="50000"/>
                </a:spcBef>
              </a:pPr>
              <a:r>
                <a:rPr lang="en-US" altLang="zh-CN" b="1"/>
                <a:t>P</a:t>
              </a:r>
            </a:p>
          </p:txBody>
        </p:sp>
        <p:sp>
          <p:nvSpPr>
            <p:cNvPr id="359453" name="Text Box 29">
              <a:extLst>
                <a:ext uri="{FF2B5EF4-FFF2-40B4-BE49-F238E27FC236}">
                  <a16:creationId xmlns:a16="http://schemas.microsoft.com/office/drawing/2014/main" id="{DEDF36C2-E6DC-806A-E9C0-07581E080B26}"/>
                </a:ext>
              </a:extLst>
            </p:cNvPr>
            <p:cNvSpPr txBox="1">
              <a:spLocks noChangeArrowheads="1"/>
            </p:cNvSpPr>
            <p:nvPr/>
          </p:nvSpPr>
          <p:spPr bwMode="auto">
            <a:xfrm>
              <a:off x="3600" y="3696"/>
              <a:ext cx="768"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产量 </a:t>
              </a:r>
              <a:r>
                <a:rPr lang="en-US" altLang="zh-CN" b="1"/>
                <a:t>Y</a:t>
              </a:r>
            </a:p>
          </p:txBody>
        </p:sp>
      </p:grpSp>
      <p:grpSp>
        <p:nvGrpSpPr>
          <p:cNvPr id="359454" name="Group 30">
            <a:extLst>
              <a:ext uri="{FF2B5EF4-FFF2-40B4-BE49-F238E27FC236}">
                <a16:creationId xmlns:a16="http://schemas.microsoft.com/office/drawing/2014/main" id="{ECB5C67D-28D7-BB55-7C7F-CCF4E1136E50}"/>
              </a:ext>
            </a:extLst>
          </p:cNvPr>
          <p:cNvGrpSpPr>
            <a:grpSpLocks/>
          </p:cNvGrpSpPr>
          <p:nvPr/>
        </p:nvGrpSpPr>
        <p:grpSpPr bwMode="auto">
          <a:xfrm rot="-1644279">
            <a:off x="6246813" y="4662488"/>
            <a:ext cx="2439987" cy="366712"/>
            <a:chOff x="2351" y="2352"/>
            <a:chExt cx="1537" cy="231"/>
          </a:xfrm>
        </p:grpSpPr>
        <p:sp>
          <p:nvSpPr>
            <p:cNvPr id="359455" name="Line 31">
              <a:extLst>
                <a:ext uri="{FF2B5EF4-FFF2-40B4-BE49-F238E27FC236}">
                  <a16:creationId xmlns:a16="http://schemas.microsoft.com/office/drawing/2014/main" id="{8C0CD07F-B9C7-D8F5-81DC-14581BBC406A}"/>
                </a:ext>
              </a:extLst>
            </p:cNvPr>
            <p:cNvSpPr>
              <a:spLocks noChangeShapeType="1"/>
            </p:cNvSpPr>
            <p:nvPr/>
          </p:nvSpPr>
          <p:spPr bwMode="auto">
            <a:xfrm rot="5400000">
              <a:off x="2927" y="1895"/>
              <a:ext cx="0" cy="1152"/>
            </a:xfrm>
            <a:prstGeom prst="line">
              <a:avLst/>
            </a:prstGeom>
            <a:noFill/>
            <a:ln w="38100">
              <a:solidFill>
                <a:srgbClr val="24C03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9456" name="Text Box 32">
              <a:extLst>
                <a:ext uri="{FF2B5EF4-FFF2-40B4-BE49-F238E27FC236}">
                  <a16:creationId xmlns:a16="http://schemas.microsoft.com/office/drawing/2014/main" id="{A0AC5EFF-AC40-4D64-C04B-E786341B3184}"/>
                </a:ext>
              </a:extLst>
            </p:cNvPr>
            <p:cNvSpPr txBox="1">
              <a:spLocks noChangeArrowheads="1"/>
            </p:cNvSpPr>
            <p:nvPr/>
          </p:nvSpPr>
          <p:spPr bwMode="auto">
            <a:xfrm>
              <a:off x="3504" y="235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24C03A"/>
                  </a:solidFill>
                </a:rPr>
                <a:t>AS</a:t>
              </a:r>
            </a:p>
          </p:txBody>
        </p:sp>
      </p:grpSp>
      <p:grpSp>
        <p:nvGrpSpPr>
          <p:cNvPr id="359459" name="Group 35">
            <a:extLst>
              <a:ext uri="{FF2B5EF4-FFF2-40B4-BE49-F238E27FC236}">
                <a16:creationId xmlns:a16="http://schemas.microsoft.com/office/drawing/2014/main" id="{432EAE8D-3818-1AAC-E3AB-22BEC9549741}"/>
              </a:ext>
            </a:extLst>
          </p:cNvPr>
          <p:cNvGrpSpPr>
            <a:grpSpLocks/>
          </p:cNvGrpSpPr>
          <p:nvPr/>
        </p:nvGrpSpPr>
        <p:grpSpPr bwMode="auto">
          <a:xfrm>
            <a:off x="7118350" y="3733800"/>
            <a:ext cx="425450" cy="2743200"/>
            <a:chOff x="4484" y="2112"/>
            <a:chExt cx="268" cy="1728"/>
          </a:xfrm>
        </p:grpSpPr>
        <p:sp>
          <p:nvSpPr>
            <p:cNvPr id="359457" name="Line 33">
              <a:extLst>
                <a:ext uri="{FF2B5EF4-FFF2-40B4-BE49-F238E27FC236}">
                  <a16:creationId xmlns:a16="http://schemas.microsoft.com/office/drawing/2014/main" id="{335873B3-7744-4000-C338-B685DC4582FA}"/>
                </a:ext>
              </a:extLst>
            </p:cNvPr>
            <p:cNvSpPr>
              <a:spLocks noChangeShapeType="1"/>
            </p:cNvSpPr>
            <p:nvPr/>
          </p:nvSpPr>
          <p:spPr bwMode="auto">
            <a:xfrm>
              <a:off x="4608" y="2112"/>
              <a:ext cx="0" cy="1488"/>
            </a:xfrm>
            <a:prstGeom prst="line">
              <a:avLst/>
            </a:prstGeom>
            <a:noFill/>
            <a:ln w="381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458" name="Text Box 34">
              <a:extLst>
                <a:ext uri="{FF2B5EF4-FFF2-40B4-BE49-F238E27FC236}">
                  <a16:creationId xmlns:a16="http://schemas.microsoft.com/office/drawing/2014/main" id="{462D979D-8D24-E0D5-3255-D2841401469D}"/>
                </a:ext>
              </a:extLst>
            </p:cNvPr>
            <p:cNvSpPr txBox="1">
              <a:spLocks noChangeArrowheads="1"/>
            </p:cNvSpPr>
            <p:nvPr/>
          </p:nvSpPr>
          <p:spPr bwMode="auto">
            <a:xfrm>
              <a:off x="4484" y="3609"/>
              <a:ext cx="2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Y*</a:t>
              </a:r>
            </a:p>
          </p:txBody>
        </p:sp>
      </p:grpSp>
      <p:grpSp>
        <p:nvGrpSpPr>
          <p:cNvPr id="359460" name="Group 36">
            <a:extLst>
              <a:ext uri="{FF2B5EF4-FFF2-40B4-BE49-F238E27FC236}">
                <a16:creationId xmlns:a16="http://schemas.microsoft.com/office/drawing/2014/main" id="{9E644A57-CB14-EAF6-437A-B49164347805}"/>
              </a:ext>
            </a:extLst>
          </p:cNvPr>
          <p:cNvGrpSpPr>
            <a:grpSpLocks/>
          </p:cNvGrpSpPr>
          <p:nvPr/>
        </p:nvGrpSpPr>
        <p:grpSpPr bwMode="auto">
          <a:xfrm rot="-1147219">
            <a:off x="6324600" y="5119688"/>
            <a:ext cx="2441575" cy="366712"/>
            <a:chOff x="2350" y="2352"/>
            <a:chExt cx="1538" cy="231"/>
          </a:xfrm>
        </p:grpSpPr>
        <p:sp>
          <p:nvSpPr>
            <p:cNvPr id="359461" name="Line 37">
              <a:extLst>
                <a:ext uri="{FF2B5EF4-FFF2-40B4-BE49-F238E27FC236}">
                  <a16:creationId xmlns:a16="http://schemas.microsoft.com/office/drawing/2014/main" id="{C78088B5-274D-F67F-5FC9-4EB03384AFAB}"/>
                </a:ext>
              </a:extLst>
            </p:cNvPr>
            <p:cNvSpPr>
              <a:spLocks noChangeShapeType="1"/>
            </p:cNvSpPr>
            <p:nvPr/>
          </p:nvSpPr>
          <p:spPr bwMode="auto">
            <a:xfrm rot="5400000">
              <a:off x="2926" y="1896"/>
              <a:ext cx="0" cy="1152"/>
            </a:xfrm>
            <a:prstGeom prst="line">
              <a:avLst/>
            </a:prstGeom>
            <a:noFill/>
            <a:ln w="38100">
              <a:solidFill>
                <a:srgbClr val="24C03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endParaRPr lang="zh-CN" altLang="en-US"/>
            </a:p>
          </p:txBody>
        </p:sp>
        <p:sp>
          <p:nvSpPr>
            <p:cNvPr id="359462" name="Text Box 38">
              <a:extLst>
                <a:ext uri="{FF2B5EF4-FFF2-40B4-BE49-F238E27FC236}">
                  <a16:creationId xmlns:a16="http://schemas.microsoft.com/office/drawing/2014/main" id="{EFE53CC1-BBE4-6D06-7533-3327355AAB8B}"/>
                </a:ext>
              </a:extLst>
            </p:cNvPr>
            <p:cNvSpPr txBox="1">
              <a:spLocks noChangeArrowheads="1"/>
            </p:cNvSpPr>
            <p:nvPr/>
          </p:nvSpPr>
          <p:spPr bwMode="auto">
            <a:xfrm>
              <a:off x="3504" y="235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algn="l">
                <a:spcBef>
                  <a:spcPct val="50000"/>
                </a:spcBef>
              </a:pPr>
              <a:r>
                <a:rPr lang="en-US" altLang="zh-CN" b="1">
                  <a:solidFill>
                    <a:srgbClr val="24C03A"/>
                  </a:solidFill>
                </a:rPr>
                <a:t>AS1</a:t>
              </a:r>
            </a:p>
          </p:txBody>
        </p:sp>
      </p:grpSp>
      <p:grpSp>
        <p:nvGrpSpPr>
          <p:cNvPr id="359463" name="Group 39">
            <a:extLst>
              <a:ext uri="{FF2B5EF4-FFF2-40B4-BE49-F238E27FC236}">
                <a16:creationId xmlns:a16="http://schemas.microsoft.com/office/drawing/2014/main" id="{DAD47B77-DDDD-E846-677A-66B5B4C5A9E6}"/>
              </a:ext>
            </a:extLst>
          </p:cNvPr>
          <p:cNvGrpSpPr>
            <a:grpSpLocks/>
          </p:cNvGrpSpPr>
          <p:nvPr/>
        </p:nvGrpSpPr>
        <p:grpSpPr bwMode="auto">
          <a:xfrm rot="-2263826">
            <a:off x="6096000" y="4191000"/>
            <a:ext cx="2441575" cy="366713"/>
            <a:chOff x="2350" y="2352"/>
            <a:chExt cx="1538" cy="231"/>
          </a:xfrm>
        </p:grpSpPr>
        <p:sp>
          <p:nvSpPr>
            <p:cNvPr id="359464" name="Line 40">
              <a:extLst>
                <a:ext uri="{FF2B5EF4-FFF2-40B4-BE49-F238E27FC236}">
                  <a16:creationId xmlns:a16="http://schemas.microsoft.com/office/drawing/2014/main" id="{CD46B1A8-20D7-2D3E-1485-750AFE627DEB}"/>
                </a:ext>
              </a:extLst>
            </p:cNvPr>
            <p:cNvSpPr>
              <a:spLocks noChangeShapeType="1"/>
            </p:cNvSpPr>
            <p:nvPr/>
          </p:nvSpPr>
          <p:spPr bwMode="auto">
            <a:xfrm rot="5400000">
              <a:off x="2926" y="1896"/>
              <a:ext cx="0" cy="1152"/>
            </a:xfrm>
            <a:prstGeom prst="line">
              <a:avLst/>
            </a:prstGeom>
            <a:noFill/>
            <a:ln w="38100">
              <a:solidFill>
                <a:srgbClr val="24C03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endParaRPr lang="zh-CN" altLang="en-US"/>
            </a:p>
          </p:txBody>
        </p:sp>
        <p:sp>
          <p:nvSpPr>
            <p:cNvPr id="359465" name="Text Box 41">
              <a:extLst>
                <a:ext uri="{FF2B5EF4-FFF2-40B4-BE49-F238E27FC236}">
                  <a16:creationId xmlns:a16="http://schemas.microsoft.com/office/drawing/2014/main" id="{83FA24B2-52F7-F34F-4005-C4E20AA7E736}"/>
                </a:ext>
              </a:extLst>
            </p:cNvPr>
            <p:cNvSpPr txBox="1">
              <a:spLocks noChangeArrowheads="1"/>
            </p:cNvSpPr>
            <p:nvPr/>
          </p:nvSpPr>
          <p:spPr bwMode="auto">
            <a:xfrm>
              <a:off x="3504" y="235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algn="l">
                <a:spcBef>
                  <a:spcPct val="50000"/>
                </a:spcBef>
              </a:pPr>
              <a:r>
                <a:rPr lang="en-US" altLang="zh-CN" b="1">
                  <a:solidFill>
                    <a:srgbClr val="24C03A"/>
                  </a:solidFill>
                </a:rPr>
                <a:t>AS2</a:t>
              </a:r>
            </a:p>
          </p:txBody>
        </p:sp>
      </p:grpSp>
      <p:graphicFrame>
        <p:nvGraphicFramePr>
          <p:cNvPr id="359466" name="Object 42">
            <a:extLst>
              <a:ext uri="{FF2B5EF4-FFF2-40B4-BE49-F238E27FC236}">
                <a16:creationId xmlns:a16="http://schemas.microsoft.com/office/drawing/2014/main" id="{3B8BE55A-9F6B-C2A9-89E6-44D7CA1AE974}"/>
              </a:ext>
            </a:extLst>
          </p:cNvPr>
          <p:cNvGraphicFramePr>
            <a:graphicFrameLocks noChangeAspect="1"/>
          </p:cNvGraphicFramePr>
          <p:nvPr/>
        </p:nvGraphicFramePr>
        <p:xfrm>
          <a:off x="5302250" y="2060575"/>
          <a:ext cx="3308350" cy="1520825"/>
        </p:xfrm>
        <a:graphic>
          <a:graphicData uri="http://schemas.openxmlformats.org/presentationml/2006/ole">
            <mc:AlternateContent xmlns:mc="http://schemas.openxmlformats.org/markup-compatibility/2006">
              <mc:Choice xmlns:v="urn:schemas-microsoft-com:vml" Requires="v">
                <p:oleObj name="Equation" r:id="rId4" imgW="1574640" imgH="634680" progId="Equation.DSMT4">
                  <p:embed/>
                </p:oleObj>
              </mc:Choice>
              <mc:Fallback>
                <p:oleObj name="Equation" r:id="rId4" imgW="1574640" imgH="634680" progId="Equation.DSMT4">
                  <p:embed/>
                  <p:pic>
                    <p:nvPicPr>
                      <p:cNvPr id="0" name="Object 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02250" y="2060575"/>
                        <a:ext cx="3308350" cy="152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9467" name="Rectangle 43">
            <a:extLst>
              <a:ext uri="{FF2B5EF4-FFF2-40B4-BE49-F238E27FC236}">
                <a16:creationId xmlns:a16="http://schemas.microsoft.com/office/drawing/2014/main" id="{09E8A81F-7079-634E-D79C-78D0D8DDC830}"/>
              </a:ext>
            </a:extLst>
          </p:cNvPr>
          <p:cNvSpPr>
            <a:spLocks noRot="1" noChangeArrowheads="1"/>
          </p:cNvSpPr>
          <p:nvPr/>
        </p:nvSpPr>
        <p:spPr bwMode="auto">
          <a:xfrm>
            <a:off x="228600" y="6096000"/>
            <a:ext cx="5181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一个特例，即图</a:t>
            </a:r>
            <a:r>
              <a:rPr lang="en-US" altLang="zh-CN" sz="2800" b="1"/>
              <a:t>6-1.</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59426"/>
                                        </p:tgtEl>
                                        <p:attrNameLst>
                                          <p:attrName>style.visibility</p:attrName>
                                        </p:attrNameLst>
                                      </p:cBhvr>
                                      <p:to>
                                        <p:strVal val="visible"/>
                                      </p:to>
                                    </p:set>
                                    <p:animEffect transition="in" filter="slide(fromTop)">
                                      <p:cBhvr>
                                        <p:cTn id="7" dur="500"/>
                                        <p:tgtEl>
                                          <p:spTgt spid="3594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9429"/>
                                        </p:tgtEl>
                                        <p:attrNameLst>
                                          <p:attrName>style.visibility</p:attrName>
                                        </p:attrNameLst>
                                      </p:cBhvr>
                                      <p:to>
                                        <p:strVal val="visible"/>
                                      </p:to>
                                    </p:set>
                                    <p:animEffect transition="in" filter="box(in)">
                                      <p:cBhvr>
                                        <p:cTn id="12" dur="500"/>
                                        <p:tgtEl>
                                          <p:spTgt spid="3594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nodeType="clickEffect">
                                  <p:stCondLst>
                                    <p:cond delay="0"/>
                                  </p:stCondLst>
                                  <p:childTnLst>
                                    <p:set>
                                      <p:cBhvr>
                                        <p:cTn id="16" dur="1" fill="hold">
                                          <p:stCondLst>
                                            <p:cond delay="0"/>
                                          </p:stCondLst>
                                        </p:cTn>
                                        <p:tgtEl>
                                          <p:spTgt spid="359446"/>
                                        </p:tgtEl>
                                        <p:attrNameLst>
                                          <p:attrName>style.visibility</p:attrName>
                                        </p:attrNameLst>
                                      </p:cBhvr>
                                      <p:to>
                                        <p:strVal val="visible"/>
                                      </p:to>
                                    </p:set>
                                    <p:animEffect transition="in" filter="slide(fromLeft)">
                                      <p:cBhvr>
                                        <p:cTn id="17" dur="500"/>
                                        <p:tgtEl>
                                          <p:spTgt spid="35944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nodeType="clickEffect">
                                  <p:stCondLst>
                                    <p:cond delay="0"/>
                                  </p:stCondLst>
                                  <p:childTnLst>
                                    <p:set>
                                      <p:cBhvr>
                                        <p:cTn id="21" dur="1" fill="hold">
                                          <p:stCondLst>
                                            <p:cond delay="0"/>
                                          </p:stCondLst>
                                        </p:cTn>
                                        <p:tgtEl>
                                          <p:spTgt spid="359466"/>
                                        </p:tgtEl>
                                        <p:attrNameLst>
                                          <p:attrName>style.visibility</p:attrName>
                                        </p:attrNameLst>
                                      </p:cBhvr>
                                      <p:to>
                                        <p:strVal val="visible"/>
                                      </p:to>
                                    </p:set>
                                    <p:animEffect transition="in" filter="slide(fromLeft)">
                                      <p:cBhvr>
                                        <p:cTn id="22" dur="500"/>
                                        <p:tgtEl>
                                          <p:spTgt spid="3594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59448"/>
                                        </p:tgtEl>
                                        <p:attrNameLst>
                                          <p:attrName>style.visibility</p:attrName>
                                        </p:attrNameLst>
                                      </p:cBhvr>
                                      <p:to>
                                        <p:strVal val="visible"/>
                                      </p:to>
                                    </p:set>
                                    <p:animEffect transition="in" filter="box(in)">
                                      <p:cBhvr>
                                        <p:cTn id="27" dur="500"/>
                                        <p:tgtEl>
                                          <p:spTgt spid="35944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59467"/>
                                        </p:tgtEl>
                                        <p:attrNameLst>
                                          <p:attrName>style.visibility</p:attrName>
                                        </p:attrNameLst>
                                      </p:cBhvr>
                                      <p:to>
                                        <p:strVal val="visible"/>
                                      </p:to>
                                    </p:set>
                                    <p:animEffect transition="in" filter="box(in)">
                                      <p:cBhvr>
                                        <p:cTn id="32" dur="500"/>
                                        <p:tgtEl>
                                          <p:spTgt spid="35946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359447"/>
                                        </p:tgtEl>
                                        <p:attrNameLst>
                                          <p:attrName>style.visibility</p:attrName>
                                        </p:attrNameLst>
                                      </p:cBhvr>
                                      <p:to>
                                        <p:strVal val="visible"/>
                                      </p:to>
                                    </p:set>
                                    <p:animEffect transition="in" filter="box(in)">
                                      <p:cBhvr>
                                        <p:cTn id="37" dur="500"/>
                                        <p:tgtEl>
                                          <p:spTgt spid="35944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359449"/>
                                        </p:tgtEl>
                                        <p:attrNameLst>
                                          <p:attrName>style.visibility</p:attrName>
                                        </p:attrNameLst>
                                      </p:cBhvr>
                                      <p:to>
                                        <p:strVal val="visible"/>
                                      </p:to>
                                    </p:set>
                                    <p:animEffect transition="in" filter="box(in)">
                                      <p:cBhvr>
                                        <p:cTn id="42" dur="500"/>
                                        <p:tgtEl>
                                          <p:spTgt spid="35944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nodeType="clickEffect">
                                  <p:stCondLst>
                                    <p:cond delay="0"/>
                                  </p:stCondLst>
                                  <p:childTnLst>
                                    <p:set>
                                      <p:cBhvr>
                                        <p:cTn id="46" dur="1" fill="hold">
                                          <p:stCondLst>
                                            <p:cond delay="0"/>
                                          </p:stCondLst>
                                        </p:cTn>
                                        <p:tgtEl>
                                          <p:spTgt spid="359459"/>
                                        </p:tgtEl>
                                        <p:attrNameLst>
                                          <p:attrName>style.visibility</p:attrName>
                                        </p:attrNameLst>
                                      </p:cBhvr>
                                      <p:to>
                                        <p:strVal val="visible"/>
                                      </p:to>
                                    </p:set>
                                    <p:animEffect transition="in" filter="box(in)">
                                      <p:cBhvr>
                                        <p:cTn id="47" dur="500"/>
                                        <p:tgtEl>
                                          <p:spTgt spid="35945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359454"/>
                                        </p:tgtEl>
                                        <p:attrNameLst>
                                          <p:attrName>style.visibility</p:attrName>
                                        </p:attrNameLst>
                                      </p:cBhvr>
                                      <p:to>
                                        <p:strVal val="visible"/>
                                      </p:to>
                                    </p:set>
                                    <p:animEffect transition="in" filter="barn(outHorizontal)">
                                      <p:cBhvr>
                                        <p:cTn id="52" dur="500"/>
                                        <p:tgtEl>
                                          <p:spTgt spid="35945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359460"/>
                                        </p:tgtEl>
                                        <p:attrNameLst>
                                          <p:attrName>style.visibility</p:attrName>
                                        </p:attrNameLst>
                                      </p:cBhvr>
                                      <p:to>
                                        <p:strVal val="visible"/>
                                      </p:to>
                                    </p:set>
                                    <p:animEffect transition="in" filter="barn(outHorizontal)">
                                      <p:cBhvr>
                                        <p:cTn id="57" dur="500"/>
                                        <p:tgtEl>
                                          <p:spTgt spid="359460"/>
                                        </p:tgtEl>
                                      </p:cBhvr>
                                    </p:animEffect>
                                  </p:childTnLst>
                                  <p:subTnLst>
                                    <p:set>
                                      <p:cBhvr override="childStyle">
                                        <p:cTn dur="1" fill="hold" display="0" masterRel="nextClick" afterEffect="1"/>
                                        <p:tgtEl>
                                          <p:spTgt spid="359460"/>
                                        </p:tgtEl>
                                        <p:attrNameLst>
                                          <p:attrName>style.visibility</p:attrName>
                                        </p:attrNameLst>
                                      </p:cBhvr>
                                      <p:to>
                                        <p:strVal val="hidden"/>
                                      </p:to>
                                    </p:set>
                                  </p:sub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359463"/>
                                        </p:tgtEl>
                                        <p:attrNameLst>
                                          <p:attrName>style.visibility</p:attrName>
                                        </p:attrNameLst>
                                      </p:cBhvr>
                                      <p:to>
                                        <p:strVal val="visible"/>
                                      </p:to>
                                    </p:set>
                                    <p:animEffect transition="in" filter="barn(outHorizontal)">
                                      <p:cBhvr>
                                        <p:cTn id="62" dur="500"/>
                                        <p:tgtEl>
                                          <p:spTgt spid="359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6" grpId="0" autoUpdateAnimBg="0"/>
      <p:bldP spid="359429" grpId="0" autoUpdateAnimBg="0"/>
      <p:bldP spid="359448" grpId="0" autoUpdateAnimBg="0"/>
      <p:bldP spid="359467"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3522" name="Rectangle 2">
            <a:extLst>
              <a:ext uri="{FF2B5EF4-FFF2-40B4-BE49-F238E27FC236}">
                <a16:creationId xmlns:a16="http://schemas.microsoft.com/office/drawing/2014/main" id="{8A0279F6-B8F9-4B8D-9895-74CF7F47F543}"/>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3.6</a:t>
            </a:r>
            <a:r>
              <a:rPr lang="zh-CN" altLang="en-US" b="1">
                <a:solidFill>
                  <a:srgbClr val="CC0000"/>
                </a:solidFill>
              </a:rPr>
              <a:t>总供给曲线</a:t>
            </a:r>
            <a:r>
              <a:rPr lang="en-US" altLang="zh-CN" b="1">
                <a:solidFill>
                  <a:srgbClr val="CC0000"/>
                </a:solidFill>
              </a:rPr>
              <a:t>_</a:t>
            </a:r>
            <a:r>
              <a:rPr lang="zh-CN" altLang="en-US" b="1">
                <a:solidFill>
                  <a:srgbClr val="CC0000"/>
                </a:solidFill>
              </a:rPr>
              <a:t>拓展</a:t>
            </a:r>
          </a:p>
        </p:txBody>
      </p:sp>
      <p:sp>
        <p:nvSpPr>
          <p:cNvPr id="363523" name="Rectangle 3">
            <a:extLst>
              <a:ext uri="{FF2B5EF4-FFF2-40B4-BE49-F238E27FC236}">
                <a16:creationId xmlns:a16="http://schemas.microsoft.com/office/drawing/2014/main" id="{245623A7-94E5-09A8-B9F8-5450995373C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363547" name="Group 27">
            <a:extLst>
              <a:ext uri="{FF2B5EF4-FFF2-40B4-BE49-F238E27FC236}">
                <a16:creationId xmlns:a16="http://schemas.microsoft.com/office/drawing/2014/main" id="{073417CC-8F60-B14F-91F9-001AC1449282}"/>
              </a:ext>
            </a:extLst>
          </p:cNvPr>
          <p:cNvGrpSpPr>
            <a:grpSpLocks/>
          </p:cNvGrpSpPr>
          <p:nvPr/>
        </p:nvGrpSpPr>
        <p:grpSpPr bwMode="auto">
          <a:xfrm>
            <a:off x="838200" y="1600200"/>
            <a:ext cx="7772400" cy="4038600"/>
            <a:chOff x="528" y="1008"/>
            <a:chExt cx="4896" cy="2544"/>
          </a:xfrm>
        </p:grpSpPr>
        <p:sp>
          <p:nvSpPr>
            <p:cNvPr id="363524" name="Rectangle 4">
              <a:extLst>
                <a:ext uri="{FF2B5EF4-FFF2-40B4-BE49-F238E27FC236}">
                  <a16:creationId xmlns:a16="http://schemas.microsoft.com/office/drawing/2014/main" id="{CACC57A8-8661-1987-93BE-1837929B4EDE}"/>
                </a:ext>
              </a:extLst>
            </p:cNvPr>
            <p:cNvSpPr>
              <a:spLocks noRot="1" noChangeArrowheads="1"/>
            </p:cNvSpPr>
            <p:nvPr/>
          </p:nvSpPr>
          <p:spPr bwMode="auto">
            <a:xfrm>
              <a:off x="528" y="1008"/>
              <a:ext cx="4896" cy="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800" b="1"/>
                <a:t>总供给曲线的推导，其核心是通过</a:t>
              </a:r>
              <a:r>
                <a:rPr lang="en-US" altLang="zh-CN" sz="2800" b="1"/>
                <a:t>Phillips</a:t>
              </a:r>
              <a:r>
                <a:rPr lang="zh-CN" altLang="en-US" sz="2800" b="1"/>
                <a:t>曲线寻找产出水平和价格水平之间的关系。具体步骤如下：</a:t>
              </a:r>
            </a:p>
          </p:txBody>
        </p:sp>
        <p:graphicFrame>
          <p:nvGraphicFramePr>
            <p:cNvPr id="363525" name="Object 5">
              <a:extLst>
                <a:ext uri="{FF2B5EF4-FFF2-40B4-BE49-F238E27FC236}">
                  <a16:creationId xmlns:a16="http://schemas.microsoft.com/office/drawing/2014/main" id="{C8A6CA70-162D-0617-0FCB-3F3EEB76DAD9}"/>
                </a:ext>
              </a:extLst>
            </p:cNvPr>
            <p:cNvGraphicFramePr>
              <a:graphicFrameLocks noChangeAspect="1"/>
            </p:cNvGraphicFramePr>
            <p:nvPr/>
          </p:nvGraphicFramePr>
          <p:xfrm>
            <a:off x="1025" y="2219"/>
            <a:ext cx="1327" cy="345"/>
          </p:xfrm>
          <a:graphic>
            <a:graphicData uri="http://schemas.openxmlformats.org/presentationml/2006/ole">
              <mc:AlternateContent xmlns:mc="http://schemas.openxmlformats.org/markup-compatibility/2006">
                <mc:Choice xmlns:v="urn:schemas-microsoft-com:vml" Requires="v">
                  <p:oleObj name="Equation" r:id="rId2" imgW="1002960" imgH="228600" progId="Equation.DSMT4">
                    <p:embed/>
                  </p:oleObj>
                </mc:Choice>
                <mc:Fallback>
                  <p:oleObj name="Equation" r:id="rId2" imgW="1002960" imgH="228600"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 y="2219"/>
                          <a:ext cx="1327" cy="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63526" name="Group 6">
              <a:extLst>
                <a:ext uri="{FF2B5EF4-FFF2-40B4-BE49-F238E27FC236}">
                  <a16:creationId xmlns:a16="http://schemas.microsoft.com/office/drawing/2014/main" id="{D62E9EA2-AC85-3EA2-88F8-9CBF206F6FE0}"/>
                </a:ext>
              </a:extLst>
            </p:cNvPr>
            <p:cNvGrpSpPr>
              <a:grpSpLocks/>
            </p:cNvGrpSpPr>
            <p:nvPr/>
          </p:nvGrpSpPr>
          <p:grpSpPr bwMode="auto">
            <a:xfrm>
              <a:off x="1008" y="2564"/>
              <a:ext cx="269" cy="988"/>
              <a:chOff x="1968" y="2352"/>
              <a:chExt cx="269" cy="988"/>
            </a:xfrm>
          </p:grpSpPr>
          <p:grpSp>
            <p:nvGrpSpPr>
              <p:cNvPr id="363527" name="Group 7">
                <a:extLst>
                  <a:ext uri="{FF2B5EF4-FFF2-40B4-BE49-F238E27FC236}">
                    <a16:creationId xmlns:a16="http://schemas.microsoft.com/office/drawing/2014/main" id="{337120C4-B07B-9A38-F06B-410C65358BFE}"/>
                  </a:ext>
                </a:extLst>
              </p:cNvPr>
              <p:cNvGrpSpPr>
                <a:grpSpLocks/>
              </p:cNvGrpSpPr>
              <p:nvPr/>
            </p:nvGrpSpPr>
            <p:grpSpPr bwMode="auto">
              <a:xfrm>
                <a:off x="2016" y="2352"/>
                <a:ext cx="192" cy="672"/>
                <a:chOff x="2016" y="2352"/>
                <a:chExt cx="192" cy="672"/>
              </a:xfrm>
            </p:grpSpPr>
            <p:sp>
              <p:nvSpPr>
                <p:cNvPr id="363528" name="Line 8">
                  <a:extLst>
                    <a:ext uri="{FF2B5EF4-FFF2-40B4-BE49-F238E27FC236}">
                      <a16:creationId xmlns:a16="http://schemas.microsoft.com/office/drawing/2014/main" id="{F63BE521-3672-105E-E170-0EA30E1D5097}"/>
                    </a:ext>
                  </a:extLst>
                </p:cNvPr>
                <p:cNvSpPr>
                  <a:spLocks noChangeShapeType="1"/>
                </p:cNvSpPr>
                <p:nvPr/>
              </p:nvSpPr>
              <p:spPr bwMode="auto">
                <a:xfrm>
                  <a:off x="2112" y="2352"/>
                  <a:ext cx="0"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29" name="Line 9">
                  <a:extLst>
                    <a:ext uri="{FF2B5EF4-FFF2-40B4-BE49-F238E27FC236}">
                      <a16:creationId xmlns:a16="http://schemas.microsoft.com/office/drawing/2014/main" id="{1CC20B8F-4FB8-DF99-6C02-E8B11AF00352}"/>
                    </a:ext>
                  </a:extLst>
                </p:cNvPr>
                <p:cNvSpPr>
                  <a:spLocks noChangeShapeType="1"/>
                </p:cNvSpPr>
                <p:nvPr/>
              </p:nvSpPr>
              <p:spPr bwMode="auto">
                <a:xfrm>
                  <a:off x="2016" y="2352"/>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363530" name="Object 10">
                <a:extLst>
                  <a:ext uri="{FF2B5EF4-FFF2-40B4-BE49-F238E27FC236}">
                    <a16:creationId xmlns:a16="http://schemas.microsoft.com/office/drawing/2014/main" id="{4232D44B-4EDE-8655-3CAB-8CC5421408F1}"/>
                  </a:ext>
                </a:extLst>
              </p:cNvPr>
              <p:cNvGraphicFramePr>
                <a:graphicFrameLocks noChangeAspect="1"/>
              </p:cNvGraphicFramePr>
              <p:nvPr/>
            </p:nvGraphicFramePr>
            <p:xfrm>
              <a:off x="1968" y="2976"/>
              <a:ext cx="269" cy="364"/>
            </p:xfrm>
            <a:graphic>
              <a:graphicData uri="http://schemas.openxmlformats.org/presentationml/2006/ole">
                <mc:AlternateContent xmlns:mc="http://schemas.openxmlformats.org/markup-compatibility/2006">
                  <mc:Choice xmlns:v="urn:schemas-microsoft-com:vml" Requires="v">
                    <p:oleObj name="Equation" r:id="rId4" imgW="203040" imgH="241200" progId="Equation.DSMT4">
                      <p:embed/>
                    </p:oleObj>
                  </mc:Choice>
                  <mc:Fallback>
                    <p:oleObj name="Equation" r:id="rId4" imgW="203040" imgH="241200" progId="Equation.DSMT4">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8" y="2976"/>
                            <a:ext cx="269"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63531" name="Group 11">
              <a:extLst>
                <a:ext uri="{FF2B5EF4-FFF2-40B4-BE49-F238E27FC236}">
                  <a16:creationId xmlns:a16="http://schemas.microsoft.com/office/drawing/2014/main" id="{3FC34281-4C5F-3DB2-37F3-F8C5A8532A80}"/>
                </a:ext>
              </a:extLst>
            </p:cNvPr>
            <p:cNvGrpSpPr>
              <a:grpSpLocks/>
            </p:cNvGrpSpPr>
            <p:nvPr/>
          </p:nvGrpSpPr>
          <p:grpSpPr bwMode="auto">
            <a:xfrm>
              <a:off x="1776" y="2564"/>
              <a:ext cx="605" cy="960"/>
              <a:chOff x="2736" y="2352"/>
              <a:chExt cx="605" cy="960"/>
            </a:xfrm>
          </p:grpSpPr>
          <p:grpSp>
            <p:nvGrpSpPr>
              <p:cNvPr id="363532" name="Group 12">
                <a:extLst>
                  <a:ext uri="{FF2B5EF4-FFF2-40B4-BE49-F238E27FC236}">
                    <a16:creationId xmlns:a16="http://schemas.microsoft.com/office/drawing/2014/main" id="{14BD5B19-E027-538A-4D69-7D4E963A40BB}"/>
                  </a:ext>
                </a:extLst>
              </p:cNvPr>
              <p:cNvGrpSpPr>
                <a:grpSpLocks/>
              </p:cNvGrpSpPr>
              <p:nvPr/>
            </p:nvGrpSpPr>
            <p:grpSpPr bwMode="auto">
              <a:xfrm>
                <a:off x="2736" y="2352"/>
                <a:ext cx="432" cy="720"/>
                <a:chOff x="2736" y="2304"/>
                <a:chExt cx="432" cy="720"/>
              </a:xfrm>
            </p:grpSpPr>
            <p:sp>
              <p:nvSpPr>
                <p:cNvPr id="363533" name="Line 13">
                  <a:extLst>
                    <a:ext uri="{FF2B5EF4-FFF2-40B4-BE49-F238E27FC236}">
                      <a16:creationId xmlns:a16="http://schemas.microsoft.com/office/drawing/2014/main" id="{7CF5E464-C325-87D8-55FD-72727E8E61E3}"/>
                    </a:ext>
                  </a:extLst>
                </p:cNvPr>
                <p:cNvSpPr>
                  <a:spLocks noChangeShapeType="1"/>
                </p:cNvSpPr>
                <p:nvPr/>
              </p:nvSpPr>
              <p:spPr bwMode="auto">
                <a:xfrm>
                  <a:off x="2736" y="230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34" name="Line 14">
                  <a:extLst>
                    <a:ext uri="{FF2B5EF4-FFF2-40B4-BE49-F238E27FC236}">
                      <a16:creationId xmlns:a16="http://schemas.microsoft.com/office/drawing/2014/main" id="{56A7D200-A94E-BEE2-6870-7A5F36DC7543}"/>
                    </a:ext>
                  </a:extLst>
                </p:cNvPr>
                <p:cNvSpPr>
                  <a:spLocks noChangeShapeType="1"/>
                </p:cNvSpPr>
                <p:nvPr/>
              </p:nvSpPr>
              <p:spPr bwMode="auto">
                <a:xfrm>
                  <a:off x="2976" y="2304"/>
                  <a:ext cx="0" cy="7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363535" name="Object 15">
                <a:extLst>
                  <a:ext uri="{FF2B5EF4-FFF2-40B4-BE49-F238E27FC236}">
                    <a16:creationId xmlns:a16="http://schemas.microsoft.com/office/drawing/2014/main" id="{B58F5915-F342-E08B-6680-C20F21F4393D}"/>
                  </a:ext>
                </a:extLst>
              </p:cNvPr>
              <p:cNvGraphicFramePr>
                <a:graphicFrameLocks noChangeAspect="1"/>
              </p:cNvGraphicFramePr>
              <p:nvPr/>
            </p:nvGraphicFramePr>
            <p:xfrm>
              <a:off x="2736" y="3063"/>
              <a:ext cx="605" cy="249"/>
            </p:xfrm>
            <a:graphic>
              <a:graphicData uri="http://schemas.openxmlformats.org/presentationml/2006/ole">
                <mc:AlternateContent xmlns:mc="http://schemas.openxmlformats.org/markup-compatibility/2006">
                  <mc:Choice xmlns:v="urn:schemas-microsoft-com:vml" Requires="v">
                    <p:oleObj name="Equation" r:id="rId6" imgW="457200" imgH="164880" progId="Equation.DSMT4">
                      <p:embed/>
                    </p:oleObj>
                  </mc:Choice>
                  <mc:Fallback>
                    <p:oleObj name="Equation" r:id="rId6" imgW="457200" imgH="164880" progId="Equation.DSMT4">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36" y="3063"/>
                            <a:ext cx="605"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aphicFrame>
        <p:nvGraphicFramePr>
          <p:cNvPr id="363548" name="Object 28">
            <a:extLst>
              <a:ext uri="{FF2B5EF4-FFF2-40B4-BE49-F238E27FC236}">
                <a16:creationId xmlns:a16="http://schemas.microsoft.com/office/drawing/2014/main" id="{14B1923A-D66B-4FD1-47AF-A7DDDEE769C1}"/>
              </a:ext>
            </a:extLst>
          </p:cNvPr>
          <p:cNvGraphicFramePr>
            <a:graphicFrameLocks noChangeAspect="1"/>
          </p:cNvGraphicFramePr>
          <p:nvPr/>
        </p:nvGraphicFramePr>
        <p:xfrm>
          <a:off x="5030788" y="3432175"/>
          <a:ext cx="2665412" cy="577850"/>
        </p:xfrm>
        <a:graphic>
          <a:graphicData uri="http://schemas.openxmlformats.org/presentationml/2006/ole">
            <mc:AlternateContent xmlns:mc="http://schemas.openxmlformats.org/markup-compatibility/2006">
              <mc:Choice xmlns:v="urn:schemas-microsoft-com:vml" Requires="v">
                <p:oleObj name="Equation" r:id="rId8" imgW="1269720" imgH="241200" progId="Equation.DSMT4">
                  <p:embed/>
                </p:oleObj>
              </mc:Choice>
              <mc:Fallback>
                <p:oleObj name="Equation" r:id="rId8" imgW="1269720" imgH="241200" progId="Equation.DSMT4">
                  <p:embed/>
                  <p:pic>
                    <p:nvPicPr>
                      <p:cNvPr id="0" name="Object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30788" y="3432175"/>
                        <a:ext cx="2665412"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63549" name="Group 29">
            <a:extLst>
              <a:ext uri="{FF2B5EF4-FFF2-40B4-BE49-F238E27FC236}">
                <a16:creationId xmlns:a16="http://schemas.microsoft.com/office/drawing/2014/main" id="{8D87298B-4B3D-1718-9EDE-9A6654A11A23}"/>
              </a:ext>
            </a:extLst>
          </p:cNvPr>
          <p:cNvGrpSpPr>
            <a:grpSpLocks/>
          </p:cNvGrpSpPr>
          <p:nvPr/>
        </p:nvGrpSpPr>
        <p:grpSpPr bwMode="auto">
          <a:xfrm>
            <a:off x="5059363" y="3994150"/>
            <a:ext cx="427037" cy="1568450"/>
            <a:chOff x="1968" y="2352"/>
            <a:chExt cx="269" cy="988"/>
          </a:xfrm>
        </p:grpSpPr>
        <p:grpSp>
          <p:nvGrpSpPr>
            <p:cNvPr id="363550" name="Group 30">
              <a:extLst>
                <a:ext uri="{FF2B5EF4-FFF2-40B4-BE49-F238E27FC236}">
                  <a16:creationId xmlns:a16="http://schemas.microsoft.com/office/drawing/2014/main" id="{A4C2794F-BC2D-6094-C94A-0E40033EAC53}"/>
                </a:ext>
              </a:extLst>
            </p:cNvPr>
            <p:cNvGrpSpPr>
              <a:grpSpLocks/>
            </p:cNvGrpSpPr>
            <p:nvPr/>
          </p:nvGrpSpPr>
          <p:grpSpPr bwMode="auto">
            <a:xfrm>
              <a:off x="2016" y="2352"/>
              <a:ext cx="192" cy="672"/>
              <a:chOff x="2016" y="2352"/>
              <a:chExt cx="192" cy="672"/>
            </a:xfrm>
          </p:grpSpPr>
          <p:sp>
            <p:nvSpPr>
              <p:cNvPr id="363551" name="Line 31">
                <a:extLst>
                  <a:ext uri="{FF2B5EF4-FFF2-40B4-BE49-F238E27FC236}">
                    <a16:creationId xmlns:a16="http://schemas.microsoft.com/office/drawing/2014/main" id="{9AC8129D-9095-BB70-D0EC-B09978C44566}"/>
                  </a:ext>
                </a:extLst>
              </p:cNvPr>
              <p:cNvSpPr>
                <a:spLocks noChangeShapeType="1"/>
              </p:cNvSpPr>
              <p:nvPr/>
            </p:nvSpPr>
            <p:spPr bwMode="auto">
              <a:xfrm>
                <a:off x="2112" y="2352"/>
                <a:ext cx="0" cy="6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52" name="Line 32">
                <a:extLst>
                  <a:ext uri="{FF2B5EF4-FFF2-40B4-BE49-F238E27FC236}">
                    <a16:creationId xmlns:a16="http://schemas.microsoft.com/office/drawing/2014/main" id="{C82325F6-BBC1-2524-B610-A0B4163C05B0}"/>
                  </a:ext>
                </a:extLst>
              </p:cNvPr>
              <p:cNvSpPr>
                <a:spLocks noChangeShapeType="1"/>
              </p:cNvSpPr>
              <p:nvPr/>
            </p:nvSpPr>
            <p:spPr bwMode="auto">
              <a:xfrm>
                <a:off x="2016" y="2352"/>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363553" name="Object 33">
              <a:extLst>
                <a:ext uri="{FF2B5EF4-FFF2-40B4-BE49-F238E27FC236}">
                  <a16:creationId xmlns:a16="http://schemas.microsoft.com/office/drawing/2014/main" id="{DE5ABCDE-B084-22F3-73E1-62530BE88819}"/>
                </a:ext>
              </a:extLst>
            </p:cNvPr>
            <p:cNvGraphicFramePr>
              <a:graphicFrameLocks noChangeAspect="1"/>
            </p:cNvGraphicFramePr>
            <p:nvPr/>
          </p:nvGraphicFramePr>
          <p:xfrm>
            <a:off x="1968" y="2976"/>
            <a:ext cx="269" cy="364"/>
          </p:xfrm>
          <a:graphic>
            <a:graphicData uri="http://schemas.openxmlformats.org/presentationml/2006/ole">
              <mc:AlternateContent xmlns:mc="http://schemas.openxmlformats.org/markup-compatibility/2006">
                <mc:Choice xmlns:v="urn:schemas-microsoft-com:vml" Requires="v">
                  <p:oleObj name="Equation" r:id="rId10" imgW="203040" imgH="241200" progId="Equation.DSMT4">
                    <p:embed/>
                  </p:oleObj>
                </mc:Choice>
                <mc:Fallback>
                  <p:oleObj name="Equation" r:id="rId10" imgW="203040" imgH="241200" progId="Equation.DSMT4">
                    <p:embed/>
                    <p:pic>
                      <p:nvPicPr>
                        <p:cNvPr id="0" name="Object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8" y="2976"/>
                          <a:ext cx="269"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63554" name="Group 34">
            <a:extLst>
              <a:ext uri="{FF2B5EF4-FFF2-40B4-BE49-F238E27FC236}">
                <a16:creationId xmlns:a16="http://schemas.microsoft.com/office/drawing/2014/main" id="{002F4DDD-7179-C0BF-2275-785A44DC6CFE}"/>
              </a:ext>
            </a:extLst>
          </p:cNvPr>
          <p:cNvGrpSpPr>
            <a:grpSpLocks/>
          </p:cNvGrpSpPr>
          <p:nvPr/>
        </p:nvGrpSpPr>
        <p:grpSpPr bwMode="auto">
          <a:xfrm>
            <a:off x="6278563" y="3994150"/>
            <a:ext cx="960437" cy="1524000"/>
            <a:chOff x="2736" y="2352"/>
            <a:chExt cx="605" cy="960"/>
          </a:xfrm>
        </p:grpSpPr>
        <p:grpSp>
          <p:nvGrpSpPr>
            <p:cNvPr id="363555" name="Group 35">
              <a:extLst>
                <a:ext uri="{FF2B5EF4-FFF2-40B4-BE49-F238E27FC236}">
                  <a16:creationId xmlns:a16="http://schemas.microsoft.com/office/drawing/2014/main" id="{F073BA28-D287-3845-D8AB-D3DD7BFD428A}"/>
                </a:ext>
              </a:extLst>
            </p:cNvPr>
            <p:cNvGrpSpPr>
              <a:grpSpLocks/>
            </p:cNvGrpSpPr>
            <p:nvPr/>
          </p:nvGrpSpPr>
          <p:grpSpPr bwMode="auto">
            <a:xfrm>
              <a:off x="2736" y="2352"/>
              <a:ext cx="432" cy="720"/>
              <a:chOff x="2736" y="2304"/>
              <a:chExt cx="432" cy="720"/>
            </a:xfrm>
          </p:grpSpPr>
          <p:sp>
            <p:nvSpPr>
              <p:cNvPr id="363556" name="Line 36">
                <a:extLst>
                  <a:ext uri="{FF2B5EF4-FFF2-40B4-BE49-F238E27FC236}">
                    <a16:creationId xmlns:a16="http://schemas.microsoft.com/office/drawing/2014/main" id="{189B510C-58C6-C0A7-D246-183894801152}"/>
                  </a:ext>
                </a:extLst>
              </p:cNvPr>
              <p:cNvSpPr>
                <a:spLocks noChangeShapeType="1"/>
              </p:cNvSpPr>
              <p:nvPr/>
            </p:nvSpPr>
            <p:spPr bwMode="auto">
              <a:xfrm>
                <a:off x="2736" y="2304"/>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3557" name="Line 37">
                <a:extLst>
                  <a:ext uri="{FF2B5EF4-FFF2-40B4-BE49-F238E27FC236}">
                    <a16:creationId xmlns:a16="http://schemas.microsoft.com/office/drawing/2014/main" id="{CC6CCBB7-358C-45F8-B781-F3EAD095CB2A}"/>
                  </a:ext>
                </a:extLst>
              </p:cNvPr>
              <p:cNvSpPr>
                <a:spLocks noChangeShapeType="1"/>
              </p:cNvSpPr>
              <p:nvPr/>
            </p:nvSpPr>
            <p:spPr bwMode="auto">
              <a:xfrm>
                <a:off x="2976" y="2304"/>
                <a:ext cx="0" cy="7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363558" name="Object 38">
              <a:extLst>
                <a:ext uri="{FF2B5EF4-FFF2-40B4-BE49-F238E27FC236}">
                  <a16:creationId xmlns:a16="http://schemas.microsoft.com/office/drawing/2014/main" id="{94BE9676-0D4B-25E9-D9DC-8F86CB56BD1E}"/>
                </a:ext>
              </a:extLst>
            </p:cNvPr>
            <p:cNvGraphicFramePr>
              <a:graphicFrameLocks noChangeAspect="1"/>
            </p:cNvGraphicFramePr>
            <p:nvPr/>
          </p:nvGraphicFramePr>
          <p:xfrm>
            <a:off x="2736" y="3063"/>
            <a:ext cx="605" cy="249"/>
          </p:xfrm>
          <a:graphic>
            <a:graphicData uri="http://schemas.openxmlformats.org/presentationml/2006/ole">
              <mc:AlternateContent xmlns:mc="http://schemas.openxmlformats.org/markup-compatibility/2006">
                <mc:Choice xmlns:v="urn:schemas-microsoft-com:vml" Requires="v">
                  <p:oleObj name="Equation" r:id="rId11" imgW="457200" imgH="164880" progId="Equation.DSMT4">
                    <p:embed/>
                  </p:oleObj>
                </mc:Choice>
                <mc:Fallback>
                  <p:oleObj name="Equation" r:id="rId11" imgW="457200" imgH="164880" progId="Equation.DSMT4">
                    <p:embed/>
                    <p:pic>
                      <p:nvPicPr>
                        <p:cNvPr id="0" name="Object 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36" y="3063"/>
                          <a:ext cx="605"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63559" name="Rectangle 39">
            <a:extLst>
              <a:ext uri="{FF2B5EF4-FFF2-40B4-BE49-F238E27FC236}">
                <a16:creationId xmlns:a16="http://schemas.microsoft.com/office/drawing/2014/main" id="{0045D197-89FF-AECB-A722-2BA7B2823023}"/>
              </a:ext>
            </a:extLst>
          </p:cNvPr>
          <p:cNvSpPr>
            <a:spLocks noChangeArrowheads="1"/>
          </p:cNvSpPr>
          <p:nvPr/>
        </p:nvSpPr>
        <p:spPr bwMode="auto">
          <a:xfrm>
            <a:off x="5486400" y="3641725"/>
            <a:ext cx="1236663"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2000" b="1">
                <a:solidFill>
                  <a:schemeClr val="tx2"/>
                </a:solidFill>
              </a:rPr>
              <a:t>？</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63522"/>
                                        </p:tgtEl>
                                        <p:attrNameLst>
                                          <p:attrName>style.visibility</p:attrName>
                                        </p:attrNameLst>
                                      </p:cBhvr>
                                      <p:to>
                                        <p:strVal val="visible"/>
                                      </p:to>
                                    </p:set>
                                    <p:animEffect transition="in" filter="slide(fromTop)">
                                      <p:cBhvr>
                                        <p:cTn id="7" dur="500"/>
                                        <p:tgtEl>
                                          <p:spTgt spid="3635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3547"/>
                                        </p:tgtEl>
                                        <p:attrNameLst>
                                          <p:attrName>style.visibility</p:attrName>
                                        </p:attrNameLst>
                                      </p:cBhvr>
                                      <p:to>
                                        <p:strVal val="visible"/>
                                      </p:to>
                                    </p:set>
                                    <p:animEffect transition="in" filter="box(in)">
                                      <p:cBhvr>
                                        <p:cTn id="12" dur="500"/>
                                        <p:tgtEl>
                                          <p:spTgt spid="3635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1" fill="hold" nodeType="clickEffect">
                                  <p:stCondLst>
                                    <p:cond delay="0"/>
                                  </p:stCondLst>
                                  <p:childTnLst>
                                    <p:set>
                                      <p:cBhvr>
                                        <p:cTn id="16" dur="1" fill="hold">
                                          <p:stCondLst>
                                            <p:cond delay="0"/>
                                          </p:stCondLst>
                                        </p:cTn>
                                        <p:tgtEl>
                                          <p:spTgt spid="363548"/>
                                        </p:tgtEl>
                                        <p:attrNameLst>
                                          <p:attrName>style.visibility</p:attrName>
                                        </p:attrNameLst>
                                      </p:cBhvr>
                                      <p:to>
                                        <p:strVal val="visible"/>
                                      </p:to>
                                    </p:set>
                                    <p:animEffect transition="in" filter="slide(fromTop)">
                                      <p:cBhvr>
                                        <p:cTn id="17" dur="500"/>
                                        <p:tgtEl>
                                          <p:spTgt spid="3635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363559"/>
                                        </p:tgtEl>
                                        <p:attrNameLst>
                                          <p:attrName>style.visibility</p:attrName>
                                        </p:attrNameLst>
                                      </p:cBhvr>
                                      <p:to>
                                        <p:strVal val="visible"/>
                                      </p:to>
                                    </p:set>
                                  </p:childTnLst>
                                  <p:subTnLst>
                                    <p:set>
                                      <p:cBhvr override="childStyle">
                                        <p:cTn dur="1" fill="hold" display="0" masterRel="nextClick" afterEffect="1"/>
                                        <p:tgtEl>
                                          <p:spTgt spid="363559"/>
                                        </p:tgtEl>
                                        <p:attrNameLst>
                                          <p:attrName>style.visibility</p:attrName>
                                        </p:attrNameLst>
                                      </p:cBhvr>
                                      <p:to>
                                        <p:strVal val="hidden"/>
                                      </p:to>
                                    </p:set>
                                  </p:sub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1" fill="hold" nodeType="clickEffect">
                                  <p:stCondLst>
                                    <p:cond delay="0"/>
                                  </p:stCondLst>
                                  <p:childTnLst>
                                    <p:set>
                                      <p:cBhvr>
                                        <p:cTn id="25" dur="1" fill="hold">
                                          <p:stCondLst>
                                            <p:cond delay="0"/>
                                          </p:stCondLst>
                                        </p:cTn>
                                        <p:tgtEl>
                                          <p:spTgt spid="363549"/>
                                        </p:tgtEl>
                                        <p:attrNameLst>
                                          <p:attrName>style.visibility</p:attrName>
                                        </p:attrNameLst>
                                      </p:cBhvr>
                                      <p:to>
                                        <p:strVal val="visible"/>
                                      </p:to>
                                    </p:set>
                                    <p:animEffect transition="in" filter="slide(fromTop)">
                                      <p:cBhvr>
                                        <p:cTn id="26" dur="500"/>
                                        <p:tgtEl>
                                          <p:spTgt spid="36354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1" fill="hold" nodeType="clickEffect">
                                  <p:stCondLst>
                                    <p:cond delay="0"/>
                                  </p:stCondLst>
                                  <p:childTnLst>
                                    <p:set>
                                      <p:cBhvr>
                                        <p:cTn id="30" dur="1" fill="hold">
                                          <p:stCondLst>
                                            <p:cond delay="0"/>
                                          </p:stCondLst>
                                        </p:cTn>
                                        <p:tgtEl>
                                          <p:spTgt spid="363554"/>
                                        </p:tgtEl>
                                        <p:attrNameLst>
                                          <p:attrName>style.visibility</p:attrName>
                                        </p:attrNameLst>
                                      </p:cBhvr>
                                      <p:to>
                                        <p:strVal val="visible"/>
                                      </p:to>
                                    </p:set>
                                    <p:animEffect transition="in" filter="slide(fromTop)">
                                      <p:cBhvr>
                                        <p:cTn id="31" dur="500"/>
                                        <p:tgtEl>
                                          <p:spTgt spid="363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2" grpId="0" autoUpdateAnimBg="0"/>
      <p:bldP spid="363559"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4546" name="Rectangle 2">
            <a:extLst>
              <a:ext uri="{FF2B5EF4-FFF2-40B4-BE49-F238E27FC236}">
                <a16:creationId xmlns:a16="http://schemas.microsoft.com/office/drawing/2014/main" id="{CE89F8EB-23EB-7DD3-81F9-68F5901E48B1}"/>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3.6 </a:t>
            </a:r>
            <a:r>
              <a:rPr lang="zh-CN" altLang="en-US" b="1">
                <a:solidFill>
                  <a:srgbClr val="CC0000"/>
                </a:solidFill>
              </a:rPr>
              <a:t>总供给曲线</a:t>
            </a:r>
            <a:r>
              <a:rPr lang="en-US" altLang="zh-CN" b="1">
                <a:solidFill>
                  <a:srgbClr val="CC0000"/>
                </a:solidFill>
              </a:rPr>
              <a:t>_</a:t>
            </a:r>
            <a:r>
              <a:rPr lang="zh-CN" altLang="en-US" b="1">
                <a:solidFill>
                  <a:srgbClr val="CC0000"/>
                </a:solidFill>
              </a:rPr>
              <a:t>拓展</a:t>
            </a:r>
          </a:p>
        </p:txBody>
      </p:sp>
      <p:sp>
        <p:nvSpPr>
          <p:cNvPr id="364547" name="Rectangle 3">
            <a:extLst>
              <a:ext uri="{FF2B5EF4-FFF2-40B4-BE49-F238E27FC236}">
                <a16:creationId xmlns:a16="http://schemas.microsoft.com/office/drawing/2014/main" id="{041C6A98-DE75-ED2A-69B2-800DD7CFC65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4548" name="Rectangle 4">
            <a:extLst>
              <a:ext uri="{FF2B5EF4-FFF2-40B4-BE49-F238E27FC236}">
                <a16:creationId xmlns:a16="http://schemas.microsoft.com/office/drawing/2014/main" id="{70A80CFF-536D-948D-D46A-DADF31DAC9D3}"/>
              </a:ext>
            </a:extLst>
          </p:cNvPr>
          <p:cNvSpPr>
            <a:spLocks noRot="1" noChangeArrowheads="1"/>
          </p:cNvSpPr>
          <p:nvPr/>
        </p:nvSpPr>
        <p:spPr bwMode="auto">
          <a:xfrm>
            <a:off x="838200" y="1600200"/>
            <a:ext cx="7620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Clr>
                <a:schemeClr val="hlink"/>
              </a:buClr>
              <a:buSzPct val="85000"/>
              <a:buFont typeface="Wingdings" panose="05000000000000000000" pitchFamily="2" charset="2"/>
              <a:buChar char="§"/>
            </a:pPr>
            <a:r>
              <a:rPr lang="zh-CN" altLang="en-US" sz="2800" b="1"/>
              <a:t>把第一步、第二步的结果带入到</a:t>
            </a:r>
            <a:r>
              <a:rPr lang="en-US" altLang="zh-CN" sz="2800" b="1"/>
              <a:t>Phillips</a:t>
            </a:r>
            <a:r>
              <a:rPr lang="zh-CN" altLang="en-US" sz="2800" b="1"/>
              <a:t>曲线</a:t>
            </a:r>
          </a:p>
        </p:txBody>
      </p:sp>
      <p:sp>
        <p:nvSpPr>
          <p:cNvPr id="364549" name="Rectangle 5">
            <a:extLst>
              <a:ext uri="{FF2B5EF4-FFF2-40B4-BE49-F238E27FC236}">
                <a16:creationId xmlns:a16="http://schemas.microsoft.com/office/drawing/2014/main" id="{20CD9933-96B7-8BCE-BBD1-9C0A127A2294}"/>
              </a:ext>
            </a:extLst>
          </p:cNvPr>
          <p:cNvSpPr>
            <a:spLocks noRot="1" noChangeArrowheads="1"/>
          </p:cNvSpPr>
          <p:nvPr/>
        </p:nvSpPr>
        <p:spPr bwMode="auto">
          <a:xfrm>
            <a:off x="533400" y="4267200"/>
            <a:ext cx="7848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en-US" altLang="zh-CN" sz="2800" b="1"/>
              <a:t>“</a:t>
            </a:r>
            <a:r>
              <a:rPr lang="zh-CN" altLang="en-US" sz="2800" b="1"/>
              <a:t>新的”总供给曲线</a:t>
            </a:r>
          </a:p>
        </p:txBody>
      </p:sp>
      <p:graphicFrame>
        <p:nvGraphicFramePr>
          <p:cNvPr id="364560" name="Object 16">
            <a:extLst>
              <a:ext uri="{FF2B5EF4-FFF2-40B4-BE49-F238E27FC236}">
                <a16:creationId xmlns:a16="http://schemas.microsoft.com/office/drawing/2014/main" id="{99DCC53B-C62D-8590-44A9-B0AEC50A6B76}"/>
              </a:ext>
            </a:extLst>
          </p:cNvPr>
          <p:cNvGraphicFramePr>
            <a:graphicFrameLocks noChangeAspect="1"/>
          </p:cNvGraphicFramePr>
          <p:nvPr/>
        </p:nvGraphicFramePr>
        <p:xfrm>
          <a:off x="6329363" y="2362200"/>
          <a:ext cx="2586037" cy="1582738"/>
        </p:xfrm>
        <a:graphic>
          <a:graphicData uri="http://schemas.openxmlformats.org/presentationml/2006/ole">
            <mc:AlternateContent xmlns:mc="http://schemas.openxmlformats.org/markup-compatibility/2006">
              <mc:Choice xmlns:v="urn:schemas-microsoft-com:vml" Requires="v">
                <p:oleObj name="Equation" r:id="rId2" imgW="1231560" imgH="660240" progId="Equation.DSMT4">
                  <p:embed/>
                </p:oleObj>
              </mc:Choice>
              <mc:Fallback>
                <p:oleObj name="Equation" r:id="rId2" imgW="1231560" imgH="660240" progId="Equation.DSMT4">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9363" y="2362200"/>
                        <a:ext cx="2586037" cy="1582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4561" name="Object 17">
            <a:extLst>
              <a:ext uri="{FF2B5EF4-FFF2-40B4-BE49-F238E27FC236}">
                <a16:creationId xmlns:a16="http://schemas.microsoft.com/office/drawing/2014/main" id="{3C2A1898-73A5-B9B3-B335-2AB84EB94C44}"/>
              </a:ext>
            </a:extLst>
          </p:cNvPr>
          <p:cNvGraphicFramePr>
            <a:graphicFrameLocks noChangeAspect="1"/>
          </p:cNvGraphicFramePr>
          <p:nvPr/>
        </p:nvGraphicFramePr>
        <p:xfrm>
          <a:off x="228600" y="5213350"/>
          <a:ext cx="3919538" cy="1035050"/>
        </p:xfrm>
        <a:graphic>
          <a:graphicData uri="http://schemas.openxmlformats.org/presentationml/2006/ole">
            <mc:AlternateContent xmlns:mc="http://schemas.openxmlformats.org/markup-compatibility/2006">
              <mc:Choice xmlns:v="urn:schemas-microsoft-com:vml" Requires="v">
                <p:oleObj name="Equation" r:id="rId4" imgW="1866600" imgH="431640" progId="Equation.DSMT4">
                  <p:embed/>
                </p:oleObj>
              </mc:Choice>
              <mc:Fallback>
                <p:oleObj name="Equation" r:id="rId4" imgW="1866600" imgH="431640" progId="Equation.DSMT4">
                  <p:embed/>
                  <p:pic>
                    <p:nvPicPr>
                      <p:cNvPr id="0"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5213350"/>
                        <a:ext cx="3919538"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4562" name="Object 18">
            <a:extLst>
              <a:ext uri="{FF2B5EF4-FFF2-40B4-BE49-F238E27FC236}">
                <a16:creationId xmlns:a16="http://schemas.microsoft.com/office/drawing/2014/main" id="{154ABBBD-2392-D2BC-F363-819CF73561A9}"/>
              </a:ext>
            </a:extLst>
          </p:cNvPr>
          <p:cNvGraphicFramePr>
            <a:graphicFrameLocks noChangeAspect="1"/>
          </p:cNvGraphicFramePr>
          <p:nvPr/>
        </p:nvGraphicFramePr>
        <p:xfrm>
          <a:off x="4267200" y="4784725"/>
          <a:ext cx="4733925" cy="1860550"/>
        </p:xfrm>
        <a:graphic>
          <a:graphicData uri="http://schemas.openxmlformats.org/presentationml/2006/ole">
            <mc:AlternateContent xmlns:mc="http://schemas.openxmlformats.org/markup-compatibility/2006">
              <mc:Choice xmlns:v="urn:schemas-microsoft-com:vml" Requires="v">
                <p:oleObj name="Equation" r:id="rId6" imgW="2145960" imgH="736560" progId="Equation.DSMT4">
                  <p:embed/>
                </p:oleObj>
              </mc:Choice>
              <mc:Fallback>
                <p:oleObj name="Equation" r:id="rId6" imgW="2145960" imgH="736560" progId="Equation.DSMT4">
                  <p:embed/>
                  <p:pic>
                    <p:nvPicPr>
                      <p:cNvPr id="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7200" y="4784725"/>
                        <a:ext cx="4733925" cy="186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64563" name="Group 19">
            <a:extLst>
              <a:ext uri="{FF2B5EF4-FFF2-40B4-BE49-F238E27FC236}">
                <a16:creationId xmlns:a16="http://schemas.microsoft.com/office/drawing/2014/main" id="{2AA2629E-6341-1D4C-4572-24A71A2768DD}"/>
              </a:ext>
            </a:extLst>
          </p:cNvPr>
          <p:cNvGrpSpPr>
            <a:grpSpLocks/>
          </p:cNvGrpSpPr>
          <p:nvPr/>
        </p:nvGrpSpPr>
        <p:grpSpPr bwMode="auto">
          <a:xfrm>
            <a:off x="152400" y="2335213"/>
            <a:ext cx="2787650" cy="1779587"/>
            <a:chOff x="452" y="1440"/>
            <a:chExt cx="1756" cy="1121"/>
          </a:xfrm>
        </p:grpSpPr>
        <p:graphicFrame>
          <p:nvGraphicFramePr>
            <p:cNvPr id="364564" name="Object 20">
              <a:extLst>
                <a:ext uri="{FF2B5EF4-FFF2-40B4-BE49-F238E27FC236}">
                  <a16:creationId xmlns:a16="http://schemas.microsoft.com/office/drawing/2014/main" id="{F5A5A433-F2CF-EFE1-BD2A-96C6889C1788}"/>
                </a:ext>
              </a:extLst>
            </p:cNvPr>
            <p:cNvGraphicFramePr>
              <a:graphicFrameLocks noChangeAspect="1"/>
            </p:cNvGraphicFramePr>
            <p:nvPr/>
          </p:nvGraphicFramePr>
          <p:xfrm>
            <a:off x="452" y="1968"/>
            <a:ext cx="1684" cy="593"/>
          </p:xfrm>
          <a:graphic>
            <a:graphicData uri="http://schemas.openxmlformats.org/presentationml/2006/ole">
              <mc:AlternateContent xmlns:mc="http://schemas.openxmlformats.org/markup-compatibility/2006">
                <mc:Choice xmlns:v="urn:schemas-microsoft-com:vml" Requires="v">
                  <p:oleObj name="Equation" r:id="rId8" imgW="1269720" imgH="393480" progId="Equation.DSMT4">
                    <p:embed/>
                  </p:oleObj>
                </mc:Choice>
                <mc:Fallback>
                  <p:oleObj name="Equation" r:id="rId8" imgW="1269720" imgH="393480" progId="Equation.DSMT4">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2" y="1968"/>
                          <a:ext cx="1684" cy="5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4565" name="AutoShape 21">
              <a:extLst>
                <a:ext uri="{FF2B5EF4-FFF2-40B4-BE49-F238E27FC236}">
                  <a16:creationId xmlns:a16="http://schemas.microsoft.com/office/drawing/2014/main" id="{943F196A-A41D-E5CA-86BC-A46E19E41A07}"/>
                </a:ext>
              </a:extLst>
            </p:cNvPr>
            <p:cNvSpPr>
              <a:spLocks/>
            </p:cNvSpPr>
            <p:nvPr/>
          </p:nvSpPr>
          <p:spPr bwMode="auto">
            <a:xfrm>
              <a:off x="2064" y="1440"/>
              <a:ext cx="144" cy="960"/>
            </a:xfrm>
            <a:prstGeom prst="rightBrace">
              <a:avLst>
                <a:gd name="adj1" fmla="val 5555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364566" name="Object 22">
              <a:extLst>
                <a:ext uri="{FF2B5EF4-FFF2-40B4-BE49-F238E27FC236}">
                  <a16:creationId xmlns:a16="http://schemas.microsoft.com/office/drawing/2014/main" id="{803C25E3-2C4E-569F-B5FE-0E640489D4DE}"/>
                </a:ext>
              </a:extLst>
            </p:cNvPr>
            <p:cNvGraphicFramePr>
              <a:graphicFrameLocks noChangeAspect="1"/>
            </p:cNvGraphicFramePr>
            <p:nvPr/>
          </p:nvGraphicFramePr>
          <p:xfrm>
            <a:off x="1214" y="1440"/>
            <a:ext cx="706" cy="364"/>
          </p:xfrm>
          <a:graphic>
            <a:graphicData uri="http://schemas.openxmlformats.org/presentationml/2006/ole">
              <mc:AlternateContent xmlns:mc="http://schemas.openxmlformats.org/markup-compatibility/2006">
                <mc:Choice xmlns:v="urn:schemas-microsoft-com:vml" Requires="v">
                  <p:oleObj name="Equation" r:id="rId10" imgW="533160" imgH="241200" progId="Equation.DSMT4">
                    <p:embed/>
                  </p:oleObj>
                </mc:Choice>
                <mc:Fallback>
                  <p:oleObj name="Equation" r:id="rId10" imgW="533160" imgH="241200" progId="Equation.DSMT4">
                    <p:embed/>
                    <p:pic>
                      <p:nvPicPr>
                        <p:cNvPr id="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14" y="1440"/>
                          <a:ext cx="706"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64567" name="Group 23">
            <a:extLst>
              <a:ext uri="{FF2B5EF4-FFF2-40B4-BE49-F238E27FC236}">
                <a16:creationId xmlns:a16="http://schemas.microsoft.com/office/drawing/2014/main" id="{CC88496D-AACD-CD35-5878-B990920F5DE9}"/>
              </a:ext>
            </a:extLst>
          </p:cNvPr>
          <p:cNvGrpSpPr>
            <a:grpSpLocks/>
          </p:cNvGrpSpPr>
          <p:nvPr/>
        </p:nvGrpSpPr>
        <p:grpSpPr bwMode="auto">
          <a:xfrm>
            <a:off x="3124200" y="2438400"/>
            <a:ext cx="3200400" cy="1295400"/>
            <a:chOff x="2640" y="1680"/>
            <a:chExt cx="2016" cy="816"/>
          </a:xfrm>
        </p:grpSpPr>
        <p:graphicFrame>
          <p:nvGraphicFramePr>
            <p:cNvPr id="364568" name="Object 24">
              <a:extLst>
                <a:ext uri="{FF2B5EF4-FFF2-40B4-BE49-F238E27FC236}">
                  <a16:creationId xmlns:a16="http://schemas.microsoft.com/office/drawing/2014/main" id="{8A1B5873-0DB3-FE24-3593-203B1B36A537}"/>
                </a:ext>
              </a:extLst>
            </p:cNvPr>
            <p:cNvGraphicFramePr>
              <a:graphicFrameLocks noChangeAspect="1"/>
            </p:cNvGraphicFramePr>
            <p:nvPr/>
          </p:nvGraphicFramePr>
          <p:xfrm>
            <a:off x="2688" y="1872"/>
            <a:ext cx="1679" cy="364"/>
          </p:xfrm>
          <a:graphic>
            <a:graphicData uri="http://schemas.openxmlformats.org/presentationml/2006/ole">
              <mc:AlternateContent xmlns:mc="http://schemas.openxmlformats.org/markup-compatibility/2006">
                <mc:Choice xmlns:v="urn:schemas-microsoft-com:vml" Requires="v">
                  <p:oleObj name="Equation" r:id="rId12" imgW="1269720" imgH="241200" progId="Equation.DSMT4">
                    <p:embed/>
                  </p:oleObj>
                </mc:Choice>
                <mc:Fallback>
                  <p:oleObj name="Equation" r:id="rId12" imgW="1269720" imgH="241200" progId="Equation.DSMT4">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88" y="1872"/>
                          <a:ext cx="1679"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64569" name="Group 25">
              <a:extLst>
                <a:ext uri="{FF2B5EF4-FFF2-40B4-BE49-F238E27FC236}">
                  <a16:creationId xmlns:a16="http://schemas.microsoft.com/office/drawing/2014/main" id="{00BAC388-87CE-9AD2-A089-1A88CA1A75B5}"/>
                </a:ext>
              </a:extLst>
            </p:cNvPr>
            <p:cNvGrpSpPr>
              <a:grpSpLocks/>
            </p:cNvGrpSpPr>
            <p:nvPr/>
          </p:nvGrpSpPr>
          <p:grpSpPr bwMode="auto">
            <a:xfrm>
              <a:off x="2640" y="1680"/>
              <a:ext cx="2016" cy="816"/>
              <a:chOff x="2256" y="1584"/>
              <a:chExt cx="1680" cy="768"/>
            </a:xfrm>
          </p:grpSpPr>
          <p:grpSp>
            <p:nvGrpSpPr>
              <p:cNvPr id="364570" name="Group 26">
                <a:extLst>
                  <a:ext uri="{FF2B5EF4-FFF2-40B4-BE49-F238E27FC236}">
                    <a16:creationId xmlns:a16="http://schemas.microsoft.com/office/drawing/2014/main" id="{F353CA94-2E42-A5D0-1CC6-A56A79400D4C}"/>
                  </a:ext>
                </a:extLst>
              </p:cNvPr>
              <p:cNvGrpSpPr>
                <a:grpSpLocks/>
              </p:cNvGrpSpPr>
              <p:nvPr/>
            </p:nvGrpSpPr>
            <p:grpSpPr bwMode="auto">
              <a:xfrm>
                <a:off x="2256" y="1584"/>
                <a:ext cx="1680" cy="768"/>
                <a:chOff x="2256" y="1584"/>
                <a:chExt cx="1680" cy="768"/>
              </a:xfrm>
            </p:grpSpPr>
            <p:sp>
              <p:nvSpPr>
                <p:cNvPr id="364571" name="Line 27">
                  <a:extLst>
                    <a:ext uri="{FF2B5EF4-FFF2-40B4-BE49-F238E27FC236}">
                      <a16:creationId xmlns:a16="http://schemas.microsoft.com/office/drawing/2014/main" id="{8945C16C-5BC2-C57B-1F30-B53DE3131E26}"/>
                    </a:ext>
                  </a:extLst>
                </p:cNvPr>
                <p:cNvSpPr>
                  <a:spLocks noChangeShapeType="1"/>
                </p:cNvSpPr>
                <p:nvPr/>
              </p:nvSpPr>
              <p:spPr bwMode="auto">
                <a:xfrm>
                  <a:off x="2256" y="1728"/>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4572" name="Line 28">
                  <a:extLst>
                    <a:ext uri="{FF2B5EF4-FFF2-40B4-BE49-F238E27FC236}">
                      <a16:creationId xmlns:a16="http://schemas.microsoft.com/office/drawing/2014/main" id="{BD71D77D-2F31-26AD-C45A-3265A99AD3C5}"/>
                    </a:ext>
                  </a:extLst>
                </p:cNvPr>
                <p:cNvSpPr>
                  <a:spLocks noChangeShapeType="1"/>
                </p:cNvSpPr>
                <p:nvPr/>
              </p:nvSpPr>
              <p:spPr bwMode="auto">
                <a:xfrm>
                  <a:off x="2256" y="2112"/>
                  <a:ext cx="13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4573" name="Line 29">
                  <a:extLst>
                    <a:ext uri="{FF2B5EF4-FFF2-40B4-BE49-F238E27FC236}">
                      <a16:creationId xmlns:a16="http://schemas.microsoft.com/office/drawing/2014/main" id="{19D6F014-E4B5-FADC-3AE7-778B87EDD82A}"/>
                    </a:ext>
                  </a:extLst>
                </p:cNvPr>
                <p:cNvSpPr>
                  <a:spLocks noChangeShapeType="1"/>
                </p:cNvSpPr>
                <p:nvPr/>
              </p:nvSpPr>
              <p:spPr bwMode="auto">
                <a:xfrm>
                  <a:off x="3408" y="1584"/>
                  <a:ext cx="528"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4574" name="Line 30">
                  <a:extLst>
                    <a:ext uri="{FF2B5EF4-FFF2-40B4-BE49-F238E27FC236}">
                      <a16:creationId xmlns:a16="http://schemas.microsoft.com/office/drawing/2014/main" id="{ED5104B3-209C-A751-3C05-1264A00ABE56}"/>
                    </a:ext>
                  </a:extLst>
                </p:cNvPr>
                <p:cNvSpPr>
                  <a:spLocks noChangeShapeType="1"/>
                </p:cNvSpPr>
                <p:nvPr/>
              </p:nvSpPr>
              <p:spPr bwMode="auto">
                <a:xfrm flipH="1">
                  <a:off x="3312" y="1920"/>
                  <a:ext cx="62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64575" name="Line 31">
                <a:extLst>
                  <a:ext uri="{FF2B5EF4-FFF2-40B4-BE49-F238E27FC236}">
                    <a16:creationId xmlns:a16="http://schemas.microsoft.com/office/drawing/2014/main" id="{0155738E-8530-6A19-5F88-4BBA9D0455C8}"/>
                  </a:ext>
                </a:extLst>
              </p:cNvPr>
              <p:cNvSpPr>
                <a:spLocks noChangeShapeType="1"/>
              </p:cNvSpPr>
              <p:nvPr/>
            </p:nvSpPr>
            <p:spPr bwMode="auto">
              <a:xfrm>
                <a:off x="2256" y="172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
        <p:nvSpPr>
          <p:cNvPr id="364576" name="Line 32">
            <a:extLst>
              <a:ext uri="{FF2B5EF4-FFF2-40B4-BE49-F238E27FC236}">
                <a16:creationId xmlns:a16="http://schemas.microsoft.com/office/drawing/2014/main" id="{A3442509-39CB-8E26-9B1C-2D6484AA1F26}"/>
              </a:ext>
            </a:extLst>
          </p:cNvPr>
          <p:cNvSpPr>
            <a:spLocks noChangeShapeType="1"/>
          </p:cNvSpPr>
          <p:nvPr/>
        </p:nvSpPr>
        <p:spPr bwMode="auto">
          <a:xfrm>
            <a:off x="5181600" y="6629400"/>
            <a:ext cx="3581400" cy="0"/>
          </a:xfrm>
          <a:prstGeom prst="line">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64546"/>
                                        </p:tgtEl>
                                        <p:attrNameLst>
                                          <p:attrName>style.visibility</p:attrName>
                                        </p:attrNameLst>
                                      </p:cBhvr>
                                      <p:to>
                                        <p:strVal val="visible"/>
                                      </p:to>
                                    </p:set>
                                    <p:animEffect transition="in" filter="slide(fromTop)">
                                      <p:cBhvr>
                                        <p:cTn id="7" dur="500"/>
                                        <p:tgtEl>
                                          <p:spTgt spid="3645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64548"/>
                                        </p:tgtEl>
                                        <p:attrNameLst>
                                          <p:attrName>style.visibility</p:attrName>
                                        </p:attrNameLst>
                                      </p:cBhvr>
                                      <p:to>
                                        <p:strVal val="visible"/>
                                      </p:to>
                                    </p:set>
                                    <p:animEffect transition="in" filter="slide(fromBottom)">
                                      <p:cBhvr>
                                        <p:cTn id="12" dur="500"/>
                                        <p:tgtEl>
                                          <p:spTgt spid="3645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4563"/>
                                        </p:tgtEl>
                                        <p:attrNameLst>
                                          <p:attrName>style.visibility</p:attrName>
                                        </p:attrNameLst>
                                      </p:cBhvr>
                                      <p:to>
                                        <p:strVal val="visible"/>
                                      </p:to>
                                    </p:set>
                                    <p:animEffect transition="in" filter="box(in)">
                                      <p:cBhvr>
                                        <p:cTn id="17" dur="500"/>
                                        <p:tgtEl>
                                          <p:spTgt spid="36456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364567"/>
                                        </p:tgtEl>
                                        <p:attrNameLst>
                                          <p:attrName>style.visibility</p:attrName>
                                        </p:attrNameLst>
                                      </p:cBhvr>
                                      <p:to>
                                        <p:strVal val="visible"/>
                                      </p:to>
                                    </p:set>
                                    <p:animEffect transition="in" filter="box(out)">
                                      <p:cBhvr>
                                        <p:cTn id="22" dur="500"/>
                                        <p:tgtEl>
                                          <p:spTgt spid="36456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nodeType="clickEffect">
                                  <p:stCondLst>
                                    <p:cond delay="0"/>
                                  </p:stCondLst>
                                  <p:childTnLst>
                                    <p:set>
                                      <p:cBhvr>
                                        <p:cTn id="26" dur="1" fill="hold">
                                          <p:stCondLst>
                                            <p:cond delay="0"/>
                                          </p:stCondLst>
                                        </p:cTn>
                                        <p:tgtEl>
                                          <p:spTgt spid="364560"/>
                                        </p:tgtEl>
                                        <p:attrNameLst>
                                          <p:attrName>style.visibility</p:attrName>
                                        </p:attrNameLst>
                                      </p:cBhvr>
                                      <p:to>
                                        <p:strVal val="visible"/>
                                      </p:to>
                                    </p:set>
                                    <p:animEffect transition="in" filter="slide(fromLeft)">
                                      <p:cBhvr>
                                        <p:cTn id="27" dur="500"/>
                                        <p:tgtEl>
                                          <p:spTgt spid="36456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64549"/>
                                        </p:tgtEl>
                                        <p:attrNameLst>
                                          <p:attrName>style.visibility</p:attrName>
                                        </p:attrNameLst>
                                      </p:cBhvr>
                                      <p:to>
                                        <p:strVal val="visible"/>
                                      </p:to>
                                    </p:set>
                                    <p:animEffect transition="in" filter="box(in)">
                                      <p:cBhvr>
                                        <p:cTn id="32" dur="500"/>
                                        <p:tgtEl>
                                          <p:spTgt spid="36454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1" fill="hold" nodeType="clickEffect">
                                  <p:stCondLst>
                                    <p:cond delay="0"/>
                                  </p:stCondLst>
                                  <p:childTnLst>
                                    <p:set>
                                      <p:cBhvr>
                                        <p:cTn id="36" dur="1" fill="hold">
                                          <p:stCondLst>
                                            <p:cond delay="0"/>
                                          </p:stCondLst>
                                        </p:cTn>
                                        <p:tgtEl>
                                          <p:spTgt spid="364561"/>
                                        </p:tgtEl>
                                        <p:attrNameLst>
                                          <p:attrName>style.visibility</p:attrName>
                                        </p:attrNameLst>
                                      </p:cBhvr>
                                      <p:to>
                                        <p:strVal val="visible"/>
                                      </p:to>
                                    </p:set>
                                    <p:animEffect transition="in" filter="slide(fromTop)">
                                      <p:cBhvr>
                                        <p:cTn id="37" dur="500"/>
                                        <p:tgtEl>
                                          <p:spTgt spid="36456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8" fill="hold" nodeType="clickEffect">
                                  <p:stCondLst>
                                    <p:cond delay="0"/>
                                  </p:stCondLst>
                                  <p:childTnLst>
                                    <p:set>
                                      <p:cBhvr>
                                        <p:cTn id="41" dur="1" fill="hold">
                                          <p:stCondLst>
                                            <p:cond delay="0"/>
                                          </p:stCondLst>
                                        </p:cTn>
                                        <p:tgtEl>
                                          <p:spTgt spid="364562"/>
                                        </p:tgtEl>
                                        <p:attrNameLst>
                                          <p:attrName>style.visibility</p:attrName>
                                        </p:attrNameLst>
                                      </p:cBhvr>
                                      <p:to>
                                        <p:strVal val="visible"/>
                                      </p:to>
                                    </p:set>
                                    <p:animEffect transition="in" filter="slide(fromLeft)">
                                      <p:cBhvr>
                                        <p:cTn id="42" dur="500"/>
                                        <p:tgtEl>
                                          <p:spTgt spid="36456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nodeType="clickEffect">
                                  <p:stCondLst>
                                    <p:cond delay="0"/>
                                  </p:stCondLst>
                                  <p:childTnLst>
                                    <p:set>
                                      <p:cBhvr>
                                        <p:cTn id="46" dur="1" fill="hold">
                                          <p:stCondLst>
                                            <p:cond delay="0"/>
                                          </p:stCondLst>
                                        </p:cTn>
                                        <p:tgtEl>
                                          <p:spTgt spid="364576"/>
                                        </p:tgtEl>
                                        <p:attrNameLst>
                                          <p:attrName>style.visibility</p:attrName>
                                        </p:attrNameLst>
                                      </p:cBhvr>
                                      <p:to>
                                        <p:strVal val="visible"/>
                                      </p:to>
                                    </p:set>
                                    <p:animEffect transition="in" filter="box(out)">
                                      <p:cBhvr>
                                        <p:cTn id="47" dur="500"/>
                                        <p:tgtEl>
                                          <p:spTgt spid="3645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6" grpId="0" autoUpdateAnimBg="0"/>
      <p:bldP spid="364548" grpId="0" autoUpdateAnimBg="0"/>
      <p:bldP spid="364549"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2499" name="Rectangle 3">
            <a:extLst>
              <a:ext uri="{FF2B5EF4-FFF2-40B4-BE49-F238E27FC236}">
                <a16:creationId xmlns:a16="http://schemas.microsoft.com/office/drawing/2014/main" id="{07CFF57D-47F2-88CE-3B68-25533DEF32E1}"/>
              </a:ext>
            </a:extLst>
          </p:cNvPr>
          <p:cNvSpPr>
            <a:spLocks noGrp="1" noRot="1" noChangeArrowheads="1"/>
          </p:cNvSpPr>
          <p:nvPr>
            <p:ph type="title"/>
          </p:nvPr>
        </p:nvSpPr>
        <p:spPr>
          <a:xfrm>
            <a:off x="298450" y="152400"/>
            <a:ext cx="8540750" cy="1143000"/>
          </a:xfrm>
        </p:spPr>
        <p:txBody>
          <a:bodyPr/>
          <a:lstStyle/>
          <a:p>
            <a:r>
              <a:rPr lang="en-US" altLang="zh-CN" b="1">
                <a:solidFill>
                  <a:srgbClr val="CC0000"/>
                </a:solidFill>
              </a:rPr>
              <a:t>3.6 </a:t>
            </a:r>
            <a:r>
              <a:rPr lang="zh-CN" altLang="en-US" b="1">
                <a:solidFill>
                  <a:srgbClr val="CC0000"/>
                </a:solidFill>
              </a:rPr>
              <a:t>总供给曲线拓展前后的对比</a:t>
            </a:r>
          </a:p>
        </p:txBody>
      </p:sp>
      <p:sp>
        <p:nvSpPr>
          <p:cNvPr id="362500" name="Rectangle 4">
            <a:extLst>
              <a:ext uri="{FF2B5EF4-FFF2-40B4-BE49-F238E27FC236}">
                <a16:creationId xmlns:a16="http://schemas.microsoft.com/office/drawing/2014/main" id="{6579D3F6-B268-219A-8A99-5F49CE5EC53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2501" name="Rectangle 5">
            <a:extLst>
              <a:ext uri="{FF2B5EF4-FFF2-40B4-BE49-F238E27FC236}">
                <a16:creationId xmlns:a16="http://schemas.microsoft.com/office/drawing/2014/main" id="{A643015D-B39B-5053-9118-8FA35626C462}"/>
              </a:ext>
            </a:extLst>
          </p:cNvPr>
          <p:cNvSpPr>
            <a:spLocks noRot="1" noChangeArrowheads="1"/>
          </p:cNvSpPr>
          <p:nvPr/>
        </p:nvSpPr>
        <p:spPr bwMode="auto">
          <a:xfrm>
            <a:off x="228600" y="1371600"/>
            <a:ext cx="2514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拓展后</a:t>
            </a:r>
          </a:p>
        </p:txBody>
      </p:sp>
      <p:graphicFrame>
        <p:nvGraphicFramePr>
          <p:cNvPr id="362502" name="Object 6">
            <a:extLst>
              <a:ext uri="{FF2B5EF4-FFF2-40B4-BE49-F238E27FC236}">
                <a16:creationId xmlns:a16="http://schemas.microsoft.com/office/drawing/2014/main" id="{807157C1-B56E-76CE-AC49-2CDEB21F33F4}"/>
              </a:ext>
            </a:extLst>
          </p:cNvPr>
          <p:cNvGraphicFramePr>
            <a:graphicFrameLocks noChangeAspect="1"/>
          </p:cNvGraphicFramePr>
          <p:nvPr/>
        </p:nvGraphicFramePr>
        <p:xfrm>
          <a:off x="862013" y="2165350"/>
          <a:ext cx="2933700" cy="577850"/>
        </p:xfrm>
        <a:graphic>
          <a:graphicData uri="http://schemas.openxmlformats.org/presentationml/2006/ole">
            <mc:AlternateContent xmlns:mc="http://schemas.openxmlformats.org/markup-compatibility/2006">
              <mc:Choice xmlns:v="urn:schemas-microsoft-com:vml" Requires="v">
                <p:oleObj name="Equation" r:id="rId2" imgW="1396800" imgH="241200" progId="Equation.DSMT4">
                  <p:embed/>
                </p:oleObj>
              </mc:Choice>
              <mc:Fallback>
                <p:oleObj name="Equation" r:id="rId2" imgW="1396800" imgH="241200" progId="Equation.DSMT4">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013" y="2165350"/>
                        <a:ext cx="2933700"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2503" name="Rectangle 7">
            <a:extLst>
              <a:ext uri="{FF2B5EF4-FFF2-40B4-BE49-F238E27FC236}">
                <a16:creationId xmlns:a16="http://schemas.microsoft.com/office/drawing/2014/main" id="{5AAA21EA-99FE-959A-BFDC-0C95995D10C1}"/>
              </a:ext>
            </a:extLst>
          </p:cNvPr>
          <p:cNvSpPr>
            <a:spLocks noRot="1" noChangeArrowheads="1"/>
          </p:cNvSpPr>
          <p:nvPr/>
        </p:nvSpPr>
        <p:spPr bwMode="auto">
          <a:xfrm>
            <a:off x="152400" y="3505200"/>
            <a:ext cx="51816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当其他条件不变时，人们对价格的预期发生变化，短期总供给曲线将会平移。</a:t>
            </a:r>
          </a:p>
        </p:txBody>
      </p:sp>
      <p:grpSp>
        <p:nvGrpSpPr>
          <p:cNvPr id="362504" name="Group 8">
            <a:extLst>
              <a:ext uri="{FF2B5EF4-FFF2-40B4-BE49-F238E27FC236}">
                <a16:creationId xmlns:a16="http://schemas.microsoft.com/office/drawing/2014/main" id="{371FB9BB-524D-79C2-AA27-D2B8921C6BD4}"/>
              </a:ext>
            </a:extLst>
          </p:cNvPr>
          <p:cNvGrpSpPr>
            <a:grpSpLocks/>
          </p:cNvGrpSpPr>
          <p:nvPr/>
        </p:nvGrpSpPr>
        <p:grpSpPr bwMode="auto">
          <a:xfrm>
            <a:off x="5562600" y="3644900"/>
            <a:ext cx="3352800" cy="2984500"/>
            <a:chOff x="1440" y="1920"/>
            <a:chExt cx="2928" cy="2024"/>
          </a:xfrm>
        </p:grpSpPr>
        <p:sp>
          <p:nvSpPr>
            <p:cNvPr id="362505" name="Line 9">
              <a:extLst>
                <a:ext uri="{FF2B5EF4-FFF2-40B4-BE49-F238E27FC236}">
                  <a16:creationId xmlns:a16="http://schemas.microsoft.com/office/drawing/2014/main" id="{2AE7E373-8762-4340-6CA5-7E60B43227E9}"/>
                </a:ext>
              </a:extLst>
            </p:cNvPr>
            <p:cNvSpPr>
              <a:spLocks noChangeShapeType="1"/>
            </p:cNvSpPr>
            <p:nvPr/>
          </p:nvSpPr>
          <p:spPr bwMode="auto">
            <a:xfrm>
              <a:off x="1776" y="1920"/>
              <a:ext cx="0" cy="168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06" name="Line 10">
              <a:extLst>
                <a:ext uri="{FF2B5EF4-FFF2-40B4-BE49-F238E27FC236}">
                  <a16:creationId xmlns:a16="http://schemas.microsoft.com/office/drawing/2014/main" id="{4573A61D-D4E5-4BBE-E1FC-78119FAE2C25}"/>
                </a:ext>
              </a:extLst>
            </p:cNvPr>
            <p:cNvSpPr>
              <a:spLocks noChangeShapeType="1"/>
            </p:cNvSpPr>
            <p:nvPr/>
          </p:nvSpPr>
          <p:spPr bwMode="auto">
            <a:xfrm>
              <a:off x="1776" y="3600"/>
              <a:ext cx="220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07" name="Text Box 11">
              <a:extLst>
                <a:ext uri="{FF2B5EF4-FFF2-40B4-BE49-F238E27FC236}">
                  <a16:creationId xmlns:a16="http://schemas.microsoft.com/office/drawing/2014/main" id="{7EA0F9BE-292F-CC81-E0E4-1B864701A7AE}"/>
                </a:ext>
              </a:extLst>
            </p:cNvPr>
            <p:cNvSpPr txBox="1">
              <a:spLocks noChangeArrowheads="1"/>
            </p:cNvSpPr>
            <p:nvPr/>
          </p:nvSpPr>
          <p:spPr bwMode="auto">
            <a:xfrm>
              <a:off x="1440" y="2016"/>
              <a:ext cx="250" cy="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价格水平</a:t>
              </a:r>
            </a:p>
            <a:p>
              <a:pPr algn="l">
                <a:spcBef>
                  <a:spcPct val="50000"/>
                </a:spcBef>
              </a:pPr>
              <a:r>
                <a:rPr lang="en-US" altLang="zh-CN" b="1"/>
                <a:t>P</a:t>
              </a:r>
            </a:p>
          </p:txBody>
        </p:sp>
        <p:sp>
          <p:nvSpPr>
            <p:cNvPr id="362508" name="Text Box 12">
              <a:extLst>
                <a:ext uri="{FF2B5EF4-FFF2-40B4-BE49-F238E27FC236}">
                  <a16:creationId xmlns:a16="http://schemas.microsoft.com/office/drawing/2014/main" id="{BA3A63DA-C51A-2109-4903-D706918C0CF4}"/>
                </a:ext>
              </a:extLst>
            </p:cNvPr>
            <p:cNvSpPr txBox="1">
              <a:spLocks noChangeArrowheads="1"/>
            </p:cNvSpPr>
            <p:nvPr/>
          </p:nvSpPr>
          <p:spPr bwMode="auto">
            <a:xfrm>
              <a:off x="3600" y="3696"/>
              <a:ext cx="768"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产量 </a:t>
              </a:r>
              <a:r>
                <a:rPr lang="en-US" altLang="zh-CN" b="1"/>
                <a:t>Y</a:t>
              </a:r>
            </a:p>
          </p:txBody>
        </p:sp>
      </p:grpSp>
      <p:grpSp>
        <p:nvGrpSpPr>
          <p:cNvPr id="362509" name="Group 13">
            <a:extLst>
              <a:ext uri="{FF2B5EF4-FFF2-40B4-BE49-F238E27FC236}">
                <a16:creationId xmlns:a16="http://schemas.microsoft.com/office/drawing/2014/main" id="{9FB2104F-3368-8B7E-98BD-22151043AF94}"/>
              </a:ext>
            </a:extLst>
          </p:cNvPr>
          <p:cNvGrpSpPr>
            <a:grpSpLocks/>
          </p:cNvGrpSpPr>
          <p:nvPr/>
        </p:nvGrpSpPr>
        <p:grpSpPr bwMode="auto">
          <a:xfrm rot="-1644279">
            <a:off x="6246813" y="4662488"/>
            <a:ext cx="2439987" cy="366712"/>
            <a:chOff x="2351" y="2352"/>
            <a:chExt cx="1537" cy="231"/>
          </a:xfrm>
        </p:grpSpPr>
        <p:sp>
          <p:nvSpPr>
            <p:cNvPr id="362510" name="Line 14">
              <a:extLst>
                <a:ext uri="{FF2B5EF4-FFF2-40B4-BE49-F238E27FC236}">
                  <a16:creationId xmlns:a16="http://schemas.microsoft.com/office/drawing/2014/main" id="{3EDB1C5C-FEBB-0709-F275-99E20B79B8B6}"/>
                </a:ext>
              </a:extLst>
            </p:cNvPr>
            <p:cNvSpPr>
              <a:spLocks noChangeShapeType="1"/>
            </p:cNvSpPr>
            <p:nvPr/>
          </p:nvSpPr>
          <p:spPr bwMode="auto">
            <a:xfrm rot="5400000">
              <a:off x="2927" y="1895"/>
              <a:ext cx="0" cy="1152"/>
            </a:xfrm>
            <a:prstGeom prst="line">
              <a:avLst/>
            </a:prstGeom>
            <a:noFill/>
            <a:ln w="38100">
              <a:solidFill>
                <a:srgbClr val="24C03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2511" name="Text Box 15">
              <a:extLst>
                <a:ext uri="{FF2B5EF4-FFF2-40B4-BE49-F238E27FC236}">
                  <a16:creationId xmlns:a16="http://schemas.microsoft.com/office/drawing/2014/main" id="{68319119-E6C7-014C-6E7C-97E996218738}"/>
                </a:ext>
              </a:extLst>
            </p:cNvPr>
            <p:cNvSpPr txBox="1">
              <a:spLocks noChangeArrowheads="1"/>
            </p:cNvSpPr>
            <p:nvPr/>
          </p:nvSpPr>
          <p:spPr bwMode="auto">
            <a:xfrm>
              <a:off x="3504" y="235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24C03A"/>
                  </a:solidFill>
                </a:rPr>
                <a:t>AS</a:t>
              </a:r>
            </a:p>
          </p:txBody>
        </p:sp>
      </p:grpSp>
      <p:grpSp>
        <p:nvGrpSpPr>
          <p:cNvPr id="362512" name="Group 16">
            <a:extLst>
              <a:ext uri="{FF2B5EF4-FFF2-40B4-BE49-F238E27FC236}">
                <a16:creationId xmlns:a16="http://schemas.microsoft.com/office/drawing/2014/main" id="{9FC0B69F-41E8-ACAF-6046-C3D955FA2F95}"/>
              </a:ext>
            </a:extLst>
          </p:cNvPr>
          <p:cNvGrpSpPr>
            <a:grpSpLocks/>
          </p:cNvGrpSpPr>
          <p:nvPr/>
        </p:nvGrpSpPr>
        <p:grpSpPr bwMode="auto">
          <a:xfrm>
            <a:off x="7118350" y="3733800"/>
            <a:ext cx="425450" cy="2743200"/>
            <a:chOff x="4484" y="2112"/>
            <a:chExt cx="268" cy="1728"/>
          </a:xfrm>
        </p:grpSpPr>
        <p:sp>
          <p:nvSpPr>
            <p:cNvPr id="362513" name="Line 17">
              <a:extLst>
                <a:ext uri="{FF2B5EF4-FFF2-40B4-BE49-F238E27FC236}">
                  <a16:creationId xmlns:a16="http://schemas.microsoft.com/office/drawing/2014/main" id="{08032616-67F3-3DC7-F0C9-2AD6A6437F02}"/>
                </a:ext>
              </a:extLst>
            </p:cNvPr>
            <p:cNvSpPr>
              <a:spLocks noChangeShapeType="1"/>
            </p:cNvSpPr>
            <p:nvPr/>
          </p:nvSpPr>
          <p:spPr bwMode="auto">
            <a:xfrm>
              <a:off x="4608" y="2112"/>
              <a:ext cx="0" cy="1488"/>
            </a:xfrm>
            <a:prstGeom prst="line">
              <a:avLst/>
            </a:prstGeom>
            <a:noFill/>
            <a:ln w="381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2514" name="Text Box 18">
              <a:extLst>
                <a:ext uri="{FF2B5EF4-FFF2-40B4-BE49-F238E27FC236}">
                  <a16:creationId xmlns:a16="http://schemas.microsoft.com/office/drawing/2014/main" id="{BB9F0E20-EF07-F138-9054-825C5F098486}"/>
                </a:ext>
              </a:extLst>
            </p:cNvPr>
            <p:cNvSpPr txBox="1">
              <a:spLocks noChangeArrowheads="1"/>
            </p:cNvSpPr>
            <p:nvPr/>
          </p:nvSpPr>
          <p:spPr bwMode="auto">
            <a:xfrm>
              <a:off x="4484" y="3609"/>
              <a:ext cx="2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Y*</a:t>
              </a:r>
            </a:p>
          </p:txBody>
        </p:sp>
      </p:grpSp>
      <p:grpSp>
        <p:nvGrpSpPr>
          <p:cNvPr id="362515" name="Group 19">
            <a:extLst>
              <a:ext uri="{FF2B5EF4-FFF2-40B4-BE49-F238E27FC236}">
                <a16:creationId xmlns:a16="http://schemas.microsoft.com/office/drawing/2014/main" id="{82B6D3C8-9E82-3ACA-B74A-5A68C071816F}"/>
              </a:ext>
            </a:extLst>
          </p:cNvPr>
          <p:cNvGrpSpPr>
            <a:grpSpLocks/>
          </p:cNvGrpSpPr>
          <p:nvPr/>
        </p:nvGrpSpPr>
        <p:grpSpPr bwMode="auto">
          <a:xfrm rot="-1670315">
            <a:off x="6324600" y="5119688"/>
            <a:ext cx="2441575" cy="366712"/>
            <a:chOff x="2350" y="2352"/>
            <a:chExt cx="1538" cy="231"/>
          </a:xfrm>
        </p:grpSpPr>
        <p:sp>
          <p:nvSpPr>
            <p:cNvPr id="362516" name="Line 20">
              <a:extLst>
                <a:ext uri="{FF2B5EF4-FFF2-40B4-BE49-F238E27FC236}">
                  <a16:creationId xmlns:a16="http://schemas.microsoft.com/office/drawing/2014/main" id="{2C39028B-9258-67B0-789C-A8F5C8ADC054}"/>
                </a:ext>
              </a:extLst>
            </p:cNvPr>
            <p:cNvSpPr>
              <a:spLocks noChangeShapeType="1"/>
            </p:cNvSpPr>
            <p:nvPr/>
          </p:nvSpPr>
          <p:spPr bwMode="auto">
            <a:xfrm rot="5400000">
              <a:off x="2926" y="1896"/>
              <a:ext cx="0" cy="1152"/>
            </a:xfrm>
            <a:prstGeom prst="line">
              <a:avLst/>
            </a:prstGeom>
            <a:noFill/>
            <a:ln w="38100">
              <a:solidFill>
                <a:srgbClr val="24C03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endParaRPr lang="zh-CN" altLang="en-US"/>
            </a:p>
          </p:txBody>
        </p:sp>
        <p:sp>
          <p:nvSpPr>
            <p:cNvPr id="362517" name="Text Box 21">
              <a:extLst>
                <a:ext uri="{FF2B5EF4-FFF2-40B4-BE49-F238E27FC236}">
                  <a16:creationId xmlns:a16="http://schemas.microsoft.com/office/drawing/2014/main" id="{EFAB0074-D24E-BC00-7BAE-24A06AF20FB7}"/>
                </a:ext>
              </a:extLst>
            </p:cNvPr>
            <p:cNvSpPr txBox="1">
              <a:spLocks noChangeArrowheads="1"/>
            </p:cNvSpPr>
            <p:nvPr/>
          </p:nvSpPr>
          <p:spPr bwMode="auto">
            <a:xfrm>
              <a:off x="3504" y="235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algn="l">
                <a:spcBef>
                  <a:spcPct val="50000"/>
                </a:spcBef>
              </a:pPr>
              <a:r>
                <a:rPr lang="en-US" altLang="zh-CN" b="1">
                  <a:solidFill>
                    <a:srgbClr val="24C03A"/>
                  </a:solidFill>
                </a:rPr>
                <a:t>AS1</a:t>
              </a:r>
            </a:p>
          </p:txBody>
        </p:sp>
      </p:grpSp>
      <p:grpSp>
        <p:nvGrpSpPr>
          <p:cNvPr id="362518" name="Group 22">
            <a:extLst>
              <a:ext uri="{FF2B5EF4-FFF2-40B4-BE49-F238E27FC236}">
                <a16:creationId xmlns:a16="http://schemas.microsoft.com/office/drawing/2014/main" id="{87D01680-8282-443D-1A3D-00309657142A}"/>
              </a:ext>
            </a:extLst>
          </p:cNvPr>
          <p:cNvGrpSpPr>
            <a:grpSpLocks/>
          </p:cNvGrpSpPr>
          <p:nvPr/>
        </p:nvGrpSpPr>
        <p:grpSpPr bwMode="auto">
          <a:xfrm rot="-1672697">
            <a:off x="6096000" y="4191000"/>
            <a:ext cx="2441575" cy="366713"/>
            <a:chOff x="2350" y="2352"/>
            <a:chExt cx="1538" cy="231"/>
          </a:xfrm>
        </p:grpSpPr>
        <p:sp>
          <p:nvSpPr>
            <p:cNvPr id="362519" name="Line 23">
              <a:extLst>
                <a:ext uri="{FF2B5EF4-FFF2-40B4-BE49-F238E27FC236}">
                  <a16:creationId xmlns:a16="http://schemas.microsoft.com/office/drawing/2014/main" id="{617A5ADA-C989-A7D5-B421-4A5D11D2FD73}"/>
                </a:ext>
              </a:extLst>
            </p:cNvPr>
            <p:cNvSpPr>
              <a:spLocks noChangeShapeType="1"/>
            </p:cNvSpPr>
            <p:nvPr/>
          </p:nvSpPr>
          <p:spPr bwMode="auto">
            <a:xfrm rot="5400000">
              <a:off x="2926" y="1896"/>
              <a:ext cx="0" cy="1152"/>
            </a:xfrm>
            <a:prstGeom prst="line">
              <a:avLst/>
            </a:prstGeom>
            <a:noFill/>
            <a:ln w="38100">
              <a:solidFill>
                <a:srgbClr val="24C03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endParaRPr lang="zh-CN" altLang="en-US"/>
            </a:p>
          </p:txBody>
        </p:sp>
        <p:sp>
          <p:nvSpPr>
            <p:cNvPr id="362520" name="Text Box 24">
              <a:extLst>
                <a:ext uri="{FF2B5EF4-FFF2-40B4-BE49-F238E27FC236}">
                  <a16:creationId xmlns:a16="http://schemas.microsoft.com/office/drawing/2014/main" id="{81D92301-CCC6-8058-5A8B-AE8260B5CA44}"/>
                </a:ext>
              </a:extLst>
            </p:cNvPr>
            <p:cNvSpPr txBox="1">
              <a:spLocks noChangeArrowheads="1"/>
            </p:cNvSpPr>
            <p:nvPr/>
          </p:nvSpPr>
          <p:spPr bwMode="auto">
            <a:xfrm>
              <a:off x="3504" y="235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algn="l">
                <a:spcBef>
                  <a:spcPct val="50000"/>
                </a:spcBef>
              </a:pPr>
              <a:r>
                <a:rPr lang="en-US" altLang="zh-CN" b="1">
                  <a:solidFill>
                    <a:srgbClr val="24C03A"/>
                  </a:solidFill>
                </a:rPr>
                <a:t>AS2</a:t>
              </a:r>
            </a:p>
          </p:txBody>
        </p:sp>
      </p:grpSp>
      <p:sp>
        <p:nvSpPr>
          <p:cNvPr id="362522" name="Rectangle 26">
            <a:extLst>
              <a:ext uri="{FF2B5EF4-FFF2-40B4-BE49-F238E27FC236}">
                <a16:creationId xmlns:a16="http://schemas.microsoft.com/office/drawing/2014/main" id="{598B491E-C44A-F5B7-95D0-398EBE87DF63}"/>
              </a:ext>
            </a:extLst>
          </p:cNvPr>
          <p:cNvSpPr>
            <a:spLocks noRot="1" noChangeArrowheads="1"/>
          </p:cNvSpPr>
          <p:nvPr/>
        </p:nvSpPr>
        <p:spPr bwMode="auto">
          <a:xfrm>
            <a:off x="228600" y="5181600"/>
            <a:ext cx="53340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比如，预期价格下降，短期总供给向下平移；反之，向上平移</a:t>
            </a:r>
          </a:p>
        </p:txBody>
      </p:sp>
      <p:sp>
        <p:nvSpPr>
          <p:cNvPr id="362523" name="Rectangle 27">
            <a:extLst>
              <a:ext uri="{FF2B5EF4-FFF2-40B4-BE49-F238E27FC236}">
                <a16:creationId xmlns:a16="http://schemas.microsoft.com/office/drawing/2014/main" id="{931D4E71-D24A-A718-ABA5-165A8FFEBE13}"/>
              </a:ext>
            </a:extLst>
          </p:cNvPr>
          <p:cNvSpPr>
            <a:spLocks noRot="1" noChangeArrowheads="1"/>
          </p:cNvSpPr>
          <p:nvPr/>
        </p:nvSpPr>
        <p:spPr bwMode="auto">
          <a:xfrm>
            <a:off x="5181600" y="1295400"/>
            <a:ext cx="25146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拓展前</a:t>
            </a:r>
          </a:p>
        </p:txBody>
      </p:sp>
      <p:graphicFrame>
        <p:nvGraphicFramePr>
          <p:cNvPr id="362524" name="Object 28">
            <a:extLst>
              <a:ext uri="{FF2B5EF4-FFF2-40B4-BE49-F238E27FC236}">
                <a16:creationId xmlns:a16="http://schemas.microsoft.com/office/drawing/2014/main" id="{9B99E5AB-CE2C-61CF-D291-BE65CC747254}"/>
              </a:ext>
            </a:extLst>
          </p:cNvPr>
          <p:cNvGraphicFramePr>
            <a:graphicFrameLocks noChangeAspect="1"/>
          </p:cNvGraphicFramePr>
          <p:nvPr/>
        </p:nvGraphicFramePr>
        <p:xfrm>
          <a:off x="5091113" y="1878013"/>
          <a:ext cx="3040062" cy="1093787"/>
        </p:xfrm>
        <a:graphic>
          <a:graphicData uri="http://schemas.openxmlformats.org/presentationml/2006/ole">
            <mc:AlternateContent xmlns:mc="http://schemas.openxmlformats.org/markup-compatibility/2006">
              <mc:Choice xmlns:v="urn:schemas-microsoft-com:vml" Requires="v">
                <p:oleObj name="Equation" r:id="rId4" imgW="1447560" imgH="457200" progId="Equation.DSMT4">
                  <p:embed/>
                </p:oleObj>
              </mc:Choice>
              <mc:Fallback>
                <p:oleObj name="Equation" r:id="rId4" imgW="1447560" imgH="457200" progId="Equation.DSMT4">
                  <p:embed/>
                  <p:pic>
                    <p:nvPicPr>
                      <p:cNvPr id="0" name="Object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91113" y="1878013"/>
                        <a:ext cx="3040062" cy="1093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62499"/>
                                        </p:tgtEl>
                                        <p:attrNameLst>
                                          <p:attrName>style.visibility</p:attrName>
                                        </p:attrNameLst>
                                      </p:cBhvr>
                                      <p:to>
                                        <p:strVal val="visible"/>
                                      </p:to>
                                    </p:set>
                                    <p:animEffect transition="in" filter="slide(fromTop)">
                                      <p:cBhvr>
                                        <p:cTn id="7" dur="500"/>
                                        <p:tgtEl>
                                          <p:spTgt spid="3624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2501"/>
                                        </p:tgtEl>
                                        <p:attrNameLst>
                                          <p:attrName>style.visibility</p:attrName>
                                        </p:attrNameLst>
                                      </p:cBhvr>
                                      <p:to>
                                        <p:strVal val="visible"/>
                                      </p:to>
                                    </p:set>
                                    <p:animEffect transition="in" filter="box(in)">
                                      <p:cBhvr>
                                        <p:cTn id="12" dur="500"/>
                                        <p:tgtEl>
                                          <p:spTgt spid="3625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2523"/>
                                        </p:tgtEl>
                                        <p:attrNameLst>
                                          <p:attrName>style.visibility</p:attrName>
                                        </p:attrNameLst>
                                      </p:cBhvr>
                                      <p:to>
                                        <p:strVal val="visible"/>
                                      </p:to>
                                    </p:set>
                                    <p:animEffect transition="in" filter="box(in)">
                                      <p:cBhvr>
                                        <p:cTn id="17" dur="500"/>
                                        <p:tgtEl>
                                          <p:spTgt spid="36252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nodeType="clickEffect">
                                  <p:stCondLst>
                                    <p:cond delay="0"/>
                                  </p:stCondLst>
                                  <p:childTnLst>
                                    <p:set>
                                      <p:cBhvr>
                                        <p:cTn id="21" dur="1" fill="hold">
                                          <p:stCondLst>
                                            <p:cond delay="0"/>
                                          </p:stCondLst>
                                        </p:cTn>
                                        <p:tgtEl>
                                          <p:spTgt spid="362502"/>
                                        </p:tgtEl>
                                        <p:attrNameLst>
                                          <p:attrName>style.visibility</p:attrName>
                                        </p:attrNameLst>
                                      </p:cBhvr>
                                      <p:to>
                                        <p:strVal val="visible"/>
                                      </p:to>
                                    </p:set>
                                    <p:animEffect transition="in" filter="slide(fromLeft)">
                                      <p:cBhvr>
                                        <p:cTn id="22" dur="500"/>
                                        <p:tgtEl>
                                          <p:spTgt spid="36250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nodeType="clickEffect">
                                  <p:stCondLst>
                                    <p:cond delay="0"/>
                                  </p:stCondLst>
                                  <p:childTnLst>
                                    <p:set>
                                      <p:cBhvr>
                                        <p:cTn id="26" dur="1" fill="hold">
                                          <p:stCondLst>
                                            <p:cond delay="0"/>
                                          </p:stCondLst>
                                        </p:cTn>
                                        <p:tgtEl>
                                          <p:spTgt spid="362524"/>
                                        </p:tgtEl>
                                        <p:attrNameLst>
                                          <p:attrName>style.visibility</p:attrName>
                                        </p:attrNameLst>
                                      </p:cBhvr>
                                      <p:to>
                                        <p:strVal val="visible"/>
                                      </p:to>
                                    </p:set>
                                    <p:animEffect transition="in" filter="slide(fromLeft)">
                                      <p:cBhvr>
                                        <p:cTn id="27" dur="500"/>
                                        <p:tgtEl>
                                          <p:spTgt spid="36252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62503"/>
                                        </p:tgtEl>
                                        <p:attrNameLst>
                                          <p:attrName>style.visibility</p:attrName>
                                        </p:attrNameLst>
                                      </p:cBhvr>
                                      <p:to>
                                        <p:strVal val="visible"/>
                                      </p:to>
                                    </p:set>
                                    <p:animEffect transition="in" filter="box(in)">
                                      <p:cBhvr>
                                        <p:cTn id="32" dur="500"/>
                                        <p:tgtEl>
                                          <p:spTgt spid="36250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362522"/>
                                        </p:tgtEl>
                                        <p:attrNameLst>
                                          <p:attrName>style.visibility</p:attrName>
                                        </p:attrNameLst>
                                      </p:cBhvr>
                                      <p:to>
                                        <p:strVal val="visible"/>
                                      </p:to>
                                    </p:set>
                                    <p:animEffect transition="in" filter="box(in)">
                                      <p:cBhvr>
                                        <p:cTn id="37" dur="500"/>
                                        <p:tgtEl>
                                          <p:spTgt spid="36252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362504"/>
                                        </p:tgtEl>
                                        <p:attrNameLst>
                                          <p:attrName>style.visibility</p:attrName>
                                        </p:attrNameLst>
                                      </p:cBhvr>
                                      <p:to>
                                        <p:strVal val="visible"/>
                                      </p:to>
                                    </p:set>
                                    <p:animEffect transition="in" filter="box(in)">
                                      <p:cBhvr>
                                        <p:cTn id="42" dur="500"/>
                                        <p:tgtEl>
                                          <p:spTgt spid="36250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nodeType="clickEffect">
                                  <p:stCondLst>
                                    <p:cond delay="0"/>
                                  </p:stCondLst>
                                  <p:childTnLst>
                                    <p:set>
                                      <p:cBhvr>
                                        <p:cTn id="46" dur="1" fill="hold">
                                          <p:stCondLst>
                                            <p:cond delay="0"/>
                                          </p:stCondLst>
                                        </p:cTn>
                                        <p:tgtEl>
                                          <p:spTgt spid="362512"/>
                                        </p:tgtEl>
                                        <p:attrNameLst>
                                          <p:attrName>style.visibility</p:attrName>
                                        </p:attrNameLst>
                                      </p:cBhvr>
                                      <p:to>
                                        <p:strVal val="visible"/>
                                      </p:to>
                                    </p:set>
                                    <p:animEffect transition="in" filter="box(in)">
                                      <p:cBhvr>
                                        <p:cTn id="47" dur="500"/>
                                        <p:tgtEl>
                                          <p:spTgt spid="36251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362509"/>
                                        </p:tgtEl>
                                        <p:attrNameLst>
                                          <p:attrName>style.visibility</p:attrName>
                                        </p:attrNameLst>
                                      </p:cBhvr>
                                      <p:to>
                                        <p:strVal val="visible"/>
                                      </p:to>
                                    </p:set>
                                    <p:animEffect transition="in" filter="barn(outHorizontal)">
                                      <p:cBhvr>
                                        <p:cTn id="52" dur="500"/>
                                        <p:tgtEl>
                                          <p:spTgt spid="36250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362515"/>
                                        </p:tgtEl>
                                        <p:attrNameLst>
                                          <p:attrName>style.visibility</p:attrName>
                                        </p:attrNameLst>
                                      </p:cBhvr>
                                      <p:to>
                                        <p:strVal val="visible"/>
                                      </p:to>
                                    </p:set>
                                    <p:animEffect transition="in" filter="barn(outHorizontal)">
                                      <p:cBhvr>
                                        <p:cTn id="57" dur="500"/>
                                        <p:tgtEl>
                                          <p:spTgt spid="362515"/>
                                        </p:tgtEl>
                                      </p:cBhvr>
                                    </p:animEffect>
                                  </p:childTnLst>
                                  <p:subTnLst>
                                    <p:set>
                                      <p:cBhvr override="childStyle">
                                        <p:cTn dur="1" fill="hold" display="0" masterRel="nextClick" afterEffect="1"/>
                                        <p:tgtEl>
                                          <p:spTgt spid="362515"/>
                                        </p:tgtEl>
                                        <p:attrNameLst>
                                          <p:attrName>style.visibility</p:attrName>
                                        </p:attrNameLst>
                                      </p:cBhvr>
                                      <p:to>
                                        <p:strVal val="hidden"/>
                                      </p:to>
                                    </p:set>
                                  </p:sub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362518"/>
                                        </p:tgtEl>
                                        <p:attrNameLst>
                                          <p:attrName>style.visibility</p:attrName>
                                        </p:attrNameLst>
                                      </p:cBhvr>
                                      <p:to>
                                        <p:strVal val="visible"/>
                                      </p:to>
                                    </p:set>
                                    <p:animEffect transition="in" filter="barn(outHorizontal)">
                                      <p:cBhvr>
                                        <p:cTn id="62" dur="500"/>
                                        <p:tgtEl>
                                          <p:spTgt spid="362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499" grpId="0" autoUpdateAnimBg="0"/>
      <p:bldP spid="362501" grpId="0" autoUpdateAnimBg="0"/>
      <p:bldP spid="362503" grpId="0" autoUpdateAnimBg="0"/>
      <p:bldP spid="362522" grpId="0" autoUpdateAnimBg="0"/>
      <p:bldP spid="362523"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60473" name="Picture 25">
            <a:extLst>
              <a:ext uri="{FF2B5EF4-FFF2-40B4-BE49-F238E27FC236}">
                <a16:creationId xmlns:a16="http://schemas.microsoft.com/office/drawing/2014/main" id="{AC31F8B5-27CD-4562-1FE2-D7857CB63B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514600"/>
            <a:ext cx="4864100" cy="3600450"/>
          </a:xfrm>
          <a:prstGeom prst="rect">
            <a:avLst/>
          </a:prstGeom>
          <a:noFill/>
          <a:extLst>
            <a:ext uri="{909E8E84-426E-40DD-AFC4-6F175D3DCCD1}">
              <a14:hiddenFill xmlns:a14="http://schemas.microsoft.com/office/drawing/2010/main">
                <a:solidFill>
                  <a:srgbClr val="FFFFFF"/>
                </a:solidFill>
              </a14:hiddenFill>
            </a:ext>
          </a:extLst>
        </p:spPr>
      </p:pic>
      <p:sp>
        <p:nvSpPr>
          <p:cNvPr id="360451" name="Rectangle 3">
            <a:extLst>
              <a:ext uri="{FF2B5EF4-FFF2-40B4-BE49-F238E27FC236}">
                <a16:creationId xmlns:a16="http://schemas.microsoft.com/office/drawing/2014/main" id="{9280B078-83F0-9030-04BC-B3F67ED50C67}"/>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3.7 </a:t>
            </a:r>
            <a:r>
              <a:rPr lang="zh-CN" altLang="en-US" b="1">
                <a:solidFill>
                  <a:srgbClr val="CC0000"/>
                </a:solidFill>
              </a:rPr>
              <a:t>供给方面的冲击</a:t>
            </a:r>
          </a:p>
        </p:txBody>
      </p:sp>
      <p:sp>
        <p:nvSpPr>
          <p:cNvPr id="360452" name="Rectangle 4">
            <a:extLst>
              <a:ext uri="{FF2B5EF4-FFF2-40B4-BE49-F238E27FC236}">
                <a16:creationId xmlns:a16="http://schemas.microsoft.com/office/drawing/2014/main" id="{3A8B51FB-099D-1B82-BFB3-30A27A5A1FC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0453" name="Rectangle 5">
            <a:extLst>
              <a:ext uri="{FF2B5EF4-FFF2-40B4-BE49-F238E27FC236}">
                <a16:creationId xmlns:a16="http://schemas.microsoft.com/office/drawing/2014/main" id="{1470902E-1796-F466-5FF8-072A023036DF}"/>
              </a:ext>
            </a:extLst>
          </p:cNvPr>
          <p:cNvSpPr>
            <a:spLocks noRot="1" noChangeArrowheads="1"/>
          </p:cNvSpPr>
          <p:nvPr/>
        </p:nvSpPr>
        <p:spPr bwMode="auto">
          <a:xfrm>
            <a:off x="228600" y="1371600"/>
            <a:ext cx="8736013"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供给冲击：造成（短期）供给曲线平移的扰动。</a:t>
            </a:r>
          </a:p>
          <a:p>
            <a:pPr lvl="2">
              <a:spcBef>
                <a:spcPct val="20000"/>
              </a:spcBef>
              <a:buClr>
                <a:schemeClr val="hlink"/>
              </a:buClr>
              <a:buSzPct val="85000"/>
              <a:buFont typeface="Wingdings" panose="05000000000000000000" pitchFamily="2" charset="2"/>
              <a:buChar char="§"/>
            </a:pPr>
            <a:r>
              <a:rPr lang="zh-CN" altLang="en-US" sz="2000" b="1"/>
              <a:t>最常见的是石油涨价冲击。</a:t>
            </a:r>
          </a:p>
        </p:txBody>
      </p:sp>
      <p:grpSp>
        <p:nvGrpSpPr>
          <p:cNvPr id="360476" name="Group 28">
            <a:extLst>
              <a:ext uri="{FF2B5EF4-FFF2-40B4-BE49-F238E27FC236}">
                <a16:creationId xmlns:a16="http://schemas.microsoft.com/office/drawing/2014/main" id="{F2123C2F-5CA4-2B41-6BA5-189267A6B0CB}"/>
              </a:ext>
            </a:extLst>
          </p:cNvPr>
          <p:cNvGrpSpPr>
            <a:grpSpLocks/>
          </p:cNvGrpSpPr>
          <p:nvPr/>
        </p:nvGrpSpPr>
        <p:grpSpPr bwMode="auto">
          <a:xfrm>
            <a:off x="5562600" y="3263900"/>
            <a:ext cx="3352800" cy="2984500"/>
            <a:chOff x="3504" y="2056"/>
            <a:chExt cx="2112" cy="1880"/>
          </a:xfrm>
        </p:grpSpPr>
        <p:grpSp>
          <p:nvGrpSpPr>
            <p:cNvPr id="360456" name="Group 8">
              <a:extLst>
                <a:ext uri="{FF2B5EF4-FFF2-40B4-BE49-F238E27FC236}">
                  <a16:creationId xmlns:a16="http://schemas.microsoft.com/office/drawing/2014/main" id="{8AAF6A27-6420-0C21-3465-91838CE5753B}"/>
                </a:ext>
              </a:extLst>
            </p:cNvPr>
            <p:cNvGrpSpPr>
              <a:grpSpLocks/>
            </p:cNvGrpSpPr>
            <p:nvPr/>
          </p:nvGrpSpPr>
          <p:grpSpPr bwMode="auto">
            <a:xfrm>
              <a:off x="3504" y="2056"/>
              <a:ext cx="2112" cy="1880"/>
              <a:chOff x="1440" y="1920"/>
              <a:chExt cx="2928" cy="2024"/>
            </a:xfrm>
          </p:grpSpPr>
          <p:sp>
            <p:nvSpPr>
              <p:cNvPr id="360457" name="Line 9">
                <a:extLst>
                  <a:ext uri="{FF2B5EF4-FFF2-40B4-BE49-F238E27FC236}">
                    <a16:creationId xmlns:a16="http://schemas.microsoft.com/office/drawing/2014/main" id="{0DBD726F-F569-B5DC-B875-64395A4ABB2C}"/>
                  </a:ext>
                </a:extLst>
              </p:cNvPr>
              <p:cNvSpPr>
                <a:spLocks noChangeShapeType="1"/>
              </p:cNvSpPr>
              <p:nvPr/>
            </p:nvSpPr>
            <p:spPr bwMode="auto">
              <a:xfrm>
                <a:off x="1776" y="1920"/>
                <a:ext cx="0" cy="168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458" name="Line 10">
                <a:extLst>
                  <a:ext uri="{FF2B5EF4-FFF2-40B4-BE49-F238E27FC236}">
                    <a16:creationId xmlns:a16="http://schemas.microsoft.com/office/drawing/2014/main" id="{5BAADE48-3B4D-B36C-673A-35240E37EC36}"/>
                  </a:ext>
                </a:extLst>
              </p:cNvPr>
              <p:cNvSpPr>
                <a:spLocks noChangeShapeType="1"/>
              </p:cNvSpPr>
              <p:nvPr/>
            </p:nvSpPr>
            <p:spPr bwMode="auto">
              <a:xfrm>
                <a:off x="1776" y="3600"/>
                <a:ext cx="220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459" name="Text Box 11">
                <a:extLst>
                  <a:ext uri="{FF2B5EF4-FFF2-40B4-BE49-F238E27FC236}">
                    <a16:creationId xmlns:a16="http://schemas.microsoft.com/office/drawing/2014/main" id="{831D0CA9-08CF-8D76-645A-018B335DA047}"/>
                  </a:ext>
                </a:extLst>
              </p:cNvPr>
              <p:cNvSpPr txBox="1">
                <a:spLocks noChangeArrowheads="1"/>
              </p:cNvSpPr>
              <p:nvPr/>
            </p:nvSpPr>
            <p:spPr bwMode="auto">
              <a:xfrm>
                <a:off x="1440" y="2016"/>
                <a:ext cx="250" cy="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价格水平</a:t>
                </a:r>
              </a:p>
              <a:p>
                <a:pPr algn="l">
                  <a:spcBef>
                    <a:spcPct val="50000"/>
                  </a:spcBef>
                </a:pPr>
                <a:r>
                  <a:rPr lang="en-US" altLang="zh-CN" b="1"/>
                  <a:t>P</a:t>
                </a:r>
              </a:p>
            </p:txBody>
          </p:sp>
          <p:sp>
            <p:nvSpPr>
              <p:cNvPr id="360460" name="Text Box 12">
                <a:extLst>
                  <a:ext uri="{FF2B5EF4-FFF2-40B4-BE49-F238E27FC236}">
                    <a16:creationId xmlns:a16="http://schemas.microsoft.com/office/drawing/2014/main" id="{70BFAC2A-D174-4F62-B7ED-1BCD7C3FC4CE}"/>
                  </a:ext>
                </a:extLst>
              </p:cNvPr>
              <p:cNvSpPr txBox="1">
                <a:spLocks noChangeArrowheads="1"/>
              </p:cNvSpPr>
              <p:nvPr/>
            </p:nvSpPr>
            <p:spPr bwMode="auto">
              <a:xfrm>
                <a:off x="3600" y="3696"/>
                <a:ext cx="768"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产量 </a:t>
                </a:r>
                <a:r>
                  <a:rPr lang="en-US" altLang="zh-CN" b="1"/>
                  <a:t>Y</a:t>
                </a:r>
              </a:p>
            </p:txBody>
          </p:sp>
        </p:grpSp>
        <p:grpSp>
          <p:nvGrpSpPr>
            <p:cNvPr id="360461" name="Group 13">
              <a:extLst>
                <a:ext uri="{FF2B5EF4-FFF2-40B4-BE49-F238E27FC236}">
                  <a16:creationId xmlns:a16="http://schemas.microsoft.com/office/drawing/2014/main" id="{E5346BAD-EA0D-F05B-9DA4-341C5F61C150}"/>
                </a:ext>
              </a:extLst>
            </p:cNvPr>
            <p:cNvGrpSpPr>
              <a:grpSpLocks/>
            </p:cNvGrpSpPr>
            <p:nvPr/>
          </p:nvGrpSpPr>
          <p:grpSpPr bwMode="auto">
            <a:xfrm rot="-1644279">
              <a:off x="3935" y="2697"/>
              <a:ext cx="1537" cy="231"/>
              <a:chOff x="2351" y="2352"/>
              <a:chExt cx="1537" cy="231"/>
            </a:xfrm>
          </p:grpSpPr>
          <p:sp>
            <p:nvSpPr>
              <p:cNvPr id="360462" name="Line 14">
                <a:extLst>
                  <a:ext uri="{FF2B5EF4-FFF2-40B4-BE49-F238E27FC236}">
                    <a16:creationId xmlns:a16="http://schemas.microsoft.com/office/drawing/2014/main" id="{ABB5B4CE-E2B2-FF4A-4D5C-23142CCBB623}"/>
                  </a:ext>
                </a:extLst>
              </p:cNvPr>
              <p:cNvSpPr>
                <a:spLocks noChangeShapeType="1"/>
              </p:cNvSpPr>
              <p:nvPr/>
            </p:nvSpPr>
            <p:spPr bwMode="auto">
              <a:xfrm rot="5400000">
                <a:off x="2927" y="1895"/>
                <a:ext cx="0" cy="1152"/>
              </a:xfrm>
              <a:prstGeom prst="line">
                <a:avLst/>
              </a:prstGeom>
              <a:noFill/>
              <a:ln w="38100">
                <a:solidFill>
                  <a:srgbClr val="24C03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0463" name="Text Box 15">
                <a:extLst>
                  <a:ext uri="{FF2B5EF4-FFF2-40B4-BE49-F238E27FC236}">
                    <a16:creationId xmlns:a16="http://schemas.microsoft.com/office/drawing/2014/main" id="{C03CCAB7-FF7A-26AD-62E9-9E87194AFB7A}"/>
                  </a:ext>
                </a:extLst>
              </p:cNvPr>
              <p:cNvSpPr txBox="1">
                <a:spLocks noChangeArrowheads="1"/>
              </p:cNvSpPr>
              <p:nvPr/>
            </p:nvSpPr>
            <p:spPr bwMode="auto">
              <a:xfrm>
                <a:off x="3504" y="235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24C03A"/>
                    </a:solidFill>
                  </a:rPr>
                  <a:t>AS</a:t>
                </a:r>
              </a:p>
            </p:txBody>
          </p:sp>
        </p:grpSp>
        <p:grpSp>
          <p:nvGrpSpPr>
            <p:cNvPr id="360464" name="Group 16">
              <a:extLst>
                <a:ext uri="{FF2B5EF4-FFF2-40B4-BE49-F238E27FC236}">
                  <a16:creationId xmlns:a16="http://schemas.microsoft.com/office/drawing/2014/main" id="{6E0AD0FD-3859-B52D-61DC-7DEECE0C09DE}"/>
                </a:ext>
              </a:extLst>
            </p:cNvPr>
            <p:cNvGrpSpPr>
              <a:grpSpLocks/>
            </p:cNvGrpSpPr>
            <p:nvPr/>
          </p:nvGrpSpPr>
          <p:grpSpPr bwMode="auto">
            <a:xfrm>
              <a:off x="4484" y="2112"/>
              <a:ext cx="268" cy="1728"/>
              <a:chOff x="4484" y="2112"/>
              <a:chExt cx="268" cy="1728"/>
            </a:xfrm>
          </p:grpSpPr>
          <p:sp>
            <p:nvSpPr>
              <p:cNvPr id="360465" name="Line 17">
                <a:extLst>
                  <a:ext uri="{FF2B5EF4-FFF2-40B4-BE49-F238E27FC236}">
                    <a16:creationId xmlns:a16="http://schemas.microsoft.com/office/drawing/2014/main" id="{65A3A900-E477-A33B-7A44-510B98DDEFA7}"/>
                  </a:ext>
                </a:extLst>
              </p:cNvPr>
              <p:cNvSpPr>
                <a:spLocks noChangeShapeType="1"/>
              </p:cNvSpPr>
              <p:nvPr/>
            </p:nvSpPr>
            <p:spPr bwMode="auto">
              <a:xfrm>
                <a:off x="4608" y="2112"/>
                <a:ext cx="0" cy="1488"/>
              </a:xfrm>
              <a:prstGeom prst="line">
                <a:avLst/>
              </a:prstGeom>
              <a:noFill/>
              <a:ln w="381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0466" name="Text Box 18">
                <a:extLst>
                  <a:ext uri="{FF2B5EF4-FFF2-40B4-BE49-F238E27FC236}">
                    <a16:creationId xmlns:a16="http://schemas.microsoft.com/office/drawing/2014/main" id="{32AA3E12-8C8F-40F9-766F-93C2F9819CB2}"/>
                  </a:ext>
                </a:extLst>
              </p:cNvPr>
              <p:cNvSpPr txBox="1">
                <a:spLocks noChangeArrowheads="1"/>
              </p:cNvSpPr>
              <p:nvPr/>
            </p:nvSpPr>
            <p:spPr bwMode="auto">
              <a:xfrm>
                <a:off x="4484" y="3609"/>
                <a:ext cx="2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Y*</a:t>
                </a:r>
              </a:p>
            </p:txBody>
          </p:sp>
        </p:grpSp>
      </p:grpSp>
      <p:grpSp>
        <p:nvGrpSpPr>
          <p:cNvPr id="360475" name="Group 27">
            <a:extLst>
              <a:ext uri="{FF2B5EF4-FFF2-40B4-BE49-F238E27FC236}">
                <a16:creationId xmlns:a16="http://schemas.microsoft.com/office/drawing/2014/main" id="{6AA8B75F-3CC3-C6E6-496B-BA0E901906F1}"/>
              </a:ext>
            </a:extLst>
          </p:cNvPr>
          <p:cNvGrpSpPr>
            <a:grpSpLocks/>
          </p:cNvGrpSpPr>
          <p:nvPr/>
        </p:nvGrpSpPr>
        <p:grpSpPr bwMode="auto">
          <a:xfrm>
            <a:off x="6096000" y="3810000"/>
            <a:ext cx="2441575" cy="838200"/>
            <a:chOff x="3840" y="2400"/>
            <a:chExt cx="1538" cy="528"/>
          </a:xfrm>
        </p:grpSpPr>
        <p:grpSp>
          <p:nvGrpSpPr>
            <p:cNvPr id="360470" name="Group 22">
              <a:extLst>
                <a:ext uri="{FF2B5EF4-FFF2-40B4-BE49-F238E27FC236}">
                  <a16:creationId xmlns:a16="http://schemas.microsoft.com/office/drawing/2014/main" id="{2B87073C-FDEA-7918-0EA7-20AFAA5B7214}"/>
                </a:ext>
              </a:extLst>
            </p:cNvPr>
            <p:cNvGrpSpPr>
              <a:grpSpLocks/>
            </p:cNvGrpSpPr>
            <p:nvPr/>
          </p:nvGrpSpPr>
          <p:grpSpPr bwMode="auto">
            <a:xfrm rot="-1644279">
              <a:off x="3840" y="2400"/>
              <a:ext cx="1538" cy="231"/>
              <a:chOff x="2350" y="2352"/>
              <a:chExt cx="1538" cy="231"/>
            </a:xfrm>
          </p:grpSpPr>
          <p:sp>
            <p:nvSpPr>
              <p:cNvPr id="360471" name="Line 23">
                <a:extLst>
                  <a:ext uri="{FF2B5EF4-FFF2-40B4-BE49-F238E27FC236}">
                    <a16:creationId xmlns:a16="http://schemas.microsoft.com/office/drawing/2014/main" id="{4D990A85-C66B-5CDF-B24A-F1E7BC0029D8}"/>
                  </a:ext>
                </a:extLst>
              </p:cNvPr>
              <p:cNvSpPr>
                <a:spLocks noChangeShapeType="1"/>
              </p:cNvSpPr>
              <p:nvPr/>
            </p:nvSpPr>
            <p:spPr bwMode="auto">
              <a:xfrm rot="5400000">
                <a:off x="2926" y="1896"/>
                <a:ext cx="0" cy="1152"/>
              </a:xfrm>
              <a:prstGeom prst="line">
                <a:avLst/>
              </a:prstGeom>
              <a:noFill/>
              <a:ln w="38100">
                <a:solidFill>
                  <a:srgbClr val="24C03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endParaRPr lang="zh-CN" altLang="en-US"/>
              </a:p>
            </p:txBody>
          </p:sp>
          <p:sp>
            <p:nvSpPr>
              <p:cNvPr id="360472" name="Text Box 24">
                <a:extLst>
                  <a:ext uri="{FF2B5EF4-FFF2-40B4-BE49-F238E27FC236}">
                    <a16:creationId xmlns:a16="http://schemas.microsoft.com/office/drawing/2014/main" id="{EC4F4423-3A75-004B-BC00-0F659F65D15B}"/>
                  </a:ext>
                </a:extLst>
              </p:cNvPr>
              <p:cNvSpPr txBox="1">
                <a:spLocks noChangeArrowheads="1"/>
              </p:cNvSpPr>
              <p:nvPr/>
            </p:nvSpPr>
            <p:spPr bwMode="auto">
              <a:xfrm>
                <a:off x="3504" y="235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algn="l">
                  <a:spcBef>
                    <a:spcPct val="50000"/>
                  </a:spcBef>
                </a:pPr>
                <a:r>
                  <a:rPr lang="en-US" altLang="zh-CN" b="1">
                    <a:solidFill>
                      <a:srgbClr val="24C03A"/>
                    </a:solidFill>
                  </a:rPr>
                  <a:t>AS1</a:t>
                </a:r>
              </a:p>
            </p:txBody>
          </p:sp>
        </p:grpSp>
        <p:sp>
          <p:nvSpPr>
            <p:cNvPr id="360474" name="AutoShape 26">
              <a:extLst>
                <a:ext uri="{FF2B5EF4-FFF2-40B4-BE49-F238E27FC236}">
                  <a16:creationId xmlns:a16="http://schemas.microsoft.com/office/drawing/2014/main" id="{313D500C-CB33-5A24-EEF3-B29959B59858}"/>
                </a:ext>
              </a:extLst>
            </p:cNvPr>
            <p:cNvSpPr>
              <a:spLocks noChangeArrowheads="1"/>
            </p:cNvSpPr>
            <p:nvPr/>
          </p:nvSpPr>
          <p:spPr bwMode="auto">
            <a:xfrm>
              <a:off x="4416" y="2640"/>
              <a:ext cx="96" cy="288"/>
            </a:xfrm>
            <a:prstGeom prst="upArrow">
              <a:avLst>
                <a:gd name="adj1" fmla="val 50000"/>
                <a:gd name="adj2" fmla="val 75000"/>
              </a:avLst>
            </a:prstGeom>
            <a:solidFill>
              <a:schemeClr val="tx2"/>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60451"/>
                                        </p:tgtEl>
                                        <p:attrNameLst>
                                          <p:attrName>style.visibility</p:attrName>
                                        </p:attrNameLst>
                                      </p:cBhvr>
                                      <p:to>
                                        <p:strVal val="visible"/>
                                      </p:to>
                                    </p:set>
                                    <p:animEffect transition="in" filter="slide(fromTop)">
                                      <p:cBhvr>
                                        <p:cTn id="7" dur="500"/>
                                        <p:tgtEl>
                                          <p:spTgt spid="3604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0453"/>
                                        </p:tgtEl>
                                        <p:attrNameLst>
                                          <p:attrName>style.visibility</p:attrName>
                                        </p:attrNameLst>
                                      </p:cBhvr>
                                      <p:to>
                                        <p:strVal val="visible"/>
                                      </p:to>
                                    </p:set>
                                    <p:animEffect transition="in" filter="box(in)">
                                      <p:cBhvr>
                                        <p:cTn id="12" dur="500"/>
                                        <p:tgtEl>
                                          <p:spTgt spid="3604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0473"/>
                                        </p:tgtEl>
                                        <p:attrNameLst>
                                          <p:attrName>style.visibility</p:attrName>
                                        </p:attrNameLst>
                                      </p:cBhvr>
                                      <p:to>
                                        <p:strVal val="visible"/>
                                      </p:to>
                                    </p:set>
                                    <p:animEffect transition="in" filter="box(in)">
                                      <p:cBhvr>
                                        <p:cTn id="17" dur="500"/>
                                        <p:tgtEl>
                                          <p:spTgt spid="3604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60476"/>
                                        </p:tgtEl>
                                        <p:attrNameLst>
                                          <p:attrName>style.visibility</p:attrName>
                                        </p:attrNameLst>
                                      </p:cBhvr>
                                      <p:to>
                                        <p:strVal val="visible"/>
                                      </p:to>
                                    </p:set>
                                    <p:animEffect transition="in" filter="box(in)">
                                      <p:cBhvr>
                                        <p:cTn id="22" dur="500"/>
                                        <p:tgtEl>
                                          <p:spTgt spid="3604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6" fill="hold" nodeType="clickEffect">
                                  <p:stCondLst>
                                    <p:cond delay="0"/>
                                  </p:stCondLst>
                                  <p:childTnLst>
                                    <p:set>
                                      <p:cBhvr>
                                        <p:cTn id="26" dur="1" fill="hold">
                                          <p:stCondLst>
                                            <p:cond delay="0"/>
                                          </p:stCondLst>
                                        </p:cTn>
                                        <p:tgtEl>
                                          <p:spTgt spid="360475"/>
                                        </p:tgtEl>
                                        <p:attrNameLst>
                                          <p:attrName>style.visibility</p:attrName>
                                        </p:attrNameLst>
                                      </p:cBhvr>
                                      <p:to>
                                        <p:strVal val="visible"/>
                                      </p:to>
                                    </p:set>
                                    <p:animEffect transition="in" filter="barn(inHorizontal)">
                                      <p:cBhvr>
                                        <p:cTn id="27" dur="500"/>
                                        <p:tgtEl>
                                          <p:spTgt spid="360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1" grpId="0" autoUpdateAnimBg="0"/>
      <p:bldP spid="360453"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43" name="Rectangle 3">
            <a:extLst>
              <a:ext uri="{FF2B5EF4-FFF2-40B4-BE49-F238E27FC236}">
                <a16:creationId xmlns:a16="http://schemas.microsoft.com/office/drawing/2014/main" id="{CB5BC21B-4E53-8C75-C02B-2CEAA4A7FA3D}"/>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3.7 </a:t>
            </a:r>
            <a:r>
              <a:rPr lang="zh-CN" altLang="en-US" b="1">
                <a:solidFill>
                  <a:srgbClr val="CC0000"/>
                </a:solidFill>
              </a:rPr>
              <a:t>供给方面的冲击</a:t>
            </a:r>
          </a:p>
        </p:txBody>
      </p:sp>
      <p:sp>
        <p:nvSpPr>
          <p:cNvPr id="368644" name="Rectangle 4">
            <a:extLst>
              <a:ext uri="{FF2B5EF4-FFF2-40B4-BE49-F238E27FC236}">
                <a16:creationId xmlns:a16="http://schemas.microsoft.com/office/drawing/2014/main" id="{80496765-D043-1484-F76E-7B0F81DF0CC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8645" name="Rectangle 5">
            <a:extLst>
              <a:ext uri="{FF2B5EF4-FFF2-40B4-BE49-F238E27FC236}">
                <a16:creationId xmlns:a16="http://schemas.microsoft.com/office/drawing/2014/main" id="{13AA57B7-208D-77EF-5E05-BEE85C60D20B}"/>
              </a:ext>
            </a:extLst>
          </p:cNvPr>
          <p:cNvSpPr>
            <a:spLocks noRot="1" noChangeArrowheads="1"/>
          </p:cNvSpPr>
          <p:nvPr/>
        </p:nvSpPr>
        <p:spPr bwMode="auto">
          <a:xfrm>
            <a:off x="0" y="1371600"/>
            <a:ext cx="9144000"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有利的供给冲击：造成供给曲线平移的扰动。</a:t>
            </a:r>
          </a:p>
          <a:p>
            <a:pPr lvl="2">
              <a:spcBef>
                <a:spcPct val="20000"/>
              </a:spcBef>
              <a:buClr>
                <a:schemeClr val="hlink"/>
              </a:buClr>
              <a:buSzPct val="85000"/>
              <a:buFont typeface="Wingdings" panose="05000000000000000000" pitchFamily="2" charset="2"/>
              <a:buChar char="§"/>
            </a:pPr>
            <a:r>
              <a:rPr lang="zh-CN" altLang="en-US" sz="2000" b="1"/>
              <a:t>技术进步。</a:t>
            </a:r>
          </a:p>
        </p:txBody>
      </p:sp>
      <p:grpSp>
        <p:nvGrpSpPr>
          <p:cNvPr id="368646" name="Group 6">
            <a:extLst>
              <a:ext uri="{FF2B5EF4-FFF2-40B4-BE49-F238E27FC236}">
                <a16:creationId xmlns:a16="http://schemas.microsoft.com/office/drawing/2014/main" id="{CDBA23DB-8B1C-3F4D-F4F7-9F75415C41E2}"/>
              </a:ext>
            </a:extLst>
          </p:cNvPr>
          <p:cNvGrpSpPr>
            <a:grpSpLocks/>
          </p:cNvGrpSpPr>
          <p:nvPr/>
        </p:nvGrpSpPr>
        <p:grpSpPr bwMode="auto">
          <a:xfrm>
            <a:off x="395288" y="3213100"/>
            <a:ext cx="3352800" cy="2984500"/>
            <a:chOff x="3504" y="2056"/>
            <a:chExt cx="2112" cy="1880"/>
          </a:xfrm>
        </p:grpSpPr>
        <p:grpSp>
          <p:nvGrpSpPr>
            <p:cNvPr id="368647" name="Group 7">
              <a:extLst>
                <a:ext uri="{FF2B5EF4-FFF2-40B4-BE49-F238E27FC236}">
                  <a16:creationId xmlns:a16="http://schemas.microsoft.com/office/drawing/2014/main" id="{2FF144C5-3924-AB98-FDAA-BA43942868B9}"/>
                </a:ext>
              </a:extLst>
            </p:cNvPr>
            <p:cNvGrpSpPr>
              <a:grpSpLocks/>
            </p:cNvGrpSpPr>
            <p:nvPr/>
          </p:nvGrpSpPr>
          <p:grpSpPr bwMode="auto">
            <a:xfrm>
              <a:off x="3504" y="2056"/>
              <a:ext cx="2112" cy="1880"/>
              <a:chOff x="1440" y="1920"/>
              <a:chExt cx="2928" cy="2024"/>
            </a:xfrm>
          </p:grpSpPr>
          <p:sp>
            <p:nvSpPr>
              <p:cNvPr id="368648" name="Line 8">
                <a:extLst>
                  <a:ext uri="{FF2B5EF4-FFF2-40B4-BE49-F238E27FC236}">
                    <a16:creationId xmlns:a16="http://schemas.microsoft.com/office/drawing/2014/main" id="{89B310D1-4C64-4BF5-940E-EEF1FA96D955}"/>
                  </a:ext>
                </a:extLst>
              </p:cNvPr>
              <p:cNvSpPr>
                <a:spLocks noChangeShapeType="1"/>
              </p:cNvSpPr>
              <p:nvPr/>
            </p:nvSpPr>
            <p:spPr bwMode="auto">
              <a:xfrm>
                <a:off x="1776" y="1920"/>
                <a:ext cx="0" cy="168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49" name="Line 9">
                <a:extLst>
                  <a:ext uri="{FF2B5EF4-FFF2-40B4-BE49-F238E27FC236}">
                    <a16:creationId xmlns:a16="http://schemas.microsoft.com/office/drawing/2014/main" id="{C95845E2-2CE4-52CA-01F0-15443033B2C9}"/>
                  </a:ext>
                </a:extLst>
              </p:cNvPr>
              <p:cNvSpPr>
                <a:spLocks noChangeShapeType="1"/>
              </p:cNvSpPr>
              <p:nvPr/>
            </p:nvSpPr>
            <p:spPr bwMode="auto">
              <a:xfrm>
                <a:off x="1776" y="3600"/>
                <a:ext cx="220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50" name="Text Box 10">
                <a:extLst>
                  <a:ext uri="{FF2B5EF4-FFF2-40B4-BE49-F238E27FC236}">
                    <a16:creationId xmlns:a16="http://schemas.microsoft.com/office/drawing/2014/main" id="{D6AE705E-238A-16E7-4241-6540F36919A0}"/>
                  </a:ext>
                </a:extLst>
              </p:cNvPr>
              <p:cNvSpPr txBox="1">
                <a:spLocks noChangeArrowheads="1"/>
              </p:cNvSpPr>
              <p:nvPr/>
            </p:nvSpPr>
            <p:spPr bwMode="auto">
              <a:xfrm>
                <a:off x="1440" y="2016"/>
                <a:ext cx="250" cy="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价格水平</a:t>
                </a:r>
              </a:p>
              <a:p>
                <a:pPr algn="l">
                  <a:spcBef>
                    <a:spcPct val="50000"/>
                  </a:spcBef>
                </a:pPr>
                <a:r>
                  <a:rPr lang="en-US" altLang="zh-CN" b="1"/>
                  <a:t>P</a:t>
                </a:r>
              </a:p>
            </p:txBody>
          </p:sp>
          <p:sp>
            <p:nvSpPr>
              <p:cNvPr id="368651" name="Text Box 11">
                <a:extLst>
                  <a:ext uri="{FF2B5EF4-FFF2-40B4-BE49-F238E27FC236}">
                    <a16:creationId xmlns:a16="http://schemas.microsoft.com/office/drawing/2014/main" id="{D5EE440E-81D5-C6D1-E980-5F1F83F8AF17}"/>
                  </a:ext>
                </a:extLst>
              </p:cNvPr>
              <p:cNvSpPr txBox="1">
                <a:spLocks noChangeArrowheads="1"/>
              </p:cNvSpPr>
              <p:nvPr/>
            </p:nvSpPr>
            <p:spPr bwMode="auto">
              <a:xfrm>
                <a:off x="3600" y="3696"/>
                <a:ext cx="768"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产量 </a:t>
                </a:r>
                <a:r>
                  <a:rPr lang="en-US" altLang="zh-CN" b="1"/>
                  <a:t>Y</a:t>
                </a:r>
              </a:p>
            </p:txBody>
          </p:sp>
        </p:grpSp>
        <p:grpSp>
          <p:nvGrpSpPr>
            <p:cNvPr id="368652" name="Group 12">
              <a:extLst>
                <a:ext uri="{FF2B5EF4-FFF2-40B4-BE49-F238E27FC236}">
                  <a16:creationId xmlns:a16="http://schemas.microsoft.com/office/drawing/2014/main" id="{BD3DC564-9C1E-0440-28CA-069D9D350E82}"/>
                </a:ext>
              </a:extLst>
            </p:cNvPr>
            <p:cNvGrpSpPr>
              <a:grpSpLocks/>
            </p:cNvGrpSpPr>
            <p:nvPr/>
          </p:nvGrpSpPr>
          <p:grpSpPr bwMode="auto">
            <a:xfrm rot="-1644279">
              <a:off x="3935" y="2697"/>
              <a:ext cx="1537" cy="231"/>
              <a:chOff x="2351" y="2352"/>
              <a:chExt cx="1537" cy="231"/>
            </a:xfrm>
          </p:grpSpPr>
          <p:sp>
            <p:nvSpPr>
              <p:cNvPr id="368653" name="Line 13">
                <a:extLst>
                  <a:ext uri="{FF2B5EF4-FFF2-40B4-BE49-F238E27FC236}">
                    <a16:creationId xmlns:a16="http://schemas.microsoft.com/office/drawing/2014/main" id="{F78468F1-593C-2C82-3F0C-8EA6BC93C145}"/>
                  </a:ext>
                </a:extLst>
              </p:cNvPr>
              <p:cNvSpPr>
                <a:spLocks noChangeShapeType="1"/>
              </p:cNvSpPr>
              <p:nvPr/>
            </p:nvSpPr>
            <p:spPr bwMode="auto">
              <a:xfrm rot="5400000">
                <a:off x="2927" y="1895"/>
                <a:ext cx="0" cy="1152"/>
              </a:xfrm>
              <a:prstGeom prst="line">
                <a:avLst/>
              </a:prstGeom>
              <a:noFill/>
              <a:ln w="38100">
                <a:solidFill>
                  <a:srgbClr val="24C03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54" name="Text Box 14">
                <a:extLst>
                  <a:ext uri="{FF2B5EF4-FFF2-40B4-BE49-F238E27FC236}">
                    <a16:creationId xmlns:a16="http://schemas.microsoft.com/office/drawing/2014/main" id="{FCDB1FBF-FA34-096C-40B4-50282887A19F}"/>
                  </a:ext>
                </a:extLst>
              </p:cNvPr>
              <p:cNvSpPr txBox="1">
                <a:spLocks noChangeArrowheads="1"/>
              </p:cNvSpPr>
              <p:nvPr/>
            </p:nvSpPr>
            <p:spPr bwMode="auto">
              <a:xfrm>
                <a:off x="3504" y="235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24C03A"/>
                    </a:solidFill>
                  </a:rPr>
                  <a:t>AS</a:t>
                </a:r>
              </a:p>
            </p:txBody>
          </p:sp>
        </p:grpSp>
        <p:grpSp>
          <p:nvGrpSpPr>
            <p:cNvPr id="368655" name="Group 15">
              <a:extLst>
                <a:ext uri="{FF2B5EF4-FFF2-40B4-BE49-F238E27FC236}">
                  <a16:creationId xmlns:a16="http://schemas.microsoft.com/office/drawing/2014/main" id="{39140A10-44C1-34E7-D462-E6F520FC0C8E}"/>
                </a:ext>
              </a:extLst>
            </p:cNvPr>
            <p:cNvGrpSpPr>
              <a:grpSpLocks/>
            </p:cNvGrpSpPr>
            <p:nvPr/>
          </p:nvGrpSpPr>
          <p:grpSpPr bwMode="auto">
            <a:xfrm>
              <a:off x="4484" y="2112"/>
              <a:ext cx="268" cy="1728"/>
              <a:chOff x="4484" y="2112"/>
              <a:chExt cx="268" cy="1728"/>
            </a:xfrm>
          </p:grpSpPr>
          <p:sp>
            <p:nvSpPr>
              <p:cNvPr id="368656" name="Line 16">
                <a:extLst>
                  <a:ext uri="{FF2B5EF4-FFF2-40B4-BE49-F238E27FC236}">
                    <a16:creationId xmlns:a16="http://schemas.microsoft.com/office/drawing/2014/main" id="{7C595628-D0D6-F508-D705-868CE727B5AC}"/>
                  </a:ext>
                </a:extLst>
              </p:cNvPr>
              <p:cNvSpPr>
                <a:spLocks noChangeShapeType="1"/>
              </p:cNvSpPr>
              <p:nvPr/>
            </p:nvSpPr>
            <p:spPr bwMode="auto">
              <a:xfrm>
                <a:off x="4608" y="2112"/>
                <a:ext cx="0" cy="1488"/>
              </a:xfrm>
              <a:prstGeom prst="line">
                <a:avLst/>
              </a:prstGeom>
              <a:noFill/>
              <a:ln w="381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8657" name="Text Box 17">
                <a:extLst>
                  <a:ext uri="{FF2B5EF4-FFF2-40B4-BE49-F238E27FC236}">
                    <a16:creationId xmlns:a16="http://schemas.microsoft.com/office/drawing/2014/main" id="{A21114F4-71C9-8130-7B4A-8794C6C58E80}"/>
                  </a:ext>
                </a:extLst>
              </p:cNvPr>
              <p:cNvSpPr txBox="1">
                <a:spLocks noChangeArrowheads="1"/>
              </p:cNvSpPr>
              <p:nvPr/>
            </p:nvSpPr>
            <p:spPr bwMode="auto">
              <a:xfrm>
                <a:off x="4484" y="3609"/>
                <a:ext cx="2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Y*</a:t>
                </a:r>
              </a:p>
            </p:txBody>
          </p:sp>
        </p:grpSp>
      </p:grpSp>
      <p:grpSp>
        <p:nvGrpSpPr>
          <p:cNvPr id="368659" name="Group 19">
            <a:extLst>
              <a:ext uri="{FF2B5EF4-FFF2-40B4-BE49-F238E27FC236}">
                <a16:creationId xmlns:a16="http://schemas.microsoft.com/office/drawing/2014/main" id="{E94DE6E8-73A4-1F7B-31E8-5A80BEF64ED0}"/>
              </a:ext>
            </a:extLst>
          </p:cNvPr>
          <p:cNvGrpSpPr>
            <a:grpSpLocks/>
          </p:cNvGrpSpPr>
          <p:nvPr/>
        </p:nvGrpSpPr>
        <p:grpSpPr bwMode="auto">
          <a:xfrm rot="-1644279">
            <a:off x="1476375" y="4724400"/>
            <a:ext cx="2441575" cy="366713"/>
            <a:chOff x="2350" y="2352"/>
            <a:chExt cx="1538" cy="231"/>
          </a:xfrm>
        </p:grpSpPr>
        <p:sp>
          <p:nvSpPr>
            <p:cNvPr id="368660" name="Line 20">
              <a:extLst>
                <a:ext uri="{FF2B5EF4-FFF2-40B4-BE49-F238E27FC236}">
                  <a16:creationId xmlns:a16="http://schemas.microsoft.com/office/drawing/2014/main" id="{3AD7394C-8303-FB36-1111-20E9DF0D3DB6}"/>
                </a:ext>
              </a:extLst>
            </p:cNvPr>
            <p:cNvSpPr>
              <a:spLocks noChangeShapeType="1"/>
            </p:cNvSpPr>
            <p:nvPr/>
          </p:nvSpPr>
          <p:spPr bwMode="auto">
            <a:xfrm rot="5400000">
              <a:off x="2926" y="1896"/>
              <a:ext cx="0" cy="1152"/>
            </a:xfrm>
            <a:prstGeom prst="line">
              <a:avLst/>
            </a:prstGeom>
            <a:noFill/>
            <a:ln w="38100">
              <a:solidFill>
                <a:srgbClr val="24C03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endParaRPr lang="zh-CN" altLang="en-US"/>
            </a:p>
          </p:txBody>
        </p:sp>
        <p:sp>
          <p:nvSpPr>
            <p:cNvPr id="368661" name="Text Box 21">
              <a:extLst>
                <a:ext uri="{FF2B5EF4-FFF2-40B4-BE49-F238E27FC236}">
                  <a16:creationId xmlns:a16="http://schemas.microsoft.com/office/drawing/2014/main" id="{E5F7528E-B73A-C5D8-5A83-41AA3F6154B7}"/>
                </a:ext>
              </a:extLst>
            </p:cNvPr>
            <p:cNvSpPr txBox="1">
              <a:spLocks noChangeArrowheads="1"/>
            </p:cNvSpPr>
            <p:nvPr/>
          </p:nvSpPr>
          <p:spPr bwMode="auto">
            <a:xfrm>
              <a:off x="3504" y="235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algn="l">
                <a:spcBef>
                  <a:spcPct val="50000"/>
                </a:spcBef>
              </a:pPr>
              <a:r>
                <a:rPr lang="en-US" altLang="zh-CN" b="1">
                  <a:solidFill>
                    <a:srgbClr val="24C03A"/>
                  </a:solidFill>
                </a:rPr>
                <a:t>AS1</a:t>
              </a:r>
            </a:p>
          </p:txBody>
        </p:sp>
      </p:grpSp>
      <p:sp>
        <p:nvSpPr>
          <p:cNvPr id="368662" name="AutoShape 22">
            <a:extLst>
              <a:ext uri="{FF2B5EF4-FFF2-40B4-BE49-F238E27FC236}">
                <a16:creationId xmlns:a16="http://schemas.microsoft.com/office/drawing/2014/main" id="{32A12B95-DE35-8815-86AA-87C091562759}"/>
              </a:ext>
            </a:extLst>
          </p:cNvPr>
          <p:cNvSpPr>
            <a:spLocks noChangeArrowheads="1"/>
          </p:cNvSpPr>
          <p:nvPr/>
        </p:nvSpPr>
        <p:spPr bwMode="auto">
          <a:xfrm flipV="1">
            <a:off x="2411413" y="4437063"/>
            <a:ext cx="223837" cy="457200"/>
          </a:xfrm>
          <a:prstGeom prst="upArrow">
            <a:avLst>
              <a:gd name="adj1" fmla="val 50000"/>
              <a:gd name="adj2" fmla="val 51064"/>
            </a:avLst>
          </a:prstGeom>
          <a:solidFill>
            <a:schemeClr val="tx2"/>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68663" name="Group 23">
            <a:extLst>
              <a:ext uri="{FF2B5EF4-FFF2-40B4-BE49-F238E27FC236}">
                <a16:creationId xmlns:a16="http://schemas.microsoft.com/office/drawing/2014/main" id="{9E628A67-4370-1B20-4327-E43EB24A5393}"/>
              </a:ext>
            </a:extLst>
          </p:cNvPr>
          <p:cNvGrpSpPr>
            <a:grpSpLocks/>
          </p:cNvGrpSpPr>
          <p:nvPr/>
        </p:nvGrpSpPr>
        <p:grpSpPr bwMode="auto">
          <a:xfrm>
            <a:off x="4498975" y="3213100"/>
            <a:ext cx="3352800" cy="2984500"/>
            <a:chOff x="3504" y="2056"/>
            <a:chExt cx="2112" cy="1880"/>
          </a:xfrm>
        </p:grpSpPr>
        <p:grpSp>
          <p:nvGrpSpPr>
            <p:cNvPr id="368664" name="Group 24">
              <a:extLst>
                <a:ext uri="{FF2B5EF4-FFF2-40B4-BE49-F238E27FC236}">
                  <a16:creationId xmlns:a16="http://schemas.microsoft.com/office/drawing/2014/main" id="{D4D6CC8D-3887-3664-A757-94BB3BDB03C5}"/>
                </a:ext>
              </a:extLst>
            </p:cNvPr>
            <p:cNvGrpSpPr>
              <a:grpSpLocks/>
            </p:cNvGrpSpPr>
            <p:nvPr/>
          </p:nvGrpSpPr>
          <p:grpSpPr bwMode="auto">
            <a:xfrm>
              <a:off x="3504" y="2056"/>
              <a:ext cx="2112" cy="1880"/>
              <a:chOff x="1440" y="1920"/>
              <a:chExt cx="2928" cy="2024"/>
            </a:xfrm>
          </p:grpSpPr>
          <p:sp>
            <p:nvSpPr>
              <p:cNvPr id="368665" name="Line 25">
                <a:extLst>
                  <a:ext uri="{FF2B5EF4-FFF2-40B4-BE49-F238E27FC236}">
                    <a16:creationId xmlns:a16="http://schemas.microsoft.com/office/drawing/2014/main" id="{6F9A8BAB-D609-ED14-40B2-95DD2DFA05AF}"/>
                  </a:ext>
                </a:extLst>
              </p:cNvPr>
              <p:cNvSpPr>
                <a:spLocks noChangeShapeType="1"/>
              </p:cNvSpPr>
              <p:nvPr/>
            </p:nvSpPr>
            <p:spPr bwMode="auto">
              <a:xfrm>
                <a:off x="1776" y="1920"/>
                <a:ext cx="0" cy="168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66" name="Line 26">
                <a:extLst>
                  <a:ext uri="{FF2B5EF4-FFF2-40B4-BE49-F238E27FC236}">
                    <a16:creationId xmlns:a16="http://schemas.microsoft.com/office/drawing/2014/main" id="{6A207F02-5E17-D05A-44B2-9DD059F9C9B4}"/>
                  </a:ext>
                </a:extLst>
              </p:cNvPr>
              <p:cNvSpPr>
                <a:spLocks noChangeShapeType="1"/>
              </p:cNvSpPr>
              <p:nvPr/>
            </p:nvSpPr>
            <p:spPr bwMode="auto">
              <a:xfrm>
                <a:off x="1776" y="3600"/>
                <a:ext cx="2208"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67" name="Text Box 27">
                <a:extLst>
                  <a:ext uri="{FF2B5EF4-FFF2-40B4-BE49-F238E27FC236}">
                    <a16:creationId xmlns:a16="http://schemas.microsoft.com/office/drawing/2014/main" id="{CF9247A0-93FC-4841-15FD-BEBC4D4A3227}"/>
                  </a:ext>
                </a:extLst>
              </p:cNvPr>
              <p:cNvSpPr txBox="1">
                <a:spLocks noChangeArrowheads="1"/>
              </p:cNvSpPr>
              <p:nvPr/>
            </p:nvSpPr>
            <p:spPr bwMode="auto">
              <a:xfrm>
                <a:off x="1440" y="2016"/>
                <a:ext cx="250" cy="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价格水平</a:t>
                </a:r>
              </a:p>
              <a:p>
                <a:pPr algn="l">
                  <a:spcBef>
                    <a:spcPct val="50000"/>
                  </a:spcBef>
                </a:pPr>
                <a:r>
                  <a:rPr lang="en-US" altLang="zh-CN" b="1"/>
                  <a:t>P</a:t>
                </a:r>
              </a:p>
            </p:txBody>
          </p:sp>
          <p:sp>
            <p:nvSpPr>
              <p:cNvPr id="368668" name="Text Box 28">
                <a:extLst>
                  <a:ext uri="{FF2B5EF4-FFF2-40B4-BE49-F238E27FC236}">
                    <a16:creationId xmlns:a16="http://schemas.microsoft.com/office/drawing/2014/main" id="{CBBB20BB-8758-0C18-D655-3E8C8092BCCF}"/>
                  </a:ext>
                </a:extLst>
              </p:cNvPr>
              <p:cNvSpPr txBox="1">
                <a:spLocks noChangeArrowheads="1"/>
              </p:cNvSpPr>
              <p:nvPr/>
            </p:nvSpPr>
            <p:spPr bwMode="auto">
              <a:xfrm>
                <a:off x="3600" y="3696"/>
                <a:ext cx="768"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b="1"/>
                  <a:t>产量 </a:t>
                </a:r>
                <a:r>
                  <a:rPr lang="en-US" altLang="zh-CN" b="1"/>
                  <a:t>Y</a:t>
                </a:r>
              </a:p>
            </p:txBody>
          </p:sp>
        </p:grpSp>
        <p:grpSp>
          <p:nvGrpSpPr>
            <p:cNvPr id="368669" name="Group 29">
              <a:extLst>
                <a:ext uri="{FF2B5EF4-FFF2-40B4-BE49-F238E27FC236}">
                  <a16:creationId xmlns:a16="http://schemas.microsoft.com/office/drawing/2014/main" id="{4E4DC1DA-B986-EF30-8057-21814E971877}"/>
                </a:ext>
              </a:extLst>
            </p:cNvPr>
            <p:cNvGrpSpPr>
              <a:grpSpLocks/>
            </p:cNvGrpSpPr>
            <p:nvPr/>
          </p:nvGrpSpPr>
          <p:grpSpPr bwMode="auto">
            <a:xfrm rot="-1644279">
              <a:off x="3935" y="2697"/>
              <a:ext cx="1537" cy="231"/>
              <a:chOff x="2351" y="2352"/>
              <a:chExt cx="1537" cy="231"/>
            </a:xfrm>
          </p:grpSpPr>
          <p:sp>
            <p:nvSpPr>
              <p:cNvPr id="368670" name="Line 30">
                <a:extLst>
                  <a:ext uri="{FF2B5EF4-FFF2-40B4-BE49-F238E27FC236}">
                    <a16:creationId xmlns:a16="http://schemas.microsoft.com/office/drawing/2014/main" id="{ED0D86E1-E757-8D17-D49D-7082AA5CDF2D}"/>
                  </a:ext>
                </a:extLst>
              </p:cNvPr>
              <p:cNvSpPr>
                <a:spLocks noChangeShapeType="1"/>
              </p:cNvSpPr>
              <p:nvPr/>
            </p:nvSpPr>
            <p:spPr bwMode="auto">
              <a:xfrm rot="5400000">
                <a:off x="2927" y="1895"/>
                <a:ext cx="0" cy="1152"/>
              </a:xfrm>
              <a:prstGeom prst="line">
                <a:avLst/>
              </a:prstGeom>
              <a:noFill/>
              <a:ln w="38100">
                <a:solidFill>
                  <a:srgbClr val="24C03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71" name="Text Box 31">
                <a:extLst>
                  <a:ext uri="{FF2B5EF4-FFF2-40B4-BE49-F238E27FC236}">
                    <a16:creationId xmlns:a16="http://schemas.microsoft.com/office/drawing/2014/main" id="{71CEB4A2-6142-D903-5CC7-61F536853334}"/>
                  </a:ext>
                </a:extLst>
              </p:cNvPr>
              <p:cNvSpPr txBox="1">
                <a:spLocks noChangeArrowheads="1"/>
              </p:cNvSpPr>
              <p:nvPr/>
            </p:nvSpPr>
            <p:spPr bwMode="auto">
              <a:xfrm>
                <a:off x="3504" y="235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b="1">
                    <a:solidFill>
                      <a:srgbClr val="24C03A"/>
                    </a:solidFill>
                  </a:rPr>
                  <a:t>AS</a:t>
                </a:r>
              </a:p>
            </p:txBody>
          </p:sp>
        </p:grpSp>
        <p:grpSp>
          <p:nvGrpSpPr>
            <p:cNvPr id="368672" name="Group 32">
              <a:extLst>
                <a:ext uri="{FF2B5EF4-FFF2-40B4-BE49-F238E27FC236}">
                  <a16:creationId xmlns:a16="http://schemas.microsoft.com/office/drawing/2014/main" id="{0666C681-C51D-F759-9390-644B93AE0626}"/>
                </a:ext>
              </a:extLst>
            </p:cNvPr>
            <p:cNvGrpSpPr>
              <a:grpSpLocks/>
            </p:cNvGrpSpPr>
            <p:nvPr/>
          </p:nvGrpSpPr>
          <p:grpSpPr bwMode="auto">
            <a:xfrm>
              <a:off x="4484" y="2112"/>
              <a:ext cx="268" cy="1728"/>
              <a:chOff x="4484" y="2112"/>
              <a:chExt cx="268" cy="1728"/>
            </a:xfrm>
          </p:grpSpPr>
          <p:sp>
            <p:nvSpPr>
              <p:cNvPr id="368673" name="Line 33">
                <a:extLst>
                  <a:ext uri="{FF2B5EF4-FFF2-40B4-BE49-F238E27FC236}">
                    <a16:creationId xmlns:a16="http://schemas.microsoft.com/office/drawing/2014/main" id="{70CB09E1-DEAC-4053-CCE1-4469DCA9CC70}"/>
                  </a:ext>
                </a:extLst>
              </p:cNvPr>
              <p:cNvSpPr>
                <a:spLocks noChangeShapeType="1"/>
              </p:cNvSpPr>
              <p:nvPr/>
            </p:nvSpPr>
            <p:spPr bwMode="auto">
              <a:xfrm>
                <a:off x="4608" y="2112"/>
                <a:ext cx="0" cy="1488"/>
              </a:xfrm>
              <a:prstGeom prst="line">
                <a:avLst/>
              </a:prstGeom>
              <a:noFill/>
              <a:ln w="38100"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68674" name="Text Box 34">
                <a:extLst>
                  <a:ext uri="{FF2B5EF4-FFF2-40B4-BE49-F238E27FC236}">
                    <a16:creationId xmlns:a16="http://schemas.microsoft.com/office/drawing/2014/main" id="{14439676-650E-3D43-20E3-14974B9555F9}"/>
                  </a:ext>
                </a:extLst>
              </p:cNvPr>
              <p:cNvSpPr txBox="1">
                <a:spLocks noChangeArrowheads="1"/>
              </p:cNvSpPr>
              <p:nvPr/>
            </p:nvSpPr>
            <p:spPr bwMode="auto">
              <a:xfrm>
                <a:off x="4484" y="3609"/>
                <a:ext cx="2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b="1"/>
                  <a:t>Y*</a:t>
                </a:r>
              </a:p>
            </p:txBody>
          </p:sp>
        </p:grpSp>
      </p:grpSp>
      <p:grpSp>
        <p:nvGrpSpPr>
          <p:cNvPr id="368675" name="Group 35">
            <a:extLst>
              <a:ext uri="{FF2B5EF4-FFF2-40B4-BE49-F238E27FC236}">
                <a16:creationId xmlns:a16="http://schemas.microsoft.com/office/drawing/2014/main" id="{83F9AD4F-4515-A334-3560-2335A969E38B}"/>
              </a:ext>
            </a:extLst>
          </p:cNvPr>
          <p:cNvGrpSpPr>
            <a:grpSpLocks/>
          </p:cNvGrpSpPr>
          <p:nvPr/>
        </p:nvGrpSpPr>
        <p:grpSpPr bwMode="auto">
          <a:xfrm rot="-1644279">
            <a:off x="5580063" y="4724400"/>
            <a:ext cx="2441575" cy="366713"/>
            <a:chOff x="2350" y="2352"/>
            <a:chExt cx="1538" cy="231"/>
          </a:xfrm>
        </p:grpSpPr>
        <p:sp>
          <p:nvSpPr>
            <p:cNvPr id="368676" name="Line 36">
              <a:extLst>
                <a:ext uri="{FF2B5EF4-FFF2-40B4-BE49-F238E27FC236}">
                  <a16:creationId xmlns:a16="http://schemas.microsoft.com/office/drawing/2014/main" id="{8990A756-9DC5-C3D2-F3EB-A138092C4090}"/>
                </a:ext>
              </a:extLst>
            </p:cNvPr>
            <p:cNvSpPr>
              <a:spLocks noChangeShapeType="1"/>
            </p:cNvSpPr>
            <p:nvPr/>
          </p:nvSpPr>
          <p:spPr bwMode="auto">
            <a:xfrm rot="5400000">
              <a:off x="2926" y="1896"/>
              <a:ext cx="0" cy="1152"/>
            </a:xfrm>
            <a:prstGeom prst="line">
              <a:avLst/>
            </a:prstGeom>
            <a:noFill/>
            <a:ln w="38100">
              <a:solidFill>
                <a:srgbClr val="24C03A"/>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p>
              <a:endParaRPr lang="zh-CN" altLang="en-US"/>
            </a:p>
          </p:txBody>
        </p:sp>
        <p:sp>
          <p:nvSpPr>
            <p:cNvPr id="368677" name="Text Box 37">
              <a:extLst>
                <a:ext uri="{FF2B5EF4-FFF2-40B4-BE49-F238E27FC236}">
                  <a16:creationId xmlns:a16="http://schemas.microsoft.com/office/drawing/2014/main" id="{C74FAAEA-9A28-C78B-2EDB-F3A104606326}"/>
                </a:ext>
              </a:extLst>
            </p:cNvPr>
            <p:cNvSpPr txBox="1">
              <a:spLocks noChangeArrowheads="1"/>
            </p:cNvSpPr>
            <p:nvPr/>
          </p:nvSpPr>
          <p:spPr bwMode="auto">
            <a:xfrm>
              <a:off x="3504" y="2352"/>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algn="l">
                <a:spcBef>
                  <a:spcPct val="50000"/>
                </a:spcBef>
              </a:pPr>
              <a:r>
                <a:rPr lang="en-US" altLang="zh-CN" b="1">
                  <a:solidFill>
                    <a:srgbClr val="24C03A"/>
                  </a:solidFill>
                </a:rPr>
                <a:t>AS1</a:t>
              </a:r>
            </a:p>
          </p:txBody>
        </p:sp>
      </p:grpSp>
      <p:sp>
        <p:nvSpPr>
          <p:cNvPr id="368678" name="AutoShape 38">
            <a:extLst>
              <a:ext uri="{FF2B5EF4-FFF2-40B4-BE49-F238E27FC236}">
                <a16:creationId xmlns:a16="http://schemas.microsoft.com/office/drawing/2014/main" id="{CFAA3E10-10BE-24D5-821D-806B2A1272B4}"/>
              </a:ext>
            </a:extLst>
          </p:cNvPr>
          <p:cNvSpPr>
            <a:spLocks noChangeArrowheads="1"/>
          </p:cNvSpPr>
          <p:nvPr/>
        </p:nvSpPr>
        <p:spPr bwMode="auto">
          <a:xfrm rot="5400000" flipH="1">
            <a:off x="6417469" y="4536282"/>
            <a:ext cx="223837" cy="457200"/>
          </a:xfrm>
          <a:prstGeom prst="upArrow">
            <a:avLst>
              <a:gd name="adj1" fmla="val 50000"/>
              <a:gd name="adj2" fmla="val 51064"/>
            </a:avLst>
          </a:prstGeom>
          <a:solidFill>
            <a:schemeClr val="tx2"/>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79" name="Line 39">
            <a:extLst>
              <a:ext uri="{FF2B5EF4-FFF2-40B4-BE49-F238E27FC236}">
                <a16:creationId xmlns:a16="http://schemas.microsoft.com/office/drawing/2014/main" id="{C961EDEA-0A56-BF64-A11D-D969403FCEBE}"/>
              </a:ext>
            </a:extLst>
          </p:cNvPr>
          <p:cNvSpPr>
            <a:spLocks noChangeShapeType="1"/>
          </p:cNvSpPr>
          <p:nvPr/>
        </p:nvSpPr>
        <p:spPr bwMode="auto">
          <a:xfrm>
            <a:off x="6804025" y="3357563"/>
            <a:ext cx="0" cy="23034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68643"/>
                                        </p:tgtEl>
                                        <p:attrNameLst>
                                          <p:attrName>style.visibility</p:attrName>
                                        </p:attrNameLst>
                                      </p:cBhvr>
                                      <p:to>
                                        <p:strVal val="visible"/>
                                      </p:to>
                                    </p:set>
                                    <p:animEffect transition="in" filter="slide(fromTop)">
                                      <p:cBhvr>
                                        <p:cTn id="7" dur="500"/>
                                        <p:tgtEl>
                                          <p:spTgt spid="3686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8645"/>
                                        </p:tgtEl>
                                        <p:attrNameLst>
                                          <p:attrName>style.visibility</p:attrName>
                                        </p:attrNameLst>
                                      </p:cBhvr>
                                      <p:to>
                                        <p:strVal val="visible"/>
                                      </p:to>
                                    </p:set>
                                    <p:animEffect transition="in" filter="box(in)">
                                      <p:cBhvr>
                                        <p:cTn id="12" dur="500"/>
                                        <p:tgtEl>
                                          <p:spTgt spid="3686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8646"/>
                                        </p:tgtEl>
                                        <p:attrNameLst>
                                          <p:attrName>style.visibility</p:attrName>
                                        </p:attrNameLst>
                                      </p:cBhvr>
                                      <p:to>
                                        <p:strVal val="visible"/>
                                      </p:to>
                                    </p:set>
                                    <p:animEffect transition="in" filter="box(in)">
                                      <p:cBhvr>
                                        <p:cTn id="17" dur="500"/>
                                        <p:tgtEl>
                                          <p:spTgt spid="36864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1" fill="hold" nodeType="clickEffect">
                                  <p:stCondLst>
                                    <p:cond delay="0"/>
                                  </p:stCondLst>
                                  <p:childTnLst>
                                    <p:set>
                                      <p:cBhvr>
                                        <p:cTn id="21" dur="1" fill="hold">
                                          <p:stCondLst>
                                            <p:cond delay="0"/>
                                          </p:stCondLst>
                                        </p:cTn>
                                        <p:tgtEl>
                                          <p:spTgt spid="368662"/>
                                        </p:tgtEl>
                                        <p:attrNameLst>
                                          <p:attrName>style.visibility</p:attrName>
                                        </p:attrNameLst>
                                      </p:cBhvr>
                                      <p:to>
                                        <p:strVal val="visible"/>
                                      </p:to>
                                    </p:set>
                                    <p:animEffect transition="in" filter="slide(fromTop)">
                                      <p:cBhvr>
                                        <p:cTn id="22" dur="500"/>
                                        <p:tgtEl>
                                          <p:spTgt spid="368662"/>
                                        </p:tgtEl>
                                      </p:cBhvr>
                                    </p:animEffect>
                                  </p:childTnLst>
                                </p:cTn>
                              </p:par>
                              <p:par>
                                <p:cTn id="23" presetID="12" presetClass="entr" presetSubtype="1" fill="hold" nodeType="withEffect">
                                  <p:stCondLst>
                                    <p:cond delay="0"/>
                                  </p:stCondLst>
                                  <p:childTnLst>
                                    <p:set>
                                      <p:cBhvr>
                                        <p:cTn id="24" dur="1" fill="hold">
                                          <p:stCondLst>
                                            <p:cond delay="0"/>
                                          </p:stCondLst>
                                        </p:cTn>
                                        <p:tgtEl>
                                          <p:spTgt spid="368659"/>
                                        </p:tgtEl>
                                        <p:attrNameLst>
                                          <p:attrName>style.visibility</p:attrName>
                                        </p:attrNameLst>
                                      </p:cBhvr>
                                      <p:to>
                                        <p:strVal val="visible"/>
                                      </p:to>
                                    </p:set>
                                    <p:animEffect transition="in" filter="slide(fromTop)">
                                      <p:cBhvr>
                                        <p:cTn id="25" dur="500"/>
                                        <p:tgtEl>
                                          <p:spTgt spid="36865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nodeType="clickEffect">
                                  <p:stCondLst>
                                    <p:cond delay="0"/>
                                  </p:stCondLst>
                                  <p:childTnLst>
                                    <p:set>
                                      <p:cBhvr>
                                        <p:cTn id="29" dur="1" fill="hold">
                                          <p:stCondLst>
                                            <p:cond delay="0"/>
                                          </p:stCondLst>
                                        </p:cTn>
                                        <p:tgtEl>
                                          <p:spTgt spid="368663"/>
                                        </p:tgtEl>
                                        <p:attrNameLst>
                                          <p:attrName>style.visibility</p:attrName>
                                        </p:attrNameLst>
                                      </p:cBhvr>
                                      <p:to>
                                        <p:strVal val="visible"/>
                                      </p:to>
                                    </p:set>
                                    <p:animEffect transition="in" filter="box(in)">
                                      <p:cBhvr>
                                        <p:cTn id="30" dur="500"/>
                                        <p:tgtEl>
                                          <p:spTgt spid="368663"/>
                                        </p:tgtEl>
                                      </p:cBhvr>
                                    </p:animEffect>
                                  </p:childTnLst>
                                </p:cTn>
                              </p:par>
                              <p:par>
                                <p:cTn id="31" presetID="12" presetClass="entr" presetSubtype="1" fill="hold" nodeType="withEffect">
                                  <p:stCondLst>
                                    <p:cond delay="0"/>
                                  </p:stCondLst>
                                  <p:childTnLst>
                                    <p:set>
                                      <p:cBhvr>
                                        <p:cTn id="32" dur="1" fill="hold">
                                          <p:stCondLst>
                                            <p:cond delay="0"/>
                                          </p:stCondLst>
                                        </p:cTn>
                                        <p:tgtEl>
                                          <p:spTgt spid="368675"/>
                                        </p:tgtEl>
                                        <p:attrNameLst>
                                          <p:attrName>style.visibility</p:attrName>
                                        </p:attrNameLst>
                                      </p:cBhvr>
                                      <p:to>
                                        <p:strVal val="visible"/>
                                      </p:to>
                                    </p:set>
                                    <p:animEffect transition="in" filter="slide(fromTop)">
                                      <p:cBhvr>
                                        <p:cTn id="33" dur="500"/>
                                        <p:tgtEl>
                                          <p:spTgt spid="36867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8" fill="hold" nodeType="clickEffect">
                                  <p:stCondLst>
                                    <p:cond delay="0"/>
                                  </p:stCondLst>
                                  <p:childTnLst>
                                    <p:set>
                                      <p:cBhvr>
                                        <p:cTn id="37" dur="1" fill="hold">
                                          <p:stCondLst>
                                            <p:cond delay="0"/>
                                          </p:stCondLst>
                                        </p:cTn>
                                        <p:tgtEl>
                                          <p:spTgt spid="368678"/>
                                        </p:tgtEl>
                                        <p:attrNameLst>
                                          <p:attrName>style.visibility</p:attrName>
                                        </p:attrNameLst>
                                      </p:cBhvr>
                                      <p:to>
                                        <p:strVal val="visible"/>
                                      </p:to>
                                    </p:set>
                                    <p:animEffect transition="in" filter="slide(fromLeft)">
                                      <p:cBhvr>
                                        <p:cTn id="38" dur="500"/>
                                        <p:tgtEl>
                                          <p:spTgt spid="368678"/>
                                        </p:tgtEl>
                                      </p:cBhvr>
                                    </p:animEffect>
                                  </p:childTnLst>
                                </p:cTn>
                              </p:par>
                              <p:par>
                                <p:cTn id="39" presetID="12" presetClass="entr" presetSubtype="8" fill="hold" nodeType="withEffect">
                                  <p:stCondLst>
                                    <p:cond delay="0"/>
                                  </p:stCondLst>
                                  <p:childTnLst>
                                    <p:set>
                                      <p:cBhvr>
                                        <p:cTn id="40" dur="1" fill="hold">
                                          <p:stCondLst>
                                            <p:cond delay="0"/>
                                          </p:stCondLst>
                                        </p:cTn>
                                        <p:tgtEl>
                                          <p:spTgt spid="368679"/>
                                        </p:tgtEl>
                                        <p:attrNameLst>
                                          <p:attrName>style.visibility</p:attrName>
                                        </p:attrNameLst>
                                      </p:cBhvr>
                                      <p:to>
                                        <p:strVal val="visible"/>
                                      </p:to>
                                    </p:set>
                                    <p:animEffect transition="in" filter="slide(fromLeft)">
                                      <p:cBhvr>
                                        <p:cTn id="41" dur="500"/>
                                        <p:tgtEl>
                                          <p:spTgt spid="3686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autoUpdateAnimBg="0"/>
      <p:bldP spid="368645"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5571" name="Rectangle 3">
            <a:extLst>
              <a:ext uri="{FF2B5EF4-FFF2-40B4-BE49-F238E27FC236}">
                <a16:creationId xmlns:a16="http://schemas.microsoft.com/office/drawing/2014/main" id="{CE5EE4F2-E322-7C9F-607F-91F405FD0CD8}"/>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3.8 </a:t>
            </a:r>
            <a:r>
              <a:rPr lang="zh-CN" altLang="en-US" b="1">
                <a:solidFill>
                  <a:srgbClr val="CC0000"/>
                </a:solidFill>
              </a:rPr>
              <a:t>推导总供给曲线的其他版本</a:t>
            </a:r>
          </a:p>
        </p:txBody>
      </p:sp>
      <p:sp>
        <p:nvSpPr>
          <p:cNvPr id="365572" name="Rectangle 4">
            <a:extLst>
              <a:ext uri="{FF2B5EF4-FFF2-40B4-BE49-F238E27FC236}">
                <a16:creationId xmlns:a16="http://schemas.microsoft.com/office/drawing/2014/main" id="{8AE499B8-F275-6E92-7FB7-040240ED88B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5573" name="Rectangle 5">
            <a:extLst>
              <a:ext uri="{FF2B5EF4-FFF2-40B4-BE49-F238E27FC236}">
                <a16:creationId xmlns:a16="http://schemas.microsoft.com/office/drawing/2014/main" id="{E19AC1FE-AF4A-8C00-6988-0F868E4246B9}"/>
              </a:ext>
            </a:extLst>
          </p:cNvPr>
          <p:cNvSpPr>
            <a:spLocks noRot="1" noChangeArrowheads="1"/>
          </p:cNvSpPr>
          <p:nvPr/>
        </p:nvSpPr>
        <p:spPr bwMode="auto">
          <a:xfrm>
            <a:off x="152400" y="1219200"/>
            <a:ext cx="86106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如何较好地解释总供给曲线？经济学家的意见很不一致。</a:t>
            </a:r>
          </a:p>
          <a:p>
            <a:pPr lvl="2">
              <a:spcBef>
                <a:spcPct val="20000"/>
              </a:spcBef>
              <a:buClr>
                <a:schemeClr val="hlink"/>
              </a:buClr>
              <a:buSzPct val="85000"/>
              <a:buFont typeface="Wingdings" panose="05000000000000000000" pitchFamily="2" charset="2"/>
              <a:buChar char="§"/>
            </a:pPr>
            <a:r>
              <a:rPr lang="zh-CN" altLang="en-US" sz="2000" b="1"/>
              <a:t>（名义）工资黏性模型（</a:t>
            </a:r>
            <a:r>
              <a:rPr lang="en-US" altLang="zh-CN" sz="2000" b="1"/>
              <a:t>sticky</a:t>
            </a:r>
            <a:r>
              <a:rPr lang="zh-CN" altLang="en-US" sz="2000" b="1"/>
              <a:t>－</a:t>
            </a:r>
            <a:r>
              <a:rPr lang="en-US" altLang="zh-CN" sz="2000" b="1"/>
              <a:t>wage model </a:t>
            </a:r>
            <a:r>
              <a:rPr lang="zh-CN" altLang="en-US" sz="2000" b="1"/>
              <a:t>）</a:t>
            </a:r>
          </a:p>
          <a:p>
            <a:pPr lvl="2">
              <a:spcBef>
                <a:spcPct val="20000"/>
              </a:spcBef>
              <a:buClr>
                <a:schemeClr val="hlink"/>
              </a:buClr>
              <a:buSzPct val="85000"/>
              <a:buFont typeface="Wingdings" panose="05000000000000000000" pitchFamily="2" charset="2"/>
              <a:buChar char="§"/>
            </a:pPr>
            <a:r>
              <a:rPr lang="zh-CN" altLang="en-US" sz="2000" b="1"/>
              <a:t>不完全信息模型（</a:t>
            </a:r>
            <a:r>
              <a:rPr lang="en-US" altLang="zh-CN" sz="2000" b="1"/>
              <a:t>imperfect</a:t>
            </a:r>
            <a:r>
              <a:rPr lang="zh-CN" altLang="en-US" sz="2000" b="1"/>
              <a:t>－</a:t>
            </a:r>
            <a:r>
              <a:rPr lang="en-US" altLang="zh-CN" sz="2000" b="1"/>
              <a:t>information model</a:t>
            </a:r>
            <a:r>
              <a:rPr lang="zh-CN" altLang="en-US" sz="2000" b="1"/>
              <a:t>）</a:t>
            </a:r>
          </a:p>
          <a:p>
            <a:pPr lvl="2">
              <a:spcBef>
                <a:spcPct val="20000"/>
              </a:spcBef>
              <a:buClr>
                <a:schemeClr val="hlink"/>
              </a:buClr>
              <a:buSzPct val="85000"/>
              <a:buFont typeface="Wingdings" panose="05000000000000000000" pitchFamily="2" charset="2"/>
              <a:buChar char="§"/>
            </a:pPr>
            <a:r>
              <a:rPr lang="zh-CN" altLang="en-US" sz="2000" b="1"/>
              <a:t>（名义）价格黏性模型（</a:t>
            </a:r>
            <a:r>
              <a:rPr lang="en-US" altLang="zh-CN" sz="2000" b="1"/>
              <a:t>sticky</a:t>
            </a:r>
            <a:r>
              <a:rPr lang="zh-CN" altLang="en-US" sz="2000" b="1"/>
              <a:t>－</a:t>
            </a:r>
            <a:r>
              <a:rPr lang="en-US" altLang="zh-CN" sz="2000" b="1"/>
              <a:t>price model</a:t>
            </a:r>
            <a:r>
              <a:rPr lang="zh-CN" altLang="en-US" sz="2000" b="1"/>
              <a:t>）</a:t>
            </a:r>
          </a:p>
        </p:txBody>
      </p:sp>
      <p:sp>
        <p:nvSpPr>
          <p:cNvPr id="365591" name="Rectangle 23">
            <a:extLst>
              <a:ext uri="{FF2B5EF4-FFF2-40B4-BE49-F238E27FC236}">
                <a16:creationId xmlns:a16="http://schemas.microsoft.com/office/drawing/2014/main" id="{15143C3A-35B3-7DBA-D85D-F3B7B09125B7}"/>
              </a:ext>
            </a:extLst>
          </p:cNvPr>
          <p:cNvSpPr>
            <a:spLocks noRot="1" noChangeArrowheads="1"/>
          </p:cNvSpPr>
          <p:nvPr/>
        </p:nvSpPr>
        <p:spPr bwMode="auto">
          <a:xfrm>
            <a:off x="152400" y="3352800"/>
            <a:ext cx="535622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（名义）工资黏性模型。</a:t>
            </a:r>
          </a:p>
        </p:txBody>
      </p:sp>
      <p:graphicFrame>
        <p:nvGraphicFramePr>
          <p:cNvPr id="365592" name="Object 24">
            <a:extLst>
              <a:ext uri="{FF2B5EF4-FFF2-40B4-BE49-F238E27FC236}">
                <a16:creationId xmlns:a16="http://schemas.microsoft.com/office/drawing/2014/main" id="{31E46636-435B-EB22-5D08-09CD5018BBE3}"/>
              </a:ext>
            </a:extLst>
          </p:cNvPr>
          <p:cNvGraphicFramePr>
            <a:graphicFrameLocks noChangeAspect="1"/>
          </p:cNvGraphicFramePr>
          <p:nvPr/>
        </p:nvGraphicFramePr>
        <p:xfrm>
          <a:off x="1998663" y="4208463"/>
          <a:ext cx="3867150" cy="973137"/>
        </p:xfrm>
        <a:graphic>
          <a:graphicData uri="http://schemas.openxmlformats.org/presentationml/2006/ole">
            <mc:AlternateContent xmlns:mc="http://schemas.openxmlformats.org/markup-compatibility/2006">
              <mc:Choice xmlns:v="urn:schemas-microsoft-com:vml" Requires="v">
                <p:oleObj name="Equation" r:id="rId2" imgW="1841400" imgH="406080" progId="Equation.DSMT4">
                  <p:embed/>
                </p:oleObj>
              </mc:Choice>
              <mc:Fallback>
                <p:oleObj name="Equation" r:id="rId2" imgW="1841400" imgH="406080" progId="Equation.DSMT4">
                  <p:embed/>
                  <p:pic>
                    <p:nvPicPr>
                      <p:cNvPr id="0" name="Object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8663" y="4208463"/>
                        <a:ext cx="3867150" cy="973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65599" name="Group 31">
            <a:extLst>
              <a:ext uri="{FF2B5EF4-FFF2-40B4-BE49-F238E27FC236}">
                <a16:creationId xmlns:a16="http://schemas.microsoft.com/office/drawing/2014/main" id="{335CFBFE-2563-4C8D-9A86-56488AFD7614}"/>
              </a:ext>
            </a:extLst>
          </p:cNvPr>
          <p:cNvGrpSpPr>
            <a:grpSpLocks/>
          </p:cNvGrpSpPr>
          <p:nvPr/>
        </p:nvGrpSpPr>
        <p:grpSpPr bwMode="auto">
          <a:xfrm>
            <a:off x="3200400" y="4114800"/>
            <a:ext cx="2667000" cy="1143000"/>
            <a:chOff x="2016" y="2592"/>
            <a:chExt cx="1680" cy="720"/>
          </a:xfrm>
        </p:grpSpPr>
        <p:sp>
          <p:nvSpPr>
            <p:cNvPr id="365593" name="Oval 25">
              <a:extLst>
                <a:ext uri="{FF2B5EF4-FFF2-40B4-BE49-F238E27FC236}">
                  <a16:creationId xmlns:a16="http://schemas.microsoft.com/office/drawing/2014/main" id="{9CB75574-30EE-79B6-D6E9-667D72A63A3F}"/>
                </a:ext>
              </a:extLst>
            </p:cNvPr>
            <p:cNvSpPr>
              <a:spLocks noChangeArrowheads="1"/>
            </p:cNvSpPr>
            <p:nvPr/>
          </p:nvSpPr>
          <p:spPr bwMode="auto">
            <a:xfrm>
              <a:off x="2016" y="2592"/>
              <a:ext cx="288" cy="720"/>
            </a:xfrm>
            <a:prstGeom prst="ellipse">
              <a:avLst/>
            </a:prstGeom>
            <a:noFill/>
            <a:ln w="38100">
              <a:solidFill>
                <a:schemeClr val="tx2"/>
              </a:solidFill>
              <a:round/>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595" name="Oval 27">
              <a:extLst>
                <a:ext uri="{FF2B5EF4-FFF2-40B4-BE49-F238E27FC236}">
                  <a16:creationId xmlns:a16="http://schemas.microsoft.com/office/drawing/2014/main" id="{5DF796EC-6F8E-9246-01B2-456853C509FB}"/>
                </a:ext>
              </a:extLst>
            </p:cNvPr>
            <p:cNvSpPr>
              <a:spLocks noChangeArrowheads="1"/>
            </p:cNvSpPr>
            <p:nvPr/>
          </p:nvSpPr>
          <p:spPr bwMode="auto">
            <a:xfrm>
              <a:off x="3408" y="2592"/>
              <a:ext cx="288" cy="720"/>
            </a:xfrm>
            <a:prstGeom prst="ellipse">
              <a:avLst/>
            </a:prstGeom>
            <a:noFill/>
            <a:ln w="38100">
              <a:solidFill>
                <a:schemeClr val="tx2"/>
              </a:solidFill>
              <a:round/>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65596" name="Rectangle 28">
            <a:extLst>
              <a:ext uri="{FF2B5EF4-FFF2-40B4-BE49-F238E27FC236}">
                <a16:creationId xmlns:a16="http://schemas.microsoft.com/office/drawing/2014/main" id="{3E72D57F-D91C-4409-78D0-6252223BD732}"/>
              </a:ext>
            </a:extLst>
          </p:cNvPr>
          <p:cNvSpPr>
            <a:spLocks noRot="1" noChangeArrowheads="1"/>
          </p:cNvSpPr>
          <p:nvPr/>
        </p:nvSpPr>
        <p:spPr bwMode="auto">
          <a:xfrm>
            <a:off x="152400" y="5562600"/>
            <a:ext cx="6248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这个模型是否与实际吻合？</a:t>
            </a:r>
          </a:p>
        </p:txBody>
      </p:sp>
      <p:grpSp>
        <p:nvGrpSpPr>
          <p:cNvPr id="365600" name="Group 32">
            <a:extLst>
              <a:ext uri="{FF2B5EF4-FFF2-40B4-BE49-F238E27FC236}">
                <a16:creationId xmlns:a16="http://schemas.microsoft.com/office/drawing/2014/main" id="{369987F2-7564-826C-327D-6B93799696FA}"/>
              </a:ext>
            </a:extLst>
          </p:cNvPr>
          <p:cNvGrpSpPr>
            <a:grpSpLocks/>
          </p:cNvGrpSpPr>
          <p:nvPr/>
        </p:nvGrpSpPr>
        <p:grpSpPr bwMode="auto">
          <a:xfrm>
            <a:off x="5791200" y="3276600"/>
            <a:ext cx="3352800" cy="3505200"/>
            <a:chOff x="3648" y="2064"/>
            <a:chExt cx="2112" cy="2208"/>
          </a:xfrm>
        </p:grpSpPr>
        <p:sp>
          <p:nvSpPr>
            <p:cNvPr id="365597" name="AutoShape 29">
              <a:extLst>
                <a:ext uri="{FF2B5EF4-FFF2-40B4-BE49-F238E27FC236}">
                  <a16:creationId xmlns:a16="http://schemas.microsoft.com/office/drawing/2014/main" id="{8D9FE209-60FF-46A8-5058-960186909EC4}"/>
                </a:ext>
              </a:extLst>
            </p:cNvPr>
            <p:cNvSpPr>
              <a:spLocks noChangeArrowheads="1"/>
            </p:cNvSpPr>
            <p:nvPr/>
          </p:nvSpPr>
          <p:spPr bwMode="auto">
            <a:xfrm>
              <a:off x="3648" y="3504"/>
              <a:ext cx="528" cy="768"/>
            </a:xfrm>
            <a:prstGeom prst="smileyFace">
              <a:avLst>
                <a:gd name="adj" fmla="val 4653"/>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5598" name="AutoShape 30">
              <a:extLst>
                <a:ext uri="{FF2B5EF4-FFF2-40B4-BE49-F238E27FC236}">
                  <a16:creationId xmlns:a16="http://schemas.microsoft.com/office/drawing/2014/main" id="{65982EAC-90D7-20D8-AE5B-15C588BA136C}"/>
                </a:ext>
              </a:extLst>
            </p:cNvPr>
            <p:cNvSpPr>
              <a:spLocks noChangeArrowheads="1"/>
            </p:cNvSpPr>
            <p:nvPr/>
          </p:nvSpPr>
          <p:spPr bwMode="auto">
            <a:xfrm>
              <a:off x="4176" y="2064"/>
              <a:ext cx="1584" cy="1056"/>
            </a:xfrm>
            <a:prstGeom prst="cloudCallout">
              <a:avLst>
                <a:gd name="adj1" fmla="val -43750"/>
                <a:gd name="adj2" fmla="val 102745"/>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800" b="1"/>
                <a:t>实际工资逆周期？</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65571"/>
                                        </p:tgtEl>
                                        <p:attrNameLst>
                                          <p:attrName>style.visibility</p:attrName>
                                        </p:attrNameLst>
                                      </p:cBhvr>
                                      <p:to>
                                        <p:strVal val="visible"/>
                                      </p:to>
                                    </p:set>
                                    <p:animEffect transition="in" filter="slide(fromTop)">
                                      <p:cBhvr>
                                        <p:cTn id="7" dur="500"/>
                                        <p:tgtEl>
                                          <p:spTgt spid="3655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365573"/>
                                        </p:tgtEl>
                                        <p:attrNameLst>
                                          <p:attrName>style.visibility</p:attrName>
                                        </p:attrNameLst>
                                      </p:cBhvr>
                                      <p:to>
                                        <p:strVal val="visible"/>
                                      </p:to>
                                    </p:set>
                                    <p:animEffect transition="in" filter="box(out)">
                                      <p:cBhvr>
                                        <p:cTn id="12" dur="500"/>
                                        <p:tgtEl>
                                          <p:spTgt spid="3655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365591"/>
                                        </p:tgtEl>
                                        <p:attrNameLst>
                                          <p:attrName>style.visibility</p:attrName>
                                        </p:attrNameLst>
                                      </p:cBhvr>
                                      <p:to>
                                        <p:strVal val="visible"/>
                                      </p:to>
                                    </p:set>
                                    <p:animEffect transition="in" filter="box(out)">
                                      <p:cBhvr>
                                        <p:cTn id="17" dur="500"/>
                                        <p:tgtEl>
                                          <p:spTgt spid="3655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nodeType="clickEffect">
                                  <p:stCondLst>
                                    <p:cond delay="0"/>
                                  </p:stCondLst>
                                  <p:childTnLst>
                                    <p:set>
                                      <p:cBhvr>
                                        <p:cTn id="21" dur="1" fill="hold">
                                          <p:stCondLst>
                                            <p:cond delay="0"/>
                                          </p:stCondLst>
                                        </p:cTn>
                                        <p:tgtEl>
                                          <p:spTgt spid="365592"/>
                                        </p:tgtEl>
                                        <p:attrNameLst>
                                          <p:attrName>style.visibility</p:attrName>
                                        </p:attrNameLst>
                                      </p:cBhvr>
                                      <p:to>
                                        <p:strVal val="visible"/>
                                      </p:to>
                                    </p:set>
                                    <p:animEffect transition="in" filter="slide(fromLeft)">
                                      <p:cBhvr>
                                        <p:cTn id="22" dur="500"/>
                                        <p:tgtEl>
                                          <p:spTgt spid="36559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365596"/>
                                        </p:tgtEl>
                                        <p:attrNameLst>
                                          <p:attrName>style.visibility</p:attrName>
                                        </p:attrNameLst>
                                      </p:cBhvr>
                                      <p:to>
                                        <p:strVal val="visible"/>
                                      </p:to>
                                    </p:set>
                                    <p:animEffect transition="in" filter="box(out)">
                                      <p:cBhvr>
                                        <p:cTn id="27" dur="500"/>
                                        <p:tgtEl>
                                          <p:spTgt spid="36559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6" fill="hold" nodeType="clickEffect">
                                  <p:stCondLst>
                                    <p:cond delay="0"/>
                                  </p:stCondLst>
                                  <p:childTnLst>
                                    <p:set>
                                      <p:cBhvr>
                                        <p:cTn id="31" dur="1" fill="hold">
                                          <p:stCondLst>
                                            <p:cond delay="0"/>
                                          </p:stCondLst>
                                        </p:cTn>
                                        <p:tgtEl>
                                          <p:spTgt spid="365599"/>
                                        </p:tgtEl>
                                        <p:attrNameLst>
                                          <p:attrName>style.visibility</p:attrName>
                                        </p:attrNameLst>
                                      </p:cBhvr>
                                      <p:to>
                                        <p:strVal val="visible"/>
                                      </p:to>
                                    </p:set>
                                    <p:animEffect transition="in" filter="barn(inHorizontal)">
                                      <p:cBhvr>
                                        <p:cTn id="32" dur="500"/>
                                        <p:tgtEl>
                                          <p:spTgt spid="36559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365600"/>
                                        </p:tgtEl>
                                        <p:attrNameLst>
                                          <p:attrName>style.visibility</p:attrName>
                                        </p:attrNameLst>
                                      </p:cBhvr>
                                      <p:to>
                                        <p:strVal val="visible"/>
                                      </p:to>
                                    </p:set>
                                    <p:anim calcmode="lin" valueType="num">
                                      <p:cBhvr>
                                        <p:cTn id="37" dur="500" fill="hold"/>
                                        <p:tgtEl>
                                          <p:spTgt spid="365600"/>
                                        </p:tgtEl>
                                        <p:attrNameLst>
                                          <p:attrName>ppt_w</p:attrName>
                                        </p:attrNameLst>
                                      </p:cBhvr>
                                      <p:tavLst>
                                        <p:tav tm="0">
                                          <p:val>
                                            <p:fltVal val="0"/>
                                          </p:val>
                                        </p:tav>
                                        <p:tav tm="100000">
                                          <p:val>
                                            <p:strVal val="#ppt_w"/>
                                          </p:val>
                                        </p:tav>
                                      </p:tavLst>
                                    </p:anim>
                                    <p:anim calcmode="lin" valueType="num">
                                      <p:cBhvr>
                                        <p:cTn id="38" dur="500" fill="hold"/>
                                        <p:tgtEl>
                                          <p:spTgt spid="36560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1" grpId="0" autoUpdateAnimBg="0"/>
      <p:bldP spid="365573" grpId="0" autoUpdateAnimBg="0"/>
      <p:bldP spid="365591" grpId="0" autoUpdateAnimBg="0"/>
      <p:bldP spid="365596"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6594" name="Rectangle 2">
            <a:extLst>
              <a:ext uri="{FF2B5EF4-FFF2-40B4-BE49-F238E27FC236}">
                <a16:creationId xmlns:a16="http://schemas.microsoft.com/office/drawing/2014/main" id="{4526D124-33B6-EC92-E24C-5767836E76AA}"/>
              </a:ext>
            </a:extLst>
          </p:cNvPr>
          <p:cNvSpPr>
            <a:spLocks noGrp="1" noRot="1" noChangeArrowheads="1"/>
          </p:cNvSpPr>
          <p:nvPr>
            <p:ph type="title"/>
          </p:nvPr>
        </p:nvSpPr>
        <p:spPr>
          <a:xfrm>
            <a:off x="298450" y="76200"/>
            <a:ext cx="8540750" cy="1143000"/>
          </a:xfrm>
        </p:spPr>
        <p:txBody>
          <a:bodyPr/>
          <a:lstStyle/>
          <a:p>
            <a:r>
              <a:rPr lang="en-US" altLang="zh-CN" b="1">
                <a:solidFill>
                  <a:srgbClr val="CC0000"/>
                </a:solidFill>
              </a:rPr>
              <a:t>3.8 </a:t>
            </a:r>
            <a:r>
              <a:rPr lang="zh-CN" altLang="en-US" b="1">
                <a:solidFill>
                  <a:srgbClr val="CC0000"/>
                </a:solidFill>
              </a:rPr>
              <a:t>推导总供给曲线的其他版本</a:t>
            </a:r>
          </a:p>
        </p:txBody>
      </p:sp>
      <p:sp>
        <p:nvSpPr>
          <p:cNvPr id="366595" name="Rectangle 3">
            <a:extLst>
              <a:ext uri="{FF2B5EF4-FFF2-40B4-BE49-F238E27FC236}">
                <a16:creationId xmlns:a16="http://schemas.microsoft.com/office/drawing/2014/main" id="{E585AB14-4D66-6135-472C-F46929D2893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6597" name="Rectangle 5">
            <a:extLst>
              <a:ext uri="{FF2B5EF4-FFF2-40B4-BE49-F238E27FC236}">
                <a16:creationId xmlns:a16="http://schemas.microsoft.com/office/drawing/2014/main" id="{CFD13E10-0FB1-4827-5768-E49A76B7C7C4}"/>
              </a:ext>
            </a:extLst>
          </p:cNvPr>
          <p:cNvSpPr>
            <a:spLocks noRot="1" noChangeArrowheads="1"/>
          </p:cNvSpPr>
          <p:nvPr/>
        </p:nvSpPr>
        <p:spPr bwMode="auto">
          <a:xfrm>
            <a:off x="152400" y="1447800"/>
            <a:ext cx="47244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不完全信息模型</a:t>
            </a:r>
          </a:p>
        </p:txBody>
      </p:sp>
      <p:graphicFrame>
        <p:nvGraphicFramePr>
          <p:cNvPr id="366598" name="Object 6">
            <a:extLst>
              <a:ext uri="{FF2B5EF4-FFF2-40B4-BE49-F238E27FC236}">
                <a16:creationId xmlns:a16="http://schemas.microsoft.com/office/drawing/2014/main" id="{7883D00F-4DC3-8E65-9BB1-ED59B28BF0A8}"/>
              </a:ext>
            </a:extLst>
          </p:cNvPr>
          <p:cNvGraphicFramePr>
            <a:graphicFrameLocks noChangeAspect="1"/>
          </p:cNvGraphicFramePr>
          <p:nvPr/>
        </p:nvGraphicFramePr>
        <p:xfrm>
          <a:off x="838200" y="2198688"/>
          <a:ext cx="5013325" cy="1763712"/>
        </p:xfrm>
        <a:graphic>
          <a:graphicData uri="http://schemas.openxmlformats.org/presentationml/2006/ole">
            <mc:AlternateContent xmlns:mc="http://schemas.openxmlformats.org/markup-compatibility/2006">
              <mc:Choice xmlns:v="urn:schemas-microsoft-com:vml" Requires="v">
                <p:oleObj name="Equation" r:id="rId2" imgW="2387520" imgH="736560" progId="Equation.DSMT4">
                  <p:embed/>
                </p:oleObj>
              </mc:Choice>
              <mc:Fallback>
                <p:oleObj name="Equation" r:id="rId2" imgW="2387520" imgH="736560" progId="Equation.DSMT4">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198688"/>
                        <a:ext cx="5013325" cy="176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6602" name="Rectangle 10">
            <a:extLst>
              <a:ext uri="{FF2B5EF4-FFF2-40B4-BE49-F238E27FC236}">
                <a16:creationId xmlns:a16="http://schemas.microsoft.com/office/drawing/2014/main" id="{6DBD91D2-C6CD-B573-1655-4EF02AEB549E}"/>
              </a:ext>
            </a:extLst>
          </p:cNvPr>
          <p:cNvSpPr>
            <a:spLocks noRot="1" noChangeArrowheads="1"/>
          </p:cNvSpPr>
          <p:nvPr/>
        </p:nvSpPr>
        <p:spPr bwMode="auto">
          <a:xfrm>
            <a:off x="152400" y="4419600"/>
            <a:ext cx="40386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名义价格黏性模型</a:t>
            </a:r>
          </a:p>
          <a:p>
            <a:pPr lvl="2">
              <a:spcBef>
                <a:spcPct val="20000"/>
              </a:spcBef>
              <a:buClr>
                <a:schemeClr val="hlink"/>
              </a:buClr>
              <a:buSzPct val="85000"/>
              <a:buFont typeface="Wingdings" panose="05000000000000000000" pitchFamily="2" charset="2"/>
              <a:buChar char="§"/>
            </a:pPr>
            <a:r>
              <a:rPr lang="zh-CN" altLang="en-US" b="1"/>
              <a:t>一类企业不存在价格黏性</a:t>
            </a:r>
          </a:p>
          <a:p>
            <a:pPr lvl="2">
              <a:spcBef>
                <a:spcPct val="20000"/>
              </a:spcBef>
              <a:buClr>
                <a:schemeClr val="hlink"/>
              </a:buClr>
              <a:buSzPct val="85000"/>
              <a:buFont typeface="Wingdings" panose="05000000000000000000" pitchFamily="2" charset="2"/>
              <a:buChar char="§"/>
            </a:pPr>
            <a:r>
              <a:rPr lang="zh-CN" altLang="en-US" b="1"/>
              <a:t>另一类企业存在价格黏性</a:t>
            </a:r>
          </a:p>
        </p:txBody>
      </p:sp>
      <p:graphicFrame>
        <p:nvGraphicFramePr>
          <p:cNvPr id="366606" name="Object 14">
            <a:extLst>
              <a:ext uri="{FF2B5EF4-FFF2-40B4-BE49-F238E27FC236}">
                <a16:creationId xmlns:a16="http://schemas.microsoft.com/office/drawing/2014/main" id="{6ED55008-C25A-DF2A-A785-058C5A6E740B}"/>
              </a:ext>
            </a:extLst>
          </p:cNvPr>
          <p:cNvGraphicFramePr>
            <a:graphicFrameLocks noChangeAspect="1"/>
          </p:cNvGraphicFramePr>
          <p:nvPr/>
        </p:nvGraphicFramePr>
        <p:xfrm>
          <a:off x="6172200" y="2819400"/>
          <a:ext cx="2879725" cy="547688"/>
        </p:xfrm>
        <a:graphic>
          <a:graphicData uri="http://schemas.openxmlformats.org/presentationml/2006/ole">
            <mc:AlternateContent xmlns:mc="http://schemas.openxmlformats.org/markup-compatibility/2006">
              <mc:Choice xmlns:v="urn:schemas-microsoft-com:vml" Requires="v">
                <p:oleObj name="Equation" r:id="rId4" imgW="1371600" imgH="228600" progId="Equation.DSMT4">
                  <p:embed/>
                </p:oleObj>
              </mc:Choice>
              <mc:Fallback>
                <p:oleObj name="Equation" r:id="rId4" imgW="1371600" imgH="228600" progId="Equation.DSMT4">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2200" y="2819400"/>
                        <a:ext cx="2879725" cy="54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6607" name="Object 15">
            <a:extLst>
              <a:ext uri="{FF2B5EF4-FFF2-40B4-BE49-F238E27FC236}">
                <a16:creationId xmlns:a16="http://schemas.microsoft.com/office/drawing/2014/main" id="{6D0CB30F-D977-7237-D828-02C8FB9CC948}"/>
              </a:ext>
            </a:extLst>
          </p:cNvPr>
          <p:cNvGraphicFramePr>
            <a:graphicFrameLocks noChangeAspect="1"/>
          </p:cNvGraphicFramePr>
          <p:nvPr/>
        </p:nvGraphicFramePr>
        <p:xfrm>
          <a:off x="4144963" y="4419600"/>
          <a:ext cx="2665412" cy="1155700"/>
        </p:xfrm>
        <a:graphic>
          <a:graphicData uri="http://schemas.openxmlformats.org/presentationml/2006/ole">
            <mc:AlternateContent xmlns:mc="http://schemas.openxmlformats.org/markup-compatibility/2006">
              <mc:Choice xmlns:v="urn:schemas-microsoft-com:vml" Requires="v">
                <p:oleObj name="Equation" r:id="rId6" imgW="1269720" imgH="482400" progId="Equation.DSMT4">
                  <p:embed/>
                </p:oleObj>
              </mc:Choice>
              <mc:Fallback>
                <p:oleObj name="Equation" r:id="rId6" imgW="1269720" imgH="482400" progId="Equation.DSMT4">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44963" y="4419600"/>
                        <a:ext cx="2665412" cy="1155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6608" name="Line 16">
            <a:extLst>
              <a:ext uri="{FF2B5EF4-FFF2-40B4-BE49-F238E27FC236}">
                <a16:creationId xmlns:a16="http://schemas.microsoft.com/office/drawing/2014/main" id="{E2FA9BBA-0D66-5DB8-3F0E-19F537B37A65}"/>
              </a:ext>
            </a:extLst>
          </p:cNvPr>
          <p:cNvSpPr>
            <a:spLocks noChangeShapeType="1"/>
          </p:cNvSpPr>
          <p:nvPr/>
        </p:nvSpPr>
        <p:spPr bwMode="auto">
          <a:xfrm>
            <a:off x="4648200" y="5562600"/>
            <a:ext cx="1676400"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366609" name="Object 17">
            <a:extLst>
              <a:ext uri="{FF2B5EF4-FFF2-40B4-BE49-F238E27FC236}">
                <a16:creationId xmlns:a16="http://schemas.microsoft.com/office/drawing/2014/main" id="{DE4B1C75-A463-C226-D196-F2827B44C290}"/>
              </a:ext>
            </a:extLst>
          </p:cNvPr>
          <p:cNvGraphicFramePr>
            <a:graphicFrameLocks noChangeAspect="1"/>
          </p:cNvGraphicFramePr>
          <p:nvPr/>
        </p:nvGraphicFramePr>
        <p:xfrm>
          <a:off x="304800" y="6081713"/>
          <a:ext cx="2825750" cy="547687"/>
        </p:xfrm>
        <a:graphic>
          <a:graphicData uri="http://schemas.openxmlformats.org/presentationml/2006/ole">
            <mc:AlternateContent xmlns:mc="http://schemas.openxmlformats.org/markup-compatibility/2006">
              <mc:Choice xmlns:v="urn:schemas-microsoft-com:vml" Requires="v">
                <p:oleObj name="Equation" r:id="rId8" imgW="1346040" imgH="228600" progId="Equation.DSMT4">
                  <p:embed/>
                </p:oleObj>
              </mc:Choice>
              <mc:Fallback>
                <p:oleObj name="Equation" r:id="rId8" imgW="1346040" imgH="228600" progId="Equation.DSMT4">
                  <p:embed/>
                  <p:pic>
                    <p:nvPicPr>
                      <p:cNvPr id="0"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800" y="6081713"/>
                        <a:ext cx="2825750" cy="547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6611" name="Object 19">
            <a:extLst>
              <a:ext uri="{FF2B5EF4-FFF2-40B4-BE49-F238E27FC236}">
                <a16:creationId xmlns:a16="http://schemas.microsoft.com/office/drawing/2014/main" id="{14D99D4C-FF08-45AC-7A66-517C5E6D90F9}"/>
              </a:ext>
            </a:extLst>
          </p:cNvPr>
          <p:cNvGraphicFramePr>
            <a:graphicFrameLocks noChangeAspect="1"/>
          </p:cNvGraphicFramePr>
          <p:nvPr/>
        </p:nvGraphicFramePr>
        <p:xfrm>
          <a:off x="3419475" y="6096000"/>
          <a:ext cx="5572125" cy="547688"/>
        </p:xfrm>
        <a:graphic>
          <a:graphicData uri="http://schemas.openxmlformats.org/presentationml/2006/ole">
            <mc:AlternateContent xmlns:mc="http://schemas.openxmlformats.org/markup-compatibility/2006">
              <mc:Choice xmlns:v="urn:schemas-microsoft-com:vml" Requires="v">
                <p:oleObj name="Equation" r:id="rId10" imgW="2654280" imgH="228600" progId="Equation.DSMT4">
                  <p:embed/>
                </p:oleObj>
              </mc:Choice>
              <mc:Fallback>
                <p:oleObj name="Equation" r:id="rId10" imgW="2654280" imgH="228600" progId="Equation.DSMT4">
                  <p:embed/>
                  <p:pic>
                    <p:nvPicPr>
                      <p:cNvPr id="0"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19475" y="6096000"/>
                        <a:ext cx="5572125" cy="547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66594"/>
                                        </p:tgtEl>
                                        <p:attrNameLst>
                                          <p:attrName>style.visibility</p:attrName>
                                        </p:attrNameLst>
                                      </p:cBhvr>
                                      <p:to>
                                        <p:strVal val="visible"/>
                                      </p:to>
                                    </p:set>
                                    <p:animEffect transition="in" filter="slide(fromTop)">
                                      <p:cBhvr>
                                        <p:cTn id="7" dur="500"/>
                                        <p:tgtEl>
                                          <p:spTgt spid="3665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366597"/>
                                        </p:tgtEl>
                                        <p:attrNameLst>
                                          <p:attrName>style.visibility</p:attrName>
                                        </p:attrNameLst>
                                      </p:cBhvr>
                                      <p:to>
                                        <p:strVal val="visible"/>
                                      </p:to>
                                    </p:set>
                                    <p:animEffect transition="in" filter="box(out)">
                                      <p:cBhvr>
                                        <p:cTn id="12" dur="500"/>
                                        <p:tgtEl>
                                          <p:spTgt spid="3665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nodeType="clickEffect">
                                  <p:stCondLst>
                                    <p:cond delay="0"/>
                                  </p:stCondLst>
                                  <p:childTnLst>
                                    <p:set>
                                      <p:cBhvr>
                                        <p:cTn id="16" dur="1" fill="hold">
                                          <p:stCondLst>
                                            <p:cond delay="0"/>
                                          </p:stCondLst>
                                        </p:cTn>
                                        <p:tgtEl>
                                          <p:spTgt spid="366598"/>
                                        </p:tgtEl>
                                        <p:attrNameLst>
                                          <p:attrName>style.visibility</p:attrName>
                                        </p:attrNameLst>
                                      </p:cBhvr>
                                      <p:to>
                                        <p:strVal val="visible"/>
                                      </p:to>
                                    </p:set>
                                    <p:animEffect transition="in" filter="slide(fromLeft)">
                                      <p:cBhvr>
                                        <p:cTn id="17" dur="500"/>
                                        <p:tgtEl>
                                          <p:spTgt spid="3665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8" fill="hold" nodeType="clickEffect">
                                  <p:stCondLst>
                                    <p:cond delay="0"/>
                                  </p:stCondLst>
                                  <p:childTnLst>
                                    <p:set>
                                      <p:cBhvr>
                                        <p:cTn id="21" dur="1" fill="hold">
                                          <p:stCondLst>
                                            <p:cond delay="0"/>
                                          </p:stCondLst>
                                        </p:cTn>
                                        <p:tgtEl>
                                          <p:spTgt spid="366606"/>
                                        </p:tgtEl>
                                        <p:attrNameLst>
                                          <p:attrName>style.visibility</p:attrName>
                                        </p:attrNameLst>
                                      </p:cBhvr>
                                      <p:to>
                                        <p:strVal val="visible"/>
                                      </p:to>
                                    </p:set>
                                    <p:animEffect transition="in" filter="slide(fromLeft)">
                                      <p:cBhvr>
                                        <p:cTn id="22" dur="500"/>
                                        <p:tgtEl>
                                          <p:spTgt spid="3666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366602"/>
                                        </p:tgtEl>
                                        <p:attrNameLst>
                                          <p:attrName>style.visibility</p:attrName>
                                        </p:attrNameLst>
                                      </p:cBhvr>
                                      <p:to>
                                        <p:strVal val="visible"/>
                                      </p:to>
                                    </p:set>
                                    <p:animEffect transition="in" filter="box(out)">
                                      <p:cBhvr>
                                        <p:cTn id="27" dur="500"/>
                                        <p:tgtEl>
                                          <p:spTgt spid="36660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nodeType="clickEffect">
                                  <p:stCondLst>
                                    <p:cond delay="0"/>
                                  </p:stCondLst>
                                  <p:childTnLst>
                                    <p:set>
                                      <p:cBhvr>
                                        <p:cTn id="31" dur="1" fill="hold">
                                          <p:stCondLst>
                                            <p:cond delay="0"/>
                                          </p:stCondLst>
                                        </p:cTn>
                                        <p:tgtEl>
                                          <p:spTgt spid="366607"/>
                                        </p:tgtEl>
                                        <p:attrNameLst>
                                          <p:attrName>style.visibility</p:attrName>
                                        </p:attrNameLst>
                                      </p:cBhvr>
                                      <p:to>
                                        <p:strVal val="visible"/>
                                      </p:to>
                                    </p:set>
                                    <p:animEffect transition="in" filter="slide(fromLeft)">
                                      <p:cBhvr>
                                        <p:cTn id="32" dur="500"/>
                                        <p:tgtEl>
                                          <p:spTgt spid="36660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366608"/>
                                        </p:tgtEl>
                                        <p:attrNameLst>
                                          <p:attrName>style.visibility</p:attrName>
                                        </p:attrNameLst>
                                      </p:cBhvr>
                                      <p:to>
                                        <p:strVal val="visible"/>
                                      </p:to>
                                    </p:set>
                                    <p:animEffect transition="in" filter="box(out)">
                                      <p:cBhvr>
                                        <p:cTn id="37" dur="500"/>
                                        <p:tgtEl>
                                          <p:spTgt spid="36660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8" fill="hold" nodeType="clickEffect">
                                  <p:stCondLst>
                                    <p:cond delay="0"/>
                                  </p:stCondLst>
                                  <p:childTnLst>
                                    <p:set>
                                      <p:cBhvr>
                                        <p:cTn id="41" dur="1" fill="hold">
                                          <p:stCondLst>
                                            <p:cond delay="0"/>
                                          </p:stCondLst>
                                        </p:cTn>
                                        <p:tgtEl>
                                          <p:spTgt spid="366609"/>
                                        </p:tgtEl>
                                        <p:attrNameLst>
                                          <p:attrName>style.visibility</p:attrName>
                                        </p:attrNameLst>
                                      </p:cBhvr>
                                      <p:to>
                                        <p:strVal val="visible"/>
                                      </p:to>
                                    </p:set>
                                    <p:animEffect transition="in" filter="slide(fromLeft)">
                                      <p:cBhvr>
                                        <p:cTn id="42" dur="500"/>
                                        <p:tgtEl>
                                          <p:spTgt spid="36660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8" fill="hold" nodeType="clickEffect">
                                  <p:stCondLst>
                                    <p:cond delay="0"/>
                                  </p:stCondLst>
                                  <p:childTnLst>
                                    <p:set>
                                      <p:cBhvr>
                                        <p:cTn id="46" dur="1" fill="hold">
                                          <p:stCondLst>
                                            <p:cond delay="0"/>
                                          </p:stCondLst>
                                        </p:cTn>
                                        <p:tgtEl>
                                          <p:spTgt spid="366611"/>
                                        </p:tgtEl>
                                        <p:attrNameLst>
                                          <p:attrName>style.visibility</p:attrName>
                                        </p:attrNameLst>
                                      </p:cBhvr>
                                      <p:to>
                                        <p:strVal val="visible"/>
                                      </p:to>
                                    </p:set>
                                    <p:animEffect transition="in" filter="slide(fromLeft)">
                                      <p:cBhvr>
                                        <p:cTn id="47" dur="500"/>
                                        <p:tgtEl>
                                          <p:spTgt spid="366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4" grpId="0" autoUpdateAnimBg="0"/>
      <p:bldP spid="366597" grpId="0" autoUpdateAnimBg="0"/>
      <p:bldP spid="366602"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1475" name="Rectangle 3">
            <a:extLst>
              <a:ext uri="{FF2B5EF4-FFF2-40B4-BE49-F238E27FC236}">
                <a16:creationId xmlns:a16="http://schemas.microsoft.com/office/drawing/2014/main" id="{502F52C3-703A-E84D-AB8A-D467D2BE1B14}"/>
              </a:ext>
            </a:extLst>
          </p:cNvPr>
          <p:cNvSpPr>
            <a:spLocks noGrp="1" noRot="1" noChangeArrowheads="1"/>
          </p:cNvSpPr>
          <p:nvPr>
            <p:ph type="title"/>
          </p:nvPr>
        </p:nvSpPr>
        <p:spPr>
          <a:xfrm>
            <a:off x="298450" y="76200"/>
            <a:ext cx="8540750" cy="1143000"/>
          </a:xfrm>
        </p:spPr>
        <p:txBody>
          <a:bodyPr/>
          <a:lstStyle/>
          <a:p>
            <a:r>
              <a:rPr lang="zh-CN" altLang="en-US" b="1">
                <a:solidFill>
                  <a:srgbClr val="CC0000"/>
                </a:solidFill>
              </a:rPr>
              <a:t>课后作业</a:t>
            </a:r>
          </a:p>
        </p:txBody>
      </p:sp>
      <p:sp>
        <p:nvSpPr>
          <p:cNvPr id="361476" name="Rectangle 4">
            <a:extLst>
              <a:ext uri="{FF2B5EF4-FFF2-40B4-BE49-F238E27FC236}">
                <a16:creationId xmlns:a16="http://schemas.microsoft.com/office/drawing/2014/main" id="{1AA0885E-FB01-1C68-0B4D-9116C66B96E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61477" name="Rectangle 5">
            <a:extLst>
              <a:ext uri="{FF2B5EF4-FFF2-40B4-BE49-F238E27FC236}">
                <a16:creationId xmlns:a16="http://schemas.microsoft.com/office/drawing/2014/main" id="{CF22B233-644F-6887-7FB6-00C01D32494D}"/>
              </a:ext>
            </a:extLst>
          </p:cNvPr>
          <p:cNvSpPr>
            <a:spLocks noRot="1" noChangeArrowheads="1"/>
          </p:cNvSpPr>
          <p:nvPr/>
        </p:nvSpPr>
        <p:spPr bwMode="auto">
          <a:xfrm>
            <a:off x="228600" y="2667000"/>
            <a:ext cx="80010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a:solidFill>
                  <a:schemeClr val="tx1"/>
                </a:solidFill>
                <a:latin typeface="Arial" panose="020B0604020202020204" pitchFamily="34" charset="0"/>
                <a:ea typeface="宋体" panose="02010600030101010101" pitchFamily="2" charset="-122"/>
              </a:defRPr>
            </a:lvl1pPr>
            <a:lvl2pPr marL="742950" indent="-285750" algn="l">
              <a:defRPr>
                <a:solidFill>
                  <a:schemeClr val="tx1"/>
                </a:solidFill>
                <a:latin typeface="Arial" panose="020B0604020202020204" pitchFamily="34" charset="0"/>
                <a:ea typeface="宋体" panose="02010600030101010101" pitchFamily="2" charset="-122"/>
              </a:defRPr>
            </a:lvl2pPr>
            <a:lvl3pPr marL="1143000" indent="-228600" algn="l">
              <a:defRPr>
                <a:solidFill>
                  <a:schemeClr val="tx1"/>
                </a:solidFill>
                <a:latin typeface="Arial" panose="020B0604020202020204" pitchFamily="34" charset="0"/>
                <a:ea typeface="宋体" panose="02010600030101010101" pitchFamily="2" charset="-122"/>
              </a:defRPr>
            </a:lvl3pPr>
            <a:lvl4pPr marL="1600200" indent="-228600" algn="l">
              <a:defRPr>
                <a:solidFill>
                  <a:schemeClr val="tx1"/>
                </a:solidFill>
                <a:latin typeface="Arial" panose="020B0604020202020204" pitchFamily="34" charset="0"/>
                <a:ea typeface="宋体" panose="02010600030101010101" pitchFamily="2" charset="-122"/>
              </a:defRPr>
            </a:lvl4pPr>
            <a:lvl5pPr marL="2057400" indent="-228600" algn="l">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85000"/>
              <a:buFont typeface="Wingdings" panose="05000000000000000000" pitchFamily="2" charset="2"/>
              <a:buChar char="§"/>
            </a:pPr>
            <a:r>
              <a:rPr lang="zh-CN" altLang="en-US" sz="2800" b="1"/>
              <a:t>这一部分是宏观经济学中的一个难点，希望大家能够课后多花点时间复习这部分。</a:t>
            </a:r>
          </a:p>
          <a:p>
            <a:pPr lvl="1">
              <a:spcBef>
                <a:spcPct val="20000"/>
              </a:spcBef>
              <a:buClr>
                <a:schemeClr val="hlink"/>
              </a:buClr>
              <a:buSzPct val="85000"/>
              <a:buFont typeface="Wingdings" panose="05000000000000000000" pitchFamily="2" charset="2"/>
              <a:buChar char="§"/>
            </a:pPr>
            <a:r>
              <a:rPr lang="zh-CN" altLang="en-US" sz="2800" b="1"/>
              <a:t>本部分所应对的章节是第六章中部分内容。</a:t>
            </a:r>
            <a:endParaRPr lang="zh-CN" altLang="en-US" sz="2000" b="1"/>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p:cTn id="6" dur="1" fill="hold">
                                          <p:stCondLst>
                                            <p:cond delay="0"/>
                                          </p:stCondLst>
                                        </p:cTn>
                                        <p:tgtEl>
                                          <p:spTgt spid="361475"/>
                                        </p:tgtEl>
                                        <p:attrNameLst>
                                          <p:attrName>style.visibility</p:attrName>
                                        </p:attrNameLst>
                                      </p:cBhvr>
                                      <p:to>
                                        <p:strVal val="visible"/>
                                      </p:to>
                                    </p:set>
                                    <p:animEffect transition="in" filter="slide(fromTop)">
                                      <p:cBhvr>
                                        <p:cTn id="7" dur="500"/>
                                        <p:tgtEl>
                                          <p:spTgt spid="3614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1477"/>
                                        </p:tgtEl>
                                        <p:attrNameLst>
                                          <p:attrName>style.visibility</p:attrName>
                                        </p:attrNameLst>
                                      </p:cBhvr>
                                      <p:to>
                                        <p:strVal val="visible"/>
                                      </p:to>
                                    </p:set>
                                    <p:animEffect transition="in" filter="box(in)">
                                      <p:cBhvr>
                                        <p:cTn id="12" dur="500"/>
                                        <p:tgtEl>
                                          <p:spTgt spid="361477"/>
                                        </p:tgtEl>
                                      </p:cBhvr>
                                    </p:animEffect>
                                  </p:childTnLst>
                                  <p:subTnLst>
                                    <p:animClr clrSpc="rgb" dir="cw">
                                      <p:cBhvr override="childStyle">
                                        <p:cTn dur="1" fill="hold" display="0" masterRel="nextClick" afterEffect="1"/>
                                        <p:tgtEl>
                                          <p:spTgt spid="361477"/>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5" grpId="0" autoUpdateAnimBg="0"/>
      <p:bldP spid="361477"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WordArt 2">
            <a:extLst>
              <a:ext uri="{FF2B5EF4-FFF2-40B4-BE49-F238E27FC236}">
                <a16:creationId xmlns:a16="http://schemas.microsoft.com/office/drawing/2014/main" id="{50739399-F946-E38C-31C5-D5C0EF04B65B}"/>
              </a:ext>
            </a:extLst>
          </p:cNvPr>
          <p:cNvSpPr>
            <a:spLocks noChangeArrowheads="1" noChangeShapeType="1" noTextEdit="1"/>
          </p:cNvSpPr>
          <p:nvPr/>
        </p:nvSpPr>
        <p:spPr bwMode="auto">
          <a:xfrm>
            <a:off x="1116013" y="1844675"/>
            <a:ext cx="6911975" cy="2736850"/>
          </a:xfrm>
          <a:prstGeom prst="rect">
            <a:avLst/>
          </a:prstGeom>
          <a:extLst>
            <a:ext uri="{AF507438-7753-43E0-B8FC-AC1667EBCBE1}">
              <a14:hiddenEffects xmlns:a14="http://schemas.microsoft.com/office/drawing/2010/main">
                <a:effectLst/>
              </a14:hiddenEffects>
            </a:ext>
          </a:extLst>
        </p:spPr>
        <p:txBody>
          <a:bodyPr wrap="none" fromWordArt="1">
            <a:prstTxWarp prst="textTriangle">
              <a:avLst>
                <a:gd name="adj" fmla="val 40333"/>
              </a:avLst>
            </a:prstTxWarp>
            <a:scene3d>
              <a:camera prst="legacyObliqueTopLeft"/>
              <a:lightRig rig="legacyNormal3" dir="r"/>
            </a:scene3d>
            <a:sp3d extrusionH="201600" prstMaterial="legacyMatte">
              <a:extrusionClr>
                <a:srgbClr val="0066CC"/>
              </a:extrusionClr>
              <a:contourClr>
                <a:srgbClr val="FFFFCC"/>
              </a:contourClr>
            </a:sp3d>
          </a:bodyPr>
          <a:lstStyle/>
          <a:p>
            <a:r>
              <a:rPr lang="en-US" altLang="zh-CN" sz="4800" kern="10">
                <a:ln w="9525">
                  <a:round/>
                  <a:headEnd/>
                  <a:tailEnd/>
                </a:ln>
                <a:gradFill rotWithShape="0">
                  <a:gsLst>
                    <a:gs pos="0">
                      <a:srgbClr val="FFFFCC"/>
                    </a:gs>
                    <a:gs pos="100000">
                      <a:srgbClr val="FF9999"/>
                    </a:gs>
                  </a:gsLst>
                  <a:lin ang="5400000" scaled="1"/>
                </a:gradFill>
                <a:latin typeface="宋体" panose="02010600030101010101" pitchFamily="2" charset="-122"/>
              </a:rPr>
              <a:t>Thank You</a:t>
            </a:r>
            <a:endParaRPr lang="zh-CN" altLang="en-US" sz="4800" kern="10">
              <a:ln w="9525">
                <a:round/>
                <a:headEnd/>
                <a:tailEnd/>
              </a:ln>
              <a:gradFill rotWithShape="0">
                <a:gsLst>
                  <a:gs pos="0">
                    <a:srgbClr val="FFFFCC"/>
                  </a:gs>
                  <a:gs pos="100000">
                    <a:srgbClr val="FF9999"/>
                  </a:gs>
                </a:gsLst>
                <a:lin ang="5400000" scaled="1"/>
              </a:gradFill>
              <a:latin typeface="宋体" panose="02010600030101010101" pitchFamily="2" charset="-122"/>
            </a:endParaRPr>
          </a:p>
        </p:txBody>
      </p:sp>
    </p:spTree>
  </p:cSld>
  <p:clrMapOvr>
    <a:masterClrMapping/>
  </p:clrMapOvr>
  <p:transition>
    <p:blinds dir="vert"/>
  </p:transition>
</p:sld>
</file>

<file path=ppt/theme/theme1.xml><?xml version="1.0" encoding="utf-8"?>
<a:theme xmlns:a="http://schemas.openxmlformats.org/drawingml/2006/main" name="吉祥如意">
  <a:themeElements>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fontScheme name="吉祥如意">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吉祥如意 1">
        <a:dk1>
          <a:srgbClr val="000000"/>
        </a:dk1>
        <a:lt1>
          <a:srgbClr val="FFFFFF"/>
        </a:lt1>
        <a:dk2>
          <a:srgbClr val="E40000"/>
        </a:dk2>
        <a:lt2>
          <a:srgbClr val="DDDDDD"/>
        </a:lt2>
        <a:accent1>
          <a:srgbClr val="E1F4FF"/>
        </a:accent1>
        <a:accent2>
          <a:srgbClr val="FFE2C5"/>
        </a:accent2>
        <a:accent3>
          <a:srgbClr val="FFFFFF"/>
        </a:accent3>
        <a:accent4>
          <a:srgbClr val="000000"/>
        </a:accent4>
        <a:accent5>
          <a:srgbClr val="EEF8FF"/>
        </a:accent5>
        <a:accent6>
          <a:srgbClr val="E7CDB2"/>
        </a:accent6>
        <a:hlink>
          <a:srgbClr val="0066CC"/>
        </a:hlink>
        <a:folHlink>
          <a:srgbClr val="9F9FBF"/>
        </a:folHlink>
      </a:clrScheme>
      <a:clrMap bg1="lt1" tx1="dk1" bg2="lt2" tx2="dk2" accent1="accent1" accent2="accent2" accent3="accent3" accent4="accent4" accent5="accent5" accent6="accent6" hlink="hlink" folHlink="folHlink"/>
    </a:extraClrScheme>
    <a:extraClrScheme>
      <a:clrScheme name="吉祥如意 2">
        <a:dk1>
          <a:srgbClr val="59582D"/>
        </a:dk1>
        <a:lt1>
          <a:srgbClr val="EAEAEA"/>
        </a:lt1>
        <a:dk2>
          <a:srgbClr val="666699"/>
        </a:dk2>
        <a:lt2>
          <a:srgbClr val="D9D9D9"/>
        </a:lt2>
        <a:accent1>
          <a:srgbClr val="CCECFF"/>
        </a:accent1>
        <a:accent2>
          <a:srgbClr val="B2D2C7"/>
        </a:accent2>
        <a:accent3>
          <a:srgbClr val="F3F3F3"/>
        </a:accent3>
        <a:accent4>
          <a:srgbClr val="4B4A25"/>
        </a:accent4>
        <a:accent5>
          <a:srgbClr val="E2F4FF"/>
        </a:accent5>
        <a:accent6>
          <a:srgbClr val="A1BEB4"/>
        </a:accent6>
        <a:hlink>
          <a:srgbClr val="993366"/>
        </a:hlink>
        <a:folHlink>
          <a:srgbClr val="92B9E0"/>
        </a:folHlink>
      </a:clrScheme>
      <a:clrMap bg1="lt1" tx1="dk1" bg2="lt2" tx2="dk2" accent1="accent1" accent2="accent2" accent3="accent3" accent4="accent4" accent5="accent5" accent6="accent6" hlink="hlink" folHlink="folHlink"/>
    </a:extraClrScheme>
    <a:extraClrScheme>
      <a:clrScheme name="吉祥如意 3">
        <a:dk1>
          <a:srgbClr val="000099"/>
        </a:dk1>
        <a:lt1>
          <a:srgbClr val="FFFFCC"/>
        </a:lt1>
        <a:dk2>
          <a:srgbClr val="004000"/>
        </a:dk2>
        <a:lt2>
          <a:srgbClr val="FFD9B3"/>
        </a:lt2>
        <a:accent1>
          <a:srgbClr val="FFD9D9"/>
        </a:accent1>
        <a:accent2>
          <a:srgbClr val="DDDDDD"/>
        </a:accent2>
        <a:accent3>
          <a:srgbClr val="FFFFE2"/>
        </a:accent3>
        <a:accent4>
          <a:srgbClr val="000082"/>
        </a:accent4>
        <a:accent5>
          <a:srgbClr val="FFE9E9"/>
        </a:accent5>
        <a:accent6>
          <a:srgbClr val="C8C8C8"/>
        </a:accent6>
        <a:hlink>
          <a:srgbClr val="FF0000"/>
        </a:hlink>
        <a:folHlink>
          <a:srgbClr val="FFAB57"/>
        </a:folHlink>
      </a:clrScheme>
      <a:clrMap bg1="lt1" tx1="dk1" bg2="lt2" tx2="dk2" accent1="accent1" accent2="accent2" accent3="accent3" accent4="accent4" accent5="accent5" accent6="accent6" hlink="hlink" folHlink="folHlink"/>
    </a:extraClrScheme>
    <a:extraClrScheme>
      <a:clrScheme name="吉祥如意 4">
        <a:dk1>
          <a:srgbClr val="000000"/>
        </a:dk1>
        <a:lt1>
          <a:srgbClr val="DCE8E2"/>
        </a:lt1>
        <a:dk2>
          <a:srgbClr val="0033CC"/>
        </a:dk2>
        <a:lt2>
          <a:srgbClr val="C4C4D8"/>
        </a:lt2>
        <a:accent1>
          <a:srgbClr val="FFFFFF"/>
        </a:accent1>
        <a:accent2>
          <a:srgbClr val="A9CFB1"/>
        </a:accent2>
        <a:accent3>
          <a:srgbClr val="EBF2EE"/>
        </a:accent3>
        <a:accent4>
          <a:srgbClr val="000000"/>
        </a:accent4>
        <a:accent5>
          <a:srgbClr val="FFFFFF"/>
        </a:accent5>
        <a:accent6>
          <a:srgbClr val="99BBA0"/>
        </a:accent6>
        <a:hlink>
          <a:srgbClr val="CC3300"/>
        </a:hlink>
        <a:folHlink>
          <a:srgbClr val="666699"/>
        </a:folHlink>
      </a:clrScheme>
      <a:clrMap bg1="lt1" tx1="dk1" bg2="lt2" tx2="dk2" accent1="accent1" accent2="accent2" accent3="accent3" accent4="accent4" accent5="accent5" accent6="accent6" hlink="hlink" folHlink="folHlink"/>
    </a:extraClrScheme>
    <a:extraClrScheme>
      <a:clrScheme name="吉祥如意 5">
        <a:dk1>
          <a:srgbClr val="606090"/>
        </a:dk1>
        <a:lt1>
          <a:srgbClr val="E5FFFF"/>
        </a:lt1>
        <a:dk2>
          <a:srgbClr val="0000CC"/>
        </a:dk2>
        <a:lt2>
          <a:srgbClr val="91DAFF"/>
        </a:lt2>
        <a:accent1>
          <a:srgbClr val="EAEAEA"/>
        </a:accent1>
        <a:accent2>
          <a:srgbClr val="FFE2C5"/>
        </a:accent2>
        <a:accent3>
          <a:srgbClr val="F0FFFF"/>
        </a:accent3>
        <a:accent4>
          <a:srgbClr val="51517A"/>
        </a:accent4>
        <a:accent5>
          <a:srgbClr val="F3F3F3"/>
        </a:accent5>
        <a:accent6>
          <a:srgbClr val="E7CDB2"/>
        </a:accent6>
        <a:hlink>
          <a:srgbClr val="000000"/>
        </a:hlink>
        <a:folHlink>
          <a:srgbClr val="3DB77A"/>
        </a:folHlink>
      </a:clrScheme>
      <a:clrMap bg1="lt1" tx1="dk1" bg2="lt2" tx2="dk2" accent1="accent1" accent2="accent2" accent3="accent3" accent4="accent4" accent5="accent5" accent6="accent6" hlink="hlink" folHlink="folHlink"/>
    </a:extraClrScheme>
    <a:extraClrScheme>
      <a:clrScheme name="吉祥如意 6">
        <a:dk1>
          <a:srgbClr val="CC0066"/>
        </a:dk1>
        <a:lt1>
          <a:srgbClr val="FFDDBB"/>
        </a:lt1>
        <a:dk2>
          <a:srgbClr val="000000"/>
        </a:dk2>
        <a:lt2>
          <a:srgbClr val="C0C0C0"/>
        </a:lt2>
        <a:accent1>
          <a:srgbClr val="FFFFCC"/>
        </a:accent1>
        <a:accent2>
          <a:srgbClr val="FFFFFF"/>
        </a:accent2>
        <a:accent3>
          <a:srgbClr val="FFEBDA"/>
        </a:accent3>
        <a:accent4>
          <a:srgbClr val="AE0056"/>
        </a:accent4>
        <a:accent5>
          <a:srgbClr val="FFFFE2"/>
        </a:accent5>
        <a:accent6>
          <a:srgbClr val="E7E7E7"/>
        </a:accent6>
        <a:hlink>
          <a:srgbClr val="0066CC"/>
        </a:hlink>
        <a:folHlink>
          <a:srgbClr val="8EB37D"/>
        </a:folHlink>
      </a:clrScheme>
      <a:clrMap bg1="lt1" tx1="dk1" bg2="lt2" tx2="dk2" accent1="accent1" accent2="accent2" accent3="accent3" accent4="accent4" accent5="accent5" accent6="accent6" hlink="hlink" folHlink="folHlink"/>
    </a:extraClrScheme>
    <a:extraClrScheme>
      <a:clrScheme name="吉祥如意 7">
        <a:dk1>
          <a:srgbClr val="B60000"/>
        </a:dk1>
        <a:lt1>
          <a:srgbClr val="FFFF99"/>
        </a:lt1>
        <a:dk2>
          <a:srgbClr val="800000"/>
        </a:dk2>
        <a:lt2>
          <a:srgbClr val="FFFFFF"/>
        </a:lt2>
        <a:accent1>
          <a:srgbClr val="9888A4"/>
        </a:accent1>
        <a:accent2>
          <a:srgbClr val="A9335D"/>
        </a:accent2>
        <a:accent3>
          <a:srgbClr val="C0AAAA"/>
        </a:accent3>
        <a:accent4>
          <a:srgbClr val="DADA82"/>
        </a:accent4>
        <a:accent5>
          <a:srgbClr val="CAC3CF"/>
        </a:accent5>
        <a:accent6>
          <a:srgbClr val="992D53"/>
        </a:accent6>
        <a:hlink>
          <a:srgbClr val="CCECFF"/>
        </a:hlink>
        <a:folHlink>
          <a:srgbClr val="FF6600"/>
        </a:folHlink>
      </a:clrScheme>
      <a:clrMap bg1="dk2" tx1="lt1" bg2="dk1" tx2="lt2" accent1="accent1" accent2="accent2" accent3="accent3" accent4="accent4" accent5="accent5" accent6="accent6" hlink="hlink" folHlink="folHlink"/>
    </a:extraClrScheme>
    <a:extraClrScheme>
      <a:clrScheme name="吉祥如意 8">
        <a:dk1>
          <a:srgbClr val="808080"/>
        </a:dk1>
        <a:lt1>
          <a:srgbClr val="FFFFFF"/>
        </a:lt1>
        <a:dk2>
          <a:srgbClr val="1C1C1C"/>
        </a:dk2>
        <a:lt2>
          <a:srgbClr val="FFFF66"/>
        </a:lt2>
        <a:accent1>
          <a:srgbClr val="9898BA"/>
        </a:accent1>
        <a:accent2>
          <a:srgbClr val="777777"/>
        </a:accent2>
        <a:accent3>
          <a:srgbClr val="ABABAB"/>
        </a:accent3>
        <a:accent4>
          <a:srgbClr val="DADADA"/>
        </a:accent4>
        <a:accent5>
          <a:srgbClr val="CACAD9"/>
        </a:accent5>
        <a:accent6>
          <a:srgbClr val="6B6B6B"/>
        </a:accent6>
        <a:hlink>
          <a:srgbClr val="CCFF99"/>
        </a:hlink>
        <a:folHlink>
          <a:srgbClr val="E436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Designs\Soaring.pot</Template>
  <TotalTime>3477</TotalTime>
  <Words>1755</Words>
  <Application>Microsoft Office PowerPoint</Application>
  <PresentationFormat>全屏显示(4:3)</PresentationFormat>
  <Paragraphs>242</Paragraphs>
  <Slides>35</Slides>
  <Notes>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35</vt:i4>
      </vt:variant>
    </vt:vector>
  </HeadingPairs>
  <TitlesOfParts>
    <vt:vector size="43" baseType="lpstr">
      <vt:lpstr>Arial</vt:lpstr>
      <vt:lpstr>宋体</vt:lpstr>
      <vt:lpstr>Wingdings</vt:lpstr>
      <vt:lpstr>Wingdings 2</vt:lpstr>
      <vt:lpstr>华文楷体</vt:lpstr>
      <vt:lpstr>Times New Roman</vt:lpstr>
      <vt:lpstr>吉祥如意</vt:lpstr>
      <vt:lpstr>MathType 5.0 Equation</vt:lpstr>
      <vt:lpstr>中级宏观经济学</vt:lpstr>
      <vt:lpstr>课程简介</vt:lpstr>
      <vt:lpstr>主要内容</vt:lpstr>
      <vt:lpstr>1.1 自然失业率_提出问题</vt:lpstr>
      <vt:lpstr>1.2 自然失业率_一个描述性模型</vt:lpstr>
      <vt:lpstr>1.2 自然失业率_一个描述性模型</vt:lpstr>
      <vt:lpstr>1.2 自然失业率_一个描述性模型</vt:lpstr>
      <vt:lpstr>1.3 自然失业率的性质</vt:lpstr>
      <vt:lpstr>2.1 Phillips曲线_引入</vt:lpstr>
      <vt:lpstr>2.1 Phillips曲线_引入</vt:lpstr>
      <vt:lpstr>2.2 Phillips曲线_提出</vt:lpstr>
      <vt:lpstr>2.3 Phillips曲线_作用</vt:lpstr>
      <vt:lpstr>2.3 Phillips曲线_作用</vt:lpstr>
      <vt:lpstr>2.4 Phillips曲线_发展</vt:lpstr>
      <vt:lpstr>2.4 Phillips曲线_发展</vt:lpstr>
      <vt:lpstr>2.4 Phillips曲线_发展</vt:lpstr>
      <vt:lpstr>2.4 Phillips曲线_发展</vt:lpstr>
      <vt:lpstr>2.4 Phillips曲线_发展</vt:lpstr>
      <vt:lpstr>2.4 Phillips曲线_发展</vt:lpstr>
      <vt:lpstr>2.5 Phillips曲线_小结</vt:lpstr>
      <vt:lpstr>3.1总供给曲线_回顾</vt:lpstr>
      <vt:lpstr>3.2总供给曲线_推导</vt:lpstr>
      <vt:lpstr>3.3总供给曲线的推导_第一步</vt:lpstr>
      <vt:lpstr>3.3总供给曲线的推导_第二步</vt:lpstr>
      <vt:lpstr>3.4 总供给曲线的推导</vt:lpstr>
      <vt:lpstr>3.5 总供给曲线的性质</vt:lpstr>
      <vt:lpstr>3.6总供给曲线_拓展</vt:lpstr>
      <vt:lpstr>3.6 总供给曲线_拓展</vt:lpstr>
      <vt:lpstr>3.6 总供给曲线拓展前后的对比</vt:lpstr>
      <vt:lpstr>3.7 供给方面的冲击</vt:lpstr>
      <vt:lpstr>3.7 供给方面的冲击</vt:lpstr>
      <vt:lpstr>3.8 推导总供给曲线的其他版本</vt:lpstr>
      <vt:lpstr>3.8 推导总供给曲线的其他版本</vt:lpstr>
      <vt:lpstr>课后作业</vt:lpstr>
      <vt:lpstr>PowerPoint 演示文稿</vt:lpstr>
    </vt:vector>
  </TitlesOfParts>
  <Company>MC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MC SYSTEM</dc:creator>
  <cp:lastModifiedBy>超然网络服务店 超然网络服务店</cp:lastModifiedBy>
  <cp:revision>235</cp:revision>
  <dcterms:created xsi:type="dcterms:W3CDTF">2004-10-12T17:05:21Z</dcterms:created>
  <dcterms:modified xsi:type="dcterms:W3CDTF">2023-10-24T11:37:33Z</dcterms:modified>
</cp:coreProperties>
</file>