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</p:sldIdLst>
  <p:sldSz cx="4610100" cy="3460750"/>
  <p:notesSz cx="4610100" cy="34607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0176" y="192722"/>
            <a:ext cx="3609746" cy="185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3F3FFF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5913" y="468807"/>
            <a:ext cx="83946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7251" y="1519875"/>
            <a:ext cx="4195597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3F3FFF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35261" y="3352425"/>
            <a:ext cx="708025" cy="102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025561" y="3356656"/>
            <a:ext cx="556894" cy="93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209237" y="3353670"/>
            <a:ext cx="346075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mailto:cesgf@mail.sysu.edu.cn" TargetMode="External"/><Relationship Id="rId6" Type="http://schemas.openxmlformats.org/officeDocument/2006/relationships/hyperlink" Target="http://202.116.83.148/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6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4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32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jp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jp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image" Target="../media/image53.png"/><Relationship Id="rId4" Type="http://schemas.openxmlformats.org/officeDocument/2006/relationships/image" Target="../media/image2.png"/><Relationship Id="rId5" Type="http://schemas.openxmlformats.org/officeDocument/2006/relationships/image" Target="../media/image54.png"/><Relationship Id="rId6" Type="http://schemas.openxmlformats.org/officeDocument/2006/relationships/slide" Target="slide57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3.png"/><Relationship Id="rId3" Type="http://schemas.openxmlformats.org/officeDocument/2006/relationships/image" Target="../media/image16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66.png"/><Relationship Id="rId4" Type="http://schemas.openxmlformats.org/officeDocument/2006/relationships/image" Target="../media/image2.png"/><Relationship Id="rId5" Type="http://schemas.openxmlformats.org/officeDocument/2006/relationships/image" Target="../media/image67.png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1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70.png"/><Relationship Id="rId4" Type="http://schemas.openxmlformats.org/officeDocument/2006/relationships/image" Target="../media/image51.png"/><Relationship Id="rId5" Type="http://schemas.openxmlformats.org/officeDocument/2006/relationships/image" Target="../media/image71.png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72.png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2.png"/><Relationship Id="rId5" Type="http://schemas.openxmlformats.org/officeDocument/2006/relationships/image" Target="../media/image75.png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595998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8544" y="1006513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9344" y="993813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20310" y="646569"/>
            <a:ext cx="50749" cy="3599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7743" y="640428"/>
            <a:ext cx="4432935" cy="417195"/>
          </a:xfrm>
          <a:custGeom>
            <a:avLst/>
            <a:gdLst/>
            <a:ahLst/>
            <a:cxnLst/>
            <a:rect l="l" t="t" r="r" b="b"/>
            <a:pathLst>
              <a:path w="4432935" h="417194">
                <a:moveTo>
                  <a:pt x="4432566" y="0"/>
                </a:moveTo>
                <a:lnTo>
                  <a:pt x="0" y="0"/>
                </a:lnTo>
                <a:lnTo>
                  <a:pt x="0" y="366084"/>
                </a:lnTo>
                <a:lnTo>
                  <a:pt x="4008" y="385808"/>
                </a:lnTo>
                <a:lnTo>
                  <a:pt x="14922" y="401961"/>
                </a:lnTo>
                <a:lnTo>
                  <a:pt x="31075" y="412876"/>
                </a:lnTo>
                <a:lnTo>
                  <a:pt x="50800" y="416884"/>
                </a:lnTo>
                <a:lnTo>
                  <a:pt x="4381765" y="416884"/>
                </a:lnTo>
                <a:lnTo>
                  <a:pt x="4401490" y="412876"/>
                </a:lnTo>
                <a:lnTo>
                  <a:pt x="4417643" y="401961"/>
                </a:lnTo>
                <a:lnTo>
                  <a:pt x="4428558" y="385808"/>
                </a:lnTo>
                <a:lnTo>
                  <a:pt x="4432566" y="366084"/>
                </a:lnTo>
                <a:lnTo>
                  <a:pt x="443256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0310" y="684666"/>
            <a:ext cx="0" cy="340995"/>
          </a:xfrm>
          <a:custGeom>
            <a:avLst/>
            <a:gdLst/>
            <a:ahLst/>
            <a:cxnLst/>
            <a:rect l="l" t="t" r="r" b="b"/>
            <a:pathLst>
              <a:path w="0" h="340994">
                <a:moveTo>
                  <a:pt x="0" y="34089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67196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65926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64656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258214" y="639940"/>
            <a:ext cx="2151380" cy="3448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100" spc="-10">
                <a:solidFill>
                  <a:srgbClr val="FFFFFF"/>
                </a:solidFill>
                <a:latin typeface="Arial Unicode MS"/>
                <a:cs typeface="Arial Unicode MS"/>
              </a:rPr>
              <a:t>分</a:t>
            </a:r>
            <a:r>
              <a:rPr dirty="0" sz="2100" spc="-15">
                <a:solidFill>
                  <a:srgbClr val="FFFFFF"/>
                </a:solidFill>
                <a:latin typeface="Arial Unicode MS"/>
                <a:cs typeface="Arial Unicode MS"/>
              </a:rPr>
              <a:t>析</a:t>
            </a:r>
            <a:r>
              <a:rPr dirty="0" sz="2100" spc="-10">
                <a:solidFill>
                  <a:srgbClr val="FFFFFF"/>
                </a:solidFill>
                <a:latin typeface="Arial Unicode MS"/>
                <a:cs typeface="Arial Unicode MS"/>
              </a:rPr>
              <a:t>化学</a:t>
            </a:r>
            <a:r>
              <a:rPr dirty="0" sz="2100" spc="-15">
                <a:solidFill>
                  <a:srgbClr val="FFFFFF"/>
                </a:solidFill>
                <a:latin typeface="Arial Unicode MS"/>
                <a:cs typeface="Arial Unicode MS"/>
              </a:rPr>
              <a:t>基</a:t>
            </a:r>
            <a:r>
              <a:rPr dirty="0" sz="2100" spc="-10">
                <a:solidFill>
                  <a:srgbClr val="FFFFFF"/>
                </a:solidFill>
                <a:latin typeface="Arial Unicode MS"/>
                <a:cs typeface="Arial Unicode MS"/>
              </a:rPr>
              <a:t>础</a:t>
            </a:r>
            <a:r>
              <a:rPr dirty="0" sz="2100" spc="-15">
                <a:solidFill>
                  <a:srgbClr val="FFFFFF"/>
                </a:solidFill>
                <a:latin typeface="Arial Unicode MS"/>
                <a:cs typeface="Arial Unicode MS"/>
              </a:rPr>
              <a:t>教</a:t>
            </a:r>
            <a:r>
              <a:rPr dirty="0" sz="2100" spc="-10">
                <a:solidFill>
                  <a:srgbClr val="FFFFFF"/>
                </a:solidFill>
                <a:latin typeface="Arial Unicode MS"/>
                <a:cs typeface="Arial Unicode MS"/>
              </a:rPr>
              <a:t>程</a:t>
            </a:r>
            <a:endParaRPr sz="21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68730" y="1251432"/>
            <a:ext cx="2070735" cy="14592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600" spc="-10">
                <a:latin typeface="Arial Unicode MS"/>
                <a:cs typeface="Arial Unicode MS"/>
              </a:rPr>
              <a:t>甘</a:t>
            </a:r>
            <a:r>
              <a:rPr dirty="0" sz="1600" spc="220">
                <a:latin typeface="Arial Unicode MS"/>
                <a:cs typeface="Arial Unicode MS"/>
              </a:rPr>
              <a:t>峰</a:t>
            </a:r>
            <a:r>
              <a:rPr dirty="0" sz="1600" spc="-10">
                <a:latin typeface="Arial Unicode MS"/>
                <a:cs typeface="Arial Unicode MS"/>
              </a:rPr>
              <a:t>教授</a:t>
            </a:r>
            <a:endParaRPr sz="16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dirty="0" sz="1000" spc="-20">
                <a:latin typeface="Georgia"/>
                <a:cs typeface="Georgia"/>
              </a:rPr>
              <a:t>Email: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 spc="-80">
                <a:solidFill>
                  <a:srgbClr val="4C4CFF"/>
                </a:solidFill>
                <a:latin typeface="Courier New"/>
                <a:cs typeface="Courier New"/>
                <a:hlinkClick r:id="rId5"/>
              </a:rPr>
              <a:t>cesgf@mail.sysu.edu.cn</a:t>
            </a:r>
            <a:endParaRPr sz="10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dirty="0" sz="1000" spc="-40">
                <a:latin typeface="Georgia"/>
                <a:cs typeface="Georgia"/>
              </a:rPr>
              <a:t>Homepage: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80">
                <a:solidFill>
                  <a:srgbClr val="4C4CFF"/>
                </a:solidFill>
                <a:latin typeface="Courier New"/>
                <a:cs typeface="Courier New"/>
                <a:hlinkClick r:id="rId6"/>
              </a:rPr>
              <a:t>http://202.116.83.148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dirty="0" sz="900" spc="-5">
                <a:latin typeface="Arial Unicode MS"/>
                <a:cs typeface="Arial Unicode MS"/>
              </a:rPr>
              <a:t>中山大</a:t>
            </a:r>
            <a:r>
              <a:rPr dirty="0" sz="900" spc="-60">
                <a:latin typeface="Arial Unicode MS"/>
                <a:cs typeface="Arial Unicode MS"/>
              </a:rPr>
              <a:t>学</a:t>
            </a:r>
            <a:r>
              <a:rPr dirty="0" sz="900" spc="-140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Arial Unicode MS"/>
                <a:cs typeface="Arial Unicode MS"/>
              </a:rPr>
              <a:t>化学与化学工程学院</a:t>
            </a:r>
            <a:endParaRPr sz="9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7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</a:pPr>
            <a:r>
              <a:rPr dirty="0" sz="1100" spc="-65">
                <a:latin typeface="Georgia"/>
                <a:cs typeface="Georgia"/>
              </a:rPr>
              <a:t>2010 </a:t>
            </a:r>
            <a:r>
              <a:rPr dirty="0" sz="1200" spc="-5">
                <a:latin typeface="Arial Unicode MS"/>
                <a:cs typeface="Arial Unicode MS"/>
              </a:rPr>
              <a:t>年 </a:t>
            </a:r>
            <a:r>
              <a:rPr dirty="0" sz="1100" spc="-65">
                <a:latin typeface="Georgia"/>
                <a:cs typeface="Georgia"/>
              </a:rPr>
              <a:t>3 </a:t>
            </a:r>
            <a:r>
              <a:rPr dirty="0" sz="1200" spc="-5">
                <a:latin typeface="Arial Unicode MS"/>
                <a:cs typeface="Arial Unicode MS"/>
              </a:rPr>
              <a:t>月 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日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5628" y="719905"/>
            <a:ext cx="2416810" cy="128079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2650" spc="409">
                <a:latin typeface="Arial Unicode MS"/>
                <a:cs typeface="Arial Unicode MS"/>
              </a:rPr>
              <a:t>第</a:t>
            </a:r>
            <a:r>
              <a:rPr dirty="0" sz="5100" spc="395" b="0">
                <a:latin typeface="Bahnschrift Light SemiCondensed"/>
                <a:cs typeface="Bahnschrift Light SemiCondensed"/>
              </a:rPr>
              <a:t>2</a:t>
            </a:r>
            <a:r>
              <a:rPr dirty="0" sz="2650" spc="35">
                <a:latin typeface="Arial Unicode MS"/>
                <a:cs typeface="Arial Unicode MS"/>
              </a:rPr>
              <a:t>章</a:t>
            </a:r>
            <a:endParaRPr sz="26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dirty="0" sz="2650" spc="35">
                <a:latin typeface="Arial Unicode MS"/>
                <a:cs typeface="Arial Unicode MS"/>
              </a:rPr>
              <a:t>滴定分析法概论</a:t>
            </a:r>
            <a:endParaRPr sz="26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966495"/>
            <a:ext cx="4356735" cy="81089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275590">
              <a:lnSpc>
                <a:spcPct val="100000"/>
              </a:lnSpc>
              <a:spcBef>
                <a:spcPts val="420"/>
              </a:spcBef>
            </a:pPr>
            <a:r>
              <a:rPr dirty="0" sz="1200" spc="850">
                <a:latin typeface="Arial Unicode MS"/>
                <a:cs typeface="Arial Unicode MS"/>
              </a:rPr>
              <a:t>“</a:t>
            </a:r>
            <a:r>
              <a:rPr dirty="0" sz="1200" spc="-10">
                <a:latin typeface="Arial Unicode MS"/>
                <a:cs typeface="Arial Unicode MS"/>
              </a:rPr>
              <a:t>谁要是缺乏耐心等待几个星期或几个月以取得分析结</a:t>
            </a:r>
            <a:r>
              <a:rPr dirty="0" sz="1200" spc="-80">
                <a:latin typeface="Arial Unicode MS"/>
                <a:cs typeface="Arial Unicode MS"/>
              </a:rPr>
              <a:t>果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他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就根本不必去开始一项分析工</a:t>
            </a:r>
            <a:r>
              <a:rPr dirty="0" sz="1200" spc="-90">
                <a:latin typeface="Arial Unicode MS"/>
                <a:cs typeface="Arial Unicode MS"/>
              </a:rPr>
              <a:t>作</a:t>
            </a:r>
            <a:r>
              <a:rPr dirty="0" sz="1200" spc="75">
                <a:latin typeface="Arial Unicode MS"/>
                <a:cs typeface="Arial Unicode MS"/>
              </a:rPr>
              <a:t>！”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</a:pPr>
            <a:endParaRPr sz="700">
              <a:latin typeface="Arial Unicode MS"/>
              <a:cs typeface="Arial Unicode MS"/>
            </a:endParaRPr>
          </a:p>
          <a:p>
            <a:pPr marL="1504950">
              <a:lnSpc>
                <a:spcPct val="100000"/>
              </a:lnSpc>
            </a:pPr>
            <a:r>
              <a:rPr dirty="0" sz="1100" spc="-10">
                <a:latin typeface="Georgia"/>
                <a:cs typeface="Georgia"/>
              </a:rPr>
              <a:t>—–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-114">
                <a:latin typeface="Georgia"/>
                <a:cs typeface="Georgia"/>
              </a:rPr>
              <a:t>Lampadius</a:t>
            </a:r>
            <a:r>
              <a:rPr dirty="0" sz="1200" spc="-114">
                <a:latin typeface="Arial Unicode MS"/>
                <a:cs typeface="Arial Unicode MS"/>
              </a:rPr>
              <a:t>，</a:t>
            </a:r>
            <a:r>
              <a:rPr dirty="0" sz="1200" spc="65">
                <a:latin typeface="Arial Unicode MS"/>
                <a:cs typeface="Arial Unicode MS"/>
              </a:rPr>
              <a:t>《</a:t>
            </a:r>
            <a:r>
              <a:rPr dirty="0" sz="1200" spc="-5">
                <a:latin typeface="Arial Unicode MS"/>
                <a:cs typeface="Arial Unicode MS"/>
              </a:rPr>
              <a:t>无机物分析大</a:t>
            </a:r>
            <a:r>
              <a:rPr dirty="0" sz="1200" spc="65">
                <a:latin typeface="Arial Unicode MS"/>
                <a:cs typeface="Arial Unicode MS"/>
              </a:rPr>
              <a:t>全</a:t>
            </a:r>
            <a:r>
              <a:rPr dirty="0" sz="1200" spc="-484">
                <a:latin typeface="Arial Unicode MS"/>
                <a:cs typeface="Arial Unicode MS"/>
              </a:rPr>
              <a:t>》</a:t>
            </a:r>
            <a:r>
              <a:rPr dirty="0" sz="1200" spc="-60">
                <a:latin typeface="Arial Unicode MS"/>
                <a:cs typeface="Arial Unicode MS"/>
              </a:rPr>
              <a:t>，</a:t>
            </a:r>
            <a:r>
              <a:rPr dirty="0" sz="1100" spc="-60">
                <a:latin typeface="Georgia"/>
                <a:cs typeface="Georgia"/>
              </a:rPr>
              <a:t>1801</a:t>
            </a:r>
            <a:r>
              <a:rPr dirty="0" sz="1200" spc="-5">
                <a:latin typeface="Arial Unicode MS"/>
                <a:cs typeface="Arial Unicode MS"/>
              </a:rPr>
              <a:t>年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56591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5">
                <a:solidFill>
                  <a:srgbClr val="FFFFFF"/>
                </a:solidFill>
              </a:rPr>
              <a:t>2.1.1</a:t>
            </a:r>
            <a:r>
              <a:rPr dirty="0" sz="1000" spc="100">
                <a:solidFill>
                  <a:srgbClr val="FFFFFF"/>
                </a:solidFill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常用的滴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定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分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析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方法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010869"/>
            <a:ext cx="435610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滴定分析法是根据化学反应的计量关系进行定量分析的一种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方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根据其所采用的化学反应方法的不</a:t>
            </a:r>
            <a:r>
              <a:rPr dirty="0" sz="1200" spc="-80">
                <a:latin typeface="Arial Unicode MS"/>
                <a:cs typeface="Arial Unicode MS"/>
              </a:rPr>
              <a:t>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滴定分析法又分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846" y="1608147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277" y="159299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2846" y="1869805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2277" y="185465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2846" y="2131463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2277" y="211631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2846" y="2393121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2277" y="237796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1553" y="1458264"/>
            <a:ext cx="1088390" cy="107251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酸碱滴定法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配位滴定法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氧化还原滴定法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沉淀滴定法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08839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滴定分析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法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的特点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888212"/>
            <a:ext cx="433451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滴定分析法的特点是充分利用了化学反应的计量关系来实现 </a:t>
            </a:r>
            <a:r>
              <a:rPr dirty="0" sz="1200" spc="-5">
                <a:latin typeface="Arial Unicode MS"/>
                <a:cs typeface="Arial Unicode MS"/>
              </a:rPr>
              <a:t>定量分</a:t>
            </a:r>
            <a:r>
              <a:rPr dirty="0" sz="1200" spc="-80">
                <a:latin typeface="Arial Unicode MS"/>
                <a:cs typeface="Arial Unicode MS"/>
              </a:rPr>
              <a:t>析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这种计量关系可以是直接</a:t>
            </a:r>
            <a:r>
              <a:rPr dirty="0" sz="1200" spc="-80">
                <a:latin typeface="Arial Unicode MS"/>
                <a:cs typeface="Arial Unicode MS"/>
              </a:rPr>
              <a:t>的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也可以是间接</a:t>
            </a:r>
            <a:r>
              <a:rPr dirty="0" sz="1200" spc="-20">
                <a:latin typeface="Arial Unicode MS"/>
                <a:cs typeface="Arial Unicode MS"/>
              </a:rPr>
              <a:t>的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如下所 </a:t>
            </a:r>
            <a:r>
              <a:rPr dirty="0" sz="1200" spc="-5">
                <a:latin typeface="Arial Unicode MS"/>
                <a:cs typeface="Arial Unicode MS"/>
              </a:rPr>
              <a:t>示为直接滴定反应的一个例</a:t>
            </a:r>
            <a:r>
              <a:rPr dirty="0" sz="1200" spc="-90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56" y="1753273"/>
            <a:ext cx="4356735" cy="10052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  <a:tabLst>
                <a:tab pos="476884" algn="l"/>
                <a:tab pos="715645" algn="l"/>
              </a:tabLst>
            </a:pPr>
            <a:r>
              <a:rPr dirty="0" sz="1100" spc="105">
                <a:latin typeface="Georgia"/>
                <a:cs typeface="Georgia"/>
              </a:rPr>
              <a:t>T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S	</a:t>
            </a:r>
            <a:r>
              <a:rPr dirty="0" sz="1100" spc="140">
                <a:latin typeface="Georgia"/>
                <a:cs typeface="Georgia"/>
              </a:rPr>
              <a:t>=	</a:t>
            </a:r>
            <a:r>
              <a:rPr dirty="0" sz="1100" spc="70">
                <a:latin typeface="Georgia"/>
                <a:cs typeface="Georgia"/>
              </a:rPr>
              <a:t>P</a:t>
            </a:r>
            <a:endParaRPr sz="1100">
              <a:latin typeface="Georgia"/>
              <a:cs typeface="Georgia"/>
            </a:endParaRPr>
          </a:p>
          <a:p>
            <a:pPr algn="just" marL="12700" marR="5080" indent="303530">
              <a:lnSpc>
                <a:spcPct val="122300"/>
              </a:lnSpc>
              <a:spcBef>
                <a:spcPts val="1115"/>
              </a:spcBef>
            </a:pPr>
            <a:r>
              <a:rPr dirty="0" sz="1200" spc="-5">
                <a:latin typeface="Arial Unicode MS"/>
                <a:cs typeface="Arial Unicode MS"/>
              </a:rPr>
              <a:t>根据这个反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如果我们要知道物</a:t>
            </a:r>
            <a:r>
              <a:rPr dirty="0" sz="1200" spc="175">
                <a:latin typeface="Arial Unicode MS"/>
                <a:cs typeface="Arial Unicode MS"/>
              </a:rPr>
              <a:t>质</a:t>
            </a:r>
            <a:r>
              <a:rPr dirty="0" sz="1100" spc="-15">
                <a:latin typeface="Georgia"/>
                <a:cs typeface="Georgia"/>
              </a:rPr>
              <a:t>S</a:t>
            </a:r>
            <a:r>
              <a:rPr dirty="0" sz="1100" spc="-13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的含</a:t>
            </a:r>
            <a:r>
              <a:rPr dirty="0" sz="1200" spc="-80">
                <a:latin typeface="Arial Unicode MS"/>
                <a:cs typeface="Arial Unicode MS"/>
              </a:rPr>
              <a:t>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可以用已知准 </a:t>
            </a:r>
            <a:r>
              <a:rPr dirty="0" sz="1200" spc="-10">
                <a:latin typeface="Arial Unicode MS"/>
                <a:cs typeface="Arial Unicode MS"/>
              </a:rPr>
              <a:t>确浓</a:t>
            </a:r>
            <a:r>
              <a:rPr dirty="0" sz="1200" spc="-5">
                <a:latin typeface="Arial Unicode MS"/>
                <a:cs typeface="Arial Unicode MS"/>
              </a:rPr>
              <a:t>度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105">
                <a:latin typeface="Georgia"/>
                <a:cs typeface="Georgia"/>
              </a:rPr>
              <a:t>T</a:t>
            </a:r>
            <a:r>
              <a:rPr dirty="0" sz="1100" spc="-110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物质与之反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9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根</a:t>
            </a:r>
            <a:r>
              <a:rPr dirty="0" sz="1200" spc="175">
                <a:latin typeface="Arial Unicode MS"/>
                <a:cs typeface="Arial Unicode MS"/>
              </a:rPr>
              <a:t>据</a:t>
            </a:r>
            <a:r>
              <a:rPr dirty="0" sz="1100" spc="105">
                <a:latin typeface="Georgia"/>
                <a:cs typeface="Georgia"/>
              </a:rPr>
              <a:t>T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物</a:t>
            </a:r>
            <a:r>
              <a:rPr dirty="0" sz="1200" spc="-10">
                <a:latin typeface="Arial Unicode MS"/>
                <a:cs typeface="Arial Unicode MS"/>
              </a:rPr>
              <a:t>质所消耗的量就可确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-15">
                <a:latin typeface="Georgia"/>
                <a:cs typeface="Georgia"/>
              </a:rPr>
              <a:t>S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的</a:t>
            </a:r>
            <a:r>
              <a:rPr dirty="0" sz="1200" spc="-5">
                <a:latin typeface="Arial Unicode MS"/>
                <a:cs typeface="Arial Unicode MS"/>
              </a:rPr>
              <a:t>含 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82296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几个基本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概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念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2846" y="975001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42277" y="95984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1553" y="863066"/>
            <a:ext cx="409003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标准溶液或滴定剂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—–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已知准确浓度的试剂溶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如上述反应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105">
                <a:latin typeface="Georgia"/>
                <a:cs typeface="Georgia"/>
              </a:rPr>
              <a:t>T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物质的溶</a:t>
            </a:r>
            <a:r>
              <a:rPr dirty="0" sz="1200" spc="-20">
                <a:latin typeface="Arial Unicode MS"/>
                <a:cs typeface="Arial Unicode MS"/>
              </a:rPr>
              <a:t>液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2846" y="1460344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2277" y="144519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2846" y="1722002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2277" y="170685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2846" y="2207358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2277" y="219221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2846" y="2469016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42277" y="245385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1553" y="1310462"/>
            <a:ext cx="4090035" cy="151955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滴定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—–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把滴定剂加到被测物质溶液的过</a:t>
            </a:r>
            <a:r>
              <a:rPr dirty="0" sz="1200" spc="-20">
                <a:latin typeface="Arial Unicode MS"/>
                <a:cs typeface="Arial Unicode MS"/>
              </a:rPr>
              <a:t>程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u="sng" sz="1200" spc="-30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化学计量点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—–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加入的标准溶液与被测物质定量反应完全的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那一</a:t>
            </a:r>
            <a:r>
              <a:rPr dirty="0" sz="1200" spc="-20">
                <a:latin typeface="Arial Unicode MS"/>
                <a:cs typeface="Arial Unicode MS"/>
              </a:rPr>
              <a:t>点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滴定终点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—–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在滴定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指示剂改变颜色的那一</a:t>
            </a:r>
            <a:r>
              <a:rPr dirty="0" sz="1200" spc="-20">
                <a:latin typeface="Arial Unicode MS"/>
                <a:cs typeface="Arial Unicode MS"/>
              </a:rPr>
              <a:t>点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终点误差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—–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滴定终点与化学计量点不一定恰好吻</a:t>
            </a:r>
            <a:r>
              <a:rPr dirty="0" sz="1200" spc="-80">
                <a:latin typeface="Arial Unicode MS"/>
                <a:cs typeface="Arial Unicode MS"/>
              </a:rPr>
              <a:t>合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由此产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生终点误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6902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滴定示范图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2704" y="717296"/>
            <a:ext cx="691955" cy="23376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64004" y="1245861"/>
            <a:ext cx="1800123" cy="18091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22110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滴定终点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判定方法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846" y="1376880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277" y="136173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1553" y="1264958"/>
            <a:ext cx="397002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化学指示剂法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—–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通过某种化学试剂颜色的改变来指示滴定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终</a:t>
            </a:r>
            <a:r>
              <a:rPr dirty="0" sz="1200" spc="-20">
                <a:latin typeface="Arial Unicode MS"/>
                <a:cs typeface="Arial Unicode MS"/>
              </a:rPr>
              <a:t>点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846" y="1862235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2277" y="184708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1553" y="1750314"/>
            <a:ext cx="406400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仪器法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—–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则根据某种装置的响应</a:t>
            </a:r>
            <a:r>
              <a:rPr dirty="0" sz="1200" spc="-260">
                <a:latin typeface="Arial Unicode MS"/>
                <a:cs typeface="Arial Unicode MS"/>
              </a:rPr>
              <a:t>值</a:t>
            </a:r>
            <a:r>
              <a:rPr dirty="0" sz="1200" spc="-5">
                <a:latin typeface="Arial Unicode MS"/>
                <a:cs typeface="Arial Unicode MS"/>
              </a:rPr>
              <a:t>（如电压</a:t>
            </a:r>
            <a:r>
              <a:rPr dirty="0" sz="1200" spc="15">
                <a:latin typeface="Arial Unicode MS"/>
                <a:cs typeface="Arial Unicode MS"/>
              </a:rPr>
              <a:t>值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电流值</a:t>
            </a:r>
            <a:r>
              <a:rPr dirty="0" sz="1200" spc="30">
                <a:latin typeface="Arial Unicode MS"/>
                <a:cs typeface="Arial Unicode MS"/>
              </a:rPr>
              <a:t>等</a:t>
            </a:r>
            <a:r>
              <a:rPr dirty="0" sz="1200" spc="-5">
                <a:latin typeface="Arial Unicode MS"/>
                <a:cs typeface="Arial Unicode MS"/>
              </a:rPr>
              <a:t>）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来指示滴定终</a:t>
            </a:r>
            <a:r>
              <a:rPr dirty="0" sz="1200" spc="-20">
                <a:latin typeface="Arial Unicode MS"/>
                <a:cs typeface="Arial Unicode MS"/>
              </a:rPr>
              <a:t>点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22110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实现准确滴定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条件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846" y="1346031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277" y="133088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2846" y="1607689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2277" y="159252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2846" y="1869348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2277" y="185418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2846" y="2130993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2277" y="211584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1553" y="1196162"/>
            <a:ext cx="2757170" cy="107251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滴定反应必须具备确定的化学计量关</a:t>
            </a:r>
            <a:r>
              <a:rPr dirty="0" sz="1200" spc="-20">
                <a:latin typeface="Arial Unicode MS"/>
                <a:cs typeface="Arial Unicode MS"/>
              </a:rPr>
              <a:t>系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反应必须定量地进行完</a:t>
            </a:r>
            <a:r>
              <a:rPr dirty="0" sz="1200" spc="-20">
                <a:latin typeface="Arial Unicode MS"/>
                <a:cs typeface="Arial Unicode MS"/>
              </a:rPr>
              <a:t>全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滴定反应有较快的反应速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必须有合适的方法确定化学计量</a:t>
            </a:r>
            <a:r>
              <a:rPr dirty="0" sz="1200" spc="-20">
                <a:latin typeface="Arial Unicode MS"/>
                <a:cs typeface="Arial Unicode MS"/>
              </a:rPr>
              <a:t>点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2998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Georgia"/>
                <a:cs typeface="Georgia"/>
              </a:rPr>
              <a:t>2.1.2</a:t>
            </a:r>
            <a:r>
              <a:rPr dirty="0" sz="1000" spc="12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常用的滴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定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模式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846" y="1347301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277" y="133215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2846" y="1608959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2277" y="159381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2846" y="1870617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2277" y="185547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2846" y="2132276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2277" y="211711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1553" y="1197419"/>
            <a:ext cx="784860" cy="1072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31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直接滴定法 </a:t>
            </a:r>
            <a:r>
              <a:rPr dirty="0" sz="1200" spc="-5">
                <a:latin typeface="Arial Unicode MS"/>
                <a:cs typeface="Arial Unicode MS"/>
              </a:rPr>
              <a:t>返滴定法 </a:t>
            </a:r>
            <a:r>
              <a:rPr dirty="0" sz="1200" spc="-5">
                <a:latin typeface="Arial Unicode MS"/>
                <a:cs typeface="Arial Unicode MS"/>
              </a:rPr>
              <a:t>置换滴定法 间接滴定法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69024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直接滴定法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44" y="1152575"/>
            <a:ext cx="4385310" cy="119761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凡是能满足前述的实现准确滴定的条件的反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都可以用标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准溶液直接滴定待测物</a:t>
            </a:r>
            <a:r>
              <a:rPr dirty="0" sz="1200" spc="-20">
                <a:latin typeface="Arial Unicode MS"/>
                <a:cs typeface="Arial Unicode MS"/>
              </a:rPr>
              <a:t>质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400">
              <a:latin typeface="Arial Unicode MS"/>
              <a:cs typeface="Arial Unicode MS"/>
            </a:endParaRPr>
          </a:p>
          <a:p>
            <a:pPr marL="354330">
              <a:lnSpc>
                <a:spcPct val="100000"/>
              </a:lnSpc>
              <a:spcBef>
                <a:spcPts val="5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标准溶液测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含</a:t>
            </a:r>
            <a:r>
              <a:rPr dirty="0" sz="1200" spc="-65">
                <a:latin typeface="Arial Unicode MS"/>
                <a:cs typeface="Arial Unicode MS"/>
              </a:rPr>
              <a:t>量</a:t>
            </a:r>
            <a:r>
              <a:rPr dirty="0" sz="1200" spc="-200">
                <a:latin typeface="Arial Unicode MS"/>
                <a:cs typeface="Arial Unicode MS"/>
              </a:rPr>
              <a:t>；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标准溶液测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65">
                <a:latin typeface="Georgia"/>
                <a:cs typeface="Georgia"/>
              </a:rPr>
              <a:t>Mg</a:t>
            </a:r>
            <a:r>
              <a:rPr dirty="0" baseline="37037" sz="900" spc="97">
                <a:latin typeface="Times New Roman"/>
                <a:cs typeface="Times New Roman"/>
              </a:rPr>
              <a:t>2+</a:t>
            </a:r>
            <a:r>
              <a:rPr dirty="0" baseline="37037" sz="900" spc="-127">
                <a:latin typeface="Times New Roman"/>
                <a:cs typeface="Times New Roman"/>
              </a:rPr>
              <a:t> 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100" spc="85">
                <a:latin typeface="Georgia"/>
                <a:cs typeface="Georgia"/>
              </a:rPr>
              <a:t>Ca</a:t>
            </a:r>
            <a:r>
              <a:rPr dirty="0" baseline="37037" sz="900" spc="127">
                <a:latin typeface="Times New Roman"/>
                <a:cs typeface="Times New Roman"/>
              </a:rPr>
              <a:t>2+</a:t>
            </a:r>
            <a:r>
              <a:rPr dirty="0" baseline="37037" sz="900" spc="1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含量都属于直接滴定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55689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返滴定法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780630"/>
            <a:ext cx="435673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先准确加入一定量的过量的滴定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待反应完全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再用另</a:t>
            </a:r>
            <a:r>
              <a:rPr dirty="0" sz="1200" spc="-5">
                <a:latin typeface="Arial Unicode MS"/>
                <a:cs typeface="Arial Unicode MS"/>
              </a:rPr>
              <a:t>一 </a:t>
            </a:r>
            <a:r>
              <a:rPr dirty="0" sz="1200" spc="-5">
                <a:latin typeface="Arial Unicode MS"/>
                <a:cs typeface="Arial Unicode MS"/>
              </a:rPr>
              <a:t>种标准溶液滴定剩余滴定</a:t>
            </a:r>
            <a:r>
              <a:rPr dirty="0" sz="1200" spc="-65">
                <a:latin typeface="Arial Unicode MS"/>
                <a:cs typeface="Arial Unicode MS"/>
              </a:rPr>
              <a:t>剂</a:t>
            </a:r>
            <a:r>
              <a:rPr dirty="0" sz="1200" spc="-200">
                <a:latin typeface="Arial Unicode MS"/>
                <a:cs typeface="Arial Unicode MS"/>
              </a:rPr>
              <a:t>；</a:t>
            </a:r>
            <a:r>
              <a:rPr dirty="0" sz="1200" spc="-5">
                <a:latin typeface="Arial Unicode MS"/>
                <a:cs typeface="Arial Unicode MS"/>
              </a:rPr>
              <a:t>根据反应消耗滴定剂的净量就可以 算出被测物质的含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这样的滴定方法称为返滴定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12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55689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返滴定法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780630"/>
            <a:ext cx="435673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先准确加入一定量的过量的滴定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待反应完全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再用另</a:t>
            </a:r>
            <a:r>
              <a:rPr dirty="0" sz="1200" spc="-5">
                <a:latin typeface="Arial Unicode MS"/>
                <a:cs typeface="Arial Unicode MS"/>
              </a:rPr>
              <a:t>一 </a:t>
            </a:r>
            <a:r>
              <a:rPr dirty="0" sz="1200" spc="-5">
                <a:latin typeface="Arial Unicode MS"/>
                <a:cs typeface="Arial Unicode MS"/>
              </a:rPr>
              <a:t>种标准溶液滴定剩余滴定</a:t>
            </a:r>
            <a:r>
              <a:rPr dirty="0" sz="1200" spc="-65">
                <a:latin typeface="Arial Unicode MS"/>
                <a:cs typeface="Arial Unicode MS"/>
              </a:rPr>
              <a:t>剂</a:t>
            </a:r>
            <a:r>
              <a:rPr dirty="0" sz="1200" spc="-200">
                <a:latin typeface="Arial Unicode MS"/>
                <a:cs typeface="Arial Unicode MS"/>
              </a:rPr>
              <a:t>；</a:t>
            </a:r>
            <a:r>
              <a:rPr dirty="0" sz="1200" spc="-5">
                <a:latin typeface="Arial Unicode MS"/>
                <a:cs typeface="Arial Unicode MS"/>
              </a:rPr>
              <a:t>根据反应消耗滴定剂的净量就可以 算出被测物质的含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这样的滴定方法称为返滴定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64374" y="1765791"/>
            <a:ext cx="2119624" cy="9740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12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756" y="479298"/>
            <a:ext cx="4438015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50165" marR="159385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返滴定法通常用于滴定剂与待测组分的反应很</a:t>
            </a:r>
            <a:r>
              <a:rPr dirty="0" sz="1200" spc="-80">
                <a:latin typeface="Arial Unicode MS"/>
                <a:cs typeface="Arial Unicode MS"/>
              </a:rPr>
              <a:t>慢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或用滴定 剂直接滴定固体试样的情</a:t>
            </a:r>
            <a:r>
              <a:rPr dirty="0" sz="1200" spc="-80">
                <a:latin typeface="Arial Unicode MS"/>
                <a:cs typeface="Arial Unicode MS"/>
              </a:rPr>
              <a:t>况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有时也用于没有合适的指示剂的情 </a:t>
            </a:r>
            <a:r>
              <a:rPr dirty="0" sz="1200" spc="-20">
                <a:latin typeface="Arial Unicode MS"/>
                <a:cs typeface="Arial Unicode MS"/>
              </a:rPr>
              <a:t>况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Arial Unicode MS"/>
              <a:cs typeface="Arial Unicode MS"/>
            </a:endParaRPr>
          </a:p>
          <a:p>
            <a:pPr marL="50800" marR="4318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30">
                <a:latin typeface="Arial Unicode MS"/>
                <a:cs typeface="Arial Unicode MS"/>
              </a:rPr>
              <a:t>，</a:t>
            </a:r>
            <a:r>
              <a:rPr dirty="0" sz="1100" spc="30">
                <a:latin typeface="Georgia"/>
                <a:cs typeface="Georgia"/>
              </a:rPr>
              <a:t>Al</a:t>
            </a:r>
            <a:r>
              <a:rPr dirty="0" baseline="37037" sz="900" spc="44">
                <a:latin typeface="Times New Roman"/>
                <a:cs typeface="Times New Roman"/>
              </a:rPr>
              <a:t>3+</a:t>
            </a:r>
            <a:r>
              <a:rPr dirty="0" baseline="37037" sz="900" spc="75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的反应为慢反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故宜加入已知量的过量 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使二者反应完</a:t>
            </a:r>
            <a:r>
              <a:rPr dirty="0" sz="1200" spc="-80">
                <a:latin typeface="Arial Unicode MS"/>
                <a:cs typeface="Arial Unicode MS"/>
              </a:rPr>
              <a:t>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过量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可用锌标准溶液返滴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2126182"/>
            <a:ext cx="4432935" cy="186055"/>
          </a:xfrm>
          <a:custGeom>
            <a:avLst/>
            <a:gdLst/>
            <a:ahLst/>
            <a:cxnLst/>
            <a:rect l="l" t="t" r="r" b="b"/>
            <a:pathLst>
              <a:path w="4432935" h="1860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5630"/>
                </a:lnTo>
                <a:lnTo>
                  <a:pt x="4432566" y="18563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2299157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2505252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2492552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2170417"/>
            <a:ext cx="50749" cy="3348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2343446"/>
            <a:ext cx="4432935" cy="212725"/>
          </a:xfrm>
          <a:custGeom>
            <a:avLst/>
            <a:gdLst/>
            <a:ahLst/>
            <a:cxnLst/>
            <a:rect l="l" t="t" r="r" b="b"/>
            <a:pathLst>
              <a:path w="4432935" h="212725">
                <a:moveTo>
                  <a:pt x="4432566" y="0"/>
                </a:moveTo>
                <a:lnTo>
                  <a:pt x="0" y="0"/>
                </a:lnTo>
                <a:lnTo>
                  <a:pt x="0" y="161806"/>
                </a:lnTo>
                <a:lnTo>
                  <a:pt x="4008" y="181530"/>
                </a:lnTo>
                <a:lnTo>
                  <a:pt x="14922" y="197683"/>
                </a:lnTo>
                <a:lnTo>
                  <a:pt x="31075" y="208597"/>
                </a:lnTo>
                <a:lnTo>
                  <a:pt x="50800" y="212606"/>
                </a:lnTo>
                <a:lnTo>
                  <a:pt x="4381765" y="212606"/>
                </a:lnTo>
                <a:lnTo>
                  <a:pt x="4401490" y="208597"/>
                </a:lnTo>
                <a:lnTo>
                  <a:pt x="4417643" y="197683"/>
                </a:lnTo>
                <a:lnTo>
                  <a:pt x="4428558" y="181530"/>
                </a:lnTo>
                <a:lnTo>
                  <a:pt x="4432566" y="161806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2208521"/>
            <a:ext cx="0" cy="316230"/>
          </a:xfrm>
          <a:custGeom>
            <a:avLst/>
            <a:gdLst/>
            <a:ahLst/>
            <a:cxnLst/>
            <a:rect l="l" t="t" r="r" b="b"/>
            <a:pathLst>
              <a:path w="0" h="316230">
                <a:moveTo>
                  <a:pt x="0" y="31578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219582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218312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2170421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056" y="479298"/>
            <a:ext cx="4463415" cy="2046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62865" marR="172085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返滴定法通常用于滴定剂与待测组分的反应很</a:t>
            </a:r>
            <a:r>
              <a:rPr dirty="0" sz="1200" spc="-80">
                <a:latin typeface="Arial Unicode MS"/>
                <a:cs typeface="Arial Unicode MS"/>
              </a:rPr>
              <a:t>慢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或用滴定 剂直接滴定固体试样的情</a:t>
            </a:r>
            <a:r>
              <a:rPr dirty="0" sz="1200" spc="-80">
                <a:latin typeface="Arial Unicode MS"/>
                <a:cs typeface="Arial Unicode MS"/>
              </a:rPr>
              <a:t>况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有时也用于没有合适的指示剂的情 </a:t>
            </a:r>
            <a:r>
              <a:rPr dirty="0" sz="1200" spc="-20">
                <a:latin typeface="Arial Unicode MS"/>
                <a:cs typeface="Arial Unicode MS"/>
              </a:rPr>
              <a:t>况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Arial Unicode MS"/>
              <a:cs typeface="Arial Unicode MS"/>
            </a:endParaRPr>
          </a:p>
          <a:p>
            <a:pPr marL="63500" marR="5588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30">
                <a:latin typeface="Arial Unicode MS"/>
                <a:cs typeface="Arial Unicode MS"/>
              </a:rPr>
              <a:t>，</a:t>
            </a:r>
            <a:r>
              <a:rPr dirty="0" sz="1100" spc="30">
                <a:latin typeface="Georgia"/>
                <a:cs typeface="Georgia"/>
              </a:rPr>
              <a:t>Al</a:t>
            </a:r>
            <a:r>
              <a:rPr dirty="0" baseline="37037" sz="900" spc="44">
                <a:latin typeface="Times New Roman"/>
                <a:cs typeface="Times New Roman"/>
              </a:rPr>
              <a:t>3+</a:t>
            </a:r>
            <a:r>
              <a:rPr dirty="0" baseline="37037" sz="900" spc="75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的反应为慢反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故宜加入已知量的过量 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使二者反应完</a:t>
            </a:r>
            <a:r>
              <a:rPr dirty="0" sz="1200" spc="-80">
                <a:latin typeface="Arial Unicode MS"/>
                <a:cs typeface="Arial Unicode MS"/>
              </a:rPr>
              <a:t>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过量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可用锌标准溶液返滴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Arial Unicode MS"/>
              <a:cs typeface="Arial Unicode MS"/>
            </a:endParaRPr>
          </a:p>
          <a:p>
            <a:pPr marL="62865">
              <a:lnSpc>
                <a:spcPct val="100000"/>
              </a:lnSpc>
            </a:pPr>
            <a:r>
              <a:rPr dirty="0" sz="1200" spc="-5">
                <a:solidFill>
                  <a:srgbClr val="FFFFFF"/>
                </a:solidFill>
                <a:latin typeface="Arial Unicode MS"/>
                <a:cs typeface="Arial Unicode MS"/>
              </a:rPr>
              <a:t>问</a:t>
            </a:r>
            <a:r>
              <a:rPr dirty="0" sz="1200" spc="-90">
                <a:solidFill>
                  <a:srgbClr val="FFFFFF"/>
                </a:solidFill>
                <a:latin typeface="Arial Unicode MS"/>
                <a:cs typeface="Arial Unicode MS"/>
              </a:rPr>
              <a:t>题</a:t>
            </a:r>
            <a:r>
              <a:rPr dirty="0" sz="1200" spc="-5">
                <a:solidFill>
                  <a:srgbClr val="FFFFFF"/>
                </a:solidFill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62865">
              <a:lnSpc>
                <a:spcPct val="100000"/>
              </a:lnSpc>
              <a:spcBef>
                <a:spcPts val="254"/>
              </a:spcBef>
            </a:pPr>
            <a:r>
              <a:rPr dirty="0" sz="1200" spc="-5">
                <a:latin typeface="Arial Unicode MS"/>
                <a:cs typeface="Arial Unicode MS"/>
              </a:rPr>
              <a:t>返滴定过程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已经与</a:t>
            </a:r>
            <a:r>
              <a:rPr dirty="0" sz="1100" spc="85">
                <a:latin typeface="Georgia"/>
                <a:cs typeface="Georgia"/>
              </a:rPr>
              <a:t>Al</a:t>
            </a:r>
            <a:r>
              <a:rPr dirty="0" baseline="37037" sz="900" spc="127">
                <a:latin typeface="Times New Roman"/>
                <a:cs typeface="Times New Roman"/>
              </a:rPr>
              <a:t>3+</a:t>
            </a:r>
            <a:r>
              <a:rPr dirty="0" baseline="37037" sz="900" spc="3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结合的</a:t>
            </a:r>
            <a:r>
              <a:rPr dirty="0" sz="1100" spc="30">
                <a:latin typeface="Georgia"/>
                <a:cs typeface="Georgia"/>
              </a:rPr>
              <a:t>EDTA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是否会被置换出</a:t>
            </a:r>
            <a:r>
              <a:rPr dirty="0" sz="1200" spc="65">
                <a:latin typeface="Arial Unicode MS"/>
                <a:cs typeface="Arial Unicode MS"/>
              </a:rPr>
              <a:t>来</a:t>
            </a:r>
            <a:r>
              <a:rPr dirty="0" sz="1200" spc="-5">
                <a:latin typeface="Arial Unicode MS"/>
                <a:cs typeface="Arial Unicode MS"/>
              </a:rPr>
              <a:t>？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13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69024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置换滴定法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939038"/>
            <a:ext cx="435673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先用适当试剂与待测组分反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定量地生成另一种物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然</a:t>
            </a:r>
            <a:r>
              <a:rPr dirty="0" sz="1200" spc="-5">
                <a:latin typeface="Arial Unicode MS"/>
                <a:cs typeface="Arial Unicode MS"/>
              </a:rPr>
              <a:t>后 </a:t>
            </a:r>
            <a:r>
              <a:rPr dirty="0" sz="1200" spc="-5">
                <a:latin typeface="Arial Unicode MS"/>
                <a:cs typeface="Arial Unicode MS"/>
              </a:rPr>
              <a:t>用标准溶液滴定该物</a:t>
            </a:r>
            <a:r>
              <a:rPr dirty="0" sz="1200" spc="-20">
                <a:latin typeface="Arial Unicode MS"/>
                <a:cs typeface="Arial Unicode MS"/>
              </a:rPr>
              <a:t>质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置换滴定法用于直接滴定待测组分没有 确定的化学计量关系时的情</a:t>
            </a:r>
            <a:r>
              <a:rPr dirty="0" sz="1200" spc="-80">
                <a:latin typeface="Arial Unicode MS"/>
                <a:cs typeface="Arial Unicode MS"/>
              </a:rPr>
              <a:t>况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也用于存在副反应的情</a:t>
            </a:r>
            <a:r>
              <a:rPr dirty="0" sz="1200" spc="-20">
                <a:latin typeface="Arial Unicode MS"/>
                <a:cs typeface="Arial Unicode MS"/>
              </a:rPr>
              <a:t>况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69024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置换滴定法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144" y="939038"/>
            <a:ext cx="4382135" cy="1059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177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先用适当试剂与待测组分反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定量地生成另一种物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然</a:t>
            </a:r>
            <a:r>
              <a:rPr dirty="0" sz="1200" spc="-5">
                <a:latin typeface="Arial Unicode MS"/>
                <a:cs typeface="Arial Unicode MS"/>
              </a:rPr>
              <a:t>后 </a:t>
            </a:r>
            <a:r>
              <a:rPr dirty="0" sz="1200" spc="-5">
                <a:latin typeface="Arial Unicode MS"/>
                <a:cs typeface="Arial Unicode MS"/>
              </a:rPr>
              <a:t>用标准溶液滴定该物</a:t>
            </a:r>
            <a:r>
              <a:rPr dirty="0" sz="1200" spc="-20">
                <a:latin typeface="Arial Unicode MS"/>
                <a:cs typeface="Arial Unicode MS"/>
              </a:rPr>
              <a:t>质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置换滴定法用于直接滴定待测组分没有 确定的化学计量关系时的情</a:t>
            </a:r>
            <a:r>
              <a:rPr dirty="0" sz="1200" spc="-80">
                <a:latin typeface="Arial Unicode MS"/>
                <a:cs typeface="Arial Unicode MS"/>
              </a:rPr>
              <a:t>况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也用于存在副反应的情</a:t>
            </a:r>
            <a:r>
              <a:rPr dirty="0" sz="1200" spc="-20">
                <a:latin typeface="Arial Unicode MS"/>
                <a:cs typeface="Arial Unicode MS"/>
              </a:rPr>
              <a:t>况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289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在酸性条件</a:t>
            </a:r>
            <a:r>
              <a:rPr dirty="0" sz="1200" spc="175">
                <a:latin typeface="Arial Unicode MS"/>
                <a:cs typeface="Arial Unicode MS"/>
              </a:rPr>
              <a:t>下</a:t>
            </a:r>
            <a:r>
              <a:rPr dirty="0" sz="1100" spc="35">
                <a:latin typeface="Georgia"/>
                <a:cs typeface="Georgia"/>
              </a:rPr>
              <a:t>Na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S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O</a:t>
            </a:r>
            <a:r>
              <a:rPr dirty="0" baseline="-13888" sz="900" spc="52">
                <a:latin typeface="Times New Roman"/>
                <a:cs typeface="Times New Roman"/>
              </a:rPr>
              <a:t>3 </a:t>
            </a:r>
            <a:r>
              <a:rPr dirty="0" sz="1200" spc="-5">
                <a:latin typeface="Arial Unicode MS"/>
                <a:cs typeface="Arial Unicode MS"/>
              </a:rPr>
              <a:t>不能直接滴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25">
                <a:latin typeface="Georgia"/>
                <a:cs typeface="Georgia"/>
              </a:rPr>
              <a:t>K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Cr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O</a:t>
            </a:r>
            <a:r>
              <a:rPr dirty="0" baseline="-13888" sz="900" spc="37">
                <a:latin typeface="Times New Roman"/>
                <a:cs typeface="Times New Roman"/>
              </a:rPr>
              <a:t>7</a:t>
            </a:r>
            <a:r>
              <a:rPr dirty="0" sz="1200" spc="2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因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7748" y="211056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844" y="2013877"/>
            <a:ext cx="43815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15">
                <a:latin typeface="Georgia"/>
                <a:cs typeface="Georgia"/>
              </a:rPr>
              <a:t>S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813" y="1963597"/>
            <a:ext cx="37719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145">
                <a:latin typeface="Times New Roman"/>
                <a:cs typeface="Times New Roman"/>
              </a:rPr>
              <a:t>2</a:t>
            </a:r>
            <a:r>
              <a:rPr dirty="0" sz="600" spc="145" i="1">
                <a:latin typeface="Arial"/>
                <a:cs typeface="Arial"/>
              </a:rPr>
              <a:t>−</a:t>
            </a:r>
            <a:r>
              <a:rPr dirty="0" sz="600" spc="15" i="1">
                <a:latin typeface="Arial"/>
                <a:cs typeface="Arial"/>
              </a:rPr>
              <a:t> </a:t>
            </a:r>
            <a:r>
              <a:rPr dirty="0" baseline="-18518" sz="1800" spc="-7">
                <a:latin typeface="Arial Unicode MS"/>
                <a:cs typeface="Arial Unicode MS"/>
              </a:rPr>
              <a:t>易</a:t>
            </a:r>
            <a:endParaRPr baseline="-18518" sz="18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73617" y="211056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34094" y="2039505"/>
            <a:ext cx="502284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259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8213" y="2124037"/>
            <a:ext cx="23983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08175" algn="l"/>
                <a:tab pos="2338705" algn="l"/>
              </a:tabLst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6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0862" y="2013877"/>
            <a:ext cx="359854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发生歧化反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生</a:t>
            </a:r>
            <a:r>
              <a:rPr dirty="0" sz="1200" spc="175">
                <a:latin typeface="Arial Unicode MS"/>
                <a:cs typeface="Arial Unicode MS"/>
              </a:rPr>
              <a:t>成</a:t>
            </a:r>
            <a:r>
              <a:rPr dirty="0" sz="1100" spc="-15">
                <a:latin typeface="Georgia"/>
                <a:cs typeface="Georgia"/>
              </a:rPr>
              <a:t>S</a:t>
            </a:r>
            <a:r>
              <a:rPr dirty="0" sz="1100" spc="12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320">
                <a:latin typeface="Georgia"/>
                <a:cs typeface="Georgia"/>
              </a:rPr>
              <a:t> </a:t>
            </a:r>
            <a:r>
              <a:rPr dirty="0" sz="1200" spc="-55">
                <a:latin typeface="Arial Unicode MS"/>
                <a:cs typeface="Arial Unicode MS"/>
              </a:rPr>
              <a:t>，</a:t>
            </a:r>
            <a:r>
              <a:rPr dirty="0" sz="1100" spc="-55">
                <a:latin typeface="Georgia"/>
                <a:cs typeface="Georgia"/>
              </a:rPr>
              <a:t>SO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baseline="37037" sz="900" spc="337" i="1">
                <a:latin typeface="Arial"/>
                <a:cs typeface="Arial"/>
              </a:rPr>
              <a:t>−</a:t>
            </a:r>
            <a:r>
              <a:rPr dirty="0" baseline="37037" sz="900" spc="75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等的混合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且反应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444" y="2196071"/>
            <a:ext cx="442722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没有确定的计量关</a:t>
            </a:r>
            <a:r>
              <a:rPr dirty="0" sz="1200" spc="-20">
                <a:latin typeface="Arial Unicode MS"/>
                <a:cs typeface="Arial Unicode MS"/>
              </a:rPr>
              <a:t>系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此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可以先</a:t>
            </a:r>
            <a:r>
              <a:rPr dirty="0" sz="1200" spc="175">
                <a:latin typeface="Arial Unicode MS"/>
                <a:cs typeface="Arial Unicode MS"/>
              </a:rPr>
              <a:t>让</a:t>
            </a:r>
            <a:r>
              <a:rPr dirty="0" sz="1100" spc="60">
                <a:latin typeface="Georgia"/>
                <a:cs typeface="Georgia"/>
              </a:rPr>
              <a:t>K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Cr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O</a:t>
            </a:r>
            <a:r>
              <a:rPr dirty="0" baseline="-13888" sz="900" spc="89">
                <a:latin typeface="Times New Roman"/>
                <a:cs typeface="Times New Roman"/>
              </a:rPr>
              <a:t>7 </a:t>
            </a:r>
            <a:r>
              <a:rPr dirty="0" sz="1200" spc="-5">
                <a:latin typeface="Arial Unicode MS"/>
                <a:cs typeface="Arial Unicode MS"/>
              </a:rPr>
              <a:t>与过量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25">
                <a:latin typeface="Georgia"/>
                <a:cs typeface="Georgia"/>
              </a:rPr>
              <a:t>KI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反</a:t>
            </a: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定量地生</a:t>
            </a:r>
            <a:r>
              <a:rPr dirty="0" sz="1200" spc="175">
                <a:latin typeface="Arial Unicode MS"/>
                <a:cs typeface="Arial Unicode MS"/>
              </a:rPr>
              <a:t>成</a:t>
            </a:r>
            <a:r>
              <a:rPr dirty="0" sz="1100" spc="-60">
                <a:latin typeface="Georgia"/>
                <a:cs typeface="Georgia"/>
              </a:rPr>
              <a:t>I</a:t>
            </a:r>
            <a:r>
              <a:rPr dirty="0" baseline="-13888" sz="900" spc="-89">
                <a:latin typeface="Times New Roman"/>
                <a:cs typeface="Times New Roman"/>
              </a:rPr>
              <a:t>2</a:t>
            </a:r>
            <a:r>
              <a:rPr dirty="0" sz="1200" spc="-6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然后再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35">
                <a:latin typeface="Georgia"/>
                <a:cs typeface="Georgia"/>
              </a:rPr>
              <a:t>Na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S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O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30">
                <a:latin typeface="Georgia"/>
                <a:cs typeface="Georgia"/>
              </a:rPr>
              <a:t>I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14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69024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间接滴定法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44" y="1163993"/>
            <a:ext cx="4218305" cy="793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间接滴定法通常用于某种滴定无法进行的情</a:t>
            </a:r>
            <a:r>
              <a:rPr dirty="0" sz="1200" spc="-20">
                <a:latin typeface="Arial Unicode MS"/>
                <a:cs typeface="Arial Unicode MS"/>
              </a:rPr>
              <a:t>况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543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30">
                <a:latin typeface="Arial Unicode MS"/>
                <a:cs typeface="Arial Unicode MS"/>
              </a:rPr>
              <a:t>，</a:t>
            </a:r>
            <a:r>
              <a:rPr dirty="0" sz="1100" spc="30">
                <a:latin typeface="Georgia"/>
                <a:cs typeface="Georgia"/>
              </a:rPr>
              <a:t>Ca</a:t>
            </a:r>
            <a:r>
              <a:rPr dirty="0" baseline="37037" sz="900" spc="44">
                <a:latin typeface="Times New Roman"/>
                <a:cs typeface="Times New Roman"/>
              </a:rPr>
              <a:t>2+</a:t>
            </a:r>
            <a:r>
              <a:rPr dirty="0" baseline="37037" sz="900" spc="9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无法直接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20">
                <a:latin typeface="Georgia"/>
                <a:cs typeface="Georgia"/>
              </a:rPr>
              <a:t>KMnO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9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然</a:t>
            </a:r>
            <a:r>
              <a:rPr dirty="0" sz="1200" spc="-80">
                <a:latin typeface="Arial Unicode MS"/>
                <a:cs typeface="Arial Unicode MS"/>
              </a:rPr>
              <a:t>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由</a:t>
            </a:r>
            <a:r>
              <a:rPr dirty="0" sz="1200" spc="175">
                <a:latin typeface="Arial Unicode MS"/>
                <a:cs typeface="Arial Unicode MS"/>
              </a:rPr>
              <a:t>于</a:t>
            </a:r>
            <a:r>
              <a:rPr dirty="0" sz="1100" spc="85">
                <a:latin typeface="Georgia"/>
                <a:cs typeface="Georgia"/>
              </a:rPr>
              <a:t>Ca</a:t>
            </a:r>
            <a:r>
              <a:rPr dirty="0" baseline="37037" sz="900" spc="127">
                <a:latin typeface="Times New Roman"/>
                <a:cs typeface="Times New Roman"/>
              </a:rPr>
              <a:t>2+</a:t>
            </a:r>
            <a:r>
              <a:rPr dirty="0" baseline="37037" sz="900" spc="9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可以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被</a:t>
            </a:r>
            <a:r>
              <a:rPr dirty="0" sz="1100" spc="50">
                <a:latin typeface="Georgia"/>
                <a:cs typeface="Georgia"/>
              </a:rPr>
              <a:t>H</a:t>
            </a:r>
            <a:r>
              <a:rPr dirty="0" baseline="-13888" sz="900" spc="75">
                <a:latin typeface="Times New Roman"/>
                <a:cs typeface="Times New Roman"/>
              </a:rPr>
              <a:t>2</a:t>
            </a:r>
            <a:r>
              <a:rPr dirty="0" sz="1100" spc="50">
                <a:latin typeface="Georgia"/>
                <a:cs typeface="Georgia"/>
              </a:rPr>
              <a:t>C</a:t>
            </a:r>
            <a:r>
              <a:rPr dirty="0" baseline="-13888" sz="900" spc="75">
                <a:latin typeface="Times New Roman"/>
                <a:cs typeface="Times New Roman"/>
              </a:rPr>
              <a:t>2</a:t>
            </a:r>
            <a:r>
              <a:rPr dirty="0" sz="1100" spc="50">
                <a:latin typeface="Georgia"/>
                <a:cs typeface="Georgia"/>
              </a:rPr>
              <a:t>O</a:t>
            </a:r>
            <a:r>
              <a:rPr dirty="0" baseline="-13888" sz="900" spc="75">
                <a:latin typeface="Times New Roman"/>
                <a:cs typeface="Times New Roman"/>
              </a:rPr>
              <a:t>4 </a:t>
            </a:r>
            <a:r>
              <a:rPr dirty="0" sz="1200" spc="-5">
                <a:latin typeface="Arial Unicode MS"/>
                <a:cs typeface="Arial Unicode MS"/>
              </a:rPr>
              <a:t>定量沉淀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55">
                <a:latin typeface="Georgia"/>
                <a:cs typeface="Georgia"/>
              </a:rPr>
              <a:t>CaC</a:t>
            </a:r>
            <a:r>
              <a:rPr dirty="0" baseline="-13888" sz="900" spc="82">
                <a:latin typeface="Times New Roman"/>
                <a:cs typeface="Times New Roman"/>
              </a:rPr>
              <a:t>2</a:t>
            </a:r>
            <a:r>
              <a:rPr dirty="0" sz="1100" spc="55">
                <a:latin typeface="Georgia"/>
                <a:cs typeface="Georgia"/>
              </a:rPr>
              <a:t>O</a:t>
            </a:r>
            <a:r>
              <a:rPr dirty="0" baseline="-13888" sz="900" spc="82">
                <a:latin typeface="Times New Roman"/>
                <a:cs typeface="Times New Roman"/>
              </a:rPr>
              <a:t>4 </a:t>
            </a:r>
            <a:r>
              <a:rPr dirty="0" sz="1200" spc="-5">
                <a:latin typeface="Arial Unicode MS"/>
                <a:cs typeface="Arial Unicode MS"/>
              </a:rPr>
              <a:t>沉</a:t>
            </a:r>
            <a:r>
              <a:rPr dirty="0" sz="1200" spc="-80">
                <a:latin typeface="Arial Unicode MS"/>
                <a:cs typeface="Arial Unicode MS"/>
              </a:rPr>
              <a:t>淀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此沉淀用酸溶解后可生成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0115" y="1999259"/>
            <a:ext cx="10312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8525" algn="l"/>
              </a:tabLst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6042" y="208379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5565" y="2070316"/>
            <a:ext cx="10725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1282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54349" y="207031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14827" y="208379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89427" y="1923351"/>
            <a:ext cx="37719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145">
                <a:latin typeface="Times New Roman"/>
                <a:cs typeface="Times New Roman"/>
              </a:rPr>
              <a:t>2</a:t>
            </a:r>
            <a:r>
              <a:rPr dirty="0" sz="600" spc="145" i="1">
                <a:latin typeface="Arial"/>
                <a:cs typeface="Arial"/>
              </a:rPr>
              <a:t>−</a:t>
            </a:r>
            <a:r>
              <a:rPr dirty="0" sz="600" spc="15" i="1">
                <a:latin typeface="Arial"/>
                <a:cs typeface="Arial"/>
              </a:rPr>
              <a:t> </a:t>
            </a:r>
            <a:r>
              <a:rPr dirty="0" baseline="-18518" sz="1800" spc="-7">
                <a:latin typeface="Arial Unicode MS"/>
                <a:cs typeface="Arial Unicode MS"/>
              </a:rPr>
              <a:t>就</a:t>
            </a:r>
            <a:endParaRPr baseline="-18518" sz="18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844" y="1973630"/>
            <a:ext cx="427482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3555" algn="l"/>
                <a:tab pos="3502025" algn="l"/>
              </a:tabLst>
            </a:pP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35">
                <a:latin typeface="Georgia"/>
                <a:cs typeface="Georgia"/>
              </a:rPr>
              <a:t>Ca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200" spc="-5">
                <a:latin typeface="Arial Unicode MS"/>
                <a:cs typeface="Arial Unicode MS"/>
              </a:rPr>
              <a:t>等量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80">
                <a:latin typeface="Georgia"/>
                <a:cs typeface="Georgia"/>
              </a:rPr>
              <a:t>C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>
                <a:latin typeface="Georgia"/>
                <a:cs typeface="Georgia"/>
              </a:rPr>
              <a:t>  </a:t>
            </a:r>
            <a:r>
              <a:rPr dirty="0" sz="1100" spc="120">
                <a:latin typeface="Georgia"/>
                <a:cs typeface="Georgia"/>
              </a:rPr>
              <a:t> 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5">
                <a:latin typeface="Georgia"/>
                <a:cs typeface="Georgia"/>
              </a:rPr>
              <a:t>KM</a:t>
            </a:r>
            <a:r>
              <a:rPr dirty="0" sz="1100">
                <a:latin typeface="Georgia"/>
                <a:cs typeface="Georgia"/>
              </a:rPr>
              <a:t>n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滴定生成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80">
                <a:latin typeface="Georgia"/>
                <a:cs typeface="Georgia"/>
              </a:rPr>
              <a:t>C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200" spc="-5">
                <a:latin typeface="Arial Unicode MS"/>
                <a:cs typeface="Arial Unicode MS"/>
              </a:rPr>
              <a:t>可间接地测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444" y="2197328"/>
            <a:ext cx="117348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85">
                <a:latin typeface="Georgia"/>
                <a:cs typeface="Georgia"/>
              </a:rPr>
              <a:t>Ca</a:t>
            </a:r>
            <a:r>
              <a:rPr dirty="0" baseline="37037" sz="900" spc="127">
                <a:latin typeface="Times New Roman"/>
                <a:cs typeface="Times New Roman"/>
              </a:rPr>
              <a:t>2+</a:t>
            </a:r>
            <a:r>
              <a:rPr dirty="0" baseline="37037" sz="900" spc="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的含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23139"/>
            <a:ext cx="1991995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25">
                <a:solidFill>
                  <a:srgbClr val="FFFFFF"/>
                </a:solidFill>
                <a:latin typeface="Gill Sans MT"/>
                <a:cs typeface="Gill Sans MT"/>
              </a:rPr>
              <a:t>2.2</a:t>
            </a:r>
            <a:r>
              <a:rPr dirty="0" sz="1400" spc="8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化学反应计量关系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4599" y="1608416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008238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91553" y="1459039"/>
            <a:ext cx="835660" cy="6686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600" spc="-10">
                <a:latin typeface="Arial Unicode MS"/>
                <a:cs typeface="Arial Unicode MS"/>
              </a:rPr>
              <a:t>计量关系</a:t>
            </a:r>
            <a:endParaRPr sz="16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1600" spc="-10">
                <a:latin typeface="Arial Unicode MS"/>
                <a:cs typeface="Arial Unicode MS"/>
              </a:rPr>
              <a:t>质量守恒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90170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5">
                <a:solidFill>
                  <a:srgbClr val="FFFFFF"/>
                </a:solidFill>
                <a:latin typeface="Georgia"/>
                <a:cs typeface="Georgia"/>
              </a:rPr>
              <a:t>2.1.1</a:t>
            </a:r>
            <a:r>
              <a:rPr dirty="0" sz="1000" spc="9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计量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关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系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723493"/>
            <a:ext cx="214058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下式为碘量法的关键反应步</a:t>
            </a:r>
            <a:r>
              <a:rPr dirty="0" sz="1200" spc="-90">
                <a:latin typeface="Arial Unicode MS"/>
                <a:cs typeface="Arial Unicode MS"/>
              </a:rPr>
              <a:t>骤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744" y="1099654"/>
            <a:ext cx="4432935" cy="1228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05865">
              <a:lnSpc>
                <a:spcPct val="100000"/>
              </a:lnSpc>
              <a:spcBef>
                <a:spcPts val="90"/>
              </a:spcBef>
            </a:pP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20">
                <a:latin typeface="Georgia"/>
                <a:cs typeface="Georgia"/>
              </a:rPr>
              <a:t>2Na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O</a:t>
            </a:r>
            <a:r>
              <a:rPr dirty="0" baseline="-13888" sz="900" spc="30">
                <a:latin typeface="Times New Roman"/>
                <a:cs typeface="Times New Roman"/>
              </a:rPr>
              <a:t>3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35">
                <a:latin typeface="Georgia"/>
                <a:cs typeface="Georgia"/>
              </a:rPr>
              <a:t>Na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S</a:t>
            </a:r>
            <a:r>
              <a:rPr dirty="0" baseline="-13888" sz="900" spc="52">
                <a:latin typeface="Times New Roman"/>
                <a:cs typeface="Times New Roman"/>
              </a:rPr>
              <a:t>4</a:t>
            </a:r>
            <a:r>
              <a:rPr dirty="0" sz="1100" spc="35">
                <a:latin typeface="Georgia"/>
                <a:cs typeface="Georgia"/>
              </a:rPr>
              <a:t>O</a:t>
            </a:r>
            <a:r>
              <a:rPr dirty="0" baseline="-13888" sz="900" spc="52">
                <a:latin typeface="Times New Roman"/>
                <a:cs typeface="Times New Roman"/>
              </a:rPr>
              <a:t>6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65">
                <a:latin typeface="Georgia"/>
                <a:cs typeface="Georgia"/>
              </a:rPr>
              <a:t> </a:t>
            </a:r>
            <a:r>
              <a:rPr dirty="0" sz="1100" spc="-35">
                <a:latin typeface="Georgia"/>
                <a:cs typeface="Georgia"/>
              </a:rPr>
              <a:t>2NaI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Georgia"/>
              <a:cs typeface="Georgia"/>
            </a:endParaRPr>
          </a:p>
          <a:p>
            <a:pPr marL="354330">
              <a:lnSpc>
                <a:spcPct val="100000"/>
              </a:lnSpc>
            </a:pPr>
            <a:r>
              <a:rPr dirty="0" sz="1200" spc="-10">
                <a:latin typeface="Arial Unicode MS"/>
                <a:cs typeface="Arial Unicode MS"/>
              </a:rPr>
              <a:t>在这一步反应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各反应物之间存在确定的计量关</a:t>
            </a:r>
            <a:r>
              <a:rPr dirty="0" sz="1200" spc="-80">
                <a:latin typeface="Arial Unicode MS"/>
                <a:cs typeface="Arial Unicode MS"/>
              </a:rPr>
              <a:t>系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构成</a:t>
            </a:r>
            <a:r>
              <a:rPr dirty="0" sz="1200" spc="-5">
                <a:latin typeface="Arial Unicode MS"/>
                <a:cs typeface="Arial Unicode MS"/>
              </a:rPr>
              <a:t>了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定量分析的基</a:t>
            </a:r>
            <a:r>
              <a:rPr dirty="0" sz="1200" spc="-20">
                <a:latin typeface="Arial Unicode MS"/>
                <a:cs typeface="Arial Unicode MS"/>
              </a:rPr>
              <a:t>础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543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在实际的定量分析过程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我们通过采用已知量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35">
                <a:latin typeface="Georgia"/>
                <a:cs typeface="Georgia"/>
              </a:rPr>
              <a:t>Na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S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O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与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样品中产生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作</a:t>
            </a:r>
            <a:r>
              <a:rPr dirty="0" sz="1200" spc="-80">
                <a:latin typeface="Arial Unicode MS"/>
                <a:cs typeface="Arial Unicode MS"/>
              </a:rPr>
              <a:t>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根</a:t>
            </a:r>
            <a:r>
              <a:rPr dirty="0" sz="1200" spc="-90">
                <a:latin typeface="Arial Unicode MS"/>
                <a:cs typeface="Arial Unicode MS"/>
              </a:rPr>
              <a:t>据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7704" y="2402763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70404" y="2613101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 h="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04101" y="2496502"/>
            <a:ext cx="3367404" cy="5575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172210">
              <a:lnSpc>
                <a:spcPct val="100000"/>
              </a:lnSpc>
              <a:spcBef>
                <a:spcPts val="90"/>
              </a:spcBef>
            </a:pPr>
            <a:r>
              <a:rPr dirty="0" sz="1100" spc="35" i="1">
                <a:latin typeface="Calibri"/>
                <a:cs typeface="Calibri"/>
              </a:rPr>
              <a:t>n</a:t>
            </a:r>
            <a:r>
              <a:rPr dirty="0" sz="1100" spc="35">
                <a:latin typeface="Georgia"/>
                <a:cs typeface="Georgia"/>
              </a:rPr>
              <a:t>(I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-37878" sz="1650" spc="-104">
                <a:latin typeface="Georgia"/>
                <a:cs typeface="Georgia"/>
              </a:rPr>
              <a:t>2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40">
                <a:latin typeface="Lucida Sans Unicode"/>
                <a:cs typeface="Lucida Sans Unicode"/>
              </a:rPr>
              <a:t> </a:t>
            </a:r>
            <a:r>
              <a:rPr dirty="0" sz="1100" spc="40" i="1">
                <a:latin typeface="Calibri"/>
                <a:cs typeface="Calibri"/>
              </a:rPr>
              <a:t>n</a:t>
            </a:r>
            <a:r>
              <a:rPr dirty="0" sz="1100" spc="40">
                <a:latin typeface="Georgia"/>
                <a:cs typeface="Georgia"/>
              </a:rPr>
              <a:t>(Na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S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O</a:t>
            </a:r>
            <a:r>
              <a:rPr dirty="0" baseline="-13888" sz="900" spc="60">
                <a:latin typeface="Times New Roman"/>
                <a:cs typeface="Times New Roman"/>
              </a:rPr>
              <a:t>3</a:t>
            </a:r>
            <a:r>
              <a:rPr dirty="0" sz="1100" spc="4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1435"/>
              </a:spcBef>
            </a:pPr>
            <a:r>
              <a:rPr dirty="0" sz="1200" spc="-5">
                <a:latin typeface="Arial Unicode MS"/>
                <a:cs typeface="Arial Unicode MS"/>
              </a:rPr>
              <a:t>可以根</a:t>
            </a:r>
            <a:r>
              <a:rPr dirty="0" sz="1200" spc="175">
                <a:latin typeface="Arial Unicode MS"/>
                <a:cs typeface="Arial Unicode MS"/>
              </a:rPr>
              <a:t>据</a:t>
            </a:r>
            <a:r>
              <a:rPr dirty="0" sz="1100" spc="35">
                <a:latin typeface="Georgia"/>
                <a:cs typeface="Georgia"/>
              </a:rPr>
              <a:t>Na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S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O</a:t>
            </a:r>
            <a:r>
              <a:rPr dirty="0" baseline="-13888" sz="900" spc="52">
                <a:latin typeface="Times New Roman"/>
                <a:cs typeface="Times New Roman"/>
              </a:rPr>
              <a:t>3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的摩尔数计算样品</a:t>
            </a:r>
            <a:r>
              <a:rPr dirty="0" sz="1200" spc="175">
                <a:latin typeface="Arial Unicode MS"/>
                <a:cs typeface="Arial Unicode MS"/>
              </a:rPr>
              <a:t>中</a:t>
            </a:r>
            <a:r>
              <a:rPr dirty="0" sz="1100" spc="15">
                <a:latin typeface="Georgia"/>
                <a:cs typeface="Georgia"/>
              </a:rPr>
              <a:t>I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的含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90170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Georgia"/>
                <a:cs typeface="Georgia"/>
              </a:rPr>
              <a:t>2.1.2</a:t>
            </a:r>
            <a:r>
              <a:rPr dirty="0" sz="1000" spc="114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质量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守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恒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4599" y="913777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1399133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91553" y="773506"/>
            <a:ext cx="4090670" cy="125793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在化学反应过程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某一元素的原子在反应前后所处的形态</a:t>
            </a:r>
            <a:r>
              <a:rPr dirty="0" sz="1200" spc="-5">
                <a:latin typeface="Arial Unicode MS"/>
                <a:cs typeface="Arial Unicode MS"/>
              </a:rPr>
              <a:t>有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可能不</a:t>
            </a:r>
            <a:r>
              <a:rPr dirty="0" sz="1200" spc="-80">
                <a:latin typeface="Arial Unicode MS"/>
                <a:cs typeface="Arial Unicode MS"/>
              </a:rPr>
              <a:t>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但原子的总数不</a:t>
            </a:r>
            <a:r>
              <a:rPr dirty="0" sz="1200" spc="-20">
                <a:latin typeface="Arial Unicode MS"/>
                <a:cs typeface="Arial Unicode MS"/>
              </a:rPr>
              <a:t>变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化学反应中的某些原</a:t>
            </a:r>
            <a:r>
              <a:rPr dirty="0" sz="1200" spc="-260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（或原子</a:t>
            </a:r>
            <a:r>
              <a:rPr dirty="0" sz="1200" spc="30">
                <a:latin typeface="Arial Unicode MS"/>
                <a:cs typeface="Arial Unicode MS"/>
              </a:rPr>
              <a:t>团</a:t>
            </a:r>
            <a:r>
              <a:rPr dirty="0" sz="1200" spc="-450">
                <a:latin typeface="Arial Unicode MS"/>
                <a:cs typeface="Arial Unicode MS"/>
              </a:rPr>
              <a:t>），</a:t>
            </a:r>
            <a:r>
              <a:rPr dirty="0" sz="1200" spc="-5">
                <a:latin typeface="Arial Unicode MS"/>
                <a:cs typeface="Arial Unicode MS"/>
              </a:rPr>
              <a:t>可以作为化学反应基本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单</a:t>
            </a:r>
            <a:r>
              <a:rPr dirty="0" sz="1200" spc="-80">
                <a:latin typeface="Arial Unicode MS"/>
                <a:cs typeface="Arial Unicode MS"/>
              </a:rPr>
              <a:t>元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用于计算反应过程中物质的量之间的关</a:t>
            </a:r>
            <a:r>
              <a:rPr dirty="0" sz="1200" spc="-20">
                <a:latin typeface="Arial Unicode MS"/>
                <a:cs typeface="Arial Unicode MS"/>
              </a:rPr>
              <a:t>系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50165">
              <a:lnSpc>
                <a:spcPct val="100000"/>
              </a:lnSpc>
              <a:spcBef>
                <a:spcPts val="920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90">
                <a:latin typeface="Arial Unicode MS"/>
                <a:cs typeface="Arial Unicode MS"/>
              </a:rPr>
              <a:t>如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8015" y="2514647"/>
            <a:ext cx="110658" cy="1106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7446" y="249949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8015" y="2787951"/>
            <a:ext cx="110658" cy="1106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47446" y="277279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6153" y="2060651"/>
            <a:ext cx="3726815" cy="8578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047750">
              <a:lnSpc>
                <a:spcPct val="100000"/>
              </a:lnSpc>
              <a:spcBef>
                <a:spcPts val="90"/>
              </a:spcBef>
              <a:tabLst>
                <a:tab pos="1863725" algn="l"/>
                <a:tab pos="2132965" algn="l"/>
              </a:tabLst>
            </a:pPr>
            <a:r>
              <a:rPr dirty="0" sz="1100" spc="45">
                <a:latin typeface="Georgia"/>
                <a:cs typeface="Georgia"/>
              </a:rPr>
              <a:t>C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sz="1100" spc="45">
                <a:latin typeface="Georgia"/>
                <a:cs typeface="Georgia"/>
              </a:rPr>
              <a:t>H</a:t>
            </a:r>
            <a:r>
              <a:rPr dirty="0" baseline="-13888" sz="900" spc="67">
                <a:latin typeface="Times New Roman"/>
                <a:cs typeface="Times New Roman"/>
              </a:rPr>
              <a:t>10</a:t>
            </a:r>
            <a:r>
              <a:rPr dirty="0" baseline="-13888" sz="900" spc="209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O</a:t>
            </a:r>
            <a:r>
              <a:rPr dirty="0" baseline="-13888" sz="900" spc="67">
                <a:latin typeface="Times New Roman"/>
                <a:cs typeface="Times New Roman"/>
              </a:rPr>
              <a:t>2	</a:t>
            </a:r>
            <a:r>
              <a:rPr dirty="0" sz="1100" spc="55">
                <a:latin typeface="Lucida Sans Unicode"/>
                <a:cs typeface="Lucida Sans Unicode"/>
              </a:rPr>
              <a:t>→	</a:t>
            </a:r>
            <a:r>
              <a:rPr dirty="0" sz="1100" spc="55">
                <a:latin typeface="Georgia"/>
                <a:cs typeface="Georgia"/>
              </a:rPr>
              <a:t>CO</a:t>
            </a:r>
            <a:r>
              <a:rPr dirty="0" baseline="-13888" sz="900" spc="82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0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1830"/>
              </a:spcBef>
            </a:pPr>
            <a:r>
              <a:rPr dirty="0" sz="1050" spc="-10">
                <a:latin typeface="Arial Unicode MS"/>
                <a:cs typeface="Arial Unicode MS"/>
              </a:rPr>
              <a:t>反</a:t>
            </a:r>
            <a:r>
              <a:rPr dirty="0" sz="1050" spc="-5">
                <a:latin typeface="Arial Unicode MS"/>
                <a:cs typeface="Arial Unicode MS"/>
              </a:rPr>
              <a:t>应</a:t>
            </a:r>
            <a:r>
              <a:rPr dirty="0" sz="1050" spc="160">
                <a:latin typeface="Arial Unicode MS"/>
                <a:cs typeface="Arial Unicode MS"/>
              </a:rPr>
              <a:t>物</a:t>
            </a:r>
            <a:r>
              <a:rPr dirty="0" sz="1000" spc="10">
                <a:latin typeface="Georgia"/>
                <a:cs typeface="Georgia"/>
              </a:rPr>
              <a:t>C</a:t>
            </a:r>
            <a:r>
              <a:rPr dirty="0" baseline="-11904" sz="1050" spc="15">
                <a:latin typeface="Bauhaus 93"/>
                <a:cs typeface="Bauhaus 93"/>
              </a:rPr>
              <a:t>4</a:t>
            </a:r>
            <a:r>
              <a:rPr dirty="0" sz="1000" spc="10">
                <a:latin typeface="Georgia"/>
                <a:cs typeface="Georgia"/>
              </a:rPr>
              <a:t>H</a:t>
            </a:r>
            <a:r>
              <a:rPr dirty="0" baseline="-11904" sz="1050" spc="15">
                <a:latin typeface="Bauhaus 93"/>
                <a:cs typeface="Bauhaus 93"/>
              </a:rPr>
              <a:t>10</a:t>
            </a:r>
            <a:r>
              <a:rPr dirty="0" baseline="-11904" sz="1050" spc="44">
                <a:latin typeface="Bauhaus 93"/>
                <a:cs typeface="Bauhaus 93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</a:t>
            </a:r>
            <a:r>
              <a:rPr dirty="0" sz="1050" spc="-10">
                <a:latin typeface="Arial Unicode MS"/>
                <a:cs typeface="Arial Unicode MS"/>
              </a:rPr>
              <a:t>碳</a:t>
            </a:r>
            <a:r>
              <a:rPr dirty="0" sz="1050" spc="-5">
                <a:latin typeface="Arial Unicode MS"/>
                <a:cs typeface="Arial Unicode MS"/>
              </a:rPr>
              <a:t>原子和</a:t>
            </a:r>
            <a:r>
              <a:rPr dirty="0" sz="1050" spc="-10">
                <a:latin typeface="Arial Unicode MS"/>
                <a:cs typeface="Arial Unicode MS"/>
              </a:rPr>
              <a:t>氢</a:t>
            </a:r>
            <a:r>
              <a:rPr dirty="0" sz="1050" spc="-5">
                <a:latin typeface="Arial Unicode MS"/>
                <a:cs typeface="Arial Unicode MS"/>
              </a:rPr>
              <a:t>原子分别</a:t>
            </a:r>
            <a:r>
              <a:rPr dirty="0" sz="1050" spc="-10">
                <a:latin typeface="Arial Unicode MS"/>
                <a:cs typeface="Arial Unicode MS"/>
              </a:rPr>
              <a:t>全</a:t>
            </a:r>
            <a:r>
              <a:rPr dirty="0" sz="1050" spc="-5">
                <a:latin typeface="Arial Unicode MS"/>
                <a:cs typeface="Arial Unicode MS"/>
              </a:rPr>
              <a:t>部转化</a:t>
            </a:r>
            <a:r>
              <a:rPr dirty="0" sz="1050" spc="160">
                <a:latin typeface="Arial Unicode MS"/>
                <a:cs typeface="Arial Unicode MS"/>
              </a:rPr>
              <a:t>为</a:t>
            </a:r>
            <a:r>
              <a:rPr dirty="0" sz="1000" spc="30">
                <a:latin typeface="Georgia"/>
                <a:cs typeface="Georgia"/>
              </a:rPr>
              <a:t>CO</a:t>
            </a:r>
            <a:r>
              <a:rPr dirty="0" baseline="-11904" sz="1050" spc="44">
                <a:latin typeface="Bauhaus 93"/>
                <a:cs typeface="Bauhaus 93"/>
              </a:rPr>
              <a:t>2 </a:t>
            </a:r>
            <a:r>
              <a:rPr dirty="0" sz="1050" spc="160">
                <a:latin typeface="Arial Unicode MS"/>
                <a:cs typeface="Arial Unicode MS"/>
              </a:rPr>
              <a:t>和</a:t>
            </a:r>
            <a:r>
              <a:rPr dirty="0" sz="1000">
                <a:latin typeface="Georgia"/>
                <a:cs typeface="Georgia"/>
              </a:rPr>
              <a:t>H</a:t>
            </a:r>
            <a:r>
              <a:rPr dirty="0" baseline="-11904" sz="1050">
                <a:latin typeface="Bauhaus 93"/>
                <a:cs typeface="Bauhaus 93"/>
              </a:rPr>
              <a:t>2</a:t>
            </a:r>
            <a:r>
              <a:rPr dirty="0" sz="1000">
                <a:latin typeface="Georgia"/>
                <a:cs typeface="Georgia"/>
              </a:rPr>
              <a:t>O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890"/>
              </a:spcBef>
            </a:pPr>
            <a:r>
              <a:rPr dirty="0" sz="1050" spc="-10">
                <a:latin typeface="Arial Unicode MS"/>
                <a:cs typeface="Arial Unicode MS"/>
              </a:rPr>
              <a:t>碳</a:t>
            </a:r>
            <a:r>
              <a:rPr dirty="0" sz="1050" spc="-5">
                <a:latin typeface="Arial Unicode MS"/>
                <a:cs typeface="Arial Unicode MS"/>
              </a:rPr>
              <a:t>原子和氢</a:t>
            </a:r>
            <a:r>
              <a:rPr dirty="0" sz="1050" spc="-10">
                <a:latin typeface="Arial Unicode MS"/>
                <a:cs typeface="Arial Unicode MS"/>
              </a:rPr>
              <a:t>原</a:t>
            </a:r>
            <a:r>
              <a:rPr dirty="0" sz="1050" spc="-5">
                <a:latin typeface="Arial Unicode MS"/>
                <a:cs typeface="Arial Unicode MS"/>
              </a:rPr>
              <a:t>子可以</a:t>
            </a:r>
            <a:r>
              <a:rPr dirty="0" sz="1050" spc="-10">
                <a:latin typeface="Arial Unicode MS"/>
                <a:cs typeface="Arial Unicode MS"/>
              </a:rPr>
              <a:t>作</a:t>
            </a:r>
            <a:r>
              <a:rPr dirty="0" sz="1050" spc="-5">
                <a:latin typeface="Arial Unicode MS"/>
                <a:cs typeface="Arial Unicode MS"/>
              </a:rPr>
              <a:t>为化学反</a:t>
            </a:r>
            <a:r>
              <a:rPr dirty="0" sz="1050" spc="-10">
                <a:latin typeface="Arial Unicode MS"/>
                <a:cs typeface="Arial Unicode MS"/>
              </a:rPr>
              <a:t>应</a:t>
            </a:r>
            <a:r>
              <a:rPr dirty="0" sz="1050" spc="-5">
                <a:latin typeface="Arial Unicode MS"/>
                <a:cs typeface="Arial Unicode MS"/>
              </a:rPr>
              <a:t>基本单</a:t>
            </a:r>
            <a:r>
              <a:rPr dirty="0" sz="1050" spc="-20">
                <a:latin typeface="Arial Unicode MS"/>
                <a:cs typeface="Arial Unicode MS"/>
              </a:rPr>
              <a:t>元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599998"/>
            <a:ext cx="150177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根据质量守</a:t>
            </a:r>
            <a:r>
              <a:rPr dirty="0" sz="1200" spc="-80">
                <a:latin typeface="Arial Unicode MS"/>
                <a:cs typeface="Arial Unicode MS"/>
              </a:rPr>
              <a:t>恒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99286" y="976160"/>
            <a:ext cx="1809750" cy="554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90"/>
              </a:spcBef>
            </a:pPr>
            <a:r>
              <a:rPr dirty="0" sz="1100" spc="-80">
                <a:latin typeface="Georgia"/>
                <a:cs typeface="Georgia"/>
              </a:rPr>
              <a:t>4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50" i="1">
                <a:latin typeface="Calibri"/>
                <a:cs typeface="Calibri"/>
              </a:rPr>
              <a:t>n</a:t>
            </a:r>
            <a:r>
              <a:rPr dirty="0" sz="1100" spc="50">
                <a:latin typeface="Georgia"/>
                <a:cs typeface="Georgia"/>
              </a:rPr>
              <a:t>(C</a:t>
            </a:r>
            <a:r>
              <a:rPr dirty="0" baseline="-13888" sz="900" spc="75">
                <a:latin typeface="Times New Roman"/>
                <a:cs typeface="Times New Roman"/>
              </a:rPr>
              <a:t>4</a:t>
            </a:r>
            <a:r>
              <a:rPr dirty="0" sz="1100" spc="50">
                <a:latin typeface="Georgia"/>
                <a:cs typeface="Georgia"/>
              </a:rPr>
              <a:t>H</a:t>
            </a:r>
            <a:r>
              <a:rPr dirty="0" baseline="-13888" sz="900" spc="75">
                <a:latin typeface="Times New Roman"/>
                <a:cs typeface="Times New Roman"/>
              </a:rPr>
              <a:t>10</a:t>
            </a:r>
            <a:r>
              <a:rPr dirty="0" sz="1100" spc="50">
                <a:latin typeface="Georgia"/>
                <a:cs typeface="Georgia"/>
              </a:rPr>
              <a:t>)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55" i="1">
                <a:latin typeface="Calibri"/>
                <a:cs typeface="Calibri"/>
              </a:rPr>
              <a:t>n</a:t>
            </a:r>
            <a:r>
              <a:rPr dirty="0" sz="1100" spc="55">
                <a:latin typeface="Georgia"/>
                <a:cs typeface="Georgia"/>
              </a:rPr>
              <a:t>(CO</a:t>
            </a:r>
            <a:r>
              <a:rPr dirty="0" baseline="-13888" sz="900" spc="82">
                <a:latin typeface="Times New Roman"/>
                <a:cs typeface="Times New Roman"/>
              </a:rPr>
              <a:t>2</a:t>
            </a:r>
            <a:r>
              <a:rPr dirty="0" sz="1100" spc="55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1535"/>
              </a:spcBef>
            </a:pPr>
            <a:r>
              <a:rPr dirty="0" sz="1100" spc="-30">
                <a:latin typeface="Georgia"/>
                <a:cs typeface="Georgia"/>
              </a:rPr>
              <a:t>10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50" i="1">
                <a:latin typeface="Calibri"/>
                <a:cs typeface="Calibri"/>
              </a:rPr>
              <a:t>n</a:t>
            </a:r>
            <a:r>
              <a:rPr dirty="0" sz="1100" spc="50">
                <a:latin typeface="Georgia"/>
                <a:cs typeface="Georgia"/>
              </a:rPr>
              <a:t>(C</a:t>
            </a:r>
            <a:r>
              <a:rPr dirty="0" baseline="-13888" sz="900" spc="75">
                <a:latin typeface="Times New Roman"/>
                <a:cs typeface="Times New Roman"/>
              </a:rPr>
              <a:t>4</a:t>
            </a:r>
            <a:r>
              <a:rPr dirty="0" sz="1100" spc="50">
                <a:latin typeface="Georgia"/>
                <a:cs typeface="Georgia"/>
              </a:rPr>
              <a:t>H</a:t>
            </a:r>
            <a:r>
              <a:rPr dirty="0" baseline="-13888" sz="900" spc="75">
                <a:latin typeface="Times New Roman"/>
                <a:cs typeface="Times New Roman"/>
              </a:rPr>
              <a:t>10</a:t>
            </a:r>
            <a:r>
              <a:rPr dirty="0" sz="1100" spc="5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55">
                <a:latin typeface="Georgia"/>
                <a:cs typeface="Georgia"/>
              </a:rPr>
              <a:t> </a:t>
            </a:r>
            <a:r>
              <a:rPr dirty="0" sz="1100" spc="-70">
                <a:latin typeface="Georgia"/>
                <a:cs typeface="Georgia"/>
              </a:rPr>
              <a:t>2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25" i="1">
                <a:latin typeface="Calibri"/>
                <a:cs typeface="Calibri"/>
              </a:rPr>
              <a:t>n</a:t>
            </a:r>
            <a:r>
              <a:rPr dirty="0" sz="1100" spc="25">
                <a:latin typeface="Georgia"/>
                <a:cs typeface="Georgia"/>
              </a:rPr>
              <a:t>(H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O)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743" y="1985517"/>
            <a:ext cx="4432935" cy="200660"/>
          </a:xfrm>
          <a:custGeom>
            <a:avLst/>
            <a:gdLst/>
            <a:ahLst/>
            <a:cxnLst/>
            <a:rect l="l" t="t" r="r" b="b"/>
            <a:pathLst>
              <a:path w="4432935" h="20066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54"/>
                </a:lnTo>
                <a:lnTo>
                  <a:pt x="4432566" y="20005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7744" y="2172919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8544" y="2386444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9344" y="2373744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2029752"/>
            <a:ext cx="50749" cy="3566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7743" y="2217198"/>
            <a:ext cx="4432935" cy="220345"/>
          </a:xfrm>
          <a:custGeom>
            <a:avLst/>
            <a:gdLst/>
            <a:ahLst/>
            <a:cxnLst/>
            <a:rect l="l" t="t" r="r" b="b"/>
            <a:pathLst>
              <a:path w="4432935" h="220344">
                <a:moveTo>
                  <a:pt x="4432566" y="0"/>
                </a:moveTo>
                <a:lnTo>
                  <a:pt x="0" y="0"/>
                </a:lnTo>
                <a:lnTo>
                  <a:pt x="0" y="169245"/>
                </a:lnTo>
                <a:lnTo>
                  <a:pt x="4008" y="188970"/>
                </a:lnTo>
                <a:lnTo>
                  <a:pt x="14922" y="205123"/>
                </a:lnTo>
                <a:lnTo>
                  <a:pt x="31075" y="216037"/>
                </a:lnTo>
                <a:lnTo>
                  <a:pt x="50800" y="220046"/>
                </a:lnTo>
                <a:lnTo>
                  <a:pt x="4381765" y="220046"/>
                </a:lnTo>
                <a:lnTo>
                  <a:pt x="4401490" y="216037"/>
                </a:lnTo>
                <a:lnTo>
                  <a:pt x="4417643" y="205123"/>
                </a:lnTo>
                <a:lnTo>
                  <a:pt x="4428558" y="188970"/>
                </a:lnTo>
                <a:lnTo>
                  <a:pt x="4432566" y="169245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2067849"/>
            <a:ext cx="0" cy="337820"/>
          </a:xfrm>
          <a:custGeom>
            <a:avLst/>
            <a:gdLst/>
            <a:ahLst/>
            <a:cxnLst/>
            <a:rect l="l" t="t" r="r" b="b"/>
            <a:pathLst>
              <a:path w="0" h="337819">
                <a:moveTo>
                  <a:pt x="0" y="33764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205514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20310" y="204244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20310" y="202974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7744" y="1919719"/>
            <a:ext cx="4231005" cy="48768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475"/>
              </a:spcBef>
            </a:pPr>
            <a:r>
              <a:rPr dirty="0" sz="1200" spc="-5">
                <a:solidFill>
                  <a:srgbClr val="FFFFFF"/>
                </a:solidFill>
                <a:latin typeface="Arial Unicode MS"/>
                <a:cs typeface="Arial Unicode MS"/>
              </a:rPr>
              <a:t>通俗的理解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80"/>
              </a:spcBef>
            </a:pP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45">
                <a:latin typeface="Georgia"/>
                <a:cs typeface="Georgia"/>
              </a:rPr>
              <a:t>C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sz="1100" spc="45">
                <a:latin typeface="Georgia"/>
                <a:cs typeface="Georgia"/>
              </a:rPr>
              <a:t>H</a:t>
            </a:r>
            <a:r>
              <a:rPr dirty="0" baseline="-13888" sz="900" spc="67">
                <a:latin typeface="Times New Roman"/>
                <a:cs typeface="Times New Roman"/>
              </a:rPr>
              <a:t>10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相当于</a:t>
            </a:r>
            <a:r>
              <a:rPr dirty="0" sz="1200" spc="175">
                <a:latin typeface="Arial Unicode MS"/>
                <a:cs typeface="Arial Unicode MS"/>
              </a:rPr>
              <a:t>把</a:t>
            </a:r>
            <a:r>
              <a:rPr dirty="0" sz="1100" spc="-80">
                <a:latin typeface="Georgia"/>
                <a:cs typeface="Georgia"/>
              </a:rPr>
              <a:t>4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个碳原</a:t>
            </a:r>
            <a:r>
              <a:rPr dirty="0" sz="1200" spc="-305">
                <a:latin typeface="Arial Unicode MS"/>
                <a:cs typeface="Arial Unicode MS"/>
              </a:rPr>
              <a:t>子</a:t>
            </a:r>
            <a:r>
              <a:rPr dirty="0" sz="1200" spc="850">
                <a:latin typeface="Arial Unicode MS"/>
                <a:cs typeface="Arial Unicode MS"/>
              </a:rPr>
              <a:t>“</a:t>
            </a:r>
            <a:r>
              <a:rPr dirty="0" sz="1200" spc="-5">
                <a:latin typeface="Arial Unicode MS"/>
                <a:cs typeface="Arial Unicode MS"/>
              </a:rPr>
              <a:t>压</a:t>
            </a:r>
            <a:r>
              <a:rPr dirty="0" sz="1200" spc="40">
                <a:latin typeface="Arial Unicode MS"/>
                <a:cs typeface="Arial Unicode MS"/>
              </a:rPr>
              <a:t>缩</a:t>
            </a:r>
            <a:r>
              <a:rPr dirty="0" sz="1200" spc="505">
                <a:latin typeface="Arial Unicode MS"/>
                <a:cs typeface="Arial Unicode MS"/>
              </a:rPr>
              <a:t>”</a:t>
            </a:r>
            <a:r>
              <a:rPr dirty="0" sz="1200" spc="175">
                <a:latin typeface="Arial Unicode MS"/>
                <a:cs typeface="Arial Unicode MS"/>
              </a:rPr>
              <a:t>到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个</a:t>
            </a:r>
            <a:r>
              <a:rPr dirty="0" sz="1100" spc="45">
                <a:latin typeface="Georgia"/>
                <a:cs typeface="Georgia"/>
              </a:rPr>
              <a:t>C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sz="1100" spc="45">
                <a:latin typeface="Georgia"/>
                <a:cs typeface="Georgia"/>
              </a:rPr>
              <a:t>H</a:t>
            </a:r>
            <a:r>
              <a:rPr dirty="0" baseline="-13888" sz="900" spc="67">
                <a:latin typeface="Times New Roman"/>
                <a:cs typeface="Times New Roman"/>
              </a:rPr>
              <a:t>10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分子</a:t>
            </a:r>
            <a:r>
              <a:rPr dirty="0" sz="1200" spc="-20">
                <a:latin typeface="Arial Unicode MS"/>
                <a:cs typeface="Arial Unicode MS"/>
              </a:rPr>
              <a:t>中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19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437438"/>
            <a:ext cx="290893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一些原子团也可以作为化学反应基本单</a:t>
            </a:r>
            <a:r>
              <a:rPr dirty="0" sz="1200" spc="-20">
                <a:latin typeface="Arial Unicode MS"/>
                <a:cs typeface="Arial Unicode MS"/>
              </a:rPr>
              <a:t>元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5280" y="1034923"/>
            <a:ext cx="9023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0209" algn="l"/>
                <a:tab pos="842644" algn="l"/>
              </a:tabLst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  </a:t>
            </a:r>
            <a:r>
              <a:rPr dirty="0" sz="600" spc="2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>
                <a:latin typeface="Times New Roman"/>
                <a:cs typeface="Times New Roman"/>
              </a:rPr>
              <a:t>  </a:t>
            </a:r>
            <a:r>
              <a:rPr dirty="0" sz="600" spc="2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513" y="938237"/>
            <a:ext cx="247269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100" spc="-65">
                <a:latin typeface="Georgia"/>
                <a:cs typeface="Georgia"/>
              </a:rPr>
              <a:t>Fe(NH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140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(SO</a:t>
            </a:r>
            <a:r>
              <a:rPr dirty="0" sz="1100" spc="13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10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6H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中的原子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9404" y="963866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9404" y="104839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76651" y="938237"/>
            <a:ext cx="15716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175">
                <a:latin typeface="Arial Unicode MS"/>
                <a:cs typeface="Arial Unicode MS"/>
              </a:rPr>
              <a:t>团</a:t>
            </a:r>
            <a:r>
              <a:rPr dirty="0" sz="1100" spc="-55">
                <a:latin typeface="Georgia"/>
                <a:cs typeface="Georgia"/>
              </a:rPr>
              <a:t>NH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可以作为一个整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44" y="1161935"/>
            <a:ext cx="268414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80">
                <a:latin typeface="Arial Unicode MS"/>
                <a:cs typeface="Arial Unicode MS"/>
              </a:rPr>
              <a:t>体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将其选定为化学反应基本单</a:t>
            </a:r>
            <a:r>
              <a:rPr dirty="0" sz="1200" spc="-80">
                <a:latin typeface="Arial Unicode MS"/>
                <a:cs typeface="Arial Unicode MS"/>
              </a:rPr>
              <a:t>元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则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8099" y="1621498"/>
            <a:ext cx="9023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0209" algn="l"/>
                <a:tab pos="842644" algn="l"/>
              </a:tabLst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  </a:t>
            </a:r>
            <a:r>
              <a:rPr dirty="0" sz="600" spc="2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>
                <a:latin typeface="Times New Roman"/>
                <a:cs typeface="Times New Roman"/>
              </a:rPr>
              <a:t>  </a:t>
            </a:r>
            <a:r>
              <a:rPr dirty="0" sz="600" spc="2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21125" y="1543507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21125" y="163497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0287" y="1538097"/>
            <a:ext cx="27476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15" i="1">
                <a:latin typeface="Calibri"/>
                <a:cs typeface="Calibri"/>
              </a:rPr>
              <a:t>n</a:t>
            </a:r>
            <a:r>
              <a:rPr dirty="0" sz="1100" spc="-15">
                <a:latin typeface="Georgia"/>
                <a:cs typeface="Georgia"/>
              </a:rPr>
              <a:t>(Fe(NH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5">
                <a:latin typeface="Georgia"/>
                <a:cs typeface="Georgia"/>
              </a:rPr>
              <a:t>(SO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6H </a:t>
            </a:r>
            <a:r>
              <a:rPr dirty="0" sz="1100" spc="20">
                <a:latin typeface="Georgia"/>
                <a:cs typeface="Georgia"/>
              </a:rPr>
              <a:t>O)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5" i="1">
                <a:latin typeface="Calibri"/>
                <a:cs typeface="Calibri"/>
              </a:rPr>
              <a:t>n</a:t>
            </a:r>
            <a:r>
              <a:rPr dirty="0" sz="1100" spc="-5">
                <a:latin typeface="Georgia"/>
                <a:cs typeface="Georgia"/>
              </a:rPr>
              <a:t>(NH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437438"/>
            <a:ext cx="290893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一些原子团也可以作为化学反应基本单</a:t>
            </a:r>
            <a:r>
              <a:rPr dirty="0" sz="1200" spc="-20">
                <a:latin typeface="Arial Unicode MS"/>
                <a:cs typeface="Arial Unicode MS"/>
              </a:rPr>
              <a:t>元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5280" y="1034923"/>
            <a:ext cx="9023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0209" algn="l"/>
                <a:tab pos="842644" algn="l"/>
              </a:tabLst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  </a:t>
            </a:r>
            <a:r>
              <a:rPr dirty="0" sz="600" spc="2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>
                <a:latin typeface="Times New Roman"/>
                <a:cs typeface="Times New Roman"/>
              </a:rPr>
              <a:t>  </a:t>
            </a:r>
            <a:r>
              <a:rPr dirty="0" sz="600" spc="2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513" y="938237"/>
            <a:ext cx="247269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65">
                <a:latin typeface="Arial Unicode MS"/>
                <a:cs typeface="Arial Unicode MS"/>
              </a:rPr>
              <a:t>，</a:t>
            </a:r>
            <a:r>
              <a:rPr dirty="0" sz="1100" spc="-65">
                <a:latin typeface="Georgia"/>
                <a:cs typeface="Georgia"/>
              </a:rPr>
              <a:t>Fe(NH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140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(SO</a:t>
            </a:r>
            <a:r>
              <a:rPr dirty="0" sz="1100" spc="13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10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6H</a:t>
            </a:r>
            <a:r>
              <a:rPr dirty="0" sz="1100" spc="-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中的原子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9404" y="963866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9404" y="104839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76651" y="938237"/>
            <a:ext cx="15716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175">
                <a:latin typeface="Arial Unicode MS"/>
                <a:cs typeface="Arial Unicode MS"/>
              </a:rPr>
              <a:t>团</a:t>
            </a:r>
            <a:r>
              <a:rPr dirty="0" sz="1100" spc="-55">
                <a:latin typeface="Georgia"/>
                <a:cs typeface="Georgia"/>
              </a:rPr>
              <a:t>NH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可以作为一个整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44" y="1161935"/>
            <a:ext cx="268414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80">
                <a:latin typeface="Arial Unicode MS"/>
                <a:cs typeface="Arial Unicode MS"/>
              </a:rPr>
              <a:t>体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将其选定为化学反应基本单</a:t>
            </a:r>
            <a:r>
              <a:rPr dirty="0" sz="1200" spc="-80">
                <a:latin typeface="Arial Unicode MS"/>
                <a:cs typeface="Arial Unicode MS"/>
              </a:rPr>
              <a:t>元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则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8099" y="1621498"/>
            <a:ext cx="9023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0209" algn="l"/>
                <a:tab pos="842644" algn="l"/>
              </a:tabLst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  </a:t>
            </a:r>
            <a:r>
              <a:rPr dirty="0" sz="600" spc="2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>
                <a:latin typeface="Times New Roman"/>
                <a:cs typeface="Times New Roman"/>
              </a:rPr>
              <a:t>  </a:t>
            </a:r>
            <a:r>
              <a:rPr dirty="0" sz="600" spc="2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21125" y="1543507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21125" y="163497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0287" y="1538097"/>
            <a:ext cx="27476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15" i="1">
                <a:latin typeface="Calibri"/>
                <a:cs typeface="Calibri"/>
              </a:rPr>
              <a:t>n</a:t>
            </a:r>
            <a:r>
              <a:rPr dirty="0" sz="1100" spc="-15">
                <a:latin typeface="Georgia"/>
                <a:cs typeface="Georgia"/>
              </a:rPr>
              <a:t>(Fe(NH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5">
                <a:latin typeface="Georgia"/>
                <a:cs typeface="Georgia"/>
              </a:rPr>
              <a:t>(SO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6H </a:t>
            </a:r>
            <a:r>
              <a:rPr dirty="0" sz="1100" spc="20">
                <a:latin typeface="Georgia"/>
                <a:cs typeface="Georgia"/>
              </a:rPr>
              <a:t>O)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5" i="1">
                <a:latin typeface="Calibri"/>
                <a:cs typeface="Calibri"/>
              </a:rPr>
              <a:t>n</a:t>
            </a:r>
            <a:r>
              <a:rPr dirty="0" sz="1100" spc="-5">
                <a:latin typeface="Georgia"/>
                <a:cs typeface="Georgia"/>
              </a:rPr>
              <a:t>(NH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743" y="2241511"/>
            <a:ext cx="4432935" cy="196215"/>
          </a:xfrm>
          <a:custGeom>
            <a:avLst/>
            <a:gdLst/>
            <a:ahLst/>
            <a:cxnLst/>
            <a:rect l="l" t="t" r="r" b="b"/>
            <a:pathLst>
              <a:path w="4432935" h="196214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5955"/>
                </a:lnTo>
                <a:lnTo>
                  <a:pt x="4432566" y="195955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8544" y="2630284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7744" y="2424811"/>
            <a:ext cx="4432565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9344" y="2617584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520310" y="2285746"/>
            <a:ext cx="50749" cy="3445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7743" y="2469085"/>
            <a:ext cx="4432935" cy="212090"/>
          </a:xfrm>
          <a:custGeom>
            <a:avLst/>
            <a:gdLst/>
            <a:ahLst/>
            <a:cxnLst/>
            <a:rect l="l" t="t" r="r" b="b"/>
            <a:pathLst>
              <a:path w="4432935" h="212089">
                <a:moveTo>
                  <a:pt x="4432566" y="0"/>
                </a:moveTo>
                <a:lnTo>
                  <a:pt x="0" y="0"/>
                </a:lnTo>
                <a:lnTo>
                  <a:pt x="0" y="161198"/>
                </a:lnTo>
                <a:lnTo>
                  <a:pt x="4008" y="180923"/>
                </a:lnTo>
                <a:lnTo>
                  <a:pt x="14922" y="197076"/>
                </a:lnTo>
                <a:lnTo>
                  <a:pt x="31075" y="207990"/>
                </a:lnTo>
                <a:lnTo>
                  <a:pt x="50800" y="211998"/>
                </a:lnTo>
                <a:lnTo>
                  <a:pt x="4381765" y="211998"/>
                </a:lnTo>
                <a:lnTo>
                  <a:pt x="4401490" y="207990"/>
                </a:lnTo>
                <a:lnTo>
                  <a:pt x="4417643" y="197076"/>
                </a:lnTo>
                <a:lnTo>
                  <a:pt x="4428558" y="180923"/>
                </a:lnTo>
                <a:lnTo>
                  <a:pt x="4432566" y="161198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520310" y="2323836"/>
            <a:ext cx="0" cy="325755"/>
          </a:xfrm>
          <a:custGeom>
            <a:avLst/>
            <a:gdLst/>
            <a:ahLst/>
            <a:cxnLst/>
            <a:rect l="l" t="t" r="r" b="b"/>
            <a:pathLst>
              <a:path w="0" h="325755">
                <a:moveTo>
                  <a:pt x="0" y="32549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520310" y="231113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520310" y="229843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520310" y="228573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25844" y="2194077"/>
            <a:ext cx="4275455" cy="45910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1200" spc="-5">
                <a:solidFill>
                  <a:srgbClr val="FFFFFF"/>
                </a:solidFill>
                <a:latin typeface="Arial Unicode MS"/>
                <a:cs typeface="Arial Unicode MS"/>
              </a:rPr>
              <a:t>注</a:t>
            </a:r>
            <a:r>
              <a:rPr dirty="0" sz="1200" spc="-90">
                <a:solidFill>
                  <a:srgbClr val="FFFFFF"/>
                </a:solidFill>
                <a:latin typeface="Arial Unicode MS"/>
                <a:cs typeface="Arial Unicode MS"/>
              </a:rPr>
              <a:t>意</a:t>
            </a:r>
            <a:r>
              <a:rPr dirty="0" sz="1200" spc="-5">
                <a:solidFill>
                  <a:srgbClr val="FFFFFF"/>
                </a:solidFill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200" spc="-5">
                <a:latin typeface="Arial Unicode MS"/>
                <a:cs typeface="Arial Unicode MS"/>
              </a:rPr>
              <a:t>采用化学反应基本单元的做法限于反应物形成单一产物的情</a:t>
            </a:r>
            <a:r>
              <a:rPr dirty="0" sz="1200" spc="-20">
                <a:latin typeface="Arial Unicode MS"/>
                <a:cs typeface="Arial Unicode MS"/>
              </a:rPr>
              <a:t>况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717867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4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893419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2272804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2260104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762101"/>
            <a:ext cx="50749" cy="15107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937685"/>
            <a:ext cx="4432935" cy="1386205"/>
          </a:xfrm>
          <a:custGeom>
            <a:avLst/>
            <a:gdLst/>
            <a:ahLst/>
            <a:cxnLst/>
            <a:rect l="l" t="t" r="r" b="b"/>
            <a:pathLst>
              <a:path w="4432935" h="1386205">
                <a:moveTo>
                  <a:pt x="4432566" y="0"/>
                </a:moveTo>
                <a:lnTo>
                  <a:pt x="0" y="0"/>
                </a:lnTo>
                <a:lnTo>
                  <a:pt x="0" y="1335119"/>
                </a:lnTo>
                <a:lnTo>
                  <a:pt x="4008" y="1354844"/>
                </a:lnTo>
                <a:lnTo>
                  <a:pt x="14922" y="1370997"/>
                </a:lnTo>
                <a:lnTo>
                  <a:pt x="31075" y="1381911"/>
                </a:lnTo>
                <a:lnTo>
                  <a:pt x="50800" y="1385920"/>
                </a:lnTo>
                <a:lnTo>
                  <a:pt x="4381765" y="1385920"/>
                </a:lnTo>
                <a:lnTo>
                  <a:pt x="4401490" y="1381911"/>
                </a:lnTo>
                <a:lnTo>
                  <a:pt x="4417643" y="1370997"/>
                </a:lnTo>
                <a:lnTo>
                  <a:pt x="4428558" y="1354844"/>
                </a:lnTo>
                <a:lnTo>
                  <a:pt x="4432566" y="1335119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800178"/>
            <a:ext cx="0" cy="1492250"/>
          </a:xfrm>
          <a:custGeom>
            <a:avLst/>
            <a:gdLst/>
            <a:ahLst/>
            <a:cxnLst/>
            <a:rect l="l" t="t" r="r" b="b"/>
            <a:pathLst>
              <a:path w="0" h="1492250">
                <a:moveTo>
                  <a:pt x="0" y="1491675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78747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77477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76207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2344" y="656018"/>
            <a:ext cx="4483735" cy="1637664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38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10">
                <a:solidFill>
                  <a:srgbClr val="FFFFFF"/>
                </a:solidFill>
                <a:latin typeface="Gill Sans MT"/>
                <a:cs typeface="Gill Sans MT"/>
              </a:rPr>
              <a:t>2.1</a:t>
            </a:r>
            <a:endParaRPr sz="1200">
              <a:latin typeface="Gill Sans MT"/>
              <a:cs typeface="Gill Sans MT"/>
            </a:endParaRPr>
          </a:p>
          <a:p>
            <a:pPr marL="76200">
              <a:lnSpc>
                <a:spcPct val="100000"/>
              </a:lnSpc>
              <a:spcBef>
                <a:spcPts val="290"/>
              </a:spcBef>
            </a:pPr>
            <a:r>
              <a:rPr dirty="0" sz="1200" spc="-10">
                <a:latin typeface="Arial Unicode MS"/>
                <a:cs typeface="Arial Unicode MS"/>
              </a:rPr>
              <a:t>定量</a:t>
            </a:r>
            <a:r>
              <a:rPr dirty="0" sz="1200" spc="-5">
                <a:latin typeface="Arial Unicode MS"/>
                <a:cs typeface="Arial Unicode MS"/>
              </a:rPr>
              <a:t>分</a:t>
            </a:r>
            <a:r>
              <a:rPr dirty="0" sz="1200" spc="175">
                <a:latin typeface="Arial Unicode MS"/>
                <a:cs typeface="Arial Unicode MS"/>
              </a:rPr>
              <a:t>析</a:t>
            </a:r>
            <a:r>
              <a:rPr dirty="0" sz="1100" spc="45">
                <a:latin typeface="Georgia"/>
                <a:cs typeface="Georgia"/>
              </a:rPr>
              <a:t>C</a:t>
            </a:r>
            <a:r>
              <a:rPr dirty="0" baseline="-13888" sz="900" spc="67">
                <a:latin typeface="Times New Roman"/>
                <a:cs typeface="Times New Roman"/>
              </a:rPr>
              <a:t>10</a:t>
            </a:r>
            <a:r>
              <a:rPr dirty="0" sz="1100" spc="45">
                <a:latin typeface="Georgia"/>
                <a:cs typeface="Georgia"/>
              </a:rPr>
              <a:t>H</a:t>
            </a:r>
            <a:r>
              <a:rPr dirty="0" baseline="-13888" sz="900" spc="67">
                <a:latin typeface="Times New Roman"/>
                <a:cs typeface="Times New Roman"/>
              </a:rPr>
              <a:t>20</a:t>
            </a:r>
            <a:r>
              <a:rPr dirty="0" sz="1100" spc="45">
                <a:latin typeface="Georgia"/>
                <a:cs typeface="Georgia"/>
              </a:rPr>
              <a:t>N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S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9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先</a:t>
            </a:r>
            <a:r>
              <a:rPr dirty="0" sz="1200" spc="-5">
                <a:latin typeface="Arial Unicode MS"/>
                <a:cs typeface="Arial Unicode MS"/>
              </a:rPr>
              <a:t>将</a:t>
            </a:r>
            <a:r>
              <a:rPr dirty="0" sz="1200" spc="-10">
                <a:latin typeface="Arial Unicode MS"/>
                <a:cs typeface="Arial Unicode MS"/>
              </a:rPr>
              <a:t>其灼</a:t>
            </a:r>
            <a:r>
              <a:rPr dirty="0" sz="1200" spc="-5">
                <a:latin typeface="Arial Unicode MS"/>
                <a:cs typeface="Arial Unicode MS"/>
              </a:rPr>
              <a:t>烧</a:t>
            </a:r>
            <a:r>
              <a:rPr dirty="0" sz="1200" spc="-10">
                <a:latin typeface="Arial Unicode MS"/>
                <a:cs typeface="Arial Unicode MS"/>
              </a:rPr>
              <a:t>生</a:t>
            </a:r>
            <a:r>
              <a:rPr dirty="0" sz="1200" spc="175">
                <a:latin typeface="Arial Unicode MS"/>
                <a:cs typeface="Arial Unicode MS"/>
              </a:rPr>
              <a:t>成</a:t>
            </a:r>
            <a:r>
              <a:rPr dirty="0" sz="1100" spc="-35">
                <a:latin typeface="Georgia"/>
                <a:cs typeface="Georgia"/>
              </a:rPr>
              <a:t>SO</a:t>
            </a:r>
            <a:r>
              <a:rPr dirty="0" baseline="-13888" sz="900" spc="-52">
                <a:latin typeface="Times New Roman"/>
                <a:cs typeface="Times New Roman"/>
              </a:rPr>
              <a:t>2</a:t>
            </a:r>
            <a:r>
              <a:rPr dirty="0" sz="1200" spc="-3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然</a:t>
            </a:r>
            <a:r>
              <a:rPr dirty="0" sz="1200" spc="-10">
                <a:latin typeface="Arial Unicode MS"/>
                <a:cs typeface="Arial Unicode MS"/>
              </a:rPr>
              <a:t>后通过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30">
                <a:latin typeface="Georgia"/>
                <a:cs typeface="Georgia"/>
              </a:rPr>
              <a:t>H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反</a:t>
            </a:r>
            <a:endParaRPr sz="12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应生</a:t>
            </a:r>
            <a:r>
              <a:rPr dirty="0" sz="1200" spc="175">
                <a:latin typeface="Arial Unicode MS"/>
                <a:cs typeface="Arial Unicode MS"/>
              </a:rPr>
              <a:t>成</a:t>
            </a:r>
            <a:r>
              <a:rPr dirty="0" sz="1100" spc="25">
                <a:latin typeface="Georgia"/>
                <a:cs typeface="Georgia"/>
              </a:rPr>
              <a:t>H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SO</a:t>
            </a:r>
            <a:r>
              <a:rPr dirty="0" baseline="-13888" sz="900" spc="37">
                <a:latin typeface="Times New Roman"/>
                <a:cs typeface="Times New Roman"/>
              </a:rPr>
              <a:t>4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生成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82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消耗浓度</a:t>
            </a:r>
            <a:endParaRPr sz="12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90">
                <a:latin typeface="Georgia"/>
                <a:cs typeface="Georgia"/>
              </a:rPr>
              <a:t>0</a:t>
            </a:r>
            <a:r>
              <a:rPr dirty="0" sz="1100" spc="-90" i="1">
                <a:latin typeface="Calibri"/>
                <a:cs typeface="Calibri"/>
              </a:rPr>
              <a:t>.</a:t>
            </a:r>
            <a:r>
              <a:rPr dirty="0" sz="1100" spc="-90">
                <a:latin typeface="Georgia"/>
                <a:cs typeface="Georgia"/>
              </a:rPr>
              <a:t>02500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</a:t>
            </a:r>
            <a:r>
              <a:rPr dirty="0" sz="1200" spc="175">
                <a:latin typeface="Arial Unicode MS"/>
                <a:cs typeface="Arial Unicode MS"/>
              </a:rPr>
              <a:t>液</a:t>
            </a:r>
            <a:r>
              <a:rPr dirty="0" sz="1100" spc="-60">
                <a:latin typeface="Georgia"/>
                <a:cs typeface="Georgia"/>
              </a:rPr>
              <a:t>34.85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05">
                <a:latin typeface="Georgia"/>
                <a:cs typeface="Georgia"/>
              </a:rPr>
              <a:t>mL</a:t>
            </a:r>
            <a:r>
              <a:rPr dirty="0" sz="1200" spc="-10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反应式如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marL="1156970">
              <a:lnSpc>
                <a:spcPct val="100000"/>
              </a:lnSpc>
            </a:pP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5">
                <a:latin typeface="Georgia"/>
                <a:cs typeface="Georgia"/>
              </a:rPr>
              <a:t>2NaOH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25">
                <a:latin typeface="Georgia"/>
                <a:cs typeface="Georgia"/>
              </a:rPr>
              <a:t>Na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SO</a:t>
            </a:r>
            <a:r>
              <a:rPr dirty="0" baseline="-13888" sz="900" spc="37">
                <a:latin typeface="Times New Roman"/>
                <a:cs typeface="Times New Roman"/>
              </a:rPr>
              <a:t>4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2H</a:t>
            </a:r>
            <a:r>
              <a:rPr dirty="0" baseline="-13888" sz="900" spc="-7">
                <a:latin typeface="Times New Roman"/>
                <a:cs typeface="Times New Roman"/>
              </a:rPr>
              <a:t>2</a:t>
            </a:r>
            <a:r>
              <a:rPr dirty="0" sz="1100" spc="-5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Georgia"/>
              <a:cs typeface="Georgia"/>
            </a:endParaRPr>
          </a:p>
          <a:p>
            <a:pPr marL="7620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已知最初样品的质量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45">
                <a:latin typeface="Georgia"/>
                <a:cs typeface="Georgia"/>
              </a:rPr>
              <a:t>0</a:t>
            </a:r>
            <a:r>
              <a:rPr dirty="0" sz="1100" spc="-45" i="1">
                <a:latin typeface="Calibri"/>
                <a:cs typeface="Calibri"/>
              </a:rPr>
              <a:t>.</a:t>
            </a:r>
            <a:r>
              <a:rPr dirty="0" sz="1100" spc="-45">
                <a:latin typeface="Georgia"/>
                <a:cs typeface="Georgia"/>
              </a:rPr>
              <a:t>4613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g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求样品</a:t>
            </a:r>
            <a:r>
              <a:rPr dirty="0" sz="1200" spc="175">
                <a:latin typeface="Arial Unicode MS"/>
                <a:cs typeface="Arial Unicode MS"/>
              </a:rPr>
              <a:t>中</a:t>
            </a:r>
            <a:r>
              <a:rPr dirty="0" sz="1100" spc="45">
                <a:latin typeface="Georgia"/>
                <a:cs typeface="Georgia"/>
              </a:rPr>
              <a:t>C</a:t>
            </a:r>
            <a:r>
              <a:rPr dirty="0" baseline="-13888" sz="900" spc="67">
                <a:latin typeface="Times New Roman"/>
                <a:cs typeface="Times New Roman"/>
              </a:rPr>
              <a:t>10</a:t>
            </a:r>
            <a:r>
              <a:rPr dirty="0" sz="1100" spc="45">
                <a:latin typeface="Georgia"/>
                <a:cs typeface="Georgia"/>
              </a:rPr>
              <a:t>H</a:t>
            </a:r>
            <a:r>
              <a:rPr dirty="0" baseline="-13888" sz="900" spc="67">
                <a:latin typeface="Times New Roman"/>
                <a:cs typeface="Times New Roman"/>
              </a:rPr>
              <a:t>20</a:t>
            </a:r>
            <a:r>
              <a:rPr dirty="0" sz="1100" spc="45">
                <a:latin typeface="Georgia"/>
                <a:cs typeface="Georgia"/>
              </a:rPr>
              <a:t>N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S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baseline="-13888" sz="900" spc="1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的含</a:t>
            </a:r>
            <a:r>
              <a:rPr dirty="0" sz="1200" spc="-2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4101" y="95821"/>
            <a:ext cx="315976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20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从</a:t>
            </a:r>
            <a:r>
              <a:rPr dirty="0" sz="1100" spc="45">
                <a:latin typeface="Georgia"/>
                <a:cs typeface="Georgia"/>
              </a:rPr>
              <a:t>C</a:t>
            </a:r>
            <a:r>
              <a:rPr dirty="0" baseline="-13888" sz="900" spc="67">
                <a:latin typeface="Times New Roman"/>
                <a:cs typeface="Times New Roman"/>
              </a:rPr>
              <a:t>10</a:t>
            </a:r>
            <a:r>
              <a:rPr dirty="0" sz="1100" spc="45">
                <a:latin typeface="Georgia"/>
                <a:cs typeface="Georgia"/>
              </a:rPr>
              <a:t>H</a:t>
            </a:r>
            <a:r>
              <a:rPr dirty="0" baseline="-13888" sz="900" spc="67">
                <a:latin typeface="Times New Roman"/>
                <a:cs typeface="Times New Roman"/>
              </a:rPr>
              <a:t>20</a:t>
            </a:r>
            <a:r>
              <a:rPr dirty="0" sz="1100" spc="45">
                <a:latin typeface="Georgia"/>
                <a:cs typeface="Georgia"/>
              </a:rPr>
              <a:t>N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S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baseline="-13888" sz="900" spc="9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转化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20">
                <a:latin typeface="Georgia"/>
                <a:cs typeface="Georgia"/>
              </a:rPr>
              <a:t>H</a:t>
            </a:r>
            <a:r>
              <a:rPr dirty="0" baseline="-13888" sz="900" spc="-30">
                <a:latin typeface="Times New Roman"/>
                <a:cs typeface="Times New Roman"/>
              </a:rPr>
              <a:t>2</a:t>
            </a:r>
            <a:r>
              <a:rPr dirty="0" sz="1100" spc="-20">
                <a:latin typeface="Georgia"/>
                <a:cs typeface="Georgia"/>
              </a:rPr>
              <a:t>SO</a:t>
            </a:r>
            <a:r>
              <a:rPr dirty="0" baseline="-13888" sz="900" spc="-30">
                <a:latin typeface="Times New Roman"/>
                <a:cs typeface="Times New Roman"/>
              </a:rPr>
              <a:t>4</a:t>
            </a:r>
            <a:r>
              <a:rPr dirty="0" sz="1200" spc="-2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要经过如下两</a:t>
            </a:r>
            <a:r>
              <a:rPr dirty="0" sz="1200" spc="-90">
                <a:latin typeface="Arial Unicode MS"/>
                <a:cs typeface="Arial Unicode MS"/>
              </a:rPr>
              <a:t>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2803" y="757961"/>
            <a:ext cx="7588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67">
                <a:latin typeface="Georgia"/>
                <a:cs typeface="Georgia"/>
              </a:rPr>
              <a:t>C</a:t>
            </a:r>
            <a:r>
              <a:rPr dirty="0" sz="600" spc="45">
                <a:latin typeface="Times New Roman"/>
                <a:cs typeface="Times New Roman"/>
              </a:rPr>
              <a:t>10</a:t>
            </a:r>
            <a:r>
              <a:rPr dirty="0" baseline="7575" sz="1650" spc="67">
                <a:latin typeface="Georgia"/>
                <a:cs typeface="Georgia"/>
              </a:rPr>
              <a:t>H</a:t>
            </a:r>
            <a:r>
              <a:rPr dirty="0" sz="600" spc="45">
                <a:latin typeface="Times New Roman"/>
                <a:cs typeface="Times New Roman"/>
              </a:rPr>
              <a:t>20</a:t>
            </a:r>
            <a:r>
              <a:rPr dirty="0" baseline="7575" sz="1650" spc="67">
                <a:latin typeface="Georgia"/>
                <a:cs typeface="Georgia"/>
              </a:rPr>
              <a:t>N</a:t>
            </a:r>
            <a:r>
              <a:rPr dirty="0" sz="600" spc="45">
                <a:latin typeface="Times New Roman"/>
                <a:cs typeface="Times New Roman"/>
              </a:rPr>
              <a:t>2</a:t>
            </a:r>
            <a:r>
              <a:rPr dirty="0" baseline="7575" sz="1650" spc="67">
                <a:latin typeface="Georgia"/>
                <a:cs typeface="Georgia"/>
              </a:rPr>
              <a:t>S</a:t>
            </a:r>
            <a:r>
              <a:rPr dirty="0" sz="600" spc="4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7321" y="737184"/>
            <a:ext cx="1274445" cy="554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722630">
              <a:lnSpc>
                <a:spcPct val="100000"/>
              </a:lnSpc>
              <a:spcBef>
                <a:spcPts val="90"/>
              </a:spcBef>
              <a:tabLst>
                <a:tab pos="991869" algn="l"/>
              </a:tabLst>
            </a:pPr>
            <a:r>
              <a:rPr dirty="0" sz="1100" spc="55">
                <a:latin typeface="Lucida Sans Unicode"/>
                <a:cs typeface="Lucida Sans Unicode"/>
              </a:rPr>
              <a:t>→	</a:t>
            </a:r>
            <a:r>
              <a:rPr dirty="0" sz="1100" spc="25">
                <a:latin typeface="Georgia"/>
                <a:cs typeface="Georgia"/>
              </a:rPr>
              <a:t>SO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endParaRPr baseline="-13888" sz="9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535"/>
              </a:spcBef>
              <a:tabLst>
                <a:tab pos="418465" algn="l"/>
                <a:tab pos="688340" algn="l"/>
              </a:tabLst>
            </a:pPr>
            <a:r>
              <a:rPr dirty="0" sz="1100" spc="25">
                <a:latin typeface="Georgia"/>
                <a:cs typeface="Georgia"/>
              </a:rPr>
              <a:t>SO</a:t>
            </a:r>
            <a:r>
              <a:rPr dirty="0" baseline="-13888" sz="900" spc="37">
                <a:latin typeface="Times New Roman"/>
                <a:cs typeface="Times New Roman"/>
              </a:rPr>
              <a:t>2	</a:t>
            </a:r>
            <a:r>
              <a:rPr dirty="0" sz="1100" spc="55">
                <a:latin typeface="Lucida Sans Unicode"/>
                <a:cs typeface="Lucida Sans Unicode"/>
              </a:rPr>
              <a:t>→	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22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137325"/>
            <a:ext cx="3187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6801" y="361022"/>
            <a:ext cx="313436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175">
                <a:latin typeface="Arial Unicode MS"/>
                <a:cs typeface="Arial Unicode MS"/>
              </a:rPr>
              <a:t>从</a:t>
            </a:r>
            <a:r>
              <a:rPr dirty="0" spc="45"/>
              <a:t>C</a:t>
            </a:r>
            <a:r>
              <a:rPr dirty="0" baseline="-13888" sz="900" spc="67">
                <a:latin typeface="Times New Roman"/>
                <a:cs typeface="Times New Roman"/>
              </a:rPr>
              <a:t>10</a:t>
            </a:r>
            <a:r>
              <a:rPr dirty="0" sz="1100" spc="45"/>
              <a:t>H</a:t>
            </a:r>
            <a:r>
              <a:rPr dirty="0" baseline="-13888" sz="900" spc="67">
                <a:latin typeface="Times New Roman"/>
                <a:cs typeface="Times New Roman"/>
              </a:rPr>
              <a:t>20</a:t>
            </a:r>
            <a:r>
              <a:rPr dirty="0" sz="1100" spc="45"/>
              <a:t>N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/>
              <a:t>S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转化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20"/>
              <a:t>H</a:t>
            </a:r>
            <a:r>
              <a:rPr dirty="0" baseline="-13888" sz="900" spc="-30">
                <a:latin typeface="Times New Roman"/>
                <a:cs typeface="Times New Roman"/>
              </a:rPr>
              <a:t>2</a:t>
            </a:r>
            <a:r>
              <a:rPr dirty="0" sz="1100" spc="-20"/>
              <a:t>SO</a:t>
            </a:r>
            <a:r>
              <a:rPr dirty="0" baseline="-13888" sz="900" spc="-30">
                <a:latin typeface="Times New Roman"/>
                <a:cs typeface="Times New Roman"/>
              </a:rPr>
              <a:t>4</a:t>
            </a:r>
            <a:r>
              <a:rPr dirty="0" sz="1200" spc="-2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要经过如下两</a:t>
            </a:r>
            <a:r>
              <a:rPr dirty="0" sz="1200" spc="-90">
                <a:latin typeface="Arial Unicode MS"/>
                <a:cs typeface="Arial Unicode MS"/>
              </a:rPr>
              <a:t>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2803" y="757961"/>
            <a:ext cx="7588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67">
                <a:latin typeface="Georgia"/>
                <a:cs typeface="Georgia"/>
              </a:rPr>
              <a:t>C</a:t>
            </a:r>
            <a:r>
              <a:rPr dirty="0" sz="600" spc="45">
                <a:latin typeface="Times New Roman"/>
                <a:cs typeface="Times New Roman"/>
              </a:rPr>
              <a:t>10</a:t>
            </a:r>
            <a:r>
              <a:rPr dirty="0" baseline="7575" sz="1650" spc="67">
                <a:latin typeface="Georgia"/>
                <a:cs typeface="Georgia"/>
              </a:rPr>
              <a:t>H</a:t>
            </a:r>
            <a:r>
              <a:rPr dirty="0" sz="600" spc="45">
                <a:latin typeface="Times New Roman"/>
                <a:cs typeface="Times New Roman"/>
              </a:rPr>
              <a:t>20</a:t>
            </a:r>
            <a:r>
              <a:rPr dirty="0" baseline="7575" sz="1650" spc="67">
                <a:latin typeface="Georgia"/>
                <a:cs typeface="Georgia"/>
              </a:rPr>
              <a:t>N</a:t>
            </a:r>
            <a:r>
              <a:rPr dirty="0" sz="600" spc="45">
                <a:latin typeface="Times New Roman"/>
                <a:cs typeface="Times New Roman"/>
              </a:rPr>
              <a:t>2</a:t>
            </a:r>
            <a:r>
              <a:rPr dirty="0" baseline="7575" sz="1650" spc="67">
                <a:latin typeface="Georgia"/>
                <a:cs typeface="Georgia"/>
              </a:rPr>
              <a:t>S</a:t>
            </a:r>
            <a:r>
              <a:rPr dirty="0" sz="600" spc="4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7321" y="737184"/>
            <a:ext cx="1274445" cy="554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722630">
              <a:lnSpc>
                <a:spcPct val="100000"/>
              </a:lnSpc>
              <a:spcBef>
                <a:spcPts val="90"/>
              </a:spcBef>
              <a:tabLst>
                <a:tab pos="991869" algn="l"/>
              </a:tabLst>
            </a:pPr>
            <a:r>
              <a:rPr dirty="0" sz="1100" spc="55">
                <a:latin typeface="Lucida Sans Unicode"/>
                <a:cs typeface="Lucida Sans Unicode"/>
              </a:rPr>
              <a:t>→	</a:t>
            </a:r>
            <a:r>
              <a:rPr dirty="0" sz="1100" spc="25">
                <a:latin typeface="Georgia"/>
                <a:cs typeface="Georgia"/>
              </a:rPr>
              <a:t>SO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endParaRPr baseline="-13888" sz="9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535"/>
              </a:spcBef>
              <a:tabLst>
                <a:tab pos="418465" algn="l"/>
                <a:tab pos="688340" algn="l"/>
              </a:tabLst>
            </a:pPr>
            <a:r>
              <a:rPr dirty="0" sz="1100" spc="25">
                <a:latin typeface="Georgia"/>
                <a:cs typeface="Georgia"/>
              </a:rPr>
              <a:t>SO</a:t>
            </a:r>
            <a:r>
              <a:rPr dirty="0" baseline="-13888" sz="900" spc="37">
                <a:latin typeface="Times New Roman"/>
                <a:cs typeface="Times New Roman"/>
              </a:rPr>
              <a:t>2	</a:t>
            </a:r>
            <a:r>
              <a:rPr dirty="0" sz="1100" spc="55">
                <a:latin typeface="Lucida Sans Unicode"/>
                <a:cs typeface="Lucida Sans Unicode"/>
              </a:rPr>
              <a:t>→	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6801" y="1616405"/>
            <a:ext cx="3427095" cy="568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根据质量平</a:t>
            </a:r>
            <a:r>
              <a:rPr dirty="0" sz="1200" spc="-80">
                <a:latin typeface="Arial Unicode MS"/>
                <a:cs typeface="Arial Unicode MS"/>
              </a:rPr>
              <a:t>衡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marL="398145">
              <a:lnSpc>
                <a:spcPct val="100000"/>
              </a:lnSpc>
            </a:pPr>
            <a:r>
              <a:rPr dirty="0" sz="1100" spc="-80">
                <a:latin typeface="Georgia"/>
                <a:cs typeface="Georgia"/>
              </a:rPr>
              <a:t>4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45" i="1">
                <a:latin typeface="Calibri"/>
                <a:cs typeface="Calibri"/>
              </a:rPr>
              <a:t>n</a:t>
            </a:r>
            <a:r>
              <a:rPr dirty="0" sz="1100" spc="45">
                <a:latin typeface="Georgia"/>
                <a:cs typeface="Georgia"/>
              </a:rPr>
              <a:t>(C</a:t>
            </a:r>
            <a:r>
              <a:rPr dirty="0" baseline="-13888" sz="900" spc="67">
                <a:latin typeface="Times New Roman"/>
                <a:cs typeface="Times New Roman"/>
              </a:rPr>
              <a:t>10</a:t>
            </a:r>
            <a:r>
              <a:rPr dirty="0" sz="1100" spc="45">
                <a:latin typeface="Georgia"/>
                <a:cs typeface="Georgia"/>
              </a:rPr>
              <a:t>H</a:t>
            </a:r>
            <a:r>
              <a:rPr dirty="0" baseline="-13888" sz="900" spc="67">
                <a:latin typeface="Times New Roman"/>
                <a:cs typeface="Times New Roman"/>
              </a:rPr>
              <a:t>20</a:t>
            </a:r>
            <a:r>
              <a:rPr dirty="0" sz="1100" spc="45">
                <a:latin typeface="Georgia"/>
                <a:cs typeface="Georgia"/>
              </a:rPr>
              <a:t>N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S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sz="1100" spc="45">
                <a:latin typeface="Georgia"/>
                <a:cs typeface="Georgia"/>
              </a:rPr>
              <a:t>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35" i="1">
                <a:latin typeface="Calibri"/>
                <a:cs typeface="Calibri"/>
              </a:rPr>
              <a:t>n</a:t>
            </a:r>
            <a:r>
              <a:rPr dirty="0" sz="1100" spc="35">
                <a:latin typeface="Georgia"/>
                <a:cs typeface="Georgia"/>
              </a:rPr>
              <a:t>(SO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)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30" i="1">
                <a:latin typeface="Calibri"/>
                <a:cs typeface="Calibri"/>
              </a:rPr>
              <a:t>n</a:t>
            </a:r>
            <a:r>
              <a:rPr dirty="0" sz="1100" spc="30">
                <a:latin typeface="Georgia"/>
                <a:cs typeface="Georgia"/>
              </a:rPr>
              <a:t>(H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100" spc="30">
                <a:latin typeface="Georgia"/>
                <a:cs typeface="Georgia"/>
              </a:rPr>
              <a:t>SO</a:t>
            </a:r>
            <a:r>
              <a:rPr dirty="0" baseline="-13888" sz="900" spc="44">
                <a:latin typeface="Times New Roman"/>
                <a:cs typeface="Times New Roman"/>
              </a:rPr>
              <a:t>4</a:t>
            </a:r>
            <a:r>
              <a:rPr dirty="0" sz="1100" spc="3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22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137325"/>
            <a:ext cx="3187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6801" y="361022"/>
            <a:ext cx="313436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175">
                <a:latin typeface="Arial Unicode MS"/>
                <a:cs typeface="Arial Unicode MS"/>
              </a:rPr>
              <a:t>从</a:t>
            </a:r>
            <a:r>
              <a:rPr dirty="0" spc="45"/>
              <a:t>C</a:t>
            </a:r>
            <a:r>
              <a:rPr dirty="0" baseline="-13888" sz="900" spc="67">
                <a:latin typeface="Times New Roman"/>
                <a:cs typeface="Times New Roman"/>
              </a:rPr>
              <a:t>10</a:t>
            </a:r>
            <a:r>
              <a:rPr dirty="0" sz="1100" spc="45"/>
              <a:t>H</a:t>
            </a:r>
            <a:r>
              <a:rPr dirty="0" baseline="-13888" sz="900" spc="67">
                <a:latin typeface="Times New Roman"/>
                <a:cs typeface="Times New Roman"/>
              </a:rPr>
              <a:t>20</a:t>
            </a:r>
            <a:r>
              <a:rPr dirty="0" sz="1100" spc="45"/>
              <a:t>N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/>
              <a:t>S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baseline="-13888" sz="900" spc="8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转化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20"/>
              <a:t>H</a:t>
            </a:r>
            <a:r>
              <a:rPr dirty="0" baseline="-13888" sz="900" spc="-30">
                <a:latin typeface="Times New Roman"/>
                <a:cs typeface="Times New Roman"/>
              </a:rPr>
              <a:t>2</a:t>
            </a:r>
            <a:r>
              <a:rPr dirty="0" sz="1100" spc="-20"/>
              <a:t>SO</a:t>
            </a:r>
            <a:r>
              <a:rPr dirty="0" baseline="-13888" sz="900" spc="-30">
                <a:latin typeface="Times New Roman"/>
                <a:cs typeface="Times New Roman"/>
              </a:rPr>
              <a:t>4</a:t>
            </a:r>
            <a:r>
              <a:rPr dirty="0" sz="1200" spc="-2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要经过如下两</a:t>
            </a:r>
            <a:r>
              <a:rPr dirty="0" sz="1200" spc="-90">
                <a:latin typeface="Arial Unicode MS"/>
                <a:cs typeface="Arial Unicode MS"/>
              </a:rPr>
              <a:t>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2803" y="757961"/>
            <a:ext cx="7588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575" sz="1650" spc="67">
                <a:latin typeface="Georgia"/>
                <a:cs typeface="Georgia"/>
              </a:rPr>
              <a:t>C</a:t>
            </a:r>
            <a:r>
              <a:rPr dirty="0" sz="600" spc="45">
                <a:latin typeface="Times New Roman"/>
                <a:cs typeface="Times New Roman"/>
              </a:rPr>
              <a:t>10</a:t>
            </a:r>
            <a:r>
              <a:rPr dirty="0" baseline="7575" sz="1650" spc="67">
                <a:latin typeface="Georgia"/>
                <a:cs typeface="Georgia"/>
              </a:rPr>
              <a:t>H</a:t>
            </a:r>
            <a:r>
              <a:rPr dirty="0" sz="600" spc="45">
                <a:latin typeface="Times New Roman"/>
                <a:cs typeface="Times New Roman"/>
              </a:rPr>
              <a:t>20</a:t>
            </a:r>
            <a:r>
              <a:rPr dirty="0" baseline="7575" sz="1650" spc="67">
                <a:latin typeface="Georgia"/>
                <a:cs typeface="Georgia"/>
              </a:rPr>
              <a:t>N</a:t>
            </a:r>
            <a:r>
              <a:rPr dirty="0" sz="600" spc="45">
                <a:latin typeface="Times New Roman"/>
                <a:cs typeface="Times New Roman"/>
              </a:rPr>
              <a:t>2</a:t>
            </a:r>
            <a:r>
              <a:rPr dirty="0" baseline="7575" sz="1650" spc="67">
                <a:latin typeface="Georgia"/>
                <a:cs typeface="Georgia"/>
              </a:rPr>
              <a:t>S</a:t>
            </a:r>
            <a:r>
              <a:rPr dirty="0" sz="600" spc="4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7321" y="737184"/>
            <a:ext cx="1274445" cy="5549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722630">
              <a:lnSpc>
                <a:spcPct val="100000"/>
              </a:lnSpc>
              <a:spcBef>
                <a:spcPts val="90"/>
              </a:spcBef>
              <a:tabLst>
                <a:tab pos="991869" algn="l"/>
              </a:tabLst>
            </a:pPr>
            <a:r>
              <a:rPr dirty="0" sz="1100" spc="55">
                <a:latin typeface="Lucida Sans Unicode"/>
                <a:cs typeface="Lucida Sans Unicode"/>
              </a:rPr>
              <a:t>→	</a:t>
            </a:r>
            <a:r>
              <a:rPr dirty="0" sz="1100" spc="25">
                <a:latin typeface="Georgia"/>
                <a:cs typeface="Georgia"/>
              </a:rPr>
              <a:t>SO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endParaRPr baseline="-13888" sz="9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535"/>
              </a:spcBef>
              <a:tabLst>
                <a:tab pos="418465" algn="l"/>
                <a:tab pos="688340" algn="l"/>
              </a:tabLst>
            </a:pPr>
            <a:r>
              <a:rPr dirty="0" sz="1100" spc="25">
                <a:latin typeface="Georgia"/>
                <a:cs typeface="Georgia"/>
              </a:rPr>
              <a:t>SO</a:t>
            </a:r>
            <a:r>
              <a:rPr dirty="0" baseline="-13888" sz="900" spc="37">
                <a:latin typeface="Times New Roman"/>
                <a:cs typeface="Times New Roman"/>
              </a:rPr>
              <a:t>2	</a:t>
            </a:r>
            <a:r>
              <a:rPr dirty="0" sz="1100" spc="55">
                <a:latin typeface="Lucida Sans Unicode"/>
                <a:cs typeface="Lucida Sans Unicode"/>
              </a:rPr>
              <a:t>→	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8701" y="1616405"/>
            <a:ext cx="3490595" cy="143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根据质量平</a:t>
            </a:r>
            <a:r>
              <a:rPr dirty="0" sz="1200" spc="-80">
                <a:latin typeface="Arial Unicode MS"/>
                <a:cs typeface="Arial Unicode MS"/>
              </a:rPr>
              <a:t>衡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360045">
              <a:lnSpc>
                <a:spcPct val="100000"/>
              </a:lnSpc>
            </a:pPr>
            <a:r>
              <a:rPr dirty="0" sz="1100" spc="-80">
                <a:latin typeface="Georgia"/>
                <a:cs typeface="Georgia"/>
              </a:rPr>
              <a:t>4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45" i="1">
                <a:latin typeface="Calibri"/>
                <a:cs typeface="Calibri"/>
              </a:rPr>
              <a:t>n</a:t>
            </a:r>
            <a:r>
              <a:rPr dirty="0" sz="1100" spc="45">
                <a:latin typeface="Georgia"/>
                <a:cs typeface="Georgia"/>
              </a:rPr>
              <a:t>(C</a:t>
            </a:r>
            <a:r>
              <a:rPr dirty="0" baseline="-13888" sz="900" spc="67">
                <a:latin typeface="Times New Roman"/>
                <a:cs typeface="Times New Roman"/>
              </a:rPr>
              <a:t>10</a:t>
            </a:r>
            <a:r>
              <a:rPr dirty="0" sz="1100" spc="45">
                <a:latin typeface="Georgia"/>
                <a:cs typeface="Georgia"/>
              </a:rPr>
              <a:t>H</a:t>
            </a:r>
            <a:r>
              <a:rPr dirty="0" baseline="-13888" sz="900" spc="67">
                <a:latin typeface="Times New Roman"/>
                <a:cs typeface="Times New Roman"/>
              </a:rPr>
              <a:t>20</a:t>
            </a:r>
            <a:r>
              <a:rPr dirty="0" sz="1100" spc="45">
                <a:latin typeface="Georgia"/>
                <a:cs typeface="Georgia"/>
              </a:rPr>
              <a:t>N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S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sz="1100" spc="45">
                <a:latin typeface="Georgia"/>
                <a:cs typeface="Georgia"/>
              </a:rPr>
              <a:t>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35" i="1">
                <a:latin typeface="Calibri"/>
                <a:cs typeface="Calibri"/>
              </a:rPr>
              <a:t>n</a:t>
            </a:r>
            <a:r>
              <a:rPr dirty="0" sz="1100" spc="35">
                <a:latin typeface="Georgia"/>
                <a:cs typeface="Georgia"/>
              </a:rPr>
              <a:t>(SO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)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30" i="1">
                <a:latin typeface="Calibri"/>
                <a:cs typeface="Calibri"/>
              </a:rPr>
              <a:t>n</a:t>
            </a:r>
            <a:r>
              <a:rPr dirty="0" sz="1100" spc="30">
                <a:latin typeface="Georgia"/>
                <a:cs typeface="Georgia"/>
              </a:rPr>
              <a:t>(H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100" spc="30">
                <a:latin typeface="Georgia"/>
                <a:cs typeface="Georgia"/>
              </a:rPr>
              <a:t>SO</a:t>
            </a:r>
            <a:r>
              <a:rPr dirty="0" baseline="-13888" sz="900" spc="44">
                <a:latin typeface="Times New Roman"/>
                <a:cs typeface="Times New Roman"/>
              </a:rPr>
              <a:t>4</a:t>
            </a:r>
            <a:r>
              <a:rPr dirty="0" sz="1100" spc="3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20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</a:pP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的配比关系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360045">
              <a:lnSpc>
                <a:spcPct val="100000"/>
              </a:lnSpc>
              <a:spcBef>
                <a:spcPts val="5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30" i="1">
                <a:latin typeface="Calibri"/>
                <a:cs typeface="Calibri"/>
              </a:rPr>
              <a:t>n</a:t>
            </a:r>
            <a:r>
              <a:rPr dirty="0" sz="1100" spc="30">
                <a:latin typeface="Georgia"/>
                <a:cs typeface="Georgia"/>
              </a:rPr>
              <a:t>(H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100" spc="30">
                <a:latin typeface="Georgia"/>
                <a:cs typeface="Georgia"/>
              </a:rPr>
              <a:t>SO</a:t>
            </a:r>
            <a:r>
              <a:rPr dirty="0" baseline="-13888" sz="900" spc="44">
                <a:latin typeface="Times New Roman"/>
                <a:cs typeface="Times New Roman"/>
              </a:rPr>
              <a:t>4</a:t>
            </a:r>
            <a:r>
              <a:rPr dirty="0" sz="1100" spc="30">
                <a:latin typeface="Georgia"/>
                <a:cs typeface="Georgia"/>
              </a:rPr>
              <a:t>)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Calibri"/>
                <a:cs typeface="Calibri"/>
              </a:rPr>
              <a:t>n</a:t>
            </a:r>
            <a:r>
              <a:rPr dirty="0" sz="1100">
                <a:latin typeface="Georgia"/>
                <a:cs typeface="Georgia"/>
              </a:rPr>
              <a:t>(NaOH)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22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801" y="347281"/>
            <a:ext cx="2997200" cy="568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总的计量关系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marL="828040">
              <a:lnSpc>
                <a:spcPct val="100000"/>
              </a:lnSpc>
            </a:pPr>
            <a:r>
              <a:rPr dirty="0" sz="1100" spc="-114">
                <a:latin typeface="Georgia"/>
                <a:cs typeface="Georgia"/>
              </a:rPr>
              <a:t>8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45" i="1">
                <a:latin typeface="Calibri"/>
                <a:cs typeface="Calibri"/>
              </a:rPr>
              <a:t>n</a:t>
            </a:r>
            <a:r>
              <a:rPr dirty="0" sz="1100" spc="45">
                <a:latin typeface="Georgia"/>
                <a:cs typeface="Georgia"/>
              </a:rPr>
              <a:t>(C</a:t>
            </a:r>
            <a:r>
              <a:rPr dirty="0" baseline="-13888" sz="900" spc="67">
                <a:latin typeface="Times New Roman"/>
                <a:cs typeface="Times New Roman"/>
              </a:rPr>
              <a:t>10</a:t>
            </a:r>
            <a:r>
              <a:rPr dirty="0" sz="1100" spc="45">
                <a:latin typeface="Georgia"/>
                <a:cs typeface="Georgia"/>
              </a:rPr>
              <a:t>H</a:t>
            </a:r>
            <a:r>
              <a:rPr dirty="0" baseline="-13888" sz="900" spc="67">
                <a:latin typeface="Times New Roman"/>
                <a:cs typeface="Times New Roman"/>
              </a:rPr>
              <a:t>20</a:t>
            </a:r>
            <a:r>
              <a:rPr dirty="0" sz="1100" spc="45">
                <a:latin typeface="Georgia"/>
                <a:cs typeface="Georgia"/>
              </a:rPr>
              <a:t>N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S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sz="1100" spc="45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i="1">
                <a:latin typeface="Calibri"/>
                <a:cs typeface="Calibri"/>
              </a:rPr>
              <a:t>n</a:t>
            </a:r>
            <a:r>
              <a:rPr dirty="0" sz="1100">
                <a:latin typeface="Georgia"/>
                <a:cs typeface="Georgia"/>
              </a:rPr>
              <a:t>(NaOH)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23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347281"/>
            <a:ext cx="1653539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总的计量关系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6801" y="723442"/>
            <a:ext cx="2997200" cy="5575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28040">
              <a:lnSpc>
                <a:spcPct val="100000"/>
              </a:lnSpc>
              <a:spcBef>
                <a:spcPts val="90"/>
              </a:spcBef>
            </a:pPr>
            <a:r>
              <a:rPr dirty="0" sz="1100" spc="-114">
                <a:latin typeface="Georgia"/>
                <a:cs typeface="Georgia"/>
              </a:rPr>
              <a:t>8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45" i="1">
                <a:latin typeface="Calibri"/>
                <a:cs typeface="Calibri"/>
              </a:rPr>
              <a:t>n</a:t>
            </a:r>
            <a:r>
              <a:rPr dirty="0" sz="1100" spc="45">
                <a:latin typeface="Georgia"/>
                <a:cs typeface="Georgia"/>
              </a:rPr>
              <a:t>(C</a:t>
            </a:r>
            <a:r>
              <a:rPr dirty="0" baseline="-13888" sz="900" spc="67">
                <a:latin typeface="Times New Roman"/>
                <a:cs typeface="Times New Roman"/>
              </a:rPr>
              <a:t>10</a:t>
            </a:r>
            <a:r>
              <a:rPr dirty="0" sz="1100" spc="45">
                <a:latin typeface="Georgia"/>
                <a:cs typeface="Georgia"/>
              </a:rPr>
              <a:t>H</a:t>
            </a:r>
            <a:r>
              <a:rPr dirty="0" baseline="-13888" sz="900" spc="67">
                <a:latin typeface="Times New Roman"/>
                <a:cs typeface="Times New Roman"/>
              </a:rPr>
              <a:t>20</a:t>
            </a:r>
            <a:r>
              <a:rPr dirty="0" sz="1100" spc="45">
                <a:latin typeface="Georgia"/>
                <a:cs typeface="Georgia"/>
              </a:rPr>
              <a:t>N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S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sz="1100" spc="45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i="1">
                <a:latin typeface="Calibri"/>
                <a:cs typeface="Calibri"/>
              </a:rPr>
              <a:t>n</a:t>
            </a:r>
            <a:r>
              <a:rPr dirty="0" sz="1100">
                <a:latin typeface="Georgia"/>
                <a:cs typeface="Georgia"/>
              </a:rPr>
              <a:t>(NaOH)</a:t>
            </a:r>
            <a:endParaRPr sz="1100">
              <a:latin typeface="Georgia"/>
              <a:cs typeface="Georgia"/>
            </a:endParaRPr>
          </a:p>
          <a:p>
            <a:pPr marL="25400">
              <a:lnSpc>
                <a:spcPct val="100000"/>
              </a:lnSpc>
              <a:spcBef>
                <a:spcPts val="143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9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1815" y="1454759"/>
            <a:ext cx="6140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10</a:t>
            </a:r>
            <a:r>
              <a:rPr dirty="0" sz="600" spc="65">
                <a:latin typeface="Times New Roman"/>
                <a:cs typeface="Times New Roman"/>
              </a:rPr>
              <a:t> 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20</a:t>
            </a:r>
            <a:r>
              <a:rPr dirty="0" sz="600" spc="65">
                <a:latin typeface="Times New Roman"/>
                <a:cs typeface="Times New Roman"/>
              </a:rPr>
              <a:t> 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sz="600" spc="275">
                <a:latin typeface="Times New Roman"/>
                <a:cs typeface="Times New Roman"/>
              </a:rPr>
              <a:t> </a:t>
            </a: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7630" y="1371358"/>
            <a:ext cx="11823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114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8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× </a:t>
            </a:r>
            <a:r>
              <a:rPr dirty="0" u="sng" sz="1100" spc="6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(C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u="sng" sz="1100" spc="-8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H</a:t>
            </a:r>
            <a:r>
              <a:rPr dirty="0" sz="1100" spc="-80">
                <a:latin typeface="Georgia"/>
                <a:cs typeface="Georgia"/>
              </a:rPr>
              <a:t>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N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S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7589" y="1560118"/>
            <a:ext cx="1022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14" i="1">
                <a:latin typeface="Calibri"/>
                <a:cs typeface="Calibri"/>
              </a:rPr>
              <a:t>M</a:t>
            </a:r>
            <a:r>
              <a:rPr dirty="0" sz="1100" spc="-155" i="1">
                <a:latin typeface="Calibri"/>
                <a:cs typeface="Calibri"/>
              </a:rPr>
              <a:t> </a:t>
            </a:r>
            <a:r>
              <a:rPr dirty="0" sz="1100" spc="45">
                <a:latin typeface="Georgia"/>
                <a:cs typeface="Georgia"/>
              </a:rPr>
              <a:t>(C</a:t>
            </a:r>
            <a:r>
              <a:rPr dirty="0" baseline="-13888" sz="900" spc="67">
                <a:latin typeface="Times New Roman"/>
                <a:cs typeface="Times New Roman"/>
              </a:rPr>
              <a:t>10</a:t>
            </a:r>
            <a:r>
              <a:rPr dirty="0" sz="1100" spc="45">
                <a:latin typeface="Georgia"/>
                <a:cs typeface="Georgia"/>
              </a:rPr>
              <a:t>H</a:t>
            </a:r>
            <a:r>
              <a:rPr dirty="0" baseline="-13888" sz="900" spc="67">
                <a:latin typeface="Times New Roman"/>
                <a:cs typeface="Times New Roman"/>
              </a:rPr>
              <a:t>20</a:t>
            </a:r>
            <a:r>
              <a:rPr dirty="0" sz="1100" spc="45">
                <a:latin typeface="Georgia"/>
                <a:cs typeface="Georgia"/>
              </a:rPr>
              <a:t>N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S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sz="1100" spc="45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67801" y="1465084"/>
            <a:ext cx="14979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45">
                <a:latin typeface="Georgia"/>
                <a:cs typeface="Georgia"/>
              </a:rPr>
              <a:t> </a:t>
            </a:r>
            <a:r>
              <a:rPr dirty="0" sz="1100" spc="-10" i="1">
                <a:latin typeface="Calibri"/>
                <a:cs typeface="Calibri"/>
              </a:rPr>
              <a:t>c</a:t>
            </a:r>
            <a:r>
              <a:rPr dirty="0" sz="1100" spc="-10">
                <a:latin typeface="Georgia"/>
                <a:cs typeface="Georgia"/>
              </a:rPr>
              <a:t>(NaOH)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10" i="1">
                <a:latin typeface="Calibri"/>
                <a:cs typeface="Calibri"/>
              </a:rPr>
              <a:t>V </a:t>
            </a:r>
            <a:r>
              <a:rPr dirty="0" sz="1100" spc="-10">
                <a:latin typeface="Georgia"/>
                <a:cs typeface="Georgia"/>
              </a:rPr>
              <a:t>(NaOH)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23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347281"/>
            <a:ext cx="1653539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总的计量关系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6801" y="723442"/>
            <a:ext cx="2997200" cy="5575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28040">
              <a:lnSpc>
                <a:spcPct val="100000"/>
              </a:lnSpc>
              <a:spcBef>
                <a:spcPts val="90"/>
              </a:spcBef>
            </a:pPr>
            <a:r>
              <a:rPr dirty="0" sz="1100" spc="-114">
                <a:latin typeface="Georgia"/>
                <a:cs typeface="Georgia"/>
              </a:rPr>
              <a:t>8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45" i="1">
                <a:latin typeface="Calibri"/>
                <a:cs typeface="Calibri"/>
              </a:rPr>
              <a:t>n</a:t>
            </a:r>
            <a:r>
              <a:rPr dirty="0" sz="1100" spc="45">
                <a:latin typeface="Georgia"/>
                <a:cs typeface="Georgia"/>
              </a:rPr>
              <a:t>(C</a:t>
            </a:r>
            <a:r>
              <a:rPr dirty="0" baseline="-13888" sz="900" spc="67">
                <a:latin typeface="Times New Roman"/>
                <a:cs typeface="Times New Roman"/>
              </a:rPr>
              <a:t>10</a:t>
            </a:r>
            <a:r>
              <a:rPr dirty="0" sz="1100" spc="45">
                <a:latin typeface="Georgia"/>
                <a:cs typeface="Georgia"/>
              </a:rPr>
              <a:t>H</a:t>
            </a:r>
            <a:r>
              <a:rPr dirty="0" baseline="-13888" sz="900" spc="67">
                <a:latin typeface="Times New Roman"/>
                <a:cs typeface="Times New Roman"/>
              </a:rPr>
              <a:t>20</a:t>
            </a:r>
            <a:r>
              <a:rPr dirty="0" sz="1100" spc="45">
                <a:latin typeface="Georgia"/>
                <a:cs typeface="Georgia"/>
              </a:rPr>
              <a:t>N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S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sz="1100" spc="45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i="1">
                <a:latin typeface="Calibri"/>
                <a:cs typeface="Calibri"/>
              </a:rPr>
              <a:t>n</a:t>
            </a:r>
            <a:r>
              <a:rPr dirty="0" sz="1100">
                <a:latin typeface="Georgia"/>
                <a:cs typeface="Georgia"/>
              </a:rPr>
              <a:t>(NaOH)</a:t>
            </a:r>
            <a:endParaRPr sz="1100">
              <a:latin typeface="Georgia"/>
              <a:cs typeface="Georgia"/>
            </a:endParaRPr>
          </a:p>
          <a:p>
            <a:pPr marL="25400">
              <a:lnSpc>
                <a:spcPct val="100000"/>
              </a:lnSpc>
              <a:spcBef>
                <a:spcPts val="143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9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1815" y="1454759"/>
            <a:ext cx="6140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10</a:t>
            </a:r>
            <a:r>
              <a:rPr dirty="0" sz="600" spc="65">
                <a:latin typeface="Times New Roman"/>
                <a:cs typeface="Times New Roman"/>
              </a:rPr>
              <a:t> 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20</a:t>
            </a:r>
            <a:r>
              <a:rPr dirty="0" sz="600" spc="65">
                <a:latin typeface="Times New Roman"/>
                <a:cs typeface="Times New Roman"/>
              </a:rPr>
              <a:t> 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sz="600" spc="275">
                <a:latin typeface="Times New Roman"/>
                <a:cs typeface="Times New Roman"/>
              </a:rPr>
              <a:t> </a:t>
            </a: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7630" y="1371358"/>
            <a:ext cx="11823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114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8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× </a:t>
            </a:r>
            <a:r>
              <a:rPr dirty="0" u="sng" sz="1100" spc="6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(C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u="sng" sz="1100" spc="-8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H</a:t>
            </a:r>
            <a:r>
              <a:rPr dirty="0" sz="1100" spc="-80">
                <a:latin typeface="Georgia"/>
                <a:cs typeface="Georgia"/>
              </a:rPr>
              <a:t>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N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S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7589" y="1560118"/>
            <a:ext cx="1022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14" i="1">
                <a:latin typeface="Calibri"/>
                <a:cs typeface="Calibri"/>
              </a:rPr>
              <a:t>M</a:t>
            </a:r>
            <a:r>
              <a:rPr dirty="0" sz="1100" spc="-155" i="1">
                <a:latin typeface="Calibri"/>
                <a:cs typeface="Calibri"/>
              </a:rPr>
              <a:t> </a:t>
            </a:r>
            <a:r>
              <a:rPr dirty="0" sz="1100" spc="45">
                <a:latin typeface="Georgia"/>
                <a:cs typeface="Georgia"/>
              </a:rPr>
              <a:t>(C</a:t>
            </a:r>
            <a:r>
              <a:rPr dirty="0" baseline="-13888" sz="900" spc="67">
                <a:latin typeface="Times New Roman"/>
                <a:cs typeface="Times New Roman"/>
              </a:rPr>
              <a:t>10</a:t>
            </a:r>
            <a:r>
              <a:rPr dirty="0" sz="1100" spc="45">
                <a:latin typeface="Georgia"/>
                <a:cs typeface="Georgia"/>
              </a:rPr>
              <a:t>H</a:t>
            </a:r>
            <a:r>
              <a:rPr dirty="0" baseline="-13888" sz="900" spc="67">
                <a:latin typeface="Times New Roman"/>
                <a:cs typeface="Times New Roman"/>
              </a:rPr>
              <a:t>20</a:t>
            </a:r>
            <a:r>
              <a:rPr dirty="0" sz="1100" spc="45">
                <a:latin typeface="Georgia"/>
                <a:cs typeface="Georgia"/>
              </a:rPr>
              <a:t>N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S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sz="1100" spc="45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67801" y="1465084"/>
            <a:ext cx="14979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45">
                <a:latin typeface="Georgia"/>
                <a:cs typeface="Georgia"/>
              </a:rPr>
              <a:t> </a:t>
            </a:r>
            <a:r>
              <a:rPr dirty="0" sz="1100" spc="-10" i="1">
                <a:latin typeface="Calibri"/>
                <a:cs typeface="Calibri"/>
              </a:rPr>
              <a:t>c</a:t>
            </a:r>
            <a:r>
              <a:rPr dirty="0" sz="1100" spc="-10">
                <a:latin typeface="Georgia"/>
                <a:cs typeface="Georgia"/>
              </a:rPr>
              <a:t>(NaOH)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10" i="1">
                <a:latin typeface="Calibri"/>
                <a:cs typeface="Calibri"/>
              </a:rPr>
              <a:t>V </a:t>
            </a:r>
            <a:r>
              <a:rPr dirty="0" sz="1100" spc="-10">
                <a:latin typeface="Georgia"/>
                <a:cs typeface="Georgia"/>
              </a:rPr>
              <a:t>(NaOH)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6420" y="2274239"/>
            <a:ext cx="6076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10 20 2</a:t>
            </a:r>
            <a:r>
              <a:rPr dirty="0" sz="600" spc="204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8658" y="2097113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8658" y="2285873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>
                <a:latin typeface="Georgia"/>
                <a:cs typeface="Georgia"/>
              </a:rPr>
              <a:t>8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0842" y="2190838"/>
            <a:ext cx="15049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45235" algn="l"/>
              </a:tabLst>
            </a:pPr>
            <a:r>
              <a:rPr dirty="0" sz="1100" spc="60" i="1">
                <a:latin typeface="Calibri"/>
                <a:cs typeface="Calibri"/>
              </a:rPr>
              <a:t>m</a:t>
            </a:r>
            <a:r>
              <a:rPr dirty="0" sz="1100" spc="60">
                <a:latin typeface="Georgia"/>
                <a:cs typeface="Georgia"/>
              </a:rPr>
              <a:t>(C   </a:t>
            </a:r>
            <a:r>
              <a:rPr dirty="0" sz="1100" spc="-80">
                <a:latin typeface="Georgia"/>
                <a:cs typeface="Georgia"/>
              </a:rPr>
              <a:t>H    </a:t>
            </a:r>
            <a:r>
              <a:rPr dirty="0" sz="1100" spc="-30">
                <a:latin typeface="Georgia"/>
                <a:cs typeface="Georgia"/>
              </a:rPr>
              <a:t>N  </a:t>
            </a:r>
            <a:r>
              <a:rPr dirty="0" sz="1100" spc="-15">
                <a:latin typeface="Georgia"/>
                <a:cs typeface="Georgia"/>
              </a:rPr>
              <a:t>S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	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55">
                <a:latin typeface="Georgia"/>
                <a:cs typeface="Georgia"/>
              </a:rPr>
              <a:t>0</a:t>
            </a:r>
            <a:r>
              <a:rPr dirty="0" sz="1100" spc="-55" i="1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20202" y="2190838"/>
            <a:ext cx="6800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0">
                <a:latin typeface="Georgia"/>
                <a:cs typeface="Georgia"/>
              </a:rPr>
              <a:t>02500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70">
                <a:latin typeface="Georgia"/>
                <a:cs typeface="Georgia"/>
              </a:rPr>
              <a:t>34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59354" y="2196261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74442" y="2190838"/>
            <a:ext cx="10521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54050" algn="l"/>
              </a:tabLst>
            </a:pPr>
            <a:r>
              <a:rPr dirty="0" sz="1100" spc="-45" i="1">
                <a:latin typeface="Calibri"/>
                <a:cs typeface="Calibri"/>
              </a:rPr>
              <a:t>.</a:t>
            </a:r>
            <a:r>
              <a:rPr dirty="0" sz="1100" spc="-45">
                <a:latin typeface="Georgia"/>
                <a:cs typeface="Georgia"/>
              </a:rPr>
              <a:t>85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	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50">
                <a:latin typeface="Georgia"/>
                <a:cs typeface="Georgia"/>
              </a:rPr>
              <a:t>296</a:t>
            </a:r>
            <a:r>
              <a:rPr dirty="0" sz="1100" spc="-50" i="1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00805" y="2190838"/>
            <a:ext cx="456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Georgia"/>
                <a:cs typeface="Georgia"/>
              </a:rPr>
              <a:t>54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0</a:t>
            </a:r>
            <a:r>
              <a:rPr dirty="0" sz="1100" spc="-55" i="1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31844" y="2190838"/>
            <a:ext cx="5340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5">
                <a:latin typeface="Georgia"/>
                <a:cs typeface="Georgia"/>
              </a:rPr>
              <a:t>032295</a:t>
            </a:r>
            <a:r>
              <a:rPr dirty="0" sz="1100" spc="-14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23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347281"/>
            <a:ext cx="1653539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总的计量关系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6801" y="723442"/>
            <a:ext cx="2997200" cy="5575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28040">
              <a:lnSpc>
                <a:spcPct val="100000"/>
              </a:lnSpc>
              <a:spcBef>
                <a:spcPts val="90"/>
              </a:spcBef>
            </a:pPr>
            <a:r>
              <a:rPr dirty="0" sz="1100" spc="-114">
                <a:latin typeface="Georgia"/>
                <a:cs typeface="Georgia"/>
              </a:rPr>
              <a:t>8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45" i="1">
                <a:latin typeface="Calibri"/>
                <a:cs typeface="Calibri"/>
              </a:rPr>
              <a:t>n</a:t>
            </a:r>
            <a:r>
              <a:rPr dirty="0" sz="1100" spc="45">
                <a:latin typeface="Georgia"/>
                <a:cs typeface="Georgia"/>
              </a:rPr>
              <a:t>(C</a:t>
            </a:r>
            <a:r>
              <a:rPr dirty="0" baseline="-13888" sz="900" spc="67">
                <a:latin typeface="Times New Roman"/>
                <a:cs typeface="Times New Roman"/>
              </a:rPr>
              <a:t>10</a:t>
            </a:r>
            <a:r>
              <a:rPr dirty="0" sz="1100" spc="45">
                <a:latin typeface="Georgia"/>
                <a:cs typeface="Georgia"/>
              </a:rPr>
              <a:t>H</a:t>
            </a:r>
            <a:r>
              <a:rPr dirty="0" baseline="-13888" sz="900" spc="67">
                <a:latin typeface="Times New Roman"/>
                <a:cs typeface="Times New Roman"/>
              </a:rPr>
              <a:t>20</a:t>
            </a:r>
            <a:r>
              <a:rPr dirty="0" sz="1100" spc="45">
                <a:latin typeface="Georgia"/>
                <a:cs typeface="Georgia"/>
              </a:rPr>
              <a:t>N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S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sz="1100" spc="45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70">
                <a:latin typeface="Georgia"/>
                <a:cs typeface="Georgia"/>
              </a:rPr>
              <a:t>1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i="1">
                <a:latin typeface="Calibri"/>
                <a:cs typeface="Calibri"/>
              </a:rPr>
              <a:t>n</a:t>
            </a:r>
            <a:r>
              <a:rPr dirty="0" sz="1100">
                <a:latin typeface="Georgia"/>
                <a:cs typeface="Georgia"/>
              </a:rPr>
              <a:t>(NaOH)</a:t>
            </a:r>
            <a:endParaRPr sz="1100">
              <a:latin typeface="Georgia"/>
              <a:cs typeface="Georgia"/>
            </a:endParaRPr>
          </a:p>
          <a:p>
            <a:pPr marL="25400">
              <a:lnSpc>
                <a:spcPct val="100000"/>
              </a:lnSpc>
              <a:spcBef>
                <a:spcPts val="143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9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1815" y="1454759"/>
            <a:ext cx="6140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10</a:t>
            </a:r>
            <a:r>
              <a:rPr dirty="0" sz="600" spc="65">
                <a:latin typeface="Times New Roman"/>
                <a:cs typeface="Times New Roman"/>
              </a:rPr>
              <a:t> 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20</a:t>
            </a:r>
            <a:r>
              <a:rPr dirty="0" sz="600" spc="65">
                <a:latin typeface="Times New Roman"/>
                <a:cs typeface="Times New Roman"/>
              </a:rPr>
              <a:t> 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sz="600" spc="275">
                <a:latin typeface="Times New Roman"/>
                <a:cs typeface="Times New Roman"/>
              </a:rPr>
              <a:t> </a:t>
            </a: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7630" y="1371358"/>
            <a:ext cx="11823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114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8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× </a:t>
            </a:r>
            <a:r>
              <a:rPr dirty="0" u="sng" sz="1100" spc="6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(C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u="sng" sz="1100" spc="-8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H</a:t>
            </a:r>
            <a:r>
              <a:rPr dirty="0" sz="1100" spc="-80">
                <a:latin typeface="Georgia"/>
                <a:cs typeface="Georgia"/>
              </a:rPr>
              <a:t>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N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S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7589" y="1560118"/>
            <a:ext cx="1022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14" i="1">
                <a:latin typeface="Calibri"/>
                <a:cs typeface="Calibri"/>
              </a:rPr>
              <a:t>M</a:t>
            </a:r>
            <a:r>
              <a:rPr dirty="0" sz="1100" spc="-155" i="1">
                <a:latin typeface="Calibri"/>
                <a:cs typeface="Calibri"/>
              </a:rPr>
              <a:t> </a:t>
            </a:r>
            <a:r>
              <a:rPr dirty="0" sz="1100" spc="45">
                <a:latin typeface="Georgia"/>
                <a:cs typeface="Georgia"/>
              </a:rPr>
              <a:t>(C</a:t>
            </a:r>
            <a:r>
              <a:rPr dirty="0" baseline="-13888" sz="900" spc="67">
                <a:latin typeface="Times New Roman"/>
                <a:cs typeface="Times New Roman"/>
              </a:rPr>
              <a:t>10</a:t>
            </a:r>
            <a:r>
              <a:rPr dirty="0" sz="1100" spc="45">
                <a:latin typeface="Georgia"/>
                <a:cs typeface="Georgia"/>
              </a:rPr>
              <a:t>H</a:t>
            </a:r>
            <a:r>
              <a:rPr dirty="0" baseline="-13888" sz="900" spc="67">
                <a:latin typeface="Times New Roman"/>
                <a:cs typeface="Times New Roman"/>
              </a:rPr>
              <a:t>20</a:t>
            </a:r>
            <a:r>
              <a:rPr dirty="0" sz="1100" spc="45">
                <a:latin typeface="Georgia"/>
                <a:cs typeface="Georgia"/>
              </a:rPr>
              <a:t>N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S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sz="1100" spc="45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67801" y="1465084"/>
            <a:ext cx="14979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45">
                <a:latin typeface="Georgia"/>
                <a:cs typeface="Georgia"/>
              </a:rPr>
              <a:t> </a:t>
            </a:r>
            <a:r>
              <a:rPr dirty="0" sz="1100" spc="-10" i="1">
                <a:latin typeface="Calibri"/>
                <a:cs typeface="Calibri"/>
              </a:rPr>
              <a:t>c</a:t>
            </a:r>
            <a:r>
              <a:rPr dirty="0" sz="1100" spc="-10">
                <a:latin typeface="Georgia"/>
                <a:cs typeface="Georgia"/>
              </a:rPr>
              <a:t>(NaOH)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10" i="1">
                <a:latin typeface="Calibri"/>
                <a:cs typeface="Calibri"/>
              </a:rPr>
              <a:t>V </a:t>
            </a:r>
            <a:r>
              <a:rPr dirty="0" sz="1100" spc="-10">
                <a:latin typeface="Georgia"/>
                <a:cs typeface="Georgia"/>
              </a:rPr>
              <a:t>(NaOH)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6420" y="2274239"/>
            <a:ext cx="6076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10 20 2</a:t>
            </a:r>
            <a:r>
              <a:rPr dirty="0" sz="600" spc="204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8658" y="2097113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8658" y="2285873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>
                <a:latin typeface="Georgia"/>
                <a:cs typeface="Georgia"/>
              </a:rPr>
              <a:t>8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0842" y="2190838"/>
            <a:ext cx="15049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45235" algn="l"/>
              </a:tabLst>
            </a:pPr>
            <a:r>
              <a:rPr dirty="0" sz="1100" spc="60" i="1">
                <a:latin typeface="Calibri"/>
                <a:cs typeface="Calibri"/>
              </a:rPr>
              <a:t>m</a:t>
            </a:r>
            <a:r>
              <a:rPr dirty="0" sz="1100" spc="60">
                <a:latin typeface="Georgia"/>
                <a:cs typeface="Georgia"/>
              </a:rPr>
              <a:t>(C   </a:t>
            </a:r>
            <a:r>
              <a:rPr dirty="0" sz="1100" spc="-80">
                <a:latin typeface="Georgia"/>
                <a:cs typeface="Georgia"/>
              </a:rPr>
              <a:t>H    </a:t>
            </a:r>
            <a:r>
              <a:rPr dirty="0" sz="1100" spc="-30">
                <a:latin typeface="Georgia"/>
                <a:cs typeface="Georgia"/>
              </a:rPr>
              <a:t>N  </a:t>
            </a:r>
            <a:r>
              <a:rPr dirty="0" sz="1100" spc="-15">
                <a:latin typeface="Georgia"/>
                <a:cs typeface="Georgia"/>
              </a:rPr>
              <a:t>S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	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55">
                <a:latin typeface="Georgia"/>
                <a:cs typeface="Georgia"/>
              </a:rPr>
              <a:t>0</a:t>
            </a:r>
            <a:r>
              <a:rPr dirty="0" sz="1100" spc="-55" i="1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20202" y="2190838"/>
            <a:ext cx="6800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0">
                <a:latin typeface="Georgia"/>
                <a:cs typeface="Georgia"/>
              </a:rPr>
              <a:t>02500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-70">
                <a:latin typeface="Georgia"/>
                <a:cs typeface="Georgia"/>
              </a:rPr>
              <a:t>34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59354" y="2196261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74442" y="2190838"/>
            <a:ext cx="10521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54050" algn="l"/>
              </a:tabLst>
            </a:pPr>
            <a:r>
              <a:rPr dirty="0" sz="1100" spc="-45" i="1">
                <a:latin typeface="Calibri"/>
                <a:cs typeface="Calibri"/>
              </a:rPr>
              <a:t>.</a:t>
            </a:r>
            <a:r>
              <a:rPr dirty="0" sz="1100" spc="-45">
                <a:latin typeface="Georgia"/>
                <a:cs typeface="Georgia"/>
              </a:rPr>
              <a:t>85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	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50">
                <a:latin typeface="Georgia"/>
                <a:cs typeface="Georgia"/>
              </a:rPr>
              <a:t>296</a:t>
            </a:r>
            <a:r>
              <a:rPr dirty="0" sz="1100" spc="-50" i="1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00805" y="2190838"/>
            <a:ext cx="456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Georgia"/>
                <a:cs typeface="Georgia"/>
              </a:rPr>
              <a:t>54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0</a:t>
            </a:r>
            <a:r>
              <a:rPr dirty="0" sz="1100" spc="-55" i="1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31844" y="2190838"/>
            <a:ext cx="5340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5">
                <a:latin typeface="Georgia"/>
                <a:cs typeface="Georgia"/>
              </a:rPr>
              <a:t>032295</a:t>
            </a:r>
            <a:r>
              <a:rPr dirty="0" sz="1100" spc="-14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9564" y="2704122"/>
            <a:ext cx="6076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10 20 2</a:t>
            </a:r>
            <a:r>
              <a:rPr dirty="0" sz="600" spc="204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9501" y="2607424"/>
            <a:ext cx="134493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80">
                <a:latin typeface="Georgia"/>
                <a:cs typeface="Georgia"/>
              </a:rPr>
              <a:t>C</a:t>
            </a:r>
            <a:r>
              <a:rPr dirty="0" sz="1100" spc="14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-7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13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S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的含量为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85073" y="2526982"/>
            <a:ext cx="48005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6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sz="1100" spc="-65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.</a:t>
            </a:r>
            <a:r>
              <a:rPr dirty="0" u="sng" sz="1100" spc="-6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32295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12404" y="2702471"/>
            <a:ext cx="64325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34722" sz="1800" spc="-7">
                <a:latin typeface="Arial Unicode MS"/>
                <a:cs typeface="Arial Unicode MS"/>
              </a:rPr>
              <a:t>：</a:t>
            </a:r>
            <a:r>
              <a:rPr dirty="0" baseline="34722" sz="1800" spc="-209">
                <a:latin typeface="Arial Unicode MS"/>
                <a:cs typeface="Arial Unicode MS"/>
              </a:rPr>
              <a:t> </a:t>
            </a:r>
            <a:r>
              <a:rPr dirty="0" sz="1100" spc="-45">
                <a:latin typeface="Georgia"/>
                <a:cs typeface="Georgia"/>
              </a:rPr>
              <a:t>0</a:t>
            </a:r>
            <a:r>
              <a:rPr dirty="0" sz="1100" spc="-45" i="1">
                <a:latin typeface="Calibri"/>
                <a:cs typeface="Calibri"/>
              </a:rPr>
              <a:t>.</a:t>
            </a:r>
            <a:r>
              <a:rPr dirty="0" sz="1100" spc="-45">
                <a:latin typeface="Georgia"/>
                <a:cs typeface="Georgia"/>
              </a:rPr>
              <a:t>4613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85174" y="2620708"/>
            <a:ext cx="6648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65">
                <a:latin typeface="Georgia"/>
                <a:cs typeface="Georgia"/>
              </a:rPr>
              <a:t>100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7</a:t>
            </a:r>
            <a:r>
              <a:rPr dirty="0" sz="1100" spc="5" i="1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24022" y="2620708"/>
            <a:ext cx="349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>
                <a:latin typeface="Georgia"/>
                <a:cs typeface="Georgia"/>
              </a:rPr>
              <a:t>001%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23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23139"/>
            <a:ext cx="2194560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25">
                <a:solidFill>
                  <a:srgbClr val="FFFFFF"/>
                </a:solidFill>
                <a:latin typeface="Gill Sans MT"/>
                <a:cs typeface="Gill Sans MT"/>
              </a:rPr>
              <a:t>2.3</a:t>
            </a:r>
            <a:r>
              <a:rPr dirty="0" sz="1400" spc="85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溶液浓度的表达方式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4599" y="1609788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009610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91553" y="1460423"/>
            <a:ext cx="1240155" cy="6686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600" spc="-10">
                <a:latin typeface="Arial Unicode MS"/>
                <a:cs typeface="Arial Unicode MS"/>
              </a:rPr>
              <a:t>物质的量浓度</a:t>
            </a:r>
            <a:endParaRPr sz="16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1600" spc="-10">
                <a:latin typeface="Arial Unicode MS"/>
                <a:cs typeface="Arial Unicode MS"/>
              </a:rPr>
              <a:t>滴定度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16713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Georgia"/>
                <a:cs typeface="Georgia"/>
              </a:rPr>
              <a:t>2.2.1</a:t>
            </a:r>
            <a:r>
              <a:rPr dirty="0" sz="1000" spc="12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物质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量浓度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846620"/>
            <a:ext cx="407352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latin typeface="Arial Unicode MS"/>
                <a:cs typeface="Arial Unicode MS"/>
              </a:rPr>
              <a:t>物</a:t>
            </a:r>
            <a:r>
              <a:rPr dirty="0" sz="1200" spc="175">
                <a:latin typeface="Arial Unicode MS"/>
                <a:cs typeface="Arial Unicode MS"/>
              </a:rPr>
              <a:t>质</a:t>
            </a:r>
            <a:r>
              <a:rPr dirty="0" spc="50"/>
              <a:t>B</a:t>
            </a:r>
            <a:r>
              <a:rPr dirty="0" spc="-130"/>
              <a:t> </a:t>
            </a:r>
            <a:r>
              <a:rPr dirty="0" sz="1200" spc="-10">
                <a:latin typeface="Arial Unicode MS"/>
                <a:cs typeface="Arial Unicode MS"/>
              </a:rPr>
              <a:t>的浓度一般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物质的量浓度</a:t>
            </a:r>
            <a:r>
              <a:rPr dirty="0" sz="1200" spc="-10">
                <a:latin typeface="Arial Unicode MS"/>
                <a:cs typeface="Arial Unicode MS"/>
              </a:rPr>
              <a:t>来表</a:t>
            </a:r>
            <a:r>
              <a:rPr dirty="0" sz="1200" spc="-80">
                <a:latin typeface="Arial Unicode MS"/>
                <a:cs typeface="Arial Unicode MS"/>
              </a:rPr>
              <a:t>示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其计算方式如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6295" y="1259548"/>
            <a:ext cx="4381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0" i="1">
                <a:latin typeface="Calibri"/>
                <a:cs typeface="Calibri"/>
              </a:rPr>
              <a:t>c</a:t>
            </a:r>
            <a:r>
              <a:rPr dirty="0" sz="1100" spc="20">
                <a:latin typeface="Georgia"/>
                <a:cs typeface="Georgia"/>
              </a:rPr>
              <a:t>(B)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2055" y="1165822"/>
            <a:ext cx="3149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5" i="1">
                <a:latin typeface="Calibri"/>
                <a:cs typeface="Calibri"/>
              </a:rPr>
              <a:t>n</a:t>
            </a:r>
            <a:r>
              <a:rPr dirty="0" sz="1100" spc="25">
                <a:latin typeface="Georgia"/>
                <a:cs typeface="Georgia"/>
              </a:rPr>
              <a:t>(B)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84767" y="1376159"/>
            <a:ext cx="289560" cy="0"/>
          </a:xfrm>
          <a:custGeom>
            <a:avLst/>
            <a:gdLst/>
            <a:ahLst/>
            <a:cxnLst/>
            <a:rect l="l" t="t" r="r" b="b"/>
            <a:pathLst>
              <a:path w="289560" h="0">
                <a:moveTo>
                  <a:pt x="0" y="0"/>
                </a:moveTo>
                <a:lnTo>
                  <a:pt x="28905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60790" y="1354582"/>
            <a:ext cx="106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0" i="1">
                <a:latin typeface="Calibri"/>
                <a:cs typeface="Calibri"/>
              </a:rPr>
              <a:t>V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9722" y="1259548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(1)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4599" y="1969554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4599" y="2231212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4599" y="2716568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0444" y="1529677"/>
            <a:ext cx="4370070" cy="129603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90">
                <a:latin typeface="Arial Unicode MS"/>
                <a:cs typeface="Arial Unicode MS"/>
              </a:rPr>
              <a:t>中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620"/>
              </a:spcBef>
            </a:pPr>
            <a:r>
              <a:rPr dirty="0" sz="1100" spc="40" i="1">
                <a:latin typeface="Calibri"/>
                <a:cs typeface="Calibri"/>
              </a:rPr>
              <a:t>n</a:t>
            </a:r>
            <a:r>
              <a:rPr dirty="0" sz="1100" spc="40">
                <a:latin typeface="Georgia"/>
                <a:cs typeface="Georgia"/>
              </a:rPr>
              <a:t>(B)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表示溶液中组</a:t>
            </a:r>
            <a:r>
              <a:rPr dirty="0" sz="1200" spc="175">
                <a:latin typeface="Arial Unicode MS"/>
                <a:cs typeface="Arial Unicode MS"/>
              </a:rPr>
              <a:t>分</a:t>
            </a:r>
            <a:r>
              <a:rPr dirty="0" sz="1100" spc="50">
                <a:latin typeface="Georgia"/>
                <a:cs typeface="Georgia"/>
              </a:rPr>
              <a:t>B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的物质的</a:t>
            </a:r>
            <a:r>
              <a:rPr dirty="0" sz="1200" spc="-80">
                <a:latin typeface="Arial Unicode MS"/>
                <a:cs typeface="Arial Unicode MS"/>
              </a:rPr>
              <a:t>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其单位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或</a:t>
            </a:r>
            <a:r>
              <a:rPr dirty="0" sz="1100" spc="-50">
                <a:latin typeface="Georgia"/>
                <a:cs typeface="Georgia"/>
              </a:rPr>
              <a:t>mmol</a:t>
            </a:r>
            <a:r>
              <a:rPr dirty="0" sz="1200" spc="-50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303530" marR="30480">
              <a:lnSpc>
                <a:spcPct val="122300"/>
              </a:lnSpc>
              <a:spcBef>
                <a:spcPts val="300"/>
              </a:spcBef>
            </a:pPr>
            <a:r>
              <a:rPr dirty="0" sz="1100" spc="10" i="1">
                <a:latin typeface="Calibri"/>
                <a:cs typeface="Calibri"/>
              </a:rPr>
              <a:t>V</a:t>
            </a:r>
            <a:r>
              <a:rPr dirty="0" sz="1100" spc="90" i="1">
                <a:latin typeface="Calibri"/>
                <a:cs typeface="Calibri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为溶液的体</a:t>
            </a:r>
            <a:r>
              <a:rPr dirty="0" sz="1200" spc="-80">
                <a:latin typeface="Arial Unicode MS"/>
                <a:cs typeface="Arial Unicode MS"/>
              </a:rPr>
              <a:t>积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其单位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20">
                <a:latin typeface="Georgia"/>
                <a:cs typeface="Georgia"/>
              </a:rPr>
              <a:t>m</a:t>
            </a:r>
            <a:r>
              <a:rPr dirty="0" baseline="37037" sz="900" spc="30">
                <a:latin typeface="Times New Roman"/>
                <a:cs typeface="Times New Roman"/>
              </a:rPr>
              <a:t>3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在分析化学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最常用的单位 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125">
                <a:latin typeface="Georgia"/>
                <a:cs typeface="Georgia"/>
              </a:rPr>
              <a:t>L</a:t>
            </a:r>
            <a:r>
              <a:rPr dirty="0" sz="1200" spc="-125">
                <a:latin typeface="Arial Unicode MS"/>
                <a:cs typeface="Arial Unicode MS"/>
              </a:rPr>
              <a:t>（</a:t>
            </a:r>
            <a:r>
              <a:rPr dirty="0" sz="1200" spc="30">
                <a:latin typeface="Arial Unicode MS"/>
                <a:cs typeface="Arial Unicode MS"/>
              </a:rPr>
              <a:t>升</a:t>
            </a:r>
            <a:r>
              <a:rPr dirty="0" sz="1200" spc="-280">
                <a:latin typeface="Arial Unicode MS"/>
                <a:cs typeface="Arial Unicode MS"/>
              </a:rPr>
              <a:t>）</a:t>
            </a:r>
            <a:r>
              <a:rPr dirty="0" sz="1200" spc="175">
                <a:latin typeface="Arial Unicode MS"/>
                <a:cs typeface="Arial Unicode MS"/>
              </a:rPr>
              <a:t>或</a:t>
            </a:r>
            <a:r>
              <a:rPr dirty="0" sz="1100" spc="-105">
                <a:latin typeface="Georgia"/>
                <a:cs typeface="Georgia"/>
              </a:rPr>
              <a:t>mL</a:t>
            </a:r>
            <a:r>
              <a:rPr dirty="0" sz="1200" spc="-105">
                <a:latin typeface="Arial Unicode MS"/>
                <a:cs typeface="Arial Unicode MS"/>
              </a:rPr>
              <a:t>（</a:t>
            </a:r>
            <a:r>
              <a:rPr dirty="0" sz="1200" spc="-5">
                <a:latin typeface="Arial Unicode MS"/>
                <a:cs typeface="Arial Unicode MS"/>
              </a:rPr>
              <a:t>毫</a:t>
            </a:r>
            <a:r>
              <a:rPr dirty="0" sz="1200" spc="30">
                <a:latin typeface="Arial Unicode MS"/>
                <a:cs typeface="Arial Unicode MS"/>
              </a:rPr>
              <a:t>升</a:t>
            </a:r>
            <a:r>
              <a:rPr dirty="0" sz="1200" spc="-655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物</a:t>
            </a:r>
            <a:r>
              <a:rPr dirty="0" sz="1200" spc="175">
                <a:latin typeface="Arial Unicode MS"/>
                <a:cs typeface="Arial Unicode MS"/>
              </a:rPr>
              <a:t>质</a:t>
            </a:r>
            <a:r>
              <a:rPr dirty="0" sz="1100" spc="50">
                <a:latin typeface="Georgia"/>
                <a:cs typeface="Georgia"/>
              </a:rPr>
              <a:t>B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的量浓</a:t>
            </a:r>
            <a:r>
              <a:rPr dirty="0" sz="1200" spc="175">
                <a:latin typeface="Arial Unicode MS"/>
                <a:cs typeface="Arial Unicode MS"/>
              </a:rPr>
              <a:t>度</a:t>
            </a:r>
            <a:r>
              <a:rPr dirty="0" sz="1100" spc="20" i="1">
                <a:latin typeface="Calibri"/>
                <a:cs typeface="Calibri"/>
              </a:rPr>
              <a:t>c</a:t>
            </a:r>
            <a:r>
              <a:rPr dirty="0" sz="1100" spc="20">
                <a:latin typeface="Georgia"/>
                <a:cs typeface="Georgia"/>
              </a:rPr>
              <a:t>(B)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的常用单位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110">
                <a:latin typeface="Georgia"/>
                <a:cs typeface="Georgia"/>
              </a:rPr>
              <a:t>L</a:t>
            </a:r>
            <a:r>
              <a:rPr dirty="0" baseline="37037" sz="900" spc="165" i="1">
                <a:latin typeface="Arial"/>
                <a:cs typeface="Arial"/>
              </a:rPr>
              <a:t>−</a:t>
            </a:r>
            <a:r>
              <a:rPr dirty="0" baseline="37037" sz="900" spc="165">
                <a:latin typeface="Times New Roman"/>
                <a:cs typeface="Times New Roman"/>
              </a:rPr>
              <a:t>1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22110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物质的量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与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基本单元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883767"/>
            <a:ext cx="433451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物质的</a:t>
            </a:r>
            <a:r>
              <a:rPr dirty="0" sz="1200" spc="175">
                <a:latin typeface="Arial Unicode MS"/>
                <a:cs typeface="Arial Unicode MS"/>
              </a:rPr>
              <a:t>量</a:t>
            </a:r>
            <a:r>
              <a:rPr dirty="0" spc="40" i="1">
                <a:latin typeface="Calibri"/>
                <a:cs typeface="Calibri"/>
              </a:rPr>
              <a:t>n</a:t>
            </a:r>
            <a:r>
              <a:rPr dirty="0" spc="40"/>
              <a:t>(B)</a:t>
            </a:r>
            <a:r>
              <a:rPr dirty="0" spc="-105"/>
              <a:t> </a:t>
            </a:r>
            <a:r>
              <a:rPr dirty="0" sz="1200" spc="-5">
                <a:latin typeface="Arial Unicode MS"/>
                <a:cs typeface="Arial Unicode MS"/>
              </a:rPr>
              <a:t>取决于所采用的基本单</a:t>
            </a:r>
            <a:r>
              <a:rPr dirty="0" sz="1200" spc="-80">
                <a:latin typeface="Arial Unicode MS"/>
                <a:cs typeface="Arial Unicode MS"/>
              </a:rPr>
              <a:t>元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基本单元不</a:t>
            </a:r>
            <a:r>
              <a:rPr dirty="0" sz="1200" spc="-80">
                <a:latin typeface="Arial Unicode MS"/>
                <a:cs typeface="Arial Unicode MS"/>
              </a:rPr>
              <a:t>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 </a:t>
            </a:r>
            <a:r>
              <a:rPr dirty="0" sz="1200" spc="-5">
                <a:latin typeface="Arial Unicode MS"/>
                <a:cs typeface="Arial Unicode MS"/>
              </a:rPr>
              <a:t>摩尔质量的数值就不</a:t>
            </a:r>
            <a:r>
              <a:rPr dirty="0" sz="1200" spc="-80">
                <a:latin typeface="Arial Unicode MS"/>
                <a:cs typeface="Arial Unicode MS"/>
              </a:rPr>
              <a:t>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浓度值也不</a:t>
            </a:r>
            <a:r>
              <a:rPr dirty="0" sz="1200" spc="-20">
                <a:latin typeface="Arial Unicode MS"/>
                <a:cs typeface="Arial Unicode MS"/>
              </a:rPr>
              <a:t>同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对于硫酸溶液的浓 </a:t>
            </a:r>
            <a:r>
              <a:rPr dirty="0" sz="1200" spc="-80">
                <a:latin typeface="Arial Unicode MS"/>
                <a:cs typeface="Arial Unicode MS"/>
              </a:rPr>
              <a:t>度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可以有如下几种表示方</a:t>
            </a:r>
            <a:r>
              <a:rPr dirty="0" sz="1200" spc="-90">
                <a:latin typeface="Arial Unicode MS"/>
                <a:cs typeface="Arial Unicode MS"/>
              </a:rPr>
              <a:t>式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67890" y="1832229"/>
            <a:ext cx="309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9554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0149" y="1748828"/>
            <a:ext cx="880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 i="1">
                <a:latin typeface="Calibri"/>
                <a:cs typeface="Calibri"/>
              </a:rPr>
              <a:t>c</a:t>
            </a:r>
            <a:r>
              <a:rPr dirty="0" sz="1100" spc="-20">
                <a:latin typeface="Georgia"/>
                <a:cs typeface="Georgia"/>
              </a:rPr>
              <a:t>(H </a:t>
            </a:r>
            <a:r>
              <a:rPr dirty="0" sz="1100" spc="5">
                <a:latin typeface="Georgia"/>
                <a:cs typeface="Georgia"/>
              </a:rPr>
              <a:t>SO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0</a:t>
            </a:r>
            <a:r>
              <a:rPr dirty="0" sz="1100" spc="-55" i="1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04414" y="1748828"/>
            <a:ext cx="5276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mol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40">
                <a:latin typeface="Lucida Sans Unicode"/>
                <a:cs typeface="Lucida Sans Unicode"/>
              </a:rPr>
              <a:t> </a:t>
            </a:r>
            <a:r>
              <a:rPr dirty="0" sz="1100" spc="15">
                <a:latin typeface="Georgia"/>
                <a:cs typeface="Georgia"/>
              </a:rPr>
              <a:t>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06648" y="1754238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0890" y="2042452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40890" y="2231225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9244" y="2219591"/>
            <a:ext cx="309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9554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23720" y="1940839"/>
            <a:ext cx="7232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08330" algn="l"/>
              </a:tabLst>
            </a:pPr>
            <a:r>
              <a:rPr dirty="0" sz="1100" spc="-300">
                <a:latin typeface="Arial Unicode MS"/>
                <a:cs typeface="Arial Unicode MS"/>
              </a:rPr>
              <a:t>（</a:t>
            </a:r>
            <a:r>
              <a:rPr dirty="0" sz="1100" spc="-300">
                <a:latin typeface="Arial Unicode MS"/>
                <a:cs typeface="Arial Unicode MS"/>
              </a:rPr>
              <a:t>	</a:t>
            </a:r>
            <a:r>
              <a:rPr dirty="0" sz="1100" spc="-300">
                <a:latin typeface="Arial Unicode MS"/>
                <a:cs typeface="Arial Unicode MS"/>
              </a:rPr>
              <a:t>＼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0675" y="2136178"/>
            <a:ext cx="10604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7180" algn="l"/>
                <a:tab pos="831850" algn="l"/>
              </a:tabLst>
            </a:pPr>
            <a:r>
              <a:rPr dirty="0" sz="1100" spc="10" i="1">
                <a:latin typeface="Calibri"/>
                <a:cs typeface="Calibri"/>
              </a:rPr>
              <a:t>c	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SO	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130">
                <a:latin typeface="Georgia"/>
                <a:cs typeface="Georgia"/>
              </a:rPr>
              <a:t>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75395" y="2136178"/>
            <a:ext cx="5664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 i="1">
                <a:latin typeface="Calibri"/>
                <a:cs typeface="Calibri"/>
              </a:rPr>
              <a:t>.</a:t>
            </a:r>
            <a:r>
              <a:rPr dirty="0" sz="1100" spc="-25">
                <a:latin typeface="Georgia"/>
                <a:cs typeface="Georgia"/>
              </a:rPr>
              <a:t>2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40">
                <a:latin typeface="Lucida Sans Unicode"/>
                <a:cs typeface="Lucida Sans Unicode"/>
              </a:rPr>
              <a:t> </a:t>
            </a:r>
            <a:r>
              <a:rPr dirty="0" sz="1100" spc="15">
                <a:latin typeface="Georgia"/>
                <a:cs typeface="Georgia"/>
              </a:rPr>
              <a:t>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16110" y="2141601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55470" y="2468829"/>
            <a:ext cx="16910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425"/>
              </a:lnSpc>
              <a:spcBef>
                <a:spcPts val="90"/>
              </a:spcBef>
            </a:pPr>
            <a:r>
              <a:rPr dirty="0" sz="1100" spc="10" i="1">
                <a:latin typeface="Calibri"/>
                <a:cs typeface="Calibri"/>
              </a:rPr>
              <a:t>c</a:t>
            </a:r>
            <a:r>
              <a:rPr dirty="0" sz="1100" spc="10">
                <a:latin typeface="Georgia"/>
                <a:cs typeface="Georgia"/>
              </a:rPr>
              <a:t>(2H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SO</a:t>
            </a:r>
            <a:r>
              <a:rPr dirty="0" baseline="-13888" sz="900" spc="15">
                <a:latin typeface="Times New Roman"/>
                <a:cs typeface="Times New Roman"/>
              </a:rPr>
              <a:t>4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70">
                <a:latin typeface="Georgia"/>
                <a:cs typeface="Georgia"/>
              </a:rPr>
              <a:t>0</a:t>
            </a:r>
            <a:r>
              <a:rPr dirty="0" sz="1100" spc="-70" i="1">
                <a:latin typeface="Calibri"/>
                <a:cs typeface="Calibri"/>
              </a:rPr>
              <a:t>.</a:t>
            </a:r>
            <a:r>
              <a:rPr dirty="0" sz="1100" spc="-70">
                <a:latin typeface="Georgia"/>
                <a:cs typeface="Georgia"/>
              </a:rPr>
              <a:t>05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15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120">
                <a:latin typeface="Georgia"/>
                <a:cs typeface="Georgia"/>
              </a:rPr>
              <a:t>L</a:t>
            </a:r>
            <a:r>
              <a:rPr dirty="0" baseline="41666" sz="900" spc="179" i="1">
                <a:latin typeface="Arial"/>
                <a:cs typeface="Arial"/>
              </a:rPr>
              <a:t>−</a:t>
            </a:r>
            <a:endParaRPr baseline="41666" sz="900">
              <a:latin typeface="Arial"/>
              <a:cs typeface="Arial"/>
            </a:endParaRPr>
          </a:p>
          <a:p>
            <a:pPr algn="r" marR="30480">
              <a:lnSpc>
                <a:spcPts val="345"/>
              </a:lnSpc>
            </a:pP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3918" y="46263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91903" y="495846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 h="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379203" y="474268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67569" y="462635"/>
            <a:ext cx="309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9554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4101" y="365950"/>
            <a:ext cx="37052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720"/>
              </a:lnSpc>
              <a:spcBef>
                <a:spcPts val="95"/>
              </a:spcBef>
              <a:tabLst>
                <a:tab pos="2987675" algn="l"/>
              </a:tabLst>
            </a:pPr>
            <a:r>
              <a:rPr dirty="0" sz="1200" spc="-5">
                <a:latin typeface="Arial Unicode MS"/>
                <a:cs typeface="Arial Unicode MS"/>
              </a:rPr>
              <a:t>在上面三个浓度表示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硫酸分别</a:t>
            </a:r>
            <a:r>
              <a:rPr dirty="0" sz="1200" spc="175">
                <a:latin typeface="Arial Unicode MS"/>
                <a:cs typeface="Arial Unicode MS"/>
              </a:rPr>
              <a:t>以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SO	</a:t>
            </a:r>
            <a:r>
              <a:rPr dirty="0" baseline="37878" sz="1650" spc="104">
                <a:latin typeface="Georgia"/>
                <a:cs typeface="Georgia"/>
              </a:rPr>
              <a:t>1 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5">
                <a:latin typeface="Georgia"/>
                <a:cs typeface="Georgia"/>
              </a:rPr>
              <a:t>SO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endParaRPr sz="1200">
              <a:latin typeface="Arial Unicode MS"/>
              <a:cs typeface="Arial Unicode MS"/>
            </a:endParaRPr>
          </a:p>
          <a:p>
            <a:pPr algn="r" marR="701675">
              <a:lnSpc>
                <a:spcPts val="720"/>
              </a:lnSpc>
            </a:pPr>
            <a:r>
              <a:rPr dirty="0" baseline="-13888" sz="900" spc="60">
                <a:latin typeface="Times New Roman"/>
                <a:cs typeface="Times New Roman"/>
              </a:rPr>
              <a:t>4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545" y="589648"/>
            <a:ext cx="14725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100" spc="5">
                <a:latin typeface="Georgia"/>
                <a:cs typeface="Georgia"/>
              </a:rPr>
              <a:t>2H</a:t>
            </a:r>
            <a:r>
              <a:rPr dirty="0" baseline="-13888" sz="900" spc="7">
                <a:latin typeface="Times New Roman"/>
                <a:cs typeface="Times New Roman"/>
              </a:rPr>
              <a:t>2</a:t>
            </a:r>
            <a:r>
              <a:rPr dirty="0" sz="1100" spc="5">
                <a:latin typeface="Georgia"/>
                <a:cs typeface="Georgia"/>
              </a:rPr>
              <a:t>SO</a:t>
            </a:r>
            <a:r>
              <a:rPr dirty="0" baseline="-13888" sz="900" spc="7">
                <a:latin typeface="Times New Roman"/>
                <a:cs typeface="Times New Roman"/>
              </a:rPr>
              <a:t>4</a:t>
            </a:r>
            <a:r>
              <a:rPr dirty="0" baseline="-13888" sz="900" spc="6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为基本单</a:t>
            </a:r>
            <a:r>
              <a:rPr dirty="0" sz="1200" spc="-20">
                <a:latin typeface="Arial Unicode MS"/>
                <a:cs typeface="Arial Unicode MS"/>
              </a:rPr>
              <a:t>元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4599" y="1126566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45972" y="115769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 h="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33272" y="1136129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1638" y="1124496"/>
            <a:ext cx="26866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9554" algn="l"/>
                <a:tab pos="2389505" algn="l"/>
                <a:tab pos="262699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6153" y="1027811"/>
            <a:ext cx="41414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latin typeface="Arial Unicode MS"/>
                <a:cs typeface="Arial Unicode MS"/>
              </a:rPr>
              <a:t>当</a:t>
            </a:r>
            <a:r>
              <a:rPr dirty="0" sz="1200" spc="-5">
                <a:latin typeface="Arial Unicode MS"/>
                <a:cs typeface="Arial Unicode MS"/>
              </a:rPr>
              <a:t>以</a:t>
            </a:r>
            <a:r>
              <a:rPr dirty="0" sz="1200" spc="-45">
                <a:latin typeface="Arial Unicode MS"/>
                <a:cs typeface="Arial Unicode MS"/>
              </a:rPr>
              <a:t> </a:t>
            </a:r>
            <a:r>
              <a:rPr dirty="0" baseline="37878" sz="1650" spc="104">
                <a:latin typeface="Georgia"/>
                <a:cs typeface="Georgia"/>
              </a:rPr>
              <a:t>1</a:t>
            </a:r>
            <a:r>
              <a:rPr dirty="0" baseline="37878" sz="1650" spc="-225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-50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SO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为基本单元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相当于将一</a:t>
            </a:r>
            <a:r>
              <a:rPr dirty="0" sz="1200" spc="175">
                <a:latin typeface="Arial Unicode MS"/>
                <a:cs typeface="Arial Unicode MS"/>
              </a:rPr>
              <a:t>个</a:t>
            </a: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-50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SO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分</a:t>
            </a:r>
            <a:r>
              <a:rPr dirty="0" sz="1200" spc="-325">
                <a:latin typeface="Arial Unicode MS"/>
                <a:cs typeface="Arial Unicode MS"/>
              </a:rPr>
              <a:t>子</a:t>
            </a:r>
            <a:r>
              <a:rPr dirty="0" sz="1200" spc="850">
                <a:latin typeface="Arial Unicode MS"/>
                <a:cs typeface="Arial Unicode MS"/>
              </a:rPr>
              <a:t>“</a:t>
            </a:r>
            <a:r>
              <a:rPr dirty="0" sz="1200" spc="40">
                <a:latin typeface="Arial Unicode MS"/>
                <a:cs typeface="Arial Unicode MS"/>
              </a:rPr>
              <a:t>拆</a:t>
            </a:r>
            <a:r>
              <a:rPr dirty="0" sz="1200" spc="484">
                <a:latin typeface="Arial Unicode MS"/>
                <a:cs typeface="Arial Unicode MS"/>
              </a:rPr>
              <a:t>”</a:t>
            </a:r>
            <a:r>
              <a:rPr dirty="0" sz="1200" spc="-5">
                <a:latin typeface="Arial Unicode MS"/>
                <a:cs typeface="Arial Unicode MS"/>
              </a:rPr>
              <a:t>成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21596" y="1456232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 h="0">
                <a:moveTo>
                  <a:pt x="0" y="0"/>
                </a:moveTo>
                <a:lnTo>
                  <a:pt x="45549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74599" y="1611922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3425" y="1941588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 h="0">
                <a:moveTo>
                  <a:pt x="0" y="0"/>
                </a:moveTo>
                <a:lnTo>
                  <a:pt x="45549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53453" y="1172057"/>
            <a:ext cx="4147820" cy="77279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两个基本单</a:t>
            </a:r>
            <a:r>
              <a:rPr dirty="0" sz="1200" spc="-80">
                <a:latin typeface="Arial Unicode MS"/>
                <a:cs typeface="Arial Unicode MS"/>
              </a:rPr>
              <a:t>元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摩尔数增加了一</a:t>
            </a:r>
            <a:r>
              <a:rPr dirty="0" sz="1200" spc="-80">
                <a:latin typeface="Arial Unicode MS"/>
                <a:cs typeface="Arial Unicode MS"/>
              </a:rPr>
              <a:t>倍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故浓度值相应增加一</a:t>
            </a:r>
            <a:r>
              <a:rPr dirty="0" sz="1200" spc="-65">
                <a:latin typeface="Arial Unicode MS"/>
                <a:cs typeface="Arial Unicode MS"/>
              </a:rPr>
              <a:t>倍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620"/>
              </a:spcBef>
            </a:pPr>
            <a:r>
              <a:rPr dirty="0" sz="1200" spc="175">
                <a:latin typeface="Arial Unicode MS"/>
                <a:cs typeface="Arial Unicode MS"/>
              </a:rPr>
              <a:t>以</a:t>
            </a:r>
            <a:r>
              <a:rPr dirty="0" sz="1100" spc="5">
                <a:latin typeface="Georgia"/>
                <a:cs typeface="Georgia"/>
              </a:rPr>
              <a:t>2H</a:t>
            </a:r>
            <a:r>
              <a:rPr dirty="0" baseline="-13888" sz="900" spc="7">
                <a:latin typeface="Times New Roman"/>
                <a:cs typeface="Times New Roman"/>
              </a:rPr>
              <a:t>2</a:t>
            </a:r>
            <a:r>
              <a:rPr dirty="0" sz="1100" spc="5">
                <a:latin typeface="Georgia"/>
                <a:cs typeface="Georgia"/>
              </a:rPr>
              <a:t>SO</a:t>
            </a:r>
            <a:r>
              <a:rPr dirty="0" baseline="-13888" sz="900" spc="7">
                <a:latin typeface="Times New Roman"/>
                <a:cs typeface="Times New Roman"/>
              </a:rPr>
              <a:t>4</a:t>
            </a:r>
            <a:r>
              <a:rPr dirty="0" baseline="-13888" sz="900" spc="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作为基本单元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相当于把两</a:t>
            </a:r>
            <a:r>
              <a:rPr dirty="0" sz="1200" spc="175">
                <a:latin typeface="Arial Unicode MS"/>
                <a:cs typeface="Arial Unicode MS"/>
              </a:rPr>
              <a:t>个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分</a:t>
            </a:r>
            <a:r>
              <a:rPr dirty="0" sz="1200" spc="-305">
                <a:latin typeface="Arial Unicode MS"/>
                <a:cs typeface="Arial Unicode MS"/>
              </a:rPr>
              <a:t>子</a:t>
            </a:r>
            <a:r>
              <a:rPr dirty="0" sz="1200" spc="850">
                <a:latin typeface="Arial Unicode MS"/>
                <a:cs typeface="Arial Unicode MS"/>
              </a:rPr>
              <a:t>“</a:t>
            </a:r>
            <a:r>
              <a:rPr dirty="0" sz="1200" spc="40">
                <a:latin typeface="Arial Unicode MS"/>
                <a:cs typeface="Arial Unicode MS"/>
              </a:rPr>
              <a:t>缩</a:t>
            </a:r>
            <a:r>
              <a:rPr dirty="0" sz="1200" spc="505">
                <a:latin typeface="Arial Unicode MS"/>
                <a:cs typeface="Arial Unicode MS"/>
              </a:rPr>
              <a:t>”</a:t>
            </a:r>
            <a:r>
              <a:rPr dirty="0" sz="1200" spc="-5">
                <a:latin typeface="Arial Unicode MS"/>
                <a:cs typeface="Arial Unicode MS"/>
              </a:rPr>
              <a:t>减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为一个基本单</a:t>
            </a:r>
            <a:r>
              <a:rPr dirty="0" sz="1200" spc="-80">
                <a:latin typeface="Arial Unicode MS"/>
                <a:cs typeface="Arial Unicode MS"/>
              </a:rPr>
              <a:t>元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摩尔数减少了一</a:t>
            </a:r>
            <a:r>
              <a:rPr dirty="0" sz="1200" spc="-80">
                <a:latin typeface="Arial Unicode MS"/>
                <a:cs typeface="Arial Unicode MS"/>
              </a:rPr>
              <a:t>倍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故浓度值相应减小一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1553" y="1960549"/>
            <a:ext cx="3276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20">
                <a:latin typeface="Arial Unicode MS"/>
                <a:cs typeface="Arial Unicode MS"/>
              </a:rPr>
              <a:t>倍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27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3918" y="46263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78670" y="365950"/>
            <a:ext cx="24637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baseline="-13888" sz="900" spc="22">
                <a:latin typeface="Times New Roman"/>
                <a:cs typeface="Times New Roman"/>
              </a:rPr>
              <a:t>4</a:t>
            </a:r>
            <a:r>
              <a:rPr dirty="0" sz="1200" spc="1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91903" y="495846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 h="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379203" y="474268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67569" y="462635"/>
            <a:ext cx="309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9554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16801" y="365950"/>
            <a:ext cx="365442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2974975" algn="l"/>
              </a:tabLst>
            </a:pPr>
            <a:r>
              <a:rPr dirty="0" sz="1200" spc="-5">
                <a:latin typeface="Arial Unicode MS"/>
                <a:cs typeface="Arial Unicode MS"/>
              </a:rPr>
              <a:t>在上面三个浓度表示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硫酸分别</a:t>
            </a:r>
            <a:r>
              <a:rPr dirty="0" sz="1200" spc="175">
                <a:latin typeface="Arial Unicode MS"/>
                <a:cs typeface="Arial Unicode MS"/>
              </a:rPr>
              <a:t>以</a:t>
            </a:r>
            <a:r>
              <a:rPr dirty="0" spc="-80"/>
              <a:t>H </a:t>
            </a:r>
            <a:r>
              <a:rPr dirty="0" spc="-35"/>
              <a:t> </a:t>
            </a:r>
            <a:r>
              <a:rPr dirty="0" spc="5"/>
              <a:t>SO	</a:t>
            </a:r>
            <a:r>
              <a:rPr dirty="0" baseline="37878" sz="1650" spc="104"/>
              <a:t>1 </a:t>
            </a:r>
            <a:r>
              <a:rPr dirty="0" sz="1100" spc="-80"/>
              <a:t>H </a:t>
            </a:r>
            <a:r>
              <a:rPr dirty="0" sz="1100" spc="5"/>
              <a:t>SO</a:t>
            </a:r>
            <a:r>
              <a:rPr dirty="0" sz="1100" spc="75"/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545" y="589648"/>
            <a:ext cx="14725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100" spc="5">
                <a:latin typeface="Georgia"/>
                <a:cs typeface="Georgia"/>
              </a:rPr>
              <a:t>2H</a:t>
            </a:r>
            <a:r>
              <a:rPr dirty="0" baseline="-13888" sz="900" spc="7">
                <a:latin typeface="Times New Roman"/>
                <a:cs typeface="Times New Roman"/>
              </a:rPr>
              <a:t>2</a:t>
            </a:r>
            <a:r>
              <a:rPr dirty="0" sz="1100" spc="5">
                <a:latin typeface="Georgia"/>
                <a:cs typeface="Georgia"/>
              </a:rPr>
              <a:t>SO</a:t>
            </a:r>
            <a:r>
              <a:rPr dirty="0" baseline="-13888" sz="900" spc="7">
                <a:latin typeface="Times New Roman"/>
                <a:cs typeface="Times New Roman"/>
              </a:rPr>
              <a:t>4</a:t>
            </a:r>
            <a:r>
              <a:rPr dirty="0" baseline="-13888" sz="900" spc="6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为基本单</a:t>
            </a:r>
            <a:r>
              <a:rPr dirty="0" sz="1200" spc="-20">
                <a:latin typeface="Arial Unicode MS"/>
                <a:cs typeface="Arial Unicode MS"/>
              </a:rPr>
              <a:t>元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4599" y="1126566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45972" y="115769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 h="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33272" y="1136129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1638" y="1124496"/>
            <a:ext cx="26866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9554" algn="l"/>
                <a:tab pos="2389505" algn="l"/>
                <a:tab pos="262699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6153" y="1027811"/>
            <a:ext cx="41414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latin typeface="Arial Unicode MS"/>
                <a:cs typeface="Arial Unicode MS"/>
              </a:rPr>
              <a:t>当</a:t>
            </a:r>
            <a:r>
              <a:rPr dirty="0" sz="1200" spc="-5">
                <a:latin typeface="Arial Unicode MS"/>
                <a:cs typeface="Arial Unicode MS"/>
              </a:rPr>
              <a:t>以</a:t>
            </a:r>
            <a:r>
              <a:rPr dirty="0" sz="1200" spc="-45">
                <a:latin typeface="Arial Unicode MS"/>
                <a:cs typeface="Arial Unicode MS"/>
              </a:rPr>
              <a:t> </a:t>
            </a:r>
            <a:r>
              <a:rPr dirty="0" baseline="37878" sz="1650" spc="104">
                <a:latin typeface="Georgia"/>
                <a:cs typeface="Georgia"/>
              </a:rPr>
              <a:t>1</a:t>
            </a:r>
            <a:r>
              <a:rPr dirty="0" baseline="37878" sz="1650" spc="-225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-50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SO</a:t>
            </a:r>
            <a:r>
              <a:rPr dirty="0" sz="1100" spc="4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为基本单元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相当于将一</a:t>
            </a:r>
            <a:r>
              <a:rPr dirty="0" sz="1200" spc="175">
                <a:latin typeface="Arial Unicode MS"/>
                <a:cs typeface="Arial Unicode MS"/>
              </a:rPr>
              <a:t>个</a:t>
            </a: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-50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SO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分</a:t>
            </a:r>
            <a:r>
              <a:rPr dirty="0" sz="1200" spc="-325">
                <a:latin typeface="Arial Unicode MS"/>
                <a:cs typeface="Arial Unicode MS"/>
              </a:rPr>
              <a:t>子</a:t>
            </a:r>
            <a:r>
              <a:rPr dirty="0" sz="1200" spc="850">
                <a:latin typeface="Arial Unicode MS"/>
                <a:cs typeface="Arial Unicode MS"/>
              </a:rPr>
              <a:t>“</a:t>
            </a:r>
            <a:r>
              <a:rPr dirty="0" sz="1200" spc="40">
                <a:latin typeface="Arial Unicode MS"/>
                <a:cs typeface="Arial Unicode MS"/>
              </a:rPr>
              <a:t>拆</a:t>
            </a:r>
            <a:r>
              <a:rPr dirty="0" sz="1200" spc="484">
                <a:latin typeface="Arial Unicode MS"/>
                <a:cs typeface="Arial Unicode MS"/>
              </a:rPr>
              <a:t>”</a:t>
            </a:r>
            <a:r>
              <a:rPr dirty="0" sz="1200" spc="-5">
                <a:latin typeface="Arial Unicode MS"/>
                <a:cs typeface="Arial Unicode MS"/>
              </a:rPr>
              <a:t>成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21596" y="1456232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 h="0">
                <a:moveTo>
                  <a:pt x="0" y="0"/>
                </a:moveTo>
                <a:lnTo>
                  <a:pt x="45549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74599" y="1611922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73425" y="1941588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 h="0">
                <a:moveTo>
                  <a:pt x="0" y="0"/>
                </a:moveTo>
                <a:lnTo>
                  <a:pt x="45549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53453" y="1172057"/>
            <a:ext cx="4147820" cy="77279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两个基本单</a:t>
            </a:r>
            <a:r>
              <a:rPr dirty="0" sz="1200" spc="-80">
                <a:latin typeface="Arial Unicode MS"/>
                <a:cs typeface="Arial Unicode MS"/>
              </a:rPr>
              <a:t>元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摩尔数增加了一</a:t>
            </a:r>
            <a:r>
              <a:rPr dirty="0" sz="1200" spc="-80">
                <a:latin typeface="Arial Unicode MS"/>
                <a:cs typeface="Arial Unicode MS"/>
              </a:rPr>
              <a:t>倍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故浓度值相应增加一</a:t>
            </a:r>
            <a:r>
              <a:rPr dirty="0" sz="1200" spc="-65">
                <a:latin typeface="Arial Unicode MS"/>
                <a:cs typeface="Arial Unicode MS"/>
              </a:rPr>
              <a:t>倍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620"/>
              </a:spcBef>
            </a:pPr>
            <a:r>
              <a:rPr dirty="0" sz="1200" spc="175">
                <a:latin typeface="Arial Unicode MS"/>
                <a:cs typeface="Arial Unicode MS"/>
              </a:rPr>
              <a:t>以</a:t>
            </a:r>
            <a:r>
              <a:rPr dirty="0" sz="1100" spc="5">
                <a:latin typeface="Georgia"/>
                <a:cs typeface="Georgia"/>
              </a:rPr>
              <a:t>2H</a:t>
            </a:r>
            <a:r>
              <a:rPr dirty="0" baseline="-13888" sz="900" spc="7">
                <a:latin typeface="Times New Roman"/>
                <a:cs typeface="Times New Roman"/>
              </a:rPr>
              <a:t>2</a:t>
            </a:r>
            <a:r>
              <a:rPr dirty="0" sz="1100" spc="5">
                <a:latin typeface="Georgia"/>
                <a:cs typeface="Georgia"/>
              </a:rPr>
              <a:t>SO</a:t>
            </a:r>
            <a:r>
              <a:rPr dirty="0" baseline="-13888" sz="900" spc="7">
                <a:latin typeface="Times New Roman"/>
                <a:cs typeface="Times New Roman"/>
              </a:rPr>
              <a:t>4</a:t>
            </a:r>
            <a:r>
              <a:rPr dirty="0" baseline="-13888" sz="900" spc="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作为基本单元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相当于把两</a:t>
            </a:r>
            <a:r>
              <a:rPr dirty="0" sz="1200" spc="175">
                <a:latin typeface="Arial Unicode MS"/>
                <a:cs typeface="Arial Unicode MS"/>
              </a:rPr>
              <a:t>个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分</a:t>
            </a:r>
            <a:r>
              <a:rPr dirty="0" sz="1200" spc="-305">
                <a:latin typeface="Arial Unicode MS"/>
                <a:cs typeface="Arial Unicode MS"/>
              </a:rPr>
              <a:t>子</a:t>
            </a:r>
            <a:r>
              <a:rPr dirty="0" sz="1200" spc="850">
                <a:latin typeface="Arial Unicode MS"/>
                <a:cs typeface="Arial Unicode MS"/>
              </a:rPr>
              <a:t>“</a:t>
            </a:r>
            <a:r>
              <a:rPr dirty="0" sz="1200" spc="40">
                <a:latin typeface="Arial Unicode MS"/>
                <a:cs typeface="Arial Unicode MS"/>
              </a:rPr>
              <a:t>缩</a:t>
            </a:r>
            <a:r>
              <a:rPr dirty="0" sz="1200" spc="505">
                <a:latin typeface="Arial Unicode MS"/>
                <a:cs typeface="Arial Unicode MS"/>
              </a:rPr>
              <a:t>”</a:t>
            </a:r>
            <a:r>
              <a:rPr dirty="0" sz="1200" spc="-5">
                <a:latin typeface="Arial Unicode MS"/>
                <a:cs typeface="Arial Unicode MS"/>
              </a:rPr>
              <a:t>减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为一个基本单</a:t>
            </a:r>
            <a:r>
              <a:rPr dirty="0" sz="1200" spc="-80">
                <a:latin typeface="Arial Unicode MS"/>
                <a:cs typeface="Arial Unicode MS"/>
              </a:rPr>
              <a:t>元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摩尔数减少了一</a:t>
            </a:r>
            <a:r>
              <a:rPr dirty="0" sz="1200" spc="-80">
                <a:latin typeface="Arial Unicode MS"/>
                <a:cs typeface="Arial Unicode MS"/>
              </a:rPr>
              <a:t>倍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故浓度值相应减小一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1553" y="1960549"/>
            <a:ext cx="3375025" cy="741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20">
                <a:latin typeface="Arial Unicode MS"/>
                <a:cs typeface="Arial Unicode MS"/>
              </a:rPr>
              <a:t>倍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Arial Unicode MS"/>
              <a:cs typeface="Arial Unicode MS"/>
            </a:endParaRPr>
          </a:p>
          <a:p>
            <a:pPr marL="514984">
              <a:lnSpc>
                <a:spcPct val="100000"/>
              </a:lnSpc>
            </a:pPr>
            <a:r>
              <a:rPr dirty="0" sz="1600" spc="-10">
                <a:latin typeface="Arial Unicode MS"/>
                <a:cs typeface="Arial Unicode MS"/>
              </a:rPr>
              <a:t>为什么要引入这样的表述方</a:t>
            </a:r>
            <a:r>
              <a:rPr dirty="0" sz="1600" spc="85">
                <a:latin typeface="Arial Unicode MS"/>
                <a:cs typeface="Arial Unicode MS"/>
              </a:rPr>
              <a:t>式</a:t>
            </a:r>
            <a:r>
              <a:rPr dirty="0" sz="1600" spc="-10">
                <a:latin typeface="Arial Unicode MS"/>
                <a:cs typeface="Arial Unicode MS"/>
              </a:rPr>
              <a:t>？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27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464362"/>
            <a:ext cx="435673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也可以通过等物质的量的规则来建立计量关</a:t>
            </a:r>
            <a:r>
              <a:rPr dirty="0" sz="1200" spc="-20">
                <a:latin typeface="Arial Unicode MS"/>
                <a:cs typeface="Arial Unicode MS"/>
              </a:rPr>
              <a:t>系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对于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下反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8506" y="1111148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8506" y="120260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6603" y="118913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7080" y="120260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7506" y="1105725"/>
            <a:ext cx="20580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28395" algn="l"/>
              </a:tabLst>
            </a:pPr>
            <a:r>
              <a:rPr dirty="0" sz="1100" spc="-30">
                <a:latin typeface="Georgia"/>
                <a:cs typeface="Georgia"/>
              </a:rPr>
              <a:t>2MnO  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5C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0">
                <a:latin typeface="Georgia"/>
                <a:cs typeface="Georgia"/>
              </a:rPr>
              <a:t>16H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2Mn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7080" y="1111148"/>
            <a:ext cx="12160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9910" algn="l"/>
                <a:tab pos="108521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9072" y="1105725"/>
            <a:ext cx="11169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20">
                <a:latin typeface="Georgia"/>
                <a:cs typeface="Georgia"/>
              </a:rPr>
              <a:t>10CO</a:t>
            </a:r>
            <a:r>
              <a:rPr dirty="0" baseline="-13888" sz="900" spc="30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8H</a:t>
            </a:r>
            <a:r>
              <a:rPr dirty="0" baseline="-13888" sz="900" spc="-22">
                <a:latin typeface="Times New Roman"/>
                <a:cs typeface="Times New Roman"/>
              </a:rPr>
              <a:t>2</a:t>
            </a:r>
            <a:r>
              <a:rPr dirty="0" sz="1100" spc="-15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17190" y="1585214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 h="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504490" y="1563636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79410" y="1552016"/>
            <a:ext cx="22142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41145" algn="l"/>
                <a:tab pos="1840864" algn="l"/>
              </a:tabLst>
            </a:pPr>
            <a:r>
              <a:rPr dirty="0" sz="600" spc="65">
                <a:latin typeface="Times New Roman"/>
                <a:cs typeface="Times New Roman"/>
              </a:rPr>
              <a:t>4	4	2 2</a:t>
            </a:r>
            <a:r>
              <a:rPr dirty="0" sz="600" spc="19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4101" y="1455318"/>
            <a:ext cx="41033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如果选</a:t>
            </a:r>
            <a:r>
              <a:rPr dirty="0" sz="1200" spc="175">
                <a:latin typeface="Arial Unicode MS"/>
                <a:cs typeface="Arial Unicode MS"/>
              </a:rPr>
              <a:t>择</a:t>
            </a:r>
            <a:r>
              <a:rPr dirty="0" sz="1100" spc="10">
                <a:latin typeface="Georgia"/>
                <a:cs typeface="Georgia"/>
              </a:rPr>
              <a:t>KMnO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的基本单元为</a:t>
            </a:r>
            <a:r>
              <a:rPr dirty="0" sz="1200" spc="-40">
                <a:latin typeface="Arial Unicode MS"/>
                <a:cs typeface="Arial Unicode MS"/>
              </a:rPr>
              <a:t> </a:t>
            </a:r>
            <a:r>
              <a:rPr dirty="0" baseline="37878" sz="1650" spc="104">
                <a:latin typeface="Georgia"/>
                <a:cs typeface="Georgia"/>
              </a:rPr>
              <a:t>1</a:t>
            </a:r>
            <a:r>
              <a:rPr dirty="0" baseline="37878" sz="1650" spc="-232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KMnO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200" spc="-45">
                <a:latin typeface="Arial Unicode MS"/>
                <a:cs typeface="Arial Unicode MS"/>
              </a:rPr>
              <a:t>，</a:t>
            </a:r>
            <a:r>
              <a:rPr dirty="0" sz="1100" spc="-45">
                <a:latin typeface="Georgia"/>
                <a:cs typeface="Georgia"/>
              </a:rPr>
              <a:t>H</a:t>
            </a:r>
            <a:r>
              <a:rPr dirty="0" sz="1100" spc="135">
                <a:latin typeface="Georgia"/>
                <a:cs typeface="Georgia"/>
              </a:rPr>
              <a:t> </a:t>
            </a:r>
            <a:r>
              <a:rPr dirty="0" sz="1100" spc="80">
                <a:latin typeface="Georgia"/>
                <a:cs typeface="Georgia"/>
              </a:rPr>
              <a:t>C</a:t>
            </a:r>
            <a:r>
              <a:rPr dirty="0" sz="1100" spc="13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32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的基本单元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8650" y="1875917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 h="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15950" y="1854339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4316" y="1842706"/>
            <a:ext cx="38544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2 2</a:t>
            </a:r>
            <a:r>
              <a:rPr dirty="0" sz="600" spc="19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0444" y="1746021"/>
            <a:ext cx="229679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为</a:t>
            </a:r>
            <a:r>
              <a:rPr dirty="0" sz="1200" spc="-50">
                <a:latin typeface="Arial Unicode MS"/>
                <a:cs typeface="Arial Unicode MS"/>
              </a:rPr>
              <a:t> </a:t>
            </a:r>
            <a:r>
              <a:rPr dirty="0" baseline="37878" sz="1650" spc="104">
                <a:latin typeface="Georgia"/>
                <a:cs typeface="Georgia"/>
              </a:rPr>
              <a:t>1</a:t>
            </a:r>
            <a:r>
              <a:rPr dirty="0" baseline="37878" sz="1650" spc="-232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-60">
                <a:latin typeface="Georgia"/>
                <a:cs typeface="Georgia"/>
              </a:rPr>
              <a:t> </a:t>
            </a:r>
            <a:r>
              <a:rPr dirty="0" sz="1100" spc="80">
                <a:latin typeface="Georgia"/>
                <a:cs typeface="Georgia"/>
              </a:rPr>
              <a:t>C</a:t>
            </a:r>
            <a:r>
              <a:rPr dirty="0" sz="1100" spc="12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则化学计量关系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1449" y="2302103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08237" y="2302103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45398" y="2290470"/>
            <a:ext cx="11366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63270" algn="l"/>
              </a:tabLst>
            </a:pPr>
            <a:r>
              <a:rPr dirty="0" sz="600" spc="65">
                <a:latin typeface="Times New Roman"/>
                <a:cs typeface="Times New Roman"/>
              </a:rPr>
              <a:t>4	2 2</a:t>
            </a:r>
            <a:r>
              <a:rPr dirty="0" sz="600" spc="19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67231" y="2011718"/>
            <a:ext cx="2048510" cy="38735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286385">
              <a:lnSpc>
                <a:spcPts val="550"/>
              </a:lnSpc>
              <a:spcBef>
                <a:spcPts val="640"/>
              </a:spcBef>
              <a:tabLst>
                <a:tab pos="1353185" algn="l"/>
              </a:tabLst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100">
              <a:latin typeface="Times New Roman"/>
              <a:cs typeface="Times New Roman"/>
            </a:endParaRPr>
          </a:p>
          <a:p>
            <a:pPr marL="169545">
              <a:lnSpc>
                <a:spcPts val="220"/>
              </a:lnSpc>
              <a:tabLst>
                <a:tab pos="843280" algn="l"/>
                <a:tab pos="1236345" algn="l"/>
                <a:tab pos="1907539" algn="l"/>
              </a:tabLst>
            </a:pPr>
            <a:r>
              <a:rPr dirty="0" sz="1100" spc="-300">
                <a:latin typeface="Arial Unicode MS"/>
                <a:cs typeface="Arial Unicode MS"/>
              </a:rPr>
              <a:t>（                    </a:t>
            </a:r>
            <a:r>
              <a:rPr dirty="0" baseline="-40404" sz="1650" spc="104">
                <a:latin typeface="Georgia"/>
                <a:cs typeface="Georgia"/>
              </a:rPr>
              <a:t>1	</a:t>
            </a:r>
            <a:r>
              <a:rPr dirty="0" sz="1100" spc="-300">
                <a:latin typeface="Arial Unicode MS"/>
                <a:cs typeface="Arial Unicode MS"/>
              </a:rPr>
              <a:t>＼	（                     </a:t>
            </a:r>
            <a:r>
              <a:rPr dirty="0" baseline="-40404" sz="1650" spc="104">
                <a:latin typeface="Georgia"/>
                <a:cs typeface="Georgia"/>
              </a:rPr>
              <a:t>1	</a:t>
            </a:r>
            <a:r>
              <a:rPr dirty="0" sz="1100" spc="-300">
                <a:latin typeface="Arial Unicode MS"/>
                <a:cs typeface="Arial Unicode MS"/>
              </a:rPr>
              <a:t>＼</a:t>
            </a:r>
            <a:endParaRPr sz="11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219"/>
              </a:spcBef>
              <a:tabLst>
                <a:tab pos="370840" algn="l"/>
                <a:tab pos="983615" algn="l"/>
                <a:tab pos="1437640" algn="l"/>
              </a:tabLst>
            </a:pPr>
            <a:r>
              <a:rPr dirty="0" sz="1100" spc="85" i="1">
                <a:latin typeface="Calibri"/>
                <a:cs typeface="Calibri"/>
              </a:rPr>
              <a:t>n	</a:t>
            </a:r>
            <a:r>
              <a:rPr dirty="0" sz="1100" spc="10">
                <a:latin typeface="Georgia"/>
                <a:cs typeface="Georgia"/>
              </a:rPr>
              <a:t>KMnO	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85" i="1">
                <a:latin typeface="Calibri"/>
                <a:cs typeface="Calibri"/>
              </a:rPr>
              <a:t>n	</a:t>
            </a:r>
            <a:r>
              <a:rPr dirty="0" sz="1100" spc="-80">
                <a:latin typeface="Georgia"/>
                <a:cs typeface="Georgia"/>
              </a:rPr>
              <a:t>H </a:t>
            </a:r>
            <a:r>
              <a:rPr dirty="0" sz="1100" spc="80">
                <a:latin typeface="Georgia"/>
                <a:cs typeface="Georgia"/>
              </a:rPr>
              <a:t>C</a:t>
            </a:r>
            <a:r>
              <a:rPr dirty="0" sz="1100" spc="15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28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683780"/>
            <a:ext cx="244538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原因在</a:t>
            </a:r>
            <a:r>
              <a:rPr dirty="0" sz="1200" spc="-80">
                <a:latin typeface="Arial Unicode MS"/>
                <a:cs typeface="Arial Unicode MS"/>
              </a:rPr>
              <a:t>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当我们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-30">
                <a:latin typeface="Georgia"/>
                <a:cs typeface="Georgia"/>
              </a:rPr>
              <a:t>10</a:t>
            </a:r>
            <a:r>
              <a:rPr dirty="0" sz="1100" spc="-14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遍除下式</a:t>
            </a:r>
            <a:r>
              <a:rPr dirty="0" sz="1200" spc="-90">
                <a:latin typeface="Arial Unicode MS"/>
                <a:cs typeface="Arial Unicode MS"/>
              </a:rPr>
              <a:t>时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8506" y="1065365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8506" y="115681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6603" y="114334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7080" y="115681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7080" y="1065365"/>
            <a:ext cx="12160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9910" algn="l"/>
                <a:tab pos="108521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106" y="1059942"/>
            <a:ext cx="331660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153795" algn="l"/>
                <a:tab pos="2224405" algn="l"/>
              </a:tabLst>
            </a:pPr>
            <a:r>
              <a:rPr dirty="0" sz="1100" spc="-30">
                <a:latin typeface="Georgia"/>
                <a:cs typeface="Georgia"/>
              </a:rPr>
              <a:t>2MnO  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5C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0">
                <a:latin typeface="Georgia"/>
                <a:cs typeface="Georgia"/>
              </a:rPr>
              <a:t>16H  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2Mn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20">
                <a:latin typeface="Georgia"/>
                <a:cs typeface="Georgia"/>
              </a:rPr>
              <a:t>10CO</a:t>
            </a:r>
            <a:r>
              <a:rPr dirty="0" baseline="-13888" sz="900" spc="30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8H</a:t>
            </a:r>
            <a:r>
              <a:rPr dirty="0" baseline="-13888" sz="900" spc="-22">
                <a:latin typeface="Times New Roman"/>
                <a:cs typeface="Times New Roman"/>
              </a:rPr>
              <a:t>2</a:t>
            </a:r>
            <a:r>
              <a:rPr dirty="0" sz="1100" spc="-15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01" y="683780"/>
            <a:ext cx="244538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原因在</a:t>
            </a:r>
            <a:r>
              <a:rPr dirty="0" sz="1200" spc="-80">
                <a:latin typeface="Arial Unicode MS"/>
                <a:cs typeface="Arial Unicode MS"/>
              </a:rPr>
              <a:t>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当我们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pc="-30"/>
              <a:t>10</a:t>
            </a:r>
            <a:r>
              <a:rPr dirty="0" spc="-145"/>
              <a:t> </a:t>
            </a:r>
            <a:r>
              <a:rPr dirty="0" sz="1200" spc="-5">
                <a:latin typeface="Arial Unicode MS"/>
                <a:cs typeface="Arial Unicode MS"/>
              </a:rPr>
              <a:t>遍除下式</a:t>
            </a:r>
            <a:r>
              <a:rPr dirty="0" sz="1200" spc="-90">
                <a:latin typeface="Arial Unicode MS"/>
                <a:cs typeface="Arial Unicode MS"/>
              </a:rPr>
              <a:t>时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8506" y="1065365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8506" y="115681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6603" y="114334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7080" y="115681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7080" y="1065365"/>
            <a:ext cx="12160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9910" algn="l"/>
                <a:tab pos="108521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106" y="1059942"/>
            <a:ext cx="331660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153795" algn="l"/>
                <a:tab pos="2224405" algn="l"/>
              </a:tabLst>
            </a:pPr>
            <a:r>
              <a:rPr dirty="0" sz="1100" spc="-30">
                <a:latin typeface="Georgia"/>
                <a:cs typeface="Georgia"/>
              </a:rPr>
              <a:t>2MnO  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5C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0">
                <a:latin typeface="Georgia"/>
                <a:cs typeface="Georgia"/>
              </a:rPr>
              <a:t>16H  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2Mn	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20">
                <a:latin typeface="Georgia"/>
                <a:cs typeface="Georgia"/>
              </a:rPr>
              <a:t>10CO</a:t>
            </a:r>
            <a:r>
              <a:rPr dirty="0" baseline="-13888" sz="900" spc="30">
                <a:latin typeface="Times New Roman"/>
                <a:cs typeface="Times New Roman"/>
              </a:rPr>
              <a:t>2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14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8H</a:t>
            </a:r>
            <a:r>
              <a:rPr dirty="0" baseline="-13888" sz="900" spc="-22">
                <a:latin typeface="Times New Roman"/>
                <a:cs typeface="Times New Roman"/>
              </a:rPr>
              <a:t>2</a:t>
            </a:r>
            <a:r>
              <a:rPr dirty="0" sz="1100" spc="-15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501" y="1548079"/>
            <a:ext cx="7740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可以得</a:t>
            </a:r>
            <a:r>
              <a:rPr dirty="0" sz="1200" spc="-90">
                <a:latin typeface="Arial Unicode MS"/>
                <a:cs typeface="Arial Unicode MS"/>
              </a:rPr>
              <a:t>到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3169" y="1744852"/>
            <a:ext cx="1276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0">
                <a:latin typeface="Arial Unicode MS"/>
                <a:cs typeface="Arial Unicode MS"/>
              </a:rPr>
              <a:t>（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0339" y="1823971"/>
            <a:ext cx="95250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u="sng" sz="1100" spc="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40">
                <a:latin typeface="Georgia"/>
                <a:cs typeface="Georgia"/>
              </a:rPr>
              <a:t>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6516" y="1945614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6516" y="203708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94434" y="1846478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4434" y="2035238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78953" y="202360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39430" y="1945614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39430" y="203708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05941" y="1744852"/>
            <a:ext cx="9867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3845" algn="l"/>
                <a:tab pos="871855" algn="l"/>
              </a:tabLst>
            </a:pPr>
            <a:r>
              <a:rPr dirty="0" sz="1100" spc="-300">
                <a:latin typeface="Arial Unicode MS"/>
                <a:cs typeface="Arial Unicode MS"/>
              </a:rPr>
              <a:t>＼</a:t>
            </a:r>
            <a:r>
              <a:rPr dirty="0" sz="1100" spc="-300">
                <a:latin typeface="Arial Unicode MS"/>
                <a:cs typeface="Arial Unicode MS"/>
              </a:rPr>
              <a:t>	</a:t>
            </a:r>
            <a:r>
              <a:rPr dirty="0" sz="1100" spc="-300">
                <a:latin typeface="Arial Unicode MS"/>
                <a:cs typeface="Arial Unicode MS"/>
              </a:rPr>
              <a:t>（</a:t>
            </a:r>
            <a:r>
              <a:rPr dirty="0" sz="1100" spc="-300">
                <a:latin typeface="Arial Unicode MS"/>
                <a:cs typeface="Arial Unicode MS"/>
              </a:rPr>
              <a:t>	</a:t>
            </a:r>
            <a:r>
              <a:rPr dirty="0" sz="1100" spc="-300">
                <a:latin typeface="Arial Unicode MS"/>
                <a:cs typeface="Arial Unicode MS"/>
              </a:rPr>
              <a:t>＼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51748" y="1846478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16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51748" y="2035238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4794" y="1940204"/>
            <a:ext cx="18205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35940" algn="l"/>
                <a:tab pos="876300" algn="l"/>
                <a:tab pos="1395730" algn="l"/>
                <a:tab pos="1703070" algn="l"/>
              </a:tabLst>
            </a:pPr>
            <a:r>
              <a:rPr dirty="0" sz="1100" spc="-40">
                <a:latin typeface="Georgia"/>
                <a:cs typeface="Georgia"/>
              </a:rPr>
              <a:t>M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80">
                <a:latin typeface="Georgia"/>
                <a:cs typeface="Georgia"/>
              </a:rPr>
              <a:t>C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-80">
                <a:latin typeface="Georgia"/>
                <a:cs typeface="Georgia"/>
              </a:rPr>
              <a:t>H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09380" y="1945614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86608" y="1846478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86608" y="2035238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25192" y="1940204"/>
            <a:ext cx="5448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7660" algn="l"/>
              </a:tabLst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40">
                <a:latin typeface="Georgia"/>
                <a:cs typeface="Georgia"/>
              </a:rPr>
              <a:t>	</a:t>
            </a:r>
            <a:r>
              <a:rPr dirty="0" sz="1100" spc="-35">
                <a:latin typeface="Georgia"/>
                <a:cs typeface="Georgia"/>
              </a:rPr>
              <a:t>Mn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44317" y="1945614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52546" y="1846478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52546" y="2035238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851325" y="1846478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114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8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51325" y="2035238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14089" y="2023605"/>
            <a:ext cx="5670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736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98812" y="1940204"/>
            <a:ext cx="11963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0040" algn="l"/>
                <a:tab pos="918844" algn="l"/>
              </a:tabLst>
            </a:pPr>
            <a:r>
              <a:rPr dirty="0" sz="1100" spc="140">
                <a:latin typeface="Georgia"/>
                <a:cs typeface="Georgia"/>
              </a:rPr>
              <a:t>+	</a:t>
            </a:r>
            <a:r>
              <a:rPr dirty="0" sz="1100" spc="55">
                <a:latin typeface="Georgia"/>
                <a:cs typeface="Georgia"/>
              </a:rPr>
              <a:t>CO </a:t>
            </a:r>
            <a:r>
              <a:rPr dirty="0" sz="1100" spc="7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	</a:t>
            </a: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29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118870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30">
                <a:solidFill>
                  <a:srgbClr val="FFFFFF"/>
                </a:solidFill>
                <a:latin typeface="Gill Sans MT"/>
                <a:cs typeface="Gill Sans MT"/>
              </a:rPr>
              <a:t>2.2.2</a:t>
            </a:r>
            <a:r>
              <a:rPr dirty="0" sz="1400" spc="6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滴定度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44" y="514629"/>
            <a:ext cx="4419600" cy="150431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L="52705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滴定度是指每毫升标准溶液相当于被测物质的质</a:t>
            </a:r>
            <a:r>
              <a:rPr dirty="0" sz="1200" spc="-80">
                <a:latin typeface="Arial Unicode MS"/>
                <a:cs typeface="Arial Unicode MS"/>
              </a:rPr>
              <a:t>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以符</a:t>
            </a:r>
            <a:endParaRPr sz="12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号</a:t>
            </a:r>
            <a:r>
              <a:rPr dirty="0" sz="1100" spc="125" i="1">
                <a:latin typeface="Calibri"/>
                <a:cs typeface="Calibri"/>
              </a:rPr>
              <a:t>T</a:t>
            </a:r>
            <a:r>
              <a:rPr dirty="0" baseline="-13888" sz="900" spc="187">
                <a:latin typeface="Times New Roman"/>
                <a:cs typeface="Times New Roman"/>
              </a:rPr>
              <a:t>B</a:t>
            </a:r>
            <a:r>
              <a:rPr dirty="0" baseline="-13888" sz="900" spc="187" i="1">
                <a:latin typeface="Arial"/>
                <a:cs typeface="Arial"/>
              </a:rPr>
              <a:t>/</a:t>
            </a:r>
            <a:r>
              <a:rPr dirty="0" baseline="-13888" sz="900" spc="187">
                <a:latin typeface="Times New Roman"/>
                <a:cs typeface="Times New Roman"/>
              </a:rPr>
              <a:t>A</a:t>
            </a:r>
            <a:r>
              <a:rPr dirty="0" baseline="-13888" sz="900" spc="9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</a:t>
            </a:r>
            <a:r>
              <a:rPr dirty="0" sz="1200" spc="-80">
                <a:latin typeface="Arial Unicode MS"/>
                <a:cs typeface="Arial Unicode MS"/>
              </a:rPr>
              <a:t>示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175">
                <a:latin typeface="Arial Unicode MS"/>
                <a:cs typeface="Arial Unicode MS"/>
              </a:rPr>
              <a:t>中</a:t>
            </a:r>
            <a:r>
              <a:rPr dirty="0" sz="1100" spc="50">
                <a:latin typeface="Georgia"/>
                <a:cs typeface="Georgia"/>
              </a:rPr>
              <a:t>B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表示标准溶液的溶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55">
                <a:latin typeface="Arial Unicode MS"/>
                <a:cs typeface="Arial Unicode MS"/>
              </a:rPr>
              <a:t>，</a:t>
            </a:r>
            <a:r>
              <a:rPr dirty="0" sz="1100" spc="-55">
                <a:latin typeface="Georgia"/>
                <a:cs typeface="Georgia"/>
              </a:rPr>
              <a:t>A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表示被测物质的化学</a:t>
            </a:r>
            <a:endParaRPr sz="1200">
              <a:latin typeface="Arial Unicode MS"/>
              <a:cs typeface="Arial Unicode MS"/>
            </a:endParaRPr>
          </a:p>
          <a:p>
            <a:pPr algn="ctr" marR="2156460">
              <a:lnSpc>
                <a:spcPct val="100000"/>
              </a:lnSpc>
              <a:spcBef>
                <a:spcPts val="325"/>
              </a:spcBef>
            </a:pPr>
            <a:r>
              <a:rPr dirty="0" sz="1200" spc="-20">
                <a:latin typeface="Arial Unicode MS"/>
                <a:cs typeface="Arial Unicode MS"/>
              </a:rPr>
              <a:t>式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滴定度的常用单位</a:t>
            </a:r>
            <a:r>
              <a:rPr dirty="0" sz="1200" spc="175">
                <a:latin typeface="Arial Unicode MS"/>
                <a:cs typeface="Arial Unicode MS"/>
              </a:rPr>
              <a:t>是</a:t>
            </a:r>
            <a:r>
              <a:rPr dirty="0" sz="1100" spc="-15">
                <a:latin typeface="Georgia"/>
                <a:cs typeface="Georgia"/>
              </a:rPr>
              <a:t>g/mL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543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75">
                <a:latin typeface="Arial Unicode MS"/>
                <a:cs typeface="Arial Unicode MS"/>
              </a:rPr>
              <a:t>，</a:t>
            </a:r>
            <a:r>
              <a:rPr dirty="0" sz="1100" spc="-75">
                <a:latin typeface="Georgia"/>
                <a:cs typeface="Georgia"/>
              </a:rPr>
              <a:t>1.00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mL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标准溶液恰好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-105">
                <a:latin typeface="Georgia"/>
                <a:cs typeface="Georgia"/>
              </a:rPr>
              <a:t>0.04000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g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完全反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</a:t>
            </a:r>
            <a:r>
              <a:rPr dirty="0" sz="1200" spc="175">
                <a:latin typeface="Arial Unicode MS"/>
                <a:cs typeface="Arial Unicode MS"/>
              </a:rPr>
              <a:t>此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对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的滴定度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12700">
              <a:lnSpc>
                <a:spcPct val="100000"/>
              </a:lnSpc>
            </a:pPr>
            <a:r>
              <a:rPr dirty="0" sz="1100" spc="100" i="1">
                <a:latin typeface="Calibri"/>
                <a:cs typeface="Calibri"/>
              </a:rPr>
              <a:t>T</a:t>
            </a:r>
            <a:r>
              <a:rPr dirty="0" baseline="-13888" sz="900" spc="150">
                <a:latin typeface="Times New Roman"/>
                <a:cs typeface="Times New Roman"/>
              </a:rPr>
              <a:t>H</a:t>
            </a:r>
            <a:r>
              <a:rPr dirty="0" baseline="-33333" sz="750" spc="37" b="0">
                <a:latin typeface="Bookman Old Style"/>
                <a:cs typeface="Bookman Old Style"/>
              </a:rPr>
              <a:t>2</a:t>
            </a:r>
            <a:r>
              <a:rPr dirty="0" baseline="-33333" sz="750" spc="-172" b="0">
                <a:latin typeface="Bookman Old Style"/>
                <a:cs typeface="Bookman Old Style"/>
              </a:rPr>
              <a:t> </a:t>
            </a:r>
            <a:r>
              <a:rPr dirty="0" baseline="-13888" sz="900" spc="127">
                <a:latin typeface="Times New Roman"/>
                <a:cs typeface="Times New Roman"/>
              </a:rPr>
              <a:t>S</a:t>
            </a:r>
            <a:r>
              <a:rPr dirty="0" baseline="-13888" sz="900" spc="157">
                <a:latin typeface="Times New Roman"/>
                <a:cs typeface="Times New Roman"/>
              </a:rPr>
              <a:t>O</a:t>
            </a:r>
            <a:r>
              <a:rPr dirty="0" baseline="-33333" sz="750" spc="37" b="0">
                <a:latin typeface="Bookman Old Style"/>
                <a:cs typeface="Bookman Old Style"/>
              </a:rPr>
              <a:t>4</a:t>
            </a:r>
            <a:r>
              <a:rPr dirty="0" baseline="-33333" sz="750" spc="-172" b="0">
                <a:latin typeface="Bookman Old Style"/>
                <a:cs typeface="Bookman Old Style"/>
              </a:rPr>
              <a:t> </a:t>
            </a:r>
            <a:r>
              <a:rPr dirty="0" baseline="-13888" sz="900" spc="315" i="1">
                <a:latin typeface="Arial"/>
                <a:cs typeface="Arial"/>
              </a:rPr>
              <a:t>/</a:t>
            </a:r>
            <a:r>
              <a:rPr dirty="0" baseline="-13888" sz="900" spc="157">
                <a:latin typeface="Times New Roman"/>
                <a:cs typeface="Times New Roman"/>
              </a:rPr>
              <a:t>NaOH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7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35">
                <a:latin typeface="Georgia"/>
                <a:cs typeface="Georgia"/>
              </a:rPr>
              <a:t>0</a:t>
            </a:r>
            <a:r>
              <a:rPr dirty="0" sz="1100" spc="20" i="1">
                <a:latin typeface="Calibri"/>
                <a:cs typeface="Calibri"/>
              </a:rPr>
              <a:t>.</a:t>
            </a:r>
            <a:r>
              <a:rPr dirty="0" sz="1100" spc="-105">
                <a:latin typeface="Georgia"/>
                <a:cs typeface="Georgia"/>
              </a:rPr>
              <a:t>04000</a:t>
            </a:r>
            <a:r>
              <a:rPr dirty="0" sz="1100" spc="-75">
                <a:latin typeface="Georgia"/>
                <a:cs typeface="Georgia"/>
              </a:rPr>
              <a:t>g</a:t>
            </a:r>
            <a:r>
              <a:rPr dirty="0" sz="1100" spc="110" i="1">
                <a:latin typeface="Calibri"/>
                <a:cs typeface="Calibri"/>
              </a:rPr>
              <a:t>/</a:t>
            </a:r>
            <a:r>
              <a:rPr dirty="0" sz="1100" spc="-25">
                <a:latin typeface="Georgia"/>
                <a:cs typeface="Georgia"/>
              </a:rPr>
              <a:t>mL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118870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30">
                <a:solidFill>
                  <a:srgbClr val="FFFFFF"/>
                </a:solidFill>
                <a:latin typeface="Gill Sans MT"/>
                <a:cs typeface="Gill Sans MT"/>
              </a:rPr>
              <a:t>2.2.2</a:t>
            </a:r>
            <a:r>
              <a:rPr dirty="0" sz="1400" spc="6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滴定度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344" y="514629"/>
            <a:ext cx="4470400" cy="24536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L="52705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滴定度是指每毫升标准溶液相当于被测物质的质</a:t>
            </a:r>
            <a:r>
              <a:rPr dirty="0" sz="1200" spc="-80">
                <a:latin typeface="Arial Unicode MS"/>
                <a:cs typeface="Arial Unicode MS"/>
              </a:rPr>
              <a:t>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以符</a:t>
            </a:r>
            <a:endParaRPr sz="12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号</a:t>
            </a:r>
            <a:r>
              <a:rPr dirty="0" sz="1100" spc="125" i="1">
                <a:latin typeface="Calibri"/>
                <a:cs typeface="Calibri"/>
              </a:rPr>
              <a:t>T</a:t>
            </a:r>
            <a:r>
              <a:rPr dirty="0" baseline="-13888" sz="900" spc="187">
                <a:latin typeface="Times New Roman"/>
                <a:cs typeface="Times New Roman"/>
              </a:rPr>
              <a:t>B</a:t>
            </a:r>
            <a:r>
              <a:rPr dirty="0" baseline="-13888" sz="900" spc="187" i="1">
                <a:latin typeface="Arial"/>
                <a:cs typeface="Arial"/>
              </a:rPr>
              <a:t>/</a:t>
            </a:r>
            <a:r>
              <a:rPr dirty="0" baseline="-13888" sz="900" spc="187">
                <a:latin typeface="Times New Roman"/>
                <a:cs typeface="Times New Roman"/>
              </a:rPr>
              <a:t>A</a:t>
            </a:r>
            <a:r>
              <a:rPr dirty="0" baseline="-13888" sz="900" spc="9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</a:t>
            </a:r>
            <a:r>
              <a:rPr dirty="0" sz="1200" spc="-80">
                <a:latin typeface="Arial Unicode MS"/>
                <a:cs typeface="Arial Unicode MS"/>
              </a:rPr>
              <a:t>示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175">
                <a:latin typeface="Arial Unicode MS"/>
                <a:cs typeface="Arial Unicode MS"/>
              </a:rPr>
              <a:t>中</a:t>
            </a:r>
            <a:r>
              <a:rPr dirty="0" sz="1100" spc="50">
                <a:latin typeface="Georgia"/>
                <a:cs typeface="Georgia"/>
              </a:rPr>
              <a:t>B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表示标准溶液的溶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55">
                <a:latin typeface="Arial Unicode MS"/>
                <a:cs typeface="Arial Unicode MS"/>
              </a:rPr>
              <a:t>，</a:t>
            </a:r>
            <a:r>
              <a:rPr dirty="0" sz="1100" spc="-55">
                <a:latin typeface="Georgia"/>
                <a:cs typeface="Georgia"/>
              </a:rPr>
              <a:t>A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表示被测物质的化学</a:t>
            </a:r>
            <a:endParaRPr sz="1200">
              <a:latin typeface="Arial Unicode MS"/>
              <a:cs typeface="Arial Unicode MS"/>
            </a:endParaRPr>
          </a:p>
          <a:p>
            <a:pPr algn="ctr" marR="2156460">
              <a:lnSpc>
                <a:spcPct val="100000"/>
              </a:lnSpc>
              <a:spcBef>
                <a:spcPts val="325"/>
              </a:spcBef>
            </a:pPr>
            <a:r>
              <a:rPr dirty="0" sz="1200" spc="-20">
                <a:latin typeface="Arial Unicode MS"/>
                <a:cs typeface="Arial Unicode MS"/>
              </a:rPr>
              <a:t>式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滴定度的常用单位</a:t>
            </a:r>
            <a:r>
              <a:rPr dirty="0" sz="1200" spc="175">
                <a:latin typeface="Arial Unicode MS"/>
                <a:cs typeface="Arial Unicode MS"/>
              </a:rPr>
              <a:t>是</a:t>
            </a:r>
            <a:r>
              <a:rPr dirty="0" sz="1100" spc="-15">
                <a:latin typeface="Georgia"/>
                <a:cs typeface="Georgia"/>
              </a:rPr>
              <a:t>g/mL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797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75">
                <a:latin typeface="Arial Unicode MS"/>
                <a:cs typeface="Arial Unicode MS"/>
              </a:rPr>
              <a:t>，</a:t>
            </a:r>
            <a:r>
              <a:rPr dirty="0" sz="1100" spc="-75">
                <a:latin typeface="Georgia"/>
                <a:cs typeface="Georgia"/>
              </a:rPr>
              <a:t>1.00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mL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标准溶液恰好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-105">
                <a:latin typeface="Georgia"/>
                <a:cs typeface="Georgia"/>
              </a:rPr>
              <a:t>0.04000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g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完全反</a:t>
            </a:r>
            <a:endParaRPr sz="12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320"/>
              </a:spcBef>
            </a:pP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</a:t>
            </a:r>
            <a:r>
              <a:rPr dirty="0" sz="1200" spc="175">
                <a:latin typeface="Arial Unicode MS"/>
                <a:cs typeface="Arial Unicode MS"/>
              </a:rPr>
              <a:t>此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对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的滴定度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12700">
              <a:lnSpc>
                <a:spcPct val="100000"/>
              </a:lnSpc>
            </a:pPr>
            <a:r>
              <a:rPr dirty="0" sz="1100" spc="100" i="1">
                <a:latin typeface="Calibri"/>
                <a:cs typeface="Calibri"/>
              </a:rPr>
              <a:t>T</a:t>
            </a:r>
            <a:r>
              <a:rPr dirty="0" baseline="-13888" sz="900" spc="150">
                <a:latin typeface="Times New Roman"/>
                <a:cs typeface="Times New Roman"/>
              </a:rPr>
              <a:t>H</a:t>
            </a:r>
            <a:r>
              <a:rPr dirty="0" baseline="-33333" sz="750" spc="37" b="0">
                <a:latin typeface="Bookman Old Style"/>
                <a:cs typeface="Bookman Old Style"/>
              </a:rPr>
              <a:t>2</a:t>
            </a:r>
            <a:r>
              <a:rPr dirty="0" baseline="-33333" sz="750" spc="-172" b="0">
                <a:latin typeface="Bookman Old Style"/>
                <a:cs typeface="Bookman Old Style"/>
              </a:rPr>
              <a:t> </a:t>
            </a:r>
            <a:r>
              <a:rPr dirty="0" baseline="-13888" sz="900" spc="127">
                <a:latin typeface="Times New Roman"/>
                <a:cs typeface="Times New Roman"/>
              </a:rPr>
              <a:t>S</a:t>
            </a:r>
            <a:r>
              <a:rPr dirty="0" baseline="-13888" sz="900" spc="157">
                <a:latin typeface="Times New Roman"/>
                <a:cs typeface="Times New Roman"/>
              </a:rPr>
              <a:t>O</a:t>
            </a:r>
            <a:r>
              <a:rPr dirty="0" baseline="-33333" sz="750" spc="37" b="0">
                <a:latin typeface="Bookman Old Style"/>
                <a:cs typeface="Bookman Old Style"/>
              </a:rPr>
              <a:t>4</a:t>
            </a:r>
            <a:r>
              <a:rPr dirty="0" baseline="-33333" sz="750" spc="-172" b="0">
                <a:latin typeface="Bookman Old Style"/>
                <a:cs typeface="Bookman Old Style"/>
              </a:rPr>
              <a:t> </a:t>
            </a:r>
            <a:r>
              <a:rPr dirty="0" baseline="-13888" sz="900" spc="315" i="1">
                <a:latin typeface="Arial"/>
                <a:cs typeface="Arial"/>
              </a:rPr>
              <a:t>/</a:t>
            </a:r>
            <a:r>
              <a:rPr dirty="0" baseline="-13888" sz="900" spc="157">
                <a:latin typeface="Times New Roman"/>
                <a:cs typeface="Times New Roman"/>
              </a:rPr>
              <a:t>NaOH</a:t>
            </a:r>
            <a:r>
              <a:rPr dirty="0" baseline="-13888" sz="900">
                <a:latin typeface="Times New Roman"/>
                <a:cs typeface="Times New Roman"/>
              </a:rPr>
              <a:t> </a:t>
            </a:r>
            <a:r>
              <a:rPr dirty="0" baseline="-13888" sz="900" spc="7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135">
                <a:latin typeface="Georgia"/>
                <a:cs typeface="Georgia"/>
              </a:rPr>
              <a:t>0</a:t>
            </a:r>
            <a:r>
              <a:rPr dirty="0" sz="1100" spc="20" i="1">
                <a:latin typeface="Calibri"/>
                <a:cs typeface="Calibri"/>
              </a:rPr>
              <a:t>.</a:t>
            </a:r>
            <a:r>
              <a:rPr dirty="0" sz="1100" spc="-105">
                <a:latin typeface="Georgia"/>
                <a:cs typeface="Georgia"/>
              </a:rPr>
              <a:t>04000</a:t>
            </a:r>
            <a:r>
              <a:rPr dirty="0" sz="1100" spc="-75">
                <a:latin typeface="Georgia"/>
                <a:cs typeface="Georgia"/>
              </a:rPr>
              <a:t>g</a:t>
            </a:r>
            <a:r>
              <a:rPr dirty="0" sz="1100" spc="110" i="1">
                <a:latin typeface="Calibri"/>
                <a:cs typeface="Calibri"/>
              </a:rPr>
              <a:t>/</a:t>
            </a:r>
            <a:r>
              <a:rPr dirty="0" sz="1100" spc="-25">
                <a:latin typeface="Georgia"/>
                <a:cs typeface="Georgia"/>
              </a:rPr>
              <a:t>mL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Georgia"/>
              <a:cs typeface="Georgia"/>
            </a:endParaRPr>
          </a:p>
          <a:p>
            <a:pPr marL="3797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如果实际测量过程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消</a:t>
            </a:r>
            <a:r>
              <a:rPr dirty="0" sz="1200" spc="175">
                <a:latin typeface="Arial Unicode MS"/>
                <a:cs typeface="Arial Unicode MS"/>
              </a:rPr>
              <a:t>耗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SO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100" spc="-80">
                <a:latin typeface="Georgia"/>
                <a:cs typeface="Georgia"/>
              </a:rPr>
              <a:t>22.00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105">
                <a:latin typeface="Georgia"/>
                <a:cs typeface="Georgia"/>
              </a:rPr>
              <a:t>mL</a:t>
            </a:r>
            <a:r>
              <a:rPr dirty="0" sz="1200" spc="-10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则试样</a:t>
            </a:r>
            <a:endParaRPr sz="1200">
              <a:latin typeface="Arial Unicode MS"/>
              <a:cs typeface="Arial Unicode MS"/>
            </a:endParaRPr>
          </a:p>
          <a:p>
            <a:pPr marL="75565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中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的质量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10795">
              <a:lnSpc>
                <a:spcPct val="100000"/>
              </a:lnSpc>
            </a:pPr>
            <a:r>
              <a:rPr dirty="0" sz="1100" i="1">
                <a:latin typeface="Calibri"/>
                <a:cs typeface="Calibri"/>
              </a:rPr>
              <a:t>m</a:t>
            </a:r>
            <a:r>
              <a:rPr dirty="0" sz="1100">
                <a:latin typeface="Georgia"/>
                <a:cs typeface="Georgia"/>
              </a:rPr>
              <a:t>(NaOH)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105">
                <a:latin typeface="Georgia"/>
                <a:cs typeface="Georgia"/>
              </a:rPr>
              <a:t>0</a:t>
            </a:r>
            <a:r>
              <a:rPr dirty="0" sz="1100" spc="-105" i="1">
                <a:latin typeface="Calibri"/>
                <a:cs typeface="Calibri"/>
              </a:rPr>
              <a:t>.</a:t>
            </a:r>
            <a:r>
              <a:rPr dirty="0" sz="1100" spc="-105">
                <a:latin typeface="Georgia"/>
                <a:cs typeface="Georgia"/>
              </a:rPr>
              <a:t>04000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80">
                <a:latin typeface="Georgia"/>
                <a:cs typeface="Georgia"/>
              </a:rPr>
              <a:t>22</a:t>
            </a:r>
            <a:r>
              <a:rPr dirty="0" sz="1100" spc="-80" i="1">
                <a:latin typeface="Calibri"/>
                <a:cs typeface="Calibri"/>
              </a:rPr>
              <a:t>.</a:t>
            </a:r>
            <a:r>
              <a:rPr dirty="0" sz="1100" spc="-80">
                <a:latin typeface="Georgia"/>
                <a:cs typeface="Georgia"/>
              </a:rPr>
              <a:t>00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100" spc="-90">
                <a:latin typeface="Georgia"/>
                <a:cs typeface="Georgia"/>
              </a:rPr>
              <a:t>0</a:t>
            </a:r>
            <a:r>
              <a:rPr dirty="0" sz="1100" spc="-90" i="1">
                <a:latin typeface="Calibri"/>
                <a:cs typeface="Calibri"/>
              </a:rPr>
              <a:t>.</a:t>
            </a:r>
            <a:r>
              <a:rPr dirty="0" sz="1100" spc="-90">
                <a:latin typeface="Georgia"/>
                <a:cs typeface="Georgia"/>
              </a:rPr>
              <a:t>8800g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23139"/>
            <a:ext cx="2397125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25">
                <a:solidFill>
                  <a:srgbClr val="FFFFFF"/>
                </a:solidFill>
                <a:latin typeface="Gill Sans MT"/>
                <a:cs typeface="Gill Sans MT"/>
              </a:rPr>
              <a:t>2.4</a:t>
            </a:r>
            <a:r>
              <a:rPr dirty="0" sz="1400" spc="85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标准溶液的配制和标定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4599" y="1451000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1850821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2250643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91553" y="1301623"/>
            <a:ext cx="1038225" cy="10680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600" spc="-10">
                <a:latin typeface="Arial Unicode MS"/>
                <a:cs typeface="Arial Unicode MS"/>
              </a:rPr>
              <a:t>基准物质</a:t>
            </a:r>
            <a:endParaRPr sz="16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1600" spc="-10">
                <a:latin typeface="Arial Unicode MS"/>
                <a:cs typeface="Arial Unicode MS"/>
              </a:rPr>
              <a:t>直接配制法</a:t>
            </a:r>
            <a:endParaRPr sz="16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1600" spc="-10">
                <a:latin typeface="Arial Unicode MS"/>
                <a:cs typeface="Arial Unicode MS"/>
              </a:rPr>
              <a:t>间接配制法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90170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</a:rPr>
              <a:t>2.4.1</a:t>
            </a:r>
            <a:r>
              <a:rPr dirty="0" sz="1000" spc="110">
                <a:solidFill>
                  <a:srgbClr val="FFFFFF"/>
                </a:solidFill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基准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物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质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830884"/>
            <a:ext cx="435673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满足如下条件的物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可以作为基准物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直接用于标准溶</a:t>
            </a:r>
            <a:r>
              <a:rPr dirty="0" sz="1200" spc="-5">
                <a:latin typeface="Arial Unicode MS"/>
                <a:cs typeface="Arial Unicode MS"/>
              </a:rPr>
              <a:t>液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的配</a:t>
            </a:r>
            <a:r>
              <a:rPr dirty="0" sz="1200" spc="-20">
                <a:latin typeface="Arial Unicode MS"/>
                <a:cs typeface="Arial Unicode MS"/>
              </a:rPr>
              <a:t>制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846" y="1428162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277" y="141301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1553" y="1316240"/>
            <a:ext cx="408559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基准物质的组成与化学式完全相</a:t>
            </a:r>
            <a:r>
              <a:rPr dirty="0" sz="1200" spc="-20">
                <a:latin typeface="Arial Unicode MS"/>
                <a:cs typeface="Arial Unicode MS"/>
              </a:rPr>
              <a:t>符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如果该物质含有结晶</a:t>
            </a:r>
            <a:r>
              <a:rPr dirty="0" sz="1200" spc="-80">
                <a:latin typeface="Arial Unicode MS"/>
                <a:cs typeface="Arial Unicode MS"/>
              </a:rPr>
              <a:t>水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其结晶水的含量应与化学式相</a:t>
            </a:r>
            <a:r>
              <a:rPr dirty="0" sz="1200" spc="-65">
                <a:latin typeface="Arial Unicode MS"/>
                <a:cs typeface="Arial Unicode MS"/>
              </a:rPr>
              <a:t>符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846" y="1913518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2277" y="189835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846" y="2175163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42277" y="216001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846" y="2660519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2277" y="264537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1553" y="1763623"/>
            <a:ext cx="4090670" cy="103441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基准物质的主成分的含量应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45">
                <a:latin typeface="Georgia"/>
                <a:cs typeface="Georgia"/>
              </a:rPr>
              <a:t>99</a:t>
            </a:r>
            <a:r>
              <a:rPr dirty="0" sz="1100" spc="-45" i="1">
                <a:latin typeface="Calibri"/>
                <a:cs typeface="Calibri"/>
              </a:rPr>
              <a:t>.</a:t>
            </a:r>
            <a:r>
              <a:rPr dirty="0" sz="1100" spc="-45">
                <a:latin typeface="Georgia"/>
                <a:cs typeface="Georgia"/>
              </a:rPr>
              <a:t>9%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以</a:t>
            </a:r>
            <a:r>
              <a:rPr dirty="0" sz="1200" spc="-65">
                <a:latin typeface="Arial Unicode MS"/>
                <a:cs typeface="Arial Unicode MS"/>
              </a:rPr>
              <a:t>上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10">
                <a:latin typeface="Arial Unicode MS"/>
                <a:cs typeface="Arial Unicode MS"/>
              </a:rPr>
              <a:t>基准物质</a:t>
            </a:r>
            <a:r>
              <a:rPr dirty="0" sz="1200" spc="-5">
                <a:latin typeface="Arial Unicode MS"/>
                <a:cs typeface="Arial Unicode MS"/>
              </a:rPr>
              <a:t>应</a:t>
            </a:r>
            <a:r>
              <a:rPr dirty="0" sz="1200" spc="-10">
                <a:latin typeface="Arial Unicode MS"/>
                <a:cs typeface="Arial Unicode MS"/>
              </a:rPr>
              <a:t>有</a:t>
            </a:r>
            <a:r>
              <a:rPr dirty="0" sz="1200" spc="-5">
                <a:latin typeface="Arial Unicode MS"/>
                <a:cs typeface="Arial Unicode MS"/>
              </a:rPr>
              <a:t>很</a:t>
            </a:r>
            <a:r>
              <a:rPr dirty="0" sz="1200" spc="-10">
                <a:latin typeface="Arial Unicode MS"/>
                <a:cs typeface="Arial Unicode MS"/>
              </a:rPr>
              <a:t>好的稳定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不易与空气中的物质发生化学</a:t>
            </a:r>
            <a:r>
              <a:rPr dirty="0" sz="1200" spc="-5">
                <a:latin typeface="Arial Unicode MS"/>
                <a:cs typeface="Arial Unicode MS"/>
              </a:rPr>
              <a:t>反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80">
                <a:latin typeface="Arial Unicode MS"/>
                <a:cs typeface="Arial Unicode MS"/>
              </a:rPr>
              <a:t>应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也不易吸附空气中的物</a:t>
            </a:r>
            <a:r>
              <a:rPr dirty="0" sz="1200" spc="-65">
                <a:latin typeface="Arial Unicode MS"/>
                <a:cs typeface="Arial Unicode MS"/>
              </a:rPr>
              <a:t>质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基准物质的摩尔质量要</a:t>
            </a:r>
            <a:r>
              <a:rPr dirty="0" sz="1200" spc="-20">
                <a:latin typeface="Arial Unicode MS"/>
                <a:cs typeface="Arial Unicode MS"/>
              </a:rPr>
              <a:t>大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95567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常用的基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准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物质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2846" y="1464294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42277" y="144914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2846" y="1725952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42277" y="171080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153" y="1314411"/>
            <a:ext cx="4084320" cy="77279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纯金属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45">
                <a:latin typeface="Georgia"/>
                <a:cs typeface="Georgia"/>
              </a:rPr>
              <a:t>——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Ag</a:t>
            </a:r>
            <a:r>
              <a:rPr dirty="0" sz="1200" spc="-80">
                <a:latin typeface="Arial Unicode MS"/>
                <a:cs typeface="Arial Unicode MS"/>
              </a:rPr>
              <a:t>，</a:t>
            </a:r>
            <a:r>
              <a:rPr dirty="0" sz="1100" spc="-80">
                <a:latin typeface="Georgia"/>
                <a:cs typeface="Georgia"/>
              </a:rPr>
              <a:t>Cu</a:t>
            </a:r>
            <a:r>
              <a:rPr dirty="0" sz="1200" spc="-80">
                <a:latin typeface="Arial Unicode MS"/>
                <a:cs typeface="Arial Unicode MS"/>
              </a:rPr>
              <a:t>，</a:t>
            </a:r>
            <a:r>
              <a:rPr dirty="0" sz="1100" spc="-80">
                <a:latin typeface="Georgia"/>
                <a:cs typeface="Georgia"/>
              </a:rPr>
              <a:t>Zn</a:t>
            </a:r>
            <a:r>
              <a:rPr dirty="0" sz="1200" spc="-80">
                <a:latin typeface="Arial Unicode MS"/>
                <a:cs typeface="Arial Unicode MS"/>
              </a:rPr>
              <a:t>，</a:t>
            </a:r>
            <a:r>
              <a:rPr dirty="0" sz="1100" spc="-80">
                <a:latin typeface="Georgia"/>
                <a:cs typeface="Georgia"/>
              </a:rPr>
              <a:t>Cd</a:t>
            </a:r>
            <a:r>
              <a:rPr dirty="0" sz="1200" spc="-80">
                <a:latin typeface="Arial Unicode MS"/>
                <a:cs typeface="Arial Unicode MS"/>
              </a:rPr>
              <a:t>，</a:t>
            </a:r>
            <a:r>
              <a:rPr dirty="0" sz="1100" spc="-80">
                <a:latin typeface="Georgia"/>
                <a:cs typeface="Georgia"/>
              </a:rPr>
              <a:t>Si</a:t>
            </a:r>
            <a:r>
              <a:rPr dirty="0" sz="1200" spc="-80">
                <a:latin typeface="Arial Unicode MS"/>
                <a:cs typeface="Arial Unicode MS"/>
              </a:rPr>
              <a:t>，</a:t>
            </a:r>
            <a:r>
              <a:rPr dirty="0" sz="1100" spc="-80">
                <a:latin typeface="Georgia"/>
                <a:cs typeface="Georgia"/>
              </a:rPr>
              <a:t>Ge</a:t>
            </a:r>
            <a:r>
              <a:rPr dirty="0" sz="1200" spc="-80">
                <a:latin typeface="Arial Unicode MS"/>
                <a:cs typeface="Arial Unicode MS"/>
              </a:rPr>
              <a:t>，</a:t>
            </a:r>
            <a:r>
              <a:rPr dirty="0" sz="1100" spc="-80">
                <a:latin typeface="Georgia"/>
                <a:cs typeface="Georgia"/>
              </a:rPr>
              <a:t>Al</a:t>
            </a:r>
            <a:r>
              <a:rPr dirty="0" sz="1200" spc="-80">
                <a:latin typeface="Arial Unicode MS"/>
                <a:cs typeface="Arial Unicode MS"/>
              </a:rPr>
              <a:t>，</a:t>
            </a:r>
            <a:r>
              <a:rPr dirty="0" sz="1100" spc="-80">
                <a:latin typeface="Georgia"/>
                <a:cs typeface="Georgia"/>
              </a:rPr>
              <a:t>Co</a:t>
            </a:r>
            <a:r>
              <a:rPr dirty="0" sz="1200" spc="-80">
                <a:latin typeface="Arial Unicode MS"/>
                <a:cs typeface="Arial Unicode MS"/>
              </a:rPr>
              <a:t>，</a:t>
            </a:r>
            <a:r>
              <a:rPr dirty="0" sz="1100" spc="-80">
                <a:latin typeface="Georgia"/>
                <a:cs typeface="Georgia"/>
              </a:rPr>
              <a:t>Ni</a:t>
            </a:r>
            <a:r>
              <a:rPr dirty="0" sz="1200" spc="-80">
                <a:latin typeface="Arial Unicode MS"/>
                <a:cs typeface="Arial Unicode MS"/>
              </a:rPr>
              <a:t>，</a:t>
            </a:r>
            <a:r>
              <a:rPr dirty="0" sz="1100" spc="-80">
                <a:latin typeface="Georgia"/>
                <a:cs typeface="Georgia"/>
              </a:rPr>
              <a:t>Fe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20">
                <a:latin typeface="Arial Unicode MS"/>
                <a:cs typeface="Arial Unicode MS"/>
              </a:rPr>
              <a:t>等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化合物</a:t>
            </a:r>
            <a:r>
              <a:rPr dirty="0" sz="1200" spc="35">
                <a:latin typeface="Arial Unicode MS"/>
                <a:cs typeface="Arial Unicode MS"/>
              </a:rPr>
              <a:t> </a:t>
            </a:r>
            <a:r>
              <a:rPr dirty="0" sz="1100" spc="145">
                <a:latin typeface="Georgia"/>
                <a:cs typeface="Georgia"/>
              </a:rPr>
              <a:t>——</a:t>
            </a:r>
            <a:r>
              <a:rPr dirty="0" sz="1100" spc="10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NaCl</a:t>
            </a:r>
            <a:r>
              <a:rPr dirty="0" sz="1200">
                <a:latin typeface="Arial Unicode MS"/>
                <a:cs typeface="Arial Unicode MS"/>
              </a:rPr>
              <a:t>，</a:t>
            </a:r>
            <a:r>
              <a:rPr dirty="0" sz="1100">
                <a:latin typeface="Georgia"/>
                <a:cs typeface="Georgia"/>
              </a:rPr>
              <a:t>K</a:t>
            </a:r>
            <a:r>
              <a:rPr dirty="0" baseline="-13888" sz="900">
                <a:latin typeface="Times New Roman"/>
                <a:cs typeface="Times New Roman"/>
              </a:rPr>
              <a:t>2</a:t>
            </a:r>
            <a:r>
              <a:rPr dirty="0" sz="1100">
                <a:latin typeface="Georgia"/>
                <a:cs typeface="Georgia"/>
              </a:rPr>
              <a:t>Cr</a:t>
            </a:r>
            <a:r>
              <a:rPr dirty="0" baseline="-13888" sz="900">
                <a:latin typeface="Times New Roman"/>
                <a:cs typeface="Times New Roman"/>
              </a:rPr>
              <a:t>2</a:t>
            </a:r>
            <a:r>
              <a:rPr dirty="0" sz="1100">
                <a:latin typeface="Georgia"/>
                <a:cs typeface="Georgia"/>
              </a:rPr>
              <a:t>O</a:t>
            </a:r>
            <a:r>
              <a:rPr dirty="0" baseline="-13888" sz="900">
                <a:latin typeface="Times New Roman"/>
                <a:cs typeface="Times New Roman"/>
              </a:rPr>
              <a:t>7</a:t>
            </a:r>
            <a:r>
              <a:rPr dirty="0" sz="1200">
                <a:latin typeface="Arial Unicode MS"/>
                <a:cs typeface="Arial Unicode MS"/>
              </a:rPr>
              <a:t>，</a:t>
            </a:r>
            <a:r>
              <a:rPr dirty="0" sz="1100">
                <a:latin typeface="Georgia"/>
                <a:cs typeface="Georgia"/>
              </a:rPr>
              <a:t>Na</a:t>
            </a:r>
            <a:r>
              <a:rPr dirty="0" baseline="-13888" sz="900">
                <a:latin typeface="Times New Roman"/>
                <a:cs typeface="Times New Roman"/>
              </a:rPr>
              <a:t>2</a:t>
            </a:r>
            <a:r>
              <a:rPr dirty="0" sz="1100">
                <a:latin typeface="Georgia"/>
                <a:cs typeface="Georgia"/>
              </a:rPr>
              <a:t>CO</a:t>
            </a:r>
            <a:r>
              <a:rPr dirty="0" baseline="-13888" sz="900">
                <a:latin typeface="Times New Roman"/>
                <a:cs typeface="Times New Roman"/>
              </a:rPr>
              <a:t>3</a:t>
            </a:r>
            <a:r>
              <a:rPr dirty="0" sz="1200">
                <a:latin typeface="Arial Unicode MS"/>
                <a:cs typeface="Arial Unicode MS"/>
              </a:rPr>
              <a:t>，</a:t>
            </a:r>
            <a:r>
              <a:rPr dirty="0" sz="1100">
                <a:latin typeface="Georgia"/>
                <a:cs typeface="Georgia"/>
              </a:rPr>
              <a:t>As</a:t>
            </a:r>
            <a:r>
              <a:rPr dirty="0" baseline="-13888" sz="900">
                <a:latin typeface="Times New Roman"/>
                <a:cs typeface="Times New Roman"/>
              </a:rPr>
              <a:t>2</a:t>
            </a:r>
            <a:r>
              <a:rPr dirty="0" sz="1100">
                <a:latin typeface="Georgia"/>
                <a:cs typeface="Georgia"/>
              </a:rPr>
              <a:t>O</a:t>
            </a:r>
            <a:r>
              <a:rPr dirty="0" baseline="-13888" sz="900">
                <a:latin typeface="Times New Roman"/>
                <a:cs typeface="Times New Roman"/>
              </a:rPr>
              <a:t>3</a:t>
            </a:r>
            <a:r>
              <a:rPr dirty="0" sz="1200">
                <a:latin typeface="Arial Unicode MS"/>
                <a:cs typeface="Arial Unicode MS"/>
              </a:rPr>
              <a:t>，</a:t>
            </a:r>
            <a:r>
              <a:rPr dirty="0" sz="1100">
                <a:latin typeface="Georgia"/>
                <a:cs typeface="Georgia"/>
              </a:rPr>
              <a:t>CaCO</a:t>
            </a:r>
            <a:r>
              <a:rPr dirty="0" baseline="-13888" sz="900">
                <a:latin typeface="Times New Roman"/>
                <a:cs typeface="Times New Roman"/>
              </a:rPr>
              <a:t>3</a:t>
            </a:r>
            <a:r>
              <a:rPr dirty="0" sz="120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邻苯二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甲酸氢</a:t>
            </a:r>
            <a:r>
              <a:rPr dirty="0" sz="1200" spc="-80">
                <a:latin typeface="Arial Unicode MS"/>
                <a:cs typeface="Arial Unicode MS"/>
              </a:rPr>
              <a:t>钾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硼砂</a:t>
            </a:r>
            <a:r>
              <a:rPr dirty="0" sz="1200" spc="-20">
                <a:latin typeface="Arial Unicode MS"/>
                <a:cs typeface="Arial Unicode MS"/>
              </a:rPr>
              <a:t>等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03441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solidFill>
                  <a:srgbClr val="FFFFFF"/>
                </a:solidFill>
                <a:latin typeface="Georgia"/>
                <a:cs typeface="Georgia"/>
              </a:rPr>
              <a:t>2.4.2</a:t>
            </a:r>
            <a:r>
              <a:rPr dirty="0" sz="1000" spc="13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直接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配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制法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176147"/>
            <a:ext cx="4356735" cy="1144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用天平准确称取一定量的某种基准物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溶解于适量水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然 </a:t>
            </a:r>
            <a:r>
              <a:rPr dirty="0" sz="1200" spc="-10">
                <a:latin typeface="Arial Unicode MS"/>
                <a:cs typeface="Arial Unicode MS"/>
              </a:rPr>
              <a:t>后定量转入容量瓶中定</a:t>
            </a:r>
            <a:r>
              <a:rPr dirty="0" sz="1200" spc="-20">
                <a:latin typeface="Arial Unicode MS"/>
                <a:cs typeface="Arial Unicode MS"/>
              </a:rPr>
              <a:t>容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根据称取的质量数及容量瓶的体</a:t>
            </a:r>
            <a:r>
              <a:rPr dirty="0" sz="1200" spc="-80">
                <a:latin typeface="Arial Unicode MS"/>
                <a:cs typeface="Arial Unicode MS"/>
              </a:rPr>
              <a:t>积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即 </a:t>
            </a:r>
            <a:r>
              <a:rPr dirty="0" sz="1200" spc="-5">
                <a:latin typeface="Arial Unicode MS"/>
                <a:cs typeface="Arial Unicode MS"/>
              </a:rPr>
              <a:t>可计算标准溶液的浓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 marR="27940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酸碱滴定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常采用邻苯二甲酸氢钾作为基准物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 </a:t>
            </a:r>
            <a:r>
              <a:rPr dirty="0" sz="1200" spc="-5">
                <a:latin typeface="Arial Unicode MS"/>
                <a:cs typeface="Arial Unicode MS"/>
              </a:rPr>
              <a:t>于标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03441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5">
                <a:solidFill>
                  <a:srgbClr val="FFFFFF"/>
                </a:solidFill>
                <a:latin typeface="Georgia"/>
                <a:cs typeface="Georgia"/>
              </a:rPr>
              <a:t>2.4.3</a:t>
            </a:r>
            <a:r>
              <a:rPr dirty="0" sz="1000" spc="14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间接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配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制法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173416"/>
            <a:ext cx="4319905" cy="1144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许多物质因为不能满足基准物质的要</a:t>
            </a:r>
            <a:r>
              <a:rPr dirty="0" sz="1200" spc="-80">
                <a:latin typeface="Arial Unicode MS"/>
                <a:cs typeface="Arial Unicode MS"/>
              </a:rPr>
              <a:t>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故无法直接配制其 标准溶</a:t>
            </a:r>
            <a:r>
              <a:rPr dirty="0" sz="1200" spc="-20">
                <a:latin typeface="Arial Unicode MS"/>
                <a:cs typeface="Arial Unicode MS"/>
              </a:rPr>
              <a:t>液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市售的盐酸</a:t>
            </a:r>
            <a:r>
              <a:rPr dirty="0" sz="1200" spc="175">
                <a:latin typeface="Arial Unicode MS"/>
                <a:cs typeface="Arial Unicode MS"/>
              </a:rPr>
              <a:t>中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-15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的准确含量难于确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故无法 直接将其配制成标准溶</a:t>
            </a:r>
            <a:r>
              <a:rPr dirty="0" sz="1200" spc="-20">
                <a:latin typeface="Arial Unicode MS"/>
                <a:cs typeface="Arial Unicode MS"/>
              </a:rPr>
              <a:t>液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要配</a:t>
            </a:r>
            <a:r>
              <a:rPr dirty="0" sz="1200" spc="175">
                <a:latin typeface="Arial Unicode MS"/>
                <a:cs typeface="Arial Unicode MS"/>
              </a:rPr>
              <a:t>制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的标准溶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可先用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浓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溶液稀释到需配制的浓度附</a:t>
            </a:r>
            <a:r>
              <a:rPr dirty="0" sz="1200" spc="-80">
                <a:latin typeface="Arial Unicode MS"/>
                <a:cs typeface="Arial Unicode MS"/>
              </a:rPr>
              <a:t>近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然后用硼砂或已经标定过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-25">
                <a:latin typeface="Georgia"/>
                <a:cs typeface="Georgia"/>
              </a:rPr>
              <a:t>NaOH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标准溶液进行标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以此求得该溶液的准确浓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55689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注意事项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209014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694370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179726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91553" y="1068755"/>
            <a:ext cx="4090670" cy="144399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标定时应平行测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-65">
                <a:latin typeface="Georgia"/>
                <a:cs typeface="Georgia"/>
              </a:rPr>
              <a:t>3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4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次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且测定结果的相对偏差不大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于</a:t>
            </a:r>
            <a:r>
              <a:rPr dirty="0" sz="1100" spc="-50">
                <a:latin typeface="Georgia"/>
                <a:cs typeface="Georgia"/>
              </a:rPr>
              <a:t>0.2%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10">
                <a:latin typeface="Arial Unicode MS"/>
                <a:cs typeface="Arial Unicode MS"/>
              </a:rPr>
              <a:t>称取的标准物质的量要适</a:t>
            </a:r>
            <a:r>
              <a:rPr dirty="0" sz="1200" spc="-80">
                <a:latin typeface="Arial Unicode MS"/>
                <a:cs typeface="Arial Unicode MS"/>
              </a:rPr>
              <a:t>当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滴</a:t>
            </a:r>
            <a:r>
              <a:rPr dirty="0" sz="1200" spc="-10">
                <a:latin typeface="Arial Unicode MS"/>
                <a:cs typeface="Arial Unicode MS"/>
              </a:rPr>
              <a:t>定时所消耗的标准溶液的体</a:t>
            </a:r>
            <a:r>
              <a:rPr dirty="0" sz="1200" spc="-5">
                <a:latin typeface="Arial Unicode MS"/>
                <a:cs typeface="Arial Unicode MS"/>
              </a:rPr>
              <a:t>积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要适</a:t>
            </a:r>
            <a:r>
              <a:rPr dirty="0" sz="1200" spc="-20">
                <a:latin typeface="Arial Unicode MS"/>
                <a:cs typeface="Arial Unicode MS"/>
              </a:rPr>
              <a:t>当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配制和标定溶液时使用的容</a:t>
            </a:r>
            <a:r>
              <a:rPr dirty="0" sz="1200" spc="-80">
                <a:latin typeface="Arial Unicode MS"/>
                <a:cs typeface="Arial Unicode MS"/>
              </a:rPr>
              <a:t>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如滴定</a:t>
            </a:r>
            <a:r>
              <a:rPr dirty="0" sz="1200" spc="15">
                <a:latin typeface="Arial Unicode MS"/>
                <a:cs typeface="Arial Unicode MS"/>
              </a:rPr>
              <a:t>管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容量瓶和移液管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80">
                <a:latin typeface="Arial Unicode MS"/>
                <a:cs typeface="Arial Unicode MS"/>
              </a:rPr>
              <a:t>等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在必要时应校正其体</a:t>
            </a:r>
            <a:r>
              <a:rPr dirty="0" sz="1200" spc="-80">
                <a:latin typeface="Arial Unicode MS"/>
                <a:cs typeface="Arial Unicode MS"/>
              </a:rPr>
              <a:t>积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并考虑温度的影</a:t>
            </a:r>
            <a:r>
              <a:rPr dirty="0" sz="1200" spc="-20">
                <a:latin typeface="Arial Unicode MS"/>
                <a:cs typeface="Arial Unicode MS"/>
              </a:rPr>
              <a:t>响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23139"/>
            <a:ext cx="2194560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25">
                <a:solidFill>
                  <a:srgbClr val="FFFFFF"/>
                </a:solidFill>
                <a:latin typeface="Gill Sans MT"/>
                <a:cs typeface="Gill Sans MT"/>
              </a:rPr>
              <a:t>2.5</a:t>
            </a:r>
            <a:r>
              <a:rPr dirty="0" sz="1400" spc="85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定量分析的一般步骤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846" y="1030970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277" y="101582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2846" y="1266313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2277" y="125115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2589" y="1529626"/>
            <a:ext cx="50939" cy="509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2589" y="1727009"/>
            <a:ext cx="50939" cy="509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2846" y="1948037"/>
            <a:ext cx="110658" cy="1106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2277" y="193287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2846" y="2183368"/>
            <a:ext cx="110658" cy="1106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42277" y="216822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52589" y="2446693"/>
            <a:ext cx="50939" cy="509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52589" y="2644063"/>
            <a:ext cx="50939" cy="509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91553" y="907415"/>
            <a:ext cx="1544320" cy="1829435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200" spc="-5">
                <a:latin typeface="Arial Unicode MS"/>
                <a:cs typeface="Arial Unicode MS"/>
              </a:rPr>
              <a:t>采样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200" spc="-5">
                <a:latin typeface="Arial Unicode MS"/>
                <a:cs typeface="Arial Unicode MS"/>
              </a:rPr>
              <a:t>样品处理</a:t>
            </a:r>
            <a:endParaRPr sz="1200">
              <a:latin typeface="Arial Unicode MS"/>
              <a:cs typeface="Arial Unicode MS"/>
            </a:endParaRPr>
          </a:p>
          <a:p>
            <a:pPr marL="278130" marR="460375">
              <a:lnSpc>
                <a:spcPct val="123300"/>
              </a:lnSpc>
              <a:spcBef>
                <a:spcPts val="170"/>
              </a:spcBef>
            </a:pPr>
            <a:r>
              <a:rPr dirty="0" sz="1050" spc="-5">
                <a:latin typeface="Arial Unicode MS"/>
                <a:cs typeface="Arial Unicode MS"/>
              </a:rPr>
              <a:t>样品的</a:t>
            </a:r>
            <a:r>
              <a:rPr dirty="0" sz="1050" spc="-10">
                <a:latin typeface="Arial Unicode MS"/>
                <a:cs typeface="Arial Unicode MS"/>
              </a:rPr>
              <a:t>制</a:t>
            </a:r>
            <a:r>
              <a:rPr dirty="0" sz="1050" spc="-5">
                <a:latin typeface="Arial Unicode MS"/>
                <a:cs typeface="Arial Unicode MS"/>
              </a:rPr>
              <a:t>备 </a:t>
            </a:r>
            <a:r>
              <a:rPr dirty="0" sz="1050" spc="-5">
                <a:latin typeface="Arial Unicode MS"/>
                <a:cs typeface="Arial Unicode MS"/>
              </a:rPr>
              <a:t>样品的</a:t>
            </a:r>
            <a:r>
              <a:rPr dirty="0" sz="1050" spc="-10">
                <a:latin typeface="Arial Unicode MS"/>
                <a:cs typeface="Arial Unicode MS"/>
              </a:rPr>
              <a:t>预</a:t>
            </a:r>
            <a:r>
              <a:rPr dirty="0" sz="1050" spc="-5">
                <a:latin typeface="Arial Unicode MS"/>
                <a:cs typeface="Arial Unicode MS"/>
              </a:rPr>
              <a:t>处理</a:t>
            </a:r>
            <a:endParaRPr sz="10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200" spc="-5">
                <a:latin typeface="Arial Unicode MS"/>
                <a:cs typeface="Arial Unicode MS"/>
              </a:rPr>
              <a:t>样品的测量</a:t>
            </a:r>
            <a:endParaRPr sz="1200">
              <a:latin typeface="Arial Unicode MS"/>
              <a:cs typeface="Arial Unicode MS"/>
            </a:endParaRPr>
          </a:p>
          <a:p>
            <a:pPr marL="278130" marR="5080" indent="-266065">
              <a:lnSpc>
                <a:spcPct val="127800"/>
              </a:lnSpc>
              <a:spcBef>
                <a:spcPts val="15"/>
              </a:spcBef>
            </a:pPr>
            <a:r>
              <a:rPr dirty="0" sz="1200" spc="-5">
                <a:latin typeface="Arial Unicode MS"/>
                <a:cs typeface="Arial Unicode MS"/>
              </a:rPr>
              <a:t>分析结果的表示与评价 </a:t>
            </a:r>
            <a:r>
              <a:rPr dirty="0" sz="1050" spc="-5">
                <a:latin typeface="Arial Unicode MS"/>
                <a:cs typeface="Arial Unicode MS"/>
              </a:rPr>
              <a:t>分析结</a:t>
            </a:r>
            <a:r>
              <a:rPr dirty="0" sz="1050" spc="-10">
                <a:latin typeface="Arial Unicode MS"/>
                <a:cs typeface="Arial Unicode MS"/>
              </a:rPr>
              <a:t>果</a:t>
            </a:r>
            <a:r>
              <a:rPr dirty="0" sz="1050" spc="-5">
                <a:latin typeface="Arial Unicode MS"/>
                <a:cs typeface="Arial Unicode MS"/>
              </a:rPr>
              <a:t>的表示方法 分析结</a:t>
            </a:r>
            <a:r>
              <a:rPr dirty="0" sz="1050" spc="-10">
                <a:latin typeface="Arial Unicode MS"/>
                <a:cs typeface="Arial Unicode MS"/>
              </a:rPr>
              <a:t>果</a:t>
            </a:r>
            <a:r>
              <a:rPr dirty="0" sz="1050" spc="-5">
                <a:latin typeface="Arial Unicode MS"/>
                <a:cs typeface="Arial Unicode MS"/>
              </a:rPr>
              <a:t>的评价方法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63563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FFFFFF"/>
                </a:solidFill>
                <a:latin typeface="Georgia"/>
                <a:cs typeface="Georgia"/>
              </a:rPr>
              <a:t>2.5.1</a:t>
            </a:r>
            <a:r>
              <a:rPr dirty="0" sz="1000" spc="6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采 样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64006" y="610254"/>
            <a:ext cx="2880015" cy="2159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727911" y="2936100"/>
            <a:ext cx="115252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15">
                <a:solidFill>
                  <a:srgbClr val="3333B2"/>
                </a:solidFill>
                <a:latin typeface="Georgia"/>
                <a:cs typeface="Georgia"/>
              </a:rPr>
              <a:t>1:</a:t>
            </a:r>
            <a:r>
              <a:rPr dirty="0" sz="1000" spc="15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珠江风</a:t>
            </a:r>
            <a:r>
              <a:rPr dirty="0" sz="1050" spc="-10">
                <a:latin typeface="Arial Unicode MS"/>
                <a:cs typeface="Arial Unicode MS"/>
              </a:rPr>
              <a:t>景</a:t>
            </a:r>
            <a:r>
              <a:rPr dirty="0" sz="1050" spc="-5">
                <a:latin typeface="Arial Unicode MS"/>
                <a:cs typeface="Arial Unicode MS"/>
              </a:rPr>
              <a:t>之一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4006" y="324580"/>
            <a:ext cx="2880015" cy="2159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27911" y="2650426"/>
            <a:ext cx="115252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50">
                <a:solidFill>
                  <a:srgbClr val="3333B2"/>
                </a:solidFill>
                <a:latin typeface="Georgia"/>
                <a:cs typeface="Georgia"/>
              </a:rPr>
              <a:t>2:</a:t>
            </a:r>
            <a:r>
              <a:rPr dirty="0" sz="1000" spc="-3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珠江风</a:t>
            </a:r>
            <a:r>
              <a:rPr dirty="0" sz="1050" spc="-10">
                <a:latin typeface="Arial Unicode MS"/>
                <a:cs typeface="Arial Unicode MS"/>
              </a:rPr>
              <a:t>景</a:t>
            </a:r>
            <a:r>
              <a:rPr dirty="0" sz="1050" spc="-5">
                <a:latin typeface="Arial Unicode MS"/>
                <a:cs typeface="Arial Unicode MS"/>
              </a:rPr>
              <a:t>之二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39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4006" y="469033"/>
            <a:ext cx="2879998" cy="1799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27186" y="2435745"/>
            <a:ext cx="75374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45">
                <a:solidFill>
                  <a:srgbClr val="3333B2"/>
                </a:solidFill>
                <a:latin typeface="Georgia"/>
                <a:cs typeface="Georgia"/>
              </a:rPr>
              <a:t>3:</a:t>
            </a:r>
            <a:r>
              <a:rPr dirty="0" sz="1000" spc="-4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岁月湖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4006" y="740928"/>
            <a:ext cx="2879980" cy="11157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61490" y="2023414"/>
            <a:ext cx="128524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55">
                <a:solidFill>
                  <a:srgbClr val="3333B2"/>
                </a:solidFill>
                <a:latin typeface="Georgia"/>
                <a:cs typeface="Georgia"/>
              </a:rPr>
              <a:t>4:</a:t>
            </a:r>
            <a:r>
              <a:rPr dirty="0" sz="1000" spc="-2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随</a:t>
            </a:r>
            <a:r>
              <a:rPr dirty="0" sz="1050" spc="-10">
                <a:latin typeface="Arial Unicode MS"/>
                <a:cs typeface="Arial Unicode MS"/>
              </a:rPr>
              <a:t>机</a:t>
            </a:r>
            <a:r>
              <a:rPr dirty="0" sz="1050" spc="-5">
                <a:latin typeface="Arial Unicode MS"/>
                <a:cs typeface="Arial Unicode MS"/>
              </a:rPr>
              <a:t>采样示</a:t>
            </a:r>
            <a:r>
              <a:rPr dirty="0" sz="1050" spc="-10">
                <a:latin typeface="Arial Unicode MS"/>
                <a:cs typeface="Arial Unicode MS"/>
              </a:rPr>
              <a:t>意</a:t>
            </a:r>
            <a:r>
              <a:rPr dirty="0" sz="1050" spc="-5">
                <a:latin typeface="Arial Unicode MS"/>
                <a:cs typeface="Arial Unicode MS"/>
              </a:rPr>
              <a:t>图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90170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Georgia"/>
                <a:cs typeface="Georgia"/>
              </a:rPr>
              <a:t>2.1.2</a:t>
            </a:r>
            <a:r>
              <a:rPr dirty="0" sz="1000" spc="114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样品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理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544" y="834021"/>
            <a:ext cx="2160015" cy="16200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30208" y="1781562"/>
            <a:ext cx="1018895" cy="6520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860765" y="2620734"/>
            <a:ext cx="887094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35">
                <a:solidFill>
                  <a:srgbClr val="3333B2"/>
                </a:solidFill>
                <a:latin typeface="Georgia"/>
                <a:cs typeface="Georgia"/>
              </a:rPr>
              <a:t>5:</a:t>
            </a:r>
            <a:r>
              <a:rPr dirty="0" sz="1000" spc="15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煤堆</a:t>
            </a:r>
            <a:r>
              <a:rPr dirty="0" sz="1050" spc="-10">
                <a:latin typeface="Arial Unicode MS"/>
                <a:cs typeface="Arial Unicode MS"/>
              </a:rPr>
              <a:t>采</a:t>
            </a:r>
            <a:r>
              <a:rPr dirty="0" sz="1050" spc="-5">
                <a:latin typeface="Arial Unicode MS"/>
                <a:cs typeface="Arial Unicode MS"/>
              </a:rPr>
              <a:t>样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55689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样品制备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119543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604899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090242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91553" y="979271"/>
            <a:ext cx="4091940" cy="166751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试样须经过破</a:t>
            </a:r>
            <a:r>
              <a:rPr dirty="0" sz="1200" spc="15">
                <a:latin typeface="Arial Unicode MS"/>
                <a:cs typeface="Arial Unicode MS"/>
              </a:rPr>
              <a:t>碎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过</a:t>
            </a:r>
            <a:r>
              <a:rPr dirty="0" sz="1200" spc="15">
                <a:latin typeface="Arial Unicode MS"/>
                <a:cs typeface="Arial Unicode MS"/>
              </a:rPr>
              <a:t>筛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混</a:t>
            </a:r>
            <a:r>
              <a:rPr dirty="0" sz="1200" spc="15">
                <a:latin typeface="Arial Unicode MS"/>
                <a:cs typeface="Arial Unicode MS"/>
              </a:rPr>
              <a:t>匀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缩分后才能得到符合分析要求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的试</a:t>
            </a:r>
            <a:r>
              <a:rPr dirty="0" sz="1200" spc="-20">
                <a:latin typeface="Arial Unicode MS"/>
                <a:cs typeface="Arial Unicode MS"/>
              </a:rPr>
              <a:t>样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破碎分为粗</a:t>
            </a:r>
            <a:r>
              <a:rPr dirty="0" sz="1200" spc="15">
                <a:latin typeface="Arial Unicode MS"/>
                <a:cs typeface="Arial Unicode MS"/>
              </a:rPr>
              <a:t>碎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中碎和细碎甚至研</a:t>
            </a:r>
            <a:r>
              <a:rPr dirty="0" sz="1200" spc="-20">
                <a:latin typeface="Arial Unicode MS"/>
                <a:cs typeface="Arial Unicode MS"/>
              </a:rPr>
              <a:t>磨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每次破碎后要使样品全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部通过筛</a:t>
            </a:r>
            <a:r>
              <a:rPr dirty="0" sz="1200" spc="-20">
                <a:latin typeface="Arial Unicode MS"/>
                <a:cs typeface="Arial Unicode MS"/>
              </a:rPr>
              <a:t>孔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algn="just" marL="12700" marR="5080">
              <a:lnSpc>
                <a:spcPct val="122300"/>
              </a:lnSpc>
              <a:spcBef>
                <a:spcPts val="300"/>
              </a:spcBef>
            </a:pPr>
            <a:r>
              <a:rPr dirty="0" sz="1200" spc="-5">
                <a:latin typeface="Arial Unicode MS"/>
                <a:cs typeface="Arial Unicode MS"/>
              </a:rPr>
              <a:t>缩分是使粉碎后的试样量逐步减少的过</a:t>
            </a:r>
            <a:r>
              <a:rPr dirty="0" sz="1200" spc="-80">
                <a:latin typeface="Arial Unicode MS"/>
                <a:cs typeface="Arial Unicode MS"/>
              </a:rPr>
              <a:t>程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通常采用四分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5">
                <a:latin typeface="Arial Unicode MS"/>
                <a:cs typeface="Arial Unicode MS"/>
              </a:rPr>
              <a:t>。 </a:t>
            </a:r>
            <a:r>
              <a:rPr dirty="0" sz="1200" spc="-5">
                <a:latin typeface="Arial Unicode MS"/>
                <a:cs typeface="Arial Unicode MS"/>
              </a:rPr>
              <a:t>将过筛后的试样混</a:t>
            </a:r>
            <a:r>
              <a:rPr dirty="0" sz="1200" spc="-80">
                <a:latin typeface="Arial Unicode MS"/>
                <a:cs typeface="Arial Unicode MS"/>
              </a:rPr>
              <a:t>匀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堆为锥形后压为圆饼形</a:t>
            </a:r>
            <a:r>
              <a:rPr dirty="0" sz="1200" spc="-80">
                <a:latin typeface="Arial Unicode MS"/>
                <a:cs typeface="Arial Unicode MS"/>
              </a:rPr>
              <a:t>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通过中心分 成四等</a:t>
            </a:r>
            <a:r>
              <a:rPr dirty="0" sz="1200" spc="-80">
                <a:latin typeface="Arial Unicode MS"/>
                <a:cs typeface="Arial Unicode MS"/>
              </a:rPr>
              <a:t>份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弃去对角的两</a:t>
            </a:r>
            <a:r>
              <a:rPr dirty="0" sz="1200" spc="-20">
                <a:latin typeface="Arial Unicode MS"/>
                <a:cs typeface="Arial Unicode MS"/>
              </a:rPr>
              <a:t>份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4000" y="469302"/>
            <a:ext cx="2160013" cy="1794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28635" y="2430830"/>
            <a:ext cx="155130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-55">
                <a:solidFill>
                  <a:srgbClr val="3333B2"/>
                </a:solidFill>
                <a:latin typeface="Georgia"/>
                <a:cs typeface="Georgia"/>
              </a:rPr>
              <a:t>6:</a:t>
            </a:r>
            <a:r>
              <a:rPr dirty="0" sz="1000" spc="-25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样品</a:t>
            </a:r>
            <a:r>
              <a:rPr dirty="0" sz="1050" spc="-10">
                <a:latin typeface="Arial Unicode MS"/>
                <a:cs typeface="Arial Unicode MS"/>
              </a:rPr>
              <a:t>制</a:t>
            </a:r>
            <a:r>
              <a:rPr dirty="0" sz="1050" spc="-5">
                <a:latin typeface="Arial Unicode MS"/>
                <a:cs typeface="Arial Unicode MS"/>
              </a:rPr>
              <a:t>备的一</a:t>
            </a:r>
            <a:r>
              <a:rPr dirty="0" sz="1050" spc="-10">
                <a:latin typeface="Arial Unicode MS"/>
                <a:cs typeface="Arial Unicode MS"/>
              </a:rPr>
              <a:t>般</a:t>
            </a:r>
            <a:r>
              <a:rPr dirty="0" sz="1050" spc="-5">
                <a:latin typeface="Arial Unicode MS"/>
                <a:cs typeface="Arial Unicode MS"/>
              </a:rPr>
              <a:t>过程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08839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所需样品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最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小质量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1037920"/>
            <a:ext cx="424497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162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所需样品最小质量与样品的物理特征有</a:t>
            </a:r>
            <a:r>
              <a:rPr dirty="0" sz="1200" spc="-80">
                <a:latin typeface="Arial Unicode MS"/>
                <a:cs typeface="Arial Unicode MS"/>
              </a:rPr>
              <a:t>关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通常可用下式进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行近似估</a:t>
            </a:r>
            <a:r>
              <a:rPr dirty="0" sz="1200" spc="-90">
                <a:latin typeface="Arial Unicode MS"/>
                <a:cs typeface="Arial Unicode MS"/>
              </a:rPr>
              <a:t>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743" y="1591398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8544" y="1928609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9344" y="1915909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1641957"/>
            <a:ext cx="50749" cy="2866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7743" y="1635812"/>
            <a:ext cx="4432935" cy="344170"/>
          </a:xfrm>
          <a:custGeom>
            <a:avLst/>
            <a:gdLst/>
            <a:ahLst/>
            <a:cxnLst/>
            <a:rect l="l" t="t" r="r" b="b"/>
            <a:pathLst>
              <a:path w="4432935" h="344169">
                <a:moveTo>
                  <a:pt x="4432566" y="0"/>
                </a:moveTo>
                <a:lnTo>
                  <a:pt x="0" y="0"/>
                </a:lnTo>
                <a:lnTo>
                  <a:pt x="0" y="292796"/>
                </a:lnTo>
                <a:lnTo>
                  <a:pt x="4008" y="312521"/>
                </a:lnTo>
                <a:lnTo>
                  <a:pt x="14922" y="328674"/>
                </a:lnTo>
                <a:lnTo>
                  <a:pt x="31075" y="339588"/>
                </a:lnTo>
                <a:lnTo>
                  <a:pt x="50800" y="343597"/>
                </a:lnTo>
                <a:lnTo>
                  <a:pt x="4381765" y="343597"/>
                </a:lnTo>
                <a:lnTo>
                  <a:pt x="4401490" y="339588"/>
                </a:lnTo>
                <a:lnTo>
                  <a:pt x="4417643" y="328674"/>
                </a:lnTo>
                <a:lnTo>
                  <a:pt x="4428558" y="312521"/>
                </a:lnTo>
                <a:lnTo>
                  <a:pt x="4432566" y="292796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1680049"/>
            <a:ext cx="0" cy="267970"/>
          </a:xfrm>
          <a:custGeom>
            <a:avLst/>
            <a:gdLst/>
            <a:ahLst/>
            <a:cxnLst/>
            <a:rect l="l" t="t" r="r" b="b"/>
            <a:pathLst>
              <a:path w="0" h="267969">
                <a:moveTo>
                  <a:pt x="0" y="26760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166734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20310" y="165464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20310" y="164194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996897" y="1733575"/>
            <a:ext cx="608330" cy="214629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algn="r" marR="5080">
              <a:lnSpc>
                <a:spcPts val="335"/>
              </a:lnSpc>
              <a:spcBef>
                <a:spcPts val="140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ts val="725"/>
              </a:lnSpc>
            </a:pPr>
            <a:r>
              <a:rPr dirty="0" sz="1100" spc="85" i="1">
                <a:latin typeface="Calibri"/>
                <a:cs typeface="Calibri"/>
              </a:rPr>
              <a:t>m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180">
                <a:latin typeface="Lucida Sans Unicode"/>
                <a:cs typeface="Lucida Sans Unicode"/>
              </a:rPr>
              <a:t> </a:t>
            </a:r>
            <a:r>
              <a:rPr dirty="0" sz="1100" spc="50" i="1">
                <a:latin typeface="Calibri"/>
                <a:cs typeface="Calibri"/>
              </a:rPr>
              <a:t>kd</a:t>
            </a:r>
            <a:endParaRPr sz="1100">
              <a:latin typeface="Calibri"/>
              <a:cs typeface="Calibri"/>
            </a:endParaRPr>
          </a:p>
          <a:p>
            <a:pPr marL="133985">
              <a:lnSpc>
                <a:spcPts val="390"/>
              </a:lnSpc>
            </a:pPr>
            <a:r>
              <a:rPr dirty="0" sz="500" spc="150" i="1">
                <a:latin typeface="Arial"/>
                <a:cs typeface="Arial"/>
              </a:rPr>
              <a:t>Q</a:t>
            </a:r>
            <a:endParaRPr sz="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79722" y="1733575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(2)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536" y="2089238"/>
            <a:ext cx="4417060" cy="431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3664">
              <a:lnSpc>
                <a:spcPts val="122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50">
                <a:latin typeface="Arial Unicode MS"/>
                <a:cs typeface="Arial Unicode MS"/>
              </a:rPr>
              <a:t>，</a:t>
            </a:r>
            <a:r>
              <a:rPr dirty="0" sz="1100" spc="-50" i="1">
                <a:latin typeface="Calibri"/>
                <a:cs typeface="Calibri"/>
              </a:rPr>
              <a:t>m</a:t>
            </a:r>
            <a:r>
              <a:rPr dirty="0" sz="1100" spc="130" i="1">
                <a:latin typeface="Calibri"/>
                <a:cs typeface="Calibri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是所需试样的最小质</a:t>
            </a:r>
            <a:r>
              <a:rPr dirty="0" sz="1200" spc="-260">
                <a:latin typeface="Arial Unicode MS"/>
                <a:cs typeface="Arial Unicode MS"/>
              </a:rPr>
              <a:t>量</a:t>
            </a:r>
            <a:r>
              <a:rPr dirty="0" sz="1200" spc="-5">
                <a:latin typeface="Arial Unicode MS"/>
                <a:cs typeface="Arial Unicode MS"/>
              </a:rPr>
              <a:t>（单</a:t>
            </a:r>
            <a:r>
              <a:rPr dirty="0" sz="1200" spc="175">
                <a:latin typeface="Arial Unicode MS"/>
                <a:cs typeface="Arial Unicode MS"/>
              </a:rPr>
              <a:t>位</a:t>
            </a:r>
            <a:r>
              <a:rPr dirty="0" sz="1100" spc="-180">
                <a:latin typeface="Georgia"/>
                <a:cs typeface="Georgia"/>
              </a:rPr>
              <a:t>kg</a:t>
            </a:r>
            <a:r>
              <a:rPr dirty="0" sz="1200" spc="-180">
                <a:latin typeface="Arial Unicode MS"/>
                <a:cs typeface="Arial Unicode MS"/>
              </a:rPr>
              <a:t>），</a:t>
            </a:r>
            <a:r>
              <a:rPr dirty="0" sz="1100" spc="-180" i="1">
                <a:latin typeface="Calibri"/>
                <a:cs typeface="Calibri"/>
              </a:rPr>
              <a:t>d</a:t>
            </a:r>
            <a:r>
              <a:rPr dirty="0" sz="1100" spc="-145" i="1">
                <a:latin typeface="Calibri"/>
                <a:cs typeface="Calibri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为试样的最大粒径</a:t>
            </a:r>
            <a:endParaRPr sz="1200">
              <a:latin typeface="Arial Unicode MS"/>
              <a:cs typeface="Arial Unicode MS"/>
            </a:endParaRPr>
          </a:p>
          <a:p>
            <a:pPr marL="659130">
              <a:lnSpc>
                <a:spcPts val="380"/>
              </a:lnSpc>
            </a:pPr>
            <a:r>
              <a:rPr dirty="0" sz="500" spc="150" i="1">
                <a:latin typeface="Arial"/>
                <a:cs typeface="Arial"/>
              </a:rPr>
              <a:t>Q</a:t>
            </a:r>
            <a:endParaRPr sz="5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60"/>
              </a:spcBef>
            </a:pPr>
            <a:r>
              <a:rPr dirty="0" sz="1200" spc="-5">
                <a:latin typeface="Arial Unicode MS"/>
                <a:cs typeface="Arial Unicode MS"/>
              </a:rPr>
              <a:t>（单</a:t>
            </a:r>
            <a:r>
              <a:rPr dirty="0" sz="1200" spc="175">
                <a:latin typeface="Arial Unicode MS"/>
                <a:cs typeface="Arial Unicode MS"/>
              </a:rPr>
              <a:t>位</a:t>
            </a:r>
            <a:r>
              <a:rPr dirty="0" sz="1100" spc="-185">
                <a:latin typeface="Georgia"/>
                <a:cs typeface="Georgia"/>
              </a:rPr>
              <a:t>mm</a:t>
            </a:r>
            <a:r>
              <a:rPr dirty="0" sz="1200" spc="-185">
                <a:latin typeface="Arial Unicode MS"/>
                <a:cs typeface="Arial Unicode MS"/>
              </a:rPr>
              <a:t>），</a:t>
            </a:r>
            <a:r>
              <a:rPr dirty="0" sz="1100" spc="-185" i="1">
                <a:latin typeface="Calibri"/>
                <a:cs typeface="Calibri"/>
              </a:rPr>
              <a:t>k</a:t>
            </a:r>
            <a:r>
              <a:rPr dirty="0" sz="1100" spc="-170" i="1">
                <a:latin typeface="Calibri"/>
                <a:cs typeface="Calibri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是缩分常</a:t>
            </a:r>
            <a:r>
              <a:rPr dirty="0" sz="1200" spc="-80">
                <a:latin typeface="Arial Unicode MS"/>
                <a:cs typeface="Arial Unicode MS"/>
              </a:rPr>
              <a:t>数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通常取值范围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70">
                <a:latin typeface="Georgia"/>
                <a:cs typeface="Georgia"/>
              </a:rPr>
              <a:t>0</a:t>
            </a:r>
            <a:r>
              <a:rPr dirty="0" sz="1100" spc="-70" i="1">
                <a:latin typeface="Calibri"/>
                <a:cs typeface="Calibri"/>
              </a:rPr>
              <a:t>.</a:t>
            </a:r>
            <a:r>
              <a:rPr dirty="0" sz="1100" spc="-70">
                <a:latin typeface="Georgia"/>
                <a:cs typeface="Georgia"/>
              </a:rPr>
              <a:t>05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kg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50">
                <a:latin typeface="Georgia"/>
                <a:cs typeface="Georgia"/>
              </a:rPr>
              <a:t>mm</a:t>
            </a:r>
            <a:r>
              <a:rPr dirty="0" baseline="37037" sz="900" spc="75" i="1">
                <a:latin typeface="Arial"/>
                <a:cs typeface="Arial"/>
              </a:rPr>
              <a:t>−</a:t>
            </a:r>
            <a:r>
              <a:rPr dirty="0" baseline="37037" sz="900" spc="75">
                <a:latin typeface="Times New Roman"/>
                <a:cs typeface="Times New Roman"/>
              </a:rPr>
              <a:t>2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565772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741337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167841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155141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610006"/>
            <a:ext cx="50749" cy="5578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785609"/>
            <a:ext cx="4432935" cy="433070"/>
          </a:xfrm>
          <a:custGeom>
            <a:avLst/>
            <a:gdLst/>
            <a:ahLst/>
            <a:cxnLst/>
            <a:rect l="l" t="t" r="r" b="b"/>
            <a:pathLst>
              <a:path w="4432935" h="433069">
                <a:moveTo>
                  <a:pt x="4432566" y="0"/>
                </a:moveTo>
                <a:lnTo>
                  <a:pt x="0" y="0"/>
                </a:lnTo>
                <a:lnTo>
                  <a:pt x="0" y="382231"/>
                </a:lnTo>
                <a:lnTo>
                  <a:pt x="4008" y="401956"/>
                </a:lnTo>
                <a:lnTo>
                  <a:pt x="14922" y="418109"/>
                </a:lnTo>
                <a:lnTo>
                  <a:pt x="31075" y="429023"/>
                </a:lnTo>
                <a:lnTo>
                  <a:pt x="50800" y="433031"/>
                </a:lnTo>
                <a:lnTo>
                  <a:pt x="4381765" y="433031"/>
                </a:lnTo>
                <a:lnTo>
                  <a:pt x="4401490" y="429023"/>
                </a:lnTo>
                <a:lnTo>
                  <a:pt x="4417643" y="418109"/>
                </a:lnTo>
                <a:lnTo>
                  <a:pt x="4428558" y="401956"/>
                </a:lnTo>
                <a:lnTo>
                  <a:pt x="4432566" y="382231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648103"/>
            <a:ext cx="0" cy="539115"/>
          </a:xfrm>
          <a:custGeom>
            <a:avLst/>
            <a:gdLst/>
            <a:ahLst/>
            <a:cxnLst/>
            <a:rect l="l" t="t" r="r" b="b"/>
            <a:pathLst>
              <a:path w="0" h="539115">
                <a:moveTo>
                  <a:pt x="0" y="53878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63540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62270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61000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7744" y="505282"/>
            <a:ext cx="4364355" cy="68516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20">
                <a:solidFill>
                  <a:srgbClr val="FFFFFF"/>
                </a:solidFill>
                <a:latin typeface="Gill Sans MT"/>
                <a:cs typeface="Gill Sans MT"/>
              </a:rPr>
              <a:t>2.x</a:t>
            </a:r>
            <a:endParaRPr sz="1200">
              <a:latin typeface="Gill Sans MT"/>
              <a:cs typeface="Gill Sans MT"/>
            </a:endParaRPr>
          </a:p>
          <a:p>
            <a:pPr marL="50165">
              <a:lnSpc>
                <a:spcPct val="100000"/>
              </a:lnSpc>
              <a:spcBef>
                <a:spcPts val="275"/>
              </a:spcBef>
            </a:pPr>
            <a:r>
              <a:rPr dirty="0" sz="1200" spc="-5">
                <a:latin typeface="Arial Unicode MS"/>
                <a:cs typeface="Arial Unicode MS"/>
              </a:rPr>
              <a:t>有试</a:t>
            </a:r>
            <a:r>
              <a:rPr dirty="0" sz="1200" spc="175">
                <a:latin typeface="Arial Unicode MS"/>
                <a:cs typeface="Arial Unicode MS"/>
              </a:rPr>
              <a:t>样</a:t>
            </a:r>
            <a:r>
              <a:rPr dirty="0" sz="1100" spc="-100">
                <a:latin typeface="Georgia"/>
                <a:cs typeface="Georgia"/>
              </a:rPr>
              <a:t>20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100" spc="-100">
                <a:latin typeface="Georgia"/>
                <a:cs typeface="Georgia"/>
              </a:rPr>
              <a:t>kg</a:t>
            </a:r>
            <a:r>
              <a:rPr dirty="0" sz="1200" spc="-10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要求最终的样品粒径不大</a:t>
            </a:r>
            <a:r>
              <a:rPr dirty="0" sz="1200" spc="175">
                <a:latin typeface="Arial Unicode MS"/>
                <a:cs typeface="Arial Unicode MS"/>
              </a:rPr>
              <a:t>于</a:t>
            </a:r>
            <a:r>
              <a:rPr dirty="0" sz="1100" spc="-45">
                <a:latin typeface="Georgia"/>
                <a:cs typeface="Georgia"/>
              </a:rPr>
              <a:t>3</a:t>
            </a:r>
            <a:r>
              <a:rPr dirty="0" sz="1100" spc="-45" i="1">
                <a:latin typeface="Calibri"/>
                <a:cs typeface="Calibri"/>
              </a:rPr>
              <a:t>.</a:t>
            </a:r>
            <a:r>
              <a:rPr dirty="0" sz="1100" spc="-45">
                <a:latin typeface="Georgia"/>
                <a:cs typeface="Georgia"/>
              </a:rPr>
              <a:t>36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100" spc="-130">
                <a:latin typeface="Georgia"/>
                <a:cs typeface="Georgia"/>
              </a:rPr>
              <a:t>mm</a:t>
            </a:r>
            <a:r>
              <a:rPr dirty="0" sz="1200" spc="-13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应缩分几</a:t>
            </a:r>
            <a:r>
              <a:rPr dirty="0" sz="1200" spc="65">
                <a:latin typeface="Arial Unicode MS"/>
                <a:cs typeface="Arial Unicode MS"/>
              </a:rPr>
              <a:t>次</a:t>
            </a:r>
            <a:r>
              <a:rPr dirty="0" sz="1200" spc="-5">
                <a:latin typeface="Arial Unicode MS"/>
                <a:cs typeface="Arial Unicode MS"/>
              </a:rPr>
              <a:t>？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已</a:t>
            </a:r>
            <a:r>
              <a:rPr dirty="0" sz="1200" spc="-90">
                <a:latin typeface="Arial Unicode MS"/>
                <a:cs typeface="Arial Unicode MS"/>
              </a:rPr>
              <a:t>知</a:t>
            </a:r>
            <a:r>
              <a:rPr dirty="0" sz="1200" spc="-50">
                <a:latin typeface="Arial Unicode MS"/>
                <a:cs typeface="Arial Unicode MS"/>
              </a:rPr>
              <a:t>：</a:t>
            </a:r>
            <a:r>
              <a:rPr dirty="0" sz="1100" spc="-50" i="1">
                <a:latin typeface="Calibri"/>
                <a:cs typeface="Calibri"/>
              </a:rPr>
              <a:t>k</a:t>
            </a:r>
            <a:r>
              <a:rPr dirty="0" sz="1100" spc="80" i="1">
                <a:latin typeface="Calibri"/>
                <a:cs typeface="Calibri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65">
                <a:latin typeface="Georgia"/>
                <a:cs typeface="Georgia"/>
              </a:rPr>
              <a:t>0</a:t>
            </a:r>
            <a:r>
              <a:rPr dirty="0" sz="1100" spc="-65" i="1">
                <a:latin typeface="Calibri"/>
                <a:cs typeface="Calibri"/>
              </a:rPr>
              <a:t>.</a:t>
            </a:r>
            <a:r>
              <a:rPr dirty="0" sz="1100" spc="-65">
                <a:latin typeface="Georgia"/>
                <a:cs typeface="Georgia"/>
              </a:rPr>
              <a:t>2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kg</a:t>
            </a:r>
            <a:r>
              <a:rPr dirty="0" sz="1100" spc="-1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50">
                <a:latin typeface="Georgia"/>
                <a:cs typeface="Georgia"/>
              </a:rPr>
              <a:t>mm</a:t>
            </a:r>
            <a:r>
              <a:rPr dirty="0" baseline="37037" sz="900" spc="75" i="1">
                <a:latin typeface="Arial"/>
                <a:cs typeface="Arial"/>
              </a:rPr>
              <a:t>−</a:t>
            </a:r>
            <a:r>
              <a:rPr dirty="0" baseline="37037" sz="900" spc="75">
                <a:latin typeface="Times New Roman"/>
                <a:cs typeface="Times New Roman"/>
              </a:rPr>
              <a:t>2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565772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744" y="741337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167841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155141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610006"/>
            <a:ext cx="50749" cy="5578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785609"/>
            <a:ext cx="4432935" cy="433070"/>
          </a:xfrm>
          <a:custGeom>
            <a:avLst/>
            <a:gdLst/>
            <a:ahLst/>
            <a:cxnLst/>
            <a:rect l="l" t="t" r="r" b="b"/>
            <a:pathLst>
              <a:path w="4432935" h="433069">
                <a:moveTo>
                  <a:pt x="4432566" y="0"/>
                </a:moveTo>
                <a:lnTo>
                  <a:pt x="0" y="0"/>
                </a:lnTo>
                <a:lnTo>
                  <a:pt x="0" y="382231"/>
                </a:lnTo>
                <a:lnTo>
                  <a:pt x="4008" y="401956"/>
                </a:lnTo>
                <a:lnTo>
                  <a:pt x="14922" y="418109"/>
                </a:lnTo>
                <a:lnTo>
                  <a:pt x="31075" y="429023"/>
                </a:lnTo>
                <a:lnTo>
                  <a:pt x="50800" y="433031"/>
                </a:lnTo>
                <a:lnTo>
                  <a:pt x="4381765" y="433031"/>
                </a:lnTo>
                <a:lnTo>
                  <a:pt x="4401490" y="429023"/>
                </a:lnTo>
                <a:lnTo>
                  <a:pt x="4417643" y="418109"/>
                </a:lnTo>
                <a:lnTo>
                  <a:pt x="4428558" y="401956"/>
                </a:lnTo>
                <a:lnTo>
                  <a:pt x="4432566" y="382231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648103"/>
            <a:ext cx="0" cy="539115"/>
          </a:xfrm>
          <a:custGeom>
            <a:avLst/>
            <a:gdLst/>
            <a:ahLst/>
            <a:cxnLst/>
            <a:rect l="l" t="t" r="r" b="b"/>
            <a:pathLst>
              <a:path w="0" h="539115">
                <a:moveTo>
                  <a:pt x="0" y="53878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63540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62270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610003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2344" y="505282"/>
            <a:ext cx="4415155" cy="211899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20">
                <a:solidFill>
                  <a:srgbClr val="FFFFFF"/>
                </a:solidFill>
                <a:latin typeface="Gill Sans MT"/>
                <a:cs typeface="Gill Sans MT"/>
              </a:rPr>
              <a:t>2.x</a:t>
            </a:r>
            <a:endParaRPr sz="1200">
              <a:latin typeface="Gill Sans MT"/>
              <a:cs typeface="Gill Sans MT"/>
            </a:endParaRPr>
          </a:p>
          <a:p>
            <a:pPr marL="75565">
              <a:lnSpc>
                <a:spcPct val="100000"/>
              </a:lnSpc>
              <a:spcBef>
                <a:spcPts val="275"/>
              </a:spcBef>
            </a:pPr>
            <a:r>
              <a:rPr dirty="0" sz="1200" spc="-5">
                <a:latin typeface="Arial Unicode MS"/>
                <a:cs typeface="Arial Unicode MS"/>
              </a:rPr>
              <a:t>有试</a:t>
            </a:r>
            <a:r>
              <a:rPr dirty="0" sz="1200" spc="175">
                <a:latin typeface="Arial Unicode MS"/>
                <a:cs typeface="Arial Unicode MS"/>
              </a:rPr>
              <a:t>样</a:t>
            </a:r>
            <a:r>
              <a:rPr dirty="0" sz="1100" spc="-100">
                <a:latin typeface="Georgia"/>
                <a:cs typeface="Georgia"/>
              </a:rPr>
              <a:t>20 kg</a:t>
            </a:r>
            <a:r>
              <a:rPr dirty="0" sz="1200" spc="-10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要求最终的样品粒径不大</a:t>
            </a:r>
            <a:r>
              <a:rPr dirty="0" sz="1200" spc="175">
                <a:latin typeface="Arial Unicode MS"/>
                <a:cs typeface="Arial Unicode MS"/>
              </a:rPr>
              <a:t>于</a:t>
            </a:r>
            <a:r>
              <a:rPr dirty="0" sz="1100" spc="-45">
                <a:latin typeface="Georgia"/>
                <a:cs typeface="Georgia"/>
              </a:rPr>
              <a:t>3</a:t>
            </a:r>
            <a:r>
              <a:rPr dirty="0" sz="1100" spc="-45" i="1">
                <a:latin typeface="Calibri"/>
                <a:cs typeface="Calibri"/>
              </a:rPr>
              <a:t>.</a:t>
            </a:r>
            <a:r>
              <a:rPr dirty="0" sz="1100" spc="-45">
                <a:latin typeface="Georgia"/>
                <a:cs typeface="Georgia"/>
              </a:rPr>
              <a:t>36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130">
                <a:latin typeface="Georgia"/>
                <a:cs typeface="Georgia"/>
              </a:rPr>
              <a:t>mm</a:t>
            </a:r>
            <a:r>
              <a:rPr dirty="0" sz="1200" spc="-13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应缩分几</a:t>
            </a:r>
            <a:r>
              <a:rPr dirty="0" sz="1200" spc="65">
                <a:latin typeface="Arial Unicode MS"/>
                <a:cs typeface="Arial Unicode MS"/>
              </a:rPr>
              <a:t>次</a:t>
            </a:r>
            <a:r>
              <a:rPr dirty="0" sz="1200" spc="-5">
                <a:latin typeface="Arial Unicode MS"/>
                <a:cs typeface="Arial Unicode MS"/>
              </a:rPr>
              <a:t>？</a:t>
            </a:r>
            <a:endParaRPr sz="12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已</a:t>
            </a:r>
            <a:r>
              <a:rPr dirty="0" sz="1200" spc="-90">
                <a:latin typeface="Arial Unicode MS"/>
                <a:cs typeface="Arial Unicode MS"/>
              </a:rPr>
              <a:t>知</a:t>
            </a:r>
            <a:r>
              <a:rPr dirty="0" sz="1200" spc="-50">
                <a:latin typeface="Arial Unicode MS"/>
                <a:cs typeface="Arial Unicode MS"/>
              </a:rPr>
              <a:t>：</a:t>
            </a:r>
            <a:r>
              <a:rPr dirty="0" sz="1100" spc="-50" i="1">
                <a:latin typeface="Calibri"/>
                <a:cs typeface="Calibri"/>
              </a:rPr>
              <a:t>k</a:t>
            </a:r>
            <a:r>
              <a:rPr dirty="0" sz="1100" spc="80" i="1">
                <a:latin typeface="Calibri"/>
                <a:cs typeface="Calibri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65">
                <a:latin typeface="Georgia"/>
                <a:cs typeface="Georgia"/>
              </a:rPr>
              <a:t>0</a:t>
            </a:r>
            <a:r>
              <a:rPr dirty="0" sz="1100" spc="-65" i="1">
                <a:latin typeface="Calibri"/>
                <a:cs typeface="Calibri"/>
              </a:rPr>
              <a:t>.</a:t>
            </a:r>
            <a:r>
              <a:rPr dirty="0" sz="1100" spc="-65">
                <a:latin typeface="Georgia"/>
                <a:cs typeface="Georgia"/>
              </a:rPr>
              <a:t>2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kg</a:t>
            </a:r>
            <a:r>
              <a:rPr dirty="0" sz="1100" spc="-1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50">
                <a:latin typeface="Georgia"/>
                <a:cs typeface="Georgia"/>
              </a:rPr>
              <a:t>mm</a:t>
            </a:r>
            <a:r>
              <a:rPr dirty="0" baseline="37037" sz="900" spc="75" i="1">
                <a:latin typeface="Arial"/>
                <a:cs typeface="Arial"/>
              </a:rPr>
              <a:t>−</a:t>
            </a:r>
            <a:r>
              <a:rPr dirty="0" baseline="37037" sz="900" spc="75">
                <a:latin typeface="Times New Roman"/>
                <a:cs typeface="Times New Roman"/>
              </a:rPr>
              <a:t>2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Arial Unicode MS"/>
              <a:cs typeface="Arial Unicode MS"/>
            </a:endParaRPr>
          </a:p>
          <a:p>
            <a:pPr marL="75565">
              <a:lnSpc>
                <a:spcPct val="100000"/>
              </a:lnSpc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按照缩分的粒径要</a:t>
            </a:r>
            <a:r>
              <a:rPr dirty="0" sz="1200" spc="-80">
                <a:latin typeface="Arial Unicode MS"/>
                <a:cs typeface="Arial Unicode MS"/>
              </a:rPr>
              <a:t>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根</a:t>
            </a:r>
            <a:r>
              <a:rPr dirty="0" sz="1200" spc="-260">
                <a:latin typeface="Arial Unicode MS"/>
                <a:cs typeface="Arial Unicode MS"/>
              </a:rPr>
              <a:t>据</a:t>
            </a:r>
            <a:r>
              <a:rPr dirty="0" sz="1200" spc="-110">
                <a:latin typeface="Arial Unicode MS"/>
                <a:cs typeface="Arial Unicode MS"/>
              </a:rPr>
              <a:t>（</a:t>
            </a:r>
            <a:r>
              <a:rPr dirty="0" sz="1100" spc="-110">
                <a:latin typeface="Georgia"/>
                <a:cs typeface="Georgia"/>
                <a:hlinkClick r:id="rId6" action="ppaction://hlinksldjump"/>
              </a:rPr>
              <a:t>2</a:t>
            </a:r>
            <a:r>
              <a:rPr dirty="0" sz="1200" spc="-110">
                <a:latin typeface="Arial Unicode MS"/>
                <a:cs typeface="Arial Unicode MS"/>
              </a:rPr>
              <a:t>）</a:t>
            </a:r>
            <a:r>
              <a:rPr dirty="0" sz="1200" spc="-80">
                <a:latin typeface="Arial Unicode MS"/>
                <a:cs typeface="Arial Unicode MS"/>
              </a:rPr>
              <a:t>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90">
                <a:latin typeface="Arial Unicode MS"/>
                <a:cs typeface="Arial Unicode MS"/>
              </a:rPr>
              <a:t>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marL="1191895">
              <a:lnSpc>
                <a:spcPts val="425"/>
              </a:lnSpc>
            </a:pPr>
            <a:r>
              <a:rPr dirty="0" sz="1100" spc="95" i="1">
                <a:latin typeface="Calibri"/>
                <a:cs typeface="Calibri"/>
              </a:rPr>
              <a:t>m</a:t>
            </a:r>
            <a:r>
              <a:rPr dirty="0" baseline="-13888" sz="900" spc="142" i="1">
                <a:latin typeface="Arial"/>
                <a:cs typeface="Arial"/>
              </a:rPr>
              <a:t>Q </a:t>
            </a:r>
            <a:r>
              <a:rPr dirty="0" sz="1100" spc="-30">
                <a:latin typeface="Lucida Sans Unicode"/>
                <a:cs typeface="Lucida Sans Unicode"/>
              </a:rPr>
              <a:t>≥ </a:t>
            </a:r>
            <a:r>
              <a:rPr dirty="0" sz="1100" spc="50" i="1">
                <a:latin typeface="Calibri"/>
                <a:cs typeface="Calibri"/>
              </a:rPr>
              <a:t>kd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5">
                <a:latin typeface="Georgia"/>
                <a:cs typeface="Georgia"/>
              </a:rPr>
              <a:t>0</a:t>
            </a:r>
            <a:r>
              <a:rPr dirty="0" sz="1100" spc="-65" i="1">
                <a:latin typeface="Calibri"/>
                <a:cs typeface="Calibri"/>
              </a:rPr>
              <a:t>.</a:t>
            </a:r>
            <a:r>
              <a:rPr dirty="0" sz="1100" spc="-65">
                <a:latin typeface="Georgia"/>
                <a:cs typeface="Georgia"/>
              </a:rPr>
              <a:t>2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45">
                <a:latin typeface="Georgia"/>
                <a:cs typeface="Georgia"/>
              </a:rPr>
              <a:t>3</a:t>
            </a:r>
            <a:r>
              <a:rPr dirty="0" sz="1100" spc="-45" i="1">
                <a:latin typeface="Calibri"/>
                <a:cs typeface="Calibri"/>
              </a:rPr>
              <a:t>.</a:t>
            </a:r>
            <a:r>
              <a:rPr dirty="0" sz="1100" spc="-45">
                <a:latin typeface="Georgia"/>
                <a:cs typeface="Georgia"/>
              </a:rPr>
              <a:t>36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12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2</a:t>
            </a:r>
            <a:r>
              <a:rPr dirty="0" sz="1100" spc="-30" i="1">
                <a:latin typeface="Calibri"/>
                <a:cs typeface="Calibri"/>
              </a:rPr>
              <a:t>.</a:t>
            </a:r>
            <a:r>
              <a:rPr dirty="0" sz="1100" spc="-30">
                <a:latin typeface="Georgia"/>
                <a:cs typeface="Georgia"/>
              </a:rPr>
              <a:t>26(kg)</a:t>
            </a:r>
            <a:endParaRPr sz="1100">
              <a:latin typeface="Georgia"/>
              <a:cs typeface="Georgia"/>
            </a:endParaRPr>
          </a:p>
          <a:p>
            <a:pPr algn="ctr" marR="76835">
              <a:lnSpc>
                <a:spcPts val="345"/>
              </a:lnSpc>
              <a:tabLst>
                <a:tab pos="829944" algn="l"/>
              </a:tabLst>
            </a:pPr>
            <a:r>
              <a:rPr dirty="0" sz="600" spc="65">
                <a:latin typeface="Times New Roman"/>
                <a:cs typeface="Times New Roman"/>
              </a:rPr>
              <a:t>2	2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500">
              <a:latin typeface="Times New Roman"/>
              <a:cs typeface="Times New Roman"/>
            </a:endParaRPr>
          </a:p>
          <a:p>
            <a:pPr marL="3797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缩分三次剩余的试样量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100">
                <a:latin typeface="Georgia"/>
                <a:cs typeface="Georgia"/>
              </a:rPr>
              <a:t>20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-20">
                <a:latin typeface="Georgia"/>
                <a:cs typeface="Georgia"/>
              </a:rPr>
              <a:t>0</a:t>
            </a:r>
            <a:r>
              <a:rPr dirty="0" sz="1100" spc="-20" i="1">
                <a:latin typeface="Calibri"/>
                <a:cs typeface="Calibri"/>
              </a:rPr>
              <a:t>.</a:t>
            </a:r>
            <a:r>
              <a:rPr dirty="0" sz="1100" spc="-20">
                <a:latin typeface="Georgia"/>
                <a:cs typeface="Georgia"/>
              </a:rPr>
              <a:t>5</a:t>
            </a:r>
            <a:r>
              <a:rPr dirty="0" baseline="37037" sz="900" spc="-30">
                <a:latin typeface="Times New Roman"/>
                <a:cs typeface="Times New Roman"/>
              </a:rPr>
              <a:t>3</a:t>
            </a:r>
            <a:r>
              <a:rPr dirty="0" baseline="37037" sz="900" spc="82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45">
                <a:latin typeface="Georgia"/>
                <a:cs typeface="Georgia"/>
              </a:rPr>
              <a:t>2</a:t>
            </a:r>
            <a:r>
              <a:rPr dirty="0" sz="1100" spc="-45" i="1">
                <a:latin typeface="Calibri"/>
                <a:cs typeface="Calibri"/>
              </a:rPr>
              <a:t>.</a:t>
            </a:r>
            <a:r>
              <a:rPr dirty="0" sz="1100" spc="-45">
                <a:latin typeface="Georgia"/>
                <a:cs typeface="Georgia"/>
              </a:rPr>
              <a:t>5(kg)</a:t>
            </a:r>
            <a:r>
              <a:rPr dirty="0" sz="1200" spc="-45">
                <a:latin typeface="Arial Unicode MS"/>
                <a:cs typeface="Arial Unicode MS"/>
              </a:rPr>
              <a:t>，</a:t>
            </a:r>
            <a:r>
              <a:rPr dirty="0" sz="1200" spc="175">
                <a:latin typeface="Arial Unicode MS"/>
                <a:cs typeface="Arial Unicode MS"/>
              </a:rPr>
              <a:t>与</a:t>
            </a:r>
            <a:r>
              <a:rPr dirty="0" sz="1100" spc="-55">
                <a:latin typeface="Georgia"/>
                <a:cs typeface="Georgia"/>
              </a:rPr>
              <a:t>2.26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接</a:t>
            </a:r>
            <a:r>
              <a:rPr dirty="0" sz="1200" spc="-80">
                <a:latin typeface="Arial Unicode MS"/>
                <a:cs typeface="Arial Unicode MS"/>
              </a:rPr>
              <a:t>近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</a:t>
            </a:r>
            <a:endParaRPr sz="12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应缩分三</a:t>
            </a:r>
            <a:r>
              <a:rPr dirty="0" sz="1200" spc="-20">
                <a:latin typeface="Arial Unicode MS"/>
                <a:cs typeface="Arial Unicode MS"/>
              </a:rPr>
              <a:t>次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46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82296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样品的预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理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647496"/>
            <a:ext cx="4356735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从样品制备过程中获得的样品通常包含待测组分和其它的杂 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它们的存在形式往往也很复</a:t>
            </a:r>
            <a:r>
              <a:rPr dirty="0" sz="1200" spc="-80">
                <a:latin typeface="Arial Unicode MS"/>
                <a:cs typeface="Arial Unicode MS"/>
              </a:rPr>
              <a:t>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在进行定量分析之</a:t>
            </a:r>
            <a:r>
              <a:rPr dirty="0" sz="1200" spc="-80">
                <a:latin typeface="Arial Unicode MS"/>
                <a:cs typeface="Arial Unicode MS"/>
              </a:rPr>
              <a:t>前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通常要 </a:t>
            </a:r>
            <a:r>
              <a:rPr dirty="0" sz="1200" spc="-10">
                <a:latin typeface="Arial Unicode MS"/>
                <a:cs typeface="Arial Unicode MS"/>
              </a:rPr>
              <a:t>将此样品进行一定的处</a:t>
            </a:r>
            <a:r>
              <a:rPr dirty="0" sz="1200" spc="-80">
                <a:latin typeface="Arial Unicode MS"/>
                <a:cs typeface="Arial Unicode MS"/>
              </a:rPr>
              <a:t>理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使待测组分定量地转入到溶液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并</a:t>
            </a:r>
            <a:r>
              <a:rPr dirty="0" sz="1200" spc="-5">
                <a:latin typeface="Arial Unicode MS"/>
                <a:cs typeface="Arial Unicode MS"/>
              </a:rPr>
              <a:t>设 </a:t>
            </a:r>
            <a:r>
              <a:rPr dirty="0" sz="1200" spc="-5">
                <a:latin typeface="Arial Unicode MS"/>
                <a:cs typeface="Arial Unicode MS"/>
              </a:rPr>
              <a:t>法消除各种可能存在的干</a:t>
            </a:r>
            <a:r>
              <a:rPr dirty="0" sz="1200" spc="-80">
                <a:latin typeface="Arial Unicode MS"/>
                <a:cs typeface="Arial Unicode MS"/>
              </a:rPr>
              <a:t>扰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这一过程通常称为样品的预处</a:t>
            </a:r>
            <a:r>
              <a:rPr dirty="0" sz="1200" spc="-20">
                <a:latin typeface="Arial Unicode MS"/>
                <a:cs typeface="Arial Unicode MS"/>
              </a:rPr>
              <a:t>理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47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822960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样品的预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理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647496"/>
            <a:ext cx="4356735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从样品制备过程中获得的样品通常包含待测组分和其它的杂 </a:t>
            </a:r>
            <a:r>
              <a:rPr dirty="0" sz="1200" spc="-80">
                <a:latin typeface="Arial Unicode MS"/>
                <a:cs typeface="Arial Unicode MS"/>
              </a:rPr>
              <a:t>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它们的存在形式往往也很复</a:t>
            </a:r>
            <a:r>
              <a:rPr dirty="0" sz="1200" spc="-80">
                <a:latin typeface="Arial Unicode MS"/>
                <a:cs typeface="Arial Unicode MS"/>
              </a:rPr>
              <a:t>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在进行定量分析之</a:t>
            </a:r>
            <a:r>
              <a:rPr dirty="0" sz="1200" spc="-80">
                <a:latin typeface="Arial Unicode MS"/>
                <a:cs typeface="Arial Unicode MS"/>
              </a:rPr>
              <a:t>前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通常要 </a:t>
            </a:r>
            <a:r>
              <a:rPr dirty="0" sz="1200" spc="-10">
                <a:latin typeface="Arial Unicode MS"/>
                <a:cs typeface="Arial Unicode MS"/>
              </a:rPr>
              <a:t>将此样品进行一定的处</a:t>
            </a:r>
            <a:r>
              <a:rPr dirty="0" sz="1200" spc="-80">
                <a:latin typeface="Arial Unicode MS"/>
                <a:cs typeface="Arial Unicode MS"/>
              </a:rPr>
              <a:t>理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使待测组分定量地转入到溶液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并</a:t>
            </a:r>
            <a:r>
              <a:rPr dirty="0" sz="1200" spc="-5">
                <a:latin typeface="Arial Unicode MS"/>
                <a:cs typeface="Arial Unicode MS"/>
              </a:rPr>
              <a:t>设 </a:t>
            </a:r>
            <a:r>
              <a:rPr dirty="0" sz="1200" spc="-5">
                <a:latin typeface="Arial Unicode MS"/>
                <a:cs typeface="Arial Unicode MS"/>
              </a:rPr>
              <a:t>法消除各种可能存在的干</a:t>
            </a:r>
            <a:r>
              <a:rPr dirty="0" sz="1200" spc="-80">
                <a:latin typeface="Arial Unicode MS"/>
                <a:cs typeface="Arial Unicode MS"/>
              </a:rPr>
              <a:t>扰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这一过程通常称为样品的预处</a:t>
            </a:r>
            <a:r>
              <a:rPr dirty="0" sz="1200" spc="-20">
                <a:latin typeface="Arial Unicode MS"/>
                <a:cs typeface="Arial Unicode MS"/>
              </a:rPr>
              <a:t>理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846" y="1665855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277" y="165069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2589" y="1929168"/>
            <a:ext cx="50939" cy="509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2589" y="2126551"/>
            <a:ext cx="50939" cy="509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52589" y="2323934"/>
            <a:ext cx="50939" cy="509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91553" y="1527471"/>
            <a:ext cx="955675" cy="889635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200" spc="-5">
                <a:latin typeface="Arial Unicode MS"/>
                <a:cs typeface="Arial Unicode MS"/>
              </a:rPr>
              <a:t>无机固体样品</a:t>
            </a:r>
            <a:endParaRPr sz="1200">
              <a:latin typeface="Arial Unicode MS"/>
              <a:cs typeface="Arial Unicode MS"/>
            </a:endParaRPr>
          </a:p>
          <a:p>
            <a:pPr marL="278130" marR="270510">
              <a:lnSpc>
                <a:spcPct val="123300"/>
              </a:lnSpc>
              <a:spcBef>
                <a:spcPts val="170"/>
              </a:spcBef>
            </a:pPr>
            <a:r>
              <a:rPr dirty="0" sz="1050" spc="-5">
                <a:latin typeface="Arial Unicode MS"/>
                <a:cs typeface="Arial Unicode MS"/>
              </a:rPr>
              <a:t>溶解法 熔融法</a:t>
            </a:r>
            <a:endParaRPr sz="105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295"/>
              </a:spcBef>
            </a:pPr>
            <a:r>
              <a:rPr dirty="0" sz="1050" spc="-5">
                <a:solidFill>
                  <a:srgbClr val="0000FF"/>
                </a:solidFill>
                <a:latin typeface="Arial Unicode MS"/>
                <a:cs typeface="Arial Unicode MS"/>
              </a:rPr>
              <a:t>微波消</a:t>
            </a:r>
            <a:r>
              <a:rPr dirty="0" sz="1050" spc="-10">
                <a:solidFill>
                  <a:srgbClr val="0000FF"/>
                </a:solidFill>
                <a:latin typeface="Arial Unicode MS"/>
                <a:cs typeface="Arial Unicode MS"/>
              </a:rPr>
              <a:t>解</a:t>
            </a:r>
            <a:r>
              <a:rPr dirty="0" sz="1050" spc="-5">
                <a:solidFill>
                  <a:srgbClr val="0000FF"/>
                </a:solidFill>
                <a:latin typeface="Arial Unicode MS"/>
                <a:cs typeface="Arial Unicode MS"/>
              </a:rPr>
              <a:t>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2846" y="2518635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2277" y="250348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2589" y="2781960"/>
            <a:ext cx="50939" cy="509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52589" y="2979331"/>
            <a:ext cx="50939" cy="509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91553" y="2380263"/>
            <a:ext cx="955675" cy="69215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just" marL="278130" marR="5080" indent="-266065">
              <a:lnSpc>
                <a:spcPct val="127800"/>
              </a:lnSpc>
              <a:spcBef>
                <a:spcPts val="229"/>
              </a:spcBef>
            </a:pPr>
            <a:r>
              <a:rPr dirty="0" sz="1200" spc="-5">
                <a:latin typeface="Arial Unicode MS"/>
                <a:cs typeface="Arial Unicode MS"/>
              </a:rPr>
              <a:t>有机固体样品 </a:t>
            </a:r>
            <a:r>
              <a:rPr dirty="0" sz="1050" spc="-5">
                <a:latin typeface="Arial Unicode MS"/>
                <a:cs typeface="Arial Unicode MS"/>
              </a:rPr>
              <a:t>干式灰</a:t>
            </a:r>
            <a:r>
              <a:rPr dirty="0" sz="1050" spc="-10">
                <a:latin typeface="Arial Unicode MS"/>
                <a:cs typeface="Arial Unicode MS"/>
              </a:rPr>
              <a:t>化</a:t>
            </a:r>
            <a:r>
              <a:rPr dirty="0" sz="1050" spc="-5">
                <a:latin typeface="Arial Unicode MS"/>
                <a:cs typeface="Arial Unicode MS"/>
              </a:rPr>
              <a:t>法 湿式消</a:t>
            </a:r>
            <a:r>
              <a:rPr dirty="0" sz="1050" spc="-10">
                <a:latin typeface="Arial Unicode MS"/>
                <a:cs typeface="Arial Unicode MS"/>
              </a:rPr>
              <a:t>化</a:t>
            </a:r>
            <a:r>
              <a:rPr dirty="0" sz="1050" spc="-5">
                <a:latin typeface="Arial Unicode MS"/>
                <a:cs typeface="Arial Unicode MS"/>
              </a:rPr>
              <a:t>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47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22110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无机固体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样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品的处理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8015" y="1054007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7446" y="103884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8015" y="1486722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7446" y="147157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2589" y="1944065"/>
            <a:ext cx="50939" cy="509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2589" y="2141435"/>
            <a:ext cx="50939" cy="509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8015" y="2339501"/>
            <a:ext cx="110658" cy="1106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7446" y="232435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6153" y="961252"/>
            <a:ext cx="4149725" cy="170624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dirty="0" sz="1050" spc="-10">
                <a:latin typeface="Arial Unicode MS"/>
                <a:cs typeface="Arial Unicode MS"/>
              </a:rPr>
              <a:t>溶</a:t>
            </a:r>
            <a:r>
              <a:rPr dirty="0" sz="1050" spc="-5">
                <a:latin typeface="Arial Unicode MS"/>
                <a:cs typeface="Arial Unicode MS"/>
              </a:rPr>
              <a:t>解法</a:t>
            </a:r>
            <a:r>
              <a:rPr dirty="0" sz="1050" spc="25">
                <a:latin typeface="Arial Unicode MS"/>
                <a:cs typeface="Arial Unicode MS"/>
              </a:rPr>
              <a:t> </a:t>
            </a:r>
            <a:r>
              <a:rPr dirty="0" sz="1000" spc="135">
                <a:latin typeface="Georgia"/>
                <a:cs typeface="Georgia"/>
              </a:rPr>
              <a:t>——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50" spc="15">
                <a:latin typeface="Arial Unicode MS"/>
                <a:cs typeface="Arial Unicode MS"/>
              </a:rPr>
              <a:t>水</a:t>
            </a:r>
            <a:r>
              <a:rPr dirty="0" sz="1050" spc="-240">
                <a:latin typeface="Arial Unicode MS"/>
                <a:cs typeface="Arial Unicode MS"/>
              </a:rPr>
              <a:t>、</a:t>
            </a:r>
            <a:r>
              <a:rPr dirty="0" sz="1050" spc="15">
                <a:latin typeface="Arial Unicode MS"/>
                <a:cs typeface="Arial Unicode MS"/>
              </a:rPr>
              <a:t>酸</a:t>
            </a:r>
            <a:r>
              <a:rPr dirty="0" sz="1050" spc="-240">
                <a:latin typeface="Arial Unicode MS"/>
                <a:cs typeface="Arial Unicode MS"/>
              </a:rPr>
              <a:t>、</a:t>
            </a:r>
            <a:r>
              <a:rPr dirty="0" sz="1050" spc="-5">
                <a:latin typeface="Arial Unicode MS"/>
                <a:cs typeface="Arial Unicode MS"/>
              </a:rPr>
              <a:t>碱或</a:t>
            </a:r>
            <a:r>
              <a:rPr dirty="0" sz="1050" spc="-10">
                <a:latin typeface="Arial Unicode MS"/>
                <a:cs typeface="Arial Unicode MS"/>
              </a:rPr>
              <a:t>混</a:t>
            </a:r>
            <a:r>
              <a:rPr dirty="0" sz="1050" spc="-5">
                <a:latin typeface="Arial Unicode MS"/>
                <a:cs typeface="Arial Unicode MS"/>
              </a:rPr>
              <a:t>合酸</a:t>
            </a:r>
            <a:r>
              <a:rPr dirty="0" sz="1050" spc="-10">
                <a:latin typeface="Arial Unicode MS"/>
                <a:cs typeface="Arial Unicode MS"/>
              </a:rPr>
              <a:t>作</a:t>
            </a:r>
            <a:r>
              <a:rPr dirty="0" sz="1050" spc="-5">
                <a:latin typeface="Arial Unicode MS"/>
                <a:cs typeface="Arial Unicode MS"/>
              </a:rPr>
              <a:t>为溶</a:t>
            </a:r>
            <a:r>
              <a:rPr dirty="0" sz="1050" spc="-20">
                <a:latin typeface="Arial Unicode MS"/>
                <a:cs typeface="Arial Unicode MS"/>
              </a:rPr>
              <a:t>剂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10">
                <a:latin typeface="Arial Unicode MS"/>
                <a:cs typeface="Arial Unicode MS"/>
              </a:rPr>
              <a:t>一</a:t>
            </a:r>
            <a:r>
              <a:rPr dirty="0" sz="1050" spc="-5">
                <a:latin typeface="Arial Unicode MS"/>
                <a:cs typeface="Arial Unicode MS"/>
              </a:rPr>
              <a:t>般顺序</a:t>
            </a:r>
            <a:r>
              <a:rPr dirty="0" sz="1050" spc="-80">
                <a:latin typeface="Arial Unicode MS"/>
                <a:cs typeface="Arial Unicode MS"/>
              </a:rPr>
              <a:t>为</a:t>
            </a:r>
            <a:r>
              <a:rPr dirty="0" sz="1050" spc="-30">
                <a:latin typeface="Arial Unicode MS"/>
                <a:cs typeface="Arial Unicode MS"/>
              </a:rPr>
              <a:t>：</a:t>
            </a:r>
            <a:r>
              <a:rPr dirty="0" sz="1000" spc="-30">
                <a:latin typeface="Georgia"/>
                <a:cs typeface="Georgia"/>
              </a:rPr>
              <a:t>H</a:t>
            </a:r>
            <a:r>
              <a:rPr dirty="0" baseline="-11904" sz="1050" spc="-44">
                <a:latin typeface="Bauhaus 93"/>
                <a:cs typeface="Bauhaus 93"/>
              </a:rPr>
              <a:t>2</a:t>
            </a:r>
            <a:r>
              <a:rPr dirty="0" sz="1000" spc="-30">
                <a:latin typeface="Georgia"/>
                <a:cs typeface="Georgia"/>
              </a:rPr>
              <a:t>O</a:t>
            </a:r>
            <a:r>
              <a:rPr dirty="0" sz="1050" spc="-240">
                <a:latin typeface="Arial Unicode MS"/>
                <a:cs typeface="Arial Unicode MS"/>
              </a:rPr>
              <a:t>、</a:t>
            </a:r>
            <a:r>
              <a:rPr dirty="0" sz="1000" spc="5">
                <a:latin typeface="Georgia"/>
                <a:cs typeface="Georgia"/>
              </a:rPr>
              <a:t>HCl</a:t>
            </a:r>
            <a:r>
              <a:rPr dirty="0" sz="1050" spc="-5">
                <a:latin typeface="Arial Unicode MS"/>
                <a:cs typeface="Arial Unicode MS"/>
              </a:rPr>
              <a:t>、</a:t>
            </a:r>
            <a:endParaRPr sz="105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290"/>
              </a:spcBef>
            </a:pPr>
            <a:r>
              <a:rPr dirty="0" sz="1000" spc="-20">
                <a:latin typeface="Georgia"/>
                <a:cs typeface="Georgia"/>
              </a:rPr>
              <a:t>HNO</a:t>
            </a:r>
            <a:r>
              <a:rPr dirty="0" baseline="-11904" sz="1050" spc="-30">
                <a:latin typeface="Bauhaus 93"/>
                <a:cs typeface="Bauhaus 93"/>
              </a:rPr>
              <a:t>3</a:t>
            </a:r>
            <a:r>
              <a:rPr dirty="0" baseline="-11904" sz="1050" spc="-165">
                <a:latin typeface="Bauhaus 93"/>
                <a:cs typeface="Bauhaus 93"/>
              </a:rPr>
              <a:t> </a:t>
            </a:r>
            <a:r>
              <a:rPr dirty="0" sz="1050" spc="-240">
                <a:latin typeface="Arial Unicode MS"/>
                <a:cs typeface="Arial Unicode MS"/>
              </a:rPr>
              <a:t>、</a:t>
            </a:r>
            <a:r>
              <a:rPr dirty="0" sz="1050" spc="-5">
                <a:latin typeface="Arial Unicode MS"/>
                <a:cs typeface="Arial Unicode MS"/>
              </a:rPr>
              <a:t>碱溶</a:t>
            </a:r>
            <a:r>
              <a:rPr dirty="0" sz="1050" spc="15">
                <a:latin typeface="Arial Unicode MS"/>
                <a:cs typeface="Arial Unicode MS"/>
              </a:rPr>
              <a:t>法</a:t>
            </a:r>
            <a:r>
              <a:rPr dirty="0" sz="1050" spc="-240">
                <a:latin typeface="Arial Unicode MS"/>
                <a:cs typeface="Arial Unicode MS"/>
              </a:rPr>
              <a:t>、</a:t>
            </a:r>
            <a:r>
              <a:rPr dirty="0" sz="1050" spc="-5">
                <a:latin typeface="Arial Unicode MS"/>
                <a:cs typeface="Arial Unicode MS"/>
              </a:rPr>
              <a:t>王水</a:t>
            </a:r>
            <a:r>
              <a:rPr dirty="0" sz="1050" spc="-20">
                <a:latin typeface="Arial Unicode MS"/>
                <a:cs typeface="Arial Unicode MS"/>
              </a:rPr>
              <a:t>等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595"/>
              </a:spcBef>
            </a:pPr>
            <a:r>
              <a:rPr dirty="0" sz="1050" spc="-5">
                <a:latin typeface="Arial Unicode MS"/>
                <a:cs typeface="Arial Unicode MS"/>
              </a:rPr>
              <a:t>熔</a:t>
            </a:r>
            <a:r>
              <a:rPr dirty="0" sz="1050" spc="-10">
                <a:latin typeface="Arial Unicode MS"/>
                <a:cs typeface="Arial Unicode MS"/>
              </a:rPr>
              <a:t>融</a:t>
            </a:r>
            <a:r>
              <a:rPr dirty="0" sz="1050" spc="-5">
                <a:latin typeface="Arial Unicode MS"/>
                <a:cs typeface="Arial Unicode MS"/>
              </a:rPr>
              <a:t>法</a:t>
            </a:r>
            <a:r>
              <a:rPr dirty="0" sz="1050" spc="25">
                <a:latin typeface="Arial Unicode MS"/>
                <a:cs typeface="Arial Unicode MS"/>
              </a:rPr>
              <a:t> </a:t>
            </a:r>
            <a:r>
              <a:rPr dirty="0" sz="1000" spc="135">
                <a:latin typeface="Georgia"/>
                <a:cs typeface="Georgia"/>
              </a:rPr>
              <a:t>——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将试</a:t>
            </a:r>
            <a:r>
              <a:rPr dirty="0" sz="1050" spc="-10">
                <a:latin typeface="Arial Unicode MS"/>
                <a:cs typeface="Arial Unicode MS"/>
              </a:rPr>
              <a:t>样</a:t>
            </a:r>
            <a:r>
              <a:rPr dirty="0" sz="1050" spc="-5">
                <a:latin typeface="Arial Unicode MS"/>
                <a:cs typeface="Arial Unicode MS"/>
              </a:rPr>
              <a:t>与固体</a:t>
            </a:r>
            <a:r>
              <a:rPr dirty="0" sz="1050" spc="-10">
                <a:latin typeface="Arial Unicode MS"/>
                <a:cs typeface="Arial Unicode MS"/>
              </a:rPr>
              <a:t>熔</a:t>
            </a:r>
            <a:r>
              <a:rPr dirty="0" sz="1050" spc="-5">
                <a:latin typeface="Arial Unicode MS"/>
                <a:cs typeface="Arial Unicode MS"/>
              </a:rPr>
              <a:t>剂混匀后</a:t>
            </a:r>
            <a:r>
              <a:rPr dirty="0" sz="1050" spc="-10">
                <a:latin typeface="Arial Unicode MS"/>
                <a:cs typeface="Arial Unicode MS"/>
              </a:rPr>
              <a:t>置</a:t>
            </a:r>
            <a:r>
              <a:rPr dirty="0" sz="1050" spc="-5">
                <a:latin typeface="Arial Unicode MS"/>
                <a:cs typeface="Arial Unicode MS"/>
              </a:rPr>
              <a:t>于特定</a:t>
            </a:r>
            <a:r>
              <a:rPr dirty="0" sz="1050" spc="-10">
                <a:latin typeface="Arial Unicode MS"/>
                <a:cs typeface="Arial Unicode MS"/>
              </a:rPr>
              <a:t>材</a:t>
            </a:r>
            <a:r>
              <a:rPr dirty="0" sz="1050" spc="-5">
                <a:latin typeface="Arial Unicode MS"/>
                <a:cs typeface="Arial Unicode MS"/>
              </a:rPr>
              <a:t>料制成的坩</a:t>
            </a:r>
            <a:r>
              <a:rPr dirty="0" sz="1050" spc="-10">
                <a:latin typeface="Arial Unicode MS"/>
                <a:cs typeface="Arial Unicode MS"/>
              </a:rPr>
              <a:t>埚</a:t>
            </a:r>
            <a:r>
              <a:rPr dirty="0" sz="1050" spc="-70">
                <a:latin typeface="Arial Unicode MS"/>
                <a:cs typeface="Arial Unicode MS"/>
              </a:rPr>
              <a:t>中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在</a:t>
            </a:r>
            <a:endParaRPr sz="105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dirty="0" sz="1050" spc="-5">
                <a:latin typeface="Arial Unicode MS"/>
                <a:cs typeface="Arial Unicode MS"/>
              </a:rPr>
              <a:t>高</a:t>
            </a:r>
            <a:r>
              <a:rPr dirty="0" sz="1050" spc="-10">
                <a:latin typeface="Arial Unicode MS"/>
                <a:cs typeface="Arial Unicode MS"/>
              </a:rPr>
              <a:t>温</a:t>
            </a:r>
            <a:r>
              <a:rPr dirty="0" sz="1050" spc="-5">
                <a:latin typeface="Arial Unicode MS"/>
                <a:cs typeface="Arial Unicode MS"/>
              </a:rPr>
              <a:t>下熔</a:t>
            </a:r>
            <a:r>
              <a:rPr dirty="0" sz="1050" spc="-70">
                <a:latin typeface="Arial Unicode MS"/>
                <a:cs typeface="Arial Unicode MS"/>
              </a:rPr>
              <a:t>融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分</a:t>
            </a:r>
            <a:r>
              <a:rPr dirty="0" sz="1050" spc="-5">
                <a:latin typeface="Arial Unicode MS"/>
                <a:cs typeface="Arial Unicode MS"/>
              </a:rPr>
              <a:t>解试</a:t>
            </a:r>
            <a:r>
              <a:rPr dirty="0" sz="1050" spc="-70">
                <a:latin typeface="Arial Unicode MS"/>
                <a:cs typeface="Arial Unicode MS"/>
              </a:rPr>
              <a:t>样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再</a:t>
            </a:r>
            <a:r>
              <a:rPr dirty="0" sz="1050" spc="-5">
                <a:latin typeface="Arial Unicode MS"/>
                <a:cs typeface="Arial Unicode MS"/>
              </a:rPr>
              <a:t>用水或</a:t>
            </a:r>
            <a:r>
              <a:rPr dirty="0" sz="1050" spc="-10">
                <a:latin typeface="Arial Unicode MS"/>
                <a:cs typeface="Arial Unicode MS"/>
              </a:rPr>
              <a:t>酸</a:t>
            </a:r>
            <a:r>
              <a:rPr dirty="0" sz="1050" spc="-5">
                <a:latin typeface="Arial Unicode MS"/>
                <a:cs typeface="Arial Unicode MS"/>
              </a:rPr>
              <a:t>浸取融</a:t>
            </a:r>
            <a:r>
              <a:rPr dirty="0" sz="1050" spc="-20">
                <a:latin typeface="Arial Unicode MS"/>
                <a:cs typeface="Arial Unicode MS"/>
              </a:rPr>
              <a:t>块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495"/>
              </a:spcBef>
            </a:pPr>
            <a:r>
              <a:rPr dirty="0" sz="1000" spc="30">
                <a:latin typeface="Georgia"/>
                <a:cs typeface="Georgia"/>
              </a:rPr>
              <a:t>K</a:t>
            </a:r>
            <a:r>
              <a:rPr dirty="0" baseline="-11904" sz="1050" spc="44">
                <a:latin typeface="Bauhaus 93"/>
                <a:cs typeface="Bauhaus 93"/>
              </a:rPr>
              <a:t>2</a:t>
            </a:r>
            <a:r>
              <a:rPr dirty="0" sz="1000" spc="30">
                <a:latin typeface="Georgia"/>
                <a:cs typeface="Georgia"/>
              </a:rPr>
              <a:t>S</a:t>
            </a:r>
            <a:r>
              <a:rPr dirty="0" baseline="-11904" sz="1050" spc="44">
                <a:latin typeface="Bauhaus 93"/>
                <a:cs typeface="Bauhaus 93"/>
              </a:rPr>
              <a:t>2</a:t>
            </a:r>
            <a:r>
              <a:rPr dirty="0" sz="1000" spc="30">
                <a:latin typeface="Georgia"/>
                <a:cs typeface="Georgia"/>
              </a:rPr>
              <a:t>O</a:t>
            </a:r>
            <a:r>
              <a:rPr dirty="0" baseline="-11904" sz="1050" spc="44">
                <a:latin typeface="Bauhaus 93"/>
                <a:cs typeface="Bauhaus 93"/>
              </a:rPr>
              <a:t>7</a:t>
            </a:r>
            <a:r>
              <a:rPr dirty="0" baseline="-11904" sz="1050" spc="-165">
                <a:latin typeface="Bauhaus 93"/>
                <a:cs typeface="Bauhaus 93"/>
              </a:rPr>
              <a:t> </a:t>
            </a:r>
            <a:r>
              <a:rPr dirty="0" sz="1050" spc="-240">
                <a:latin typeface="Arial Unicode MS"/>
                <a:cs typeface="Arial Unicode MS"/>
              </a:rPr>
              <a:t>、</a:t>
            </a:r>
            <a:r>
              <a:rPr dirty="0" sz="1000" spc="5">
                <a:latin typeface="Georgia"/>
                <a:cs typeface="Georgia"/>
              </a:rPr>
              <a:t>KHSO</a:t>
            </a:r>
            <a:r>
              <a:rPr dirty="0" baseline="-11904" sz="1050" spc="7">
                <a:latin typeface="Bauhaus 93"/>
                <a:cs typeface="Bauhaus 93"/>
              </a:rPr>
              <a:t>4</a:t>
            </a:r>
            <a:r>
              <a:rPr dirty="0" baseline="-11904" sz="1050" spc="60">
                <a:latin typeface="Bauhaus 93"/>
                <a:cs typeface="Bauhaus 93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为</a:t>
            </a:r>
            <a:r>
              <a:rPr dirty="0" sz="1050" spc="-5">
                <a:latin typeface="Arial Unicode MS"/>
                <a:cs typeface="Arial Unicode MS"/>
              </a:rPr>
              <a:t>酸性熔</a:t>
            </a:r>
            <a:r>
              <a:rPr dirty="0" sz="1050" spc="-70">
                <a:latin typeface="Arial Unicode MS"/>
                <a:cs typeface="Arial Unicode MS"/>
              </a:rPr>
              <a:t>剂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用</a:t>
            </a:r>
            <a:r>
              <a:rPr dirty="0" sz="1050" spc="-5">
                <a:latin typeface="Arial Unicode MS"/>
                <a:cs typeface="Arial Unicode MS"/>
              </a:rPr>
              <a:t>石英或</a:t>
            </a:r>
            <a:r>
              <a:rPr dirty="0" sz="1050" spc="-10">
                <a:latin typeface="Arial Unicode MS"/>
                <a:cs typeface="Arial Unicode MS"/>
              </a:rPr>
              <a:t>铂</a:t>
            </a:r>
            <a:r>
              <a:rPr dirty="0" sz="1050" spc="-5">
                <a:latin typeface="Arial Unicode MS"/>
                <a:cs typeface="Arial Unicode MS"/>
              </a:rPr>
              <a:t>坩</a:t>
            </a:r>
            <a:r>
              <a:rPr dirty="0" sz="1050" spc="-60">
                <a:latin typeface="Arial Unicode MS"/>
                <a:cs typeface="Arial Unicode MS"/>
              </a:rPr>
              <a:t>埚</a:t>
            </a:r>
            <a:r>
              <a:rPr dirty="0" sz="1050" spc="-5">
                <a:latin typeface="Arial Unicode MS"/>
                <a:cs typeface="Arial Unicode MS"/>
              </a:rPr>
              <a:t>；</a:t>
            </a:r>
            <a:endParaRPr sz="1050">
              <a:latin typeface="Arial Unicode MS"/>
              <a:cs typeface="Arial Unicode MS"/>
            </a:endParaRPr>
          </a:p>
          <a:p>
            <a:pPr marL="303530">
              <a:lnSpc>
                <a:spcPct val="100000"/>
              </a:lnSpc>
              <a:spcBef>
                <a:spcPts val="290"/>
              </a:spcBef>
            </a:pPr>
            <a:r>
              <a:rPr dirty="0" sz="1000" spc="20">
                <a:latin typeface="Georgia"/>
                <a:cs typeface="Georgia"/>
              </a:rPr>
              <a:t>Na</a:t>
            </a:r>
            <a:r>
              <a:rPr dirty="0" baseline="-11904" sz="1050" spc="30">
                <a:latin typeface="Bauhaus 93"/>
                <a:cs typeface="Bauhaus 93"/>
              </a:rPr>
              <a:t>2</a:t>
            </a:r>
            <a:r>
              <a:rPr dirty="0" sz="1000" spc="20">
                <a:latin typeface="Georgia"/>
                <a:cs typeface="Georgia"/>
              </a:rPr>
              <a:t>CO</a:t>
            </a:r>
            <a:r>
              <a:rPr dirty="0" baseline="-11904" sz="1050" spc="30">
                <a:latin typeface="Bauhaus 93"/>
                <a:cs typeface="Bauhaus 93"/>
              </a:rPr>
              <a:t>3</a:t>
            </a:r>
            <a:r>
              <a:rPr dirty="0" baseline="-11904" sz="1050" spc="-165">
                <a:latin typeface="Bauhaus 93"/>
                <a:cs typeface="Bauhaus 93"/>
              </a:rPr>
              <a:t> </a:t>
            </a:r>
            <a:r>
              <a:rPr dirty="0" sz="1050" spc="-240">
                <a:latin typeface="Arial Unicode MS"/>
                <a:cs typeface="Arial Unicode MS"/>
              </a:rPr>
              <a:t>、</a:t>
            </a:r>
            <a:r>
              <a:rPr dirty="0" sz="1000" spc="-15">
                <a:latin typeface="Georgia"/>
                <a:cs typeface="Georgia"/>
              </a:rPr>
              <a:t>NaOH</a:t>
            </a:r>
            <a:r>
              <a:rPr dirty="0" sz="1050" spc="-240">
                <a:latin typeface="Arial Unicode MS"/>
                <a:cs typeface="Arial Unicode MS"/>
              </a:rPr>
              <a:t>、</a:t>
            </a:r>
            <a:r>
              <a:rPr dirty="0" sz="1000" spc="5">
                <a:latin typeface="Georgia"/>
                <a:cs typeface="Georgia"/>
              </a:rPr>
              <a:t>Na</a:t>
            </a:r>
            <a:r>
              <a:rPr dirty="0" baseline="-11904" sz="1050" spc="7">
                <a:latin typeface="Bauhaus 93"/>
                <a:cs typeface="Bauhaus 93"/>
              </a:rPr>
              <a:t>2</a:t>
            </a:r>
            <a:r>
              <a:rPr dirty="0" sz="1000" spc="5">
                <a:latin typeface="Georgia"/>
                <a:cs typeface="Georgia"/>
              </a:rPr>
              <a:t>O</a:t>
            </a:r>
            <a:r>
              <a:rPr dirty="0" baseline="-11904" sz="1050" spc="7">
                <a:latin typeface="Bauhaus 93"/>
                <a:cs typeface="Bauhaus 93"/>
              </a:rPr>
              <a:t>2</a:t>
            </a:r>
            <a:r>
              <a:rPr dirty="0" baseline="-11904" sz="1050" spc="60">
                <a:latin typeface="Bauhaus 93"/>
                <a:cs typeface="Bauhaus 93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为碱性</a:t>
            </a:r>
            <a:r>
              <a:rPr dirty="0" sz="1050" spc="-10">
                <a:latin typeface="Arial Unicode MS"/>
                <a:cs typeface="Arial Unicode MS"/>
              </a:rPr>
              <a:t>熔</a:t>
            </a:r>
            <a:r>
              <a:rPr dirty="0" sz="1050" spc="-70">
                <a:latin typeface="Arial Unicode MS"/>
                <a:cs typeface="Arial Unicode MS"/>
              </a:rPr>
              <a:t>剂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用</a:t>
            </a:r>
            <a:r>
              <a:rPr dirty="0" sz="1050" spc="15">
                <a:latin typeface="Arial Unicode MS"/>
                <a:cs typeface="Arial Unicode MS"/>
              </a:rPr>
              <a:t>铁</a:t>
            </a:r>
            <a:r>
              <a:rPr dirty="0" sz="1050" spc="-240">
                <a:latin typeface="Arial Unicode MS"/>
                <a:cs typeface="Arial Unicode MS"/>
              </a:rPr>
              <a:t>、</a:t>
            </a:r>
            <a:r>
              <a:rPr dirty="0" sz="1050" spc="-5">
                <a:latin typeface="Arial Unicode MS"/>
                <a:cs typeface="Arial Unicode MS"/>
              </a:rPr>
              <a:t>银或刚</a:t>
            </a:r>
            <a:r>
              <a:rPr dirty="0" sz="1050" spc="-10">
                <a:latin typeface="Arial Unicode MS"/>
                <a:cs typeface="Arial Unicode MS"/>
              </a:rPr>
              <a:t>玉</a:t>
            </a:r>
            <a:r>
              <a:rPr dirty="0" sz="1050" spc="-5">
                <a:latin typeface="Arial Unicode MS"/>
                <a:cs typeface="Arial Unicode MS"/>
              </a:rPr>
              <a:t>坩</a:t>
            </a:r>
            <a:r>
              <a:rPr dirty="0" sz="1050" spc="-20">
                <a:latin typeface="Arial Unicode MS"/>
                <a:cs typeface="Arial Unicode MS"/>
              </a:rPr>
              <a:t>埚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595"/>
              </a:spcBef>
            </a:pPr>
            <a:r>
              <a:rPr dirty="0" sz="1050" spc="-10">
                <a:latin typeface="Arial Unicode MS"/>
                <a:cs typeface="Arial Unicode MS"/>
              </a:rPr>
              <a:t>微</a:t>
            </a:r>
            <a:r>
              <a:rPr dirty="0" sz="1050" spc="-5">
                <a:latin typeface="Arial Unicode MS"/>
                <a:cs typeface="Arial Unicode MS"/>
              </a:rPr>
              <a:t>波消解法</a:t>
            </a:r>
            <a:r>
              <a:rPr dirty="0" sz="1050" spc="25">
                <a:latin typeface="Arial Unicode MS"/>
                <a:cs typeface="Arial Unicode MS"/>
              </a:rPr>
              <a:t> </a:t>
            </a:r>
            <a:r>
              <a:rPr dirty="0" sz="1000" spc="135">
                <a:latin typeface="Georgia"/>
                <a:cs typeface="Georgia"/>
              </a:rPr>
              <a:t>——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50" spc="-10">
                <a:latin typeface="Arial Unicode MS"/>
                <a:cs typeface="Arial Unicode MS"/>
              </a:rPr>
              <a:t>将</a:t>
            </a:r>
            <a:r>
              <a:rPr dirty="0" sz="1050" spc="-5">
                <a:latin typeface="Arial Unicode MS"/>
                <a:cs typeface="Arial Unicode MS"/>
              </a:rPr>
              <a:t>样品和</a:t>
            </a:r>
            <a:r>
              <a:rPr dirty="0" sz="1050" spc="-10">
                <a:latin typeface="Arial Unicode MS"/>
                <a:cs typeface="Arial Unicode MS"/>
              </a:rPr>
              <a:t>溶</a:t>
            </a:r>
            <a:r>
              <a:rPr dirty="0" sz="1050" spc="-5">
                <a:latin typeface="Arial Unicode MS"/>
                <a:cs typeface="Arial Unicode MS"/>
              </a:rPr>
              <a:t>剂放到特</a:t>
            </a:r>
            <a:r>
              <a:rPr dirty="0" sz="1050" spc="-10">
                <a:latin typeface="Arial Unicode MS"/>
                <a:cs typeface="Arial Unicode MS"/>
              </a:rPr>
              <a:t>制</a:t>
            </a:r>
            <a:r>
              <a:rPr dirty="0" sz="1050" spc="-5">
                <a:latin typeface="Arial Unicode MS"/>
                <a:cs typeface="Arial Unicode MS"/>
              </a:rPr>
              <a:t>的消化</a:t>
            </a:r>
            <a:r>
              <a:rPr dirty="0" sz="1050" spc="-10">
                <a:latin typeface="Arial Unicode MS"/>
                <a:cs typeface="Arial Unicode MS"/>
              </a:rPr>
              <a:t>管</a:t>
            </a:r>
            <a:r>
              <a:rPr dirty="0" sz="1050" spc="-225">
                <a:latin typeface="Arial Unicode MS"/>
                <a:cs typeface="Arial Unicode MS"/>
              </a:rPr>
              <a:t>中</a:t>
            </a:r>
            <a:r>
              <a:rPr dirty="0" sz="1050" spc="-5">
                <a:latin typeface="Arial Unicode MS"/>
                <a:cs typeface="Arial Unicode MS"/>
              </a:rPr>
              <a:t>（通常</a:t>
            </a:r>
            <a:r>
              <a:rPr dirty="0" sz="1050" spc="-10">
                <a:latin typeface="Arial Unicode MS"/>
                <a:cs typeface="Arial Unicode MS"/>
              </a:rPr>
              <a:t>采</a:t>
            </a:r>
            <a:r>
              <a:rPr dirty="0" sz="1050" spc="-5">
                <a:latin typeface="Arial Unicode MS"/>
                <a:cs typeface="Arial Unicode MS"/>
              </a:rPr>
              <a:t>用四氟乙</a:t>
            </a:r>
            <a:endParaRPr sz="105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dirty="0" sz="1050" spc="-5">
                <a:latin typeface="Arial Unicode MS"/>
                <a:cs typeface="Arial Unicode MS"/>
              </a:rPr>
              <a:t>烯</a:t>
            </a:r>
            <a:r>
              <a:rPr dirty="0" sz="1050" spc="-10">
                <a:latin typeface="Arial Unicode MS"/>
                <a:cs typeface="Arial Unicode MS"/>
              </a:rPr>
              <a:t>材</a:t>
            </a:r>
            <a:r>
              <a:rPr dirty="0" sz="1050" spc="25">
                <a:latin typeface="Arial Unicode MS"/>
                <a:cs typeface="Arial Unicode MS"/>
              </a:rPr>
              <a:t>质</a:t>
            </a:r>
            <a:r>
              <a:rPr dirty="0" sz="1050" spc="-395">
                <a:latin typeface="Arial Unicode MS"/>
                <a:cs typeface="Arial Unicode MS"/>
              </a:rPr>
              <a:t>），</a:t>
            </a:r>
            <a:r>
              <a:rPr dirty="0" sz="1050" spc="-5">
                <a:latin typeface="Arial Unicode MS"/>
                <a:cs typeface="Arial Unicode MS"/>
              </a:rPr>
              <a:t>然后放到</a:t>
            </a:r>
            <a:r>
              <a:rPr dirty="0" sz="1050" spc="-10">
                <a:latin typeface="Arial Unicode MS"/>
                <a:cs typeface="Arial Unicode MS"/>
              </a:rPr>
              <a:t>微</a:t>
            </a:r>
            <a:r>
              <a:rPr dirty="0" sz="1050" spc="-5">
                <a:latin typeface="Arial Unicode MS"/>
                <a:cs typeface="Arial Unicode MS"/>
              </a:rPr>
              <a:t>波</a:t>
            </a:r>
            <a:r>
              <a:rPr dirty="0" sz="1050" spc="-225">
                <a:latin typeface="Arial Unicode MS"/>
                <a:cs typeface="Arial Unicode MS"/>
              </a:rPr>
              <a:t>炉</a:t>
            </a:r>
            <a:r>
              <a:rPr dirty="0" sz="1050" spc="-5">
                <a:latin typeface="Arial Unicode MS"/>
                <a:cs typeface="Arial Unicode MS"/>
              </a:rPr>
              <a:t>（一</a:t>
            </a:r>
            <a:r>
              <a:rPr dirty="0" sz="1050" spc="-10">
                <a:latin typeface="Arial Unicode MS"/>
                <a:cs typeface="Arial Unicode MS"/>
              </a:rPr>
              <a:t>般</a:t>
            </a:r>
            <a:r>
              <a:rPr dirty="0" sz="1050" spc="-5">
                <a:latin typeface="Arial Unicode MS"/>
                <a:cs typeface="Arial Unicode MS"/>
              </a:rPr>
              <a:t>也是专</a:t>
            </a:r>
            <a:r>
              <a:rPr dirty="0" sz="1050" spc="-10">
                <a:latin typeface="Arial Unicode MS"/>
                <a:cs typeface="Arial Unicode MS"/>
              </a:rPr>
              <a:t>门</a:t>
            </a:r>
            <a:r>
              <a:rPr dirty="0" sz="1050" spc="-5">
                <a:latin typeface="Arial Unicode MS"/>
                <a:cs typeface="Arial Unicode MS"/>
              </a:rPr>
              <a:t>设</a:t>
            </a:r>
            <a:r>
              <a:rPr dirty="0" sz="1050" spc="25">
                <a:latin typeface="Arial Unicode MS"/>
                <a:cs typeface="Arial Unicode MS"/>
              </a:rPr>
              <a:t>计</a:t>
            </a:r>
            <a:r>
              <a:rPr dirty="0" sz="1050" spc="-250">
                <a:latin typeface="Arial Unicode MS"/>
                <a:cs typeface="Arial Unicode MS"/>
              </a:rPr>
              <a:t>）</a:t>
            </a:r>
            <a:r>
              <a:rPr dirty="0" sz="1050" spc="-10">
                <a:latin typeface="Arial Unicode MS"/>
                <a:cs typeface="Arial Unicode MS"/>
              </a:rPr>
              <a:t>内</a:t>
            </a:r>
            <a:r>
              <a:rPr dirty="0" sz="1050" spc="-5">
                <a:latin typeface="Arial Unicode MS"/>
                <a:cs typeface="Arial Unicode MS"/>
              </a:rPr>
              <a:t>加</a:t>
            </a:r>
            <a:r>
              <a:rPr dirty="0" sz="1050" spc="-70">
                <a:latin typeface="Arial Unicode MS"/>
                <a:cs typeface="Arial Unicode MS"/>
              </a:rPr>
              <a:t>热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使</a:t>
            </a:r>
            <a:r>
              <a:rPr dirty="0" sz="1050" spc="-10">
                <a:latin typeface="Arial Unicode MS"/>
                <a:cs typeface="Arial Unicode MS"/>
              </a:rPr>
              <a:t>样</a:t>
            </a:r>
            <a:r>
              <a:rPr dirty="0" sz="1050" spc="-5">
                <a:latin typeface="Arial Unicode MS"/>
                <a:cs typeface="Arial Unicode MS"/>
              </a:rPr>
              <a:t>品溶</a:t>
            </a:r>
            <a:r>
              <a:rPr dirty="0" sz="1050" spc="-20">
                <a:latin typeface="Arial Unicode MS"/>
                <a:cs typeface="Arial Unicode MS"/>
              </a:rPr>
              <a:t>解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48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22110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有机固体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样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品的处理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314043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2023097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91553" y="1173772"/>
            <a:ext cx="4039235" cy="1182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干式灰化法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145">
                <a:latin typeface="Georgia"/>
                <a:cs typeface="Georgia"/>
              </a:rPr>
              <a:t>——</a:t>
            </a:r>
            <a:r>
              <a:rPr dirty="0" sz="1100" spc="5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试样置于马弗炉或氧瓶中进行高温分解或燃 </a:t>
            </a:r>
            <a:r>
              <a:rPr dirty="0" sz="1200" spc="-80">
                <a:latin typeface="Arial Unicode MS"/>
                <a:cs typeface="Arial Unicode MS"/>
              </a:rPr>
              <a:t>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有机物燃烧后留下的无机残渣以酸提取后制备成分析试 </a:t>
            </a:r>
            <a:r>
              <a:rPr dirty="0" sz="1200" spc="-20">
                <a:latin typeface="Arial Unicode MS"/>
                <a:cs typeface="Arial Unicode MS"/>
              </a:rPr>
              <a:t>液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其优点是试样分解完</a:t>
            </a:r>
            <a:r>
              <a:rPr dirty="0" sz="1200" spc="15">
                <a:latin typeface="Arial Unicode MS"/>
                <a:cs typeface="Arial Unicode MS"/>
              </a:rPr>
              <a:t>全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操作简</a:t>
            </a:r>
            <a:r>
              <a:rPr dirty="0" sz="1200" spc="15">
                <a:latin typeface="Arial Unicode MS"/>
                <a:cs typeface="Arial Unicode MS"/>
              </a:rPr>
              <a:t>便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快</a:t>
            </a:r>
            <a:r>
              <a:rPr dirty="0" sz="1200" spc="-20">
                <a:latin typeface="Arial Unicode MS"/>
                <a:cs typeface="Arial Unicode MS"/>
              </a:rPr>
              <a:t>速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湿式消化法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145">
                <a:latin typeface="Georgia"/>
                <a:cs typeface="Georgia"/>
              </a:rPr>
              <a:t>——</a:t>
            </a:r>
            <a:r>
              <a:rPr dirty="0" sz="1100" spc="6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硝酸和硫酸混合物等作为溶剂与试样一同加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热煮</a:t>
            </a:r>
            <a:r>
              <a:rPr dirty="0" sz="1200" spc="-20">
                <a:latin typeface="Arial Unicode MS"/>
                <a:cs typeface="Arial Unicode MS"/>
              </a:rPr>
              <a:t>解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其优点是简</a:t>
            </a:r>
            <a:r>
              <a:rPr dirty="0" sz="1200" spc="15">
                <a:latin typeface="Arial Unicode MS"/>
                <a:cs typeface="Arial Unicode MS"/>
              </a:rPr>
              <a:t>便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快</a:t>
            </a:r>
            <a:r>
              <a:rPr dirty="0" sz="1200" spc="-20">
                <a:latin typeface="Arial Unicode MS"/>
                <a:cs typeface="Arial Unicode MS"/>
              </a:rPr>
              <a:t>速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49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55689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基本要求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846" y="1451429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277" y="1436268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2846" y="1713074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2277" y="169792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2846" y="1974732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2277" y="195958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553" y="1301534"/>
            <a:ext cx="1390650" cy="81089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试样分解完</a:t>
            </a:r>
            <a:r>
              <a:rPr dirty="0" sz="1200" spc="-65">
                <a:latin typeface="Arial Unicode MS"/>
                <a:cs typeface="Arial Unicode MS"/>
              </a:rPr>
              <a:t>全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待测物质不损</a:t>
            </a:r>
            <a:r>
              <a:rPr dirty="0" sz="1200" spc="-65">
                <a:latin typeface="Arial Unicode MS"/>
                <a:cs typeface="Arial Unicode MS"/>
              </a:rPr>
              <a:t>失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避免引入干扰杂</a:t>
            </a:r>
            <a:r>
              <a:rPr dirty="0" sz="1200" spc="-20">
                <a:latin typeface="Arial Unicode MS"/>
                <a:cs typeface="Arial Unicode MS"/>
              </a:rPr>
              <a:t>质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50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03441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FFFFFF"/>
                </a:solidFill>
              </a:rPr>
              <a:t>2.5.3</a:t>
            </a:r>
            <a:r>
              <a:rPr dirty="0" sz="1000" spc="145">
                <a:solidFill>
                  <a:srgbClr val="FFFFFF"/>
                </a:solidFill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样品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测量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805813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2291168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5844" y="918540"/>
            <a:ext cx="4387215" cy="1705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22225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样品的测量应该兼顾分析的准确度与成</a:t>
            </a:r>
            <a:r>
              <a:rPr dirty="0" sz="1200" spc="-260">
                <a:latin typeface="Arial Unicode MS"/>
                <a:cs typeface="Arial Unicode MS"/>
              </a:rPr>
              <a:t>本</a:t>
            </a:r>
            <a:r>
              <a:rPr dirty="0" sz="1200" spc="-5">
                <a:latin typeface="Arial Unicode MS"/>
                <a:cs typeface="Arial Unicode MS"/>
              </a:rPr>
              <a:t>（如时</a:t>
            </a:r>
            <a:r>
              <a:rPr dirty="0" sz="1200" spc="15">
                <a:latin typeface="Arial Unicode MS"/>
                <a:cs typeface="Arial Unicode MS"/>
              </a:rPr>
              <a:t>间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试剂</a:t>
            </a:r>
            <a:r>
              <a:rPr dirty="0" sz="1200" spc="15">
                <a:latin typeface="Arial Unicode MS"/>
                <a:cs typeface="Arial Unicode MS"/>
              </a:rPr>
              <a:t>费</a:t>
            </a:r>
            <a:r>
              <a:rPr dirty="0" sz="1200" spc="-5">
                <a:latin typeface="Arial Unicode MS"/>
                <a:cs typeface="Arial Unicode MS"/>
              </a:rPr>
              <a:t>、 </a:t>
            </a:r>
            <a:r>
              <a:rPr dirty="0" sz="1200" spc="-5">
                <a:latin typeface="Arial Unicode MS"/>
                <a:cs typeface="Arial Unicode MS"/>
              </a:rPr>
              <a:t>设备费</a:t>
            </a:r>
            <a:r>
              <a:rPr dirty="0" sz="1200" spc="30">
                <a:latin typeface="Arial Unicode MS"/>
                <a:cs typeface="Arial Unicode MS"/>
              </a:rPr>
              <a:t>等</a:t>
            </a:r>
            <a:r>
              <a:rPr dirty="0" sz="1200" spc="-28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两个方</a:t>
            </a:r>
            <a:r>
              <a:rPr dirty="0" sz="1200" spc="-20">
                <a:latin typeface="Arial Unicode MS"/>
                <a:cs typeface="Arial Unicode MS"/>
              </a:rPr>
              <a:t>面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当待测组分含量较高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要求测量的准确度 也较</a:t>
            </a:r>
            <a:r>
              <a:rPr dirty="0" sz="1200" spc="-20">
                <a:latin typeface="Arial Unicode MS"/>
                <a:cs typeface="Arial Unicode MS"/>
              </a:rPr>
              <a:t>高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919"/>
              </a:spcBef>
            </a:pPr>
            <a:r>
              <a:rPr dirty="0" sz="1200" spc="-5">
                <a:latin typeface="Arial Unicode MS"/>
                <a:cs typeface="Arial Unicode MS"/>
              </a:rPr>
              <a:t>当组分含量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55">
                <a:latin typeface="Georgia"/>
                <a:cs typeface="Georgia"/>
              </a:rPr>
              <a:t>50%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60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的范围内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要求测量的相对误差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320"/>
              </a:spcBef>
            </a:pP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10">
                <a:latin typeface="Georgia"/>
                <a:cs typeface="Georgia"/>
              </a:rPr>
              <a:t>0</a:t>
            </a:r>
            <a:r>
              <a:rPr dirty="0" sz="1100" spc="-10" i="1">
                <a:latin typeface="Calibri"/>
                <a:cs typeface="Calibri"/>
              </a:rPr>
              <a:t>.</a:t>
            </a:r>
            <a:r>
              <a:rPr dirty="0" sz="1100" spc="-10">
                <a:latin typeface="Georgia"/>
                <a:cs typeface="Georgia"/>
              </a:rPr>
              <a:t>1%</a:t>
            </a:r>
            <a:r>
              <a:rPr dirty="0" sz="1100" spc="1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70">
                <a:latin typeface="Lucida Sans Unicode"/>
                <a:cs typeface="Lucida Sans Unicode"/>
              </a:rPr>
              <a:t> </a:t>
            </a:r>
            <a:r>
              <a:rPr dirty="0" sz="1100" spc="-90">
                <a:latin typeface="Georgia"/>
                <a:cs typeface="Georgia"/>
              </a:rPr>
              <a:t>0</a:t>
            </a:r>
            <a:r>
              <a:rPr dirty="0" sz="1100" spc="-90" i="1">
                <a:latin typeface="Calibri"/>
                <a:cs typeface="Calibri"/>
              </a:rPr>
              <a:t>.</a:t>
            </a:r>
            <a:r>
              <a:rPr dirty="0" sz="1100" spc="-90">
                <a:latin typeface="Georgia"/>
                <a:cs typeface="Georgia"/>
              </a:rPr>
              <a:t>3%</a:t>
            </a:r>
            <a:r>
              <a:rPr dirty="0" sz="1200" spc="-9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重量分析法和滴定分析法都可满足这一要</a:t>
            </a:r>
            <a:r>
              <a:rPr dirty="0" sz="1200" spc="-20">
                <a:latin typeface="Arial Unicode MS"/>
                <a:cs typeface="Arial Unicode MS"/>
              </a:rPr>
              <a:t>求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当组分含量</a:t>
            </a:r>
            <a:r>
              <a:rPr dirty="0" sz="1200" spc="175">
                <a:latin typeface="Arial Unicode MS"/>
                <a:cs typeface="Arial Unicode MS"/>
              </a:rPr>
              <a:t>在</a:t>
            </a:r>
            <a:r>
              <a:rPr dirty="0" sz="1100" spc="-35">
                <a:latin typeface="Georgia"/>
                <a:cs typeface="Georgia"/>
              </a:rPr>
              <a:t>0</a:t>
            </a:r>
            <a:r>
              <a:rPr dirty="0" sz="1100" spc="-35" i="1">
                <a:latin typeface="Calibri"/>
                <a:cs typeface="Calibri"/>
              </a:rPr>
              <a:t>.</a:t>
            </a:r>
            <a:r>
              <a:rPr dirty="0" sz="1100" spc="-35">
                <a:latin typeface="Georgia"/>
                <a:cs typeface="Georgia"/>
              </a:rPr>
              <a:t>01%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60">
                <a:latin typeface="Lucida Sans Unicode"/>
                <a:cs typeface="Lucida Sans Unicode"/>
              </a:rPr>
              <a:t> </a:t>
            </a:r>
            <a:r>
              <a:rPr dirty="0" sz="1100" spc="40">
                <a:latin typeface="Georgia"/>
                <a:cs typeface="Georgia"/>
              </a:rPr>
              <a:t>1%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的范围内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对准确度的要求可放</a:t>
            </a:r>
            <a:endParaRPr sz="1200">
              <a:latin typeface="Arial Unicode MS"/>
              <a:cs typeface="Arial Unicode MS"/>
            </a:endParaRPr>
          </a:p>
          <a:p>
            <a:pPr marL="27813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宽至相对误差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30">
                <a:latin typeface="Georgia"/>
                <a:cs typeface="Georgia"/>
              </a:rPr>
              <a:t>2%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80">
                <a:latin typeface="Georgia"/>
                <a:cs typeface="Georgia"/>
              </a:rPr>
              <a:t>10%</a:t>
            </a:r>
            <a:r>
              <a:rPr dirty="0" sz="1200" spc="-8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此时宜采用仪器分析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44" y="880097"/>
            <a:ext cx="4356735" cy="1144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10">
                <a:latin typeface="Arial Unicode MS"/>
                <a:cs typeface="Arial Unicode MS"/>
              </a:rPr>
              <a:t>分析速度也是实际分析过程中需要考虑的问</a:t>
            </a:r>
            <a:r>
              <a:rPr dirty="0" sz="1200" spc="-20">
                <a:latin typeface="Arial Unicode MS"/>
                <a:cs typeface="Arial Unicode MS"/>
              </a:rPr>
              <a:t>题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现代</a:t>
            </a:r>
            <a:r>
              <a:rPr dirty="0" sz="1200" spc="-5">
                <a:latin typeface="Arial Unicode MS"/>
                <a:cs typeface="Arial Unicode MS"/>
              </a:rPr>
              <a:t>化 </a:t>
            </a:r>
            <a:r>
              <a:rPr dirty="0" sz="1200" spc="-5">
                <a:latin typeface="Arial Unicode MS"/>
                <a:cs typeface="Arial Unicode MS"/>
              </a:rPr>
              <a:t>的化工厂通常是大规模的连续生</a:t>
            </a:r>
            <a:r>
              <a:rPr dirty="0" sz="1200" spc="-80">
                <a:latin typeface="Arial Unicode MS"/>
                <a:cs typeface="Arial Unicode MS"/>
              </a:rPr>
              <a:t>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其中的每一个工段的产品的 质量是否合格都将直接影响到整个工厂的正常运</a:t>
            </a:r>
            <a:r>
              <a:rPr dirty="0" sz="1200" spc="-80">
                <a:latin typeface="Arial Unicode MS"/>
                <a:cs typeface="Arial Unicode MS"/>
              </a:rPr>
              <a:t>转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这就需要采 </a:t>
            </a:r>
            <a:r>
              <a:rPr dirty="0" sz="1200" spc="-10">
                <a:latin typeface="Arial Unicode MS"/>
                <a:cs typeface="Arial Unicode MS"/>
              </a:rPr>
              <a:t>用快速的分析方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以便在短时间内测定中间产品的组分含</a:t>
            </a:r>
            <a:r>
              <a:rPr dirty="0" sz="1200" spc="-80">
                <a:latin typeface="Arial Unicode MS"/>
                <a:cs typeface="Arial Unicode MS"/>
              </a:rPr>
              <a:t>量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为 </a:t>
            </a:r>
            <a:r>
              <a:rPr dirty="0" sz="1200" spc="-5">
                <a:latin typeface="Arial Unicode MS"/>
                <a:cs typeface="Arial Unicode MS"/>
              </a:rPr>
              <a:t>工况的调整提供参</a:t>
            </a:r>
            <a:r>
              <a:rPr dirty="0" sz="1200" spc="-20">
                <a:latin typeface="Arial Unicode MS"/>
                <a:cs typeface="Arial Unicode MS"/>
              </a:rPr>
              <a:t>数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52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69862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FFFFFF"/>
                </a:solidFill>
                <a:latin typeface="Georgia"/>
                <a:cs typeface="Georgia"/>
              </a:rPr>
              <a:t>2.5.4</a:t>
            </a:r>
            <a:r>
              <a:rPr dirty="0" sz="1000" spc="14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分析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结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果的表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示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与评价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2846" y="1449231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42277" y="143408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2846" y="1710890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42277" y="169574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846" y="1972548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2277" y="195740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91553" y="1299349"/>
            <a:ext cx="1391920" cy="8108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431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分析结果的表示形式 分析结果的表示方法 分析结果的评价方法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53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22110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分析结果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表示形式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995667"/>
            <a:ext cx="4407535" cy="159131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当铁矿石中的铁为待测组分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其可能的存在形式</a:t>
            </a:r>
            <a:endParaRPr sz="1200">
              <a:latin typeface="Arial Unicode MS"/>
              <a:cs typeface="Arial Unicode MS"/>
            </a:endParaRPr>
          </a:p>
          <a:p>
            <a:pPr marL="38100" marR="30480">
              <a:lnSpc>
                <a:spcPct val="122300"/>
              </a:lnSpc>
            </a:pPr>
            <a:r>
              <a:rPr dirty="0" sz="1200" spc="175">
                <a:latin typeface="Arial Unicode MS"/>
                <a:cs typeface="Arial Unicode MS"/>
              </a:rPr>
              <a:t>有</a:t>
            </a:r>
            <a:r>
              <a:rPr dirty="0" sz="1100" spc="-25">
                <a:latin typeface="Georgia"/>
                <a:cs typeface="Georgia"/>
              </a:rPr>
              <a:t>Fe</a:t>
            </a:r>
            <a:r>
              <a:rPr dirty="0" baseline="-13888" sz="900" spc="-37">
                <a:latin typeface="Times New Roman"/>
                <a:cs typeface="Times New Roman"/>
              </a:rPr>
              <a:t>2</a:t>
            </a:r>
            <a:r>
              <a:rPr dirty="0" sz="1100" spc="-25">
                <a:latin typeface="Georgia"/>
                <a:cs typeface="Georgia"/>
              </a:rPr>
              <a:t>O</a:t>
            </a:r>
            <a:r>
              <a:rPr dirty="0" baseline="-13888" sz="900" spc="-37">
                <a:latin typeface="Times New Roman"/>
                <a:cs typeface="Times New Roman"/>
              </a:rPr>
              <a:t>3</a:t>
            </a:r>
            <a:r>
              <a:rPr dirty="0" sz="1200" spc="-25">
                <a:latin typeface="Arial Unicode MS"/>
                <a:cs typeface="Arial Unicode MS"/>
              </a:rPr>
              <a:t>，</a:t>
            </a:r>
            <a:r>
              <a:rPr dirty="0" sz="1100" spc="-25">
                <a:latin typeface="Georgia"/>
                <a:cs typeface="Georgia"/>
              </a:rPr>
              <a:t>FeO</a:t>
            </a:r>
            <a:r>
              <a:rPr dirty="0" sz="1100" spc="-120">
                <a:latin typeface="Georgia"/>
                <a:cs typeface="Georgia"/>
              </a:rPr>
              <a:t> </a:t>
            </a:r>
            <a:r>
              <a:rPr dirty="0" sz="1200" spc="-20">
                <a:latin typeface="Arial Unicode MS"/>
                <a:cs typeface="Arial Unicode MS"/>
              </a:rPr>
              <a:t>等</a:t>
            </a:r>
            <a:r>
              <a:rPr dirty="0" sz="1200" spc="-265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而在实际的分析过程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22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有时是将样品中所有</a:t>
            </a:r>
            <a:r>
              <a:rPr dirty="0" sz="1200" spc="-5">
                <a:latin typeface="Arial Unicode MS"/>
                <a:cs typeface="Arial Unicode MS"/>
              </a:rPr>
              <a:t>存 在形式的铁都转化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5">
                <a:latin typeface="Georgia"/>
                <a:cs typeface="Georgia"/>
              </a:rPr>
              <a:t>Fe</a:t>
            </a:r>
            <a:r>
              <a:rPr dirty="0" baseline="37037" sz="900" spc="-7">
                <a:latin typeface="Times New Roman"/>
                <a:cs typeface="Times New Roman"/>
              </a:rPr>
              <a:t>3+</a:t>
            </a:r>
            <a:r>
              <a:rPr dirty="0" sz="1200" spc="-5">
                <a:latin typeface="Arial Unicode MS"/>
                <a:cs typeface="Arial Unicode MS"/>
              </a:rPr>
              <a:t>，故测量结果通常是</a:t>
            </a:r>
            <a:r>
              <a:rPr dirty="0" sz="1200" spc="175">
                <a:latin typeface="Arial Unicode MS"/>
                <a:cs typeface="Arial Unicode MS"/>
              </a:rPr>
              <a:t>以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3+</a:t>
            </a:r>
            <a:r>
              <a:rPr dirty="0" baseline="37037" sz="900" spc="9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的含量的形 式来表</a:t>
            </a:r>
            <a:r>
              <a:rPr dirty="0" sz="1200" spc="-20">
                <a:latin typeface="Arial Unicode MS"/>
                <a:cs typeface="Arial Unicode MS"/>
              </a:rPr>
              <a:t>示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algn="just" marL="38100" marR="30480" indent="303530">
              <a:lnSpc>
                <a:spcPct val="122300"/>
              </a:lnSpc>
            </a:pPr>
            <a:r>
              <a:rPr dirty="0" sz="1200" spc="-10">
                <a:latin typeface="Arial Unicode MS"/>
                <a:cs typeface="Arial Unicode MS"/>
              </a:rPr>
              <a:t>然</a:t>
            </a:r>
            <a:r>
              <a:rPr dirty="0" sz="1200" spc="-80">
                <a:latin typeface="Arial Unicode MS"/>
                <a:cs typeface="Arial Unicode MS"/>
              </a:rPr>
              <a:t>而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有时也会遇到特别注重样品中某种存在形式的情</a:t>
            </a:r>
            <a:r>
              <a:rPr dirty="0" sz="1200" spc="-80">
                <a:latin typeface="Arial Unicode MS"/>
                <a:cs typeface="Arial Unicode MS"/>
              </a:rPr>
              <a:t>况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 </a:t>
            </a:r>
            <a:r>
              <a:rPr dirty="0" sz="1200" spc="-10">
                <a:latin typeface="Arial Unicode MS"/>
                <a:cs typeface="Arial Unicode MS"/>
              </a:rPr>
              <a:t>时应将测量结果以所需要的表示形式的方式来表</a:t>
            </a:r>
            <a:r>
              <a:rPr dirty="0" sz="1200" spc="-20">
                <a:latin typeface="Arial Unicode MS"/>
                <a:cs typeface="Arial Unicode MS"/>
              </a:rPr>
              <a:t>示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如上例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分 </a:t>
            </a:r>
            <a:r>
              <a:rPr dirty="0" sz="1200" spc="-5">
                <a:latin typeface="Arial Unicode MS"/>
                <a:cs typeface="Arial Unicode MS"/>
              </a:rPr>
              <a:t>析结果也可以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20">
                <a:latin typeface="Georgia"/>
                <a:cs typeface="Georgia"/>
              </a:rPr>
              <a:t>Fe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O</a:t>
            </a:r>
            <a:r>
              <a:rPr dirty="0" baseline="-13888" sz="900" spc="30">
                <a:latin typeface="Times New Roman"/>
                <a:cs typeface="Times New Roman"/>
              </a:rPr>
              <a:t>3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或</a:t>
            </a:r>
            <a:r>
              <a:rPr dirty="0" sz="1100" spc="-20">
                <a:latin typeface="Georgia"/>
                <a:cs typeface="Georgia"/>
              </a:rPr>
              <a:t>FeO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等的形式来表</a:t>
            </a:r>
            <a:r>
              <a:rPr dirty="0" sz="1200" spc="-20">
                <a:latin typeface="Arial Unicode MS"/>
                <a:cs typeface="Arial Unicode MS"/>
              </a:rPr>
              <a:t>示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54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22110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分析结果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表示方法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2846" y="877097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42277" y="86193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1553" y="806665"/>
            <a:ext cx="359537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solidFill>
                  <a:srgbClr val="0000FF"/>
                </a:solidFill>
                <a:latin typeface="Arial Unicode MS"/>
                <a:cs typeface="Arial Unicode MS"/>
              </a:rPr>
              <a:t>对于固体样</a:t>
            </a:r>
            <a:r>
              <a:rPr dirty="0" sz="1200" spc="-80">
                <a:solidFill>
                  <a:srgbClr val="0000FF"/>
                </a:solidFill>
                <a:latin typeface="Arial Unicode MS"/>
                <a:cs typeface="Arial Unicode MS"/>
              </a:rPr>
              <a:t>品</a:t>
            </a:r>
            <a:r>
              <a:rPr dirty="0" sz="1200" spc="-185">
                <a:solidFill>
                  <a:srgbClr val="0000FF"/>
                </a:solidFill>
                <a:latin typeface="Arial Unicode MS"/>
                <a:cs typeface="Arial Unicode MS"/>
              </a:rPr>
              <a:t>，</a:t>
            </a:r>
            <a:r>
              <a:rPr dirty="0" sz="1200" spc="-5">
                <a:solidFill>
                  <a:srgbClr val="0000FF"/>
                </a:solidFill>
                <a:latin typeface="Arial Unicode MS"/>
                <a:cs typeface="Arial Unicode MS"/>
              </a:rPr>
              <a:t>分析结果通常以质量分数表</a:t>
            </a:r>
            <a:r>
              <a:rPr dirty="0" sz="1200" spc="-80">
                <a:solidFill>
                  <a:srgbClr val="0000FF"/>
                </a:solidFill>
                <a:latin typeface="Arial Unicode MS"/>
                <a:cs typeface="Arial Unicode MS"/>
              </a:rPr>
              <a:t>示</a:t>
            </a:r>
            <a:r>
              <a:rPr dirty="0" sz="1200" spc="-185">
                <a:solidFill>
                  <a:srgbClr val="0000FF"/>
                </a:solidFill>
                <a:latin typeface="Arial Unicode MS"/>
                <a:cs typeface="Arial Unicode MS"/>
              </a:rPr>
              <a:t>，</a:t>
            </a:r>
            <a:r>
              <a:rPr dirty="0" sz="1200" spc="-5">
                <a:solidFill>
                  <a:srgbClr val="0000FF"/>
                </a:solidFill>
                <a:latin typeface="Arial Unicode MS"/>
                <a:cs typeface="Arial Unicode MS"/>
              </a:rPr>
              <a:t>如</a:t>
            </a:r>
            <a:r>
              <a:rPr dirty="0" sz="1200" spc="-90">
                <a:solidFill>
                  <a:srgbClr val="0000FF"/>
                </a:solidFill>
                <a:latin typeface="Arial Unicode MS"/>
                <a:cs typeface="Arial Unicode MS"/>
              </a:rPr>
              <a:t>下</a:t>
            </a:r>
            <a:r>
              <a:rPr dirty="0" sz="1200" spc="-5">
                <a:solidFill>
                  <a:srgbClr val="0000FF"/>
                </a:solidFill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2655" y="1198118"/>
            <a:ext cx="48640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 i="1">
                <a:solidFill>
                  <a:srgbClr val="0000FF"/>
                </a:solidFill>
                <a:latin typeface="Calibri"/>
                <a:cs typeface="Calibri"/>
              </a:rPr>
              <a:t>w</a:t>
            </a:r>
            <a:r>
              <a:rPr dirty="0" sz="1100" spc="30">
                <a:solidFill>
                  <a:srgbClr val="0000FF"/>
                </a:solidFill>
                <a:latin typeface="Georgia"/>
                <a:cs typeface="Georgia"/>
              </a:rPr>
              <a:t>(A)</a:t>
            </a:r>
            <a:r>
              <a:rPr dirty="0" sz="1100" spc="-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100" spc="14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19845" y="1314729"/>
            <a:ext cx="333375" cy="0"/>
          </a:xfrm>
          <a:custGeom>
            <a:avLst/>
            <a:gdLst/>
            <a:ahLst/>
            <a:cxnLst/>
            <a:rect l="l" t="t" r="r" b="b"/>
            <a:pathLst>
              <a:path w="333375" h="0">
                <a:moveTo>
                  <a:pt x="0" y="0"/>
                </a:moveTo>
                <a:lnTo>
                  <a:pt x="333311" y="0"/>
                </a:lnTo>
              </a:path>
            </a:pathLst>
          </a:custGeom>
          <a:ln w="5537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07157" y="1081885"/>
            <a:ext cx="35877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100" spc="85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sz="1100" spc="30">
                <a:solidFill>
                  <a:srgbClr val="0000FF"/>
                </a:solidFill>
                <a:latin typeface="Georgia"/>
                <a:cs typeface="Georgia"/>
              </a:rPr>
              <a:t>(A)</a:t>
            </a:r>
            <a:endParaRPr sz="1100">
              <a:latin typeface="Georgia"/>
              <a:cs typeface="Georgia"/>
            </a:endParaRPr>
          </a:p>
          <a:p>
            <a:pPr marL="26034">
              <a:lnSpc>
                <a:spcPct val="100000"/>
              </a:lnSpc>
              <a:spcBef>
                <a:spcPts val="170"/>
              </a:spcBef>
            </a:pPr>
            <a:r>
              <a:rPr dirty="0" sz="1100" spc="2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sz="1100" spc="20">
                <a:solidFill>
                  <a:srgbClr val="0000FF"/>
                </a:solidFill>
                <a:latin typeface="Georgia"/>
                <a:cs typeface="Georgia"/>
              </a:rPr>
              <a:t>(S)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79722" y="1198118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solidFill>
                  <a:srgbClr val="0000FF"/>
                </a:solidFill>
                <a:latin typeface="Georgia"/>
                <a:cs typeface="Georgia"/>
              </a:rPr>
              <a:t>(3)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6200" rIns="0" bIns="0" rtlCol="0" vert="horz">
            <a:spAutoFit/>
          </a:bodyPr>
          <a:lstStyle/>
          <a:p>
            <a:pPr marL="196850">
              <a:lnSpc>
                <a:spcPct val="100000"/>
              </a:lnSpc>
              <a:spcBef>
                <a:spcPts val="600"/>
              </a:spcBef>
            </a:pPr>
            <a:r>
              <a:rPr dirty="0" spc="-10">
                <a:solidFill>
                  <a:srgbClr val="0000FF"/>
                </a:solidFill>
              </a:rPr>
              <a:t>其</a:t>
            </a:r>
            <a:r>
              <a:rPr dirty="0" spc="-70">
                <a:solidFill>
                  <a:srgbClr val="0000FF"/>
                </a:solidFill>
              </a:rPr>
              <a:t>中</a:t>
            </a:r>
            <a:r>
              <a:rPr dirty="0" spc="-10">
                <a:solidFill>
                  <a:srgbClr val="0000FF"/>
                </a:solidFill>
              </a:rPr>
              <a:t>，</a:t>
            </a:r>
            <a:r>
              <a:rPr dirty="0" sz="1000" spc="-10" i="1">
                <a:solidFill>
                  <a:srgbClr val="0000FF"/>
                </a:solidFill>
                <a:latin typeface="Calibri"/>
                <a:cs typeface="Calibri"/>
              </a:rPr>
              <a:t>w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(A)</a:t>
            </a:r>
            <a:r>
              <a:rPr dirty="0" sz="1000" spc="-8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pc="-5">
                <a:solidFill>
                  <a:srgbClr val="0000FF"/>
                </a:solidFill>
              </a:rPr>
              <a:t>表示待</a:t>
            </a:r>
            <a:r>
              <a:rPr dirty="0" spc="-10">
                <a:solidFill>
                  <a:srgbClr val="0000FF"/>
                </a:solidFill>
              </a:rPr>
              <a:t>测</a:t>
            </a:r>
            <a:r>
              <a:rPr dirty="0" spc="-5">
                <a:solidFill>
                  <a:srgbClr val="0000FF"/>
                </a:solidFill>
              </a:rPr>
              <a:t>组</a:t>
            </a:r>
            <a:r>
              <a:rPr dirty="0" spc="160">
                <a:solidFill>
                  <a:srgbClr val="0000FF"/>
                </a:solidFill>
              </a:rPr>
              <a:t>分</a:t>
            </a:r>
            <a:r>
              <a:rPr dirty="0" sz="1000" spc="75">
                <a:solidFill>
                  <a:srgbClr val="0000FF"/>
                </a:solidFill>
                <a:latin typeface="Georgia"/>
                <a:cs typeface="Georgia"/>
              </a:rPr>
              <a:t>A</a:t>
            </a:r>
            <a:r>
              <a:rPr dirty="0" sz="1000" spc="-8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pc="-5">
                <a:solidFill>
                  <a:srgbClr val="0000FF"/>
                </a:solidFill>
              </a:rPr>
              <a:t>的质量分</a:t>
            </a:r>
            <a:r>
              <a:rPr dirty="0" spc="-60">
                <a:solidFill>
                  <a:srgbClr val="0000FF"/>
                </a:solidFill>
              </a:rPr>
              <a:t>数</a:t>
            </a:r>
            <a:r>
              <a:rPr dirty="0">
                <a:solidFill>
                  <a:srgbClr val="0000FF"/>
                </a:solidFill>
              </a:rPr>
              <a:t>；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(A)</a:t>
            </a:r>
            <a:r>
              <a:rPr dirty="0" sz="1000" spc="-8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pc="-5">
                <a:solidFill>
                  <a:srgbClr val="0000FF"/>
                </a:solidFill>
              </a:rPr>
              <a:t>表示</a:t>
            </a:r>
            <a:r>
              <a:rPr dirty="0" spc="-10">
                <a:solidFill>
                  <a:srgbClr val="0000FF"/>
                </a:solidFill>
              </a:rPr>
              <a:t>待</a:t>
            </a:r>
            <a:r>
              <a:rPr dirty="0" spc="-5">
                <a:solidFill>
                  <a:srgbClr val="0000FF"/>
                </a:solidFill>
              </a:rPr>
              <a:t>测组分的质</a:t>
            </a:r>
            <a:endParaRPr sz="1000">
              <a:latin typeface="Georgia"/>
              <a:cs typeface="Georgia"/>
            </a:endParaRPr>
          </a:p>
          <a:p>
            <a:pPr marL="196850">
              <a:lnSpc>
                <a:spcPct val="100000"/>
              </a:lnSpc>
              <a:spcBef>
                <a:spcPts val="500"/>
              </a:spcBef>
            </a:pPr>
            <a:r>
              <a:rPr dirty="0" spc="-60">
                <a:solidFill>
                  <a:srgbClr val="0000FF"/>
                </a:solidFill>
              </a:rPr>
              <a:t>量</a:t>
            </a:r>
            <a:r>
              <a:rPr dirty="0" spc="-20">
                <a:solidFill>
                  <a:srgbClr val="0000FF"/>
                </a:solidFill>
              </a:rPr>
              <a:t>；</a:t>
            </a:r>
            <a:r>
              <a:rPr dirty="0" sz="1000" spc="-2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(S)</a:t>
            </a:r>
            <a:r>
              <a:rPr dirty="0" sz="1000" spc="-8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pc="-5">
                <a:solidFill>
                  <a:srgbClr val="0000FF"/>
                </a:solidFill>
              </a:rPr>
              <a:t>是样品</a:t>
            </a:r>
            <a:r>
              <a:rPr dirty="0" spc="-10">
                <a:solidFill>
                  <a:srgbClr val="0000FF"/>
                </a:solidFill>
              </a:rPr>
              <a:t>的</a:t>
            </a:r>
            <a:r>
              <a:rPr dirty="0" spc="-5">
                <a:solidFill>
                  <a:srgbClr val="0000FF"/>
                </a:solidFill>
              </a:rPr>
              <a:t>质</a:t>
            </a:r>
            <a:r>
              <a:rPr dirty="0" spc="-20">
                <a:solidFill>
                  <a:srgbClr val="0000FF"/>
                </a:solidFill>
              </a:rPr>
              <a:t>量</a:t>
            </a:r>
            <a:r>
              <a:rPr dirty="0" spc="-204">
                <a:solidFill>
                  <a:srgbClr val="0000FF"/>
                </a:solidFill>
              </a:rPr>
              <a:t>。</a:t>
            </a:r>
            <a:r>
              <a:rPr dirty="0" spc="160">
                <a:solidFill>
                  <a:srgbClr val="0000FF"/>
                </a:solidFill>
              </a:rPr>
              <a:t>当</a:t>
            </a:r>
            <a:r>
              <a:rPr dirty="0" sz="1000" spc="45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(A)</a:t>
            </a:r>
            <a:r>
              <a:rPr dirty="0" sz="1000" spc="-8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pc="160">
                <a:solidFill>
                  <a:srgbClr val="0000FF"/>
                </a:solidFill>
              </a:rPr>
              <a:t>和</a:t>
            </a:r>
            <a:r>
              <a:rPr dirty="0" sz="1000" spc="2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sz="1000" spc="20">
                <a:solidFill>
                  <a:srgbClr val="0000FF"/>
                </a:solidFill>
                <a:latin typeface="Georgia"/>
                <a:cs typeface="Georgia"/>
              </a:rPr>
              <a:t>(S)</a:t>
            </a:r>
            <a:r>
              <a:rPr dirty="0" sz="1000" spc="-8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pc="-5">
                <a:solidFill>
                  <a:srgbClr val="0000FF"/>
                </a:solidFill>
              </a:rPr>
              <a:t>的单位</a:t>
            </a:r>
            <a:r>
              <a:rPr dirty="0" spc="-10">
                <a:solidFill>
                  <a:srgbClr val="0000FF"/>
                </a:solidFill>
              </a:rPr>
              <a:t>一</a:t>
            </a:r>
            <a:r>
              <a:rPr dirty="0" spc="-5">
                <a:solidFill>
                  <a:srgbClr val="0000FF"/>
                </a:solidFill>
              </a:rPr>
              <a:t>致</a:t>
            </a:r>
            <a:r>
              <a:rPr dirty="0" spc="-70">
                <a:solidFill>
                  <a:srgbClr val="0000FF"/>
                </a:solidFill>
              </a:rPr>
              <a:t>时</a:t>
            </a:r>
            <a:r>
              <a:rPr dirty="0" spc="-10">
                <a:solidFill>
                  <a:srgbClr val="0000FF"/>
                </a:solidFill>
              </a:rPr>
              <a:t>，</a:t>
            </a:r>
            <a:r>
              <a:rPr dirty="0" sz="1000" spc="-10" i="1">
                <a:solidFill>
                  <a:srgbClr val="0000FF"/>
                </a:solidFill>
                <a:latin typeface="Calibri"/>
                <a:cs typeface="Calibri"/>
              </a:rPr>
              <a:t>w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(A)</a:t>
            </a:r>
            <a:r>
              <a:rPr dirty="0" sz="1000" spc="-8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pc="-5">
                <a:solidFill>
                  <a:srgbClr val="0000FF"/>
                </a:solidFill>
              </a:rPr>
              <a:t>通常以</a:t>
            </a:r>
            <a:endParaRPr sz="1000">
              <a:latin typeface="Georgia"/>
              <a:cs typeface="Georgia"/>
            </a:endParaRPr>
          </a:p>
          <a:p>
            <a:pPr marL="196850">
              <a:lnSpc>
                <a:spcPct val="100000"/>
              </a:lnSpc>
              <a:spcBef>
                <a:spcPts val="505"/>
              </a:spcBef>
            </a:pPr>
            <a:r>
              <a:rPr dirty="0" spc="-5">
                <a:solidFill>
                  <a:srgbClr val="0000FF"/>
                </a:solidFill>
              </a:rPr>
              <a:t>百</a:t>
            </a:r>
            <a:r>
              <a:rPr dirty="0" spc="-10">
                <a:solidFill>
                  <a:srgbClr val="0000FF"/>
                </a:solidFill>
              </a:rPr>
              <a:t>分</a:t>
            </a:r>
            <a:r>
              <a:rPr dirty="0" spc="-5">
                <a:solidFill>
                  <a:srgbClr val="0000FF"/>
                </a:solidFill>
              </a:rPr>
              <a:t>数的形</a:t>
            </a:r>
            <a:r>
              <a:rPr dirty="0" spc="-10">
                <a:solidFill>
                  <a:srgbClr val="0000FF"/>
                </a:solidFill>
              </a:rPr>
              <a:t>式</a:t>
            </a:r>
            <a:r>
              <a:rPr dirty="0" spc="-5">
                <a:solidFill>
                  <a:srgbClr val="0000FF"/>
                </a:solidFill>
              </a:rPr>
              <a:t>表</a:t>
            </a:r>
            <a:r>
              <a:rPr dirty="0" spc="-20">
                <a:solidFill>
                  <a:srgbClr val="0000FF"/>
                </a:solidFill>
              </a:rPr>
              <a:t>示</a:t>
            </a:r>
            <a:r>
              <a:rPr dirty="0" spc="-5">
                <a:solidFill>
                  <a:srgbClr val="0000FF"/>
                </a:solidFill>
              </a:rPr>
              <a:t>。</a:t>
            </a:r>
          </a:p>
        </p:txBody>
      </p:sp>
      <p:sp>
        <p:nvSpPr>
          <p:cNvPr id="11" name="object 11"/>
          <p:cNvSpPr/>
          <p:nvPr/>
        </p:nvSpPr>
        <p:spPr>
          <a:xfrm>
            <a:off x="222846" y="2344645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2277" y="232949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1553" y="2232723"/>
            <a:ext cx="409067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solidFill>
                  <a:srgbClr val="A5A5A5"/>
                </a:solidFill>
                <a:latin typeface="Arial Unicode MS"/>
                <a:cs typeface="Arial Unicode MS"/>
              </a:rPr>
              <a:t>对于液体样</a:t>
            </a:r>
            <a:r>
              <a:rPr dirty="0" sz="1200" spc="-80">
                <a:solidFill>
                  <a:srgbClr val="A5A5A5"/>
                </a:solidFill>
                <a:latin typeface="Arial Unicode MS"/>
                <a:cs typeface="Arial Unicode MS"/>
              </a:rPr>
              <a:t>品</a:t>
            </a:r>
            <a:r>
              <a:rPr dirty="0" sz="1200" spc="-195">
                <a:solidFill>
                  <a:srgbClr val="A5A5A5"/>
                </a:solidFill>
                <a:latin typeface="Arial Unicode MS"/>
                <a:cs typeface="Arial Unicode MS"/>
              </a:rPr>
              <a:t>，</a:t>
            </a:r>
            <a:r>
              <a:rPr dirty="0" sz="1200" spc="-10">
                <a:solidFill>
                  <a:srgbClr val="A5A5A5"/>
                </a:solidFill>
                <a:latin typeface="Arial Unicode MS"/>
                <a:cs typeface="Arial Unicode MS"/>
              </a:rPr>
              <a:t>分析结果通常是以待测组分的物质的量浓度</a:t>
            </a:r>
            <a:r>
              <a:rPr dirty="0" sz="1200" spc="-5">
                <a:solidFill>
                  <a:srgbClr val="A5A5A5"/>
                </a:solidFill>
                <a:latin typeface="Arial Unicode MS"/>
                <a:cs typeface="Arial Unicode MS"/>
              </a:rPr>
              <a:t>来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solidFill>
                  <a:srgbClr val="A5A5A5"/>
                </a:solidFill>
                <a:latin typeface="Arial Unicode MS"/>
                <a:cs typeface="Arial Unicode MS"/>
              </a:rPr>
              <a:t>表</a:t>
            </a:r>
            <a:r>
              <a:rPr dirty="0" sz="1200" spc="-80">
                <a:solidFill>
                  <a:srgbClr val="A5A5A5"/>
                </a:solidFill>
                <a:latin typeface="Arial Unicode MS"/>
                <a:cs typeface="Arial Unicode MS"/>
              </a:rPr>
              <a:t>示</a:t>
            </a:r>
            <a:r>
              <a:rPr dirty="0" sz="1200" spc="-185">
                <a:solidFill>
                  <a:srgbClr val="A5A5A5"/>
                </a:solidFill>
                <a:latin typeface="Arial Unicode MS"/>
                <a:cs typeface="Arial Unicode MS"/>
              </a:rPr>
              <a:t>，</a:t>
            </a:r>
            <a:r>
              <a:rPr dirty="0" sz="1200" spc="-5">
                <a:solidFill>
                  <a:srgbClr val="A5A5A5"/>
                </a:solidFill>
                <a:latin typeface="Arial Unicode MS"/>
                <a:cs typeface="Arial Unicode MS"/>
              </a:rPr>
              <a:t>有时也以质量分</a:t>
            </a:r>
            <a:r>
              <a:rPr dirty="0" sz="1200" spc="-80">
                <a:solidFill>
                  <a:srgbClr val="A5A5A5"/>
                </a:solidFill>
                <a:latin typeface="Arial Unicode MS"/>
                <a:cs typeface="Arial Unicode MS"/>
              </a:rPr>
              <a:t>数</a:t>
            </a:r>
            <a:r>
              <a:rPr dirty="0" sz="1200" spc="-185">
                <a:solidFill>
                  <a:srgbClr val="A5A5A5"/>
                </a:solidFill>
                <a:latin typeface="Arial Unicode MS"/>
                <a:cs typeface="Arial Unicode MS"/>
              </a:rPr>
              <a:t>，</a:t>
            </a:r>
            <a:r>
              <a:rPr dirty="0" sz="1200" spc="-5">
                <a:solidFill>
                  <a:srgbClr val="A5A5A5"/>
                </a:solidFill>
                <a:latin typeface="Arial Unicode MS"/>
                <a:cs typeface="Arial Unicode MS"/>
              </a:rPr>
              <a:t>体积分数等来表</a:t>
            </a:r>
            <a:r>
              <a:rPr dirty="0" sz="1200" spc="-20">
                <a:solidFill>
                  <a:srgbClr val="A5A5A5"/>
                </a:solidFill>
                <a:latin typeface="Arial Unicode MS"/>
                <a:cs typeface="Arial Unicode MS"/>
              </a:rPr>
              <a:t>示</a:t>
            </a:r>
            <a:r>
              <a:rPr dirty="0" sz="1200" spc="-5">
                <a:solidFill>
                  <a:srgbClr val="A5A5A5"/>
                </a:solidFill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2846" y="2830001"/>
            <a:ext cx="110658" cy="1106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42277" y="281485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1553" y="2759583"/>
            <a:ext cx="318071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solidFill>
                  <a:srgbClr val="A5A5A5"/>
                </a:solidFill>
                <a:latin typeface="Arial Unicode MS"/>
                <a:cs typeface="Arial Unicode MS"/>
              </a:rPr>
              <a:t>对于气体样</a:t>
            </a:r>
            <a:r>
              <a:rPr dirty="0" sz="1200" spc="-80">
                <a:solidFill>
                  <a:srgbClr val="A5A5A5"/>
                </a:solidFill>
                <a:latin typeface="Arial Unicode MS"/>
                <a:cs typeface="Arial Unicode MS"/>
              </a:rPr>
              <a:t>品</a:t>
            </a:r>
            <a:r>
              <a:rPr dirty="0" sz="1200" spc="-185">
                <a:solidFill>
                  <a:srgbClr val="A5A5A5"/>
                </a:solidFill>
                <a:latin typeface="Arial Unicode MS"/>
                <a:cs typeface="Arial Unicode MS"/>
              </a:rPr>
              <a:t>，</a:t>
            </a:r>
            <a:r>
              <a:rPr dirty="0" sz="1200" spc="-5">
                <a:solidFill>
                  <a:srgbClr val="A5A5A5"/>
                </a:solidFill>
                <a:latin typeface="Arial Unicode MS"/>
                <a:cs typeface="Arial Unicode MS"/>
              </a:rPr>
              <a:t>分析结果通常以体积分数表</a:t>
            </a:r>
            <a:r>
              <a:rPr dirty="0" sz="1200" spc="-20">
                <a:solidFill>
                  <a:srgbClr val="A5A5A5"/>
                </a:solidFill>
                <a:latin typeface="Arial Unicode MS"/>
                <a:cs typeface="Arial Unicode MS"/>
              </a:rPr>
              <a:t>示</a:t>
            </a:r>
            <a:r>
              <a:rPr dirty="0" sz="1200" spc="-5">
                <a:solidFill>
                  <a:srgbClr val="A5A5A5"/>
                </a:solidFill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22110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分析结果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表示方法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2846" y="877097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42277" y="86193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1553" y="806665"/>
            <a:ext cx="359537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solidFill>
                  <a:srgbClr val="3F3FFF"/>
                </a:solidFill>
                <a:latin typeface="Arial Unicode MS"/>
                <a:cs typeface="Arial Unicode MS"/>
              </a:rPr>
              <a:t>对于固体样</a:t>
            </a:r>
            <a:r>
              <a:rPr dirty="0" sz="1200" spc="-80">
                <a:solidFill>
                  <a:srgbClr val="3F3FFF"/>
                </a:solidFill>
                <a:latin typeface="Arial Unicode MS"/>
                <a:cs typeface="Arial Unicode MS"/>
              </a:rPr>
              <a:t>品</a:t>
            </a:r>
            <a:r>
              <a:rPr dirty="0" sz="1200" spc="-185">
                <a:solidFill>
                  <a:srgbClr val="3F3FFF"/>
                </a:solidFill>
                <a:latin typeface="Arial Unicode MS"/>
                <a:cs typeface="Arial Unicode MS"/>
              </a:rPr>
              <a:t>，</a:t>
            </a:r>
            <a:r>
              <a:rPr dirty="0" sz="1200" spc="-5">
                <a:solidFill>
                  <a:srgbClr val="3F3FFF"/>
                </a:solidFill>
                <a:latin typeface="Arial Unicode MS"/>
                <a:cs typeface="Arial Unicode MS"/>
              </a:rPr>
              <a:t>分析结果通常以质量分数表</a:t>
            </a:r>
            <a:r>
              <a:rPr dirty="0" sz="1200" spc="-80">
                <a:solidFill>
                  <a:srgbClr val="3F3FFF"/>
                </a:solidFill>
                <a:latin typeface="Arial Unicode MS"/>
                <a:cs typeface="Arial Unicode MS"/>
              </a:rPr>
              <a:t>示</a:t>
            </a:r>
            <a:r>
              <a:rPr dirty="0" sz="1200" spc="-185">
                <a:solidFill>
                  <a:srgbClr val="3F3FFF"/>
                </a:solidFill>
                <a:latin typeface="Arial Unicode MS"/>
                <a:cs typeface="Arial Unicode MS"/>
              </a:rPr>
              <a:t>，</a:t>
            </a:r>
            <a:r>
              <a:rPr dirty="0" sz="1200" spc="-5">
                <a:solidFill>
                  <a:srgbClr val="3F3FFF"/>
                </a:solidFill>
                <a:latin typeface="Arial Unicode MS"/>
                <a:cs typeface="Arial Unicode MS"/>
              </a:rPr>
              <a:t>如</a:t>
            </a:r>
            <a:r>
              <a:rPr dirty="0" sz="1200" spc="-90">
                <a:solidFill>
                  <a:srgbClr val="3F3FFF"/>
                </a:solidFill>
                <a:latin typeface="Arial Unicode MS"/>
                <a:cs typeface="Arial Unicode MS"/>
              </a:rPr>
              <a:t>下</a:t>
            </a:r>
            <a:r>
              <a:rPr dirty="0" sz="1200" spc="-5">
                <a:solidFill>
                  <a:srgbClr val="3F3FFF"/>
                </a:solidFill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2655" y="1198118"/>
            <a:ext cx="48640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 i="1">
                <a:solidFill>
                  <a:srgbClr val="3F3FFF"/>
                </a:solidFill>
                <a:latin typeface="Calibri"/>
                <a:cs typeface="Calibri"/>
              </a:rPr>
              <a:t>w</a:t>
            </a:r>
            <a:r>
              <a:rPr dirty="0" sz="1100" spc="30">
                <a:solidFill>
                  <a:srgbClr val="3F3FFF"/>
                </a:solidFill>
                <a:latin typeface="Georgia"/>
                <a:cs typeface="Georgia"/>
              </a:rPr>
              <a:t>(A)</a:t>
            </a:r>
            <a:r>
              <a:rPr dirty="0" sz="1100" spc="-35">
                <a:solidFill>
                  <a:srgbClr val="3F3FFF"/>
                </a:solidFill>
                <a:latin typeface="Georgia"/>
                <a:cs typeface="Georgia"/>
              </a:rPr>
              <a:t> </a:t>
            </a:r>
            <a:r>
              <a:rPr dirty="0" sz="1100" spc="140">
                <a:solidFill>
                  <a:srgbClr val="3F3FFF"/>
                </a:solidFill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19845" y="1314729"/>
            <a:ext cx="333375" cy="0"/>
          </a:xfrm>
          <a:custGeom>
            <a:avLst/>
            <a:gdLst/>
            <a:ahLst/>
            <a:cxnLst/>
            <a:rect l="l" t="t" r="r" b="b"/>
            <a:pathLst>
              <a:path w="333375" h="0">
                <a:moveTo>
                  <a:pt x="0" y="0"/>
                </a:moveTo>
                <a:lnTo>
                  <a:pt x="333311" y="0"/>
                </a:lnTo>
              </a:path>
            </a:pathLst>
          </a:custGeom>
          <a:ln w="5537">
            <a:solidFill>
              <a:srgbClr val="3F3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07157" y="1081885"/>
            <a:ext cx="35877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100" spc="85" i="1">
                <a:solidFill>
                  <a:srgbClr val="3F3FFF"/>
                </a:solidFill>
                <a:latin typeface="Calibri"/>
                <a:cs typeface="Calibri"/>
              </a:rPr>
              <a:t>m</a:t>
            </a:r>
            <a:r>
              <a:rPr dirty="0" sz="1100" spc="30">
                <a:solidFill>
                  <a:srgbClr val="3F3FFF"/>
                </a:solidFill>
                <a:latin typeface="Georgia"/>
                <a:cs typeface="Georgia"/>
              </a:rPr>
              <a:t>(A)</a:t>
            </a:r>
            <a:endParaRPr sz="1100">
              <a:latin typeface="Georgia"/>
              <a:cs typeface="Georgia"/>
            </a:endParaRPr>
          </a:p>
          <a:p>
            <a:pPr marL="26034">
              <a:lnSpc>
                <a:spcPct val="100000"/>
              </a:lnSpc>
              <a:spcBef>
                <a:spcPts val="170"/>
              </a:spcBef>
            </a:pPr>
            <a:r>
              <a:rPr dirty="0" sz="1100" spc="20" i="1">
                <a:solidFill>
                  <a:srgbClr val="3F3FFF"/>
                </a:solidFill>
                <a:latin typeface="Calibri"/>
                <a:cs typeface="Calibri"/>
              </a:rPr>
              <a:t>m</a:t>
            </a:r>
            <a:r>
              <a:rPr dirty="0" sz="1100" spc="20">
                <a:solidFill>
                  <a:srgbClr val="3F3FFF"/>
                </a:solidFill>
                <a:latin typeface="Georgia"/>
                <a:cs typeface="Georgia"/>
              </a:rPr>
              <a:t>(S)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79722" y="1198118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solidFill>
                  <a:srgbClr val="3F3FFF"/>
                </a:solidFill>
                <a:latin typeface="Georgia"/>
                <a:cs typeface="Georgia"/>
              </a:rPr>
              <a:t>(3)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6200" rIns="0" bIns="0" rtlCol="0" vert="horz">
            <a:spAutoFit/>
          </a:bodyPr>
          <a:lstStyle/>
          <a:p>
            <a:pPr marL="196850">
              <a:lnSpc>
                <a:spcPct val="100000"/>
              </a:lnSpc>
              <a:spcBef>
                <a:spcPts val="600"/>
              </a:spcBef>
            </a:pPr>
            <a:r>
              <a:rPr dirty="0" spc="-10"/>
              <a:t>其</a:t>
            </a:r>
            <a:r>
              <a:rPr dirty="0" spc="-70"/>
              <a:t>中</a:t>
            </a:r>
            <a:r>
              <a:rPr dirty="0" spc="-10"/>
              <a:t>，</a:t>
            </a:r>
            <a:r>
              <a:rPr dirty="0" sz="1000" spc="-10" i="1">
                <a:latin typeface="Calibri"/>
                <a:cs typeface="Calibri"/>
              </a:rPr>
              <a:t>w</a:t>
            </a:r>
            <a:r>
              <a:rPr dirty="0" sz="1000" spc="-10">
                <a:latin typeface="Georgia"/>
                <a:cs typeface="Georgia"/>
              </a:rPr>
              <a:t>(A)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pc="-5"/>
              <a:t>表示待</a:t>
            </a:r>
            <a:r>
              <a:rPr dirty="0" spc="-10"/>
              <a:t>测</a:t>
            </a:r>
            <a:r>
              <a:rPr dirty="0" spc="-5"/>
              <a:t>组</a:t>
            </a:r>
            <a:r>
              <a:rPr dirty="0" spc="160"/>
              <a:t>分</a:t>
            </a:r>
            <a:r>
              <a:rPr dirty="0" sz="1000" spc="75">
                <a:latin typeface="Georgia"/>
                <a:cs typeface="Georgia"/>
              </a:rPr>
              <a:t>A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pc="-5"/>
              <a:t>的质量分</a:t>
            </a:r>
            <a:r>
              <a:rPr dirty="0" spc="-60"/>
              <a:t>数</a:t>
            </a:r>
            <a:r>
              <a:rPr dirty="0"/>
              <a:t>；</a:t>
            </a:r>
            <a:r>
              <a:rPr dirty="0" sz="1000" i="1">
                <a:latin typeface="Calibri"/>
                <a:cs typeface="Calibri"/>
              </a:rPr>
              <a:t>m</a:t>
            </a:r>
            <a:r>
              <a:rPr dirty="0" sz="1000">
                <a:latin typeface="Georgia"/>
                <a:cs typeface="Georgia"/>
              </a:rPr>
              <a:t>(A)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pc="-5"/>
              <a:t>表示</a:t>
            </a:r>
            <a:r>
              <a:rPr dirty="0" spc="-10"/>
              <a:t>待</a:t>
            </a:r>
            <a:r>
              <a:rPr dirty="0" spc="-5"/>
              <a:t>测组分的质</a:t>
            </a:r>
            <a:endParaRPr sz="1000">
              <a:latin typeface="Georgia"/>
              <a:cs typeface="Georgia"/>
            </a:endParaRPr>
          </a:p>
          <a:p>
            <a:pPr marL="196850">
              <a:lnSpc>
                <a:spcPct val="100000"/>
              </a:lnSpc>
              <a:spcBef>
                <a:spcPts val="500"/>
              </a:spcBef>
            </a:pPr>
            <a:r>
              <a:rPr dirty="0" spc="-60"/>
              <a:t>量</a:t>
            </a:r>
            <a:r>
              <a:rPr dirty="0" spc="-20"/>
              <a:t>；</a:t>
            </a:r>
            <a:r>
              <a:rPr dirty="0" sz="1000" spc="-20" i="1">
                <a:latin typeface="Calibri"/>
                <a:cs typeface="Calibri"/>
              </a:rPr>
              <a:t>m</a:t>
            </a:r>
            <a:r>
              <a:rPr dirty="0" sz="1000" spc="-20">
                <a:latin typeface="Georgia"/>
                <a:cs typeface="Georgia"/>
              </a:rPr>
              <a:t>(S)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pc="-5"/>
              <a:t>是样品</a:t>
            </a:r>
            <a:r>
              <a:rPr dirty="0" spc="-10"/>
              <a:t>的</a:t>
            </a:r>
            <a:r>
              <a:rPr dirty="0" spc="-5"/>
              <a:t>质</a:t>
            </a:r>
            <a:r>
              <a:rPr dirty="0" spc="-20"/>
              <a:t>量</a:t>
            </a:r>
            <a:r>
              <a:rPr dirty="0" spc="-204"/>
              <a:t>。</a:t>
            </a:r>
            <a:r>
              <a:rPr dirty="0" spc="160"/>
              <a:t>当</a:t>
            </a:r>
            <a:r>
              <a:rPr dirty="0" sz="1000" spc="45" i="1">
                <a:latin typeface="Calibri"/>
                <a:cs typeface="Calibri"/>
              </a:rPr>
              <a:t>m</a:t>
            </a:r>
            <a:r>
              <a:rPr dirty="0" sz="1000" spc="45">
                <a:latin typeface="Georgia"/>
                <a:cs typeface="Georgia"/>
              </a:rPr>
              <a:t>(A)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pc="160"/>
              <a:t>和</a:t>
            </a:r>
            <a:r>
              <a:rPr dirty="0" sz="1000" spc="20" i="1">
                <a:latin typeface="Calibri"/>
                <a:cs typeface="Calibri"/>
              </a:rPr>
              <a:t>m</a:t>
            </a:r>
            <a:r>
              <a:rPr dirty="0" sz="1000" spc="20">
                <a:latin typeface="Georgia"/>
                <a:cs typeface="Georgia"/>
              </a:rPr>
              <a:t>(S)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pc="-5"/>
              <a:t>的单位</a:t>
            </a:r>
            <a:r>
              <a:rPr dirty="0" spc="-10"/>
              <a:t>一</a:t>
            </a:r>
            <a:r>
              <a:rPr dirty="0" spc="-5"/>
              <a:t>致</a:t>
            </a:r>
            <a:r>
              <a:rPr dirty="0" spc="-70"/>
              <a:t>时</a:t>
            </a:r>
            <a:r>
              <a:rPr dirty="0" spc="-10"/>
              <a:t>，</a:t>
            </a:r>
            <a:r>
              <a:rPr dirty="0" sz="1000" spc="-10" i="1">
                <a:latin typeface="Calibri"/>
                <a:cs typeface="Calibri"/>
              </a:rPr>
              <a:t>w</a:t>
            </a:r>
            <a:r>
              <a:rPr dirty="0" sz="1000" spc="-10">
                <a:latin typeface="Georgia"/>
                <a:cs typeface="Georgia"/>
              </a:rPr>
              <a:t>(A)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pc="-5"/>
              <a:t>通常以</a:t>
            </a:r>
            <a:endParaRPr sz="1000">
              <a:latin typeface="Georgia"/>
              <a:cs typeface="Georgia"/>
            </a:endParaRPr>
          </a:p>
          <a:p>
            <a:pPr marL="196850">
              <a:lnSpc>
                <a:spcPct val="100000"/>
              </a:lnSpc>
              <a:spcBef>
                <a:spcPts val="505"/>
              </a:spcBef>
            </a:pPr>
            <a:r>
              <a:rPr dirty="0" spc="-5"/>
              <a:t>百</a:t>
            </a:r>
            <a:r>
              <a:rPr dirty="0" spc="-10"/>
              <a:t>分</a:t>
            </a:r>
            <a:r>
              <a:rPr dirty="0" spc="-5"/>
              <a:t>数的形</a:t>
            </a:r>
            <a:r>
              <a:rPr dirty="0" spc="-10"/>
              <a:t>式</a:t>
            </a:r>
            <a:r>
              <a:rPr dirty="0" spc="-5"/>
              <a:t>表</a:t>
            </a:r>
            <a:r>
              <a:rPr dirty="0" spc="-20"/>
              <a:t>示</a:t>
            </a:r>
            <a:r>
              <a:rPr dirty="0" spc="-5"/>
              <a:t>。</a:t>
            </a:r>
          </a:p>
        </p:txBody>
      </p:sp>
      <p:sp>
        <p:nvSpPr>
          <p:cNvPr id="11" name="object 11"/>
          <p:cNvSpPr/>
          <p:nvPr/>
        </p:nvSpPr>
        <p:spPr>
          <a:xfrm>
            <a:off x="222846" y="2344645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2277" y="232949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1553" y="2232723"/>
            <a:ext cx="409067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solidFill>
                  <a:srgbClr val="0000FF"/>
                </a:solidFill>
                <a:latin typeface="Arial Unicode MS"/>
                <a:cs typeface="Arial Unicode MS"/>
              </a:rPr>
              <a:t>对于液体样</a:t>
            </a:r>
            <a:r>
              <a:rPr dirty="0" sz="1200" spc="-80">
                <a:solidFill>
                  <a:srgbClr val="0000FF"/>
                </a:solidFill>
                <a:latin typeface="Arial Unicode MS"/>
                <a:cs typeface="Arial Unicode MS"/>
              </a:rPr>
              <a:t>品</a:t>
            </a:r>
            <a:r>
              <a:rPr dirty="0" sz="1200" spc="-195">
                <a:solidFill>
                  <a:srgbClr val="0000FF"/>
                </a:solidFill>
                <a:latin typeface="Arial Unicode MS"/>
                <a:cs typeface="Arial Unicode MS"/>
              </a:rPr>
              <a:t>，</a:t>
            </a:r>
            <a:r>
              <a:rPr dirty="0" sz="1200" spc="-10">
                <a:solidFill>
                  <a:srgbClr val="0000FF"/>
                </a:solidFill>
                <a:latin typeface="Arial Unicode MS"/>
                <a:cs typeface="Arial Unicode MS"/>
              </a:rPr>
              <a:t>分析结果通常是以待测组分的物质的量浓度</a:t>
            </a:r>
            <a:r>
              <a:rPr dirty="0" sz="1200" spc="-5">
                <a:solidFill>
                  <a:srgbClr val="0000FF"/>
                </a:solidFill>
                <a:latin typeface="Arial Unicode MS"/>
                <a:cs typeface="Arial Unicode MS"/>
              </a:rPr>
              <a:t>来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solidFill>
                  <a:srgbClr val="0000FF"/>
                </a:solidFill>
                <a:latin typeface="Arial Unicode MS"/>
                <a:cs typeface="Arial Unicode MS"/>
              </a:rPr>
              <a:t>表</a:t>
            </a:r>
            <a:r>
              <a:rPr dirty="0" sz="1200" spc="-80">
                <a:solidFill>
                  <a:srgbClr val="0000FF"/>
                </a:solidFill>
                <a:latin typeface="Arial Unicode MS"/>
                <a:cs typeface="Arial Unicode MS"/>
              </a:rPr>
              <a:t>示</a:t>
            </a:r>
            <a:r>
              <a:rPr dirty="0" sz="1200" spc="-185">
                <a:solidFill>
                  <a:srgbClr val="0000FF"/>
                </a:solidFill>
                <a:latin typeface="Arial Unicode MS"/>
                <a:cs typeface="Arial Unicode MS"/>
              </a:rPr>
              <a:t>，</a:t>
            </a:r>
            <a:r>
              <a:rPr dirty="0" sz="1200" spc="-5">
                <a:solidFill>
                  <a:srgbClr val="0000FF"/>
                </a:solidFill>
                <a:latin typeface="Arial Unicode MS"/>
                <a:cs typeface="Arial Unicode MS"/>
              </a:rPr>
              <a:t>有时也以质量分</a:t>
            </a:r>
            <a:r>
              <a:rPr dirty="0" sz="1200" spc="-80">
                <a:solidFill>
                  <a:srgbClr val="0000FF"/>
                </a:solidFill>
                <a:latin typeface="Arial Unicode MS"/>
                <a:cs typeface="Arial Unicode MS"/>
              </a:rPr>
              <a:t>数</a:t>
            </a:r>
            <a:r>
              <a:rPr dirty="0" sz="1200" spc="-185">
                <a:solidFill>
                  <a:srgbClr val="0000FF"/>
                </a:solidFill>
                <a:latin typeface="Arial Unicode MS"/>
                <a:cs typeface="Arial Unicode MS"/>
              </a:rPr>
              <a:t>，</a:t>
            </a:r>
            <a:r>
              <a:rPr dirty="0" sz="1200" spc="-5">
                <a:solidFill>
                  <a:srgbClr val="0000FF"/>
                </a:solidFill>
                <a:latin typeface="Arial Unicode MS"/>
                <a:cs typeface="Arial Unicode MS"/>
              </a:rPr>
              <a:t>体积分数等来表</a:t>
            </a:r>
            <a:r>
              <a:rPr dirty="0" sz="1200" spc="-20">
                <a:solidFill>
                  <a:srgbClr val="0000FF"/>
                </a:solidFill>
                <a:latin typeface="Arial Unicode MS"/>
                <a:cs typeface="Arial Unicode MS"/>
              </a:rPr>
              <a:t>示</a:t>
            </a:r>
            <a:r>
              <a:rPr dirty="0" sz="1200" spc="-5">
                <a:solidFill>
                  <a:srgbClr val="0000FF"/>
                </a:solidFill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2846" y="2830001"/>
            <a:ext cx="110658" cy="1106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42277" y="281485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1553" y="2759583"/>
            <a:ext cx="318071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solidFill>
                  <a:srgbClr val="A5A5A5"/>
                </a:solidFill>
                <a:latin typeface="Arial Unicode MS"/>
                <a:cs typeface="Arial Unicode MS"/>
              </a:rPr>
              <a:t>对于气体样</a:t>
            </a:r>
            <a:r>
              <a:rPr dirty="0" sz="1200" spc="-80">
                <a:solidFill>
                  <a:srgbClr val="A5A5A5"/>
                </a:solidFill>
                <a:latin typeface="Arial Unicode MS"/>
                <a:cs typeface="Arial Unicode MS"/>
              </a:rPr>
              <a:t>品</a:t>
            </a:r>
            <a:r>
              <a:rPr dirty="0" sz="1200" spc="-185">
                <a:solidFill>
                  <a:srgbClr val="A5A5A5"/>
                </a:solidFill>
                <a:latin typeface="Arial Unicode MS"/>
                <a:cs typeface="Arial Unicode MS"/>
              </a:rPr>
              <a:t>，</a:t>
            </a:r>
            <a:r>
              <a:rPr dirty="0" sz="1200" spc="-5">
                <a:solidFill>
                  <a:srgbClr val="A5A5A5"/>
                </a:solidFill>
                <a:latin typeface="Arial Unicode MS"/>
                <a:cs typeface="Arial Unicode MS"/>
              </a:rPr>
              <a:t>分析结果通常以体积分数表</a:t>
            </a:r>
            <a:r>
              <a:rPr dirty="0" sz="1200" spc="-20">
                <a:solidFill>
                  <a:srgbClr val="A5A5A5"/>
                </a:solidFill>
                <a:latin typeface="Arial Unicode MS"/>
                <a:cs typeface="Arial Unicode MS"/>
              </a:rPr>
              <a:t>示</a:t>
            </a:r>
            <a:r>
              <a:rPr dirty="0" sz="1200" spc="-5">
                <a:solidFill>
                  <a:srgbClr val="A5A5A5"/>
                </a:solidFill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87832" y="3334689"/>
            <a:ext cx="5607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025561" y="3344189"/>
            <a:ext cx="556895" cy="1054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分析化学基础教程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335261" y="3334689"/>
            <a:ext cx="7080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2010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年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月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dirty="0" sz="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34637" y="3334689"/>
            <a:ext cx="3206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55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22110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分析结果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表示方法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2846" y="877097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42277" y="86193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1553" y="806665"/>
            <a:ext cx="359537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solidFill>
                  <a:srgbClr val="3F3FFF"/>
                </a:solidFill>
                <a:latin typeface="Arial Unicode MS"/>
                <a:cs typeface="Arial Unicode MS"/>
              </a:rPr>
              <a:t>对于固体样</a:t>
            </a:r>
            <a:r>
              <a:rPr dirty="0" sz="1200" spc="-80">
                <a:solidFill>
                  <a:srgbClr val="3F3FFF"/>
                </a:solidFill>
                <a:latin typeface="Arial Unicode MS"/>
                <a:cs typeface="Arial Unicode MS"/>
              </a:rPr>
              <a:t>品</a:t>
            </a:r>
            <a:r>
              <a:rPr dirty="0" sz="1200" spc="-185">
                <a:solidFill>
                  <a:srgbClr val="3F3FFF"/>
                </a:solidFill>
                <a:latin typeface="Arial Unicode MS"/>
                <a:cs typeface="Arial Unicode MS"/>
              </a:rPr>
              <a:t>，</a:t>
            </a:r>
            <a:r>
              <a:rPr dirty="0" sz="1200" spc="-5">
                <a:solidFill>
                  <a:srgbClr val="3F3FFF"/>
                </a:solidFill>
                <a:latin typeface="Arial Unicode MS"/>
                <a:cs typeface="Arial Unicode MS"/>
              </a:rPr>
              <a:t>分析结果通常以质量分数表</a:t>
            </a:r>
            <a:r>
              <a:rPr dirty="0" sz="1200" spc="-80">
                <a:solidFill>
                  <a:srgbClr val="3F3FFF"/>
                </a:solidFill>
                <a:latin typeface="Arial Unicode MS"/>
                <a:cs typeface="Arial Unicode MS"/>
              </a:rPr>
              <a:t>示</a:t>
            </a:r>
            <a:r>
              <a:rPr dirty="0" sz="1200" spc="-185">
                <a:solidFill>
                  <a:srgbClr val="3F3FFF"/>
                </a:solidFill>
                <a:latin typeface="Arial Unicode MS"/>
                <a:cs typeface="Arial Unicode MS"/>
              </a:rPr>
              <a:t>，</a:t>
            </a:r>
            <a:r>
              <a:rPr dirty="0" sz="1200" spc="-5">
                <a:solidFill>
                  <a:srgbClr val="3F3FFF"/>
                </a:solidFill>
                <a:latin typeface="Arial Unicode MS"/>
                <a:cs typeface="Arial Unicode MS"/>
              </a:rPr>
              <a:t>如</a:t>
            </a:r>
            <a:r>
              <a:rPr dirty="0" sz="1200" spc="-90">
                <a:solidFill>
                  <a:srgbClr val="3F3FFF"/>
                </a:solidFill>
                <a:latin typeface="Arial Unicode MS"/>
                <a:cs typeface="Arial Unicode MS"/>
              </a:rPr>
              <a:t>下</a:t>
            </a:r>
            <a:r>
              <a:rPr dirty="0" sz="1200" spc="-5">
                <a:solidFill>
                  <a:srgbClr val="3F3FFF"/>
                </a:solidFill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2655" y="1198118"/>
            <a:ext cx="48640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 i="1">
                <a:solidFill>
                  <a:srgbClr val="3F3FFF"/>
                </a:solidFill>
                <a:latin typeface="Calibri"/>
                <a:cs typeface="Calibri"/>
              </a:rPr>
              <a:t>w</a:t>
            </a:r>
            <a:r>
              <a:rPr dirty="0" sz="1100" spc="30">
                <a:solidFill>
                  <a:srgbClr val="3F3FFF"/>
                </a:solidFill>
                <a:latin typeface="Georgia"/>
                <a:cs typeface="Georgia"/>
              </a:rPr>
              <a:t>(A)</a:t>
            </a:r>
            <a:r>
              <a:rPr dirty="0" sz="1100" spc="-35">
                <a:solidFill>
                  <a:srgbClr val="3F3FFF"/>
                </a:solidFill>
                <a:latin typeface="Georgia"/>
                <a:cs typeface="Georgia"/>
              </a:rPr>
              <a:t> </a:t>
            </a:r>
            <a:r>
              <a:rPr dirty="0" sz="1100" spc="140">
                <a:solidFill>
                  <a:srgbClr val="3F3FFF"/>
                </a:solidFill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19845" y="1314729"/>
            <a:ext cx="333375" cy="0"/>
          </a:xfrm>
          <a:custGeom>
            <a:avLst/>
            <a:gdLst/>
            <a:ahLst/>
            <a:cxnLst/>
            <a:rect l="l" t="t" r="r" b="b"/>
            <a:pathLst>
              <a:path w="333375" h="0">
                <a:moveTo>
                  <a:pt x="0" y="0"/>
                </a:moveTo>
                <a:lnTo>
                  <a:pt x="333311" y="0"/>
                </a:lnTo>
              </a:path>
            </a:pathLst>
          </a:custGeom>
          <a:ln w="5537">
            <a:solidFill>
              <a:srgbClr val="3F3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07157" y="1081885"/>
            <a:ext cx="35877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100" spc="85" i="1">
                <a:solidFill>
                  <a:srgbClr val="3F3FFF"/>
                </a:solidFill>
                <a:latin typeface="Calibri"/>
                <a:cs typeface="Calibri"/>
              </a:rPr>
              <a:t>m</a:t>
            </a:r>
            <a:r>
              <a:rPr dirty="0" sz="1100" spc="30">
                <a:solidFill>
                  <a:srgbClr val="3F3FFF"/>
                </a:solidFill>
                <a:latin typeface="Georgia"/>
                <a:cs typeface="Georgia"/>
              </a:rPr>
              <a:t>(A)</a:t>
            </a:r>
            <a:endParaRPr sz="1100">
              <a:latin typeface="Georgia"/>
              <a:cs typeface="Georgia"/>
            </a:endParaRPr>
          </a:p>
          <a:p>
            <a:pPr marL="26034">
              <a:lnSpc>
                <a:spcPct val="100000"/>
              </a:lnSpc>
              <a:spcBef>
                <a:spcPts val="170"/>
              </a:spcBef>
            </a:pPr>
            <a:r>
              <a:rPr dirty="0" sz="1100" spc="20" i="1">
                <a:solidFill>
                  <a:srgbClr val="3F3FFF"/>
                </a:solidFill>
                <a:latin typeface="Calibri"/>
                <a:cs typeface="Calibri"/>
              </a:rPr>
              <a:t>m</a:t>
            </a:r>
            <a:r>
              <a:rPr dirty="0" sz="1100" spc="20">
                <a:solidFill>
                  <a:srgbClr val="3F3FFF"/>
                </a:solidFill>
                <a:latin typeface="Georgia"/>
                <a:cs typeface="Georgia"/>
              </a:rPr>
              <a:t>(S)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79722" y="1198118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solidFill>
                  <a:srgbClr val="3F3FFF"/>
                </a:solidFill>
                <a:latin typeface="Georgia"/>
                <a:cs typeface="Georgia"/>
              </a:rPr>
              <a:t>(3)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6200" rIns="0" bIns="0" rtlCol="0" vert="horz">
            <a:spAutoFit/>
          </a:bodyPr>
          <a:lstStyle/>
          <a:p>
            <a:pPr marL="196850">
              <a:lnSpc>
                <a:spcPct val="100000"/>
              </a:lnSpc>
              <a:spcBef>
                <a:spcPts val="600"/>
              </a:spcBef>
            </a:pPr>
            <a:r>
              <a:rPr dirty="0" spc="-10"/>
              <a:t>其</a:t>
            </a:r>
            <a:r>
              <a:rPr dirty="0" spc="-70"/>
              <a:t>中</a:t>
            </a:r>
            <a:r>
              <a:rPr dirty="0" spc="-10"/>
              <a:t>，</a:t>
            </a:r>
            <a:r>
              <a:rPr dirty="0" sz="1000" spc="-10" i="1">
                <a:latin typeface="Calibri"/>
                <a:cs typeface="Calibri"/>
              </a:rPr>
              <a:t>w</a:t>
            </a:r>
            <a:r>
              <a:rPr dirty="0" sz="1000" spc="-10">
                <a:latin typeface="Georgia"/>
                <a:cs typeface="Georgia"/>
              </a:rPr>
              <a:t>(A)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pc="-5"/>
              <a:t>表示待</a:t>
            </a:r>
            <a:r>
              <a:rPr dirty="0" spc="-10"/>
              <a:t>测</a:t>
            </a:r>
            <a:r>
              <a:rPr dirty="0" spc="-5"/>
              <a:t>组</a:t>
            </a:r>
            <a:r>
              <a:rPr dirty="0" spc="160"/>
              <a:t>分</a:t>
            </a:r>
            <a:r>
              <a:rPr dirty="0" sz="1000" spc="75">
                <a:latin typeface="Georgia"/>
                <a:cs typeface="Georgia"/>
              </a:rPr>
              <a:t>A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pc="-5"/>
              <a:t>的质量分</a:t>
            </a:r>
            <a:r>
              <a:rPr dirty="0" spc="-60"/>
              <a:t>数</a:t>
            </a:r>
            <a:r>
              <a:rPr dirty="0"/>
              <a:t>；</a:t>
            </a:r>
            <a:r>
              <a:rPr dirty="0" sz="1000" i="1">
                <a:latin typeface="Calibri"/>
                <a:cs typeface="Calibri"/>
              </a:rPr>
              <a:t>m</a:t>
            </a:r>
            <a:r>
              <a:rPr dirty="0" sz="1000">
                <a:latin typeface="Georgia"/>
                <a:cs typeface="Georgia"/>
              </a:rPr>
              <a:t>(A)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pc="-5"/>
              <a:t>表示</a:t>
            </a:r>
            <a:r>
              <a:rPr dirty="0" spc="-10"/>
              <a:t>待</a:t>
            </a:r>
            <a:r>
              <a:rPr dirty="0" spc="-5"/>
              <a:t>测组分的质</a:t>
            </a:r>
            <a:endParaRPr sz="1000">
              <a:latin typeface="Georgia"/>
              <a:cs typeface="Georgia"/>
            </a:endParaRPr>
          </a:p>
          <a:p>
            <a:pPr marL="196850">
              <a:lnSpc>
                <a:spcPct val="100000"/>
              </a:lnSpc>
              <a:spcBef>
                <a:spcPts val="500"/>
              </a:spcBef>
            </a:pPr>
            <a:r>
              <a:rPr dirty="0" spc="-60"/>
              <a:t>量</a:t>
            </a:r>
            <a:r>
              <a:rPr dirty="0" spc="-20"/>
              <a:t>；</a:t>
            </a:r>
            <a:r>
              <a:rPr dirty="0" sz="1000" spc="-20" i="1">
                <a:latin typeface="Calibri"/>
                <a:cs typeface="Calibri"/>
              </a:rPr>
              <a:t>m</a:t>
            </a:r>
            <a:r>
              <a:rPr dirty="0" sz="1000" spc="-20">
                <a:latin typeface="Georgia"/>
                <a:cs typeface="Georgia"/>
              </a:rPr>
              <a:t>(S)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pc="-5"/>
              <a:t>是样品</a:t>
            </a:r>
            <a:r>
              <a:rPr dirty="0" spc="-10"/>
              <a:t>的</a:t>
            </a:r>
            <a:r>
              <a:rPr dirty="0" spc="-5"/>
              <a:t>质</a:t>
            </a:r>
            <a:r>
              <a:rPr dirty="0" spc="-20"/>
              <a:t>量</a:t>
            </a:r>
            <a:r>
              <a:rPr dirty="0" spc="-204"/>
              <a:t>。</a:t>
            </a:r>
            <a:r>
              <a:rPr dirty="0" spc="160"/>
              <a:t>当</a:t>
            </a:r>
            <a:r>
              <a:rPr dirty="0" sz="1000" spc="45" i="1">
                <a:latin typeface="Calibri"/>
                <a:cs typeface="Calibri"/>
              </a:rPr>
              <a:t>m</a:t>
            </a:r>
            <a:r>
              <a:rPr dirty="0" sz="1000" spc="45">
                <a:latin typeface="Georgia"/>
                <a:cs typeface="Georgia"/>
              </a:rPr>
              <a:t>(A)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pc="160"/>
              <a:t>和</a:t>
            </a:r>
            <a:r>
              <a:rPr dirty="0" sz="1000" spc="20" i="1">
                <a:latin typeface="Calibri"/>
                <a:cs typeface="Calibri"/>
              </a:rPr>
              <a:t>m</a:t>
            </a:r>
            <a:r>
              <a:rPr dirty="0" sz="1000" spc="20">
                <a:latin typeface="Georgia"/>
                <a:cs typeface="Georgia"/>
              </a:rPr>
              <a:t>(S)</a:t>
            </a:r>
            <a:r>
              <a:rPr dirty="0" sz="1000" spc="-80">
                <a:latin typeface="Georgia"/>
                <a:cs typeface="Georgia"/>
              </a:rPr>
              <a:t> </a:t>
            </a:r>
            <a:r>
              <a:rPr dirty="0" spc="-5"/>
              <a:t>的单位</a:t>
            </a:r>
            <a:r>
              <a:rPr dirty="0" spc="-10"/>
              <a:t>一</a:t>
            </a:r>
            <a:r>
              <a:rPr dirty="0" spc="-5"/>
              <a:t>致</a:t>
            </a:r>
            <a:r>
              <a:rPr dirty="0" spc="-70"/>
              <a:t>时</a:t>
            </a:r>
            <a:r>
              <a:rPr dirty="0" spc="-10"/>
              <a:t>，</a:t>
            </a:r>
            <a:r>
              <a:rPr dirty="0" sz="1000" spc="-10" i="1">
                <a:latin typeface="Calibri"/>
                <a:cs typeface="Calibri"/>
              </a:rPr>
              <a:t>w</a:t>
            </a:r>
            <a:r>
              <a:rPr dirty="0" sz="1000" spc="-10">
                <a:latin typeface="Georgia"/>
                <a:cs typeface="Georgia"/>
              </a:rPr>
              <a:t>(A)</a:t>
            </a:r>
            <a:r>
              <a:rPr dirty="0" sz="1000" spc="-85">
                <a:latin typeface="Georgia"/>
                <a:cs typeface="Georgia"/>
              </a:rPr>
              <a:t> </a:t>
            </a:r>
            <a:r>
              <a:rPr dirty="0" spc="-5"/>
              <a:t>通常以</a:t>
            </a:r>
            <a:endParaRPr sz="1000">
              <a:latin typeface="Georgia"/>
              <a:cs typeface="Georgia"/>
            </a:endParaRPr>
          </a:p>
          <a:p>
            <a:pPr marL="196850">
              <a:lnSpc>
                <a:spcPct val="100000"/>
              </a:lnSpc>
              <a:spcBef>
                <a:spcPts val="505"/>
              </a:spcBef>
            </a:pPr>
            <a:r>
              <a:rPr dirty="0" spc="-5"/>
              <a:t>百</a:t>
            </a:r>
            <a:r>
              <a:rPr dirty="0" spc="-10"/>
              <a:t>分</a:t>
            </a:r>
            <a:r>
              <a:rPr dirty="0" spc="-5"/>
              <a:t>数的形</a:t>
            </a:r>
            <a:r>
              <a:rPr dirty="0" spc="-10"/>
              <a:t>式</a:t>
            </a:r>
            <a:r>
              <a:rPr dirty="0" spc="-5"/>
              <a:t>表</a:t>
            </a:r>
            <a:r>
              <a:rPr dirty="0" spc="-20"/>
              <a:t>示</a:t>
            </a:r>
            <a:r>
              <a:rPr dirty="0" spc="-5"/>
              <a:t>。</a:t>
            </a:r>
          </a:p>
        </p:txBody>
      </p:sp>
      <p:sp>
        <p:nvSpPr>
          <p:cNvPr id="11" name="object 11"/>
          <p:cNvSpPr/>
          <p:nvPr/>
        </p:nvSpPr>
        <p:spPr>
          <a:xfrm>
            <a:off x="222846" y="2344645"/>
            <a:ext cx="110658" cy="1106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2277" y="232949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1553" y="2232723"/>
            <a:ext cx="409067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solidFill>
                  <a:srgbClr val="3F3FFF"/>
                </a:solidFill>
                <a:latin typeface="Arial Unicode MS"/>
                <a:cs typeface="Arial Unicode MS"/>
              </a:rPr>
              <a:t>对于液体样</a:t>
            </a:r>
            <a:r>
              <a:rPr dirty="0" sz="1200" spc="-80">
                <a:solidFill>
                  <a:srgbClr val="3F3FFF"/>
                </a:solidFill>
                <a:latin typeface="Arial Unicode MS"/>
                <a:cs typeface="Arial Unicode MS"/>
              </a:rPr>
              <a:t>品</a:t>
            </a:r>
            <a:r>
              <a:rPr dirty="0" sz="1200" spc="-195">
                <a:solidFill>
                  <a:srgbClr val="3F3FFF"/>
                </a:solidFill>
                <a:latin typeface="Arial Unicode MS"/>
                <a:cs typeface="Arial Unicode MS"/>
              </a:rPr>
              <a:t>，</a:t>
            </a:r>
            <a:r>
              <a:rPr dirty="0" sz="1200" spc="-10">
                <a:solidFill>
                  <a:srgbClr val="3F3FFF"/>
                </a:solidFill>
                <a:latin typeface="Arial Unicode MS"/>
                <a:cs typeface="Arial Unicode MS"/>
              </a:rPr>
              <a:t>分析结果通常是以待测组分的物质的量浓度</a:t>
            </a:r>
            <a:r>
              <a:rPr dirty="0" sz="1200" spc="-5">
                <a:solidFill>
                  <a:srgbClr val="3F3FFF"/>
                </a:solidFill>
                <a:latin typeface="Arial Unicode MS"/>
                <a:cs typeface="Arial Unicode MS"/>
              </a:rPr>
              <a:t>来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solidFill>
                  <a:srgbClr val="3F3FFF"/>
                </a:solidFill>
                <a:latin typeface="Arial Unicode MS"/>
                <a:cs typeface="Arial Unicode MS"/>
              </a:rPr>
              <a:t>表</a:t>
            </a:r>
            <a:r>
              <a:rPr dirty="0" sz="1200" spc="-80">
                <a:solidFill>
                  <a:srgbClr val="3F3FFF"/>
                </a:solidFill>
                <a:latin typeface="Arial Unicode MS"/>
                <a:cs typeface="Arial Unicode MS"/>
              </a:rPr>
              <a:t>示</a:t>
            </a:r>
            <a:r>
              <a:rPr dirty="0" sz="1200" spc="-185">
                <a:solidFill>
                  <a:srgbClr val="3F3FFF"/>
                </a:solidFill>
                <a:latin typeface="Arial Unicode MS"/>
                <a:cs typeface="Arial Unicode MS"/>
              </a:rPr>
              <a:t>，</a:t>
            </a:r>
            <a:r>
              <a:rPr dirty="0" sz="1200" spc="-5">
                <a:solidFill>
                  <a:srgbClr val="3F3FFF"/>
                </a:solidFill>
                <a:latin typeface="Arial Unicode MS"/>
                <a:cs typeface="Arial Unicode MS"/>
              </a:rPr>
              <a:t>有时也以质量分</a:t>
            </a:r>
            <a:r>
              <a:rPr dirty="0" sz="1200" spc="-80">
                <a:solidFill>
                  <a:srgbClr val="3F3FFF"/>
                </a:solidFill>
                <a:latin typeface="Arial Unicode MS"/>
                <a:cs typeface="Arial Unicode MS"/>
              </a:rPr>
              <a:t>数</a:t>
            </a:r>
            <a:r>
              <a:rPr dirty="0" sz="1200" spc="-185">
                <a:solidFill>
                  <a:srgbClr val="3F3FFF"/>
                </a:solidFill>
                <a:latin typeface="Arial Unicode MS"/>
                <a:cs typeface="Arial Unicode MS"/>
              </a:rPr>
              <a:t>，</a:t>
            </a:r>
            <a:r>
              <a:rPr dirty="0" sz="1200" spc="-5">
                <a:solidFill>
                  <a:srgbClr val="3F3FFF"/>
                </a:solidFill>
                <a:latin typeface="Arial Unicode MS"/>
                <a:cs typeface="Arial Unicode MS"/>
              </a:rPr>
              <a:t>体积分数等来表</a:t>
            </a:r>
            <a:r>
              <a:rPr dirty="0" sz="1200" spc="-20">
                <a:solidFill>
                  <a:srgbClr val="3F3FFF"/>
                </a:solidFill>
                <a:latin typeface="Arial Unicode MS"/>
                <a:cs typeface="Arial Unicode MS"/>
              </a:rPr>
              <a:t>示</a:t>
            </a:r>
            <a:r>
              <a:rPr dirty="0" sz="1200" spc="-5">
                <a:solidFill>
                  <a:srgbClr val="3F3FFF"/>
                </a:solidFill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2846" y="2830001"/>
            <a:ext cx="110658" cy="1106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42277" y="281485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1553" y="2759583"/>
            <a:ext cx="318071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solidFill>
                  <a:srgbClr val="0000FF"/>
                </a:solidFill>
                <a:latin typeface="Arial Unicode MS"/>
                <a:cs typeface="Arial Unicode MS"/>
              </a:rPr>
              <a:t>对于气体样</a:t>
            </a:r>
            <a:r>
              <a:rPr dirty="0" sz="1200" spc="-80">
                <a:solidFill>
                  <a:srgbClr val="0000FF"/>
                </a:solidFill>
                <a:latin typeface="Arial Unicode MS"/>
                <a:cs typeface="Arial Unicode MS"/>
              </a:rPr>
              <a:t>品</a:t>
            </a:r>
            <a:r>
              <a:rPr dirty="0" sz="1200" spc="-185">
                <a:solidFill>
                  <a:srgbClr val="0000FF"/>
                </a:solidFill>
                <a:latin typeface="Arial Unicode MS"/>
                <a:cs typeface="Arial Unicode MS"/>
              </a:rPr>
              <a:t>，</a:t>
            </a:r>
            <a:r>
              <a:rPr dirty="0" sz="1200" spc="-5">
                <a:solidFill>
                  <a:srgbClr val="0000FF"/>
                </a:solidFill>
                <a:latin typeface="Arial Unicode MS"/>
                <a:cs typeface="Arial Unicode MS"/>
              </a:rPr>
              <a:t>分析结果通常以体积分数表</a:t>
            </a:r>
            <a:r>
              <a:rPr dirty="0" sz="1200" spc="-20">
                <a:solidFill>
                  <a:srgbClr val="0000FF"/>
                </a:solidFill>
                <a:latin typeface="Arial Unicode MS"/>
                <a:cs typeface="Arial Unicode MS"/>
              </a:rPr>
              <a:t>示</a:t>
            </a:r>
            <a:r>
              <a:rPr dirty="0" sz="1200" spc="-5">
                <a:solidFill>
                  <a:srgbClr val="0000FF"/>
                </a:solidFill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55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95567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分析结果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的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评价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262583"/>
            <a:ext cx="4334510" cy="920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定量分析通常涉及多个步</a:t>
            </a:r>
            <a:r>
              <a:rPr dirty="0" sz="1200" spc="-80">
                <a:latin typeface="Arial Unicode MS"/>
                <a:cs typeface="Arial Unicode MS"/>
              </a:rPr>
              <a:t>骤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每一个步骤都会引入一定的误 </a:t>
            </a:r>
            <a:r>
              <a:rPr dirty="0" sz="1200" spc="-80">
                <a:latin typeface="Arial Unicode MS"/>
                <a:cs typeface="Arial Unicode MS"/>
              </a:rPr>
              <a:t>差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而这些误差最终会传递到最后的结果</a:t>
            </a:r>
            <a:r>
              <a:rPr dirty="0" sz="1200" spc="-20">
                <a:latin typeface="Arial Unicode MS"/>
                <a:cs typeface="Arial Unicode MS"/>
              </a:rPr>
              <a:t>中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因</a:t>
            </a:r>
            <a:r>
              <a:rPr dirty="0" sz="1200" spc="-80">
                <a:latin typeface="Arial Unicode MS"/>
                <a:cs typeface="Arial Unicode MS"/>
              </a:rPr>
              <a:t>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如何评价每一 </a:t>
            </a:r>
            <a:r>
              <a:rPr dirty="0" sz="1200" spc="-5">
                <a:latin typeface="Arial Unicode MS"/>
                <a:cs typeface="Arial Unicode MS"/>
              </a:rPr>
              <a:t>个步骤的误差及最终结果的可信</a:t>
            </a:r>
            <a:r>
              <a:rPr dirty="0" sz="1200" spc="-80">
                <a:latin typeface="Arial Unicode MS"/>
                <a:cs typeface="Arial Unicode MS"/>
              </a:rPr>
              <a:t>度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是定量分析所必不可少的一 个步</a:t>
            </a:r>
            <a:r>
              <a:rPr dirty="0" sz="1200" spc="-20">
                <a:latin typeface="Arial Unicode MS"/>
                <a:cs typeface="Arial Unicode MS"/>
              </a:rPr>
              <a:t>骤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关于这部分的内</a:t>
            </a:r>
            <a:r>
              <a:rPr dirty="0" sz="1200" spc="-80">
                <a:latin typeface="Arial Unicode MS"/>
                <a:cs typeface="Arial Unicode MS"/>
              </a:rPr>
              <a:t>容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将在</a:t>
            </a:r>
            <a:r>
              <a:rPr dirty="0" sz="1200" spc="175">
                <a:latin typeface="Arial Unicode MS"/>
                <a:cs typeface="Arial Unicode MS"/>
              </a:rPr>
              <a:t>第</a:t>
            </a:r>
            <a:r>
              <a:rPr dirty="0" sz="1100" spc="-65">
                <a:latin typeface="Georgia"/>
                <a:cs typeface="Georgia"/>
              </a:rPr>
              <a:t>3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章中进行讨</a:t>
            </a:r>
            <a:r>
              <a:rPr dirty="0" sz="1200" spc="-20">
                <a:latin typeface="Arial Unicode MS"/>
                <a:cs typeface="Arial Unicode MS"/>
              </a:rPr>
              <a:t>论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56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43319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Georgia"/>
                <a:cs typeface="Georgia"/>
              </a:rPr>
              <a:t>2.5.5</a:t>
            </a:r>
            <a:r>
              <a:rPr dirty="0" sz="1000" spc="14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滴定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分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析法的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计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算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2846" y="1556089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2277" y="154092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2846" y="1817735"/>
            <a:ext cx="110658" cy="1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2277" y="180258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553" y="1406194"/>
            <a:ext cx="1391920" cy="54927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标准溶液浓度的计算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待测组分含量的计算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57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22110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标准溶液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浓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度的计算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806322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4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7744" y="981887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8544" y="1587030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9344" y="1574329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0310" y="850557"/>
            <a:ext cx="50749" cy="7364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7743" y="1026156"/>
            <a:ext cx="4432935" cy="612140"/>
          </a:xfrm>
          <a:custGeom>
            <a:avLst/>
            <a:gdLst/>
            <a:ahLst/>
            <a:cxnLst/>
            <a:rect l="l" t="t" r="r" b="b"/>
            <a:pathLst>
              <a:path w="4432935" h="612139">
                <a:moveTo>
                  <a:pt x="4432566" y="0"/>
                </a:moveTo>
                <a:lnTo>
                  <a:pt x="0" y="0"/>
                </a:lnTo>
                <a:lnTo>
                  <a:pt x="0" y="560873"/>
                </a:lnTo>
                <a:lnTo>
                  <a:pt x="4008" y="580598"/>
                </a:lnTo>
                <a:lnTo>
                  <a:pt x="14922" y="596751"/>
                </a:lnTo>
                <a:lnTo>
                  <a:pt x="31075" y="607665"/>
                </a:lnTo>
                <a:lnTo>
                  <a:pt x="50800" y="611673"/>
                </a:lnTo>
                <a:lnTo>
                  <a:pt x="4381765" y="611673"/>
                </a:lnTo>
                <a:lnTo>
                  <a:pt x="4401490" y="607665"/>
                </a:lnTo>
                <a:lnTo>
                  <a:pt x="4417643" y="596751"/>
                </a:lnTo>
                <a:lnTo>
                  <a:pt x="4428558" y="580598"/>
                </a:lnTo>
                <a:lnTo>
                  <a:pt x="4432566" y="560873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888650"/>
            <a:ext cx="0" cy="717550"/>
          </a:xfrm>
          <a:custGeom>
            <a:avLst/>
            <a:gdLst/>
            <a:ahLst/>
            <a:cxnLst/>
            <a:rect l="l" t="t" r="r" b="b"/>
            <a:pathLst>
              <a:path w="0" h="717550">
                <a:moveTo>
                  <a:pt x="0" y="71742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87595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86325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20310" y="85055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7744" y="742949"/>
            <a:ext cx="4434840" cy="86233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400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10">
                <a:solidFill>
                  <a:srgbClr val="FFFFFF"/>
                </a:solidFill>
                <a:latin typeface="Gill Sans MT"/>
                <a:cs typeface="Gill Sans MT"/>
              </a:rPr>
              <a:t>2.2</a:t>
            </a:r>
            <a:endParaRPr sz="1200">
              <a:latin typeface="Gill Sans MT"/>
              <a:cs typeface="Gill Sans MT"/>
            </a:endParaRPr>
          </a:p>
          <a:p>
            <a:pPr algn="just" marL="50800" marR="43180">
              <a:lnSpc>
                <a:spcPct val="107900"/>
              </a:lnSpc>
              <a:spcBef>
                <a:spcPts val="185"/>
              </a:spcBef>
            </a:pPr>
            <a:r>
              <a:rPr dirty="0" sz="1200" spc="-15">
                <a:latin typeface="Arial Unicode MS"/>
                <a:cs typeface="Arial Unicode MS"/>
              </a:rPr>
              <a:t>用硼砂为基准物标定由市售盐酸溶液配</a:t>
            </a:r>
            <a:r>
              <a:rPr dirty="0" sz="1200" spc="175">
                <a:latin typeface="Arial Unicode MS"/>
                <a:cs typeface="Arial Unicode MS"/>
              </a:rPr>
              <a:t>制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200" spc="-15">
                <a:latin typeface="Arial Unicode MS"/>
                <a:cs typeface="Arial Unicode MS"/>
              </a:rPr>
              <a:t>标准溶</a:t>
            </a:r>
            <a:r>
              <a:rPr dirty="0" sz="1200" spc="-25">
                <a:latin typeface="Arial Unicode MS"/>
                <a:cs typeface="Arial Unicode MS"/>
              </a:rPr>
              <a:t>液</a:t>
            </a:r>
            <a:r>
              <a:rPr dirty="0" sz="1200" spc="-305">
                <a:latin typeface="Arial Unicode MS"/>
                <a:cs typeface="Arial Unicode MS"/>
              </a:rPr>
              <a:t>。</a:t>
            </a:r>
            <a:r>
              <a:rPr dirty="0" sz="1200" spc="-15">
                <a:latin typeface="Arial Unicode MS"/>
                <a:cs typeface="Arial Unicode MS"/>
              </a:rPr>
              <a:t>称取的</a:t>
            </a:r>
            <a:r>
              <a:rPr dirty="0" sz="1200" spc="-5">
                <a:latin typeface="Arial Unicode MS"/>
                <a:cs typeface="Arial Unicode MS"/>
              </a:rPr>
              <a:t>硼 砂的量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70">
                <a:latin typeface="Georgia"/>
                <a:cs typeface="Georgia"/>
              </a:rPr>
              <a:t>0</a:t>
            </a:r>
            <a:r>
              <a:rPr dirty="0" sz="1100" spc="-70" i="1">
                <a:latin typeface="Calibri"/>
                <a:cs typeface="Calibri"/>
              </a:rPr>
              <a:t>.</a:t>
            </a:r>
            <a:r>
              <a:rPr dirty="0" sz="1100" spc="-70">
                <a:latin typeface="Georgia"/>
                <a:cs typeface="Georgia"/>
              </a:rPr>
              <a:t>4710g</a:t>
            </a:r>
            <a:r>
              <a:rPr dirty="0" sz="1200" spc="-7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滴定至终点时消</a:t>
            </a:r>
            <a:r>
              <a:rPr dirty="0" sz="1200" spc="175">
                <a:latin typeface="Arial Unicode MS"/>
                <a:cs typeface="Arial Unicode MS"/>
              </a:rPr>
              <a:t>耗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溶液的体积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60">
                <a:latin typeface="Georgia"/>
                <a:cs typeface="Georgia"/>
              </a:rPr>
              <a:t>25.20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mL</a:t>
            </a:r>
            <a:r>
              <a:rPr dirty="0" sz="1200" spc="-5">
                <a:latin typeface="Arial Unicode MS"/>
                <a:cs typeface="Arial Unicode MS"/>
              </a:rPr>
              <a:t>。 </a:t>
            </a:r>
            <a:r>
              <a:rPr dirty="0" sz="1200" spc="175">
                <a:latin typeface="Arial Unicode MS"/>
                <a:cs typeface="Arial Unicode MS"/>
              </a:rPr>
              <a:t>求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溶液的浓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已</a:t>
            </a:r>
            <a:r>
              <a:rPr dirty="0" sz="1200" spc="-90">
                <a:latin typeface="Arial Unicode MS"/>
                <a:cs typeface="Arial Unicode MS"/>
              </a:rPr>
              <a:t>知</a:t>
            </a:r>
            <a:r>
              <a:rPr dirty="0" sz="1200" spc="-30">
                <a:latin typeface="Arial Unicode MS"/>
                <a:cs typeface="Arial Unicode MS"/>
              </a:rPr>
              <a:t>：</a:t>
            </a:r>
            <a:r>
              <a:rPr dirty="0" sz="1000" spc="-30" i="1">
                <a:latin typeface="Calibri"/>
                <a:cs typeface="Calibri"/>
              </a:rPr>
              <a:t>M</a:t>
            </a:r>
            <a:r>
              <a:rPr dirty="0" sz="1000" spc="-120" i="1">
                <a:latin typeface="Calibri"/>
                <a:cs typeface="Calibri"/>
              </a:rPr>
              <a:t> </a:t>
            </a:r>
            <a:r>
              <a:rPr dirty="0" sz="1000" spc="15">
                <a:latin typeface="Georgia"/>
                <a:cs typeface="Georgia"/>
              </a:rPr>
              <a:t>(Na</a:t>
            </a:r>
            <a:r>
              <a:rPr dirty="0" baseline="-11904" sz="1050" spc="22">
                <a:latin typeface="Bauhaus 93"/>
                <a:cs typeface="Bauhaus 93"/>
              </a:rPr>
              <a:t>2</a:t>
            </a:r>
            <a:r>
              <a:rPr dirty="0" sz="1000" spc="15">
                <a:latin typeface="Georgia"/>
                <a:cs typeface="Georgia"/>
              </a:rPr>
              <a:t>B</a:t>
            </a:r>
            <a:r>
              <a:rPr dirty="0" baseline="-11904" sz="1050" spc="22">
                <a:latin typeface="Bauhaus 93"/>
                <a:cs typeface="Bauhaus 93"/>
              </a:rPr>
              <a:t>4</a:t>
            </a:r>
            <a:r>
              <a:rPr dirty="0" sz="1000" spc="15">
                <a:latin typeface="Georgia"/>
                <a:cs typeface="Georgia"/>
              </a:rPr>
              <a:t>O</a:t>
            </a:r>
            <a:r>
              <a:rPr dirty="0" baseline="-11904" sz="1050" spc="22">
                <a:latin typeface="Bauhaus 93"/>
                <a:cs typeface="Bauhaus 93"/>
              </a:rPr>
              <a:t>7</a:t>
            </a:r>
            <a:r>
              <a:rPr dirty="0" baseline="-11904" sz="1050" spc="142">
                <a:latin typeface="Bauhaus 93"/>
                <a:cs typeface="Bauhaus 93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-5">
                <a:latin typeface="Georgia"/>
                <a:cs typeface="Georgia"/>
              </a:rPr>
              <a:t>10H</a:t>
            </a:r>
            <a:r>
              <a:rPr dirty="0" baseline="-11904" sz="1050" spc="-7">
                <a:latin typeface="Bauhaus 93"/>
                <a:cs typeface="Bauhaus 93"/>
              </a:rPr>
              <a:t>2</a:t>
            </a:r>
            <a:r>
              <a:rPr dirty="0" sz="1000" spc="-5">
                <a:latin typeface="Georgia"/>
                <a:cs typeface="Georgia"/>
              </a:rPr>
              <a:t>O)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35">
                <a:latin typeface="Georgia"/>
                <a:cs typeface="Georgia"/>
              </a:rPr>
              <a:t>381</a:t>
            </a:r>
            <a:r>
              <a:rPr dirty="0" sz="1000" spc="-35" i="1">
                <a:latin typeface="Calibri"/>
                <a:cs typeface="Calibri"/>
              </a:rPr>
              <a:t>.</a:t>
            </a:r>
            <a:r>
              <a:rPr dirty="0" sz="1000" spc="-35">
                <a:latin typeface="Georgia"/>
                <a:cs typeface="Georgia"/>
              </a:rPr>
              <a:t>36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58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22110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标准溶液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浓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度的计算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806322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4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5844" y="781621"/>
            <a:ext cx="39243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10">
                <a:solidFill>
                  <a:srgbClr val="FFFFFF"/>
                </a:solidFill>
                <a:latin typeface="Gill Sans MT"/>
                <a:cs typeface="Gill Sans MT"/>
              </a:rPr>
              <a:t>2.2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744" y="981887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8544" y="1587030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9344" y="1574329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850557"/>
            <a:ext cx="50749" cy="7364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7743" y="1026156"/>
            <a:ext cx="4432935" cy="612140"/>
          </a:xfrm>
          <a:custGeom>
            <a:avLst/>
            <a:gdLst/>
            <a:ahLst/>
            <a:cxnLst/>
            <a:rect l="l" t="t" r="r" b="b"/>
            <a:pathLst>
              <a:path w="4432935" h="612139">
                <a:moveTo>
                  <a:pt x="4432566" y="0"/>
                </a:moveTo>
                <a:lnTo>
                  <a:pt x="0" y="0"/>
                </a:lnTo>
                <a:lnTo>
                  <a:pt x="0" y="560873"/>
                </a:lnTo>
                <a:lnTo>
                  <a:pt x="4008" y="580598"/>
                </a:lnTo>
                <a:lnTo>
                  <a:pt x="14922" y="596751"/>
                </a:lnTo>
                <a:lnTo>
                  <a:pt x="31075" y="607665"/>
                </a:lnTo>
                <a:lnTo>
                  <a:pt x="50800" y="611673"/>
                </a:lnTo>
                <a:lnTo>
                  <a:pt x="4381765" y="611673"/>
                </a:lnTo>
                <a:lnTo>
                  <a:pt x="4401490" y="607665"/>
                </a:lnTo>
                <a:lnTo>
                  <a:pt x="4417643" y="596751"/>
                </a:lnTo>
                <a:lnTo>
                  <a:pt x="4428558" y="580598"/>
                </a:lnTo>
                <a:lnTo>
                  <a:pt x="4432566" y="560873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888650"/>
            <a:ext cx="0" cy="717550"/>
          </a:xfrm>
          <a:custGeom>
            <a:avLst/>
            <a:gdLst/>
            <a:ahLst/>
            <a:cxnLst/>
            <a:rect l="l" t="t" r="r" b="b"/>
            <a:pathLst>
              <a:path w="0" h="717550">
                <a:moveTo>
                  <a:pt x="0" y="71742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87595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20310" y="86325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20310" y="850550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9644" y="987310"/>
            <a:ext cx="4511040" cy="1915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88900" marR="81280">
              <a:lnSpc>
                <a:spcPct val="107900"/>
              </a:lnSpc>
              <a:spcBef>
                <a:spcPts val="100"/>
              </a:spcBef>
            </a:pPr>
            <a:r>
              <a:rPr dirty="0" sz="1200" spc="-15">
                <a:latin typeface="Arial Unicode MS"/>
                <a:cs typeface="Arial Unicode MS"/>
              </a:rPr>
              <a:t>用硼砂为基准物标定由市售盐酸溶液配</a:t>
            </a:r>
            <a:r>
              <a:rPr dirty="0" sz="1200" spc="175">
                <a:latin typeface="Arial Unicode MS"/>
                <a:cs typeface="Arial Unicode MS"/>
              </a:rPr>
              <a:t>制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-135">
                <a:latin typeface="Georgia"/>
                <a:cs typeface="Georgia"/>
              </a:rPr>
              <a:t> </a:t>
            </a:r>
            <a:r>
              <a:rPr dirty="0" sz="1200" spc="-15">
                <a:latin typeface="Arial Unicode MS"/>
                <a:cs typeface="Arial Unicode MS"/>
              </a:rPr>
              <a:t>标准溶</a:t>
            </a:r>
            <a:r>
              <a:rPr dirty="0" sz="1200" spc="-25">
                <a:latin typeface="Arial Unicode MS"/>
                <a:cs typeface="Arial Unicode MS"/>
              </a:rPr>
              <a:t>液</a:t>
            </a:r>
            <a:r>
              <a:rPr dirty="0" sz="1200" spc="-305">
                <a:latin typeface="Arial Unicode MS"/>
                <a:cs typeface="Arial Unicode MS"/>
              </a:rPr>
              <a:t>。</a:t>
            </a:r>
            <a:r>
              <a:rPr dirty="0" sz="1200" spc="-15">
                <a:latin typeface="Arial Unicode MS"/>
                <a:cs typeface="Arial Unicode MS"/>
              </a:rPr>
              <a:t>称取的</a:t>
            </a:r>
            <a:r>
              <a:rPr dirty="0" sz="1200" spc="-5">
                <a:latin typeface="Arial Unicode MS"/>
                <a:cs typeface="Arial Unicode MS"/>
              </a:rPr>
              <a:t>硼 砂的量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70">
                <a:latin typeface="Georgia"/>
                <a:cs typeface="Georgia"/>
              </a:rPr>
              <a:t>0</a:t>
            </a:r>
            <a:r>
              <a:rPr dirty="0" sz="1100" spc="-70" i="1">
                <a:latin typeface="Calibri"/>
                <a:cs typeface="Calibri"/>
              </a:rPr>
              <a:t>.</a:t>
            </a:r>
            <a:r>
              <a:rPr dirty="0" sz="1100" spc="-70">
                <a:latin typeface="Georgia"/>
                <a:cs typeface="Georgia"/>
              </a:rPr>
              <a:t>4710g</a:t>
            </a:r>
            <a:r>
              <a:rPr dirty="0" sz="1200" spc="-7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滴定至终点时消</a:t>
            </a:r>
            <a:r>
              <a:rPr dirty="0" sz="1200" spc="175">
                <a:latin typeface="Arial Unicode MS"/>
                <a:cs typeface="Arial Unicode MS"/>
              </a:rPr>
              <a:t>耗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溶液的体积</a:t>
            </a:r>
            <a:r>
              <a:rPr dirty="0" sz="1200" spc="175">
                <a:latin typeface="Arial Unicode MS"/>
                <a:cs typeface="Arial Unicode MS"/>
              </a:rPr>
              <a:t>为</a:t>
            </a:r>
            <a:r>
              <a:rPr dirty="0" sz="1100" spc="-60">
                <a:latin typeface="Georgia"/>
                <a:cs typeface="Georgia"/>
              </a:rPr>
              <a:t>25.20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mL</a:t>
            </a:r>
            <a:r>
              <a:rPr dirty="0" sz="1200" spc="-5">
                <a:latin typeface="Arial Unicode MS"/>
                <a:cs typeface="Arial Unicode MS"/>
              </a:rPr>
              <a:t>。 </a:t>
            </a:r>
            <a:r>
              <a:rPr dirty="0" sz="1200" spc="175">
                <a:latin typeface="Arial Unicode MS"/>
                <a:cs typeface="Arial Unicode MS"/>
              </a:rPr>
              <a:t>求</a:t>
            </a: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溶液的浓</a:t>
            </a:r>
            <a:r>
              <a:rPr dirty="0" sz="1200" spc="-20">
                <a:latin typeface="Arial Unicode MS"/>
                <a:cs typeface="Arial Unicode MS"/>
              </a:rPr>
              <a:t>度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已</a:t>
            </a:r>
            <a:r>
              <a:rPr dirty="0" sz="1200" spc="-90">
                <a:latin typeface="Arial Unicode MS"/>
                <a:cs typeface="Arial Unicode MS"/>
              </a:rPr>
              <a:t>知</a:t>
            </a:r>
            <a:r>
              <a:rPr dirty="0" sz="1200" spc="-30">
                <a:latin typeface="Arial Unicode MS"/>
                <a:cs typeface="Arial Unicode MS"/>
              </a:rPr>
              <a:t>：</a:t>
            </a:r>
            <a:r>
              <a:rPr dirty="0" sz="1000" spc="-30" i="1">
                <a:latin typeface="Calibri"/>
                <a:cs typeface="Calibri"/>
              </a:rPr>
              <a:t>M</a:t>
            </a:r>
            <a:r>
              <a:rPr dirty="0" sz="1000" spc="-120" i="1">
                <a:latin typeface="Calibri"/>
                <a:cs typeface="Calibri"/>
              </a:rPr>
              <a:t> </a:t>
            </a:r>
            <a:r>
              <a:rPr dirty="0" sz="1000" spc="15">
                <a:latin typeface="Georgia"/>
                <a:cs typeface="Georgia"/>
              </a:rPr>
              <a:t>(Na</a:t>
            </a:r>
            <a:r>
              <a:rPr dirty="0" baseline="-11904" sz="1050" spc="22">
                <a:latin typeface="Bauhaus 93"/>
                <a:cs typeface="Bauhaus 93"/>
              </a:rPr>
              <a:t>2</a:t>
            </a:r>
            <a:r>
              <a:rPr dirty="0" sz="1000" spc="15">
                <a:latin typeface="Georgia"/>
                <a:cs typeface="Georgia"/>
              </a:rPr>
              <a:t>B</a:t>
            </a:r>
            <a:r>
              <a:rPr dirty="0" baseline="-11904" sz="1050" spc="22">
                <a:latin typeface="Bauhaus 93"/>
                <a:cs typeface="Bauhaus 93"/>
              </a:rPr>
              <a:t>4</a:t>
            </a:r>
            <a:r>
              <a:rPr dirty="0" sz="1000" spc="15">
                <a:latin typeface="Georgia"/>
                <a:cs typeface="Georgia"/>
              </a:rPr>
              <a:t>O</a:t>
            </a:r>
            <a:r>
              <a:rPr dirty="0" baseline="-11904" sz="1050" spc="22">
                <a:latin typeface="Bauhaus 93"/>
                <a:cs typeface="Bauhaus 93"/>
              </a:rPr>
              <a:t>7</a:t>
            </a:r>
            <a:r>
              <a:rPr dirty="0" baseline="-11904" sz="1050" spc="142">
                <a:latin typeface="Bauhaus 93"/>
                <a:cs typeface="Bauhaus 93"/>
              </a:rPr>
              <a:t> </a:t>
            </a:r>
            <a:r>
              <a:rPr dirty="0" sz="1000" spc="-360">
                <a:latin typeface="Lucida Sans Unicode"/>
                <a:cs typeface="Lucida Sans Unicode"/>
              </a:rPr>
              <a:t>·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-5">
                <a:latin typeface="Georgia"/>
                <a:cs typeface="Georgia"/>
              </a:rPr>
              <a:t>10H</a:t>
            </a:r>
            <a:r>
              <a:rPr dirty="0" baseline="-11904" sz="1050" spc="-7">
                <a:latin typeface="Bauhaus 93"/>
                <a:cs typeface="Bauhaus 93"/>
              </a:rPr>
              <a:t>2</a:t>
            </a:r>
            <a:r>
              <a:rPr dirty="0" sz="1000" spc="-5">
                <a:latin typeface="Georgia"/>
                <a:cs typeface="Georgia"/>
              </a:rPr>
              <a:t>O)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35">
                <a:latin typeface="Georgia"/>
                <a:cs typeface="Georgia"/>
              </a:rPr>
              <a:t>381</a:t>
            </a:r>
            <a:r>
              <a:rPr dirty="0" sz="1000" spc="-35" i="1">
                <a:latin typeface="Calibri"/>
                <a:cs typeface="Calibri"/>
              </a:rPr>
              <a:t>.</a:t>
            </a:r>
            <a:r>
              <a:rPr dirty="0" sz="1000" spc="-35">
                <a:latin typeface="Georgia"/>
                <a:cs typeface="Georgia"/>
              </a:rPr>
              <a:t>36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  <a:p>
            <a:pPr marL="88900">
              <a:lnSpc>
                <a:spcPct val="100000"/>
              </a:lnSpc>
              <a:spcBef>
                <a:spcPts val="1320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-165">
                <a:latin typeface="Arial Unicode MS"/>
                <a:cs typeface="Arial Unicode MS"/>
              </a:rPr>
              <a:t>：</a:t>
            </a:r>
            <a:r>
              <a:rPr dirty="0" sz="1200" spc="-5">
                <a:latin typeface="Arial Unicode MS"/>
                <a:cs typeface="Arial Unicode MS"/>
              </a:rPr>
              <a:t>滴定反应式如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</a:pPr>
            <a:r>
              <a:rPr dirty="0" sz="1100" spc="45">
                <a:latin typeface="Georgia"/>
                <a:cs typeface="Georgia"/>
              </a:rPr>
              <a:t>Na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B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sz="1100" spc="45">
                <a:latin typeface="Georgia"/>
                <a:cs typeface="Georgia"/>
              </a:rPr>
              <a:t>O</a:t>
            </a:r>
            <a:r>
              <a:rPr dirty="0" baseline="-13888" sz="900" spc="67">
                <a:latin typeface="Times New Roman"/>
                <a:cs typeface="Times New Roman"/>
              </a:rPr>
              <a:t>7</a:t>
            </a:r>
            <a:r>
              <a:rPr dirty="0" baseline="-13888" sz="900" spc="202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2HCl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5H</a:t>
            </a:r>
            <a:r>
              <a:rPr dirty="0" baseline="-13888" sz="900" spc="7">
                <a:latin typeface="Times New Roman"/>
                <a:cs typeface="Times New Roman"/>
              </a:rPr>
              <a:t>2</a:t>
            </a:r>
            <a:r>
              <a:rPr dirty="0" sz="1100" spc="5">
                <a:latin typeface="Georgia"/>
                <a:cs typeface="Georgia"/>
              </a:rPr>
              <a:t>O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15">
                <a:latin typeface="Georgia"/>
                <a:cs typeface="Georgia"/>
              </a:rPr>
              <a:t>4H</a:t>
            </a:r>
            <a:r>
              <a:rPr dirty="0" baseline="-13888" sz="900" spc="22">
                <a:latin typeface="Times New Roman"/>
                <a:cs typeface="Times New Roman"/>
              </a:rPr>
              <a:t>3</a:t>
            </a:r>
            <a:r>
              <a:rPr dirty="0" sz="1100" spc="15">
                <a:latin typeface="Georgia"/>
                <a:cs typeface="Georgia"/>
              </a:rPr>
              <a:t>BO</a:t>
            </a:r>
            <a:r>
              <a:rPr dirty="0" baseline="-13888" sz="900" spc="22">
                <a:latin typeface="Times New Roman"/>
                <a:cs typeface="Times New Roman"/>
              </a:rPr>
              <a:t>3</a:t>
            </a:r>
            <a:r>
              <a:rPr dirty="0" baseline="-13888" sz="900" spc="209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2NaCl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Georgia"/>
              <a:cs typeface="Georgia"/>
            </a:endParaRPr>
          </a:p>
          <a:p>
            <a:pPr marL="3924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9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dirty="0" sz="1100" spc="15" i="1">
                <a:latin typeface="Calibri"/>
                <a:cs typeface="Calibri"/>
              </a:rPr>
              <a:t>n</a:t>
            </a:r>
            <a:r>
              <a:rPr dirty="0" sz="1100" spc="15">
                <a:latin typeface="Georgia"/>
                <a:cs typeface="Georgia"/>
              </a:rPr>
              <a:t>(HCl)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70">
                <a:latin typeface="Georgia"/>
                <a:cs typeface="Georgia"/>
              </a:rPr>
              <a:t>2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45" i="1">
                <a:latin typeface="Calibri"/>
                <a:cs typeface="Calibri"/>
              </a:rPr>
              <a:t>n</a:t>
            </a:r>
            <a:r>
              <a:rPr dirty="0" sz="1100" spc="45">
                <a:latin typeface="Georgia"/>
                <a:cs typeface="Georgia"/>
              </a:rPr>
              <a:t>(Na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B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sz="1100" spc="45">
                <a:latin typeface="Georgia"/>
                <a:cs typeface="Georgia"/>
              </a:rPr>
              <a:t>O</a:t>
            </a:r>
            <a:r>
              <a:rPr dirty="0" baseline="-13888" sz="900" spc="67">
                <a:latin typeface="Times New Roman"/>
                <a:cs typeface="Times New Roman"/>
              </a:rPr>
              <a:t>7</a:t>
            </a:r>
            <a:r>
              <a:rPr dirty="0" baseline="-13888" sz="900" spc="22">
                <a:latin typeface="Times New Roman"/>
                <a:cs typeface="Times New Roman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Georgia"/>
                <a:cs typeface="Georgia"/>
              </a:rPr>
              <a:t>10H</a:t>
            </a:r>
            <a:r>
              <a:rPr dirty="0" baseline="-13888" sz="900">
                <a:latin typeface="Times New Roman"/>
                <a:cs typeface="Times New Roman"/>
              </a:rPr>
              <a:t>2</a:t>
            </a:r>
            <a:r>
              <a:rPr dirty="0" sz="1100">
                <a:latin typeface="Georgia"/>
                <a:cs typeface="Georgia"/>
              </a:rPr>
              <a:t>O)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58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1401" y="472897"/>
            <a:ext cx="3187065" cy="782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1340"/>
              </a:lnSpc>
              <a:spcBef>
                <a:spcPts val="95"/>
              </a:spcBef>
            </a:pPr>
            <a:r>
              <a:rPr dirty="0" sz="1200" spc="-90">
                <a:latin typeface="Arial Unicode MS"/>
                <a:cs typeface="Arial Unicode MS"/>
              </a:rPr>
              <a:t>即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algn="r" marR="68580">
              <a:lnSpc>
                <a:spcPts val="1220"/>
              </a:lnSpc>
            </a:pPr>
            <a:r>
              <a:rPr dirty="0" baseline="-37878" sz="1650" i="1">
                <a:latin typeface="Calibri"/>
                <a:cs typeface="Calibri"/>
              </a:rPr>
              <a:t>c</a:t>
            </a:r>
            <a:r>
              <a:rPr dirty="0" baseline="-37878" sz="1650">
                <a:latin typeface="Georgia"/>
                <a:cs typeface="Georgia"/>
              </a:rPr>
              <a:t>(HCl)</a:t>
            </a:r>
            <a:r>
              <a:rPr dirty="0" baseline="-37878" sz="1650" i="1">
                <a:latin typeface="Calibri"/>
                <a:cs typeface="Calibri"/>
              </a:rPr>
              <a:t>V </a:t>
            </a:r>
            <a:r>
              <a:rPr dirty="0" baseline="-37878" sz="1650">
                <a:latin typeface="Georgia"/>
                <a:cs typeface="Georgia"/>
              </a:rPr>
              <a:t>(HCl) </a:t>
            </a:r>
            <a:r>
              <a:rPr dirty="0" baseline="-37878" sz="1650" spc="209">
                <a:latin typeface="Georgia"/>
                <a:cs typeface="Georgia"/>
              </a:rPr>
              <a:t>=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r>
              <a:rPr dirty="0" u="sng" sz="1100" spc="35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(Na</a:t>
            </a:r>
            <a:r>
              <a:rPr dirty="0" u="sng" baseline="-13888" sz="900" spc="5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B</a:t>
            </a:r>
            <a:r>
              <a:rPr dirty="0" u="sng" baseline="-13888" sz="900" spc="5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O</a:t>
            </a:r>
            <a:r>
              <a:rPr dirty="0" u="sng" baseline="-13888" sz="900" spc="52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7</a:t>
            </a:r>
            <a:r>
              <a:rPr dirty="0" u="sng" baseline="-13888" sz="900" spc="2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395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·</a:t>
            </a:r>
            <a:r>
              <a:rPr dirty="0" u="sng" sz="1100" spc="-114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10H</a:t>
            </a:r>
            <a:r>
              <a:rPr dirty="0" u="sng" baseline="-13888" sz="9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O)</a:t>
            </a:r>
            <a:endParaRPr sz="1100">
              <a:latin typeface="Georgia"/>
              <a:cs typeface="Georgia"/>
            </a:endParaRPr>
          </a:p>
          <a:p>
            <a:pPr algn="r" marR="88900">
              <a:lnSpc>
                <a:spcPct val="100000"/>
              </a:lnSpc>
              <a:spcBef>
                <a:spcPts val="165"/>
              </a:spcBef>
            </a:pPr>
            <a:r>
              <a:rPr dirty="0" sz="1100" spc="114" i="1">
                <a:latin typeface="Calibri"/>
                <a:cs typeface="Calibri"/>
              </a:rPr>
              <a:t>M</a:t>
            </a:r>
            <a:r>
              <a:rPr dirty="0" sz="1100" spc="-70" i="1">
                <a:latin typeface="Calibri"/>
                <a:cs typeface="Calibri"/>
              </a:rPr>
              <a:t> </a:t>
            </a:r>
            <a:r>
              <a:rPr dirty="0" sz="1100" spc="40">
                <a:latin typeface="Georgia"/>
                <a:cs typeface="Georgia"/>
              </a:rPr>
              <a:t>(Na</a:t>
            </a:r>
            <a:r>
              <a:rPr dirty="0" baseline="-13888" sz="900" spc="60">
                <a:latin typeface="Times New Roman"/>
                <a:cs typeface="Times New Roman"/>
              </a:rPr>
              <a:t>2</a:t>
            </a:r>
            <a:r>
              <a:rPr dirty="0" sz="1100" spc="40">
                <a:latin typeface="Georgia"/>
                <a:cs typeface="Georgia"/>
              </a:rPr>
              <a:t>B</a:t>
            </a:r>
            <a:r>
              <a:rPr dirty="0" baseline="-13888" sz="900" spc="60">
                <a:latin typeface="Times New Roman"/>
                <a:cs typeface="Times New Roman"/>
              </a:rPr>
              <a:t>4</a:t>
            </a:r>
            <a:r>
              <a:rPr dirty="0" sz="1100" spc="40">
                <a:latin typeface="Georgia"/>
                <a:cs typeface="Georgia"/>
              </a:rPr>
              <a:t>O</a:t>
            </a:r>
            <a:r>
              <a:rPr dirty="0" baseline="-13888" sz="900" spc="60">
                <a:latin typeface="Times New Roman"/>
                <a:cs typeface="Times New Roman"/>
              </a:rPr>
              <a:t>7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3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Georgia"/>
                <a:cs typeface="Georgia"/>
              </a:rPr>
              <a:t>10H</a:t>
            </a:r>
            <a:r>
              <a:rPr dirty="0" baseline="-13888" sz="900">
                <a:latin typeface="Times New Roman"/>
                <a:cs typeface="Times New Roman"/>
              </a:rPr>
              <a:t>2</a:t>
            </a:r>
            <a:r>
              <a:rPr dirty="0" sz="1100">
                <a:latin typeface="Georgia"/>
                <a:cs typeface="Georgia"/>
              </a:rPr>
              <a:t>O)</a:t>
            </a:r>
            <a:endParaRPr sz="11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475"/>
              </a:spcBef>
            </a:pPr>
            <a:r>
              <a:rPr dirty="0" sz="1100" spc="-5">
                <a:latin typeface="Georgia"/>
                <a:cs typeface="Georgia"/>
              </a:rPr>
              <a:t>HCl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溶液的浓度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70469" y="1518628"/>
            <a:ext cx="13735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381</a:t>
            </a:r>
            <a:r>
              <a:rPr dirty="0" sz="1100" spc="-40" i="1">
                <a:latin typeface="Calibri"/>
                <a:cs typeface="Calibri"/>
              </a:rPr>
              <a:t>.</a:t>
            </a:r>
            <a:r>
              <a:rPr dirty="0" sz="1100" spc="-40">
                <a:latin typeface="Georgia"/>
                <a:cs typeface="Georgia"/>
              </a:rPr>
              <a:t>36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60">
                <a:latin typeface="Georgia"/>
                <a:cs typeface="Georgia"/>
              </a:rPr>
              <a:t>25</a:t>
            </a:r>
            <a:r>
              <a:rPr dirty="0" sz="1100" spc="-60" i="1">
                <a:latin typeface="Calibri"/>
                <a:cs typeface="Calibri"/>
              </a:rPr>
              <a:t>.</a:t>
            </a:r>
            <a:r>
              <a:rPr dirty="0" sz="1100" spc="-60">
                <a:latin typeface="Georgia"/>
                <a:cs typeface="Georgia"/>
              </a:rPr>
              <a:t>20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10</a:t>
            </a:r>
            <a:r>
              <a:rPr dirty="0" baseline="27777" sz="900" spc="82" i="1">
                <a:latin typeface="Arial"/>
                <a:cs typeface="Arial"/>
              </a:rPr>
              <a:t>−</a:t>
            </a:r>
            <a:r>
              <a:rPr dirty="0" baseline="27777" sz="900" spc="82">
                <a:latin typeface="Times New Roman"/>
                <a:cs typeface="Times New Roman"/>
              </a:rPr>
              <a:t>3</a:t>
            </a:r>
            <a:endParaRPr baseline="27777"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0400" y="1423593"/>
            <a:ext cx="32873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988060" algn="l"/>
                <a:tab pos="1951355" algn="l"/>
              </a:tabLst>
            </a:pPr>
            <a:r>
              <a:rPr dirty="0" sz="1100" i="1">
                <a:latin typeface="Calibri"/>
                <a:cs typeface="Calibri"/>
              </a:rPr>
              <a:t>c</a:t>
            </a:r>
            <a:r>
              <a:rPr dirty="0" sz="1100">
                <a:latin typeface="Georgia"/>
                <a:cs typeface="Georgia"/>
              </a:rPr>
              <a:t>(HCl)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u="sng" baseline="37878" sz="1650" spc="209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	</a:t>
            </a:r>
            <a:r>
              <a:rPr dirty="0" u="sng" baseline="37878" sz="1650" spc="-104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2</a:t>
            </a:r>
            <a:r>
              <a:rPr dirty="0" u="sng" baseline="37878" sz="1650" spc="-37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baseline="37878" sz="1650" spc="-44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×</a:t>
            </a:r>
            <a:r>
              <a:rPr dirty="0" u="sng" baseline="37878" sz="1650" spc="-157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baseline="37878" sz="1650" spc="-67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baseline="37878" sz="1650" spc="-67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.</a:t>
            </a:r>
            <a:r>
              <a:rPr dirty="0" u="sng" baseline="37878" sz="1650" spc="-67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4710	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70">
                <a:latin typeface="Georgia"/>
                <a:cs typeface="Georgia"/>
              </a:rPr>
              <a:t>0</a:t>
            </a:r>
            <a:r>
              <a:rPr dirty="0" sz="1100" spc="-70" i="1">
                <a:latin typeface="Calibri"/>
                <a:cs typeface="Calibri"/>
              </a:rPr>
              <a:t>.</a:t>
            </a:r>
            <a:r>
              <a:rPr dirty="0" sz="1100" spc="-70">
                <a:latin typeface="Georgia"/>
                <a:cs typeface="Georgia"/>
              </a:rPr>
              <a:t>09802(mol</a:t>
            </a:r>
            <a:r>
              <a:rPr dirty="0" sz="1100" spc="-160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20">
                <a:latin typeface="Lucida Sans Unicode"/>
                <a:cs typeface="Lucida Sans Unicode"/>
              </a:rPr>
              <a:t> </a:t>
            </a:r>
            <a:r>
              <a:rPr dirty="0" sz="1100" spc="90">
                <a:latin typeface="Georgia"/>
                <a:cs typeface="Georgia"/>
              </a:rPr>
              <a:t>L</a:t>
            </a:r>
            <a:r>
              <a:rPr dirty="0" baseline="41666" sz="900" spc="135" i="1">
                <a:latin typeface="Arial"/>
                <a:cs typeface="Arial"/>
              </a:rPr>
              <a:t>−</a:t>
            </a:r>
            <a:r>
              <a:rPr dirty="0" baseline="41666" sz="900" spc="135">
                <a:latin typeface="Times New Roman"/>
                <a:cs typeface="Times New Roman"/>
              </a:rPr>
              <a:t>1</a:t>
            </a:r>
            <a:r>
              <a:rPr dirty="0" sz="1100" spc="9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743" y="2198953"/>
            <a:ext cx="4432935" cy="186055"/>
          </a:xfrm>
          <a:custGeom>
            <a:avLst/>
            <a:gdLst/>
            <a:ahLst/>
            <a:cxnLst/>
            <a:rect l="l" t="t" r="r" b="b"/>
            <a:pathLst>
              <a:path w="4432935" h="1860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5630"/>
                </a:lnTo>
                <a:lnTo>
                  <a:pt x="4432566" y="18563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7744" y="2371928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8544" y="2577109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9344" y="2564409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2243188"/>
            <a:ext cx="50749" cy="33392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7743" y="2416214"/>
            <a:ext cx="4432935" cy="212090"/>
          </a:xfrm>
          <a:custGeom>
            <a:avLst/>
            <a:gdLst/>
            <a:ahLst/>
            <a:cxnLst/>
            <a:rect l="l" t="t" r="r" b="b"/>
            <a:pathLst>
              <a:path w="4432935" h="212089">
                <a:moveTo>
                  <a:pt x="4432566" y="0"/>
                </a:moveTo>
                <a:lnTo>
                  <a:pt x="0" y="0"/>
                </a:lnTo>
                <a:lnTo>
                  <a:pt x="0" y="160895"/>
                </a:lnTo>
                <a:lnTo>
                  <a:pt x="4008" y="180619"/>
                </a:lnTo>
                <a:lnTo>
                  <a:pt x="14922" y="196772"/>
                </a:lnTo>
                <a:lnTo>
                  <a:pt x="31075" y="207686"/>
                </a:lnTo>
                <a:lnTo>
                  <a:pt x="50800" y="211695"/>
                </a:lnTo>
                <a:lnTo>
                  <a:pt x="4381765" y="211695"/>
                </a:lnTo>
                <a:lnTo>
                  <a:pt x="4401490" y="207686"/>
                </a:lnTo>
                <a:lnTo>
                  <a:pt x="4417643" y="196772"/>
                </a:lnTo>
                <a:lnTo>
                  <a:pt x="4428558" y="180619"/>
                </a:lnTo>
                <a:lnTo>
                  <a:pt x="4432566" y="160895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2281289"/>
            <a:ext cx="0" cy="314960"/>
          </a:xfrm>
          <a:custGeom>
            <a:avLst/>
            <a:gdLst/>
            <a:ahLst/>
            <a:cxnLst/>
            <a:rect l="l" t="t" r="r" b="b"/>
            <a:pathLst>
              <a:path w="0" h="314960">
                <a:moveTo>
                  <a:pt x="0" y="314870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20310" y="226858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20310" y="225588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20310" y="224318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25844" y="2144090"/>
            <a:ext cx="4398010" cy="45339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200" spc="-5">
                <a:solidFill>
                  <a:srgbClr val="FFFFFF"/>
                </a:solidFill>
                <a:latin typeface="Arial Unicode MS"/>
                <a:cs typeface="Arial Unicode MS"/>
              </a:rPr>
              <a:t>问题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dirty="0" sz="1200" spc="-10">
                <a:latin typeface="Arial Unicode MS"/>
                <a:cs typeface="Arial Unicode MS"/>
              </a:rPr>
              <a:t>如果所使用的硼砂失去了部分结晶</a:t>
            </a:r>
            <a:r>
              <a:rPr dirty="0" sz="1200" spc="-80">
                <a:latin typeface="Arial Unicode MS"/>
                <a:cs typeface="Arial Unicode MS"/>
              </a:rPr>
              <a:t>水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请问对标定结果有何影</a:t>
            </a:r>
            <a:r>
              <a:rPr dirty="0" sz="1200" spc="65">
                <a:latin typeface="Arial Unicode MS"/>
                <a:cs typeface="Arial Unicode MS"/>
              </a:rPr>
              <a:t>响</a:t>
            </a:r>
            <a:r>
              <a:rPr dirty="0" sz="1200" spc="-5">
                <a:latin typeface="Arial Unicode MS"/>
                <a:cs typeface="Arial Unicode MS"/>
              </a:rPr>
              <a:t>？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59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22110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待测组分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含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量的计算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621067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7744" y="796633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8544" y="1668792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9344" y="1656092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0310" y="665302"/>
            <a:ext cx="50749" cy="10034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7743" y="840895"/>
            <a:ext cx="4432935" cy="878840"/>
          </a:xfrm>
          <a:custGeom>
            <a:avLst/>
            <a:gdLst/>
            <a:ahLst/>
            <a:cxnLst/>
            <a:rect l="l" t="t" r="r" b="b"/>
            <a:pathLst>
              <a:path w="4432935" h="878839">
                <a:moveTo>
                  <a:pt x="4432566" y="0"/>
                </a:moveTo>
                <a:lnTo>
                  <a:pt x="0" y="0"/>
                </a:lnTo>
                <a:lnTo>
                  <a:pt x="0" y="827897"/>
                </a:lnTo>
                <a:lnTo>
                  <a:pt x="4008" y="847621"/>
                </a:lnTo>
                <a:lnTo>
                  <a:pt x="14922" y="863774"/>
                </a:lnTo>
                <a:lnTo>
                  <a:pt x="31075" y="874689"/>
                </a:lnTo>
                <a:lnTo>
                  <a:pt x="50800" y="878697"/>
                </a:lnTo>
                <a:lnTo>
                  <a:pt x="4381765" y="878697"/>
                </a:lnTo>
                <a:lnTo>
                  <a:pt x="4401490" y="874689"/>
                </a:lnTo>
                <a:lnTo>
                  <a:pt x="4417643" y="863774"/>
                </a:lnTo>
                <a:lnTo>
                  <a:pt x="4428558" y="847621"/>
                </a:lnTo>
                <a:lnTo>
                  <a:pt x="4432566" y="827897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703389"/>
            <a:ext cx="0" cy="984885"/>
          </a:xfrm>
          <a:custGeom>
            <a:avLst/>
            <a:gdLst/>
            <a:ahLst/>
            <a:cxnLst/>
            <a:rect l="l" t="t" r="r" b="b"/>
            <a:pathLst>
              <a:path w="0" h="984885">
                <a:moveTo>
                  <a:pt x="0" y="984453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69068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67798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20310" y="66528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7744" y="560578"/>
            <a:ext cx="4377690" cy="113284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10">
                <a:solidFill>
                  <a:srgbClr val="FFFFFF"/>
                </a:solidFill>
                <a:latin typeface="Gill Sans MT"/>
                <a:cs typeface="Gill Sans MT"/>
              </a:rPr>
              <a:t>2.3</a:t>
            </a:r>
            <a:endParaRPr sz="1200">
              <a:latin typeface="Gill Sans MT"/>
              <a:cs typeface="Gill Sans MT"/>
            </a:endParaRPr>
          </a:p>
          <a:p>
            <a:pPr marL="50800" marR="43180">
              <a:lnSpc>
                <a:spcPts val="1760"/>
              </a:lnSpc>
              <a:spcBef>
                <a:spcPts val="70"/>
              </a:spcBef>
            </a:pPr>
            <a:r>
              <a:rPr dirty="0" sz="1200" spc="-5">
                <a:latin typeface="Arial Unicode MS"/>
                <a:cs typeface="Arial Unicode MS"/>
              </a:rPr>
              <a:t>称取铁矿石试</a:t>
            </a:r>
            <a:r>
              <a:rPr dirty="0" sz="1200" spc="175">
                <a:latin typeface="Arial Unicode MS"/>
                <a:cs typeface="Arial Unicode MS"/>
              </a:rPr>
              <a:t>样</a:t>
            </a:r>
            <a:r>
              <a:rPr dirty="0" sz="1100" spc="-95">
                <a:latin typeface="Georgia"/>
                <a:cs typeface="Georgia"/>
              </a:rPr>
              <a:t>0.5000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z="1100" spc="-140">
                <a:latin typeface="Georgia"/>
                <a:cs typeface="Georgia"/>
              </a:rPr>
              <a:t>g</a:t>
            </a:r>
            <a:r>
              <a:rPr dirty="0" sz="1200" spc="-14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将其溶解且使全部铁还原为亚铁离</a:t>
            </a:r>
            <a:r>
              <a:rPr dirty="0" sz="1200" spc="-20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。 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-70">
                <a:latin typeface="Georgia"/>
                <a:cs typeface="Georgia"/>
              </a:rPr>
              <a:t>0.01500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100">
                <a:latin typeface="Georgia"/>
                <a:cs typeface="Georgia"/>
              </a:rPr>
              <a:t>L</a:t>
            </a:r>
            <a:r>
              <a:rPr dirty="0" baseline="37037" sz="900" spc="150" i="1">
                <a:latin typeface="Arial"/>
                <a:cs typeface="Arial"/>
              </a:rPr>
              <a:t>−</a:t>
            </a:r>
            <a:r>
              <a:rPr dirty="0" baseline="37037" sz="900" spc="150">
                <a:latin typeface="Times New Roman"/>
                <a:cs typeface="Times New Roman"/>
              </a:rPr>
              <a:t>1</a:t>
            </a:r>
            <a:r>
              <a:rPr dirty="0" baseline="37037" sz="900" spc="120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60">
                <a:latin typeface="Georgia"/>
                <a:cs typeface="Georgia"/>
              </a:rPr>
              <a:t>K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Cr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O</a:t>
            </a:r>
            <a:r>
              <a:rPr dirty="0" baseline="-13888" sz="900" spc="89">
                <a:latin typeface="Times New Roman"/>
                <a:cs typeface="Times New Roman"/>
              </a:rPr>
              <a:t>7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标准溶液滴定至终点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用去 </a:t>
            </a:r>
            <a:r>
              <a:rPr dirty="0" sz="1100" spc="60">
                <a:latin typeface="Georgia"/>
                <a:cs typeface="Georgia"/>
              </a:rPr>
              <a:t>K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Cr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O</a:t>
            </a:r>
            <a:r>
              <a:rPr dirty="0" baseline="-13888" sz="900" spc="89">
                <a:latin typeface="Times New Roman"/>
                <a:cs typeface="Times New Roman"/>
              </a:rPr>
              <a:t>7</a:t>
            </a:r>
            <a:r>
              <a:rPr dirty="0" baseline="-13888" sz="900" spc="9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</a:t>
            </a:r>
            <a:r>
              <a:rPr dirty="0" sz="1200" spc="175">
                <a:latin typeface="Arial Unicode MS"/>
                <a:cs typeface="Arial Unicode MS"/>
              </a:rPr>
              <a:t>液</a:t>
            </a:r>
            <a:r>
              <a:rPr dirty="0" sz="1100" spc="-50">
                <a:latin typeface="Georgia"/>
                <a:cs typeface="Georgia"/>
              </a:rPr>
              <a:t>33.45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mL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求试样中铁的质量分</a:t>
            </a:r>
            <a:r>
              <a:rPr dirty="0" sz="1200" spc="-80">
                <a:latin typeface="Arial Unicode MS"/>
                <a:cs typeface="Arial Unicode MS"/>
              </a:rPr>
              <a:t>数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分别</a:t>
            </a:r>
            <a:r>
              <a:rPr dirty="0" sz="1200" spc="175">
                <a:latin typeface="Arial Unicode MS"/>
                <a:cs typeface="Arial Unicode MS"/>
              </a:rPr>
              <a:t>以</a:t>
            </a:r>
            <a:r>
              <a:rPr dirty="0" sz="1100" spc="-45">
                <a:latin typeface="Georgia"/>
                <a:cs typeface="Georgia"/>
              </a:rPr>
              <a:t>Fe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 </a:t>
            </a:r>
            <a:r>
              <a:rPr dirty="0" sz="1100" spc="20">
                <a:latin typeface="Georgia"/>
                <a:cs typeface="Georgia"/>
              </a:rPr>
              <a:t>Fe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O</a:t>
            </a:r>
            <a:r>
              <a:rPr dirty="0" baseline="-13888" sz="900" spc="30">
                <a:latin typeface="Times New Roman"/>
                <a:cs typeface="Times New Roman"/>
              </a:rPr>
              <a:t>3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的形式表示分析结</a:t>
            </a:r>
            <a:r>
              <a:rPr dirty="0" sz="1200" spc="-20">
                <a:latin typeface="Arial Unicode MS"/>
                <a:cs typeface="Arial Unicode MS"/>
              </a:rPr>
              <a:t>果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0176" y="192722"/>
            <a:ext cx="122110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待测组分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含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量的计算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743" y="621067"/>
            <a:ext cx="4432935" cy="188595"/>
          </a:xfrm>
          <a:custGeom>
            <a:avLst/>
            <a:gdLst/>
            <a:ahLst/>
            <a:cxnLst/>
            <a:rect l="l" t="t" r="r" b="b"/>
            <a:pathLst>
              <a:path w="4432935" h="18859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8212"/>
                </a:lnTo>
                <a:lnTo>
                  <a:pt x="4432566" y="188212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7744" y="796633"/>
            <a:ext cx="4432565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8544" y="1668792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9344" y="1656092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665302"/>
            <a:ext cx="50749" cy="10034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7743" y="840895"/>
            <a:ext cx="4432935" cy="878840"/>
          </a:xfrm>
          <a:custGeom>
            <a:avLst/>
            <a:gdLst/>
            <a:ahLst/>
            <a:cxnLst/>
            <a:rect l="l" t="t" r="r" b="b"/>
            <a:pathLst>
              <a:path w="4432935" h="878839">
                <a:moveTo>
                  <a:pt x="4432566" y="0"/>
                </a:moveTo>
                <a:lnTo>
                  <a:pt x="0" y="0"/>
                </a:lnTo>
                <a:lnTo>
                  <a:pt x="0" y="827897"/>
                </a:lnTo>
                <a:lnTo>
                  <a:pt x="4008" y="847621"/>
                </a:lnTo>
                <a:lnTo>
                  <a:pt x="14922" y="863774"/>
                </a:lnTo>
                <a:lnTo>
                  <a:pt x="31075" y="874689"/>
                </a:lnTo>
                <a:lnTo>
                  <a:pt x="50800" y="878697"/>
                </a:lnTo>
                <a:lnTo>
                  <a:pt x="4381765" y="878697"/>
                </a:lnTo>
                <a:lnTo>
                  <a:pt x="4401490" y="874689"/>
                </a:lnTo>
                <a:lnTo>
                  <a:pt x="4417643" y="863774"/>
                </a:lnTo>
                <a:lnTo>
                  <a:pt x="4428558" y="847621"/>
                </a:lnTo>
                <a:lnTo>
                  <a:pt x="4432566" y="827897"/>
                </a:lnTo>
                <a:lnTo>
                  <a:pt x="4432566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703389"/>
            <a:ext cx="0" cy="984885"/>
          </a:xfrm>
          <a:custGeom>
            <a:avLst/>
            <a:gdLst/>
            <a:ahLst/>
            <a:cxnLst/>
            <a:rect l="l" t="t" r="r" b="b"/>
            <a:pathLst>
              <a:path w="0" h="984885">
                <a:moveTo>
                  <a:pt x="0" y="984453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69068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20310" y="67798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20310" y="665289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5044" y="560578"/>
            <a:ext cx="4403090" cy="147701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375"/>
              </a:spcBef>
            </a:pPr>
            <a:r>
              <a:rPr dirty="0" sz="1200" spc="190">
                <a:solidFill>
                  <a:srgbClr val="FFFFFF"/>
                </a:solidFill>
                <a:latin typeface="Arial Unicode MS"/>
                <a:cs typeface="Arial Unicode MS"/>
              </a:rPr>
              <a:t>例</a:t>
            </a:r>
            <a:r>
              <a:rPr dirty="0" sz="1200" spc="10">
                <a:solidFill>
                  <a:srgbClr val="FFFFFF"/>
                </a:solidFill>
                <a:latin typeface="Gill Sans MT"/>
                <a:cs typeface="Gill Sans MT"/>
              </a:rPr>
              <a:t>2.3</a:t>
            </a:r>
            <a:endParaRPr sz="1200">
              <a:latin typeface="Gill Sans MT"/>
              <a:cs typeface="Gill Sans MT"/>
            </a:endParaRPr>
          </a:p>
          <a:p>
            <a:pPr marL="63500" marR="55880">
              <a:lnSpc>
                <a:spcPts val="1760"/>
              </a:lnSpc>
              <a:spcBef>
                <a:spcPts val="70"/>
              </a:spcBef>
            </a:pPr>
            <a:r>
              <a:rPr dirty="0" sz="1200" spc="-5">
                <a:latin typeface="Arial Unicode MS"/>
                <a:cs typeface="Arial Unicode MS"/>
              </a:rPr>
              <a:t>称取铁矿石试</a:t>
            </a:r>
            <a:r>
              <a:rPr dirty="0" sz="1200" spc="175">
                <a:latin typeface="Arial Unicode MS"/>
                <a:cs typeface="Arial Unicode MS"/>
              </a:rPr>
              <a:t>样</a:t>
            </a:r>
            <a:r>
              <a:rPr dirty="0" sz="1100" spc="-95">
                <a:latin typeface="Georgia"/>
                <a:cs typeface="Georgia"/>
              </a:rPr>
              <a:t>0.5000</a:t>
            </a:r>
            <a:r>
              <a:rPr dirty="0" sz="1100" spc="-125">
                <a:latin typeface="Georgia"/>
                <a:cs typeface="Georgia"/>
              </a:rPr>
              <a:t> </a:t>
            </a:r>
            <a:r>
              <a:rPr dirty="0" sz="1100" spc="-140">
                <a:latin typeface="Georgia"/>
                <a:cs typeface="Georgia"/>
              </a:rPr>
              <a:t>g</a:t>
            </a:r>
            <a:r>
              <a:rPr dirty="0" sz="1200" spc="-14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将其溶解且使全部铁还原为亚铁离</a:t>
            </a:r>
            <a:r>
              <a:rPr dirty="0" sz="1200" spc="-20">
                <a:latin typeface="Arial Unicode MS"/>
                <a:cs typeface="Arial Unicode MS"/>
              </a:rPr>
              <a:t>子</a:t>
            </a:r>
            <a:r>
              <a:rPr dirty="0" sz="1200" spc="-5">
                <a:latin typeface="Arial Unicode MS"/>
                <a:cs typeface="Arial Unicode MS"/>
              </a:rPr>
              <a:t>。 </a:t>
            </a:r>
            <a:r>
              <a:rPr dirty="0" sz="1200" spc="175">
                <a:latin typeface="Arial Unicode MS"/>
                <a:cs typeface="Arial Unicode MS"/>
              </a:rPr>
              <a:t>用</a:t>
            </a:r>
            <a:r>
              <a:rPr dirty="0" sz="1100" spc="-70">
                <a:latin typeface="Georgia"/>
                <a:cs typeface="Georgia"/>
              </a:rPr>
              <a:t>0.01500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100">
                <a:latin typeface="Georgia"/>
                <a:cs typeface="Georgia"/>
              </a:rPr>
              <a:t>L</a:t>
            </a:r>
            <a:r>
              <a:rPr dirty="0" baseline="37037" sz="900" spc="150" i="1">
                <a:latin typeface="Arial"/>
                <a:cs typeface="Arial"/>
              </a:rPr>
              <a:t>−</a:t>
            </a:r>
            <a:r>
              <a:rPr dirty="0" baseline="37037" sz="900" spc="150">
                <a:latin typeface="Times New Roman"/>
                <a:cs typeface="Times New Roman"/>
              </a:rPr>
              <a:t>1</a:t>
            </a:r>
            <a:r>
              <a:rPr dirty="0" baseline="37037" sz="900" spc="120">
                <a:latin typeface="Times New Roman"/>
                <a:cs typeface="Times New Roman"/>
              </a:rPr>
              <a:t> </a:t>
            </a:r>
            <a:r>
              <a:rPr dirty="0" sz="1200" spc="175">
                <a:latin typeface="Arial Unicode MS"/>
                <a:cs typeface="Arial Unicode MS"/>
              </a:rPr>
              <a:t>的</a:t>
            </a:r>
            <a:r>
              <a:rPr dirty="0" sz="1100" spc="60">
                <a:latin typeface="Georgia"/>
                <a:cs typeface="Georgia"/>
              </a:rPr>
              <a:t>K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Cr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O</a:t>
            </a:r>
            <a:r>
              <a:rPr dirty="0" baseline="-13888" sz="900" spc="89">
                <a:latin typeface="Times New Roman"/>
                <a:cs typeface="Times New Roman"/>
              </a:rPr>
              <a:t>7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标准溶液滴定至终点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用去 </a:t>
            </a:r>
            <a:r>
              <a:rPr dirty="0" sz="1100" spc="60">
                <a:latin typeface="Georgia"/>
                <a:cs typeface="Georgia"/>
              </a:rPr>
              <a:t>K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Cr</a:t>
            </a:r>
            <a:r>
              <a:rPr dirty="0" baseline="-13888" sz="900" spc="89">
                <a:latin typeface="Times New Roman"/>
                <a:cs typeface="Times New Roman"/>
              </a:rPr>
              <a:t>2</a:t>
            </a:r>
            <a:r>
              <a:rPr dirty="0" sz="1100" spc="60">
                <a:latin typeface="Georgia"/>
                <a:cs typeface="Georgia"/>
              </a:rPr>
              <a:t>O</a:t>
            </a:r>
            <a:r>
              <a:rPr dirty="0" baseline="-13888" sz="900" spc="89">
                <a:latin typeface="Times New Roman"/>
                <a:cs typeface="Times New Roman"/>
              </a:rPr>
              <a:t>7</a:t>
            </a:r>
            <a:r>
              <a:rPr dirty="0" baseline="-13888" sz="900" spc="9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</a:t>
            </a:r>
            <a:r>
              <a:rPr dirty="0" sz="1200" spc="175">
                <a:latin typeface="Arial Unicode MS"/>
                <a:cs typeface="Arial Unicode MS"/>
              </a:rPr>
              <a:t>液</a:t>
            </a:r>
            <a:r>
              <a:rPr dirty="0" sz="1100" spc="-50">
                <a:latin typeface="Georgia"/>
                <a:cs typeface="Georgia"/>
              </a:rPr>
              <a:t>33.45</a:t>
            </a:r>
            <a:r>
              <a:rPr dirty="0" sz="1100" spc="-100">
                <a:latin typeface="Georgia"/>
                <a:cs typeface="Georgia"/>
              </a:rPr>
              <a:t> </a:t>
            </a:r>
            <a:r>
              <a:rPr dirty="0" sz="1100" spc="-30">
                <a:latin typeface="Georgia"/>
                <a:cs typeface="Georgia"/>
              </a:rPr>
              <a:t>mL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求试样中铁的质量分</a:t>
            </a:r>
            <a:r>
              <a:rPr dirty="0" sz="1200" spc="-80">
                <a:latin typeface="Arial Unicode MS"/>
                <a:cs typeface="Arial Unicode MS"/>
              </a:rPr>
              <a:t>数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分别</a:t>
            </a:r>
            <a:r>
              <a:rPr dirty="0" sz="1200" spc="175">
                <a:latin typeface="Arial Unicode MS"/>
                <a:cs typeface="Arial Unicode MS"/>
              </a:rPr>
              <a:t>以</a:t>
            </a:r>
            <a:r>
              <a:rPr dirty="0" sz="1100" spc="-45">
                <a:latin typeface="Georgia"/>
                <a:cs typeface="Georgia"/>
              </a:rPr>
              <a:t>Fe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 </a:t>
            </a:r>
            <a:r>
              <a:rPr dirty="0" sz="1100" spc="20">
                <a:latin typeface="Georgia"/>
                <a:cs typeface="Georgia"/>
              </a:rPr>
              <a:t>Fe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O</a:t>
            </a:r>
            <a:r>
              <a:rPr dirty="0" baseline="-13888" sz="900" spc="30">
                <a:latin typeface="Times New Roman"/>
                <a:cs typeface="Times New Roman"/>
              </a:rPr>
              <a:t>3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的形式表示分析结</a:t>
            </a:r>
            <a:r>
              <a:rPr dirty="0" sz="1200" spc="-20">
                <a:latin typeface="Arial Unicode MS"/>
                <a:cs typeface="Arial Unicode MS"/>
              </a:rPr>
              <a:t>果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1160"/>
              </a:spcBef>
            </a:pPr>
            <a:r>
              <a:rPr dirty="0" sz="1200" spc="-90">
                <a:latin typeface="Arial Unicode MS"/>
                <a:cs typeface="Arial Unicode MS"/>
              </a:rPr>
              <a:t>解</a:t>
            </a:r>
            <a:r>
              <a:rPr dirty="0" sz="1200" spc="35">
                <a:latin typeface="Arial Unicode MS"/>
                <a:cs typeface="Arial Unicode MS"/>
              </a:rPr>
              <a:t>：</a:t>
            </a:r>
            <a:r>
              <a:rPr dirty="0" sz="1100" spc="35">
                <a:latin typeface="Georgia"/>
                <a:cs typeface="Georgia"/>
              </a:rPr>
              <a:t>K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Cr</a:t>
            </a:r>
            <a:r>
              <a:rPr dirty="0" baseline="-13888" sz="900" spc="52">
                <a:latin typeface="Times New Roman"/>
                <a:cs typeface="Times New Roman"/>
              </a:rPr>
              <a:t>2</a:t>
            </a:r>
            <a:r>
              <a:rPr dirty="0" sz="1100" spc="35">
                <a:latin typeface="Georgia"/>
                <a:cs typeface="Georgia"/>
              </a:rPr>
              <a:t>O</a:t>
            </a:r>
            <a:r>
              <a:rPr dirty="0" baseline="-13888" sz="900" spc="52">
                <a:latin typeface="Times New Roman"/>
                <a:cs typeface="Times New Roman"/>
              </a:rPr>
              <a:t>7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</a:t>
            </a:r>
            <a:r>
              <a:rPr dirty="0" sz="1200" spc="175">
                <a:latin typeface="Arial Unicode MS"/>
                <a:cs typeface="Arial Unicode MS"/>
              </a:rPr>
              <a:t>定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2+</a:t>
            </a:r>
            <a:r>
              <a:rPr dirty="0" baseline="37037" sz="900" spc="1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0462" y="228898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20940" y="2211006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20940" y="230245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6132" y="2205583"/>
            <a:ext cx="8451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83870" algn="l"/>
              </a:tabLst>
            </a:pPr>
            <a:r>
              <a:rPr dirty="0" sz="1100" spc="25">
                <a:latin typeface="Georgia"/>
                <a:cs typeface="Georgia"/>
              </a:rPr>
              <a:t>Cr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	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80">
                <a:latin typeface="Georgia"/>
                <a:cs typeface="Georgia"/>
              </a:rPr>
              <a:t> </a:t>
            </a:r>
            <a:r>
              <a:rPr dirty="0" sz="1100" spc="-60">
                <a:latin typeface="Georgia"/>
                <a:cs typeface="Georgia"/>
              </a:rPr>
              <a:t>6Fe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25828" y="2211006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61336" y="2211006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80336" y="2205583"/>
            <a:ext cx="8921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0">
                <a:latin typeface="Georgia"/>
                <a:cs typeface="Georgia"/>
              </a:rPr>
              <a:t>14H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5">
                <a:latin typeface="Georgia"/>
                <a:cs typeface="Georgia"/>
              </a:rPr>
              <a:t> 2Cr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46972" y="2211006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01480" y="2205583"/>
            <a:ext cx="3740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85">
                <a:latin typeface="Georgia"/>
                <a:cs typeface="Georgia"/>
              </a:rPr>
              <a:t> </a:t>
            </a:r>
            <a:r>
              <a:rPr dirty="0" sz="1100" spc="-60">
                <a:latin typeface="Georgia"/>
                <a:cs typeface="Georgia"/>
              </a:rPr>
              <a:t>6Fe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49765" y="2211006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15994" y="2288984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04260" y="2205583"/>
            <a:ext cx="4978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45">
                <a:latin typeface="Georgia"/>
                <a:cs typeface="Georgia"/>
              </a:rPr>
              <a:t>7H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6801" y="2555176"/>
            <a:ext cx="2736850" cy="576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滴定反应的计量关系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marL="1088390">
              <a:lnSpc>
                <a:spcPts val="990"/>
              </a:lnSpc>
            </a:pPr>
            <a:r>
              <a:rPr dirty="0" sz="1100" spc="50" i="1">
                <a:latin typeface="Calibri"/>
                <a:cs typeface="Calibri"/>
              </a:rPr>
              <a:t>n</a:t>
            </a:r>
            <a:r>
              <a:rPr dirty="0" sz="1100" spc="50">
                <a:latin typeface="Georgia"/>
                <a:cs typeface="Georgia"/>
              </a:rPr>
              <a:t>(Fe</a:t>
            </a:r>
            <a:r>
              <a:rPr dirty="0" baseline="41666" sz="900" spc="75">
                <a:latin typeface="Times New Roman"/>
                <a:cs typeface="Times New Roman"/>
              </a:rPr>
              <a:t>2+</a:t>
            </a:r>
            <a:r>
              <a:rPr dirty="0" sz="1100" spc="5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80">
                <a:latin typeface="Georgia"/>
                <a:cs typeface="Georgia"/>
              </a:rPr>
              <a:t>6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60" i="1">
                <a:latin typeface="Calibri"/>
                <a:cs typeface="Calibri"/>
              </a:rPr>
              <a:t>n</a:t>
            </a:r>
            <a:r>
              <a:rPr dirty="0" sz="1100" spc="60">
                <a:latin typeface="Georgia"/>
                <a:cs typeface="Georgia"/>
              </a:rPr>
              <a:t>(K </a:t>
            </a:r>
            <a:r>
              <a:rPr dirty="0" sz="1100" spc="25">
                <a:latin typeface="Georgia"/>
                <a:cs typeface="Georgia"/>
              </a:rPr>
              <a:t>Cr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-14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algn="r" marR="102870">
              <a:lnSpc>
                <a:spcPts val="390"/>
              </a:lnSpc>
              <a:tabLst>
                <a:tab pos="206375" algn="l"/>
              </a:tabLst>
            </a:pPr>
            <a:r>
              <a:rPr dirty="0" sz="600" spc="65">
                <a:latin typeface="Times New Roman"/>
                <a:cs typeface="Times New Roman"/>
              </a:rPr>
              <a:t>2	2</a:t>
            </a:r>
            <a:r>
              <a:rPr dirty="0" sz="600" spc="21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60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501" y="310413"/>
            <a:ext cx="3187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90">
                <a:latin typeface="Arial Unicode MS"/>
                <a:cs typeface="Arial Unicode MS"/>
              </a:rPr>
              <a:t>即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24013" y="679145"/>
            <a:ext cx="494030" cy="0"/>
          </a:xfrm>
          <a:custGeom>
            <a:avLst/>
            <a:gdLst/>
            <a:ahLst/>
            <a:cxnLst/>
            <a:rect l="l" t="t" r="r" b="b"/>
            <a:pathLst>
              <a:path w="494030" h="0">
                <a:moveTo>
                  <a:pt x="0" y="0"/>
                </a:moveTo>
                <a:lnTo>
                  <a:pt x="49358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59230" y="657567"/>
            <a:ext cx="4235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14" i="1">
                <a:latin typeface="Calibri"/>
                <a:cs typeface="Calibri"/>
              </a:rPr>
              <a:t>M</a:t>
            </a:r>
            <a:r>
              <a:rPr dirty="0" sz="1100" spc="-175" i="1">
                <a:latin typeface="Calibri"/>
                <a:cs typeface="Calibri"/>
              </a:rPr>
              <a:t> </a:t>
            </a:r>
            <a:r>
              <a:rPr dirty="0" sz="1100" spc="-20">
                <a:latin typeface="Georgia"/>
                <a:cs typeface="Georgia"/>
              </a:rPr>
              <a:t>(Fe)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pc="50" i="1">
                <a:latin typeface="Calibri"/>
                <a:cs typeface="Calibri"/>
              </a:rPr>
              <a:t>m</a:t>
            </a:r>
            <a:r>
              <a:rPr dirty="0" spc="50"/>
              <a:t>(Fe</a:t>
            </a:r>
            <a:r>
              <a:rPr dirty="0" baseline="37037" sz="900" spc="75">
                <a:latin typeface="Times New Roman"/>
                <a:cs typeface="Times New Roman"/>
              </a:rPr>
              <a:t>2+</a:t>
            </a:r>
            <a:r>
              <a:rPr dirty="0" sz="1100" spc="50"/>
              <a:t>) </a:t>
            </a:r>
            <a:r>
              <a:rPr dirty="0" baseline="-37878" sz="1650" spc="209"/>
              <a:t>=</a:t>
            </a:r>
            <a:r>
              <a:rPr dirty="0" baseline="-37878" sz="1650" spc="112"/>
              <a:t> </a:t>
            </a:r>
            <a:r>
              <a:rPr dirty="0" baseline="-37878" sz="1650" spc="-120"/>
              <a:t>6</a:t>
            </a:r>
            <a:endParaRPr baseline="-37878" sz="1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65006" y="645934"/>
            <a:ext cx="2794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907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4860" y="562533"/>
            <a:ext cx="8597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35" i="1">
                <a:latin typeface="Calibri"/>
                <a:cs typeface="Calibri"/>
              </a:rPr>
              <a:t>c</a:t>
            </a:r>
            <a:r>
              <a:rPr dirty="0" sz="1100" spc="35">
                <a:latin typeface="Georgia"/>
                <a:cs typeface="Georgia"/>
              </a:rPr>
              <a:t>(K </a:t>
            </a:r>
            <a:r>
              <a:rPr dirty="0" sz="1100" spc="25">
                <a:latin typeface="Georgia"/>
                <a:cs typeface="Georgia"/>
              </a:rPr>
              <a:t>Cr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12363" y="645934"/>
            <a:ext cx="4394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9075" algn="l"/>
              </a:tabLst>
            </a:pPr>
            <a:r>
              <a:rPr dirty="0" sz="600" spc="65">
                <a:latin typeface="Times New Roman"/>
                <a:cs typeface="Times New Roman"/>
              </a:rPr>
              <a:t>2	2</a:t>
            </a:r>
            <a:r>
              <a:rPr dirty="0" sz="600" spc="22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32519" y="562533"/>
            <a:ext cx="8794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-13888" sz="900" spc="97">
                <a:latin typeface="Times New Roman"/>
                <a:cs typeface="Times New Roman"/>
              </a:rPr>
              <a:t>7 </a:t>
            </a:r>
            <a:r>
              <a:rPr dirty="0" sz="1100" spc="10" i="1">
                <a:latin typeface="Calibri"/>
                <a:cs typeface="Calibri"/>
              </a:rPr>
              <a:t>V </a:t>
            </a:r>
            <a:r>
              <a:rPr dirty="0" sz="1100" spc="45">
                <a:latin typeface="Georgia"/>
                <a:cs typeface="Georgia"/>
              </a:rPr>
              <a:t>(K </a:t>
            </a:r>
            <a:r>
              <a:rPr dirty="0" sz="1100" spc="25">
                <a:latin typeface="Georgia"/>
                <a:cs typeface="Georgia"/>
              </a:rPr>
              <a:t>Cr 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sz="1100" spc="15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401" y="875995"/>
            <a:ext cx="3489960" cy="14566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5">
                <a:latin typeface="Arial Unicode MS"/>
                <a:cs typeface="Arial Unicode MS"/>
              </a:rPr>
              <a:t>，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marL="436880">
              <a:lnSpc>
                <a:spcPts val="990"/>
              </a:lnSpc>
            </a:pPr>
            <a:r>
              <a:rPr dirty="0" sz="1100" spc="50" i="1">
                <a:latin typeface="Calibri"/>
                <a:cs typeface="Calibri"/>
              </a:rPr>
              <a:t>m</a:t>
            </a:r>
            <a:r>
              <a:rPr dirty="0" sz="1100" spc="50">
                <a:latin typeface="Georgia"/>
                <a:cs typeface="Georgia"/>
              </a:rPr>
              <a:t>(Fe</a:t>
            </a:r>
            <a:r>
              <a:rPr dirty="0" baseline="41666" sz="900" spc="75">
                <a:latin typeface="Times New Roman"/>
                <a:cs typeface="Times New Roman"/>
              </a:rPr>
              <a:t>2+</a:t>
            </a:r>
            <a:r>
              <a:rPr dirty="0" sz="1100" spc="50">
                <a:latin typeface="Georgia"/>
                <a:cs typeface="Georgia"/>
              </a:rPr>
              <a:t>)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80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6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35" i="1">
                <a:latin typeface="Calibri"/>
                <a:cs typeface="Calibri"/>
              </a:rPr>
              <a:t>c</a:t>
            </a:r>
            <a:r>
              <a:rPr dirty="0" sz="1100" spc="35">
                <a:latin typeface="Georgia"/>
                <a:cs typeface="Georgia"/>
              </a:rPr>
              <a:t>(K </a:t>
            </a:r>
            <a:r>
              <a:rPr dirty="0" sz="1100" spc="25">
                <a:latin typeface="Georgia"/>
                <a:cs typeface="Georgia"/>
              </a:rPr>
              <a:t>Cr </a:t>
            </a:r>
            <a:r>
              <a:rPr dirty="0" sz="1100" spc="30">
                <a:latin typeface="Georgia"/>
                <a:cs typeface="Georgia"/>
              </a:rPr>
              <a:t>O 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sz="1100" spc="5" i="1">
                <a:latin typeface="Calibri"/>
                <a:cs typeface="Calibri"/>
              </a:rPr>
              <a:t>V </a:t>
            </a:r>
            <a:r>
              <a:rPr dirty="0" sz="1100" spc="45">
                <a:latin typeface="Georgia"/>
                <a:cs typeface="Georgia"/>
              </a:rPr>
              <a:t>(K </a:t>
            </a:r>
            <a:r>
              <a:rPr dirty="0" sz="1100" spc="25">
                <a:latin typeface="Georgia"/>
                <a:cs typeface="Georgia"/>
              </a:rPr>
              <a:t>Cr </a:t>
            </a:r>
            <a:r>
              <a:rPr dirty="0" sz="1100" spc="30">
                <a:latin typeface="Georgia"/>
                <a:cs typeface="Georgia"/>
              </a:rPr>
              <a:t>O </a:t>
            </a:r>
            <a:r>
              <a:rPr dirty="0" sz="1100" spc="60">
                <a:latin typeface="Georgia"/>
                <a:cs typeface="Georgia"/>
              </a:rPr>
              <a:t>)</a:t>
            </a:r>
            <a:r>
              <a:rPr dirty="0" sz="1100" spc="60" i="1">
                <a:latin typeface="Calibri"/>
                <a:cs typeface="Calibri"/>
              </a:rPr>
              <a:t>M </a:t>
            </a:r>
            <a:r>
              <a:rPr dirty="0" sz="1100" spc="-20">
                <a:latin typeface="Georgia"/>
                <a:cs typeface="Georgia"/>
              </a:rPr>
              <a:t>(Fe)</a:t>
            </a:r>
            <a:endParaRPr sz="1100">
              <a:latin typeface="Georgia"/>
              <a:cs typeface="Georgia"/>
            </a:endParaRPr>
          </a:p>
          <a:p>
            <a:pPr marL="1751330">
              <a:lnSpc>
                <a:spcPts val="390"/>
              </a:lnSpc>
              <a:tabLst>
                <a:tab pos="1958339" algn="l"/>
                <a:tab pos="2498725" algn="l"/>
                <a:tab pos="2705735" algn="l"/>
              </a:tabLst>
            </a:pPr>
            <a:r>
              <a:rPr dirty="0" sz="600" spc="65">
                <a:latin typeface="Times New Roman"/>
                <a:cs typeface="Times New Roman"/>
              </a:rPr>
              <a:t>2	2   </a:t>
            </a:r>
            <a:r>
              <a:rPr dirty="0" sz="600" spc="10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7	2	2</a:t>
            </a:r>
            <a:r>
              <a:rPr dirty="0" sz="600" spc="8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7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550">
              <a:latin typeface="Times New Roman"/>
              <a:cs typeface="Times New Roman"/>
            </a:endParaRPr>
          </a:p>
          <a:p>
            <a:pPr marL="1057275">
              <a:lnSpc>
                <a:spcPct val="100000"/>
              </a:lnSpc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80">
                <a:latin typeface="Georgia"/>
                <a:cs typeface="Georgia"/>
              </a:rPr>
              <a:t>6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70">
                <a:latin typeface="Georgia"/>
                <a:cs typeface="Georgia"/>
              </a:rPr>
              <a:t>0</a:t>
            </a:r>
            <a:r>
              <a:rPr dirty="0" sz="1100" spc="-70" i="1">
                <a:latin typeface="Calibri"/>
                <a:cs typeface="Calibri"/>
              </a:rPr>
              <a:t>.</a:t>
            </a:r>
            <a:r>
              <a:rPr dirty="0" sz="1100" spc="-70">
                <a:latin typeface="Georgia"/>
                <a:cs typeface="Georgia"/>
              </a:rPr>
              <a:t>01500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45">
                <a:latin typeface="Georgia"/>
                <a:cs typeface="Georgia"/>
              </a:rPr>
              <a:t>33</a:t>
            </a:r>
            <a:r>
              <a:rPr dirty="0" sz="1100" spc="-45" i="1">
                <a:latin typeface="Calibri"/>
                <a:cs typeface="Calibri"/>
              </a:rPr>
              <a:t>.</a:t>
            </a:r>
            <a:r>
              <a:rPr dirty="0" sz="1100" spc="-45">
                <a:latin typeface="Georgia"/>
                <a:cs typeface="Georgia"/>
              </a:rPr>
              <a:t>45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55">
                <a:latin typeface="Georgia"/>
                <a:cs typeface="Georgia"/>
              </a:rPr>
              <a:t>10</a:t>
            </a:r>
            <a:r>
              <a:rPr dirty="0" baseline="41666" sz="900" spc="82" i="1">
                <a:latin typeface="Arial"/>
                <a:cs typeface="Arial"/>
              </a:rPr>
              <a:t>−</a:t>
            </a:r>
            <a:r>
              <a:rPr dirty="0" baseline="41666" sz="900" spc="82">
                <a:latin typeface="Times New Roman"/>
                <a:cs typeface="Times New Roman"/>
              </a:rPr>
              <a:t>3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10">
                <a:latin typeface="Lucida Sans Unicode"/>
                <a:cs typeface="Lucida Sans Unicode"/>
              </a:rPr>
              <a:t> </a:t>
            </a:r>
            <a:r>
              <a:rPr dirty="0" sz="1100" spc="-40">
                <a:latin typeface="Georgia"/>
                <a:cs typeface="Georgia"/>
              </a:rPr>
              <a:t>55</a:t>
            </a:r>
            <a:r>
              <a:rPr dirty="0" sz="1100" spc="-40" i="1">
                <a:latin typeface="Calibri"/>
                <a:cs typeface="Calibri"/>
              </a:rPr>
              <a:t>.</a:t>
            </a:r>
            <a:r>
              <a:rPr dirty="0" sz="1100" spc="-40">
                <a:latin typeface="Georgia"/>
                <a:cs typeface="Georgia"/>
              </a:rPr>
              <a:t>85</a:t>
            </a:r>
            <a:endParaRPr sz="1100">
              <a:latin typeface="Georgia"/>
              <a:cs typeface="Georgia"/>
            </a:endParaRPr>
          </a:p>
          <a:p>
            <a:pPr marL="1057275">
              <a:lnSpc>
                <a:spcPct val="100000"/>
              </a:lnSpc>
              <a:spcBef>
                <a:spcPts val="74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20">
                <a:latin typeface="Georgia"/>
                <a:cs typeface="Georgia"/>
              </a:rPr>
              <a:t>0</a:t>
            </a:r>
            <a:r>
              <a:rPr dirty="0" sz="1100" spc="-20" i="1">
                <a:latin typeface="Calibri"/>
                <a:cs typeface="Calibri"/>
              </a:rPr>
              <a:t>.</a:t>
            </a:r>
            <a:r>
              <a:rPr dirty="0" sz="1100" spc="-20">
                <a:latin typeface="Georgia"/>
                <a:cs typeface="Georgia"/>
              </a:rPr>
              <a:t>1681(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g)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175">
                <a:latin typeface="Arial Unicode MS"/>
                <a:cs typeface="Arial Unicode MS"/>
              </a:rPr>
              <a:t>以</a:t>
            </a:r>
            <a:r>
              <a:rPr dirty="0" sz="1100" spc="-45">
                <a:latin typeface="Georgia"/>
                <a:cs typeface="Georgia"/>
              </a:rPr>
              <a:t>Fe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的形式表示分析结果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质量分数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3211" y="2516047"/>
            <a:ext cx="6388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i="1">
                <a:latin typeface="Calibri"/>
                <a:cs typeface="Calibri"/>
              </a:rPr>
              <a:t>w</a:t>
            </a:r>
            <a:r>
              <a:rPr dirty="0" sz="1100" spc="-10">
                <a:latin typeface="Georgia"/>
                <a:cs typeface="Georgia"/>
              </a:rPr>
              <a:t>(Fe)%</a:t>
            </a:r>
            <a:r>
              <a:rPr dirty="0" sz="1100" spc="-2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82420" y="2632659"/>
            <a:ext cx="494030" cy="0"/>
          </a:xfrm>
          <a:custGeom>
            <a:avLst/>
            <a:gdLst/>
            <a:ahLst/>
            <a:cxnLst/>
            <a:rect l="l" t="t" r="r" b="b"/>
            <a:pathLst>
              <a:path w="494030" h="0">
                <a:moveTo>
                  <a:pt x="0" y="0"/>
                </a:moveTo>
                <a:lnTo>
                  <a:pt x="49358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421790" y="2611082"/>
            <a:ext cx="1473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5" i="1">
                <a:latin typeface="Calibri"/>
                <a:cs typeface="Calibri"/>
              </a:rPr>
              <a:t>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3430" y="2694495"/>
            <a:ext cx="831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i="1">
                <a:latin typeface="Arial"/>
                <a:cs typeface="Arial"/>
              </a:rPr>
              <a:t>S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1607" y="2422321"/>
            <a:ext cx="16751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251585" algn="l"/>
              </a:tabLst>
            </a:pPr>
            <a:r>
              <a:rPr dirty="0" sz="1100" spc="50" i="1">
                <a:latin typeface="Calibri"/>
                <a:cs typeface="Calibri"/>
              </a:rPr>
              <a:t>m</a:t>
            </a:r>
            <a:r>
              <a:rPr dirty="0" sz="1100" spc="50">
                <a:latin typeface="Georgia"/>
                <a:cs typeface="Georgia"/>
              </a:rPr>
              <a:t>(Fe</a:t>
            </a:r>
            <a:r>
              <a:rPr dirty="0" baseline="37037" sz="900" spc="75">
                <a:latin typeface="Times New Roman"/>
                <a:cs typeface="Times New Roman"/>
              </a:rPr>
              <a:t>2+</a:t>
            </a:r>
            <a:r>
              <a:rPr dirty="0" sz="1100" spc="50">
                <a:latin typeface="Georgia"/>
                <a:cs typeface="Georgia"/>
              </a:rPr>
              <a:t>)	</a:t>
            </a:r>
            <a:r>
              <a:rPr dirty="0" sz="1100" spc="-30">
                <a:latin typeface="Georgia"/>
                <a:cs typeface="Georgia"/>
              </a:rPr>
              <a:t>0</a:t>
            </a:r>
            <a:r>
              <a:rPr dirty="0" sz="1100" spc="-30" i="1">
                <a:latin typeface="Calibri"/>
                <a:cs typeface="Calibri"/>
              </a:rPr>
              <a:t>.</a:t>
            </a:r>
            <a:r>
              <a:rPr dirty="0" sz="1100" spc="-30">
                <a:latin typeface="Georgia"/>
                <a:cs typeface="Georgia"/>
              </a:rPr>
              <a:t>1681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83700" y="2632659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4" h="0">
                <a:moveTo>
                  <a:pt x="0" y="0"/>
                </a:moveTo>
                <a:lnTo>
                  <a:pt x="38484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783867" y="2516047"/>
            <a:ext cx="22466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45">
                <a:latin typeface="Georgia"/>
                <a:cs typeface="Georgia"/>
              </a:rPr>
              <a:t>100%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baseline="-37878" sz="1650" spc="-135">
                <a:latin typeface="Georgia"/>
                <a:cs typeface="Georgia"/>
              </a:rPr>
              <a:t>0</a:t>
            </a:r>
            <a:r>
              <a:rPr dirty="0" baseline="-37878" sz="1650" spc="-135" i="1">
                <a:latin typeface="Calibri"/>
                <a:cs typeface="Calibri"/>
              </a:rPr>
              <a:t>.</a:t>
            </a:r>
            <a:r>
              <a:rPr dirty="0" baseline="-37878" sz="1650" spc="-135">
                <a:latin typeface="Georgia"/>
                <a:cs typeface="Georgia"/>
              </a:rPr>
              <a:t>5000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45">
                <a:latin typeface="Georgia"/>
                <a:cs typeface="Georgia"/>
              </a:rPr>
              <a:t>100%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33</a:t>
            </a:r>
            <a:r>
              <a:rPr dirty="0" sz="1100" spc="-40" i="1">
                <a:latin typeface="Calibri"/>
                <a:cs typeface="Calibri"/>
              </a:rPr>
              <a:t>.</a:t>
            </a:r>
            <a:r>
              <a:rPr dirty="0" sz="1100" spc="-40">
                <a:latin typeface="Georgia"/>
                <a:cs typeface="Georgia"/>
              </a:rPr>
              <a:t>63%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r>
              <a:rPr dirty="0" spc="65"/>
              <a:t>61</a:t>
            </a:r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62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144" y="340652"/>
            <a:ext cx="4366895" cy="473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00" marR="177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175">
                <a:latin typeface="Arial Unicode MS"/>
                <a:cs typeface="Arial Unicode MS"/>
              </a:rPr>
              <a:t>以</a:t>
            </a:r>
            <a:r>
              <a:rPr dirty="0" spc="20"/>
              <a:t>Fe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/>
              <a:t>O</a:t>
            </a:r>
            <a:r>
              <a:rPr dirty="0" baseline="-13888" sz="900" spc="30">
                <a:latin typeface="Times New Roman"/>
                <a:cs typeface="Times New Roman"/>
              </a:rPr>
              <a:t>3</a:t>
            </a:r>
            <a:r>
              <a:rPr dirty="0" baseline="-13888" sz="9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的形式表示分析结果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由于对同一试样存在如下 的计量关</a:t>
            </a:r>
            <a:r>
              <a:rPr dirty="0" sz="1200" spc="-90">
                <a:latin typeface="Arial Unicode MS"/>
                <a:cs typeface="Arial Unicode MS"/>
              </a:rPr>
              <a:t>系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28952" y="842835"/>
            <a:ext cx="13506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Calibri"/>
                <a:cs typeface="Calibri"/>
              </a:rPr>
              <a:t>n</a:t>
            </a:r>
            <a:r>
              <a:rPr dirty="0" sz="1100">
                <a:latin typeface="Georgia"/>
                <a:cs typeface="Georgia"/>
              </a:rPr>
              <a:t>(Fe)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70">
                <a:latin typeface="Georgia"/>
                <a:cs typeface="Georgia"/>
              </a:rPr>
              <a:t>2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30" i="1">
                <a:latin typeface="Calibri"/>
                <a:cs typeface="Calibri"/>
              </a:rPr>
              <a:t>n</a:t>
            </a:r>
            <a:r>
              <a:rPr dirty="0" sz="1100" spc="30">
                <a:latin typeface="Georgia"/>
                <a:cs typeface="Georgia"/>
              </a:rPr>
              <a:t>(Fe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baseline="-13888" sz="900" spc="44">
                <a:latin typeface="Times New Roman"/>
                <a:cs typeface="Times New Roman"/>
              </a:rPr>
              <a:t>3</a:t>
            </a:r>
            <a:r>
              <a:rPr dirty="0" sz="1100" spc="3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144" y="340652"/>
            <a:ext cx="4366895" cy="473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00" marR="177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当</a:t>
            </a:r>
            <a:r>
              <a:rPr dirty="0" sz="1200" spc="175">
                <a:latin typeface="Arial Unicode MS"/>
                <a:cs typeface="Arial Unicode MS"/>
              </a:rPr>
              <a:t>以</a:t>
            </a:r>
            <a:r>
              <a:rPr dirty="0" spc="20"/>
              <a:t>Fe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/>
              <a:t>O</a:t>
            </a:r>
            <a:r>
              <a:rPr dirty="0" baseline="-13888" sz="900" spc="30">
                <a:latin typeface="Times New Roman"/>
                <a:cs typeface="Times New Roman"/>
              </a:rPr>
              <a:t>3</a:t>
            </a:r>
            <a:r>
              <a:rPr dirty="0" baseline="-13888" sz="9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的形式表示分析结果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由于对同一试样存在如下 的计量关</a:t>
            </a:r>
            <a:r>
              <a:rPr dirty="0" sz="1200" spc="-90">
                <a:latin typeface="Arial Unicode MS"/>
                <a:cs typeface="Arial Unicode MS"/>
              </a:rPr>
              <a:t>系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6801" y="842835"/>
            <a:ext cx="2562860" cy="5003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3698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Calibri"/>
                <a:cs typeface="Calibri"/>
              </a:rPr>
              <a:t>n</a:t>
            </a:r>
            <a:r>
              <a:rPr dirty="0" sz="1100">
                <a:latin typeface="Georgia"/>
                <a:cs typeface="Georgia"/>
              </a:rPr>
              <a:t>(Fe)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70">
                <a:latin typeface="Georgia"/>
                <a:cs typeface="Georgia"/>
              </a:rPr>
              <a:t>2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0">
                <a:latin typeface="Lucida Sans Unicode"/>
                <a:cs typeface="Lucida Sans Unicode"/>
              </a:rPr>
              <a:t> </a:t>
            </a:r>
            <a:r>
              <a:rPr dirty="0" sz="1100" spc="30" i="1">
                <a:latin typeface="Calibri"/>
                <a:cs typeface="Calibri"/>
              </a:rPr>
              <a:t>n</a:t>
            </a:r>
            <a:r>
              <a:rPr dirty="0" sz="1100" spc="30">
                <a:latin typeface="Georgia"/>
                <a:cs typeface="Georgia"/>
              </a:rPr>
              <a:t>(Fe</a:t>
            </a:r>
            <a:r>
              <a:rPr dirty="0" baseline="-13888" sz="900" spc="44">
                <a:latin typeface="Times New Roman"/>
                <a:cs typeface="Times New Roman"/>
              </a:rPr>
              <a:t>2</a:t>
            </a:r>
            <a:r>
              <a:rPr dirty="0" sz="1100" spc="30">
                <a:latin typeface="Georgia"/>
                <a:cs typeface="Georgia"/>
              </a:rPr>
              <a:t>O</a:t>
            </a:r>
            <a:r>
              <a:rPr dirty="0" baseline="-13888" sz="900" spc="44">
                <a:latin typeface="Times New Roman"/>
                <a:cs typeface="Times New Roman"/>
              </a:rPr>
              <a:t>3</a:t>
            </a:r>
            <a:r>
              <a:rPr dirty="0" sz="1100" spc="3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25400">
              <a:lnSpc>
                <a:spcPct val="100000"/>
              </a:lnSpc>
              <a:spcBef>
                <a:spcPts val="990"/>
              </a:spcBef>
            </a:pPr>
            <a:r>
              <a:rPr dirty="0" sz="1200" spc="-5">
                <a:latin typeface="Arial Unicode MS"/>
                <a:cs typeface="Arial Unicode MS"/>
              </a:rPr>
              <a:t>所以质量分数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0178" y="1610957"/>
            <a:ext cx="2324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2922" y="1527543"/>
            <a:ext cx="9398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 i="1">
                <a:latin typeface="Calibri"/>
                <a:cs typeface="Calibri"/>
              </a:rPr>
              <a:t>w</a:t>
            </a:r>
            <a:r>
              <a:rPr dirty="0" sz="1100" spc="-15">
                <a:latin typeface="Georgia"/>
                <a:cs typeface="Georgia"/>
              </a:rPr>
              <a:t>(Fe </a:t>
            </a:r>
            <a:r>
              <a:rPr dirty="0" sz="1100" spc="30">
                <a:latin typeface="Georgia"/>
                <a:cs typeface="Georgia"/>
              </a:rPr>
              <a:t>O </a:t>
            </a:r>
            <a:r>
              <a:rPr dirty="0" sz="1100" spc="10">
                <a:latin typeface="Georgia"/>
                <a:cs typeface="Georgia"/>
              </a:rPr>
              <a:t>)%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56206" y="1517231"/>
            <a:ext cx="2387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sz="600" spc="180">
                <a:latin typeface="Times New Roman"/>
                <a:cs typeface="Times New Roman"/>
              </a:rPr>
              <a:t> </a:t>
            </a: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8698" y="1433817"/>
            <a:ext cx="7397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(Fe</a:t>
            </a:r>
            <a:r>
              <a:rPr dirty="0" sz="1100">
                <a:latin typeface="Georgia"/>
                <a:cs typeface="Georgia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O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sz="1100" spc="-9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×</a:t>
            </a:r>
            <a:r>
              <a:rPr dirty="0" u="sng" sz="1100" spc="-11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36481" y="1517231"/>
            <a:ext cx="2387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sz="600" spc="180">
                <a:latin typeface="Times New Roman"/>
                <a:cs typeface="Times New Roman"/>
              </a:rPr>
              <a:t> </a:t>
            </a:r>
            <a:r>
              <a:rPr dirty="0" u="sng" sz="600" spc="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92616" y="1433817"/>
            <a:ext cx="6369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114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 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(Fe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O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46413" y="1622577"/>
            <a:ext cx="1473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5" i="1">
                <a:latin typeface="Calibri"/>
                <a:cs typeface="Calibri"/>
              </a:rPr>
              <a:t>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68054" y="1705991"/>
            <a:ext cx="831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i="1">
                <a:latin typeface="Arial"/>
                <a:cs typeface="Arial"/>
              </a:rPr>
              <a:t>S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49523" y="1527543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791398" y="2008225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 h="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060371" y="2008225"/>
            <a:ext cx="494030" cy="0"/>
          </a:xfrm>
          <a:custGeom>
            <a:avLst/>
            <a:gdLst/>
            <a:ahLst/>
            <a:cxnLst/>
            <a:rect l="l" t="t" r="r" b="b"/>
            <a:pathLst>
              <a:path w="494030" h="0">
                <a:moveTo>
                  <a:pt x="0" y="0"/>
                </a:moveTo>
                <a:lnTo>
                  <a:pt x="49358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503832" y="1797888"/>
            <a:ext cx="1924685" cy="28575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287020" marR="55880" indent="-249554">
              <a:lnSpc>
                <a:spcPct val="55900"/>
              </a:lnSpc>
              <a:spcBef>
                <a:spcPts val="670"/>
              </a:spcBef>
              <a:tabLst>
                <a:tab pos="287020" algn="l"/>
                <a:tab pos="556260" algn="l"/>
                <a:tab pos="1249680" algn="l"/>
              </a:tabLst>
            </a:pPr>
            <a:r>
              <a:rPr dirty="0" baseline="-37878" sz="1650" spc="209">
                <a:latin typeface="Georgia"/>
                <a:cs typeface="Georgia"/>
              </a:rPr>
              <a:t>=	</a:t>
            </a:r>
            <a:r>
              <a:rPr dirty="0" sz="1100" spc="70">
                <a:latin typeface="Georgia"/>
                <a:cs typeface="Georgia"/>
              </a:rPr>
              <a:t>1	</a:t>
            </a:r>
            <a:r>
              <a:rPr dirty="0" sz="1100" spc="50" i="1">
                <a:latin typeface="Calibri"/>
                <a:cs typeface="Calibri"/>
              </a:rPr>
              <a:t>m</a:t>
            </a:r>
            <a:r>
              <a:rPr dirty="0" sz="1100" spc="50">
                <a:latin typeface="Georgia"/>
                <a:cs typeface="Georgia"/>
              </a:rPr>
              <a:t>(Fe</a:t>
            </a:r>
            <a:r>
              <a:rPr dirty="0" baseline="37037" sz="900" spc="75">
                <a:latin typeface="Times New Roman"/>
                <a:cs typeface="Times New Roman"/>
              </a:rPr>
              <a:t>2+</a:t>
            </a:r>
            <a:r>
              <a:rPr dirty="0" sz="1100" spc="50">
                <a:latin typeface="Georgia"/>
                <a:cs typeface="Georgia"/>
              </a:rPr>
              <a:t>)	</a:t>
            </a:r>
            <a:r>
              <a:rPr dirty="0" sz="1100" spc="114" i="1">
                <a:latin typeface="Calibri"/>
                <a:cs typeface="Calibri"/>
              </a:rPr>
              <a:t>M</a:t>
            </a:r>
            <a:r>
              <a:rPr dirty="0" sz="1100" spc="-204" i="1">
                <a:latin typeface="Calibri"/>
                <a:cs typeface="Calibri"/>
              </a:rPr>
              <a:t> </a:t>
            </a:r>
            <a:r>
              <a:rPr dirty="0" sz="1100" spc="25">
                <a:latin typeface="Georgia"/>
                <a:cs typeface="Georgia"/>
              </a:rPr>
              <a:t>(Fe</a:t>
            </a:r>
            <a:r>
              <a:rPr dirty="0" baseline="-13888" sz="900" spc="37">
                <a:latin typeface="Times New Roman"/>
                <a:cs typeface="Times New Roman"/>
              </a:rPr>
              <a:t>2</a:t>
            </a:r>
            <a:r>
              <a:rPr dirty="0" sz="1100" spc="25">
                <a:latin typeface="Georgia"/>
                <a:cs typeface="Georgia"/>
              </a:rPr>
              <a:t>O</a:t>
            </a:r>
            <a:r>
              <a:rPr dirty="0" baseline="-13888" sz="900" spc="37">
                <a:latin typeface="Times New Roman"/>
                <a:cs typeface="Times New Roman"/>
              </a:rPr>
              <a:t>3</a:t>
            </a:r>
            <a:r>
              <a:rPr dirty="0" sz="1100" spc="25">
                <a:latin typeface="Georgia"/>
                <a:cs typeface="Georgia"/>
              </a:rPr>
              <a:t>)  </a:t>
            </a:r>
            <a:r>
              <a:rPr dirty="0" baseline="-37878" sz="1650" spc="-104">
                <a:latin typeface="Georgia"/>
                <a:cs typeface="Georgia"/>
              </a:rPr>
              <a:t>2</a:t>
            </a:r>
            <a:r>
              <a:rPr dirty="0" baseline="-37878" sz="1650" spc="1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53652" y="2008225"/>
            <a:ext cx="611505" cy="0"/>
          </a:xfrm>
          <a:custGeom>
            <a:avLst/>
            <a:gdLst/>
            <a:ahLst/>
            <a:cxnLst/>
            <a:rect l="l" t="t" r="r" b="b"/>
            <a:pathLst>
              <a:path w="611504" h="0">
                <a:moveTo>
                  <a:pt x="0" y="0"/>
                </a:moveTo>
                <a:lnTo>
                  <a:pt x="61093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070201" y="1986648"/>
            <a:ext cx="10541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894080" algn="l"/>
              </a:tabLst>
            </a:pPr>
            <a:r>
              <a:rPr dirty="0" sz="1100" spc="114" i="1">
                <a:latin typeface="Calibri"/>
                <a:cs typeface="Calibri"/>
              </a:rPr>
              <a:t>M</a:t>
            </a:r>
            <a:r>
              <a:rPr dirty="0" sz="1100" spc="-130" i="1">
                <a:latin typeface="Calibri"/>
                <a:cs typeface="Calibri"/>
              </a:rPr>
              <a:t> </a:t>
            </a:r>
            <a:r>
              <a:rPr dirty="0" sz="1100" spc="-20">
                <a:latin typeface="Georgia"/>
                <a:cs typeface="Georgia"/>
              </a:rPr>
              <a:t>(Fe)  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baseline="37878" sz="1650" spc="-44">
                <a:latin typeface="Lucida Sans Unicode"/>
                <a:cs typeface="Lucida Sans Unicode"/>
              </a:rPr>
              <a:t>×	</a:t>
            </a:r>
            <a:r>
              <a:rPr dirty="0" sz="1100" spc="85" i="1">
                <a:latin typeface="Calibri"/>
                <a:cs typeface="Calibri"/>
              </a:rPr>
              <a:t>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73349" y="2070049"/>
            <a:ext cx="831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i="1">
                <a:latin typeface="Arial"/>
                <a:cs typeface="Arial"/>
              </a:rPr>
              <a:t>S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97859" y="1891614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93951" y="2254897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78493" y="2254897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63036" y="2254897"/>
            <a:ext cx="4876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75">
                <a:latin typeface="Lucida Sans Unicode"/>
                <a:cs typeface="Lucida Sans Unicode"/>
              </a:rPr>
              <a:t> </a:t>
            </a:r>
            <a:r>
              <a:rPr dirty="0" sz="1100" spc="-45">
                <a:latin typeface="Georgia"/>
                <a:cs typeface="Georgia"/>
              </a:rPr>
              <a:t>100%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03832" y="2138664"/>
            <a:ext cx="1564640" cy="56959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65"/>
              </a:spcBef>
              <a:tabLst>
                <a:tab pos="287020" algn="l"/>
                <a:tab pos="556260" algn="l"/>
                <a:tab pos="1140460" algn="l"/>
              </a:tabLst>
            </a:pPr>
            <a:r>
              <a:rPr dirty="0" baseline="-37878" sz="1650" spc="209">
                <a:latin typeface="Georgia"/>
                <a:cs typeface="Georgia"/>
              </a:rPr>
              <a:t>=	</a:t>
            </a:r>
            <a:r>
              <a:rPr dirty="0" u="sng" sz="1100" spc="7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dirty="0" sz="1100" spc="70">
                <a:latin typeface="Georgia"/>
                <a:cs typeface="Georgia"/>
              </a:rPr>
              <a:t>	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</a:t>
            </a:r>
            <a:r>
              <a:rPr dirty="0" u="sng" sz="1100" spc="-3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.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1681</a:t>
            </a:r>
            <a:r>
              <a:rPr dirty="0" sz="1100" spc="-30">
                <a:latin typeface="Georgia"/>
                <a:cs typeface="Georgia"/>
              </a:rPr>
              <a:t>	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159</a:t>
            </a:r>
            <a:r>
              <a:rPr dirty="0" u="sng" sz="1100" spc="-10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.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7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endParaRPr sz="1100">
              <a:latin typeface="Georgia"/>
              <a:cs typeface="Georgia"/>
            </a:endParaRPr>
          </a:p>
          <a:p>
            <a:pPr marL="287020">
              <a:lnSpc>
                <a:spcPts val="1315"/>
              </a:lnSpc>
              <a:spcBef>
                <a:spcPts val="170"/>
              </a:spcBef>
              <a:tabLst>
                <a:tab pos="590550" algn="l"/>
                <a:tab pos="1140460" algn="l"/>
              </a:tabLst>
            </a:pPr>
            <a:r>
              <a:rPr dirty="0" sz="1100" spc="-70">
                <a:latin typeface="Georgia"/>
                <a:cs typeface="Georgia"/>
              </a:rPr>
              <a:t>2	</a:t>
            </a:r>
            <a:r>
              <a:rPr dirty="0" sz="1100" spc="-40">
                <a:latin typeface="Georgia"/>
                <a:cs typeface="Georgia"/>
              </a:rPr>
              <a:t>55</a:t>
            </a:r>
            <a:r>
              <a:rPr dirty="0" sz="1100" spc="-40" i="1">
                <a:latin typeface="Calibri"/>
                <a:cs typeface="Calibri"/>
              </a:rPr>
              <a:t>.</a:t>
            </a:r>
            <a:r>
              <a:rPr dirty="0" sz="1100" spc="-40">
                <a:latin typeface="Georgia"/>
                <a:cs typeface="Georgia"/>
              </a:rPr>
              <a:t>85	</a:t>
            </a:r>
            <a:r>
              <a:rPr dirty="0" sz="1100" spc="-90">
                <a:latin typeface="Georgia"/>
                <a:cs typeface="Georgia"/>
              </a:rPr>
              <a:t>0</a:t>
            </a:r>
            <a:r>
              <a:rPr dirty="0" sz="1100" spc="-90" i="1">
                <a:latin typeface="Calibri"/>
                <a:cs typeface="Calibri"/>
              </a:rPr>
              <a:t>.</a:t>
            </a:r>
            <a:r>
              <a:rPr dirty="0" sz="1100" spc="-90">
                <a:latin typeface="Georgia"/>
                <a:cs typeface="Georgia"/>
              </a:rPr>
              <a:t>5000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ts val="1315"/>
              </a:lnSpc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10">
                <a:latin typeface="Georgia"/>
                <a:cs typeface="Georgia"/>
              </a:rPr>
              <a:t> </a:t>
            </a:r>
            <a:r>
              <a:rPr dirty="0" sz="1100" spc="-70">
                <a:latin typeface="Georgia"/>
                <a:cs typeface="Georgia"/>
              </a:rPr>
              <a:t>48</a:t>
            </a:r>
            <a:r>
              <a:rPr dirty="0" sz="1100" spc="-70" i="1">
                <a:latin typeface="Calibri"/>
                <a:cs typeface="Calibri"/>
              </a:rPr>
              <a:t>.</a:t>
            </a:r>
            <a:r>
              <a:rPr dirty="0" sz="1100" spc="-70">
                <a:latin typeface="Georgia"/>
                <a:cs typeface="Georgia"/>
              </a:rPr>
              <a:t>08%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3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10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34637" y="3353670"/>
            <a:ext cx="32067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 </a:t>
            </a:r>
            <a:r>
              <a:rPr dirty="0" sz="600" spc="19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600" spc="65">
                <a:solidFill>
                  <a:srgbClr val="FFFFFF"/>
                </a:solidFill>
                <a:latin typeface="Times New Roman"/>
                <a:cs typeface="Times New Roman"/>
              </a:rPr>
              <a:t>62</a:t>
            </a:r>
            <a:endParaRPr sz="6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2023-10-22T13:51:22Z</dcterms:created>
  <dcterms:modified xsi:type="dcterms:W3CDTF">2023-10-22T13:51:22Z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2010-03-10T00:00:00Z</vt:filetime>
  </property>
  <property fmtid="{D5CDD505-2E9C-101B-9397-08002B2CF9AE}" pid="3" name="Creator">
    <vt:lpwstr>LaTeX with beamer class version 3.07</vt:lpwstr>
  </property>
  <property fmtid="{D5CDD505-2E9C-101B-9397-08002B2CF9AE}" pid="4" name="LastSaved">
    <vt:filetime>2010-03-10T00:00:00Z</vt:filetime>
  </property>
</Properties>
</file>