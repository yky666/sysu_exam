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70" r:id="rId2"/>
    <p:sldId id="271" r:id="rId3"/>
    <p:sldId id="256" r:id="rId4"/>
    <p:sldId id="276" r:id="rId5"/>
    <p:sldId id="278" r:id="rId6"/>
    <p:sldId id="279" r:id="rId7"/>
    <p:sldId id="277" r:id="rId8"/>
    <p:sldId id="280" r:id="rId9"/>
    <p:sldId id="257" r:id="rId10"/>
    <p:sldId id="258" r:id="rId11"/>
    <p:sldId id="259" r:id="rId12"/>
    <p:sldId id="260" r:id="rId13"/>
    <p:sldId id="273" r:id="rId14"/>
    <p:sldId id="261" r:id="rId15"/>
    <p:sldId id="274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5" r:id="rId25"/>
    <p:sldId id="272" r:id="rId26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787"/>
    <p:restoredTop sz="90929"/>
  </p:normalViewPr>
  <p:slideViewPr>
    <p:cSldViewPr>
      <p:cViewPr varScale="1">
        <p:scale>
          <a:sx n="103" d="100"/>
          <a:sy n="103" d="100"/>
        </p:scale>
        <p:origin x="1446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026">
            <a:extLst>
              <a:ext uri="{FF2B5EF4-FFF2-40B4-BE49-F238E27FC236}">
                <a16:creationId xmlns:a16="http://schemas.microsoft.com/office/drawing/2014/main" id="{E21DE21F-9EAB-1CDE-2AEB-364E27E32CB7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1293813" y="762000"/>
            <a:ext cx="7772400" cy="11430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  <a:effectLst>
                  <a:outerShdw blurRad="38100" dist="38100" dir="2700000" algn="tl">
                    <a:srgbClr val="FFFFFF"/>
                  </a:outerShdw>
                </a:effectLst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0483" name="Rectangle 1027">
            <a:extLst>
              <a:ext uri="{FF2B5EF4-FFF2-40B4-BE49-F238E27FC236}">
                <a16:creationId xmlns:a16="http://schemas.microsoft.com/office/drawing/2014/main" id="{81E2858B-29F7-4060-CFA7-27CEE59DEFCA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5800" y="3429000"/>
            <a:ext cx="6400800" cy="1752600"/>
          </a:xfrm>
          <a:solidFill>
            <a:srgbClr val="3366FF">
              <a:alpha val="50000"/>
            </a:srgbClr>
          </a:solidFill>
        </p:spPr>
        <p:txBody>
          <a:bodyPr lIns="92075" tIns="46038" rIns="92075" bIns="46038"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20484" name="Rectangle 1028">
            <a:extLst>
              <a:ext uri="{FF2B5EF4-FFF2-40B4-BE49-F238E27FC236}">
                <a16:creationId xmlns:a16="http://schemas.microsoft.com/office/drawing/2014/main" id="{84C68DF5-8BB1-5FF0-0C23-CE22758B8472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20485" name="Rectangle 1029">
            <a:extLst>
              <a:ext uri="{FF2B5EF4-FFF2-40B4-BE49-F238E27FC236}">
                <a16:creationId xmlns:a16="http://schemas.microsoft.com/office/drawing/2014/main" id="{3A851ED4-01C3-EB9A-FECF-3503B21943B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20486" name="Rectangle 1030">
            <a:extLst>
              <a:ext uri="{FF2B5EF4-FFF2-40B4-BE49-F238E27FC236}">
                <a16:creationId xmlns:a16="http://schemas.microsoft.com/office/drawing/2014/main" id="{ABB9393E-1373-9476-6F9D-D60F4E06879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446F8350-BE56-49D3-A52D-5DC4B719C183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1C850E-1F70-ED6A-15B5-6B7C51B6B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8D72AE-2B6B-442C-1FE8-2E3D1579C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EBA5E4-1E9B-B5D5-15F9-12AC170F2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F69689-42DD-D7A6-8A61-A2C730CDC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C312C7-A6FA-82CA-A985-FC2F86B71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6FA366-AD4E-4616-86F0-E3CF091B4E6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5002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5CC4F2-7FBB-C5BC-9DC0-004589DFE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F3DA06-8BC0-381C-A077-615ED1379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C9CCA2-2768-35E3-1C58-5B4527B4F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E9A317-CFB4-C011-5868-7F7CF9E25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CBB494-01D7-8C7F-DA53-AF4250BBB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E15C47-57BC-4C91-B7A0-B98B6675C21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5777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1F19D8-8D09-238F-FC34-CB3256467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7EFBF8-E068-C555-50A0-96D43C304F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17DBAC-DF68-5648-4B23-84FCFB3035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035B2A-B455-6E5E-DBA7-FB1555191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5E40329-0AD3-9AF2-7983-A86DCACEA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489533E-455F-4B8C-5380-085838503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211694-2949-4A5D-9C0D-2A74DAF31CC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4023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744384-DA0C-C118-B533-A189ECC41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14A380-7A83-202E-2553-D6FCA63A3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702D24-52A5-4E10-500C-D90A26F894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2100F07-66FC-921B-5DEC-CEC0F43C63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024C109-04E2-4929-9842-DB49FAA66B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3D4FE2C-026E-E75E-3D12-636B7F591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75070CB-A764-D9C0-8F0A-F6AE0B4E1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D6C48AC-283B-D89A-7DB9-855819E48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FE5DE1-76D5-4B7B-916A-6D39DDB51D6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7827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C20AB8-CAE2-DB90-A36B-198EC5404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88DF3AA-6B15-0F96-5365-19A215B09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D01CE54-1B4A-7B38-9A2F-DEBDC2D3B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3FEBB78-16A1-7034-AB0C-00E5B1BF1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BDBD44-1545-4067-8420-52506828753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4316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F1039DA-341D-67C1-2C44-4270BD295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C167730-6603-458F-BF15-A40F83AC4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DCCE92-EBB4-0F82-FED2-46D4C5026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0179A5-99CC-4172-A061-F0A7696B1B9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1739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73279E-D083-3F3B-0DEC-3AA3E9617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CEE804-7B32-C686-80AC-593FABE49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C6B6110-8DDD-1F55-2190-A524F881FE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7E35D1-6268-A6F0-545B-1786DF786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9F3CA0-F6E2-2302-F47E-5CF8458CB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9C721EE-CF77-FC67-C383-33588E096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1D6954-D833-4E3B-92D3-35A1B2B6E05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9331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026B7F-72DE-D94A-79FA-4ED2FDCFD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6BF04CA-5DDF-099E-68EA-64F4516B79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9D397CB-4CE8-E127-7A49-C61C109BB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92653C-8941-CA55-AC53-0206918DC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EC9CB8-D4D1-AC6D-F751-F5967477A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9CFF3B-8608-7E53-9F0F-A048BD6AF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C03B93-0158-4585-BE57-BEBCE808DC8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7164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AF336E-41B5-53FC-F083-6FD6040E6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6C907FB-AD53-392B-9B37-E95E81ED6F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2100E3-0550-3813-FC49-74446BF20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DC5A9A-1D93-5FBC-078D-DEA4357B3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57DBD7-8174-E185-37E8-7F12343AD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9468D4-AECE-44FE-9440-1A5338AD8F2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7404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51FC66B-0FC0-A6E9-2091-D076804DB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10943C1-AD60-05EF-67A6-A6C23324A3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3CCED2-0F60-0946-A14C-3D066C298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91DC98-201B-EE8A-E78F-6205895BC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303C87-445D-0D14-8ADA-1ABC817D2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A41001-A5C0-4DC6-A6C4-4310C116071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9056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26">
            <a:extLst>
              <a:ext uri="{FF2B5EF4-FFF2-40B4-BE49-F238E27FC236}">
                <a16:creationId xmlns:a16="http://schemas.microsoft.com/office/drawing/2014/main" id="{27572CC0-244D-2A84-EFDA-C30DF204D5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9459" name="Rectangle 1027">
            <a:extLst>
              <a:ext uri="{FF2B5EF4-FFF2-40B4-BE49-F238E27FC236}">
                <a16:creationId xmlns:a16="http://schemas.microsoft.com/office/drawing/2014/main" id="{1B8D390F-3D53-1A2D-6EFE-0BBAE157CFB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kumimoji="0" sz="1400"/>
            </a:lvl1pPr>
          </a:lstStyle>
          <a:p>
            <a:endParaRPr lang="en-US" altLang="zh-CN"/>
          </a:p>
        </p:txBody>
      </p:sp>
      <p:sp>
        <p:nvSpPr>
          <p:cNvPr id="19460" name="Rectangle 1028">
            <a:extLst>
              <a:ext uri="{FF2B5EF4-FFF2-40B4-BE49-F238E27FC236}">
                <a16:creationId xmlns:a16="http://schemas.microsoft.com/office/drawing/2014/main" id="{53015E2E-8E27-2DCB-CEF8-ED809B1E556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kumimoji="0" sz="1400"/>
            </a:lvl1pPr>
          </a:lstStyle>
          <a:p>
            <a:endParaRPr lang="en-US" altLang="zh-CN"/>
          </a:p>
        </p:txBody>
      </p:sp>
      <p:sp>
        <p:nvSpPr>
          <p:cNvPr id="19461" name="Rectangle 1029">
            <a:extLst>
              <a:ext uri="{FF2B5EF4-FFF2-40B4-BE49-F238E27FC236}">
                <a16:creationId xmlns:a16="http://schemas.microsoft.com/office/drawing/2014/main" id="{23254241-0C12-97A8-E36C-A7D8AB95496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fld id="{7B532FAA-2F48-4D57-A0DF-28EBF9BD927E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9462" name="Rectangle 1030">
            <a:extLst>
              <a:ext uri="{FF2B5EF4-FFF2-40B4-BE49-F238E27FC236}">
                <a16:creationId xmlns:a16="http://schemas.microsoft.com/office/drawing/2014/main" id="{336DE67D-D6F6-1946-AA4D-E7183E1C7B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l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folHlink"/>
        </a:buClr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l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>
            <a:extLst>
              <a:ext uri="{FF2B5EF4-FFF2-40B4-BE49-F238E27FC236}">
                <a16:creationId xmlns:a16="http://schemas.microsoft.com/office/drawing/2014/main" id="{13F97441-3301-3DF7-7FAD-B9F4EECBD9E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09600" y="1600200"/>
            <a:ext cx="7772400" cy="1143000"/>
          </a:xfrm>
        </p:spPr>
        <p:txBody>
          <a:bodyPr/>
          <a:lstStyle/>
          <a:p>
            <a:r>
              <a:rPr lang="en-US" altLang="zh-CN" sz="4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Medical Statistics </a:t>
            </a:r>
            <a:br>
              <a:rPr lang="en-US" altLang="zh-CN" sz="4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altLang="zh-CN" sz="4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(full English class)</a:t>
            </a:r>
          </a:p>
        </p:txBody>
      </p:sp>
      <p:sp>
        <p:nvSpPr>
          <p:cNvPr id="18435" name="Rectangle 1027">
            <a:extLst>
              <a:ext uri="{FF2B5EF4-FFF2-40B4-BE49-F238E27FC236}">
                <a16:creationId xmlns:a16="http://schemas.microsoft.com/office/drawing/2014/main" id="{26261796-5757-089C-6C60-3D501132F5A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524000" y="4038600"/>
            <a:ext cx="6400800" cy="1981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3366FF">
                    <a:alpha val="50000"/>
                  </a:srgbClr>
                </a:solidFill>
              </a14:hiddenFill>
            </a:ext>
          </a:extLst>
        </p:spPr>
        <p:txBody>
          <a:bodyPr/>
          <a:lstStyle/>
          <a:p>
            <a:endParaRPr lang="en-US" altLang="zh-CN"/>
          </a:p>
          <a:p>
            <a:r>
              <a:rPr lang="en-US" altLang="zh-CN" b="1"/>
              <a:t>Ji-Qian Fang</a:t>
            </a:r>
          </a:p>
          <a:p>
            <a:r>
              <a:rPr lang="en-US" altLang="zh-CN" b="1"/>
              <a:t>School of  Public Health </a:t>
            </a:r>
          </a:p>
          <a:p>
            <a:r>
              <a:rPr lang="en-US" altLang="zh-CN" b="1"/>
              <a:t>Sun Yat-Sen University</a:t>
            </a:r>
          </a:p>
          <a:p>
            <a:endParaRPr lang="en-US" altLang="zh-CN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41034CD-C1FB-1E26-123A-C5704723D1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2514600"/>
            <a:ext cx="7772400" cy="1143000"/>
          </a:xfrm>
        </p:spPr>
        <p:txBody>
          <a:bodyPr/>
          <a:lstStyle/>
          <a:p>
            <a:r>
              <a:rPr lang="en-US" altLang="zh-CN" sz="6000" b="1"/>
              <a:t>Statistical Table and Graph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30" name="Object 6">
            <a:extLst>
              <a:ext uri="{FF2B5EF4-FFF2-40B4-BE49-F238E27FC236}">
                <a16:creationId xmlns:a16="http://schemas.microsoft.com/office/drawing/2014/main" id="{5C7F1B87-17A0-FE89-4D8D-62FDED5AFD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0"/>
          <a:ext cx="8610600" cy="723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20880" imgH="4556880" progId="Word.Document.8">
                  <p:embed/>
                </p:oleObj>
              </mc:Choice>
              <mc:Fallback>
                <p:oleObj name="Document" r:id="rId2" imgW="5420880" imgH="455688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0"/>
                        <a:ext cx="8610600" cy="723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75" name="Object 3">
            <a:extLst>
              <a:ext uri="{FF2B5EF4-FFF2-40B4-BE49-F238E27FC236}">
                <a16:creationId xmlns:a16="http://schemas.microsoft.com/office/drawing/2014/main" id="{3EB54C35-B84D-8501-EA45-6D6ABC7DFC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90488"/>
          <a:ext cx="8153400" cy="685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20880" imgH="4556880" progId="Word.Document.8">
                  <p:embed/>
                </p:oleObj>
              </mc:Choice>
              <mc:Fallback>
                <p:oleObj name="Document" r:id="rId2" imgW="5420880" imgH="455688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90488"/>
                        <a:ext cx="8153400" cy="685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701" name="Object 5">
            <a:extLst>
              <a:ext uri="{FF2B5EF4-FFF2-40B4-BE49-F238E27FC236}">
                <a16:creationId xmlns:a16="http://schemas.microsoft.com/office/drawing/2014/main" id="{F3BA60EC-31E3-D29B-3BE8-2BEF49F51A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750" y="228600"/>
          <a:ext cx="8382000" cy="643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20880" imgH="4160520" progId="Word.Document.8">
                  <p:embed/>
                </p:oleObj>
              </mc:Choice>
              <mc:Fallback>
                <p:oleObj name="Document" r:id="rId2" imgW="5420880" imgH="416052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" y="228600"/>
                        <a:ext cx="8382000" cy="643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4" name="Object 6">
            <a:extLst>
              <a:ext uri="{FF2B5EF4-FFF2-40B4-BE49-F238E27FC236}">
                <a16:creationId xmlns:a16="http://schemas.microsoft.com/office/drawing/2014/main" id="{F7A3B6AA-65FB-9856-A221-42AC3391AE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" y="304800"/>
          <a:ext cx="8915400" cy="618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20880" imgH="3764160" progId="Word.Document.8">
                  <p:embed/>
                </p:oleObj>
              </mc:Choice>
              <mc:Fallback>
                <p:oleObj name="Document" r:id="rId2" imgW="5420880" imgH="376416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04800"/>
                        <a:ext cx="8915400" cy="6189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3" name="Object 1027">
            <a:extLst>
              <a:ext uri="{FF2B5EF4-FFF2-40B4-BE49-F238E27FC236}">
                <a16:creationId xmlns:a16="http://schemas.microsoft.com/office/drawing/2014/main" id="{48A4029F-9E6D-87B7-D0EB-D04B6A1970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" y="533400"/>
          <a:ext cx="8610600" cy="534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20880" imgH="3368160" progId="Word.Document.8">
                  <p:embed/>
                </p:oleObj>
              </mc:Choice>
              <mc:Fallback>
                <p:oleObj name="Document" r:id="rId2" imgW="5420880" imgH="3368160" progId="Word.Document.8">
                  <p:embed/>
                  <p:pic>
                    <p:nvPicPr>
                      <p:cNvPr id="0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533400"/>
                        <a:ext cx="8610600" cy="5349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A7FB9F6-77EF-9B42-559D-61FEFD19DB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685800"/>
          </a:xfrm>
        </p:spPr>
        <p:txBody>
          <a:bodyPr/>
          <a:lstStyle/>
          <a:p>
            <a:pPr algn="l"/>
            <a:r>
              <a:rPr lang="en-US" altLang="zh-CN" sz="4000" b="1"/>
              <a:t>1. Statistical Table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B0816658-4CFC-3E7A-FFBA-EC86B6D8C5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447800"/>
            <a:ext cx="8839200" cy="54102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en-US" altLang="zh-CN" sz="2800" b="1"/>
              <a:t>   Example   In this study, 221 children were tested in county A and 4 cases were found suffering from rachitis; the prevalence rate was 18.10 per thousand. 125 children were tested in county B and 9 cases were found; the prevalence rate was 72.00 per thousand. 248 children were tested in county C and 2 cases were found; the prevalence rate was 8.00 per thousand…..</a:t>
            </a:r>
            <a:endParaRPr lang="en-US" altLang="zh-CN" sz="2800"/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800" b="1"/>
              <a:t> </a:t>
            </a:r>
            <a:endParaRPr lang="en-US" altLang="zh-CN" sz="2800"/>
          </a:p>
          <a:p>
            <a:r>
              <a:rPr lang="en-US" altLang="zh-CN" sz="2800" b="1"/>
              <a:t>Very tired and verbose. </a:t>
            </a:r>
          </a:p>
          <a:p>
            <a:r>
              <a:rPr lang="en-US" altLang="zh-CN" sz="2800" b="1"/>
              <a:t>Difficult to remain any impression.</a:t>
            </a:r>
            <a:r>
              <a:rPr lang="en-US" altLang="zh-CN" sz="2800"/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2A08D73-35BB-611D-F096-52964F32BE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457200"/>
          </a:xfrm>
        </p:spPr>
        <p:txBody>
          <a:bodyPr/>
          <a:lstStyle/>
          <a:p>
            <a:r>
              <a:rPr lang="en-US" altLang="zh-CN" b="1"/>
              <a:t>Put into a table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8C31A5AC-4CA1-1A38-1CC4-535E905170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762000"/>
            <a:ext cx="9372600" cy="5943600"/>
          </a:xfrm>
        </p:spPr>
        <p:txBody>
          <a:bodyPr/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b="1"/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            </a:t>
            </a:r>
            <a:endParaRPr lang="en-US" altLang="zh-CN" sz="2400"/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/>
          </a:p>
          <a:p>
            <a:pPr algn="just">
              <a:lnSpc>
                <a:spcPct val="90000"/>
              </a:lnSpc>
            </a:pPr>
            <a:endParaRPr lang="en-US" altLang="zh-CN" sz="2800"/>
          </a:p>
          <a:p>
            <a:pPr algn="just">
              <a:lnSpc>
                <a:spcPct val="90000"/>
              </a:lnSpc>
            </a:pPr>
            <a:endParaRPr lang="en-US" altLang="zh-CN" sz="2800"/>
          </a:p>
          <a:p>
            <a:pPr algn="just">
              <a:lnSpc>
                <a:spcPct val="90000"/>
              </a:lnSpc>
            </a:pPr>
            <a:endParaRPr lang="en-US" altLang="zh-CN" sz="2800"/>
          </a:p>
          <a:p>
            <a:pPr algn="just">
              <a:lnSpc>
                <a:spcPct val="90000"/>
              </a:lnSpc>
            </a:pPr>
            <a:endParaRPr lang="en-US" altLang="zh-CN" sz="2800"/>
          </a:p>
          <a:p>
            <a:pPr>
              <a:lnSpc>
                <a:spcPct val="90000"/>
              </a:lnSpc>
            </a:pPr>
            <a:endParaRPr lang="en-US" altLang="zh-CN" sz="2800" b="1"/>
          </a:p>
          <a:p>
            <a:pPr>
              <a:lnSpc>
                <a:spcPct val="90000"/>
              </a:lnSpc>
            </a:pPr>
            <a:endParaRPr lang="en-US" altLang="zh-CN" sz="2800" b="1"/>
          </a:p>
          <a:p>
            <a:pPr>
              <a:lnSpc>
                <a:spcPct val="90000"/>
              </a:lnSpc>
            </a:pPr>
            <a:endParaRPr lang="en-US" altLang="zh-CN" sz="2800" b="1"/>
          </a:p>
          <a:p>
            <a:pPr>
              <a:lnSpc>
                <a:spcPct val="90000"/>
              </a:lnSpc>
            </a:pPr>
            <a:r>
              <a:rPr lang="en-US" altLang="zh-CN" b="1"/>
              <a:t>Clear impression ! </a:t>
            </a:r>
          </a:p>
          <a:p>
            <a:pPr>
              <a:lnSpc>
                <a:spcPct val="90000"/>
              </a:lnSpc>
            </a:pPr>
            <a:r>
              <a:rPr lang="en-US" altLang="zh-CN" b="1"/>
              <a:t>Easy to compare each other !</a:t>
            </a:r>
            <a:r>
              <a:rPr lang="en-US" altLang="zh-CN"/>
              <a:t> </a:t>
            </a:r>
          </a:p>
        </p:txBody>
      </p:sp>
      <p:graphicFrame>
        <p:nvGraphicFramePr>
          <p:cNvPr id="4100" name="Object 4">
            <a:extLst>
              <a:ext uri="{FF2B5EF4-FFF2-40B4-BE49-F238E27FC236}">
                <a16:creationId xmlns:a16="http://schemas.microsoft.com/office/drawing/2014/main" id="{66BDAD8B-2EE0-7577-DCB7-9E453F22DE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28688" y="1524000"/>
          <a:ext cx="7315200" cy="3668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27000" imgH="2868120" progId="Word.Document.8">
                  <p:embed/>
                </p:oleObj>
              </mc:Choice>
              <mc:Fallback>
                <p:oleObj name="Document" r:id="rId2" imgW="5427000" imgH="286812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1524000"/>
                        <a:ext cx="7315200" cy="3668713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2" name="Text Box 6">
            <a:extLst>
              <a:ext uri="{FF2B5EF4-FFF2-40B4-BE49-F238E27FC236}">
                <a16:creationId xmlns:a16="http://schemas.microsoft.com/office/drawing/2014/main" id="{A7094D7C-6E32-6110-13F6-3EA7B1B449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990600"/>
            <a:ext cx="7315200" cy="528638"/>
          </a:xfrm>
          <a:prstGeom prst="rect">
            <a:avLst/>
          </a:prstGeom>
          <a:solidFill>
            <a:srgbClr val="CCFFFF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chemeClr val="bg2"/>
                </a:solidFill>
              </a:rPr>
              <a:t>Table 1  Rachitis prevalence rates in 5 counties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D03CF68-ADAF-D3E1-0CD6-8B546057F6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09600"/>
            <a:ext cx="8001000" cy="381000"/>
          </a:xfrm>
        </p:spPr>
        <p:txBody>
          <a:bodyPr/>
          <a:lstStyle/>
          <a:p>
            <a:pPr algn="l"/>
            <a:r>
              <a:rPr lang="en-US" altLang="zh-CN" sz="3600" b="1"/>
              <a:t>(1) Construction of statistical table</a:t>
            </a:r>
            <a:r>
              <a:rPr lang="en-US" altLang="zh-CN"/>
              <a:t> 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2BD7BFDD-032D-EE65-81BE-534477AA30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686800" cy="4648200"/>
          </a:xfrm>
        </p:spPr>
        <p:txBody>
          <a:bodyPr/>
          <a:lstStyle/>
          <a:p>
            <a:pPr algn="just"/>
            <a:r>
              <a:rPr lang="en-US" altLang="zh-CN" sz="2800" b="1">
                <a:solidFill>
                  <a:srgbClr val="FFCC00"/>
                </a:solidFill>
              </a:rPr>
              <a:t>Title:</a:t>
            </a:r>
            <a:r>
              <a:rPr lang="en-US" altLang="zh-CN" sz="2800" b="1"/>
              <a:t> content, time and place (top)</a:t>
            </a:r>
            <a:endParaRPr lang="en-US" altLang="zh-CN" sz="2800"/>
          </a:p>
          <a:p>
            <a:pPr algn="just"/>
            <a:r>
              <a:rPr lang="en-US" altLang="zh-CN" sz="2800" b="1">
                <a:solidFill>
                  <a:srgbClr val="FFCC00"/>
                </a:solidFill>
              </a:rPr>
              <a:t>Items:</a:t>
            </a:r>
            <a:r>
              <a:rPr lang="en-US" altLang="zh-CN" sz="2800" b="1">
                <a:solidFill>
                  <a:srgbClr val="FF0000"/>
                </a:solidFill>
              </a:rPr>
              <a:t> </a:t>
            </a:r>
            <a:r>
              <a:rPr lang="en-US" altLang="zh-CN" sz="2800" b="1"/>
              <a:t>row item (left) and column item (top) </a:t>
            </a:r>
            <a:endParaRPr lang="en-US" altLang="zh-CN" sz="2800"/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800" b="1"/>
              <a:t>    Row item -- subject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800" b="1"/>
              <a:t>    Column item -- predicate (measures and unit). </a:t>
            </a:r>
            <a:r>
              <a:rPr lang="en-US" altLang="zh-CN" sz="2800" b="1">
                <a:solidFill>
                  <a:srgbClr val="FF0000"/>
                </a:solidFill>
              </a:rPr>
              <a:t> </a:t>
            </a:r>
            <a:endParaRPr lang="en-US" altLang="zh-CN" sz="2800"/>
          </a:p>
          <a:p>
            <a:pPr algn="just"/>
            <a:r>
              <a:rPr lang="en-US" altLang="zh-CN" sz="2800" b="1">
                <a:solidFill>
                  <a:srgbClr val="FFCC00"/>
                </a:solidFill>
              </a:rPr>
              <a:t>Lines (horizontal only):</a:t>
            </a:r>
            <a:r>
              <a:rPr lang="en-US" altLang="zh-CN" sz="2800" b="1"/>
              <a:t>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800" b="1"/>
              <a:t>    Top and bottom (dark): define the range of table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800" b="1"/>
              <a:t>    Others (light): separate items and figures.  </a:t>
            </a:r>
            <a:endParaRPr lang="en-US" altLang="zh-CN" sz="2800"/>
          </a:p>
          <a:p>
            <a:pPr algn="just"/>
            <a:r>
              <a:rPr lang="en-US" altLang="zh-CN" sz="2800" b="1">
                <a:solidFill>
                  <a:srgbClr val="FFCC00"/>
                </a:solidFill>
              </a:rPr>
              <a:t>Figures:</a:t>
            </a:r>
            <a:r>
              <a:rPr lang="en-US" altLang="zh-CN" sz="2800" b="1"/>
              <a:t> put in order.</a:t>
            </a:r>
            <a:r>
              <a:rPr lang="en-US" altLang="zh-CN" sz="2800"/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909AAFB-A10E-7FD8-4796-CC71CBBA1A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7772400" cy="838200"/>
          </a:xfrm>
        </p:spPr>
        <p:txBody>
          <a:bodyPr/>
          <a:lstStyle/>
          <a:p>
            <a:pPr algn="l"/>
            <a:r>
              <a:rPr lang="en-US" altLang="zh-CN" sz="3600" b="1">
                <a:cs typeface="Times New Roman" panose="02020603050405020304" pitchFamily="18" charset="0"/>
              </a:rPr>
              <a:t>(2) Types of Statistical tables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8E5242FD-394F-52A2-2411-2C4FA9954B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685800"/>
            <a:ext cx="9144000" cy="5943600"/>
          </a:xfrm>
        </p:spPr>
        <p:txBody>
          <a:bodyPr/>
          <a:lstStyle/>
          <a:p>
            <a:pPr algn="just"/>
            <a:r>
              <a:rPr lang="en-US" altLang="zh-CN" b="1">
                <a:solidFill>
                  <a:srgbClr val="FFCC00"/>
                </a:solidFill>
              </a:rPr>
              <a:t>Simple table: One variable only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   </a:t>
            </a:r>
          </a:p>
          <a:p>
            <a:pPr algn="just">
              <a:buFont typeface="Wingdings" panose="05000000000000000000" pitchFamily="2" charset="2"/>
              <a:buNone/>
            </a:pPr>
            <a:endParaRPr lang="en-US" altLang="zh-CN" b="1"/>
          </a:p>
          <a:p>
            <a:pPr algn="just">
              <a:buFont typeface="Wingdings" panose="05000000000000000000" pitchFamily="2" charset="2"/>
              <a:buNone/>
            </a:pPr>
            <a:endParaRPr lang="en-US" altLang="zh-CN" b="1"/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 </a:t>
            </a:r>
          </a:p>
        </p:txBody>
      </p:sp>
      <p:graphicFrame>
        <p:nvGraphicFramePr>
          <p:cNvPr id="6152" name="Object 8">
            <a:extLst>
              <a:ext uri="{FF2B5EF4-FFF2-40B4-BE49-F238E27FC236}">
                <a16:creationId xmlns:a16="http://schemas.microsoft.com/office/drawing/2014/main" id="{1903FC80-E72C-C81F-6C00-36D56A2976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1371600"/>
          <a:ext cx="9144000" cy="241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20880" imgH="1431360" progId="Word.Document.8">
                  <p:embed/>
                </p:oleObj>
              </mc:Choice>
              <mc:Fallback>
                <p:oleObj name="Document" r:id="rId2" imgW="5420880" imgH="1431360" progId="Word.Documen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371600"/>
                        <a:ext cx="9144000" cy="2414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9" name="Text Box 15">
            <a:extLst>
              <a:ext uri="{FF2B5EF4-FFF2-40B4-BE49-F238E27FC236}">
                <a16:creationId xmlns:a16="http://schemas.microsoft.com/office/drawing/2014/main" id="{3FFE8E80-A126-DC8A-0FC8-0651FEC2F4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724275"/>
            <a:ext cx="9144000" cy="4789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/>
              <a:t>Row item: Subject</a:t>
            </a:r>
          </a:p>
          <a:p>
            <a:r>
              <a:rPr lang="en-US" altLang="zh-CN" sz="2800" b="1"/>
              <a:t>Column item: Predicate</a:t>
            </a:r>
          </a:p>
          <a:p>
            <a:r>
              <a:rPr lang="en-US" altLang="zh-CN" sz="2800" b="1"/>
              <a:t>The table read as:</a:t>
            </a:r>
          </a:p>
          <a:p>
            <a:pPr>
              <a:buFontTx/>
              <a:buAutoNum type="arabicPeriod"/>
            </a:pPr>
            <a:r>
              <a:rPr lang="en-US" altLang="zh-CN" sz="2800" b="1"/>
              <a:t>The group of HBsAg carriers has 1457 persons tested, 46 positive with positive rate 3.16%.</a:t>
            </a:r>
          </a:p>
          <a:p>
            <a:r>
              <a:rPr lang="en-US" altLang="zh-CN" sz="2800" b="1"/>
              <a:t>2. The group of HB patients has 1224 persons tested, 161</a:t>
            </a:r>
          </a:p>
          <a:p>
            <a:r>
              <a:rPr lang="en-US" altLang="zh-CN" sz="2800" b="1"/>
              <a:t>      positive with positive rate 13.15%.</a:t>
            </a:r>
          </a:p>
          <a:p>
            <a:endParaRPr lang="en-US" altLang="zh-CN" sz="2800" b="1"/>
          </a:p>
          <a:p>
            <a:endParaRPr lang="en-US" altLang="zh-CN" sz="2800" b="1"/>
          </a:p>
          <a:p>
            <a:endParaRPr lang="en-US" altLang="zh-CN" sz="2800" b="1"/>
          </a:p>
          <a:p>
            <a:endParaRPr lang="en-US" altLang="zh-CN" sz="2800"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>
            <a:extLst>
              <a:ext uri="{FF2B5EF4-FFF2-40B4-BE49-F238E27FC236}">
                <a16:creationId xmlns:a16="http://schemas.microsoft.com/office/drawing/2014/main" id="{3549D7AA-1D0C-412A-DAC4-B161EE818F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228600"/>
            <a:ext cx="8915400" cy="6629400"/>
          </a:xfrm>
        </p:spPr>
        <p:txBody>
          <a:bodyPr/>
          <a:lstStyle/>
          <a:p>
            <a:pPr algn="just"/>
            <a:r>
              <a:rPr lang="en-US" altLang="zh-CN" b="1">
                <a:solidFill>
                  <a:srgbClr val="FFCC00"/>
                </a:solidFill>
              </a:rPr>
              <a:t>Combinative table:</a:t>
            </a:r>
            <a:r>
              <a:rPr lang="en-US" altLang="zh-CN" b="1"/>
              <a:t> More than 2 variables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/>
          </a:p>
        </p:txBody>
      </p:sp>
      <p:graphicFrame>
        <p:nvGraphicFramePr>
          <p:cNvPr id="23556" name="Object 4">
            <a:extLst>
              <a:ext uri="{FF2B5EF4-FFF2-40B4-BE49-F238E27FC236}">
                <a16:creationId xmlns:a16="http://schemas.microsoft.com/office/drawing/2014/main" id="{EB6E58A2-AB78-A76A-5A73-91FDC159C4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1066800"/>
          <a:ext cx="9144000" cy="367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631840" imgH="2217240" progId="Word.Document.8">
                  <p:embed/>
                </p:oleObj>
              </mc:Choice>
              <mc:Fallback>
                <p:oleObj name="Document" r:id="rId2" imgW="5631840" imgH="221724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066800"/>
                        <a:ext cx="9144000" cy="3678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CAFCDF2-D768-33A4-CF9A-CB5BAFDD60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838200"/>
          </a:xfrm>
        </p:spPr>
        <p:txBody>
          <a:bodyPr/>
          <a:lstStyle/>
          <a:p>
            <a:pPr algn="l"/>
            <a:r>
              <a:rPr lang="en-US" altLang="zh-CN" sz="3600" b="1"/>
              <a:t>(3) Frequent Mistakes in Tables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C9799EE1-D6E7-48C0-9F19-1A34719417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r>
              <a:rPr lang="en-US" altLang="zh-CN" b="1">
                <a:solidFill>
                  <a:srgbClr val="FFCC00"/>
                </a:solidFill>
              </a:rPr>
              <a:t>Content:</a:t>
            </a:r>
            <a:r>
              <a:rPr lang="en-US" altLang="zh-CN" b="1"/>
              <a:t>   Too much, mix of important and many non-important ones</a:t>
            </a:r>
          </a:p>
          <a:p>
            <a:r>
              <a:rPr lang="en-US" altLang="zh-CN" b="1">
                <a:solidFill>
                  <a:srgbClr val="FFCC00"/>
                </a:solidFill>
              </a:rPr>
              <a:t>Title:  </a:t>
            </a:r>
            <a:r>
              <a:rPr lang="en-US" altLang="zh-CN" b="1"/>
              <a:t> Not exactly fit the content</a:t>
            </a:r>
          </a:p>
          <a:p>
            <a:r>
              <a:rPr lang="en-US" altLang="zh-CN" b="1">
                <a:solidFill>
                  <a:srgbClr val="FFCC00"/>
                </a:solidFill>
              </a:rPr>
              <a:t>Items:  </a:t>
            </a:r>
            <a:r>
              <a:rPr lang="en-US" altLang="zh-CN" b="1"/>
              <a:t>Inappropriately arranged</a:t>
            </a:r>
          </a:p>
          <a:p>
            <a:r>
              <a:rPr lang="en-US" altLang="zh-CN" b="1">
                <a:solidFill>
                  <a:srgbClr val="FFCC00"/>
                </a:solidFill>
              </a:rPr>
              <a:t>Figures:  </a:t>
            </a:r>
            <a:r>
              <a:rPr lang="en-US" altLang="zh-CN" b="1"/>
              <a:t>Total and subtotals, digits and decimals</a:t>
            </a:r>
          </a:p>
          <a:p>
            <a:r>
              <a:rPr lang="en-US" altLang="zh-CN" b="1">
                <a:solidFill>
                  <a:srgbClr val="FFCC00"/>
                </a:solidFill>
              </a:rPr>
              <a:t>Lines:</a:t>
            </a:r>
            <a:r>
              <a:rPr lang="en-US" altLang="zh-CN" b="1"/>
              <a:t>  Using vertical lines and oblique lines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9" name="Object 3">
            <a:extLst>
              <a:ext uri="{FF2B5EF4-FFF2-40B4-BE49-F238E27FC236}">
                <a16:creationId xmlns:a16="http://schemas.microsoft.com/office/drawing/2014/main" id="{4C7DB336-B5C8-C4AA-9CF4-4EBB38814E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1485900"/>
          <a:ext cx="9144000" cy="3983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681880" imgH="2475720" progId="Word.Document.8">
                  <p:embed/>
                </p:oleObj>
              </mc:Choice>
              <mc:Fallback>
                <p:oleObj name="Document" r:id="rId2" imgW="5681880" imgH="247572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485900"/>
                        <a:ext cx="9144000" cy="3983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0" name="Text Box 4">
            <a:extLst>
              <a:ext uri="{FF2B5EF4-FFF2-40B4-BE49-F238E27FC236}">
                <a16:creationId xmlns:a16="http://schemas.microsoft.com/office/drawing/2014/main" id="{71709C5C-0527-0210-74CA-735E46AF10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57200"/>
            <a:ext cx="8458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600" b="1">
                <a:solidFill>
                  <a:schemeClr val="folHlink"/>
                </a:solidFill>
              </a:rPr>
              <a:t>What’s wrong with the following table?</a:t>
            </a:r>
          </a:p>
        </p:txBody>
      </p:sp>
      <p:sp>
        <p:nvSpPr>
          <p:cNvPr id="24582" name="Line 6">
            <a:extLst>
              <a:ext uri="{FF2B5EF4-FFF2-40B4-BE49-F238E27FC236}">
                <a16:creationId xmlns:a16="http://schemas.microsoft.com/office/drawing/2014/main" id="{5DE87492-908B-FBC2-BEB3-AA09EA9C7C6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2133600"/>
            <a:ext cx="19812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4583" name="Line 7">
            <a:extLst>
              <a:ext uri="{FF2B5EF4-FFF2-40B4-BE49-F238E27FC236}">
                <a16:creationId xmlns:a16="http://schemas.microsoft.com/office/drawing/2014/main" id="{A0534447-B50D-38E4-08A5-0002FBA71F19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2133600"/>
            <a:ext cx="1981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4584" name="Line 8">
            <a:extLst>
              <a:ext uri="{FF2B5EF4-FFF2-40B4-BE49-F238E27FC236}">
                <a16:creationId xmlns:a16="http://schemas.microsoft.com/office/drawing/2014/main" id="{4C7F67E1-9BE3-2535-5501-A804248B8CA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2133600"/>
            <a:ext cx="2057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186BCB6-4D8A-58BF-92FB-8AE5986EA3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4000" b="1"/>
              <a:t>2. Statistical graphs</a:t>
            </a:r>
            <a:r>
              <a:rPr lang="en-US" altLang="zh-CN"/>
              <a:t> 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E2E9F36E-B7BD-13BA-DC19-B2350AD43D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981200"/>
            <a:ext cx="8915400" cy="41148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en-US" altLang="zh-CN" sz="3600" b="1"/>
              <a:t>   Basic requirements:</a:t>
            </a:r>
            <a:endParaRPr lang="en-US" altLang="zh-CN" sz="3600"/>
          </a:p>
          <a:p>
            <a:pPr algn="just"/>
            <a:r>
              <a:rPr lang="en-US" altLang="zh-CN" b="1">
                <a:solidFill>
                  <a:schemeClr val="tx2"/>
                </a:solidFill>
              </a:rPr>
              <a:t>Axis:</a:t>
            </a:r>
            <a:r>
              <a:rPr lang="en-US" altLang="zh-CN" b="1"/>
              <a:t> Y-axis (vertical) and X-axis (horizontal).</a:t>
            </a:r>
            <a:endParaRPr lang="en-US" altLang="zh-CN"/>
          </a:p>
          <a:p>
            <a:pPr algn="just"/>
            <a:r>
              <a:rPr lang="en-US" altLang="zh-CN" b="1">
                <a:solidFill>
                  <a:schemeClr val="tx2"/>
                </a:solidFill>
              </a:rPr>
              <a:t>Legend:</a:t>
            </a:r>
            <a:r>
              <a:rPr lang="en-US" altLang="zh-CN" b="1">
                <a:solidFill>
                  <a:srgbClr val="FF0000"/>
                </a:solidFill>
              </a:rPr>
              <a:t> </a:t>
            </a:r>
            <a:r>
              <a:rPr lang="en-US" altLang="zh-CN" b="1"/>
              <a:t>explain meaning of colors or patterns</a:t>
            </a:r>
            <a:r>
              <a:rPr lang="en-US" altLang="zh-CN" b="1">
                <a:solidFill>
                  <a:srgbClr val="000000"/>
                </a:solidFill>
              </a:rPr>
              <a:t>.</a:t>
            </a:r>
            <a:r>
              <a:rPr lang="en-US" altLang="zh-CN"/>
              <a:t> 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Title:</a:t>
            </a:r>
            <a:r>
              <a:rPr lang="en-US" altLang="zh-CN" b="1">
                <a:solidFill>
                  <a:srgbClr val="FF0000"/>
                </a:solidFill>
              </a:rPr>
              <a:t> </a:t>
            </a:r>
            <a:r>
              <a:rPr lang="en-US" altLang="zh-CN" b="1"/>
              <a:t>under the graph; content, time, place.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CC278D8-5D42-100B-4789-F547E92A97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457200"/>
          </a:xfrm>
        </p:spPr>
        <p:txBody>
          <a:bodyPr/>
          <a:lstStyle/>
          <a:p>
            <a:pPr algn="l"/>
            <a:r>
              <a:rPr lang="en-US" altLang="zh-CN" sz="3600" b="1"/>
              <a:t>(1) Bar chart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E17F83E4-4455-817A-1CF7-8DC3DE80DA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914400"/>
            <a:ext cx="8763000" cy="5943600"/>
          </a:xfrm>
        </p:spPr>
        <p:txBody>
          <a:bodyPr/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Compare figures of different populations</a:t>
            </a:r>
          </a:p>
          <a:p>
            <a:pPr>
              <a:lnSpc>
                <a:spcPct val="90000"/>
              </a:lnSpc>
            </a:pPr>
            <a:endParaRPr lang="en-US" altLang="zh-CN" sz="3600"/>
          </a:p>
          <a:p>
            <a:pPr>
              <a:lnSpc>
                <a:spcPct val="90000"/>
              </a:lnSpc>
            </a:pPr>
            <a:endParaRPr lang="en-US" altLang="zh-CN" sz="3600"/>
          </a:p>
          <a:p>
            <a:pPr>
              <a:lnSpc>
                <a:spcPct val="90000"/>
              </a:lnSpc>
            </a:pPr>
            <a:endParaRPr lang="en-US" altLang="zh-CN" sz="3600"/>
          </a:p>
          <a:p>
            <a:pPr>
              <a:lnSpc>
                <a:spcPct val="90000"/>
              </a:lnSpc>
            </a:pPr>
            <a:endParaRPr lang="en-US" altLang="zh-CN" sz="3600"/>
          </a:p>
          <a:p>
            <a:pPr>
              <a:lnSpc>
                <a:spcPct val="90000"/>
              </a:lnSpc>
            </a:pPr>
            <a:endParaRPr lang="en-US" altLang="zh-CN" sz="3600"/>
          </a:p>
          <a:p>
            <a:pPr>
              <a:lnSpc>
                <a:spcPct val="90000"/>
              </a:lnSpc>
            </a:pPr>
            <a:endParaRPr lang="en-US" altLang="zh-CN" sz="360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00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  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Fig.1  Average cost of outpatients in a hospital during 1994-1997</a:t>
            </a:r>
            <a:r>
              <a:rPr lang="en-US" altLang="zh-CN" sz="3600"/>
              <a:t> </a:t>
            </a:r>
          </a:p>
          <a:p>
            <a:pPr>
              <a:lnSpc>
                <a:spcPct val="90000"/>
              </a:lnSpc>
            </a:pPr>
            <a:endParaRPr lang="en-US" altLang="zh-CN" sz="3600"/>
          </a:p>
        </p:txBody>
      </p:sp>
      <p:graphicFrame>
        <p:nvGraphicFramePr>
          <p:cNvPr id="9220" name="Object 4">
            <a:extLst>
              <a:ext uri="{FF2B5EF4-FFF2-40B4-BE49-F238E27FC236}">
                <a16:creationId xmlns:a16="http://schemas.microsoft.com/office/drawing/2014/main" id="{70AD6E03-1F33-AC69-4367-0C5B42BA45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1676400"/>
          <a:ext cx="6934200" cy="428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5534254" imgH="3429305" progId="Excel.Chart.8">
                  <p:embed/>
                </p:oleObj>
              </mc:Choice>
              <mc:Fallback>
                <p:oleObj name="Chart" r:id="rId2" imgW="5534254" imgH="3429305" progId="Excel.Char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676400"/>
                        <a:ext cx="6934200" cy="4281488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9BA412AB-FEA7-315C-9644-C5C5F9FA89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457200"/>
          </a:xfrm>
        </p:spPr>
        <p:txBody>
          <a:bodyPr/>
          <a:lstStyle/>
          <a:p>
            <a:pPr algn="l"/>
            <a:r>
              <a:rPr lang="en-US" altLang="zh-CN" sz="3600" b="1"/>
              <a:t>(2) Percent bar chart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DA5CEFE-CE36-EF06-3D0E-09DB7FF6FC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838200"/>
            <a:ext cx="8915400" cy="60198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Compare frequencies of a category variable</a:t>
            </a:r>
            <a:endParaRPr lang="en-US" altLang="zh-CN" sz="2800"/>
          </a:p>
          <a:p>
            <a:pPr>
              <a:lnSpc>
                <a:spcPct val="90000"/>
              </a:lnSpc>
            </a:pPr>
            <a:endParaRPr lang="en-US" altLang="zh-CN" sz="2800"/>
          </a:p>
          <a:p>
            <a:pPr>
              <a:lnSpc>
                <a:spcPct val="90000"/>
              </a:lnSpc>
            </a:pPr>
            <a:endParaRPr lang="en-US" altLang="zh-CN" sz="2800"/>
          </a:p>
          <a:p>
            <a:pPr>
              <a:lnSpc>
                <a:spcPct val="90000"/>
              </a:lnSpc>
            </a:pPr>
            <a:endParaRPr lang="en-US" altLang="zh-CN" sz="2800"/>
          </a:p>
          <a:p>
            <a:pPr>
              <a:lnSpc>
                <a:spcPct val="90000"/>
              </a:lnSpc>
            </a:pPr>
            <a:endParaRPr lang="en-US" altLang="zh-CN" sz="2800"/>
          </a:p>
          <a:p>
            <a:pPr>
              <a:lnSpc>
                <a:spcPct val="90000"/>
              </a:lnSpc>
            </a:pPr>
            <a:endParaRPr lang="en-US" altLang="zh-CN" sz="280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1600" b="1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 b="1"/>
              <a:t>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1600" b="1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b="1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b="1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 Fig. 2  Mother’s education manner in group of drug addicts and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              group of controls. (xx place, 1996) </a:t>
            </a:r>
            <a:endParaRPr lang="en-US" altLang="zh-CN" sz="2800"/>
          </a:p>
        </p:txBody>
      </p:sp>
      <p:graphicFrame>
        <p:nvGraphicFramePr>
          <p:cNvPr id="10244" name="Object 4">
            <a:extLst>
              <a:ext uri="{FF2B5EF4-FFF2-40B4-BE49-F238E27FC236}">
                <a16:creationId xmlns:a16="http://schemas.microsoft.com/office/drawing/2014/main" id="{FD3AD77A-BF9C-2EAC-04B8-7FC575CDCC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1447800"/>
          <a:ext cx="7467600" cy="3894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5753405" imgH="3000756" progId="Excel.Chart.8">
                  <p:embed/>
                </p:oleObj>
              </mc:Choice>
              <mc:Fallback>
                <p:oleObj name="Chart" r:id="rId2" imgW="5753405" imgH="3000756" progId="Excel.Char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447800"/>
                        <a:ext cx="7467600" cy="3894138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B64CCD8A-FB12-3A4B-A384-CC0758BE90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457200"/>
          </a:xfrm>
        </p:spPr>
        <p:txBody>
          <a:bodyPr/>
          <a:lstStyle/>
          <a:p>
            <a:pPr algn="l"/>
            <a:r>
              <a:rPr lang="en-US" altLang="zh-CN" sz="3600" b="1"/>
              <a:t>(3) Pie Chart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3DA68548-94EF-B143-EDDA-EEA8F8379E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066800"/>
            <a:ext cx="8991600" cy="57912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en-US" altLang="zh-CN" sz="2800" b="1"/>
              <a:t>Describe percentages of all the parts</a:t>
            </a:r>
            <a:r>
              <a:rPr lang="en-US" altLang="zh-CN" sz="2800"/>
              <a:t> </a:t>
            </a:r>
          </a:p>
          <a:p>
            <a:endParaRPr lang="en-US" altLang="zh-CN" sz="2800"/>
          </a:p>
          <a:p>
            <a:endParaRPr lang="en-US" altLang="zh-CN" sz="2800"/>
          </a:p>
          <a:p>
            <a:endParaRPr lang="en-US" altLang="zh-CN" sz="2800"/>
          </a:p>
          <a:p>
            <a:endParaRPr lang="en-US" altLang="zh-CN" sz="2800"/>
          </a:p>
          <a:p>
            <a:endParaRPr lang="en-US" altLang="zh-CN" sz="2800"/>
          </a:p>
          <a:p>
            <a:pPr>
              <a:buFont typeface="Wingdings" panose="05000000000000000000" pitchFamily="2" charset="2"/>
              <a:buNone/>
            </a:pPr>
            <a:endParaRPr lang="en-US" altLang="zh-CN" sz="1600" b="1"/>
          </a:p>
          <a:p>
            <a:pPr>
              <a:buFont typeface="Wingdings" panose="05000000000000000000" pitchFamily="2" charset="2"/>
              <a:buNone/>
            </a:pPr>
            <a:endParaRPr lang="en-US" altLang="zh-CN" sz="1600" b="1"/>
          </a:p>
          <a:p>
            <a:pPr>
              <a:buFont typeface="Wingdings" panose="05000000000000000000" pitchFamily="2" charset="2"/>
              <a:buNone/>
            </a:pPr>
            <a:endParaRPr lang="en-US" altLang="zh-CN" sz="1600" b="1"/>
          </a:p>
          <a:p>
            <a:pPr>
              <a:buFont typeface="Wingdings" panose="05000000000000000000" pitchFamily="2" charset="2"/>
              <a:buNone/>
            </a:pPr>
            <a:endParaRPr lang="en-US" altLang="zh-CN" sz="1600" b="1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b="1"/>
              <a:t>    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b="1"/>
              <a:t>            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b="1"/>
              <a:t>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/>
              <a:t>Fig.3  Percentages of the reasons for re-addiction (xx place,1996)</a:t>
            </a:r>
            <a:r>
              <a:rPr lang="en-US" altLang="zh-CN" sz="2000"/>
              <a:t> </a:t>
            </a:r>
          </a:p>
        </p:txBody>
      </p:sp>
      <p:graphicFrame>
        <p:nvGraphicFramePr>
          <p:cNvPr id="11268" name="Object 4">
            <a:extLst>
              <a:ext uri="{FF2B5EF4-FFF2-40B4-BE49-F238E27FC236}">
                <a16:creationId xmlns:a16="http://schemas.microsoft.com/office/drawing/2014/main" id="{CDAB8056-B0D7-E577-F96C-D9BCAD3D03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1676400"/>
          <a:ext cx="7696200" cy="461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5753405" imgH="3448507" progId="Excel.Chart.8">
                  <p:embed/>
                </p:oleObj>
              </mc:Choice>
              <mc:Fallback>
                <p:oleObj name="Chart" r:id="rId2" imgW="5753405" imgH="3448507" progId="Excel.Char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676400"/>
                        <a:ext cx="7696200" cy="4613275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1BB923FD-3749-8B5A-AEF8-203575B7B0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848600" cy="457200"/>
          </a:xfrm>
        </p:spPr>
        <p:txBody>
          <a:bodyPr/>
          <a:lstStyle/>
          <a:p>
            <a:pPr algn="l"/>
            <a:br>
              <a:rPr lang="en-US" altLang="zh-CN" sz="4000" b="1"/>
            </a:br>
            <a:r>
              <a:rPr lang="en-US" altLang="zh-CN" sz="3600" b="1"/>
              <a:t>(4)</a:t>
            </a:r>
            <a:r>
              <a:rPr lang="en-US" altLang="zh-C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zh-CN" sz="3600" b="1"/>
              <a:t>Line graph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4301CC4D-3BD2-391B-8F19-29846A8D04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762000"/>
            <a:ext cx="9144000" cy="5867400"/>
          </a:xfrm>
        </p:spPr>
        <p:txBody>
          <a:bodyPr/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/>
          </a:p>
          <a:p>
            <a:pPr>
              <a:lnSpc>
                <a:spcPct val="90000"/>
              </a:lnSpc>
            </a:pPr>
            <a:r>
              <a:rPr lang="en-US" altLang="zh-CN" sz="2800" b="1"/>
              <a:t>Describe the changing of Y with X (time) -- tendency</a:t>
            </a:r>
            <a:endParaRPr lang="en-US" altLang="zh-CN" sz="2800"/>
          </a:p>
          <a:p>
            <a:pPr>
              <a:lnSpc>
                <a:spcPct val="90000"/>
              </a:lnSpc>
            </a:pPr>
            <a:endParaRPr lang="en-US" altLang="zh-CN" sz="2800"/>
          </a:p>
          <a:p>
            <a:pPr>
              <a:lnSpc>
                <a:spcPct val="90000"/>
              </a:lnSpc>
            </a:pPr>
            <a:endParaRPr lang="en-US" altLang="zh-CN" sz="2800"/>
          </a:p>
          <a:p>
            <a:pPr>
              <a:lnSpc>
                <a:spcPct val="90000"/>
              </a:lnSpc>
            </a:pPr>
            <a:endParaRPr lang="en-US" altLang="zh-CN" sz="2800"/>
          </a:p>
          <a:p>
            <a:pPr>
              <a:lnSpc>
                <a:spcPct val="90000"/>
              </a:lnSpc>
            </a:pPr>
            <a:endParaRPr lang="en-US" altLang="zh-CN" sz="2800"/>
          </a:p>
          <a:p>
            <a:pPr>
              <a:lnSpc>
                <a:spcPct val="90000"/>
              </a:lnSpc>
            </a:pPr>
            <a:endParaRPr lang="en-US" altLang="zh-CN" sz="2800"/>
          </a:p>
          <a:p>
            <a:pPr>
              <a:lnSpc>
                <a:spcPct val="90000"/>
              </a:lnSpc>
            </a:pPr>
            <a:endParaRPr lang="en-US" altLang="zh-CN" sz="2800"/>
          </a:p>
          <a:p>
            <a:pPr>
              <a:lnSpc>
                <a:spcPct val="90000"/>
              </a:lnSpc>
            </a:pPr>
            <a:endParaRPr lang="en-US" altLang="zh-CN" sz="280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</a:t>
            </a:r>
            <a:r>
              <a:rPr lang="en-US" altLang="zh-CN" sz="2400" b="1"/>
              <a:t>Fig. 8-5 Incidence rates of stomach cancer in a city</a:t>
            </a:r>
            <a:endParaRPr lang="en-US" altLang="zh-CN" sz="1800"/>
          </a:p>
          <a:p>
            <a:pPr>
              <a:lnSpc>
                <a:spcPct val="90000"/>
              </a:lnSpc>
            </a:pPr>
            <a:endParaRPr lang="en-US" altLang="zh-CN" sz="1800"/>
          </a:p>
        </p:txBody>
      </p:sp>
      <p:pic>
        <p:nvPicPr>
          <p:cNvPr id="12294" name="Picture 6">
            <a:extLst>
              <a:ext uri="{FF2B5EF4-FFF2-40B4-BE49-F238E27FC236}">
                <a16:creationId xmlns:a16="http://schemas.microsoft.com/office/drawing/2014/main" id="{CFAB13D1-D86E-A407-E82F-AC3C96FE3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905000"/>
            <a:ext cx="6858000" cy="3795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FB3F5002-E21B-411A-8BF0-EE4C03543A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838200"/>
          </a:xfrm>
        </p:spPr>
        <p:txBody>
          <a:bodyPr/>
          <a:lstStyle/>
          <a:p>
            <a:r>
              <a:rPr lang="en-US" altLang="zh-CN" sz="3600" b="1"/>
              <a:t>(5) Semi-logarithmic line graph</a:t>
            </a:r>
          </a:p>
        </p:txBody>
      </p:sp>
      <p:pic>
        <p:nvPicPr>
          <p:cNvPr id="13317" name="Picture 5">
            <a:extLst>
              <a:ext uri="{FF2B5EF4-FFF2-40B4-BE49-F238E27FC236}">
                <a16:creationId xmlns:a16="http://schemas.microsoft.com/office/drawing/2014/main" id="{89F2834D-A924-26BD-EBBB-6726D31C10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8200"/>
            <a:ext cx="4572000" cy="331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8" name="Picture 6">
            <a:extLst>
              <a:ext uri="{FF2B5EF4-FFF2-40B4-BE49-F238E27FC236}">
                <a16:creationId xmlns:a16="http://schemas.microsoft.com/office/drawing/2014/main" id="{19DB6AA3-31FC-6EB6-1359-0B1BC4878B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563" y="838200"/>
            <a:ext cx="4724400" cy="329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319" name="Text Box 7">
            <a:extLst>
              <a:ext uri="{FF2B5EF4-FFF2-40B4-BE49-F238E27FC236}">
                <a16:creationId xmlns:a16="http://schemas.microsoft.com/office/drawing/2014/main" id="{B681C706-CFC3-69AF-575A-A61FFF7F45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953000"/>
            <a:ext cx="91440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/>
              <a:t>      </a:t>
            </a:r>
            <a:r>
              <a:rPr lang="en-US" altLang="zh-CN" sz="3200" b="1"/>
              <a:t>In order to show</a:t>
            </a:r>
            <a:r>
              <a:rPr lang="en-US" altLang="zh-CN" sz="3200" b="1" i="1"/>
              <a:t> </a:t>
            </a:r>
            <a:r>
              <a:rPr lang="en-US" altLang="zh-CN" sz="3200" b="1"/>
              <a:t>the increasing in terms of</a:t>
            </a:r>
            <a:r>
              <a:rPr lang="en-US" altLang="zh-CN" sz="3200" b="1" i="1"/>
              <a:t> </a:t>
            </a:r>
            <a:r>
              <a:rPr lang="en-US" altLang="zh-CN" sz="3200" b="1"/>
              <a:t>mortality rate, one may use the log-scale for horizontal axis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8185D89A-AE99-8A34-511D-F37954C826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848600" cy="457200"/>
          </a:xfrm>
        </p:spPr>
        <p:txBody>
          <a:bodyPr/>
          <a:lstStyle/>
          <a:p>
            <a:pPr algn="l"/>
            <a:r>
              <a:rPr lang="en-US" altLang="zh-CN" sz="3600" b="1"/>
              <a:t>(6) Scatter diagram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D66EAA2E-4CC6-50BC-9A7C-DC6D1CBFBF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685800"/>
            <a:ext cx="8991600" cy="5867400"/>
          </a:xfrm>
        </p:spPr>
        <p:txBody>
          <a:bodyPr/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Describe the relationship between two numerical variables.</a:t>
            </a:r>
            <a:endParaRPr lang="en-US" altLang="zh-CN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/>
          </a:p>
          <a:p>
            <a:pPr>
              <a:lnSpc>
                <a:spcPct val="90000"/>
              </a:lnSpc>
            </a:pPr>
            <a:endParaRPr lang="en-US" altLang="zh-CN"/>
          </a:p>
          <a:p>
            <a:pPr>
              <a:lnSpc>
                <a:spcPct val="90000"/>
              </a:lnSpc>
            </a:pPr>
            <a:endParaRPr lang="en-US" altLang="zh-CN"/>
          </a:p>
          <a:p>
            <a:pPr>
              <a:lnSpc>
                <a:spcPct val="90000"/>
              </a:lnSpc>
            </a:pPr>
            <a:endParaRPr lang="en-US" altLang="zh-CN"/>
          </a:p>
          <a:p>
            <a:pPr>
              <a:lnSpc>
                <a:spcPct val="90000"/>
              </a:lnSpc>
            </a:pPr>
            <a:endParaRPr lang="en-US" altLang="zh-CN"/>
          </a:p>
          <a:p>
            <a:pPr>
              <a:lnSpc>
                <a:spcPct val="90000"/>
              </a:lnSpc>
            </a:pPr>
            <a:endParaRPr lang="en-US" altLang="zh-CN"/>
          </a:p>
          <a:p>
            <a:pPr>
              <a:lnSpc>
                <a:spcPct val="90000"/>
              </a:lnSpc>
            </a:pPr>
            <a:endParaRPr lang="en-US" altLang="zh-CN"/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b="1"/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         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 Fig.8-8 Fluorescent density and vitamin C</a:t>
            </a:r>
            <a:endParaRPr lang="en-US" altLang="zh-CN"/>
          </a:p>
        </p:txBody>
      </p:sp>
      <p:pic>
        <p:nvPicPr>
          <p:cNvPr id="14341" name="Picture 5">
            <a:extLst>
              <a:ext uri="{FF2B5EF4-FFF2-40B4-BE49-F238E27FC236}">
                <a16:creationId xmlns:a16="http://schemas.microsoft.com/office/drawing/2014/main" id="{11D8E032-6FCD-3B7C-AEE2-306F7393A2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741488"/>
            <a:ext cx="8077200" cy="436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6C1181DC-94C7-D9AC-599D-74C7E87DE0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457200"/>
          </a:xfrm>
        </p:spPr>
        <p:txBody>
          <a:bodyPr/>
          <a:lstStyle/>
          <a:p>
            <a:pPr algn="l"/>
            <a:br>
              <a:rPr lang="en-US" altLang="zh-CN" b="1"/>
            </a:br>
            <a:r>
              <a:rPr lang="en-US" altLang="zh-CN" sz="3600" b="1"/>
              <a:t>(7) Histogram</a:t>
            </a:r>
            <a:br>
              <a:rPr lang="en-US" altLang="zh-CN" sz="3600"/>
            </a:br>
            <a:endParaRPr lang="en-US" altLang="zh-CN" sz="3600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86E9C8DC-8647-214C-CBA8-0A594280B4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610600" cy="56388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Describe a frequency distribution of X</a:t>
            </a:r>
            <a:endParaRPr lang="en-US" altLang="zh-CN"/>
          </a:p>
          <a:p>
            <a:pPr>
              <a:lnSpc>
                <a:spcPct val="90000"/>
              </a:lnSpc>
            </a:pPr>
            <a:endParaRPr lang="en-US" altLang="zh-CN"/>
          </a:p>
          <a:p>
            <a:pPr>
              <a:lnSpc>
                <a:spcPct val="90000"/>
              </a:lnSpc>
            </a:pPr>
            <a:endParaRPr lang="en-US" altLang="zh-CN"/>
          </a:p>
          <a:p>
            <a:pPr>
              <a:lnSpc>
                <a:spcPct val="90000"/>
              </a:lnSpc>
            </a:pPr>
            <a:endParaRPr lang="en-US" altLang="zh-CN"/>
          </a:p>
          <a:p>
            <a:pPr>
              <a:lnSpc>
                <a:spcPct val="90000"/>
              </a:lnSpc>
            </a:pPr>
            <a:endParaRPr lang="en-US" altLang="zh-CN"/>
          </a:p>
          <a:p>
            <a:pPr>
              <a:lnSpc>
                <a:spcPct val="90000"/>
              </a:lnSpc>
            </a:pPr>
            <a:endParaRPr lang="en-US" altLang="zh-CN"/>
          </a:p>
          <a:p>
            <a:pPr>
              <a:lnSpc>
                <a:spcPct val="90000"/>
              </a:lnSpc>
            </a:pPr>
            <a:endParaRPr lang="en-US" altLang="zh-CN"/>
          </a:p>
          <a:p>
            <a:pPr algn="just">
              <a:lnSpc>
                <a:spcPct val="90000"/>
              </a:lnSpc>
            </a:pPr>
            <a:endParaRPr lang="en-US" altLang="zh-CN" sz="1800" b="1"/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b="1"/>
              <a:t>           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   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           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             Fig.8-9 Age distribution of first attack among 215 cases</a:t>
            </a:r>
          </a:p>
          <a:p>
            <a:pPr>
              <a:lnSpc>
                <a:spcPct val="90000"/>
              </a:lnSpc>
            </a:pPr>
            <a:endParaRPr lang="en-US" altLang="zh-CN" sz="2800"/>
          </a:p>
          <a:p>
            <a:pPr>
              <a:lnSpc>
                <a:spcPct val="90000"/>
              </a:lnSpc>
            </a:pPr>
            <a:endParaRPr lang="en-US" altLang="zh-CN"/>
          </a:p>
        </p:txBody>
      </p:sp>
      <p:pic>
        <p:nvPicPr>
          <p:cNvPr id="15366" name="Picture 6">
            <a:extLst>
              <a:ext uri="{FF2B5EF4-FFF2-40B4-BE49-F238E27FC236}">
                <a16:creationId xmlns:a16="http://schemas.microsoft.com/office/drawing/2014/main" id="{0A13F4B7-06D0-51D2-5ABC-2ECB661F36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52600"/>
            <a:ext cx="8229600" cy="416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66120DAC-7514-B566-226C-EA1CF57FC2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72400" cy="762000"/>
          </a:xfrm>
        </p:spPr>
        <p:txBody>
          <a:bodyPr/>
          <a:lstStyle/>
          <a:p>
            <a:r>
              <a:rPr lang="en-US" altLang="zh-CN" b="1"/>
              <a:t>Summary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22BD7491-A0A9-9557-042C-12B59308AC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19200"/>
            <a:ext cx="9144000" cy="5638800"/>
          </a:xfrm>
        </p:spPr>
        <p:txBody>
          <a:bodyPr/>
          <a:lstStyle/>
          <a:p>
            <a:r>
              <a:rPr lang="en-US" altLang="zh-CN" b="1"/>
              <a:t>A nice table can save a lot of words, show the fundamental characteristics and their relationship clearly.</a:t>
            </a:r>
          </a:p>
          <a:p>
            <a:r>
              <a:rPr lang="en-US" altLang="zh-CN" b="1"/>
              <a:t>Comparing to statistical tables, nice looking statistical plots are even more intuitive and understandable.  </a:t>
            </a:r>
          </a:p>
          <a:p>
            <a:r>
              <a:rPr lang="en-US" altLang="zh-CN" b="1"/>
              <a:t>Contrarily, a poor organized table or a messy plot may sicken people.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2">
            <a:extLst>
              <a:ext uri="{FF2B5EF4-FFF2-40B4-BE49-F238E27FC236}">
                <a16:creationId xmlns:a16="http://schemas.microsoft.com/office/drawing/2014/main" id="{C073BBD5-A04D-6E87-DC83-AB615D59F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4325" y="2743200"/>
            <a:ext cx="549275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endParaRPr lang="zh-CN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校门">
  <a:themeElements>
    <a:clrScheme name="校门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校门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校门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校门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校门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校门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校门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Settings\jeff\Application Data\Microsoft\Templates\校门.pot</Template>
  <TotalTime>458</TotalTime>
  <Words>623</Words>
  <Application>Microsoft Office PowerPoint</Application>
  <PresentationFormat>全屏显示(4:3)</PresentationFormat>
  <Paragraphs>146</Paragraphs>
  <Slides>25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3" baseType="lpstr">
      <vt:lpstr>Times New Roman</vt:lpstr>
      <vt:lpstr>宋体</vt:lpstr>
      <vt:lpstr>Arial</vt:lpstr>
      <vt:lpstr>Wingdings</vt:lpstr>
      <vt:lpstr>Apple Chancery</vt:lpstr>
      <vt:lpstr>校门</vt:lpstr>
      <vt:lpstr>Microsoft Word 文档</vt:lpstr>
      <vt:lpstr>Microsoft Excel 图表</vt:lpstr>
      <vt:lpstr>PowerPoint 演示文稿</vt:lpstr>
      <vt:lpstr>Medical Statistics  (full English class)</vt:lpstr>
      <vt:lpstr>Statistical Table and Graph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 Statistical Table</vt:lpstr>
      <vt:lpstr>Put into a table</vt:lpstr>
      <vt:lpstr>(1) Construction of statistical table </vt:lpstr>
      <vt:lpstr>(2) Types of Statistical tables</vt:lpstr>
      <vt:lpstr>PowerPoint 演示文稿</vt:lpstr>
      <vt:lpstr>(3) Frequent Mistakes in Tables</vt:lpstr>
      <vt:lpstr>PowerPoint 演示文稿</vt:lpstr>
      <vt:lpstr>2. Statistical graphs </vt:lpstr>
      <vt:lpstr>(1) Bar chart</vt:lpstr>
      <vt:lpstr>(2) Percent bar chart</vt:lpstr>
      <vt:lpstr>(3) Pie Chart</vt:lpstr>
      <vt:lpstr> (4) Line graph</vt:lpstr>
      <vt:lpstr>(5) Semi-logarithmic line graph</vt:lpstr>
      <vt:lpstr>(6) Scatter diagram</vt:lpstr>
      <vt:lpstr> (7) Histogram </vt:lpstr>
      <vt:lpstr>Summary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8.4  Statistical Table and Graph</dc:title>
  <dc:creator>fangjq</dc:creator>
  <cp:lastModifiedBy>超然网络服务店 超然网络服务店</cp:lastModifiedBy>
  <cp:revision>11</cp:revision>
  <dcterms:created xsi:type="dcterms:W3CDTF">2005-02-16T03:41:59Z</dcterms:created>
  <dcterms:modified xsi:type="dcterms:W3CDTF">2023-10-24T11:42:54Z</dcterms:modified>
</cp:coreProperties>
</file>