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501" y="332359"/>
            <a:ext cx="3751097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844" y="874204"/>
            <a:ext cx="44196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1672005"/>
            <a:ext cx="4409211" cy="92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35261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09237" y="3353670"/>
            <a:ext cx="3460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31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slide" Target="slide26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6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6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44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" Target="slide4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7.xml"/><Relationship Id="rId3" Type="http://schemas.openxmlformats.org/officeDocument/2006/relationships/slide" Target="slide48.xml"/><Relationship Id="rId4" Type="http://schemas.openxmlformats.org/officeDocument/2006/relationships/image" Target="../media/image18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8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4.xml"/><Relationship Id="rId3" Type="http://schemas.openxmlformats.org/officeDocument/2006/relationships/slide" Target="slide51.xml"/><Relationship Id="rId4" Type="http://schemas.openxmlformats.org/officeDocument/2006/relationships/slide" Target="slide5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4.xml"/><Relationship Id="rId3" Type="http://schemas.openxmlformats.org/officeDocument/2006/relationships/slide" Target="slide48.xml"/><Relationship Id="rId4" Type="http://schemas.openxmlformats.org/officeDocument/2006/relationships/slide" Target="slide50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7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40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7.png"/><Relationship Id="rId5" Type="http://schemas.openxmlformats.org/officeDocument/2006/relationships/image" Target="../media/image63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4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4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4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70.png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60.png"/><Relationship Id="rId4" Type="http://schemas.openxmlformats.org/officeDocument/2006/relationships/image" Target="../media/image57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</a:rPr>
              <a:t>分</a:t>
            </a:r>
            <a:r>
              <a:rPr dirty="0" sz="2100" spc="-15">
                <a:solidFill>
                  <a:srgbClr val="FFFFFF"/>
                </a:solidFill>
              </a:rPr>
              <a:t>析</a:t>
            </a:r>
            <a:r>
              <a:rPr dirty="0" sz="2100" spc="-10">
                <a:solidFill>
                  <a:srgbClr val="FFFFFF"/>
                </a:solidFill>
              </a:rPr>
              <a:t>化学</a:t>
            </a:r>
            <a:r>
              <a:rPr dirty="0" sz="2100" spc="-15">
                <a:solidFill>
                  <a:srgbClr val="FFFFFF"/>
                </a:solidFill>
              </a:rPr>
              <a:t>基</a:t>
            </a:r>
            <a:r>
              <a:rPr dirty="0" sz="2100" spc="-10">
                <a:solidFill>
                  <a:srgbClr val="FFFFFF"/>
                </a:solidFill>
              </a:rPr>
              <a:t>础</a:t>
            </a:r>
            <a:r>
              <a:rPr dirty="0" sz="2100" spc="-15">
                <a:solidFill>
                  <a:srgbClr val="FFFFFF"/>
                </a:solidFill>
              </a:rPr>
              <a:t>教</a:t>
            </a:r>
            <a:r>
              <a:rPr dirty="0" sz="2100" spc="-10">
                <a:solidFill>
                  <a:srgbClr val="FFFFFF"/>
                </a:solidFill>
              </a:rPr>
              <a:t>程</a:t>
            </a:r>
            <a:endParaRPr sz="2100"/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80">
                <a:latin typeface="Georgia"/>
                <a:cs typeface="Georgia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 spc="-40">
                <a:latin typeface="Georgia"/>
                <a:cs typeface="Georgia"/>
              </a:rPr>
              <a:t>27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5628" y="716792"/>
            <a:ext cx="241681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395">
                <a:latin typeface="Colonna MT"/>
                <a:cs typeface="Colonna MT"/>
              </a:rPr>
              <a:t>6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氧化还原滴定法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0511" y="2204237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4" h="0">
                <a:moveTo>
                  <a:pt x="0" y="0"/>
                </a:moveTo>
                <a:lnTo>
                  <a:pt x="6073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23323" y="2202103"/>
            <a:ext cx="759460" cy="0"/>
          </a:xfrm>
          <a:custGeom>
            <a:avLst/>
            <a:gdLst/>
            <a:ahLst/>
            <a:cxnLst/>
            <a:rect l="l" t="t" r="r" b="b"/>
            <a:pathLst>
              <a:path w="759460" h="0">
                <a:moveTo>
                  <a:pt x="0" y="0"/>
                </a:moveTo>
                <a:lnTo>
                  <a:pt x="7591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5844" y="610196"/>
            <a:ext cx="4387850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2446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氧化还原滴定法是以氧化还原反应为基础的一种滴定方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是化学分析中被广泛应用的重要的分析方法之</a:t>
            </a:r>
            <a:r>
              <a:rPr dirty="0" sz="1200" spc="-80">
                <a:latin typeface="Arial Unicode MS"/>
                <a:cs typeface="Arial Unicode MS"/>
              </a:rPr>
              <a:t>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能够直接或间 接地测定许多无机化合物和有机化合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氧化还原反应的特点是反应机理复</a:t>
            </a:r>
            <a:r>
              <a:rPr dirty="0" sz="1200" spc="-80">
                <a:latin typeface="Arial Unicode MS"/>
                <a:cs typeface="Arial Unicode MS"/>
              </a:rPr>
              <a:t>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反应过程分多步完</a:t>
            </a:r>
            <a:r>
              <a:rPr dirty="0" sz="1200" spc="-80">
                <a:latin typeface="Arial Unicode MS"/>
                <a:cs typeface="Arial Unicode MS"/>
              </a:rPr>
              <a:t>成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这就导致反应速率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并常伴有副反应发</a:t>
            </a:r>
            <a:r>
              <a:rPr dirty="0" sz="1200" spc="-20">
                <a:latin typeface="Arial Unicode MS"/>
                <a:cs typeface="Arial Unicode MS"/>
              </a:rPr>
              <a:t>生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对氧化还原反 应过程的控制是氧化还原滴定中一个必须重点关注的问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氧化 还原滴定必须在很好地兼顾化学平衡问题和化学动力学问题的前 提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才有可能获得准确的结</a:t>
            </a:r>
            <a:r>
              <a:rPr dirty="0" sz="1200" spc="-20">
                <a:latin typeface="Arial Unicode MS"/>
                <a:cs typeface="Arial Unicode MS"/>
              </a:rPr>
              <a:t>果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58750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6.1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氧化还原平衡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611060"/>
            <a:ext cx="18370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对于如下的氧化还原反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3037" y="987221"/>
            <a:ext cx="789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2+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351" y="1085291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24691" sz="675" spc="-127">
                <a:latin typeface="Times New Roman"/>
                <a:cs typeface="Times New Roman"/>
              </a:rPr>
              <a:t>'</a:t>
            </a:r>
            <a:r>
              <a:rPr dirty="0" sz="450" spc="-65">
                <a:latin typeface="Times New Roman"/>
                <a:cs typeface="Times New Roman"/>
              </a:rPr>
              <a:t> </a:t>
            </a:r>
            <a:r>
              <a:rPr dirty="0" sz="450" spc="-155">
                <a:latin typeface="Times New Roman"/>
                <a:cs typeface="Times New Roman"/>
              </a:rPr>
              <a:t>-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817">
                <a:latin typeface="Times New Roman"/>
                <a:cs typeface="Times New Roman"/>
              </a:rPr>
              <a:t> </a:t>
            </a:r>
            <a:endParaRPr baseline="24691" sz="67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9895" y="987221"/>
            <a:ext cx="789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58750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6.1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氧化还原平衡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611060"/>
            <a:ext cx="18370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对于如下的氧化还原反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3037" y="987221"/>
            <a:ext cx="789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2+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351" y="1085291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24691" sz="675" spc="-127">
                <a:latin typeface="Times New Roman"/>
                <a:cs typeface="Times New Roman"/>
              </a:rPr>
              <a:t>'</a:t>
            </a:r>
            <a:r>
              <a:rPr dirty="0" sz="450" spc="-65">
                <a:latin typeface="Times New Roman"/>
                <a:cs typeface="Times New Roman"/>
              </a:rPr>
              <a:t> </a:t>
            </a:r>
            <a:r>
              <a:rPr dirty="0" sz="450" spc="-155">
                <a:latin typeface="Times New Roman"/>
                <a:cs typeface="Times New Roman"/>
              </a:rPr>
              <a:t>-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817">
                <a:latin typeface="Times New Roman"/>
                <a:cs typeface="Times New Roman"/>
              </a:rPr>
              <a:t> </a:t>
            </a:r>
            <a:endParaRPr baseline="24691" sz="67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9895" y="987221"/>
            <a:ext cx="789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01" y="1352689"/>
            <a:ext cx="2140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它是由下面两个半反应组成</a:t>
            </a:r>
            <a:r>
              <a:rPr dirty="0" sz="1200" spc="-9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788" y="1642463"/>
            <a:ext cx="126365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3400"/>
              </a:lnSpc>
              <a:spcBef>
                <a:spcPts val="10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0">
                <a:latin typeface="Georgia"/>
                <a:cs typeface="Georgia"/>
              </a:rPr>
              <a:t>e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Georgia"/>
                <a:cs typeface="Georgia"/>
              </a:rPr>
              <a:t>Ce</a:t>
            </a:r>
            <a:r>
              <a:rPr dirty="0" baseline="37037" sz="900" spc="37">
                <a:latin typeface="Times New Roman"/>
                <a:cs typeface="Times New Roman"/>
              </a:rPr>
              <a:t>3+ 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0">
                <a:latin typeface="Georgia"/>
                <a:cs typeface="Georgia"/>
              </a:rPr>
              <a:t>e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27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610" y="1642463"/>
            <a:ext cx="1621790" cy="47307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37037" sz="900" spc="337">
                <a:latin typeface="Arial"/>
                <a:cs typeface="Arial"/>
              </a:rPr>
              <a:t>)</a:t>
            </a:r>
            <a:r>
              <a:rPr dirty="0" baseline="37037" sz="900" spc="-127">
                <a:latin typeface="Arial"/>
                <a:cs typeface="Arial"/>
              </a:rPr>
              <a:t> </a:t>
            </a:r>
            <a:r>
              <a:rPr dirty="0" sz="1100" spc="55">
                <a:latin typeface="Georgia"/>
                <a:cs typeface="Georgia"/>
              </a:rPr>
              <a:t>(Ce</a:t>
            </a:r>
            <a:r>
              <a:rPr dirty="0" baseline="37037" sz="900" spc="82">
                <a:latin typeface="Times New Roman"/>
                <a:cs typeface="Times New Roman"/>
              </a:rPr>
              <a:t>4+</a:t>
            </a:r>
            <a:r>
              <a:rPr dirty="0" sz="1100" spc="55" b="0" i="1">
                <a:latin typeface="Bookman Old Style"/>
                <a:cs typeface="Bookman Old Style"/>
              </a:rPr>
              <a:t>/</a:t>
            </a:r>
            <a:r>
              <a:rPr dirty="0" sz="1100" spc="55">
                <a:latin typeface="Georgia"/>
                <a:cs typeface="Georgia"/>
              </a:rPr>
              <a:t>Ce</a:t>
            </a:r>
            <a:r>
              <a:rPr dirty="0" baseline="37037" sz="900" spc="82">
                <a:latin typeface="Times New Roman"/>
                <a:cs typeface="Times New Roman"/>
              </a:rPr>
              <a:t>3+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1</a:t>
            </a:r>
            <a:r>
              <a:rPr dirty="0" sz="1100" spc="5" b="0" i="1">
                <a:latin typeface="Bookman Old Style"/>
                <a:cs typeface="Bookman Old Style"/>
              </a:rPr>
              <a:t>.</a:t>
            </a:r>
            <a:r>
              <a:rPr dirty="0" sz="1100" spc="5">
                <a:latin typeface="Georgia"/>
                <a:cs typeface="Georgia"/>
              </a:rPr>
              <a:t>61</a:t>
            </a:r>
            <a:r>
              <a:rPr dirty="0" sz="1100" spc="85">
                <a:latin typeface="Georgia"/>
                <a:cs typeface="Georgia"/>
              </a:rPr>
              <a:t> V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37037" sz="900" spc="337">
                <a:latin typeface="Arial"/>
                <a:cs typeface="Arial"/>
              </a:rPr>
              <a:t>)</a:t>
            </a:r>
            <a:r>
              <a:rPr dirty="0" baseline="37037" sz="900" spc="-172">
                <a:latin typeface="Arial"/>
                <a:cs typeface="Arial"/>
              </a:rPr>
              <a:t> 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771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4599" y="260233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4599" y="286398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444" y="2162454"/>
            <a:ext cx="4286885" cy="10344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Ce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Fe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各自组成了一个电</a:t>
            </a:r>
            <a:r>
              <a:rPr dirty="0" sz="1200" spc="-65">
                <a:latin typeface="Arial Unicode MS"/>
                <a:cs typeface="Arial Unicode MS"/>
              </a:rPr>
              <a:t>对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37037" sz="900" spc="337">
                <a:latin typeface="Arial"/>
                <a:cs typeface="Arial"/>
              </a:rPr>
              <a:t>)</a:t>
            </a:r>
            <a:r>
              <a:rPr dirty="0" baseline="37037" sz="900" spc="-120">
                <a:latin typeface="Arial"/>
                <a:cs typeface="Arial"/>
              </a:rPr>
              <a:t> </a:t>
            </a:r>
            <a:r>
              <a:rPr dirty="0" sz="1100" spc="55">
                <a:latin typeface="Georgia"/>
                <a:cs typeface="Georgia"/>
              </a:rPr>
              <a:t>(Ce</a:t>
            </a:r>
            <a:r>
              <a:rPr dirty="0" baseline="37037" sz="900" spc="82">
                <a:latin typeface="Times New Roman"/>
                <a:cs typeface="Times New Roman"/>
              </a:rPr>
              <a:t>4+</a:t>
            </a:r>
            <a:r>
              <a:rPr dirty="0" sz="1100" spc="55" b="0" i="1">
                <a:latin typeface="Bookman Old Style"/>
                <a:cs typeface="Bookman Old Style"/>
              </a:rPr>
              <a:t>/</a:t>
            </a:r>
            <a:r>
              <a:rPr dirty="0" sz="1100" spc="55">
                <a:latin typeface="Georgia"/>
                <a:cs typeface="Georgia"/>
              </a:rPr>
              <a:t>Ce</a:t>
            </a:r>
            <a:r>
              <a:rPr dirty="0" baseline="37037" sz="900" spc="82">
                <a:latin typeface="Times New Roman"/>
                <a:cs typeface="Times New Roman"/>
              </a:rPr>
              <a:t>3+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37037" sz="900" spc="337">
                <a:latin typeface="Arial"/>
                <a:cs typeface="Arial"/>
              </a:rPr>
              <a:t>)</a:t>
            </a:r>
            <a:r>
              <a:rPr dirty="0" baseline="37037" sz="900" spc="-127">
                <a:latin typeface="Arial"/>
                <a:cs typeface="Arial"/>
              </a:rPr>
              <a:t> 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分别为这两个电对的标准电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5">
                <a:solidFill>
                  <a:srgbClr val="FFFFFF"/>
                </a:solidFill>
                <a:latin typeface="Georgia"/>
                <a:cs typeface="Georgia"/>
              </a:rPr>
              <a:t>6.1.1</a:t>
            </a:r>
            <a:r>
              <a:rPr dirty="0" sz="1000" spc="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能斯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特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方程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1976" y="845007"/>
            <a:ext cx="1062990" cy="0"/>
          </a:xfrm>
          <a:custGeom>
            <a:avLst/>
            <a:gdLst/>
            <a:ahLst/>
            <a:cxnLst/>
            <a:rect l="l" t="t" r="r" b="b"/>
            <a:pathLst>
              <a:path w="1062989" h="0">
                <a:moveTo>
                  <a:pt x="0" y="0"/>
                </a:moveTo>
                <a:lnTo>
                  <a:pt x="106281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144" y="592355"/>
            <a:ext cx="4328795" cy="4730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600"/>
              </a:spcBef>
            </a:pP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氧化还原滴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我</a:t>
            </a:r>
            <a:r>
              <a:rPr dirty="0" sz="1050" spc="-10">
                <a:latin typeface="Arial Unicode MS"/>
                <a:cs typeface="Arial Unicode MS"/>
              </a:rPr>
              <a:t>们</a:t>
            </a:r>
            <a:r>
              <a:rPr dirty="0" sz="1050" spc="-5">
                <a:latin typeface="Arial Unicode MS"/>
                <a:cs typeface="Arial Unicode MS"/>
              </a:rPr>
              <a:t>通常只</a:t>
            </a:r>
            <a:r>
              <a:rPr dirty="0" sz="1050" spc="-10">
                <a:latin typeface="Arial Unicode MS"/>
                <a:cs typeface="Arial Unicode MS"/>
              </a:rPr>
              <a:t>考</a:t>
            </a:r>
            <a:r>
              <a:rPr dirty="0" sz="1050" spc="-5">
                <a:latin typeface="Arial Unicode MS"/>
                <a:cs typeface="Arial Unicode MS"/>
              </a:rPr>
              <a:t>虑可逆氧化</a:t>
            </a:r>
            <a:r>
              <a:rPr dirty="0" sz="1050" spc="-10">
                <a:latin typeface="Arial Unicode MS"/>
                <a:cs typeface="Arial Unicode MS"/>
              </a:rPr>
              <a:t>还</a:t>
            </a:r>
            <a:r>
              <a:rPr dirty="0" sz="1050" spc="-5">
                <a:latin typeface="Arial Unicode MS"/>
                <a:cs typeface="Arial Unicode MS"/>
              </a:rPr>
              <a:t>原电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baseline="27777" sz="1050" spc="142">
                <a:latin typeface="Times New Roman"/>
                <a:cs typeface="Times New Roman"/>
              </a:rPr>
              <a:t>1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情</a:t>
            </a:r>
            <a:r>
              <a:rPr dirty="0" sz="1050" spc="-70">
                <a:latin typeface="Arial Unicode MS"/>
                <a:cs typeface="Arial Unicode MS"/>
              </a:rPr>
              <a:t>况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其电</a:t>
            </a:r>
            <a:endParaRPr sz="105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dirty="0" sz="1050" spc="-5">
                <a:latin typeface="Arial Unicode MS"/>
                <a:cs typeface="Arial Unicode MS"/>
              </a:rPr>
              <a:t>位可</a:t>
            </a:r>
            <a:r>
              <a:rPr dirty="0" sz="1050" spc="-10">
                <a:latin typeface="Arial Unicode MS"/>
                <a:cs typeface="Arial Unicode MS"/>
              </a:rPr>
              <a:t>以</a:t>
            </a:r>
            <a:r>
              <a:rPr dirty="0" sz="1050" spc="-5">
                <a:latin typeface="Arial Unicode MS"/>
                <a:cs typeface="Arial Unicode MS"/>
              </a:rPr>
              <a:t>用能斯特</a:t>
            </a:r>
            <a:r>
              <a:rPr dirty="0" sz="1050" spc="-10">
                <a:latin typeface="Arial Unicode MS"/>
                <a:cs typeface="Arial Unicode MS"/>
              </a:rPr>
              <a:t>方</a:t>
            </a:r>
            <a:r>
              <a:rPr dirty="0" sz="1050" spc="-5">
                <a:latin typeface="Arial Unicode MS"/>
                <a:cs typeface="Arial Unicode MS"/>
              </a:rPr>
              <a:t>程来表</a:t>
            </a:r>
            <a:r>
              <a:rPr dirty="0" sz="1050" spc="-20">
                <a:latin typeface="Arial Unicode MS"/>
                <a:cs typeface="Arial Unicode MS"/>
              </a:rPr>
              <a:t>示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对于上</a:t>
            </a:r>
            <a:r>
              <a:rPr dirty="0" sz="1050" spc="-10">
                <a:latin typeface="Arial Unicode MS"/>
                <a:cs typeface="Arial Unicode MS"/>
              </a:rPr>
              <a:t>述</a:t>
            </a:r>
            <a:r>
              <a:rPr dirty="0" sz="1050" spc="-5">
                <a:latin typeface="Arial Unicode MS"/>
                <a:cs typeface="Arial Unicode MS"/>
              </a:rPr>
              <a:t>电对的</a:t>
            </a:r>
            <a:r>
              <a:rPr dirty="0" sz="1050" spc="-10">
                <a:latin typeface="Arial Unicode MS"/>
                <a:cs typeface="Arial Unicode MS"/>
              </a:rPr>
              <a:t>电</a:t>
            </a:r>
            <a:r>
              <a:rPr dirty="0" sz="1050" spc="-70">
                <a:latin typeface="Arial Unicode MS"/>
                <a:cs typeface="Arial Unicode MS"/>
              </a:rPr>
              <a:t>位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其能斯</a:t>
            </a:r>
            <a:r>
              <a:rPr dirty="0" sz="1050" spc="-10">
                <a:latin typeface="Arial Unicode MS"/>
                <a:cs typeface="Arial Unicode MS"/>
              </a:rPr>
              <a:t>特</a:t>
            </a:r>
            <a:r>
              <a:rPr dirty="0" sz="1050" spc="-5">
                <a:latin typeface="Arial Unicode MS"/>
                <a:cs typeface="Arial Unicode MS"/>
              </a:rPr>
              <a:t>方程如</a:t>
            </a:r>
            <a:r>
              <a:rPr dirty="0" sz="1050" spc="-80">
                <a:latin typeface="Arial Unicode MS"/>
                <a:cs typeface="Arial Unicode MS"/>
              </a:rPr>
              <a:t>下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46323" y="135411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 h="0">
                <a:moveTo>
                  <a:pt x="0" y="0"/>
                </a:moveTo>
                <a:lnTo>
                  <a:pt x="2064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3584" y="1237500"/>
            <a:ext cx="2601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447290" algn="l"/>
              </a:tabLst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(Ce</a:t>
            </a:r>
            <a:r>
              <a:rPr dirty="0" baseline="41666" sz="900" spc="89">
                <a:latin typeface="Times New Roman"/>
                <a:cs typeface="Times New Roman"/>
              </a:rPr>
              <a:t>4+</a:t>
            </a:r>
            <a:r>
              <a:rPr dirty="0" sz="1100" spc="60" b="0" i="1">
                <a:latin typeface="Bookman Old Style"/>
                <a:cs typeface="Bookman Old Style"/>
              </a:rPr>
              <a:t>/</a:t>
            </a:r>
            <a:r>
              <a:rPr dirty="0" sz="1100" spc="60">
                <a:latin typeface="Georgia"/>
                <a:cs typeface="Georgia"/>
              </a:rPr>
              <a:t>Ce</a:t>
            </a:r>
            <a:r>
              <a:rPr dirty="0" baseline="41666" sz="900" spc="89">
                <a:latin typeface="Times New Roman"/>
                <a:cs typeface="Times New Roman"/>
              </a:rPr>
              <a:t>3+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41666" sz="900" spc="337">
                <a:latin typeface="Arial"/>
                <a:cs typeface="Arial"/>
              </a:rPr>
              <a:t>)</a:t>
            </a:r>
            <a:r>
              <a:rPr dirty="0" baseline="41666" sz="900" spc="-112">
                <a:latin typeface="Arial"/>
                <a:cs typeface="Arial"/>
              </a:rPr>
              <a:t> </a:t>
            </a:r>
            <a:r>
              <a:rPr dirty="0" sz="1100" spc="55">
                <a:latin typeface="Georgia"/>
                <a:cs typeface="Georgia"/>
              </a:rPr>
              <a:t>(Ce</a:t>
            </a:r>
            <a:r>
              <a:rPr dirty="0" baseline="41666" sz="900" spc="82">
                <a:latin typeface="Times New Roman"/>
                <a:cs typeface="Times New Roman"/>
              </a:rPr>
              <a:t>4+</a:t>
            </a:r>
            <a:r>
              <a:rPr dirty="0" sz="1100" spc="55" b="0" i="1">
                <a:latin typeface="Bookman Old Style"/>
                <a:cs typeface="Bookman Old Style"/>
              </a:rPr>
              <a:t>/</a:t>
            </a:r>
            <a:r>
              <a:rPr dirty="0" sz="1100" spc="55">
                <a:latin typeface="Georgia"/>
                <a:cs typeface="Georgia"/>
              </a:rPr>
              <a:t>Ce</a:t>
            </a:r>
            <a:r>
              <a:rPr dirty="0" baseline="41666" sz="900" spc="82">
                <a:latin typeface="Times New Roman"/>
                <a:cs typeface="Times New Roman"/>
              </a:rPr>
              <a:t>3+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30">
                <a:latin typeface="Georgia"/>
                <a:cs typeface="Georgia"/>
              </a:rPr>
              <a:t>ln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8223" y="1143774"/>
            <a:ext cx="941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3624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RT	</a:t>
            </a:r>
            <a:r>
              <a:rPr dirty="0" sz="1100" spc="35" b="0" i="1">
                <a:latin typeface="Bookman Old Style"/>
                <a:cs typeface="Bookman Old Style"/>
              </a:rPr>
              <a:t>a</a:t>
            </a:r>
            <a:r>
              <a:rPr dirty="0" sz="1100" spc="35">
                <a:latin typeface="Georgia"/>
                <a:cs typeface="Georgia"/>
              </a:rPr>
              <a:t>(Ce</a:t>
            </a:r>
            <a:r>
              <a:rPr dirty="0" baseline="37037" sz="900" spc="52">
                <a:latin typeface="Times New Roman"/>
                <a:cs typeface="Times New Roman"/>
              </a:rPr>
              <a:t>4+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44798" y="1354112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3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15716" y="1332534"/>
            <a:ext cx="934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28625" algn="l"/>
              </a:tabLst>
            </a:pPr>
            <a:r>
              <a:rPr dirty="0" sz="1100" spc="-5" b="0" i="1">
                <a:latin typeface="Bookman Old Style"/>
                <a:cs typeface="Bookman Old Style"/>
              </a:rPr>
              <a:t>nF	</a:t>
            </a:r>
            <a:r>
              <a:rPr dirty="0" sz="1100" spc="35" b="0" i="1">
                <a:latin typeface="Bookman Old Style"/>
                <a:cs typeface="Bookman Old Style"/>
              </a:rPr>
              <a:t>a</a:t>
            </a:r>
            <a:r>
              <a:rPr dirty="0" sz="1100" spc="35">
                <a:latin typeface="Georgia"/>
                <a:cs typeface="Georgia"/>
              </a:rPr>
              <a:t>(Ce</a:t>
            </a:r>
            <a:r>
              <a:rPr dirty="0" baseline="27777" sz="900" spc="52">
                <a:latin typeface="Times New Roman"/>
                <a:cs typeface="Times New Roman"/>
              </a:rPr>
              <a:t>3+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14573" y="1833257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 h="0">
                <a:moveTo>
                  <a:pt x="0" y="0"/>
                </a:moveTo>
                <a:lnTo>
                  <a:pt x="2064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96493" y="1716646"/>
            <a:ext cx="2516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362200" algn="l"/>
              </a:tabLst>
            </a:pPr>
            <a:r>
              <a:rPr dirty="0" sz="1100" spc="40" b="0" i="1">
                <a:latin typeface="Bookman Old Style"/>
                <a:cs typeface="Bookman Old Style"/>
              </a:rPr>
              <a:t>E</a:t>
            </a:r>
            <a:r>
              <a:rPr dirty="0" sz="1100" spc="40">
                <a:latin typeface="Georgia"/>
                <a:cs typeface="Georgia"/>
              </a:rPr>
              <a:t>(Fe</a:t>
            </a:r>
            <a:r>
              <a:rPr dirty="0" baseline="41666" sz="900" spc="60">
                <a:latin typeface="Times New Roman"/>
                <a:cs typeface="Times New Roman"/>
              </a:rPr>
              <a:t>3+</a:t>
            </a:r>
            <a:r>
              <a:rPr dirty="0" sz="1100" spc="40" b="0" i="1">
                <a:latin typeface="Bookman Old Style"/>
                <a:cs typeface="Bookman Old Style"/>
              </a:rPr>
              <a:t>/</a:t>
            </a:r>
            <a:r>
              <a:rPr dirty="0" sz="1100" spc="40">
                <a:latin typeface="Georgia"/>
                <a:cs typeface="Georgia"/>
              </a:rPr>
              <a:t>Fe</a:t>
            </a:r>
            <a:r>
              <a:rPr dirty="0" baseline="41666" sz="900" spc="60">
                <a:latin typeface="Times New Roman"/>
                <a:cs typeface="Times New Roman"/>
              </a:rPr>
              <a:t>2+</a:t>
            </a:r>
            <a:r>
              <a:rPr dirty="0" sz="1100" spc="4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41666" sz="900" spc="337">
                <a:latin typeface="Arial"/>
                <a:cs typeface="Arial"/>
              </a:rPr>
              <a:t>)</a:t>
            </a:r>
            <a:r>
              <a:rPr dirty="0" baseline="41666" sz="900" spc="-120">
                <a:latin typeface="Arial"/>
                <a:cs typeface="Arial"/>
              </a:rPr>
              <a:t> 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41666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41666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30">
                <a:latin typeface="Georgia"/>
                <a:cs typeface="Georgia"/>
              </a:rPr>
              <a:t>ln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6473" y="1622920"/>
            <a:ext cx="9201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3624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RT	</a:t>
            </a:r>
            <a:r>
              <a:rPr dirty="0" sz="1100" spc="20" b="0" i="1">
                <a:latin typeface="Bookman Old Style"/>
                <a:cs typeface="Bookman Old Style"/>
              </a:rPr>
              <a:t>a</a:t>
            </a:r>
            <a:r>
              <a:rPr dirty="0" sz="1100" spc="20">
                <a:latin typeface="Georgia"/>
                <a:cs typeface="Georgia"/>
              </a:rPr>
              <a:t>(Fe</a:t>
            </a:r>
            <a:r>
              <a:rPr dirty="0" baseline="37037" sz="900" spc="30">
                <a:latin typeface="Times New Roman"/>
                <a:cs typeface="Times New Roman"/>
              </a:rPr>
              <a:t>3+</a:t>
            </a:r>
            <a:r>
              <a:rPr dirty="0" sz="1100" spc="2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13048" y="1833257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 h="0">
                <a:moveTo>
                  <a:pt x="0" y="0"/>
                </a:moveTo>
                <a:lnTo>
                  <a:pt x="4451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83966" y="1811680"/>
            <a:ext cx="9124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28625" algn="l"/>
              </a:tabLst>
            </a:pPr>
            <a:r>
              <a:rPr dirty="0" sz="1100" spc="-5" b="0" i="1">
                <a:latin typeface="Bookman Old Style"/>
                <a:cs typeface="Bookman Old Style"/>
              </a:rPr>
              <a:t>nF	</a:t>
            </a:r>
            <a:r>
              <a:rPr dirty="0" sz="1100" spc="20" b="0" i="1">
                <a:latin typeface="Bookman Old Style"/>
                <a:cs typeface="Bookman Old Style"/>
              </a:rPr>
              <a:t>a</a:t>
            </a:r>
            <a:r>
              <a:rPr dirty="0" sz="1100" spc="20">
                <a:latin typeface="Georgia"/>
                <a:cs typeface="Georgia"/>
              </a:rPr>
              <a:t>(Fe</a:t>
            </a:r>
            <a:r>
              <a:rPr dirty="0" baseline="27777" sz="900" spc="30">
                <a:latin typeface="Times New Roman"/>
                <a:cs typeface="Times New Roman"/>
              </a:rPr>
              <a:t>2+</a:t>
            </a:r>
            <a:r>
              <a:rPr dirty="0" sz="1100" spc="2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544" y="298537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7744" y="1984390"/>
            <a:ext cx="4406265" cy="135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 marR="17780">
              <a:lnSpc>
                <a:spcPct val="139800"/>
              </a:lnSpc>
              <a:spcBef>
                <a:spcPts val="100"/>
              </a:spcBef>
            </a:pPr>
            <a:r>
              <a:rPr dirty="0" sz="1050" spc="-5">
                <a:latin typeface="Arial Unicode MS"/>
                <a:cs typeface="Arial Unicode MS"/>
              </a:rPr>
              <a:t>其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55">
                <a:latin typeface="Arial Unicode MS"/>
                <a:cs typeface="Arial Unicode MS"/>
              </a:rPr>
              <a:t>，</a:t>
            </a:r>
            <a:r>
              <a:rPr dirty="0" sz="1000" spc="-55" b="0" i="1">
                <a:latin typeface="Bookman Old Style"/>
                <a:cs typeface="Bookman Old Style"/>
              </a:rPr>
              <a:t>E</a:t>
            </a:r>
            <a:r>
              <a:rPr dirty="0" sz="1000" spc="70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是电对的</a:t>
            </a:r>
            <a:r>
              <a:rPr dirty="0" sz="1050" spc="-10">
                <a:latin typeface="Arial Unicode MS"/>
                <a:cs typeface="Arial Unicode MS"/>
              </a:rPr>
              <a:t>电</a:t>
            </a:r>
            <a:r>
              <a:rPr dirty="0" sz="1050" spc="-5">
                <a:latin typeface="Arial Unicode MS"/>
                <a:cs typeface="Arial Unicode MS"/>
              </a:rPr>
              <a:t>极</a:t>
            </a:r>
            <a:r>
              <a:rPr dirty="0" sz="1050" spc="-10">
                <a:latin typeface="Arial Unicode MS"/>
                <a:cs typeface="Arial Unicode MS"/>
              </a:rPr>
              <a:t>电</a:t>
            </a:r>
            <a:r>
              <a:rPr dirty="0" sz="1050" spc="-70">
                <a:latin typeface="Arial Unicode MS"/>
                <a:cs typeface="Arial Unicode MS"/>
              </a:rPr>
              <a:t>位</a:t>
            </a:r>
            <a:r>
              <a:rPr dirty="0" sz="1050" spc="-55">
                <a:latin typeface="Arial Unicode MS"/>
                <a:cs typeface="Arial Unicode MS"/>
              </a:rPr>
              <a:t>，</a:t>
            </a:r>
            <a:r>
              <a:rPr dirty="0" sz="1000" spc="-55" b="0" i="1">
                <a:latin typeface="Bookman Old Style"/>
                <a:cs typeface="Bookman Old Style"/>
              </a:rPr>
              <a:t>R</a:t>
            </a:r>
            <a:r>
              <a:rPr dirty="0" sz="1000" spc="35" b="0" i="1">
                <a:latin typeface="Bookman Old Style"/>
                <a:cs typeface="Bookman Old Style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是</a:t>
            </a:r>
            <a:r>
              <a:rPr dirty="0" sz="1050" spc="-5">
                <a:latin typeface="Arial Unicode MS"/>
                <a:cs typeface="Arial Unicode MS"/>
              </a:rPr>
              <a:t>气体常</a:t>
            </a:r>
            <a:r>
              <a:rPr dirty="0" sz="1050" spc="-70">
                <a:latin typeface="Arial Unicode MS"/>
                <a:cs typeface="Arial Unicode MS"/>
              </a:rPr>
              <a:t>数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等于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-30">
                <a:latin typeface="Georgia"/>
                <a:cs typeface="Georgia"/>
              </a:rPr>
              <a:t>8.314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J/(mol</a:t>
            </a:r>
            <a:r>
              <a:rPr dirty="0" sz="1000" spc="-50">
                <a:latin typeface="Lucida Sans Unicode"/>
                <a:cs typeface="Lucida Sans Unicode"/>
              </a:rPr>
              <a:t>·</a:t>
            </a:r>
            <a:r>
              <a:rPr dirty="0" sz="1000" spc="-50">
                <a:latin typeface="Georgia"/>
                <a:cs typeface="Georgia"/>
              </a:rPr>
              <a:t>K)</a:t>
            </a:r>
            <a:r>
              <a:rPr dirty="0" sz="1050" spc="-50">
                <a:latin typeface="Arial Unicode MS"/>
                <a:cs typeface="Arial Unicode MS"/>
              </a:rPr>
              <a:t>；</a:t>
            </a:r>
            <a:r>
              <a:rPr dirty="0" sz="1000" spc="-50" b="0" i="1">
                <a:latin typeface="Bookman Old Style"/>
                <a:cs typeface="Bookman Old Style"/>
              </a:rPr>
              <a:t>F</a:t>
            </a:r>
            <a:r>
              <a:rPr dirty="0" sz="1000" spc="155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为法 拉第</a:t>
            </a:r>
            <a:r>
              <a:rPr dirty="0" sz="1050" spc="-10">
                <a:latin typeface="Arial Unicode MS"/>
                <a:cs typeface="Arial Unicode MS"/>
              </a:rPr>
              <a:t>常</a:t>
            </a:r>
            <a:r>
              <a:rPr dirty="0" sz="1050" spc="-70">
                <a:latin typeface="Arial Unicode MS"/>
                <a:cs typeface="Arial Unicode MS"/>
              </a:rPr>
              <a:t>数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等于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65">
                <a:latin typeface="Georgia"/>
                <a:cs typeface="Georgia"/>
              </a:rPr>
              <a:t>96487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C/mol</a:t>
            </a:r>
            <a:r>
              <a:rPr dirty="0" sz="1050" spc="-40">
                <a:latin typeface="Arial Unicode MS"/>
                <a:cs typeface="Arial Unicode MS"/>
              </a:rPr>
              <a:t>；</a:t>
            </a:r>
            <a:r>
              <a:rPr dirty="0" sz="1000" spc="-40" b="0" i="1">
                <a:latin typeface="Bookman Old Style"/>
                <a:cs typeface="Bookman Old Style"/>
              </a:rPr>
              <a:t>n</a:t>
            </a:r>
            <a:r>
              <a:rPr dirty="0" sz="1000" spc="25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为反应中的</a:t>
            </a:r>
            <a:r>
              <a:rPr dirty="0" sz="1050" spc="-10">
                <a:latin typeface="Arial Unicode MS"/>
                <a:cs typeface="Arial Unicode MS"/>
              </a:rPr>
              <a:t>电</a:t>
            </a:r>
            <a:r>
              <a:rPr dirty="0" sz="1050" spc="-5">
                <a:latin typeface="Arial Unicode MS"/>
                <a:cs typeface="Arial Unicode MS"/>
              </a:rPr>
              <a:t>子转</a:t>
            </a:r>
            <a:r>
              <a:rPr dirty="0" sz="1050" spc="-10">
                <a:latin typeface="Arial Unicode MS"/>
                <a:cs typeface="Arial Unicode MS"/>
              </a:rPr>
              <a:t>移</a:t>
            </a:r>
            <a:r>
              <a:rPr dirty="0" sz="1050" spc="-60">
                <a:latin typeface="Arial Unicode MS"/>
                <a:cs typeface="Arial Unicode MS"/>
              </a:rPr>
              <a:t>数</a:t>
            </a:r>
            <a:r>
              <a:rPr dirty="0" sz="1050" spc="-100">
                <a:latin typeface="Arial Unicode MS"/>
                <a:cs typeface="Arial Unicode MS"/>
              </a:rPr>
              <a:t>；</a:t>
            </a:r>
            <a:r>
              <a:rPr dirty="0" sz="1000" spc="-100" b="0" i="1">
                <a:latin typeface="Bookman Old Style"/>
                <a:cs typeface="Bookman Old Style"/>
              </a:rPr>
              <a:t>T</a:t>
            </a:r>
            <a:r>
              <a:rPr dirty="0" sz="1000" spc="-30" b="0" i="1">
                <a:latin typeface="Bookman Old Style"/>
                <a:cs typeface="Bookman Old Style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是</a:t>
            </a:r>
            <a:r>
              <a:rPr dirty="0" sz="1050" spc="-5">
                <a:latin typeface="Arial Unicode MS"/>
                <a:cs typeface="Arial Unicode MS"/>
              </a:rPr>
              <a:t>开氏温</a:t>
            </a:r>
            <a:r>
              <a:rPr dirty="0" sz="1050" spc="-60">
                <a:latin typeface="Arial Unicode MS"/>
                <a:cs typeface="Arial Unicode MS"/>
              </a:rPr>
              <a:t>度</a:t>
            </a:r>
            <a:r>
              <a:rPr dirty="0" sz="1050" spc="-135">
                <a:latin typeface="Arial Unicode MS"/>
                <a:cs typeface="Arial Unicode MS"/>
              </a:rPr>
              <a:t>；</a:t>
            </a:r>
            <a:r>
              <a:rPr dirty="0" sz="1000" spc="-135" b="0" i="1">
                <a:latin typeface="Bookman Old Style"/>
                <a:cs typeface="Bookman Old Style"/>
              </a:rPr>
              <a:t>a  </a:t>
            </a:r>
            <a:r>
              <a:rPr dirty="0" sz="1050" spc="-5">
                <a:latin typeface="Arial Unicode MS"/>
                <a:cs typeface="Arial Unicode MS"/>
              </a:rPr>
              <a:t>表示氧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态或还</a:t>
            </a:r>
            <a:r>
              <a:rPr dirty="0" sz="1050" spc="-10">
                <a:latin typeface="Arial Unicode MS"/>
                <a:cs typeface="Arial Unicode MS"/>
              </a:rPr>
              <a:t>原</a:t>
            </a:r>
            <a:r>
              <a:rPr dirty="0" sz="1050" spc="-5">
                <a:latin typeface="Arial Unicode MS"/>
                <a:cs typeface="Arial Unicode MS"/>
              </a:rPr>
              <a:t>态的活</a:t>
            </a:r>
            <a:r>
              <a:rPr dirty="0" sz="1050" spc="-20">
                <a:latin typeface="Arial Unicode MS"/>
                <a:cs typeface="Arial Unicode MS"/>
              </a:rPr>
              <a:t>度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特别</a:t>
            </a:r>
            <a:r>
              <a:rPr dirty="0" sz="1050" spc="-70">
                <a:latin typeface="Arial Unicode MS"/>
                <a:cs typeface="Arial Unicode MS"/>
              </a:rPr>
              <a:t>地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当</a:t>
            </a:r>
            <a:r>
              <a:rPr dirty="0" sz="1050" spc="-5">
                <a:latin typeface="Arial Unicode MS"/>
                <a:cs typeface="Arial Unicode MS"/>
              </a:rPr>
              <a:t>氧化态或</a:t>
            </a:r>
            <a:r>
              <a:rPr dirty="0" sz="1050" spc="-10">
                <a:latin typeface="Arial Unicode MS"/>
                <a:cs typeface="Arial Unicode MS"/>
              </a:rPr>
              <a:t>还</a:t>
            </a:r>
            <a:r>
              <a:rPr dirty="0" sz="1050" spc="-5">
                <a:latin typeface="Arial Unicode MS"/>
                <a:cs typeface="Arial Unicode MS"/>
              </a:rPr>
              <a:t>原态为</a:t>
            </a:r>
            <a:r>
              <a:rPr dirty="0" sz="1050" spc="-10">
                <a:latin typeface="Arial Unicode MS"/>
                <a:cs typeface="Arial Unicode MS"/>
              </a:rPr>
              <a:t>纯</a:t>
            </a:r>
            <a:r>
              <a:rPr dirty="0" sz="1050" spc="-5">
                <a:latin typeface="Arial Unicode MS"/>
                <a:cs typeface="Arial Unicode MS"/>
              </a:rPr>
              <a:t>固体或</a:t>
            </a:r>
            <a:r>
              <a:rPr dirty="0" sz="1050" spc="-10">
                <a:latin typeface="Arial Unicode MS"/>
                <a:cs typeface="Arial Unicode MS"/>
              </a:rPr>
              <a:t>纯</a:t>
            </a:r>
            <a:r>
              <a:rPr dirty="0" sz="1050" spc="-5">
                <a:latin typeface="Arial Unicode MS"/>
                <a:cs typeface="Arial Unicode MS"/>
              </a:rPr>
              <a:t>金属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其活度</a:t>
            </a:r>
            <a:r>
              <a:rPr dirty="0" sz="1050" spc="-10">
                <a:latin typeface="Arial Unicode MS"/>
                <a:cs typeface="Arial Unicode MS"/>
              </a:rPr>
              <a:t>等</a:t>
            </a:r>
            <a:r>
              <a:rPr dirty="0" sz="1050" spc="-5">
                <a:latin typeface="Arial Unicode MS"/>
                <a:cs typeface="Arial Unicode MS"/>
              </a:rPr>
              <a:t>于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50">
                <a:latin typeface="Georgia"/>
                <a:cs typeface="Georgia"/>
              </a:rPr>
              <a:t>1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208279">
              <a:lnSpc>
                <a:spcPct val="100000"/>
              </a:lnSpc>
              <a:spcBef>
                <a:spcPts val="88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1</a:t>
            </a:r>
            <a:r>
              <a:rPr dirty="0" sz="900" spc="-5">
                <a:latin typeface="Arial Unicode MS"/>
                <a:cs typeface="Arial Unicode MS"/>
              </a:rPr>
              <a:t>可逆电对是指在反应的任一瞬</a:t>
            </a:r>
            <a:r>
              <a:rPr dirty="0" sz="900" spc="-60">
                <a:latin typeface="Arial Unicode MS"/>
                <a:cs typeface="Arial Unicode MS"/>
              </a:rPr>
              <a:t>间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电对都能迅速建立起氧化还原平</a:t>
            </a:r>
            <a:r>
              <a:rPr dirty="0" sz="900" spc="-60">
                <a:latin typeface="Arial Unicode MS"/>
                <a:cs typeface="Arial Unicode MS"/>
              </a:rPr>
              <a:t>衡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其电势基本</a:t>
            </a:r>
            <a:endParaRPr sz="9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45"/>
              </a:spcBef>
            </a:pPr>
            <a:r>
              <a:rPr dirty="0" sz="900" spc="-5">
                <a:latin typeface="Arial Unicode MS"/>
                <a:cs typeface="Arial Unicode MS"/>
              </a:rPr>
              <a:t>符合能斯特方</a:t>
            </a:r>
            <a:r>
              <a:rPr dirty="0" sz="900" spc="-15">
                <a:latin typeface="Arial Unicode MS"/>
                <a:cs typeface="Arial Unicode MS"/>
              </a:rPr>
              <a:t>程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192722"/>
            <a:ext cx="2564130" cy="565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能斯特方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的一般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式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对于如下的氧化还原反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3840" y="918273"/>
            <a:ext cx="19742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2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能斯特方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的一般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550456"/>
            <a:ext cx="25641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一般而</a:t>
            </a:r>
            <a:r>
              <a:rPr dirty="0" spc="-80"/>
              <a:t>言</a:t>
            </a:r>
            <a:r>
              <a:rPr dirty="0" spc="-185"/>
              <a:t>，</a:t>
            </a:r>
            <a:r>
              <a:rPr dirty="0" spc="-5"/>
              <a:t>对于如下的氧化还原反</a:t>
            </a:r>
            <a:r>
              <a:rPr dirty="0" spc="-90"/>
              <a:t>应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3840" y="918273"/>
            <a:ext cx="19742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2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501" y="1259509"/>
            <a:ext cx="10775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其电对反应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117" y="1496491"/>
            <a:ext cx="1143635" cy="494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e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 </a:t>
            </a:r>
            <a:r>
              <a:rPr dirty="0" baseline="6172" sz="675" spc="-135">
                <a:latin typeface="Times New Roman"/>
                <a:cs typeface="Times New Roman"/>
              </a:rPr>
              <a:t> 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     </a:t>
            </a:r>
            <a:r>
              <a:rPr dirty="0" baseline="-18518" sz="675" spc="-127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5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e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 </a:t>
            </a:r>
            <a:r>
              <a:rPr dirty="0" baseline="6172" sz="675" spc="-135">
                <a:latin typeface="Times New Roman"/>
                <a:cs typeface="Times New Roman"/>
              </a:rPr>
              <a:t> 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     </a:t>
            </a:r>
            <a:r>
              <a:rPr dirty="0" baseline="-18518" sz="675" spc="-127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能斯特方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的一般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550456"/>
            <a:ext cx="25641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一般而</a:t>
            </a:r>
            <a:r>
              <a:rPr dirty="0" spc="-80"/>
              <a:t>言</a:t>
            </a:r>
            <a:r>
              <a:rPr dirty="0" spc="-185"/>
              <a:t>，</a:t>
            </a:r>
            <a:r>
              <a:rPr dirty="0" spc="-5"/>
              <a:t>对于如下的氧化还原反</a:t>
            </a:r>
            <a:r>
              <a:rPr dirty="0" spc="-90"/>
              <a:t>应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3840" y="918273"/>
            <a:ext cx="19742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2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401" y="1199468"/>
            <a:ext cx="2726055" cy="109537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65"/>
              </a:spcBef>
            </a:pPr>
            <a:r>
              <a:rPr dirty="0" sz="1200" spc="-5">
                <a:latin typeface="Arial Unicode MS"/>
                <a:cs typeface="Arial Unicode MS"/>
              </a:rPr>
              <a:t>其电对反应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375410">
              <a:lnSpc>
                <a:spcPct val="100000"/>
              </a:lnSpc>
              <a:spcBef>
                <a:spcPts val="42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e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 </a:t>
            </a:r>
            <a:r>
              <a:rPr dirty="0" baseline="6172" sz="675" spc="-135">
                <a:latin typeface="Times New Roman"/>
                <a:cs typeface="Times New Roman"/>
              </a:rPr>
              <a:t> 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     </a:t>
            </a:r>
            <a:r>
              <a:rPr dirty="0" baseline="-18518" sz="675" spc="-127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  <a:p>
            <a:pPr marL="1375410">
              <a:lnSpc>
                <a:spcPct val="100000"/>
              </a:lnSpc>
              <a:spcBef>
                <a:spcPts val="105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e 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 </a:t>
            </a:r>
            <a:r>
              <a:rPr dirty="0" baseline="6172" sz="675" spc="-135">
                <a:latin typeface="Times New Roman"/>
                <a:cs typeface="Times New Roman"/>
              </a:rPr>
              <a:t> 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     </a:t>
            </a:r>
            <a:r>
              <a:rPr dirty="0" baseline="-18518" sz="675" spc="-127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55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298K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各电对的电极电位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724" y="247481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7160" y="2552788"/>
            <a:ext cx="1162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  <a:tab pos="878840" algn="l"/>
                <a:tab pos="110299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5265" y="2469388"/>
            <a:ext cx="163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E</a:t>
            </a:r>
            <a:r>
              <a:rPr dirty="0" sz="1100" spc="5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01582" y="258599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78721" y="256442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1881" y="26478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2729" y="246938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5558" y="24590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8882" y="2375662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03384" y="258599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22662" y="26478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93567" y="256442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2724" y="294560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7160" y="3023578"/>
            <a:ext cx="1162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  <a:tab pos="878840" algn="l"/>
                <a:tab pos="11029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5265" y="2940177"/>
            <a:ext cx="163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E</a:t>
            </a:r>
            <a:r>
              <a:rPr dirty="0" sz="1100" spc="5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01582" y="3056788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778721" y="3035211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1881" y="311862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42729" y="294017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5558" y="292985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88882" y="284645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03384" y="3056788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22662" y="311862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93567" y="3035211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776" y="192722"/>
            <a:ext cx="16325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有</a:t>
            </a:r>
            <a:r>
              <a:rPr dirty="0" sz="105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7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r>
              <a:rPr dirty="0" baseline="27777" sz="1050" spc="104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baseline="27777" sz="1050" spc="27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和</a:t>
            </a:r>
            <a:r>
              <a:rPr dirty="0" sz="105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55">
                <a:solidFill>
                  <a:srgbClr val="FFFFFF"/>
                </a:solidFill>
                <a:latin typeface="Georgia"/>
                <a:cs typeface="Georgia"/>
              </a:rPr>
              <a:t>OH</a:t>
            </a:r>
            <a:r>
              <a:rPr dirty="0" baseline="27777" sz="1050" spc="82" i="1">
                <a:solidFill>
                  <a:srgbClr val="FFFFFF"/>
                </a:solidFill>
                <a:latin typeface="Arial"/>
                <a:cs typeface="Arial"/>
              </a:rPr>
              <a:t>−</a:t>
            </a:r>
            <a:r>
              <a:rPr dirty="0" baseline="27777" sz="1050" spc="254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参与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反应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910158"/>
            <a:ext cx="433260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如果电对的反应有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或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OH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33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的参</a:t>
            </a:r>
            <a:r>
              <a:rPr dirty="0" sz="1200" spc="-80">
                <a:latin typeface="Arial Unicode MS"/>
                <a:cs typeface="Arial Unicode MS"/>
              </a:rPr>
              <a:t>加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则能斯特方程中应考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虑其活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对于如下电对反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9294" y="1551520"/>
            <a:ext cx="25895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AsO</a:t>
            </a:r>
            <a:r>
              <a:rPr dirty="0" baseline="-13888" sz="900" spc="37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2e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HAsO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marL="855980">
              <a:lnSpc>
                <a:spcPts val="290"/>
              </a:lnSpc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  <a:p>
            <a:pPr algn="r" marR="144145">
              <a:lnSpc>
                <a:spcPts val="665"/>
              </a:lnSpc>
              <a:tabLst>
                <a:tab pos="39497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513" y="1901113"/>
            <a:ext cx="10775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其电极电位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137" y="2277275"/>
            <a:ext cx="2183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(As</a:t>
            </a:r>
            <a:r>
              <a:rPr dirty="0" baseline="41666" sz="900" spc="89">
                <a:latin typeface="Times New Roman"/>
                <a:cs typeface="Times New Roman"/>
              </a:rPr>
              <a:t>4+</a:t>
            </a:r>
            <a:r>
              <a:rPr dirty="0" sz="1100" spc="60" b="0" i="1">
                <a:latin typeface="Bookman Old Style"/>
                <a:cs typeface="Bookman Old Style"/>
              </a:rPr>
              <a:t>/</a:t>
            </a:r>
            <a:r>
              <a:rPr dirty="0" sz="1100" spc="60">
                <a:latin typeface="Georgia"/>
                <a:cs typeface="Georgia"/>
              </a:rPr>
              <a:t>As</a:t>
            </a:r>
            <a:r>
              <a:rPr dirty="0" baseline="41666" sz="900" spc="89">
                <a:latin typeface="Times New Roman"/>
                <a:cs typeface="Times New Roman"/>
              </a:rPr>
              <a:t>3+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41666" sz="900" spc="337">
                <a:latin typeface="Arial"/>
                <a:cs typeface="Arial"/>
              </a:rPr>
              <a:t>)</a:t>
            </a:r>
            <a:r>
              <a:rPr dirty="0" baseline="41666" sz="900" spc="-120">
                <a:latin typeface="Arial"/>
                <a:cs typeface="Arial"/>
              </a:rPr>
              <a:t> </a:t>
            </a:r>
            <a:r>
              <a:rPr dirty="0" sz="1100" spc="55">
                <a:latin typeface="Georgia"/>
                <a:cs typeface="Georgia"/>
              </a:rPr>
              <a:t>(As</a:t>
            </a:r>
            <a:r>
              <a:rPr dirty="0" baseline="41666" sz="900" spc="82">
                <a:latin typeface="Times New Roman"/>
                <a:cs typeface="Times New Roman"/>
              </a:rPr>
              <a:t>4+</a:t>
            </a:r>
            <a:r>
              <a:rPr dirty="0" sz="1100" spc="55" b="0" i="1">
                <a:latin typeface="Bookman Old Style"/>
                <a:cs typeface="Bookman Old Style"/>
              </a:rPr>
              <a:t>/</a:t>
            </a:r>
            <a:r>
              <a:rPr dirty="0" sz="1100" spc="55">
                <a:latin typeface="Georgia"/>
                <a:cs typeface="Georgia"/>
              </a:rPr>
              <a:t>As</a:t>
            </a:r>
            <a:r>
              <a:rPr dirty="0" baseline="41666" sz="900" spc="82">
                <a:latin typeface="Times New Roman"/>
                <a:cs typeface="Times New Roman"/>
              </a:rPr>
              <a:t>3+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82570" y="2393873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23717" y="227726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84372" y="2393873"/>
            <a:ext cx="878205" cy="0"/>
          </a:xfrm>
          <a:custGeom>
            <a:avLst/>
            <a:gdLst/>
            <a:ahLst/>
            <a:cxnLst/>
            <a:rect l="l" t="t" r="r" b="b"/>
            <a:pathLst>
              <a:path w="878204" h="0">
                <a:moveTo>
                  <a:pt x="0" y="0"/>
                </a:moveTo>
                <a:lnTo>
                  <a:pt x="8782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44470" y="2161016"/>
            <a:ext cx="146939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655" marR="43180" indent="-123189">
              <a:lnSpc>
                <a:spcPct val="112599"/>
              </a:lnSpc>
              <a:spcBef>
                <a:spcPts val="100"/>
              </a:spcBef>
              <a:tabLst>
                <a:tab pos="539750" algn="l"/>
                <a:tab pos="746760" algn="l"/>
              </a:tabLst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sz="1100" spc="15">
                <a:latin typeface="Georgia"/>
                <a:cs typeface="Georgia"/>
              </a:rPr>
              <a:t>(As</a:t>
            </a:r>
            <a:r>
              <a:rPr dirty="0" baseline="37037" sz="900" spc="195">
                <a:latin typeface="Times New Roman"/>
                <a:cs typeface="Times New Roman"/>
              </a:rPr>
              <a:t>4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37037" sz="900" spc="405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70">
                <a:latin typeface="Georgia"/>
                <a:cs typeface="Georgia"/>
              </a:rPr>
              <a:t>2		</a:t>
            </a:r>
            <a:r>
              <a:rPr dirty="0" sz="1100" spc="35" b="0" i="1">
                <a:latin typeface="Bookman Old Style"/>
                <a:cs typeface="Bookman Old Style"/>
              </a:rPr>
              <a:t>a</a:t>
            </a:r>
            <a:r>
              <a:rPr dirty="0" sz="1100" spc="35">
                <a:latin typeface="Georgia"/>
                <a:cs typeface="Georgia"/>
              </a:rPr>
              <a:t>(As</a:t>
            </a:r>
            <a:r>
              <a:rPr dirty="0" baseline="27777" sz="900" spc="52">
                <a:latin typeface="Times New Roman"/>
                <a:cs typeface="Times New Roman"/>
              </a:rPr>
              <a:t>3+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671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6.1.2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条件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极电位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744728"/>
            <a:ext cx="4382135" cy="8356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在前述的能斯特方程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采用的是活度表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但在实际的分</a:t>
            </a:r>
            <a:r>
              <a:rPr dirty="0" sz="1200" spc="-5">
                <a:latin typeface="Arial Unicode MS"/>
                <a:cs typeface="Arial Unicode MS"/>
              </a:rPr>
              <a:t>析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则是采用浓度单</a:t>
            </a:r>
            <a:r>
              <a:rPr dirty="0" sz="1200" spc="-80">
                <a:latin typeface="Arial Unicode MS"/>
                <a:cs typeface="Arial Unicode MS"/>
              </a:rPr>
              <a:t>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此时就必须考虑浓度的校正问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</a:t>
            </a:r>
            <a:r>
              <a:rPr dirty="0" sz="1200" spc="-90">
                <a:latin typeface="Arial Unicode MS"/>
                <a:cs typeface="Arial Unicode MS"/>
              </a:rPr>
              <a:t>对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737" y="1769567"/>
            <a:ext cx="2763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E</a:t>
            </a:r>
            <a:r>
              <a:rPr dirty="0" sz="1100" spc="40">
                <a:latin typeface="Georgia"/>
                <a:cs typeface="Georgia"/>
              </a:rPr>
              <a:t>(Fe</a:t>
            </a:r>
            <a:r>
              <a:rPr dirty="0" baseline="41666" sz="900" spc="60">
                <a:latin typeface="Times New Roman"/>
                <a:cs typeface="Times New Roman"/>
              </a:rPr>
              <a:t>3+</a:t>
            </a:r>
            <a:r>
              <a:rPr dirty="0" sz="1100" spc="40" b="0" i="1">
                <a:latin typeface="Bookman Old Style"/>
                <a:cs typeface="Bookman Old Style"/>
              </a:rPr>
              <a:t>/</a:t>
            </a:r>
            <a:r>
              <a:rPr dirty="0" sz="1100" spc="40">
                <a:latin typeface="Georgia"/>
                <a:cs typeface="Georgia"/>
              </a:rPr>
              <a:t>Fe</a:t>
            </a:r>
            <a:r>
              <a:rPr dirty="0" baseline="41666" sz="900" spc="60">
                <a:latin typeface="Times New Roman"/>
                <a:cs typeface="Times New Roman"/>
              </a:rPr>
              <a:t>2+</a:t>
            </a:r>
            <a:r>
              <a:rPr dirty="0" sz="1100" spc="4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41666" sz="900" spc="337">
                <a:latin typeface="Arial"/>
                <a:cs typeface="Arial"/>
              </a:rPr>
              <a:t>) 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41666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41666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28327" y="1886178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 h="0">
                <a:moveTo>
                  <a:pt x="0" y="0"/>
                </a:moveTo>
                <a:lnTo>
                  <a:pt x="4451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90227" y="1653334"/>
            <a:ext cx="52197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9722" y="1769567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4850" y="2152904"/>
            <a:ext cx="7505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  <a:tab pos="619760" algn="l"/>
              </a:tabLst>
            </a:pP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312" y="2147481"/>
            <a:ext cx="17710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28327" y="2264092"/>
            <a:ext cx="793115" cy="0"/>
          </a:xfrm>
          <a:custGeom>
            <a:avLst/>
            <a:gdLst/>
            <a:ahLst/>
            <a:cxnLst/>
            <a:rect l="l" t="t" r="r" b="b"/>
            <a:pathLst>
              <a:path w="793114" h="0">
                <a:moveTo>
                  <a:pt x="0" y="0"/>
                </a:moveTo>
                <a:lnTo>
                  <a:pt x="7925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90227" y="2031248"/>
            <a:ext cx="8693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37037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)[Fe</a:t>
            </a:r>
            <a:r>
              <a:rPr dirty="0" baseline="37037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27777" sz="900" spc="37">
                <a:latin typeface="Times New Roman"/>
                <a:cs typeface="Times New Roman"/>
              </a:rPr>
              <a:t>2+</a:t>
            </a:r>
            <a:r>
              <a:rPr dirty="0" sz="1100" spc="25">
                <a:latin typeface="Georgia"/>
                <a:cs typeface="Georgia"/>
              </a:rPr>
              <a:t>)[Fe</a:t>
            </a:r>
            <a:r>
              <a:rPr dirty="0" baseline="27777" sz="900" spc="37">
                <a:latin typeface="Times New Roman"/>
                <a:cs typeface="Times New Roman"/>
              </a:rPr>
              <a:t>2+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4850" y="2530818"/>
            <a:ext cx="7505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  <a:tab pos="619760" algn="l"/>
              </a:tabLst>
            </a:pP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12" y="2525395"/>
            <a:ext cx="17710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28327" y="264200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5" h="0">
                <a:moveTo>
                  <a:pt x="0" y="0"/>
                </a:moveTo>
                <a:lnTo>
                  <a:pt x="4513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890227" y="2409149"/>
            <a:ext cx="52768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12972" y="2525395"/>
            <a:ext cx="610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0830" y="2642006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12730" y="2409149"/>
            <a:ext cx="41783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37037" sz="900">
                <a:latin typeface="Times New Roman"/>
                <a:cs typeface="Times New Roman"/>
              </a:rPr>
              <a:t>3+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27777" sz="900">
                <a:latin typeface="Times New Roman"/>
                <a:cs typeface="Times New Roman"/>
              </a:rPr>
              <a:t>2+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副反应的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744918"/>
            <a:ext cx="27438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</a:t>
            </a:r>
            <a:r>
              <a:rPr dirty="0" spc="10"/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pc="-5"/>
              <a:t>溶液</a:t>
            </a:r>
            <a:r>
              <a:rPr dirty="0" spc="-80"/>
              <a:t>中</a:t>
            </a:r>
            <a:r>
              <a:rPr dirty="0" spc="-40"/>
              <a:t>，</a:t>
            </a:r>
            <a:r>
              <a:rPr dirty="0" sz="1100" spc="-40">
                <a:latin typeface="Georgia"/>
                <a:cs typeface="Georgia"/>
              </a:rPr>
              <a:t>Fe(III)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pc="-5"/>
              <a:t>有如下存在形</a:t>
            </a:r>
            <a:r>
              <a:rPr dirty="0" spc="-90"/>
              <a:t>式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675" y="1126502"/>
            <a:ext cx="10255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884" algn="l"/>
                <a:tab pos="941069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9273" y="12179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00" y="1121080"/>
            <a:ext cx="1781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Fe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5">
                <a:latin typeface="Georgia"/>
                <a:cs typeface="Georgia"/>
              </a:rPr>
              <a:t>FeCl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5">
                <a:latin typeface="Georgia"/>
                <a:cs typeface="Georgia"/>
              </a:rPr>
              <a:t>FeCl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204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FeCl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6585" y="112650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3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6585" y="12179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1470672"/>
            <a:ext cx="18262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而 </a:t>
            </a:r>
            <a:r>
              <a:rPr dirty="0" sz="1100" spc="-20">
                <a:latin typeface="Georgia"/>
                <a:cs typeface="Georgia"/>
              </a:rPr>
              <a:t>Fe(II)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有如下存在形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8377" y="19302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5697" y="1846834"/>
            <a:ext cx="1711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Fe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5">
                <a:latin typeface="Georgia"/>
                <a:cs typeface="Georgia"/>
              </a:rPr>
              <a:t>FeCl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5">
                <a:latin typeface="Georgia"/>
                <a:cs typeface="Georgia"/>
              </a:rPr>
              <a:t>FeCl </a:t>
            </a:r>
            <a:r>
              <a:rPr dirty="0" sz="1100" spc="-30" b="0" i="1">
                <a:latin typeface="Bookman Old Style"/>
                <a:cs typeface="Bookman Old Style"/>
              </a:rPr>
              <a:t>,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245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FeCl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6171" y="1852256"/>
            <a:ext cx="16903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884" algn="l"/>
                <a:tab pos="1557020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1088" y="194370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513" y="2196426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1153" y="2438831"/>
            <a:ext cx="23152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3720" algn="l"/>
                <a:tab pos="1202690" algn="l"/>
                <a:tab pos="2182495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1456" y="25302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6848" y="2433409"/>
            <a:ext cx="2614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[Fe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[FeCl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[FeCl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4343" y="2744762"/>
            <a:ext cx="22688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3720" algn="l"/>
                <a:tab pos="1202690" algn="l"/>
                <a:tab pos="2136140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8253" y="28362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0038" y="2739351"/>
            <a:ext cx="2568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[Fe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[FeCl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[FeCl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243065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7235" y="495934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41666" sz="900">
                <a:latin typeface="Times New Roman"/>
                <a:cs typeface="Times New Roman"/>
              </a:rPr>
              <a:t>3+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6393" y="612546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4" h="0">
                <a:moveTo>
                  <a:pt x="0" y="0"/>
                </a:moveTo>
                <a:lnTo>
                  <a:pt x="4610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98293" y="379702"/>
            <a:ext cx="537845" cy="4032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397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30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3</a:t>
            </a:r>
            <a:r>
              <a:rPr dirty="0" baseline="27777" sz="900" spc="300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7235" y="918133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41666" sz="900">
                <a:latin typeface="Times New Roman"/>
                <a:cs typeface="Times New Roman"/>
              </a:rPr>
              <a:t>2+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6393" y="1034745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4" h="0">
                <a:moveTo>
                  <a:pt x="0" y="0"/>
                </a:moveTo>
                <a:lnTo>
                  <a:pt x="4610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98293" y="801901"/>
            <a:ext cx="53784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397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2</a:t>
            </a:r>
            <a:r>
              <a:rPr dirty="0" baseline="37037" sz="900" spc="30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300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44" y="1200569"/>
            <a:ext cx="4394835" cy="10026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100" spc="5" b="0" i="1">
                <a:latin typeface="Bookman Old Style"/>
                <a:cs typeface="Bookman Old Style"/>
              </a:rPr>
              <a:t>α</a:t>
            </a:r>
            <a:r>
              <a:rPr dirty="0" sz="1100" spc="5">
                <a:latin typeface="Georgia"/>
                <a:cs typeface="Georgia"/>
              </a:rPr>
              <a:t>(Fe</a:t>
            </a:r>
            <a:r>
              <a:rPr dirty="0" baseline="37037" sz="900" spc="7">
                <a:latin typeface="Times New Roman"/>
                <a:cs typeface="Times New Roman"/>
              </a:rPr>
              <a:t>3+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分别是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的副反应系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将这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些系数带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Arial Unicode MS"/>
              <a:cs typeface="Arial Unicode MS"/>
            </a:endParaRPr>
          </a:p>
          <a:p>
            <a:pPr marL="351155">
              <a:lnSpc>
                <a:spcPct val="100000"/>
              </a:lnSpc>
            </a:pPr>
            <a:r>
              <a:rPr dirty="0" sz="1100" spc="40" b="0" i="1">
                <a:latin typeface="Bookman Old Style"/>
                <a:cs typeface="Bookman Old Style"/>
              </a:rPr>
              <a:t>E</a:t>
            </a:r>
            <a:r>
              <a:rPr dirty="0" sz="1100" spc="40">
                <a:latin typeface="Georgia"/>
                <a:cs typeface="Georgia"/>
              </a:rPr>
              <a:t>(Fe</a:t>
            </a:r>
            <a:r>
              <a:rPr dirty="0" baseline="37037" sz="900" spc="60">
                <a:latin typeface="Times New Roman"/>
                <a:cs typeface="Times New Roman"/>
              </a:rPr>
              <a:t>3+</a:t>
            </a:r>
            <a:r>
              <a:rPr dirty="0" sz="1100" spc="40" b="0" i="1">
                <a:latin typeface="Bookman Old Style"/>
                <a:cs typeface="Bookman Old Style"/>
              </a:rPr>
              <a:t>/</a:t>
            </a:r>
            <a:r>
              <a:rPr dirty="0" sz="1100" spc="40">
                <a:latin typeface="Georgia"/>
                <a:cs typeface="Georgia"/>
              </a:rPr>
              <a:t>Fe</a:t>
            </a:r>
            <a:r>
              <a:rPr dirty="0" baseline="37037" sz="900" spc="60">
                <a:latin typeface="Times New Roman"/>
                <a:cs typeface="Times New Roman"/>
              </a:rPr>
              <a:t>2+</a:t>
            </a:r>
            <a:r>
              <a:rPr dirty="0" sz="1100" spc="4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018" y="2288273"/>
            <a:ext cx="7505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  <a:tab pos="619760" algn="l"/>
              </a:tabLst>
            </a:pP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516" y="2275916"/>
            <a:ext cx="1682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8395" y="2182190"/>
            <a:ext cx="527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γ</a:t>
            </a:r>
            <a:r>
              <a:rPr dirty="0" sz="1100" spc="45">
                <a:latin typeface="Georgia"/>
                <a:cs typeface="Georgia"/>
              </a:rPr>
              <a:t>(Fe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36495" y="2392527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5" h="0">
                <a:moveTo>
                  <a:pt x="0" y="0"/>
                </a:moveTo>
                <a:lnTo>
                  <a:pt x="4513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098395" y="2370950"/>
            <a:ext cx="527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γ</a:t>
            </a:r>
            <a:r>
              <a:rPr dirty="0" sz="1100" spc="45">
                <a:latin typeface="Georgia"/>
                <a:cs typeface="Georgia"/>
              </a:rPr>
              <a:t>(Fe</a:t>
            </a:r>
            <a:r>
              <a:rPr dirty="0" baseline="27777" sz="900" spc="67">
                <a:latin typeface="Times New Roman"/>
                <a:cs typeface="Times New Roman"/>
              </a:rPr>
              <a:t>2+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21140" y="2275916"/>
            <a:ext cx="610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58997" y="2392527"/>
            <a:ext cx="894715" cy="0"/>
          </a:xfrm>
          <a:custGeom>
            <a:avLst/>
            <a:gdLst/>
            <a:ahLst/>
            <a:cxnLst/>
            <a:rect l="l" t="t" r="r" b="b"/>
            <a:pathLst>
              <a:path w="894714" h="0">
                <a:moveTo>
                  <a:pt x="0" y="0"/>
                </a:moveTo>
                <a:lnTo>
                  <a:pt x="8946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20897" y="2159683"/>
            <a:ext cx="97091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2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)c(</a:t>
            </a:r>
            <a:r>
              <a:rPr dirty="0" sz="1100" spc="-7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30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3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)c(</a:t>
            </a:r>
            <a:r>
              <a:rPr dirty="0" sz="1100" spc="-7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300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018" y="2615577"/>
            <a:ext cx="7505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  <a:tab pos="619760" algn="l"/>
              </a:tabLst>
            </a:pP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6516" y="2603233"/>
            <a:ext cx="1682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36495" y="2719844"/>
            <a:ext cx="912494" cy="0"/>
          </a:xfrm>
          <a:custGeom>
            <a:avLst/>
            <a:gdLst/>
            <a:ahLst/>
            <a:cxnLst/>
            <a:rect l="l" t="t" r="r" b="b"/>
            <a:pathLst>
              <a:path w="912494" h="0">
                <a:moveTo>
                  <a:pt x="0" y="0"/>
                </a:moveTo>
                <a:lnTo>
                  <a:pt x="9124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98395" y="2487000"/>
            <a:ext cx="988694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2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3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82213" y="2603233"/>
            <a:ext cx="610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20084" y="2719844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 h="0">
                <a:moveTo>
                  <a:pt x="0" y="0"/>
                </a:moveTo>
                <a:lnTo>
                  <a:pt x="4319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681984" y="2487000"/>
            <a:ext cx="508634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条件电极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位表达式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171079"/>
            <a:ext cx="4432935" cy="200660"/>
          </a:xfrm>
          <a:custGeom>
            <a:avLst/>
            <a:gdLst/>
            <a:ahLst/>
            <a:cxnLst/>
            <a:rect l="l" t="t" r="r" b="b"/>
            <a:pathLst>
              <a:path w="4432935" h="2006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662"/>
                </a:lnTo>
                <a:lnTo>
                  <a:pt x="4432566" y="20066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144" y="767245"/>
            <a:ext cx="3032760" cy="59690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91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37037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定</a:t>
            </a:r>
            <a:r>
              <a:rPr dirty="0" sz="1200" spc="-90">
                <a:latin typeface="Arial Unicode MS"/>
                <a:cs typeface="Arial Unicode MS"/>
              </a:rPr>
              <a:t>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80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条件电极电位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44" y="135907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177566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176296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215313"/>
            <a:ext cx="50749" cy="5603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1403357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53401"/>
            <a:ext cx="0" cy="541655"/>
          </a:xfrm>
          <a:custGeom>
            <a:avLst/>
            <a:gdLst/>
            <a:ahLst/>
            <a:cxnLst/>
            <a:rect l="l" t="t" r="r" b="b"/>
            <a:pathLst>
              <a:path w="0" h="541655">
                <a:moveTo>
                  <a:pt x="0" y="54131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4070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22800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121530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1756" y="1487347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6655" y="1506537"/>
            <a:ext cx="15563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075" algn="l"/>
                <a:tab pos="818515" algn="l"/>
                <a:tab pos="1092200" algn="l"/>
                <a:tab pos="1425575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1507" y="1501127"/>
            <a:ext cx="2577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36163" y="1617738"/>
            <a:ext cx="912494" cy="0"/>
          </a:xfrm>
          <a:custGeom>
            <a:avLst/>
            <a:gdLst/>
            <a:ahLst/>
            <a:cxnLst/>
            <a:rect l="l" t="t" r="r" b="b"/>
            <a:pathLst>
              <a:path w="912495" h="0">
                <a:moveTo>
                  <a:pt x="0" y="0"/>
                </a:moveTo>
                <a:lnTo>
                  <a:pt x="9124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98063" y="1384894"/>
            <a:ext cx="988694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30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2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50" b="0" i="1">
                <a:latin typeface="Bookman Old Style"/>
                <a:cs typeface="Bookman Old Style"/>
              </a:rPr>
              <a:t>γ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30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3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743" y="2116937"/>
            <a:ext cx="4432935" cy="196850"/>
          </a:xfrm>
          <a:custGeom>
            <a:avLst/>
            <a:gdLst/>
            <a:ahLst/>
            <a:cxnLst/>
            <a:rect l="l" t="t" r="r" b="b"/>
            <a:pathLst>
              <a:path w="4432935" h="1968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562"/>
                </a:lnTo>
                <a:lnTo>
                  <a:pt x="4432566" y="19656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5844" y="2102713"/>
            <a:ext cx="15443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电极电位的浓度表达式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8544" y="2717431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7744" y="2300846"/>
            <a:ext cx="4432565" cy="5060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9344" y="2704731"/>
            <a:ext cx="4381715" cy="114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20310" y="2161171"/>
            <a:ext cx="50749" cy="556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743" y="2345126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20310" y="2199269"/>
            <a:ext cx="0" cy="537210"/>
          </a:xfrm>
          <a:custGeom>
            <a:avLst/>
            <a:gdLst/>
            <a:ahLst/>
            <a:cxnLst/>
            <a:rect l="l" t="t" r="r" b="b"/>
            <a:pathLst>
              <a:path w="0" h="537210">
                <a:moveTo>
                  <a:pt x="0" y="53721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20310" y="218656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20310" y="217386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20310" y="216116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85430" y="2448306"/>
            <a:ext cx="4762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075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91461" y="2429116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26360" y="2448306"/>
            <a:ext cx="4762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075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0821" y="2442883"/>
            <a:ext cx="2159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E</a:t>
            </a:r>
            <a:r>
              <a:rPr dirty="0" sz="1100" spc="5">
                <a:latin typeface="Georgia"/>
                <a:cs typeface="Georgia"/>
              </a:rPr>
              <a:t>(Fe</a:t>
            </a:r>
            <a:r>
              <a:rPr dirty="0" sz="1100" spc="275">
                <a:latin typeface="Georgia"/>
                <a:cs typeface="Georgia"/>
              </a:rPr>
              <a:t>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67392" y="2559494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 h="0">
                <a:moveTo>
                  <a:pt x="0" y="0"/>
                </a:moveTo>
                <a:lnTo>
                  <a:pt x="4319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129292" y="2326637"/>
            <a:ext cx="508634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影响条件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极电位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因素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7370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3536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89701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15866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195476"/>
            <a:ext cx="1384300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离子强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溶液酸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生成配合物的影</a:t>
            </a:r>
            <a:r>
              <a:rPr dirty="0" sz="1200" spc="-65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； </a:t>
            </a:r>
            <a:r>
              <a:rPr dirty="0" sz="1200" spc="-5">
                <a:latin typeface="Arial Unicode MS"/>
                <a:cs typeface="Arial Unicode MS"/>
              </a:rPr>
              <a:t>生成沉淀的影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7312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4869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7406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6136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17360"/>
            <a:ext cx="50749" cy="556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92961"/>
            <a:ext cx="4432935" cy="432434"/>
          </a:xfrm>
          <a:custGeom>
            <a:avLst/>
            <a:gdLst/>
            <a:ahLst/>
            <a:cxnLst/>
            <a:rect l="l" t="t" r="r" b="b"/>
            <a:pathLst>
              <a:path w="4432935" h="432434">
                <a:moveTo>
                  <a:pt x="4432566" y="0"/>
                </a:moveTo>
                <a:lnTo>
                  <a:pt x="0" y="0"/>
                </a:lnTo>
                <a:lnTo>
                  <a:pt x="0" y="381103"/>
                </a:lnTo>
                <a:lnTo>
                  <a:pt x="4008" y="400827"/>
                </a:lnTo>
                <a:lnTo>
                  <a:pt x="14922" y="416980"/>
                </a:lnTo>
                <a:lnTo>
                  <a:pt x="31075" y="427895"/>
                </a:lnTo>
                <a:lnTo>
                  <a:pt x="50800" y="431903"/>
                </a:lnTo>
                <a:lnTo>
                  <a:pt x="4381765" y="431903"/>
                </a:lnTo>
                <a:lnTo>
                  <a:pt x="4401490" y="427895"/>
                </a:lnTo>
                <a:lnTo>
                  <a:pt x="4417643" y="416980"/>
                </a:lnTo>
                <a:lnTo>
                  <a:pt x="4428558" y="400827"/>
                </a:lnTo>
                <a:lnTo>
                  <a:pt x="4432566" y="38110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5545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53765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427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300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173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12788"/>
            <a:ext cx="4312920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1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6.1</a:t>
            </a: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当溶液中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1.0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100" spc="65" b="0" i="1">
                <a:latin typeface="Bookman Old Style"/>
                <a:cs typeface="Bookman Old Style"/>
              </a:rPr>
              <a:t>/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电对的条件电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85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（忽略离子强度的影</a:t>
            </a:r>
            <a:r>
              <a:rPr dirty="0" sz="1200" spc="3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7312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4869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7406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6136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17360"/>
            <a:ext cx="50749" cy="556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92961"/>
            <a:ext cx="4432935" cy="432434"/>
          </a:xfrm>
          <a:custGeom>
            <a:avLst/>
            <a:gdLst/>
            <a:ahLst/>
            <a:cxnLst/>
            <a:rect l="l" t="t" r="r" b="b"/>
            <a:pathLst>
              <a:path w="4432935" h="432434">
                <a:moveTo>
                  <a:pt x="4432566" y="0"/>
                </a:moveTo>
                <a:lnTo>
                  <a:pt x="0" y="0"/>
                </a:lnTo>
                <a:lnTo>
                  <a:pt x="0" y="381103"/>
                </a:lnTo>
                <a:lnTo>
                  <a:pt x="4008" y="400827"/>
                </a:lnTo>
                <a:lnTo>
                  <a:pt x="14922" y="416980"/>
                </a:lnTo>
                <a:lnTo>
                  <a:pt x="31075" y="427895"/>
                </a:lnTo>
                <a:lnTo>
                  <a:pt x="50800" y="431903"/>
                </a:lnTo>
                <a:lnTo>
                  <a:pt x="4381765" y="431903"/>
                </a:lnTo>
                <a:lnTo>
                  <a:pt x="4401490" y="427895"/>
                </a:lnTo>
                <a:lnTo>
                  <a:pt x="4417643" y="416980"/>
                </a:lnTo>
                <a:lnTo>
                  <a:pt x="4428558" y="400827"/>
                </a:lnTo>
                <a:lnTo>
                  <a:pt x="4432566" y="38110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5545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53765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427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300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173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12788"/>
            <a:ext cx="4338320" cy="11684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1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6.1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当溶液中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1.0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100" spc="65" b="0" i="1">
                <a:latin typeface="Bookman Old Style"/>
                <a:cs typeface="Bookman Old Style"/>
              </a:rPr>
              <a:t>/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电对的条件电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85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（忽略离子强度的影</a:t>
            </a:r>
            <a:r>
              <a:rPr dirty="0" sz="1200" spc="3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条件电极电位的表达式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662" y="1549539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125" y="1568742"/>
            <a:ext cx="15735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2270" algn="l"/>
                <a:tab pos="808355" algn="l"/>
                <a:tab pos="1118870" algn="l"/>
                <a:tab pos="148907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1413" y="1563319"/>
            <a:ext cx="2292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0" b="0" i="1">
                <a:latin typeface="Bookman Old Style"/>
                <a:cs typeface="Bookman Old Style"/>
              </a:rPr>
              <a:t>/</a:t>
            </a:r>
            <a:r>
              <a:rPr dirty="0" sz="1100" spc="-20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0" b="0" i="1">
                <a:latin typeface="Bookman Old Style"/>
                <a:cs typeface="Bookman Old Style"/>
              </a:rPr>
              <a:t>/</a:t>
            </a:r>
            <a:r>
              <a:rPr dirty="0" sz="1100" spc="-20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7970" y="1563319"/>
            <a:ext cx="364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49536" y="167993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 h="0">
                <a:moveTo>
                  <a:pt x="0" y="0"/>
                </a:moveTo>
                <a:lnTo>
                  <a:pt x="9391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111436" y="1447086"/>
            <a:ext cx="10160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γ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60" b="0" i="1">
                <a:latin typeface="Bookman Old Style"/>
                <a:cs typeface="Bookman Old Style"/>
              </a:rPr>
              <a:t>α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37037" sz="900" spc="89">
                <a:latin typeface="Times New Roman"/>
                <a:cs typeface="Times New Roman"/>
              </a:rPr>
              <a:t>+</a:t>
            </a:r>
            <a:r>
              <a:rPr dirty="0" sz="1100" spc="6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γ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27777" sz="900" spc="89">
                <a:latin typeface="Times New Roman"/>
                <a:cs typeface="Times New Roman"/>
              </a:rPr>
              <a:t>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60" b="0" i="1">
                <a:latin typeface="Bookman Old Style"/>
                <a:cs typeface="Bookman Old Style"/>
              </a:rPr>
              <a:t>α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27777" sz="900" spc="89">
                <a:latin typeface="Times New Roman"/>
                <a:cs typeface="Times New Roman"/>
              </a:rPr>
              <a:t>2+</a:t>
            </a:r>
            <a:r>
              <a:rPr dirty="0" sz="1100" spc="6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7312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4869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7406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6136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17360"/>
            <a:ext cx="50749" cy="5567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92961"/>
            <a:ext cx="4432935" cy="432434"/>
          </a:xfrm>
          <a:custGeom>
            <a:avLst/>
            <a:gdLst/>
            <a:ahLst/>
            <a:cxnLst/>
            <a:rect l="l" t="t" r="r" b="b"/>
            <a:pathLst>
              <a:path w="4432935" h="432434">
                <a:moveTo>
                  <a:pt x="4432566" y="0"/>
                </a:moveTo>
                <a:lnTo>
                  <a:pt x="0" y="0"/>
                </a:lnTo>
                <a:lnTo>
                  <a:pt x="0" y="381103"/>
                </a:lnTo>
                <a:lnTo>
                  <a:pt x="4008" y="400827"/>
                </a:lnTo>
                <a:lnTo>
                  <a:pt x="14922" y="416980"/>
                </a:lnTo>
                <a:lnTo>
                  <a:pt x="31075" y="427895"/>
                </a:lnTo>
                <a:lnTo>
                  <a:pt x="50800" y="431903"/>
                </a:lnTo>
                <a:lnTo>
                  <a:pt x="4381765" y="431903"/>
                </a:lnTo>
                <a:lnTo>
                  <a:pt x="4401490" y="427895"/>
                </a:lnTo>
                <a:lnTo>
                  <a:pt x="4417643" y="416980"/>
                </a:lnTo>
                <a:lnTo>
                  <a:pt x="4428558" y="400827"/>
                </a:lnTo>
                <a:lnTo>
                  <a:pt x="4432566" y="38110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5545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53765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427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300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1735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12788"/>
            <a:ext cx="4338320" cy="11684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1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6.1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当溶液中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1.0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100" spc="65" b="0" i="1">
                <a:latin typeface="Bookman Old Style"/>
                <a:cs typeface="Bookman Old Style"/>
              </a:rPr>
              <a:t>/</a:t>
            </a:r>
            <a:r>
              <a:rPr dirty="0" sz="1100" spc="65">
                <a:latin typeface="Georgia"/>
                <a:cs typeface="Georgia"/>
              </a:rPr>
              <a:t>Cu</a:t>
            </a:r>
            <a:r>
              <a:rPr dirty="0" baseline="37037" sz="900" spc="97">
                <a:latin typeface="Times New Roman"/>
                <a:cs typeface="Times New Roman"/>
              </a:rPr>
              <a:t>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电对的条件电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85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（忽略离子强度的影</a:t>
            </a:r>
            <a:r>
              <a:rPr dirty="0" sz="1200" spc="3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条件电极电位的表达式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662" y="1549539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125" y="1568742"/>
            <a:ext cx="15735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2270" algn="l"/>
                <a:tab pos="808355" algn="l"/>
                <a:tab pos="1118870" algn="l"/>
                <a:tab pos="148907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1413" y="1563319"/>
            <a:ext cx="2292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0" b="0" i="1">
                <a:latin typeface="Bookman Old Style"/>
                <a:cs typeface="Bookman Old Style"/>
              </a:rPr>
              <a:t>/</a:t>
            </a:r>
            <a:r>
              <a:rPr dirty="0" sz="1100" spc="-20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0" b="0" i="1">
                <a:latin typeface="Bookman Old Style"/>
                <a:cs typeface="Bookman Old Style"/>
              </a:rPr>
              <a:t>/</a:t>
            </a:r>
            <a:r>
              <a:rPr dirty="0" sz="1100" spc="-20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57970" y="1563319"/>
            <a:ext cx="364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49536" y="167993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 h="0">
                <a:moveTo>
                  <a:pt x="0" y="0"/>
                </a:moveTo>
                <a:lnTo>
                  <a:pt x="9391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111436" y="1447086"/>
            <a:ext cx="10160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γ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60" b="0" i="1">
                <a:latin typeface="Bookman Old Style"/>
                <a:cs typeface="Bookman Old Style"/>
              </a:rPr>
              <a:t>α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37037" sz="900" spc="89">
                <a:latin typeface="Times New Roman"/>
                <a:cs typeface="Times New Roman"/>
              </a:rPr>
              <a:t>+</a:t>
            </a:r>
            <a:r>
              <a:rPr dirty="0" sz="1100" spc="6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γ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27777" sz="900" spc="89">
                <a:latin typeface="Times New Roman"/>
                <a:cs typeface="Times New Roman"/>
              </a:rPr>
              <a:t>+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60" b="0" i="1">
                <a:latin typeface="Bookman Old Style"/>
                <a:cs typeface="Bookman Old Style"/>
              </a:rPr>
              <a:t>α</a:t>
            </a:r>
            <a:r>
              <a:rPr dirty="0" sz="1100" spc="60">
                <a:latin typeface="Georgia"/>
                <a:cs typeface="Georgia"/>
              </a:rPr>
              <a:t>(Cu</a:t>
            </a:r>
            <a:r>
              <a:rPr dirty="0" baseline="27777" sz="900" spc="89">
                <a:latin typeface="Times New Roman"/>
                <a:cs typeface="Times New Roman"/>
              </a:rPr>
              <a:t>2+</a:t>
            </a:r>
            <a:r>
              <a:rPr dirty="0" sz="1100" spc="6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501" y="2083955"/>
            <a:ext cx="2140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在忽略离子强度影响的情况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2439" y="2446337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3889" y="2465540"/>
            <a:ext cx="15735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2270" algn="l"/>
                <a:tab pos="808355" algn="l"/>
                <a:tab pos="1118870" algn="l"/>
                <a:tab pos="148907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330">
                <a:latin typeface="Arial"/>
                <a:cs typeface="Arial"/>
              </a:rPr>
              <a:t>)</a:t>
            </a:r>
            <a:r>
              <a:rPr dirty="0" sz="600" spc="330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177" y="2460117"/>
            <a:ext cx="26308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5" b="0" i="1">
                <a:latin typeface="Bookman Old Style"/>
                <a:cs typeface="Bookman Old Style"/>
              </a:rPr>
              <a:t>/</a:t>
            </a:r>
            <a:r>
              <a:rPr dirty="0" sz="1100" spc="-25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(Cu </a:t>
            </a:r>
            <a:r>
              <a:rPr dirty="0" sz="1100" spc="-25" b="0" i="1">
                <a:latin typeface="Bookman Old Style"/>
                <a:cs typeface="Bookman Old Style"/>
              </a:rPr>
              <a:t>/</a:t>
            </a:r>
            <a:r>
              <a:rPr dirty="0" sz="1100" spc="-25">
                <a:latin typeface="Georgia"/>
                <a:cs typeface="Georgia"/>
              </a:rPr>
              <a:t>Cu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70300" y="2576728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 h="0">
                <a:moveTo>
                  <a:pt x="0" y="0"/>
                </a:moveTo>
                <a:lnTo>
                  <a:pt x="49763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32200" y="2343884"/>
            <a:ext cx="57404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22860">
              <a:lnSpc>
                <a:spcPct val="112599"/>
              </a:lnSpc>
              <a:spcBef>
                <a:spcPts val="10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α</a:t>
            </a:r>
            <a:r>
              <a:rPr dirty="0" sz="1100" spc="55">
                <a:latin typeface="Georgia"/>
                <a:cs typeface="Georgia"/>
              </a:rPr>
              <a:t>(Cu</a:t>
            </a:r>
            <a:r>
              <a:rPr dirty="0" baseline="37037" sz="900" spc="82">
                <a:latin typeface="Times New Roman"/>
                <a:cs typeface="Times New Roman"/>
              </a:rPr>
              <a:t>+</a:t>
            </a:r>
            <a:r>
              <a:rPr dirty="0" sz="1100" spc="55">
                <a:latin typeface="Georgia"/>
                <a:cs typeface="Georgia"/>
              </a:rPr>
              <a:t>) 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20">
                <a:latin typeface="Georgia"/>
                <a:cs typeface="Georgia"/>
              </a:rPr>
              <a:t>(C</a:t>
            </a:r>
            <a:r>
              <a:rPr dirty="0" sz="1100" spc="15">
                <a:latin typeface="Georgia"/>
                <a:cs typeface="Georgia"/>
              </a:rPr>
              <a:t>u</a:t>
            </a:r>
            <a:r>
              <a:rPr dirty="0" baseline="27777" sz="900" spc="195">
                <a:latin typeface="Times New Roman"/>
                <a:cs typeface="Times New Roman"/>
              </a:rPr>
              <a:t>2</a:t>
            </a:r>
            <a:r>
              <a:rPr dirty="0" baseline="2777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4101" y="2842209"/>
            <a:ext cx="36588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在本例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Cu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不会发生副反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(Cu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28968"/>
            <a:ext cx="26625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</a:t>
            </a:r>
            <a:r>
              <a:rPr dirty="0" spc="-10"/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pc="-5"/>
              <a:t>存在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溶液中可发生如下反</a:t>
            </a:r>
            <a:r>
              <a:rPr dirty="0" spc="-90"/>
              <a:t>应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05129"/>
            <a:ext cx="4338955" cy="781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5240">
              <a:lnSpc>
                <a:spcPts val="990"/>
              </a:lnSpc>
              <a:spcBef>
                <a:spcPts val="90"/>
              </a:spcBef>
            </a:pPr>
            <a:r>
              <a:rPr dirty="0" sz="1100" spc="50">
                <a:latin typeface="Georgia"/>
                <a:cs typeface="Georgia"/>
              </a:rPr>
              <a:t>2Cu</a:t>
            </a:r>
            <a:r>
              <a:rPr dirty="0" baseline="41666" sz="900" spc="75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4I</a:t>
            </a:r>
            <a:r>
              <a:rPr dirty="0" baseline="41666" sz="900" spc="5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>
                <a:latin typeface="Georgia"/>
                <a:cs typeface="Georgia"/>
              </a:rPr>
              <a:t>2CuI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24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+I</a:t>
            </a:r>
            <a:endParaRPr sz="1100">
              <a:latin typeface="Georgia"/>
              <a:cs typeface="Georgia"/>
            </a:endParaRPr>
          </a:p>
          <a:p>
            <a:pPr algn="r" marR="1368425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38100" marR="30480" indent="303530">
              <a:lnSpc>
                <a:spcPct val="122300"/>
              </a:lnSpc>
              <a:spcBef>
                <a:spcPts val="360"/>
              </a:spcBef>
            </a:pPr>
            <a:r>
              <a:rPr dirty="0" sz="1200" spc="-5">
                <a:latin typeface="Arial Unicode MS"/>
                <a:cs typeface="Arial Unicode MS"/>
              </a:rPr>
              <a:t>沉淀的形成会导致溶液中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+</a:t>
            </a:r>
            <a:r>
              <a:rPr dirty="0" baseline="37037" sz="900" spc="3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从而改变电对的 电极电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的副反应系数如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491" y="1654581"/>
            <a:ext cx="674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α</a:t>
            </a:r>
            <a:r>
              <a:rPr dirty="0" sz="1100" spc="55">
                <a:latin typeface="Georgia"/>
                <a:cs typeface="Georgia"/>
              </a:rPr>
              <a:t>(Cu</a:t>
            </a:r>
            <a:r>
              <a:rPr dirty="0" baseline="41666" sz="900" spc="82">
                <a:latin typeface="Times New Roman"/>
                <a:cs typeface="Times New Roman"/>
              </a:rPr>
              <a:t>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5758" y="1771192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 h="0">
                <a:moveTo>
                  <a:pt x="0" y="0"/>
                </a:moveTo>
                <a:lnTo>
                  <a:pt x="4220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63941" y="1772221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958" y="1560855"/>
            <a:ext cx="1194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2072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(Cu</a:t>
            </a:r>
            <a:r>
              <a:rPr dirty="0" baseline="37037" sz="900" spc="67">
                <a:latin typeface="Times New Roman"/>
                <a:cs typeface="Times New Roman"/>
              </a:rPr>
              <a:t>+</a:t>
            </a:r>
            <a:r>
              <a:rPr dirty="0" sz="1100" spc="45">
                <a:latin typeface="Georgia"/>
                <a:cs typeface="Georgia"/>
              </a:rPr>
              <a:t>)	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(Cu</a:t>
            </a:r>
            <a:r>
              <a:rPr dirty="0" baseline="37037" sz="900" spc="67">
                <a:latin typeface="Times New Roman"/>
                <a:cs typeface="Times New Roman"/>
              </a:rPr>
              <a:t>+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52904" y="1771192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4" h="0">
                <a:moveTo>
                  <a:pt x="0" y="0"/>
                </a:moveTo>
                <a:lnTo>
                  <a:pt x="4880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6547" y="1560855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6052" y="1771192"/>
            <a:ext cx="903605" cy="0"/>
          </a:xfrm>
          <a:custGeom>
            <a:avLst/>
            <a:gdLst/>
            <a:ahLst/>
            <a:cxnLst/>
            <a:rect l="l" t="t" r="r" b="b"/>
            <a:pathLst>
              <a:path w="903604" h="0">
                <a:moveTo>
                  <a:pt x="0" y="0"/>
                </a:moveTo>
                <a:lnTo>
                  <a:pt x="9034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7622" y="1654581"/>
            <a:ext cx="159956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93395">
              <a:lnSpc>
                <a:spcPts val="1035"/>
              </a:lnSpc>
              <a:spcBef>
                <a:spcPts val="90"/>
              </a:spcBef>
              <a:tabLst>
                <a:tab pos="1196340" algn="l"/>
              </a:tabLst>
            </a:pPr>
            <a:r>
              <a:rPr dirty="0" sz="1100" spc="140">
                <a:latin typeface="Georgia"/>
                <a:cs typeface="Georgia"/>
              </a:rPr>
              <a:t>=	=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ts val="1035"/>
              </a:lnSpc>
              <a:tabLst>
                <a:tab pos="654685" algn="l"/>
                <a:tab pos="1358265" algn="l"/>
              </a:tabLst>
            </a:pPr>
            <a:r>
              <a:rPr dirty="0" sz="1100" spc="-20">
                <a:latin typeface="Georgia"/>
                <a:cs typeface="Georgia"/>
              </a:rPr>
              <a:t>[Cu 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	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sz="1100" spc="25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[I</a:t>
            </a:r>
            <a:r>
              <a:rPr dirty="0" baseline="27777" sz="900" spc="37" i="1">
                <a:latin typeface="Arial"/>
                <a:cs typeface="Arial"/>
              </a:rPr>
              <a:t>−</a:t>
            </a:r>
            <a:r>
              <a:rPr dirty="0" sz="1100" spc="25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2864" y="1709597"/>
            <a:ext cx="4260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70" i="1">
                <a:latin typeface="Arial"/>
                <a:cs typeface="Arial"/>
              </a:rPr>
              <a:t>−</a:t>
            </a:r>
            <a:r>
              <a:rPr dirty="0" sz="600" spc="70">
                <a:latin typeface="Times New Roman"/>
                <a:cs typeface="Times New Roman"/>
              </a:rPr>
              <a:t>12</a:t>
            </a:r>
            <a:r>
              <a:rPr dirty="0" baseline="-15151" sz="1650" spc="104" b="0" i="1">
                <a:latin typeface="Bookman Old Style"/>
                <a:cs typeface="Bookman Old Style"/>
              </a:rPr>
              <a:t>/</a:t>
            </a:r>
            <a:r>
              <a:rPr dirty="0" baseline="-15151" sz="1650" spc="225" b="0" i="1">
                <a:latin typeface="Bookman Old Style"/>
                <a:cs typeface="Bookman Old Style"/>
              </a:rPr>
              <a:t> </a:t>
            </a:r>
            <a:r>
              <a:rPr dirty="0" baseline="-15151" sz="1650" spc="-44" b="0" i="1">
                <a:latin typeface="Bookman Old Style"/>
                <a:cs typeface="Bookman Old Style"/>
              </a:rPr>
              <a:t>.</a:t>
            </a:r>
            <a:endParaRPr baseline="-15151" sz="165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2631" y="1749615"/>
            <a:ext cx="859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929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. </a:t>
            </a:r>
            <a:r>
              <a:rPr dirty="0" sz="1100" spc="15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0450" y="1654581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9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1602" y="1660004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28968"/>
            <a:ext cx="26625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</a:t>
            </a:r>
            <a:r>
              <a:rPr dirty="0" spc="-10"/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pc="-5"/>
              <a:t>存在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溶液中可发生如下反</a:t>
            </a:r>
            <a:r>
              <a:rPr dirty="0" spc="-90"/>
              <a:t>应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05129"/>
            <a:ext cx="4338955" cy="781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5240">
              <a:lnSpc>
                <a:spcPts val="990"/>
              </a:lnSpc>
              <a:spcBef>
                <a:spcPts val="90"/>
              </a:spcBef>
            </a:pPr>
            <a:r>
              <a:rPr dirty="0" sz="1100" spc="50">
                <a:latin typeface="Georgia"/>
                <a:cs typeface="Georgia"/>
              </a:rPr>
              <a:t>2Cu</a:t>
            </a:r>
            <a:r>
              <a:rPr dirty="0" baseline="41666" sz="900" spc="75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4I</a:t>
            </a:r>
            <a:r>
              <a:rPr dirty="0" baseline="41666" sz="900" spc="5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>
                <a:latin typeface="Georgia"/>
                <a:cs typeface="Georgia"/>
              </a:rPr>
              <a:t>2CuI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24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+I</a:t>
            </a:r>
            <a:endParaRPr sz="1100">
              <a:latin typeface="Georgia"/>
              <a:cs typeface="Georgia"/>
            </a:endParaRPr>
          </a:p>
          <a:p>
            <a:pPr algn="r" marR="1368425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38100" marR="30480" indent="303530">
              <a:lnSpc>
                <a:spcPct val="122300"/>
              </a:lnSpc>
              <a:spcBef>
                <a:spcPts val="360"/>
              </a:spcBef>
            </a:pPr>
            <a:r>
              <a:rPr dirty="0" sz="1200" spc="-5">
                <a:latin typeface="Arial Unicode MS"/>
                <a:cs typeface="Arial Unicode MS"/>
              </a:rPr>
              <a:t>沉淀的形成会导致溶液中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+</a:t>
            </a:r>
            <a:r>
              <a:rPr dirty="0" baseline="37037" sz="900" spc="3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从而改变电对的 电极电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的副反应系数如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491" y="1654581"/>
            <a:ext cx="674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α</a:t>
            </a:r>
            <a:r>
              <a:rPr dirty="0" sz="1100" spc="55">
                <a:latin typeface="Georgia"/>
                <a:cs typeface="Georgia"/>
              </a:rPr>
              <a:t>(Cu</a:t>
            </a:r>
            <a:r>
              <a:rPr dirty="0" baseline="41666" sz="900" spc="82">
                <a:latin typeface="Times New Roman"/>
                <a:cs typeface="Times New Roman"/>
              </a:rPr>
              <a:t>+</a:t>
            </a:r>
            <a:r>
              <a:rPr dirty="0" sz="1100" spc="55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5758" y="1771192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 h="0">
                <a:moveTo>
                  <a:pt x="0" y="0"/>
                </a:moveTo>
                <a:lnTo>
                  <a:pt x="4220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63941" y="1772221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958" y="1560855"/>
            <a:ext cx="1194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2072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(Cu</a:t>
            </a:r>
            <a:r>
              <a:rPr dirty="0" baseline="37037" sz="900" spc="67">
                <a:latin typeface="Times New Roman"/>
                <a:cs typeface="Times New Roman"/>
              </a:rPr>
              <a:t>+</a:t>
            </a:r>
            <a:r>
              <a:rPr dirty="0" sz="1100" spc="45">
                <a:latin typeface="Georgia"/>
                <a:cs typeface="Georgia"/>
              </a:rPr>
              <a:t>)	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(Cu</a:t>
            </a:r>
            <a:r>
              <a:rPr dirty="0" baseline="37037" sz="900" spc="67">
                <a:latin typeface="Times New Roman"/>
                <a:cs typeface="Times New Roman"/>
              </a:rPr>
              <a:t>+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52904" y="1771192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4" h="0">
                <a:moveTo>
                  <a:pt x="0" y="0"/>
                </a:moveTo>
                <a:lnTo>
                  <a:pt x="4880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6547" y="1560855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6052" y="1771192"/>
            <a:ext cx="903605" cy="0"/>
          </a:xfrm>
          <a:custGeom>
            <a:avLst/>
            <a:gdLst/>
            <a:ahLst/>
            <a:cxnLst/>
            <a:rect l="l" t="t" r="r" b="b"/>
            <a:pathLst>
              <a:path w="903604" h="0">
                <a:moveTo>
                  <a:pt x="0" y="0"/>
                </a:moveTo>
                <a:lnTo>
                  <a:pt x="9034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7622" y="1654581"/>
            <a:ext cx="159956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93395">
              <a:lnSpc>
                <a:spcPts val="1035"/>
              </a:lnSpc>
              <a:spcBef>
                <a:spcPts val="90"/>
              </a:spcBef>
              <a:tabLst>
                <a:tab pos="1196340" algn="l"/>
              </a:tabLst>
            </a:pPr>
            <a:r>
              <a:rPr dirty="0" sz="1100" spc="140">
                <a:latin typeface="Georgia"/>
                <a:cs typeface="Georgia"/>
              </a:rPr>
              <a:t>=	=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ts val="1035"/>
              </a:lnSpc>
              <a:tabLst>
                <a:tab pos="654685" algn="l"/>
                <a:tab pos="1358265" algn="l"/>
              </a:tabLst>
            </a:pPr>
            <a:r>
              <a:rPr dirty="0" sz="1100" spc="-20">
                <a:latin typeface="Georgia"/>
                <a:cs typeface="Georgia"/>
              </a:rPr>
              <a:t>[Cu 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	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sz="1100" spc="25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[I</a:t>
            </a:r>
            <a:r>
              <a:rPr dirty="0" baseline="27777" sz="900" spc="37" i="1">
                <a:latin typeface="Arial"/>
                <a:cs typeface="Arial"/>
              </a:rPr>
              <a:t>−</a:t>
            </a:r>
            <a:r>
              <a:rPr dirty="0" sz="1100" spc="25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2864" y="1709597"/>
            <a:ext cx="4260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70" i="1">
                <a:latin typeface="Arial"/>
                <a:cs typeface="Arial"/>
              </a:rPr>
              <a:t>−</a:t>
            </a:r>
            <a:r>
              <a:rPr dirty="0" sz="600" spc="70">
                <a:latin typeface="Times New Roman"/>
                <a:cs typeface="Times New Roman"/>
              </a:rPr>
              <a:t>12</a:t>
            </a:r>
            <a:r>
              <a:rPr dirty="0" baseline="-15151" sz="1650" spc="104" b="0" i="1">
                <a:latin typeface="Bookman Old Style"/>
                <a:cs typeface="Bookman Old Style"/>
              </a:rPr>
              <a:t>/</a:t>
            </a:r>
            <a:r>
              <a:rPr dirty="0" baseline="-15151" sz="1650" spc="225" b="0" i="1">
                <a:latin typeface="Bookman Old Style"/>
                <a:cs typeface="Bookman Old Style"/>
              </a:rPr>
              <a:t> </a:t>
            </a:r>
            <a:r>
              <a:rPr dirty="0" baseline="-15151" sz="1650" spc="-44" b="0" i="1">
                <a:latin typeface="Bookman Old Style"/>
                <a:cs typeface="Bookman Old Style"/>
              </a:rPr>
              <a:t>.</a:t>
            </a:r>
            <a:endParaRPr baseline="-15151" sz="165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2631" y="1749615"/>
            <a:ext cx="859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929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. </a:t>
            </a:r>
            <a:r>
              <a:rPr dirty="0" sz="1100" spc="15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0450" y="1654581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9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1602" y="1660004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056" y="2380335"/>
            <a:ext cx="3670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07340" algn="l"/>
              </a:tabLst>
            </a:pPr>
            <a:r>
              <a:rPr dirty="0" sz="1100" spc="-150">
                <a:latin typeface="Lucida Sans Unicode"/>
                <a:cs typeface="Lucida Sans Unicode"/>
              </a:rPr>
              <a:t>∴</a:t>
            </a:r>
            <a:r>
              <a:rPr dirty="0" sz="1100" spc="-150">
                <a:latin typeface="Lucida Sans Unicode"/>
                <a:cs typeface="Lucida Sans Unicode"/>
              </a:rPr>
              <a:t>	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20">
                <a:latin typeface="Georgia"/>
                <a:cs typeface="Georgia"/>
              </a:rPr>
              <a:t>(C</a:t>
            </a:r>
            <a:r>
              <a:rPr dirty="0" sz="1100" spc="15">
                <a:latin typeface="Georgia"/>
                <a:cs typeface="Georgia"/>
              </a:rPr>
              <a:t>u</a:t>
            </a:r>
            <a:r>
              <a:rPr dirty="0" baseline="41666" sz="900" spc="195">
                <a:latin typeface="Times New Roman"/>
                <a:cs typeface="Times New Roman"/>
              </a:rPr>
              <a:t>2</a:t>
            </a:r>
            <a:r>
              <a:rPr dirty="0" baseline="41666" sz="900" spc="292">
                <a:latin typeface="Times New Roman"/>
                <a:cs typeface="Times New Roman"/>
              </a:rPr>
              <a:t>+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C</a:t>
            </a:r>
            <a:r>
              <a:rPr dirty="0" sz="1100" spc="20">
                <a:latin typeface="Georgia"/>
                <a:cs typeface="Georgia"/>
              </a:rPr>
              <a:t>u</a:t>
            </a:r>
            <a:r>
              <a:rPr dirty="0" baseline="41666" sz="900" spc="397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16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35">
                <a:latin typeface="Georgia"/>
                <a:cs typeface="Georgia"/>
              </a:rPr>
              <a:t>(9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41666" sz="900" spc="97">
                <a:latin typeface="Times New Roman"/>
                <a:cs typeface="Times New Roman"/>
              </a:rPr>
              <a:t>1</a:t>
            </a:r>
            <a:r>
              <a:rPr dirty="0" baseline="41666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87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(V)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192722"/>
            <a:ext cx="4246880" cy="789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6.1.3</a:t>
            </a:r>
            <a:r>
              <a:rPr dirty="0" sz="1000" spc="1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氧化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原反应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平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衡常数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5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氧化还原反应的平衡常数可以用电极电位来表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对于下列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的一般反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0877" y="1109218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9380" y="1011135"/>
            <a:ext cx="826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5662" y="1629664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13" y="1011135"/>
            <a:ext cx="1882775" cy="1009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99794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dirty="0" sz="1200" spc="-5">
                <a:latin typeface="Arial Unicode MS"/>
                <a:cs typeface="Arial Unicode MS"/>
              </a:rPr>
              <a:t>其电对反应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316355">
              <a:lnSpc>
                <a:spcPct val="100000"/>
              </a:lnSpc>
              <a:spcBef>
                <a:spcPts val="42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  <a:p>
            <a:pPr marL="1316355">
              <a:lnSpc>
                <a:spcPct val="100000"/>
              </a:lnSpc>
              <a:spcBef>
                <a:spcPts val="101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5662" y="1926425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4165" y="1531594"/>
            <a:ext cx="224790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5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192722"/>
            <a:ext cx="4246880" cy="789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6.1.3</a:t>
            </a:r>
            <a:r>
              <a:rPr dirty="0" sz="1000" spc="1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氧化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原反应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平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衡常数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5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氧化还原反应的平衡常数可以用电极电位来表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对于下列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的一般反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0877" y="1109218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9380" y="1011135"/>
            <a:ext cx="826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5662" y="1629664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13" y="1011135"/>
            <a:ext cx="1882775" cy="1009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99794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dirty="0" sz="1200" spc="-5">
                <a:latin typeface="Arial Unicode MS"/>
                <a:cs typeface="Arial Unicode MS"/>
              </a:rPr>
              <a:t>其电对反应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316355">
              <a:lnSpc>
                <a:spcPct val="100000"/>
              </a:lnSpc>
              <a:spcBef>
                <a:spcPts val="42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  <a:p>
            <a:pPr marL="1316355">
              <a:lnSpc>
                <a:spcPct val="100000"/>
              </a:lnSpc>
              <a:spcBef>
                <a:spcPts val="1015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5662" y="1926425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4165" y="1531594"/>
            <a:ext cx="224790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5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2111806"/>
            <a:ext cx="26498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298K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各电对的电极电位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2724" y="2489847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7160" y="2567838"/>
            <a:ext cx="1162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  <a:tab pos="878840" algn="l"/>
                <a:tab pos="110299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5265" y="2484424"/>
            <a:ext cx="163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E</a:t>
            </a:r>
            <a:r>
              <a:rPr dirty="0" sz="1100" spc="5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01582" y="2601036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78721" y="2579459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1881" y="26628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2729" y="248442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5558" y="24740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8882" y="2390698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03384" y="2601036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22662" y="26628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93567" y="2579459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2724" y="2950616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7160" y="3028594"/>
            <a:ext cx="1162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  <a:tab pos="878840" algn="l"/>
                <a:tab pos="11029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5265" y="2945193"/>
            <a:ext cx="163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E</a:t>
            </a:r>
            <a:r>
              <a:rPr dirty="0" sz="1100" spc="5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01582" y="3061804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778721" y="3040227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61881" y="312362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42729" y="294519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25558" y="293486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8882" y="2851467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03384" y="3061804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422662" y="312362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93567" y="3040227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332359"/>
            <a:ext cx="37471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当氧化还原反应达到平衡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两电对的电势相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4326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724408"/>
            <a:ext cx="4991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398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381" y="724408"/>
            <a:ext cx="372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3185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30324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332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7161" y="7140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485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54987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3497" y="902855"/>
            <a:ext cx="633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340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5170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3924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4983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7422" y="724408"/>
            <a:ext cx="992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62782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39922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3081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3929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6758" y="7140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0082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64584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83863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4767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32359"/>
            <a:ext cx="37471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当氧化还原反应达到平衡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两电对的电势相</a:t>
            </a:r>
            <a:r>
              <a:rPr dirty="0" spc="-80"/>
              <a:t>同</a:t>
            </a:r>
            <a:r>
              <a:rPr dirty="0" spc="-185"/>
              <a:t>，</a:t>
            </a:r>
            <a:r>
              <a:rPr dirty="0" spc="-5"/>
              <a:t>所</a:t>
            </a:r>
            <a:r>
              <a:rPr dirty="0" spc="-90"/>
              <a:t>以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326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724408"/>
            <a:ext cx="4991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398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381" y="724408"/>
            <a:ext cx="372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3185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30324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332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7161" y="7140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485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54987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3497" y="902855"/>
            <a:ext cx="633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340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5170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3924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4983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7422" y="724408"/>
            <a:ext cx="992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62782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39922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3081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3929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6758" y="7140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0082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64584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83863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4767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9501" y="1240942"/>
            <a:ext cx="6223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7743" y="153286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8544" y="1949589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9344" y="193688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20310" y="1583423"/>
            <a:ext cx="50749" cy="366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7743" y="1577284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0310" y="1621521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20310" y="16088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20310" y="15961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20310" y="15834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64908" y="1675041"/>
            <a:ext cx="27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70635" y="1791652"/>
            <a:ext cx="905510" cy="0"/>
          </a:xfrm>
          <a:custGeom>
            <a:avLst/>
            <a:gdLst/>
            <a:ahLst/>
            <a:cxnLst/>
            <a:rect l="l" t="t" r="r" b="b"/>
            <a:pathLst>
              <a:path w="905510" h="0">
                <a:moveTo>
                  <a:pt x="0" y="0"/>
                </a:moveTo>
                <a:lnTo>
                  <a:pt x="90543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1168" y="1791652"/>
            <a:ext cx="1747520" cy="0"/>
          </a:xfrm>
          <a:custGeom>
            <a:avLst/>
            <a:gdLst/>
            <a:ahLst/>
            <a:cxnLst/>
            <a:rect l="l" t="t" r="r" b="b"/>
            <a:pathLst>
              <a:path w="1747520" h="0">
                <a:moveTo>
                  <a:pt x="0" y="0"/>
                </a:moveTo>
                <a:lnTo>
                  <a:pt x="174713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25639" y="1581315"/>
            <a:ext cx="3263900" cy="381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ts val="575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baseline="-37878" sz="1650" spc="-30">
                <a:latin typeface="Georgia"/>
                <a:cs typeface="Georgia"/>
              </a:rPr>
              <a:t>lg </a:t>
            </a:r>
            <a:r>
              <a:rPr dirty="0" sz="1100" spc="-105" b="0" i="1">
                <a:latin typeface="Bookman Old Style"/>
                <a:cs typeface="Bookman Old Style"/>
              </a:rPr>
              <a:t>a </a:t>
            </a:r>
            <a:r>
              <a:rPr dirty="0" sz="1100" spc="10">
                <a:latin typeface="Georgia"/>
                <a:cs typeface="Georgia"/>
              </a:rPr>
              <a:t>(R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0" b="0" i="1">
                <a:latin typeface="Bookman Old Style"/>
                <a:cs typeface="Bookman Old Style"/>
              </a:rPr>
              <a:t>a </a:t>
            </a:r>
            <a:r>
              <a:rPr dirty="0" sz="1100" spc="35">
                <a:latin typeface="Georgia"/>
                <a:cs typeface="Georgia"/>
              </a:rPr>
              <a:t>(O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30">
                <a:latin typeface="Georgia"/>
                <a:cs typeface="Georgia"/>
              </a:rPr>
              <a:t>(</a:t>
            </a:r>
            <a:r>
              <a:rPr dirty="0" sz="1100" spc="30" b="0" i="1">
                <a:latin typeface="Bookman Old Style"/>
                <a:cs typeface="Bookman Old Style"/>
              </a:rPr>
              <a:t>E </a:t>
            </a:r>
            <a:r>
              <a:rPr dirty="0" sz="1100" spc="25">
                <a:latin typeface="Georgia"/>
                <a:cs typeface="Georgia"/>
              </a:rPr>
              <a:t>(O</a:t>
            </a:r>
            <a:r>
              <a:rPr dirty="0" baseline="-13888" sz="900" spc="37">
                <a:latin typeface="Times New Roman"/>
                <a:cs typeface="Times New Roman"/>
              </a:rPr>
              <a:t>1</a:t>
            </a:r>
            <a:r>
              <a:rPr dirty="0" sz="1100" spc="25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R</a:t>
            </a:r>
            <a:r>
              <a:rPr dirty="0" baseline="-13888" sz="900" spc="37">
                <a:latin typeface="Times New Roman"/>
                <a:cs typeface="Times New Roman"/>
              </a:rPr>
              <a:t>1</a:t>
            </a:r>
            <a:r>
              <a:rPr dirty="0" sz="1100" spc="25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5" b="0" i="1">
                <a:latin typeface="Bookman Old Style"/>
                <a:cs typeface="Bookman Old Style"/>
              </a:rPr>
              <a:t>E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 b="0" i="1">
                <a:latin typeface="Bookman Old Style"/>
                <a:cs typeface="Bookman Old Style"/>
              </a:rPr>
              <a:t>/</a:t>
            </a:r>
            <a:r>
              <a:rPr dirty="0" sz="1100" spc="20">
                <a:latin typeface="Georgia"/>
                <a:cs typeface="Georgia"/>
              </a:rPr>
              <a:t>R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417830">
              <a:lnSpc>
                <a:spcPts val="250"/>
              </a:lnSpc>
              <a:tabLst>
                <a:tab pos="867410" algn="l"/>
                <a:tab pos="1735455" algn="l"/>
                <a:tab pos="2586990" algn="l"/>
              </a:tabLst>
            </a:pP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2	</a:t>
            </a: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1	</a:t>
            </a:r>
            <a:r>
              <a:rPr dirty="0" sz="600" spc="330">
                <a:latin typeface="Arial"/>
                <a:cs typeface="Arial"/>
              </a:rPr>
              <a:t>)	)</a:t>
            </a:r>
            <a:endParaRPr sz="600">
              <a:latin typeface="Arial"/>
              <a:cs typeface="Arial"/>
            </a:endParaRPr>
          </a:p>
          <a:p>
            <a:pPr marL="344805">
              <a:lnSpc>
                <a:spcPct val="100000"/>
              </a:lnSpc>
              <a:spcBef>
                <a:spcPts val="660"/>
              </a:spcBef>
              <a:tabLst>
                <a:tab pos="2181225" algn="l"/>
              </a:tabLst>
            </a:pP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2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1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20">
                <a:latin typeface="Georgia"/>
                <a:cs typeface="Georgia"/>
              </a:rPr>
              <a:t>(R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79722" y="1675041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0444" y="2068715"/>
            <a:ext cx="434276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式中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0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为反应平衡常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10">
                <a:latin typeface="Arial Unicode MS"/>
                <a:cs typeface="Arial Unicode MS"/>
              </a:rPr>
              <a:t>，</a:t>
            </a:r>
            <a:r>
              <a:rPr dirty="0" sz="1100" spc="-110" b="0" i="1">
                <a:latin typeface="Bookman Old Style"/>
                <a:cs typeface="Bookman Old Style"/>
              </a:rPr>
              <a:t>n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是反应中电子转移数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的最小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公倍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32359"/>
            <a:ext cx="37471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当氧化还原反应达到平衡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两电对的电势相</a:t>
            </a:r>
            <a:r>
              <a:rPr dirty="0" spc="-80"/>
              <a:t>同</a:t>
            </a:r>
            <a:r>
              <a:rPr dirty="0" spc="-185"/>
              <a:t>，</a:t>
            </a:r>
            <a:r>
              <a:rPr dirty="0" spc="-5"/>
              <a:t>所</a:t>
            </a:r>
            <a:r>
              <a:rPr dirty="0" spc="-90"/>
              <a:t>以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326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724408"/>
            <a:ext cx="4991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398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381" y="724408"/>
            <a:ext cx="372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53185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30324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332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7161" y="7140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485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54987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3497" y="902855"/>
            <a:ext cx="633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340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5170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3924" y="72983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4983" y="80782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7422" y="724408"/>
            <a:ext cx="992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62782" y="8410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339922" y="819442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3081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3929" y="72440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6758" y="7140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50082" y="630681"/>
            <a:ext cx="869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64584" y="84101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983863" y="9028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4767" y="819442"/>
            <a:ext cx="361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sz="1100" spc="-25">
                <a:latin typeface="Georgia"/>
                <a:cs typeface="Georgia"/>
              </a:rPr>
              <a:t>(R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9501" y="1240942"/>
            <a:ext cx="6223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7743" y="153286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8544" y="1949589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9344" y="193688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20310" y="1583423"/>
            <a:ext cx="50749" cy="366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7743" y="1577284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0310" y="1621521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20310" y="16088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20310" y="15961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20310" y="15834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64908" y="1675041"/>
            <a:ext cx="27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70635" y="1791652"/>
            <a:ext cx="905510" cy="0"/>
          </a:xfrm>
          <a:custGeom>
            <a:avLst/>
            <a:gdLst/>
            <a:ahLst/>
            <a:cxnLst/>
            <a:rect l="l" t="t" r="r" b="b"/>
            <a:pathLst>
              <a:path w="905510" h="0">
                <a:moveTo>
                  <a:pt x="0" y="0"/>
                </a:moveTo>
                <a:lnTo>
                  <a:pt x="90543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1168" y="1791652"/>
            <a:ext cx="1747520" cy="0"/>
          </a:xfrm>
          <a:custGeom>
            <a:avLst/>
            <a:gdLst/>
            <a:ahLst/>
            <a:cxnLst/>
            <a:rect l="l" t="t" r="r" b="b"/>
            <a:pathLst>
              <a:path w="1747520" h="0">
                <a:moveTo>
                  <a:pt x="0" y="0"/>
                </a:moveTo>
                <a:lnTo>
                  <a:pt x="174713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25639" y="1581315"/>
            <a:ext cx="3263900" cy="381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ts val="575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baseline="-37878" sz="1650" spc="-30">
                <a:latin typeface="Georgia"/>
                <a:cs typeface="Georgia"/>
              </a:rPr>
              <a:t>lg </a:t>
            </a:r>
            <a:r>
              <a:rPr dirty="0" sz="1100" spc="-105" b="0" i="1">
                <a:latin typeface="Bookman Old Style"/>
                <a:cs typeface="Bookman Old Style"/>
              </a:rPr>
              <a:t>a </a:t>
            </a:r>
            <a:r>
              <a:rPr dirty="0" sz="1100" spc="10">
                <a:latin typeface="Georgia"/>
                <a:cs typeface="Georgia"/>
              </a:rPr>
              <a:t>(R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0" b="0" i="1">
                <a:latin typeface="Bookman Old Style"/>
                <a:cs typeface="Bookman Old Style"/>
              </a:rPr>
              <a:t>a </a:t>
            </a:r>
            <a:r>
              <a:rPr dirty="0" sz="1100" spc="35">
                <a:latin typeface="Georgia"/>
                <a:cs typeface="Georgia"/>
              </a:rPr>
              <a:t>(O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30">
                <a:latin typeface="Georgia"/>
                <a:cs typeface="Georgia"/>
              </a:rPr>
              <a:t>(</a:t>
            </a:r>
            <a:r>
              <a:rPr dirty="0" sz="1100" spc="30" b="0" i="1">
                <a:latin typeface="Bookman Old Style"/>
                <a:cs typeface="Bookman Old Style"/>
              </a:rPr>
              <a:t>E </a:t>
            </a:r>
            <a:r>
              <a:rPr dirty="0" sz="1100" spc="25">
                <a:latin typeface="Georgia"/>
                <a:cs typeface="Georgia"/>
              </a:rPr>
              <a:t>(O</a:t>
            </a:r>
            <a:r>
              <a:rPr dirty="0" baseline="-13888" sz="900" spc="37">
                <a:latin typeface="Times New Roman"/>
                <a:cs typeface="Times New Roman"/>
              </a:rPr>
              <a:t>1</a:t>
            </a:r>
            <a:r>
              <a:rPr dirty="0" sz="1100" spc="25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R</a:t>
            </a:r>
            <a:r>
              <a:rPr dirty="0" baseline="-13888" sz="900" spc="37">
                <a:latin typeface="Times New Roman"/>
                <a:cs typeface="Times New Roman"/>
              </a:rPr>
              <a:t>1</a:t>
            </a:r>
            <a:r>
              <a:rPr dirty="0" sz="1100" spc="25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5" b="0" i="1">
                <a:latin typeface="Bookman Old Style"/>
                <a:cs typeface="Bookman Old Style"/>
              </a:rPr>
              <a:t>E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 b="0" i="1">
                <a:latin typeface="Bookman Old Style"/>
                <a:cs typeface="Bookman Old Style"/>
              </a:rPr>
              <a:t>/</a:t>
            </a:r>
            <a:r>
              <a:rPr dirty="0" sz="1100" spc="20">
                <a:latin typeface="Georgia"/>
                <a:cs typeface="Georgia"/>
              </a:rPr>
              <a:t>R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417830">
              <a:lnSpc>
                <a:spcPts val="250"/>
              </a:lnSpc>
              <a:tabLst>
                <a:tab pos="867410" algn="l"/>
                <a:tab pos="1735455" algn="l"/>
                <a:tab pos="2586990" algn="l"/>
              </a:tabLst>
            </a:pP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2	</a:t>
            </a: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1	</a:t>
            </a:r>
            <a:r>
              <a:rPr dirty="0" sz="600" spc="330">
                <a:latin typeface="Arial"/>
                <a:cs typeface="Arial"/>
              </a:rPr>
              <a:t>)	)</a:t>
            </a:r>
            <a:endParaRPr sz="600">
              <a:latin typeface="Arial"/>
              <a:cs typeface="Arial"/>
            </a:endParaRPr>
          </a:p>
          <a:p>
            <a:pPr marL="344805">
              <a:lnSpc>
                <a:spcPct val="100000"/>
              </a:lnSpc>
              <a:spcBef>
                <a:spcPts val="660"/>
              </a:spcBef>
              <a:tabLst>
                <a:tab pos="2181225" algn="l"/>
              </a:tabLst>
            </a:pP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2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10" b="0" i="1">
                <a:latin typeface="Bookman Old Style"/>
                <a:cs typeface="Bookman Old Style"/>
              </a:rPr>
              <a:t>a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1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20">
                <a:latin typeface="Georgia"/>
                <a:cs typeface="Georgia"/>
              </a:rPr>
              <a:t>(R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79722" y="1675041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744" y="2068715"/>
            <a:ext cx="4425950" cy="8356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式中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为反应平衡常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10">
                <a:latin typeface="Arial Unicode MS"/>
                <a:cs typeface="Arial Unicode MS"/>
              </a:rPr>
              <a:t>，</a:t>
            </a:r>
            <a:r>
              <a:rPr dirty="0" sz="1100" spc="-110" b="0" i="1">
                <a:latin typeface="Bookman Old Style"/>
                <a:cs typeface="Bookman Old Style"/>
              </a:rPr>
              <a:t>n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是反应中电子转移数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的最小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公倍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6096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结</a:t>
            </a:r>
            <a:r>
              <a:rPr dirty="0" sz="1200" spc="-90">
                <a:latin typeface="Arial Unicode MS"/>
                <a:cs typeface="Arial Unicode MS"/>
              </a:rPr>
              <a:t>论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氧化还原反应的平衡常数取决于电对的电</a:t>
            </a:r>
            <a:r>
              <a:rPr dirty="0" sz="1200" spc="-80">
                <a:latin typeface="Arial Unicode MS"/>
                <a:cs typeface="Arial Unicode MS"/>
              </a:rPr>
              <a:t>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与浓度无</a:t>
            </a:r>
            <a:r>
              <a:rPr dirty="0" sz="1200" spc="-20">
                <a:latin typeface="Arial Unicode MS"/>
                <a:cs typeface="Arial Unicode MS"/>
              </a:rPr>
              <a:t>关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899172"/>
            <a:ext cx="423608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当用浓度代替活度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用条件电极电位代替标准电极电</a:t>
            </a:r>
            <a:r>
              <a:rPr dirty="0" sz="1200" spc="-80">
                <a:latin typeface="Arial Unicode MS"/>
                <a:cs typeface="Arial Unicode MS"/>
              </a:rPr>
              <a:t>位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5870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875447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862747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509280"/>
            <a:ext cx="50749" cy="366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1503141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47378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346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219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5092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97763" y="1543697"/>
            <a:ext cx="231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95" b="0" i="1">
                <a:latin typeface="Bookman Old Style"/>
                <a:cs typeface="Bookman Old Style"/>
              </a:rPr>
              <a:t>K</a:t>
            </a: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397" y="1600898"/>
            <a:ext cx="612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5440" algn="l"/>
              </a:tabLst>
            </a:pPr>
            <a:r>
              <a:rPr dirty="0" sz="1100" spc="-15">
                <a:latin typeface="Georgia"/>
                <a:cs typeface="Georgia"/>
              </a:rPr>
              <a:t>lg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9380" y="1519516"/>
            <a:ext cx="640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87045" algn="l"/>
              </a:tabLst>
            </a:pP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2	</a:t>
            </a: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7469" y="1590573"/>
            <a:ext cx="5143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4659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7523" y="1507172"/>
            <a:ext cx="904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 </a:t>
            </a:r>
            <a:r>
              <a:rPr dirty="0" sz="1100" spc="20">
                <a:latin typeface="Georgia"/>
                <a:cs typeface="Georgia"/>
              </a:rPr>
              <a:t>(R </a:t>
            </a:r>
            <a:r>
              <a:rPr dirty="0" sz="1100" spc="-25">
                <a:latin typeface="Georgia"/>
                <a:cs typeface="Georgia"/>
              </a:rPr>
              <a:t>)</a:t>
            </a:r>
            <a:r>
              <a:rPr dirty="0" sz="1100" spc="-25" b="0" i="1">
                <a:latin typeface="Bookman Old Style"/>
                <a:cs typeface="Bookman Old Style"/>
              </a:rPr>
              <a:t>c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30223" y="1717509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 h="0">
                <a:moveTo>
                  <a:pt x="0" y="0"/>
                </a:moveTo>
                <a:lnTo>
                  <a:pt x="8788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92123" y="1695932"/>
            <a:ext cx="955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2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27777" sz="900" spc="179" i="1">
                <a:latin typeface="Arial"/>
                <a:cs typeface="Arial"/>
              </a:rPr>
              <a:t>n</a:t>
            </a:r>
            <a:r>
              <a:rPr dirty="0" baseline="22222" sz="750" spc="127">
                <a:latin typeface="Book Antiqua"/>
                <a:cs typeface="Book Antiqua"/>
              </a:rPr>
              <a:t>1</a:t>
            </a:r>
            <a:r>
              <a:rPr dirty="0" baseline="22222" sz="750" spc="-44">
                <a:latin typeface="Book Antiqua"/>
                <a:cs typeface="Book Antiqua"/>
              </a:rPr>
              <a:t> </a:t>
            </a:r>
            <a:r>
              <a:rPr dirty="0" sz="1100" spc="15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0071" y="160089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17737" y="1386154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>
                <a:latin typeface="Arial Unicode MS"/>
                <a:cs typeface="Arial Unicode MS"/>
              </a:rPr>
              <a:t>`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1498" y="1491526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3682" y="1581785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11488" y="1498371"/>
            <a:ext cx="977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3853" y="1491526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6038" y="1581785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93592" y="1498371"/>
            <a:ext cx="668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36606" y="1386154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>
                <a:latin typeface="Arial Unicode MS"/>
                <a:cs typeface="Arial Unicode MS"/>
              </a:rPr>
              <a:t>)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24188" y="1717509"/>
            <a:ext cx="1689100" cy="0"/>
          </a:xfrm>
          <a:custGeom>
            <a:avLst/>
            <a:gdLst/>
            <a:ahLst/>
            <a:cxnLst/>
            <a:rect l="l" t="t" r="r" b="b"/>
            <a:pathLst>
              <a:path w="1689100" h="0">
                <a:moveTo>
                  <a:pt x="0" y="0"/>
                </a:moveTo>
                <a:lnTo>
                  <a:pt x="168861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998012" y="1695932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79722" y="160089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0636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81914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0653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793838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50596"/>
            <a:ext cx="50749" cy="5559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26194"/>
            <a:ext cx="4432935" cy="431165"/>
          </a:xfrm>
          <a:custGeom>
            <a:avLst/>
            <a:gdLst/>
            <a:ahLst/>
            <a:cxnLst/>
            <a:rect l="l" t="t" r="r" b="b"/>
            <a:pathLst>
              <a:path w="4432935" h="431165">
                <a:moveTo>
                  <a:pt x="4432566" y="0"/>
                </a:moveTo>
                <a:lnTo>
                  <a:pt x="0" y="0"/>
                </a:lnTo>
                <a:lnTo>
                  <a:pt x="0" y="380344"/>
                </a:lnTo>
                <a:lnTo>
                  <a:pt x="4008" y="400068"/>
                </a:lnTo>
                <a:lnTo>
                  <a:pt x="14922" y="416221"/>
                </a:lnTo>
                <a:lnTo>
                  <a:pt x="31075" y="427136"/>
                </a:lnTo>
                <a:lnTo>
                  <a:pt x="50800" y="431144"/>
                </a:lnTo>
                <a:lnTo>
                  <a:pt x="4381765" y="431144"/>
                </a:lnTo>
                <a:lnTo>
                  <a:pt x="4401490" y="427136"/>
                </a:lnTo>
                <a:lnTo>
                  <a:pt x="4417643" y="416221"/>
                </a:lnTo>
                <a:lnTo>
                  <a:pt x="4428558" y="400068"/>
                </a:lnTo>
                <a:lnTo>
                  <a:pt x="4432566" y="38034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88688"/>
            <a:ext cx="0" cy="537210"/>
          </a:xfrm>
          <a:custGeom>
            <a:avLst/>
            <a:gdLst/>
            <a:ahLst/>
            <a:cxnLst/>
            <a:rect l="l" t="t" r="r" b="b"/>
            <a:pathLst>
              <a:path w="0" h="537210">
                <a:moveTo>
                  <a:pt x="0" y="53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759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632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505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45122"/>
            <a:ext cx="4340860" cy="6870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6.2</a:t>
            </a: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85"/>
              </a:spcBef>
            </a:pPr>
            <a:r>
              <a:rPr dirty="0" sz="1200" spc="-5">
                <a:latin typeface="Arial Unicode MS"/>
                <a:cs typeface="Arial Unicode MS"/>
              </a:rPr>
              <a:t>计算在分析浓度为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Fe</a:t>
            </a:r>
            <a:r>
              <a:rPr dirty="0" baseline="37037" sz="900">
                <a:latin typeface="Times New Roman"/>
                <a:cs typeface="Times New Roman"/>
              </a:rPr>
              <a:t>3+</a:t>
            </a:r>
            <a:r>
              <a:rPr dirty="0" baseline="37037" sz="900" spc="1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反应的平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衡常数及化学计量点时反应进行的程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0636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81914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0653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793838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50596"/>
            <a:ext cx="50749" cy="5559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26194"/>
            <a:ext cx="4432935" cy="431165"/>
          </a:xfrm>
          <a:custGeom>
            <a:avLst/>
            <a:gdLst/>
            <a:ahLst/>
            <a:cxnLst/>
            <a:rect l="l" t="t" r="r" b="b"/>
            <a:pathLst>
              <a:path w="4432935" h="431165">
                <a:moveTo>
                  <a:pt x="4432566" y="0"/>
                </a:moveTo>
                <a:lnTo>
                  <a:pt x="0" y="0"/>
                </a:lnTo>
                <a:lnTo>
                  <a:pt x="0" y="380344"/>
                </a:lnTo>
                <a:lnTo>
                  <a:pt x="4008" y="400068"/>
                </a:lnTo>
                <a:lnTo>
                  <a:pt x="14922" y="416221"/>
                </a:lnTo>
                <a:lnTo>
                  <a:pt x="31075" y="427136"/>
                </a:lnTo>
                <a:lnTo>
                  <a:pt x="50800" y="431144"/>
                </a:lnTo>
                <a:lnTo>
                  <a:pt x="4381765" y="431144"/>
                </a:lnTo>
                <a:lnTo>
                  <a:pt x="4401490" y="427136"/>
                </a:lnTo>
                <a:lnTo>
                  <a:pt x="4417643" y="416221"/>
                </a:lnTo>
                <a:lnTo>
                  <a:pt x="4428558" y="400068"/>
                </a:lnTo>
                <a:lnTo>
                  <a:pt x="4432566" y="38034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88688"/>
            <a:ext cx="0" cy="537210"/>
          </a:xfrm>
          <a:custGeom>
            <a:avLst/>
            <a:gdLst/>
            <a:ahLst/>
            <a:cxnLst/>
            <a:rect l="l" t="t" r="r" b="b"/>
            <a:pathLst>
              <a:path w="0" h="537210">
                <a:moveTo>
                  <a:pt x="0" y="53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759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632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505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45122"/>
            <a:ext cx="4366260" cy="11684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6.2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85"/>
              </a:spcBef>
            </a:pPr>
            <a:r>
              <a:rPr dirty="0" sz="1200" spc="-5">
                <a:latin typeface="Arial Unicode MS"/>
                <a:cs typeface="Arial Unicode MS"/>
              </a:rPr>
              <a:t>计算在分析浓度为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Fe</a:t>
            </a:r>
            <a:r>
              <a:rPr dirty="0" baseline="37037" sz="900">
                <a:latin typeface="Times New Roman"/>
                <a:cs typeface="Times New Roman"/>
              </a:rPr>
              <a:t>3+</a:t>
            </a:r>
            <a:r>
              <a:rPr dirty="0" baseline="37037" sz="900" spc="1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反应的平</a:t>
            </a:r>
            <a:endParaRPr sz="120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衡常数及化学计量点时反应进行的程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3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5">
                <a:latin typeface="Arial Unicode MS"/>
                <a:cs typeface="Arial Unicode MS"/>
              </a:rPr>
              <a:t>：</a:t>
            </a:r>
            <a:r>
              <a:rPr dirty="0" sz="1100" spc="5">
                <a:latin typeface="Georgia"/>
                <a:cs typeface="Georgia"/>
              </a:rPr>
              <a:t>Fe</a:t>
            </a:r>
            <a:r>
              <a:rPr dirty="0" baseline="37037" sz="900" spc="7">
                <a:latin typeface="Times New Roman"/>
                <a:cs typeface="Times New Roman"/>
              </a:rPr>
              <a:t>3+</a:t>
            </a:r>
            <a:r>
              <a:rPr dirty="0" baseline="37037" sz="900" spc="1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的反应式如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9378" y="1579943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0782" y="1481874"/>
            <a:ext cx="2140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315085" algn="l"/>
              </a:tabLst>
            </a:pP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3+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2+	</a:t>
            </a: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4+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501" y="1831467"/>
            <a:ext cx="3255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电子转移的最小公倍数为</a:t>
            </a:r>
            <a:r>
              <a:rPr dirty="0" sz="1200" spc="-40">
                <a:latin typeface="Arial Unicode MS"/>
                <a:cs typeface="Arial Unicode MS"/>
              </a:rPr>
              <a:t> </a:t>
            </a:r>
            <a:r>
              <a:rPr dirty="0" sz="1100" spc="-165">
                <a:latin typeface="Georgia"/>
                <a:cs typeface="Georgia"/>
              </a:rPr>
              <a:t>2</a:t>
            </a:r>
            <a:r>
              <a:rPr dirty="0" sz="1200" spc="-1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平衡常数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8717" y="2188972"/>
            <a:ext cx="231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95" b="0" i="1">
                <a:latin typeface="Bookman Old Style"/>
                <a:cs typeface="Bookman Old Style"/>
              </a:rPr>
              <a:t>K</a:t>
            </a: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1352" y="2246172"/>
            <a:ext cx="554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70" algn="l"/>
              </a:tabLst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15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0392" y="2031428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>
                <a:latin typeface="Arial Unicode MS"/>
                <a:cs typeface="Arial Unicode MS"/>
              </a:rPr>
              <a:t>`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4154" y="2136800"/>
            <a:ext cx="107886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7590" algn="l"/>
              </a:tabLst>
            </a:pPr>
            <a:r>
              <a:rPr dirty="0" sz="500" spc="5" i="1">
                <a:latin typeface="Verdana"/>
                <a:cs typeface="Verdana"/>
              </a:rPr>
              <a:t>I</a:t>
            </a:r>
            <a:r>
              <a:rPr dirty="0" sz="500" spc="5" i="1">
                <a:latin typeface="Verdana"/>
                <a:cs typeface="Verdana"/>
              </a:rPr>
              <a:t>	</a:t>
            </a: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9053" y="2155990"/>
            <a:ext cx="1529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075" algn="l"/>
                <a:tab pos="1051560" algn="l"/>
                <a:tab pos="1398270" algn="l"/>
              </a:tabLst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4+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1785" y="2143645"/>
            <a:ext cx="22364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30">
                <a:latin typeface="Georgia"/>
                <a:cs typeface="Georgia"/>
              </a:rPr>
              <a:t>(Fe </a:t>
            </a:r>
            <a:r>
              <a:rPr dirty="0" sz="1100" spc="-70" b="0" i="1">
                <a:latin typeface="Bookman Old Style"/>
                <a:cs typeface="Bookman Old Style"/>
              </a:rPr>
              <a:t>/</a:t>
            </a:r>
            <a:r>
              <a:rPr dirty="0" sz="1100" spc="-70">
                <a:latin typeface="Georgia"/>
                <a:cs typeface="Georgia"/>
              </a:rPr>
              <a:t>Fe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20">
                <a:latin typeface="Georgia"/>
                <a:cs typeface="Georgia"/>
              </a:rPr>
              <a:t>(Sn </a:t>
            </a:r>
            <a:r>
              <a:rPr dirty="0" sz="1100" spc="-60" b="0" i="1">
                <a:latin typeface="Bookman Old Style"/>
                <a:cs typeface="Bookman Old Style"/>
              </a:rPr>
              <a:t>/</a:t>
            </a:r>
            <a:r>
              <a:rPr dirty="0" sz="1100" spc="-60">
                <a:latin typeface="Georgia"/>
                <a:cs typeface="Georgia"/>
              </a:rPr>
              <a:t>Sn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2575" y="2031428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>
                <a:latin typeface="Arial Unicode MS"/>
                <a:cs typeface="Arial Unicode MS"/>
              </a:rPr>
              <a:t>)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94485" y="2362784"/>
            <a:ext cx="2274570" cy="0"/>
          </a:xfrm>
          <a:custGeom>
            <a:avLst/>
            <a:gdLst/>
            <a:ahLst/>
            <a:cxnLst/>
            <a:rect l="l" t="t" r="r" b="b"/>
            <a:pathLst>
              <a:path w="2274570" h="0">
                <a:moveTo>
                  <a:pt x="0" y="0"/>
                </a:moveTo>
                <a:lnTo>
                  <a:pt x="22742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61132" y="2341206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2319" y="258945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81785" y="2495727"/>
            <a:ext cx="1033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(0</a:t>
            </a:r>
            <a:r>
              <a:rPr dirty="0" u="sng" sz="1100" spc="-7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68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28139" y="2684488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2319" y="2851112"/>
            <a:ext cx="5753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18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30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114" y="1077353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Lucida Sans Unicode"/>
                <a:cs typeface="Lucida Sans Unicode"/>
              </a:rPr>
              <a:t>∵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4650" y="1077353"/>
            <a:ext cx="384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41666" sz="900" spc="195" i="1">
                <a:latin typeface="Arial"/>
                <a:cs typeface="Arial"/>
              </a:rPr>
              <a:t>I</a:t>
            </a:r>
            <a:r>
              <a:rPr dirty="0" baseline="41666" sz="900" spc="187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94332" y="1193965"/>
            <a:ext cx="930275" cy="0"/>
          </a:xfrm>
          <a:custGeom>
            <a:avLst/>
            <a:gdLst/>
            <a:ahLst/>
            <a:cxnLst/>
            <a:rect l="l" t="t" r="r" b="b"/>
            <a:pathLst>
              <a:path w="930275" h="0">
                <a:moveTo>
                  <a:pt x="0" y="0"/>
                </a:moveTo>
                <a:lnTo>
                  <a:pt x="9299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65285" y="107735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3532" y="983627"/>
            <a:ext cx="1731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195705" algn="l"/>
              </a:tabLst>
            </a:pP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37037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sz="1100" spc="35">
                <a:latin typeface="Georgia"/>
                <a:cs typeface="Georgia"/>
              </a:rPr>
              <a:t>(Sn</a:t>
            </a:r>
            <a:r>
              <a:rPr dirty="0" baseline="37037" sz="900" spc="52">
                <a:latin typeface="Times New Roman"/>
                <a:cs typeface="Times New Roman"/>
              </a:rPr>
              <a:t>4+</a:t>
            </a:r>
            <a:r>
              <a:rPr dirty="0" sz="1100" spc="35">
                <a:latin typeface="Georgia"/>
                <a:cs typeface="Georgia"/>
              </a:rPr>
              <a:t>)	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37037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39402" y="1193965"/>
            <a:ext cx="485140" cy="0"/>
          </a:xfrm>
          <a:custGeom>
            <a:avLst/>
            <a:gdLst/>
            <a:ahLst/>
            <a:cxnLst/>
            <a:rect l="l" t="t" r="r" b="b"/>
            <a:pathLst>
              <a:path w="485139" h="0">
                <a:moveTo>
                  <a:pt x="0" y="0"/>
                </a:moveTo>
                <a:lnTo>
                  <a:pt x="48461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6232" y="1172387"/>
            <a:ext cx="1706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83005" algn="l"/>
              </a:tabLst>
            </a:pP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27777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27777" sz="900" spc="52">
                <a:latin typeface="Times New Roman"/>
                <a:cs typeface="Times New Roman"/>
              </a:rPr>
              <a:t>3+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sz="1100" spc="35">
                <a:latin typeface="Georgia"/>
                <a:cs typeface="Georgia"/>
              </a:rPr>
              <a:t>(Sn</a:t>
            </a:r>
            <a:r>
              <a:rPr dirty="0" baseline="27777" sz="900" spc="52">
                <a:latin typeface="Times New Roman"/>
                <a:cs typeface="Times New Roman"/>
              </a:rPr>
              <a:t>2+</a:t>
            </a:r>
            <a:r>
              <a:rPr dirty="0" sz="1100" spc="35">
                <a:latin typeface="Georgia"/>
                <a:cs typeface="Georgia"/>
              </a:rPr>
              <a:t>)	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27777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(Fe</a:t>
            </a:r>
            <a:r>
              <a:rPr dirty="0" baseline="27777" sz="900" spc="52">
                <a:latin typeface="Times New Roman"/>
                <a:cs typeface="Times New Roman"/>
              </a:rPr>
              <a:t>3+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9579" y="1020153"/>
            <a:ext cx="575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209">
                <a:latin typeface="Georgia"/>
                <a:cs typeface="Georgia"/>
              </a:rPr>
              <a:t>=</a:t>
            </a:r>
            <a:r>
              <a:rPr dirty="0" baseline="-22727" sz="1650" spc="-15">
                <a:latin typeface="Georgia"/>
                <a:cs typeface="Georgia"/>
              </a:rPr>
              <a:t> </a:t>
            </a:r>
            <a:r>
              <a:rPr dirty="0" baseline="-22727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Times New Roman"/>
                <a:cs typeface="Times New Roman"/>
              </a:rPr>
              <a:t>18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30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5018" y="1606994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Lucida Sans Unicode"/>
                <a:cs typeface="Lucida Sans Unicode"/>
              </a:rPr>
              <a:t>∴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2449" y="1525613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8144" y="1513268"/>
            <a:ext cx="4578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30844" y="1723606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 h="0">
                <a:moveTo>
                  <a:pt x="0" y="0"/>
                </a:moveTo>
                <a:lnTo>
                  <a:pt x="4319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92744" y="1702028"/>
            <a:ext cx="5086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27777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8303" y="1606994"/>
            <a:ext cx="7664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41666" sz="900">
                <a:latin typeface="Times New Roman"/>
                <a:cs typeface="Times New Roman"/>
              </a:rPr>
              <a:t>6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501" y="1934578"/>
            <a:ext cx="25736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计算结果表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反应进行得非常完</a:t>
            </a:r>
            <a:r>
              <a:rPr dirty="0" sz="1200" spc="-20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反应完全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度的一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般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判据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80643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对一个化学反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反应进行完全的基本要求是反</a:t>
            </a:r>
            <a:r>
              <a:rPr dirty="0" sz="1200" spc="-5">
                <a:latin typeface="Arial Unicode MS"/>
                <a:cs typeface="Arial Unicode MS"/>
              </a:rPr>
              <a:t>应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物转化率达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99.9%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对于如下的一般反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9378" y="1420076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4950" y="1322006"/>
            <a:ext cx="2092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90955" algn="l"/>
              </a:tabLst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baseline="-13888" sz="900" spc="21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2	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13" y="1671599"/>
            <a:ext cx="77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即是要</a:t>
            </a:r>
            <a:r>
              <a:rPr dirty="0" sz="1200" spc="-90">
                <a:latin typeface="Arial Unicode MS"/>
                <a:cs typeface="Arial Unicode MS"/>
              </a:rPr>
              <a:t>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4960" y="1969160"/>
            <a:ext cx="398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(R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sz="1100" spc="2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0177" y="2179497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 h="0">
                <a:moveTo>
                  <a:pt x="0" y="0"/>
                </a:moveTo>
                <a:lnTo>
                  <a:pt x="3281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79067" y="22413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2077" y="2157920"/>
            <a:ext cx="742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baseline="37878" sz="1650" spc="-44">
                <a:latin typeface="Lucida Sans Unicode"/>
                <a:cs typeface="Lucida Sans Unicode"/>
              </a:rPr>
              <a:t>≥</a:t>
            </a:r>
            <a:r>
              <a:rPr dirty="0" baseline="37878" sz="1650" spc="-104">
                <a:latin typeface="Lucida Sans Unicode"/>
                <a:cs typeface="Lucida Sans Unicode"/>
              </a:rPr>
              <a:t> </a:t>
            </a:r>
            <a:r>
              <a:rPr dirty="0" baseline="37878" sz="1650" spc="-44">
                <a:latin typeface="Georgia"/>
                <a:cs typeface="Georgia"/>
              </a:rPr>
              <a:t>10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4126" y="206830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5388" y="2049602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5550" y="1969160"/>
            <a:ext cx="404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(O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3650" y="2179497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 h="0">
                <a:moveTo>
                  <a:pt x="0" y="0"/>
                </a:moveTo>
                <a:lnTo>
                  <a:pt x="3281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39656" y="22413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8432" y="2157920"/>
            <a:ext cx="740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baseline="37878" sz="1650" spc="-44">
                <a:latin typeface="Lucida Sans Unicode"/>
                <a:cs typeface="Lucida Sans Unicode"/>
              </a:rPr>
              <a:t>≥</a:t>
            </a:r>
            <a:r>
              <a:rPr dirty="0" baseline="37878" sz="1650" spc="307">
                <a:latin typeface="Lucida Sans Unicode"/>
                <a:cs typeface="Lucida Sans Unicode"/>
              </a:rPr>
              <a:t> </a:t>
            </a:r>
            <a:r>
              <a:rPr dirty="0" baseline="37878" sz="1650" spc="-44">
                <a:latin typeface="Georgia"/>
                <a:cs typeface="Georgia"/>
              </a:rPr>
              <a:t>10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87585" y="206830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9501" y="2441486"/>
            <a:ext cx="6223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也就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78190" y="2683891"/>
            <a:ext cx="533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17840" y="2678468"/>
            <a:ext cx="612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0790" y="2668155"/>
            <a:ext cx="4064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360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44966" y="2584742"/>
            <a:ext cx="676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135" b="0" i="1">
                <a:latin typeface="Bookman Old Style"/>
                <a:cs typeface="Bookman Old Style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(R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(O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19566" y="2773502"/>
            <a:ext cx="727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(O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(R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49245" y="2678468"/>
            <a:ext cx="24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8408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105776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1093076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834644"/>
            <a:ext cx="50749" cy="271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828507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872744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600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473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346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1401" y="490042"/>
            <a:ext cx="3736340" cy="628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如果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1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105">
                <a:latin typeface="Arial Unicode MS"/>
                <a:cs typeface="Arial Unicode MS"/>
              </a:rPr>
              <a:t>（</a:t>
            </a:r>
            <a:r>
              <a:rPr dirty="0" sz="1100" spc="-105">
                <a:latin typeface="Georgia"/>
                <a:cs typeface="Georgia"/>
                <a:hlinkClick r:id="rId5" action="ppaction://hlinksldjump"/>
              </a:rPr>
              <a:t>3</a:t>
            </a:r>
            <a:r>
              <a:rPr dirty="0" sz="1200" spc="-105">
                <a:latin typeface="Arial Unicode MS"/>
                <a:cs typeface="Arial Unicode MS"/>
              </a:rPr>
              <a:t>）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Arial Unicode MS"/>
              <a:cs typeface="Arial Unicode MS"/>
            </a:endParaRPr>
          </a:p>
          <a:p>
            <a:pPr marL="137795">
              <a:lnSpc>
                <a:spcPct val="100000"/>
              </a:lnSpc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baseline="41666" sz="900" spc="75" i="1">
                <a:latin typeface="Arial"/>
                <a:cs typeface="Arial"/>
              </a:rPr>
              <a:t>I</a:t>
            </a:r>
            <a:r>
              <a:rPr dirty="0" baseline="41666" sz="900" i="1">
                <a:latin typeface="Arial"/>
                <a:cs typeface="Arial"/>
              </a:rPr>
              <a:t> </a:t>
            </a:r>
            <a:r>
              <a:rPr dirty="0" baseline="41666" sz="900" spc="22" i="1">
                <a:latin typeface="Arial"/>
                <a:cs typeface="Arial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35V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82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4637" y="3353682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90042"/>
            <a:ext cx="21640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如果</a:t>
            </a:r>
            <a:r>
              <a:rPr dirty="0" spc="15"/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30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3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1</a:t>
            </a:r>
            <a:r>
              <a:rPr dirty="0" sz="1200" spc="-95"/>
              <a:t>，</a:t>
            </a:r>
            <a:r>
              <a:rPr dirty="0" sz="1200" spc="-5"/>
              <a:t>根</a:t>
            </a:r>
            <a:r>
              <a:rPr dirty="0" sz="1200" spc="-260"/>
              <a:t>据</a:t>
            </a:r>
            <a:r>
              <a:rPr dirty="0" sz="1200" spc="-105"/>
              <a:t>（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05"/>
              <a:t>）</a:t>
            </a:r>
            <a:r>
              <a:rPr dirty="0" sz="1200" spc="-90"/>
              <a:t>式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78408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0577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9307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34644"/>
            <a:ext cx="50749" cy="271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28507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72744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600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473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346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1401" y="926261"/>
            <a:ext cx="3736340" cy="6864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baseline="41666" sz="900" spc="75" i="1">
                <a:latin typeface="Arial"/>
                <a:cs typeface="Arial"/>
              </a:rPr>
              <a:t>I</a:t>
            </a:r>
            <a:r>
              <a:rPr dirty="0" baseline="41666" sz="900" i="1">
                <a:latin typeface="Arial"/>
                <a:cs typeface="Arial"/>
              </a:rPr>
              <a:t> </a:t>
            </a:r>
            <a:r>
              <a:rPr dirty="0" baseline="41666" sz="900" spc="22" i="1">
                <a:latin typeface="Arial"/>
                <a:cs typeface="Arial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35V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如果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65">
                <a:latin typeface="Georgia"/>
                <a:cs typeface="Georgia"/>
              </a:rPr>
              <a:t>2</a:t>
            </a:r>
            <a:r>
              <a:rPr dirty="0" sz="1200" spc="-1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105">
                <a:latin typeface="Arial Unicode MS"/>
                <a:cs typeface="Arial Unicode MS"/>
              </a:rPr>
              <a:t>（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05">
                <a:latin typeface="Arial Unicode MS"/>
                <a:cs typeface="Arial Unicode MS"/>
              </a:rPr>
              <a:t>）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69898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544" y="2081072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9344" y="206837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0310" y="1749539"/>
            <a:ext cx="50749" cy="3315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7743" y="1743404"/>
            <a:ext cx="4432935" cy="388620"/>
          </a:xfrm>
          <a:custGeom>
            <a:avLst/>
            <a:gdLst/>
            <a:ahLst/>
            <a:cxnLst/>
            <a:rect l="l" t="t" r="r" b="b"/>
            <a:pathLst>
              <a:path w="4432935" h="388619">
                <a:moveTo>
                  <a:pt x="4432566" y="0"/>
                </a:moveTo>
                <a:lnTo>
                  <a:pt x="0" y="0"/>
                </a:lnTo>
                <a:lnTo>
                  <a:pt x="0" y="337668"/>
                </a:lnTo>
                <a:lnTo>
                  <a:pt x="4008" y="357393"/>
                </a:lnTo>
                <a:lnTo>
                  <a:pt x="14922" y="373546"/>
                </a:lnTo>
                <a:lnTo>
                  <a:pt x="31075" y="384460"/>
                </a:lnTo>
                <a:lnTo>
                  <a:pt x="50800" y="388469"/>
                </a:lnTo>
                <a:lnTo>
                  <a:pt x="4381765" y="388469"/>
                </a:lnTo>
                <a:lnTo>
                  <a:pt x="4401490" y="384460"/>
                </a:lnTo>
                <a:lnTo>
                  <a:pt x="4417643" y="373546"/>
                </a:lnTo>
                <a:lnTo>
                  <a:pt x="4428558" y="357393"/>
                </a:lnTo>
                <a:lnTo>
                  <a:pt x="4432566" y="3376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20310" y="1787641"/>
            <a:ext cx="0" cy="313055"/>
          </a:xfrm>
          <a:custGeom>
            <a:avLst/>
            <a:gdLst/>
            <a:ahLst/>
            <a:cxnLst/>
            <a:rect l="l" t="t" r="r" b="b"/>
            <a:pathLst>
              <a:path w="0" h="313055">
                <a:moveTo>
                  <a:pt x="0" y="3124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20310" y="17749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0310" y="17622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20310" y="17495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6709" y="1827390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8893" y="1924570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448" y="1841169"/>
            <a:ext cx="807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9052" y="1827390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8803" y="1841169"/>
            <a:ext cx="460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11249" y="1924570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3232" y="1841169"/>
            <a:ext cx="380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41727" y="1724936"/>
            <a:ext cx="3409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5925" y="1846580"/>
            <a:ext cx="533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5575" y="1841169"/>
            <a:ext cx="466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8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89922" y="1724936"/>
            <a:ext cx="3409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51479" y="1841169"/>
            <a:ext cx="768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18V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82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34637" y="3353682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90042"/>
            <a:ext cx="21640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如果</a:t>
            </a:r>
            <a:r>
              <a:rPr dirty="0" spc="15"/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30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3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1</a:t>
            </a:r>
            <a:r>
              <a:rPr dirty="0" sz="1200" spc="-95"/>
              <a:t>，</a:t>
            </a:r>
            <a:r>
              <a:rPr dirty="0" sz="1200" spc="-5"/>
              <a:t>根</a:t>
            </a:r>
            <a:r>
              <a:rPr dirty="0" sz="1200" spc="-260"/>
              <a:t>据</a:t>
            </a:r>
            <a:r>
              <a:rPr dirty="0" sz="1200" spc="-105"/>
              <a:t>（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05"/>
              <a:t>）</a:t>
            </a:r>
            <a:r>
              <a:rPr dirty="0" sz="1200" spc="-90"/>
              <a:t>式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78408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0577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9307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34644"/>
            <a:ext cx="50749" cy="271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28507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72744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600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473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3464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1401" y="926261"/>
            <a:ext cx="3736340" cy="6864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baseline="41666" sz="900" spc="75" i="1">
                <a:latin typeface="Arial"/>
                <a:cs typeface="Arial"/>
              </a:rPr>
              <a:t>I</a:t>
            </a:r>
            <a:r>
              <a:rPr dirty="0" baseline="41666" sz="900" i="1">
                <a:latin typeface="Arial"/>
                <a:cs typeface="Arial"/>
              </a:rPr>
              <a:t> </a:t>
            </a:r>
            <a:r>
              <a:rPr dirty="0" baseline="41666" sz="900" spc="22" i="1">
                <a:latin typeface="Arial"/>
                <a:cs typeface="Arial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35V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如果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65">
                <a:latin typeface="Georgia"/>
                <a:cs typeface="Georgia"/>
              </a:rPr>
              <a:t>2</a:t>
            </a:r>
            <a:r>
              <a:rPr dirty="0" sz="1200" spc="-1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105">
                <a:latin typeface="Arial Unicode MS"/>
                <a:cs typeface="Arial Unicode MS"/>
              </a:rPr>
              <a:t>（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05">
                <a:latin typeface="Arial Unicode MS"/>
                <a:cs typeface="Arial Unicode MS"/>
              </a:rPr>
              <a:t>）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69898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544" y="2081072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9344" y="206837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0310" y="1749539"/>
            <a:ext cx="50749" cy="3315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7743" y="1743404"/>
            <a:ext cx="4432935" cy="388620"/>
          </a:xfrm>
          <a:custGeom>
            <a:avLst/>
            <a:gdLst/>
            <a:ahLst/>
            <a:cxnLst/>
            <a:rect l="l" t="t" r="r" b="b"/>
            <a:pathLst>
              <a:path w="4432935" h="388619">
                <a:moveTo>
                  <a:pt x="4432566" y="0"/>
                </a:moveTo>
                <a:lnTo>
                  <a:pt x="0" y="0"/>
                </a:lnTo>
                <a:lnTo>
                  <a:pt x="0" y="337668"/>
                </a:lnTo>
                <a:lnTo>
                  <a:pt x="4008" y="357393"/>
                </a:lnTo>
                <a:lnTo>
                  <a:pt x="14922" y="373546"/>
                </a:lnTo>
                <a:lnTo>
                  <a:pt x="31075" y="384460"/>
                </a:lnTo>
                <a:lnTo>
                  <a:pt x="50800" y="388469"/>
                </a:lnTo>
                <a:lnTo>
                  <a:pt x="4381765" y="388469"/>
                </a:lnTo>
                <a:lnTo>
                  <a:pt x="4401490" y="384460"/>
                </a:lnTo>
                <a:lnTo>
                  <a:pt x="4417643" y="373546"/>
                </a:lnTo>
                <a:lnTo>
                  <a:pt x="4428558" y="357393"/>
                </a:lnTo>
                <a:lnTo>
                  <a:pt x="4432566" y="3376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20310" y="1787641"/>
            <a:ext cx="0" cy="313055"/>
          </a:xfrm>
          <a:custGeom>
            <a:avLst/>
            <a:gdLst/>
            <a:ahLst/>
            <a:cxnLst/>
            <a:rect l="l" t="t" r="r" b="b"/>
            <a:pathLst>
              <a:path w="0" h="313055">
                <a:moveTo>
                  <a:pt x="0" y="3124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20310" y="17749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0310" y="17622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20310" y="17495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6709" y="1827390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8893" y="1924570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448" y="1841169"/>
            <a:ext cx="807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9052" y="1827390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8803" y="1841169"/>
            <a:ext cx="460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11249" y="1924570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3232" y="1841169"/>
            <a:ext cx="380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41727" y="1724936"/>
            <a:ext cx="3409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5925" y="1846580"/>
            <a:ext cx="533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5575" y="1841169"/>
            <a:ext cx="466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8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89922" y="1724936"/>
            <a:ext cx="3409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51479" y="1841169"/>
            <a:ext cx="768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18V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5844" y="2200199"/>
            <a:ext cx="4356735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通过两个电对的条件电极电</a:t>
            </a:r>
            <a:r>
              <a:rPr dirty="0" sz="1200" spc="-80">
                <a:latin typeface="Arial Unicode MS"/>
                <a:cs typeface="Arial Unicode MS"/>
              </a:rPr>
              <a:t>位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就可以大致判定该氧</a:t>
            </a:r>
            <a:r>
              <a:rPr dirty="0" sz="1200" spc="-5">
                <a:latin typeface="Arial Unicode MS"/>
                <a:cs typeface="Arial Unicode MS"/>
              </a:rPr>
              <a:t>化 </a:t>
            </a:r>
            <a:r>
              <a:rPr dirty="0" sz="1200" spc="-5">
                <a:latin typeface="Arial Unicode MS"/>
                <a:cs typeface="Arial Unicode MS"/>
              </a:rPr>
              <a:t>还原反应能否进行完</a:t>
            </a:r>
            <a:r>
              <a:rPr dirty="0" sz="1200" spc="-20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7832" y="3353682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34637" y="3353682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56591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6.1.4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影响</a:t>
            </a:r>
            <a:r>
              <a:rPr dirty="0" sz="1050" spc="-10">
                <a:solidFill>
                  <a:srgbClr val="FFFFFF"/>
                </a:solidFill>
              </a:rPr>
              <a:t>反</a:t>
            </a:r>
            <a:r>
              <a:rPr dirty="0" sz="1050" spc="-5">
                <a:solidFill>
                  <a:srgbClr val="FFFFFF"/>
                </a:solidFill>
              </a:rPr>
              <a:t>应速率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因素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3416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氧化还原反应的特点是反应历程很复</a:t>
            </a:r>
            <a:r>
              <a:rPr dirty="0" sz="1200" spc="-80">
                <a:latin typeface="Arial Unicode MS"/>
                <a:cs typeface="Arial Unicode MS"/>
              </a:rPr>
              <a:t>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从最初的反应物到 </a:t>
            </a:r>
            <a:r>
              <a:rPr dirty="0" sz="1200" spc="-10">
                <a:latin typeface="Arial Unicode MS"/>
                <a:cs typeface="Arial Unicode MS"/>
              </a:rPr>
              <a:t>最终的产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往往要经过许多的中间步</a:t>
            </a:r>
            <a:r>
              <a:rPr dirty="0" sz="1200" spc="-80">
                <a:latin typeface="Arial Unicode MS"/>
                <a:cs typeface="Arial Unicode MS"/>
              </a:rPr>
              <a:t>骤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这就必然导致其反应</a:t>
            </a:r>
            <a:r>
              <a:rPr dirty="0" sz="1200" spc="-5">
                <a:latin typeface="Arial Unicode MS"/>
                <a:cs typeface="Arial Unicode MS"/>
              </a:rPr>
              <a:t>速 </a:t>
            </a:r>
            <a:r>
              <a:rPr dirty="0" sz="1200" spc="-10">
                <a:latin typeface="Arial Unicode MS"/>
                <a:cs typeface="Arial Unicode MS"/>
              </a:rPr>
              <a:t>度较</a:t>
            </a:r>
            <a:r>
              <a:rPr dirty="0" sz="1200" spc="-20">
                <a:latin typeface="Arial Unicode MS"/>
                <a:cs typeface="Arial Unicode MS"/>
              </a:rPr>
              <a:t>慢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如何加快氧化还原反应的速度就是一个值得关注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10">
                <a:latin typeface="Arial Unicode MS"/>
                <a:cs typeface="Arial Unicode MS"/>
              </a:rPr>
              <a:t>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上一节讨论的氧化还原反应的平衡问</a:t>
            </a:r>
            <a:r>
              <a:rPr dirty="0" sz="1200" spc="-80">
                <a:latin typeface="Arial Unicode MS"/>
                <a:cs typeface="Arial Unicode MS"/>
              </a:rPr>
              <a:t>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只揭示了一个反</a:t>
            </a:r>
            <a:r>
              <a:rPr dirty="0" sz="1200" spc="-5">
                <a:latin typeface="Arial Unicode MS"/>
                <a:cs typeface="Arial Unicode MS"/>
              </a:rPr>
              <a:t>应 </a:t>
            </a:r>
            <a:r>
              <a:rPr dirty="0" sz="1200" spc="-5">
                <a:latin typeface="Arial Unicode MS"/>
                <a:cs typeface="Arial Unicode MS"/>
              </a:rPr>
              <a:t>进行的可能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并不能揭示反应进行速率的快</a:t>
            </a:r>
            <a:r>
              <a:rPr dirty="0" sz="1200" spc="-20">
                <a:latin typeface="Arial Unicode MS"/>
                <a:cs typeface="Arial Unicode MS"/>
              </a:rPr>
              <a:t>慢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518198"/>
            <a:ext cx="28682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例</a:t>
            </a:r>
            <a:r>
              <a:rPr dirty="0" spc="-80"/>
              <a:t>如</a:t>
            </a:r>
            <a:r>
              <a:rPr dirty="0" spc="-185"/>
              <a:t>，</a:t>
            </a:r>
            <a:r>
              <a:rPr dirty="0" spc="-5"/>
              <a:t>水中的溶解氧存在如下的电对反</a:t>
            </a:r>
            <a:r>
              <a:rPr dirty="0" spc="-90"/>
              <a:t>应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894359"/>
            <a:ext cx="4371975" cy="17303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9685">
              <a:lnSpc>
                <a:spcPts val="335"/>
              </a:lnSpc>
              <a:spcBef>
                <a:spcPts val="140"/>
              </a:spcBef>
              <a:tabLst>
                <a:tab pos="1509395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33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  <a:p>
            <a:pPr algn="ctr" marL="109220">
              <a:lnSpc>
                <a:spcPts val="605"/>
              </a:lnSpc>
              <a:tabLst>
                <a:tab pos="1991995" algn="l"/>
              </a:tabLst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 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5">
                <a:latin typeface="Georgia"/>
                <a:cs typeface="Georgia"/>
              </a:rPr>
              <a:t>4e 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</a:t>
            </a:r>
            <a:r>
              <a:rPr dirty="0" baseline="6172" sz="675" spc="-135">
                <a:latin typeface="Times New Roman"/>
                <a:cs typeface="Times New Roman"/>
              </a:rPr>
              <a:t>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</a:t>
            </a:r>
            <a:r>
              <a:rPr dirty="0" baseline="-18518" sz="675" spc="-112">
                <a:latin typeface="Times New Roman"/>
                <a:cs typeface="Times New Roman"/>
              </a:rPr>
              <a:t>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55" b="0" i="1">
                <a:latin typeface="Bookman Old Style"/>
                <a:cs typeface="Bookman Old Style"/>
              </a:rPr>
              <a:t>E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23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  <a:p>
            <a:pPr algn="ctr" marL="392430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如果仅从电极电位来考</a:t>
            </a:r>
            <a:r>
              <a:rPr dirty="0" sz="1200" spc="-80">
                <a:latin typeface="Arial Unicode MS"/>
                <a:cs typeface="Arial Unicode MS"/>
              </a:rPr>
              <a:t>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水中的溶解氧似乎应该能够容易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地氧化水溶液中的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Sn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200" spc="3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09220">
              <a:lnSpc>
                <a:spcPct val="100000"/>
              </a:lnSpc>
              <a:tabLst>
                <a:tab pos="1633220" algn="l"/>
              </a:tabLst>
            </a:pP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4+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2e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6172" sz="675" spc="-135">
                <a:latin typeface="Times New Roman"/>
                <a:cs typeface="Times New Roman"/>
              </a:rPr>
              <a:t>                  </a:t>
            </a:r>
            <a:r>
              <a:rPr dirty="0" baseline="-18518" sz="675" spc="-135">
                <a:latin typeface="Times New Roman"/>
                <a:cs typeface="Times New Roman"/>
              </a:rPr>
              <a:t>          </a:t>
            </a:r>
            <a:r>
              <a:rPr dirty="0" baseline="6172" sz="675" spc="-135">
                <a:latin typeface="Times New Roman"/>
                <a:cs typeface="Times New Roman"/>
              </a:rPr>
              <a:t>         </a:t>
            </a:r>
            <a:r>
              <a:rPr dirty="0" baseline="-18518" sz="675" spc="-135">
                <a:latin typeface="Times New Roman"/>
                <a:cs typeface="Times New Roman"/>
              </a:rPr>
              <a:t>                                                                  </a:t>
            </a:r>
            <a:r>
              <a:rPr dirty="0" baseline="-18518" sz="675" spc="-120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2+	</a:t>
            </a:r>
            <a:r>
              <a:rPr dirty="0" sz="1100" spc="225" b="0" i="1">
                <a:latin typeface="Bookman Old Style"/>
                <a:cs typeface="Bookman Old Style"/>
              </a:rPr>
              <a:t>E</a:t>
            </a:r>
            <a:r>
              <a:rPr dirty="0" baseline="41666" sz="900" spc="337">
                <a:latin typeface="Arial"/>
                <a:cs typeface="Arial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0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154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实际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水溶液中溶解氧氧化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3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的速度太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故水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溶液中的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2+  </a:t>
            </a:r>
            <a:r>
              <a:rPr dirty="0" sz="1200" spc="-5">
                <a:latin typeface="Arial Unicode MS"/>
                <a:cs typeface="Arial Unicode MS"/>
              </a:rPr>
              <a:t>表现为相对稳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121594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147759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3925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0091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776058"/>
            <a:ext cx="2026920" cy="13315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影响反应速率的因素主要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反应物浓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温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催化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浓度对反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速度的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影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793330"/>
            <a:ext cx="440753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10"/>
              <a:t>根据质量作用定</a:t>
            </a:r>
            <a:r>
              <a:rPr dirty="0" spc="-80"/>
              <a:t>律</a:t>
            </a:r>
            <a:r>
              <a:rPr dirty="0" spc="-204"/>
              <a:t>，</a:t>
            </a:r>
            <a:r>
              <a:rPr dirty="0" spc="-10"/>
              <a:t>反应速度与反应物浓度的乘积成正</a:t>
            </a:r>
            <a:r>
              <a:rPr dirty="0" spc="-20"/>
              <a:t>比</a:t>
            </a:r>
            <a:r>
              <a:rPr dirty="0" spc="-254"/>
              <a:t>。</a:t>
            </a:r>
            <a:r>
              <a:rPr dirty="0" spc="-5"/>
              <a:t>所 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增大反应物的浓度能加快反应速</a:t>
            </a:r>
            <a:r>
              <a:rPr dirty="0" spc="-20"/>
              <a:t>度</a:t>
            </a:r>
            <a:r>
              <a:rPr dirty="0" spc="-235"/>
              <a:t>。</a:t>
            </a:r>
            <a:r>
              <a:rPr dirty="0" spc="-5"/>
              <a:t>对于有氢离子参加的反 </a:t>
            </a:r>
            <a:r>
              <a:rPr dirty="0" spc="-80"/>
              <a:t>应</a:t>
            </a:r>
            <a:r>
              <a:rPr dirty="0" spc="-185"/>
              <a:t>，</a:t>
            </a:r>
            <a:r>
              <a:rPr dirty="0" spc="-5"/>
              <a:t>提高溶液的酸度也可加速反</a:t>
            </a:r>
            <a:r>
              <a:rPr dirty="0" spc="-20"/>
              <a:t>应</a:t>
            </a:r>
            <a:r>
              <a:rPr dirty="0" spc="-235"/>
              <a:t>。</a:t>
            </a:r>
            <a:r>
              <a:rPr dirty="0" spc="-5"/>
              <a:t>例</a:t>
            </a:r>
            <a:r>
              <a:rPr dirty="0" spc="-80"/>
              <a:t>如</a:t>
            </a:r>
            <a:r>
              <a:rPr dirty="0" spc="30"/>
              <a:t>，</a:t>
            </a:r>
            <a:r>
              <a:rPr dirty="0" sz="1100" spc="30">
                <a:latin typeface="Georgia"/>
                <a:cs typeface="Georgia"/>
              </a:rPr>
              <a:t>K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Cr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7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/>
              <a:t>在酸性溶液中 与</a:t>
            </a:r>
            <a:r>
              <a:rPr dirty="0" sz="1200" spc="25"/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/>
              <a:t>的反应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1882089"/>
            <a:ext cx="4419600" cy="1005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90"/>
              </a:spcBef>
            </a:pP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6KI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14HCl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8KCl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2CrCl</a:t>
            </a:r>
            <a:r>
              <a:rPr dirty="0" baseline="-13888" sz="900" spc="22">
                <a:latin typeface="Times New Roman"/>
                <a:cs typeface="Times New Roman"/>
              </a:rPr>
              <a:t>3</a:t>
            </a:r>
            <a:r>
              <a:rPr dirty="0" baseline="-13888" sz="900" spc="21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7H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O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3I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 marR="43180" indent="303530">
              <a:lnSpc>
                <a:spcPct val="122300"/>
              </a:lnSpc>
              <a:spcBef>
                <a:spcPts val="1115"/>
              </a:spcBef>
            </a:pPr>
            <a:r>
              <a:rPr dirty="0" sz="1200" spc="-5">
                <a:latin typeface="Arial Unicode MS"/>
                <a:cs typeface="Arial Unicode MS"/>
              </a:rPr>
              <a:t>这个反应是一个慢反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通常是通过增加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的量来加快反应 的速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实验结果表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过量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且氢离子浓度达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8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经过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分钟上述反应即可完</a:t>
            </a:r>
            <a:r>
              <a:rPr dirty="0" sz="1200" spc="-20">
                <a:latin typeface="Arial Unicode MS"/>
                <a:cs typeface="Arial Unicode MS"/>
              </a:rPr>
              <a:t>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温度对反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速度的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影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72591"/>
            <a:ext cx="43002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升高温度一般可以加快反应速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且温度每升</a:t>
            </a:r>
            <a:r>
              <a:rPr dirty="0" sz="1200" spc="175">
                <a:latin typeface="Arial Unicode MS"/>
                <a:cs typeface="Arial Unicode MS"/>
              </a:rPr>
              <a:t>高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baseline="37037" sz="900" spc="15" i="1">
                <a:latin typeface="Arial"/>
                <a:cs typeface="Arial"/>
              </a:rPr>
              <a:t>◦</a:t>
            </a:r>
            <a:r>
              <a:rPr dirty="0" sz="1100" spc="10">
                <a:latin typeface="Georgia"/>
                <a:cs typeface="Georgia"/>
              </a:rPr>
              <a:t>C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速度大约增</a:t>
            </a:r>
            <a:r>
              <a:rPr dirty="0" sz="1200" spc="175">
                <a:latin typeface="Arial Unicode MS"/>
                <a:cs typeface="Arial Unicode MS"/>
              </a:rPr>
              <a:t>加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在酸性溶液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溶液滴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837" y="155817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314" y="157165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14" y="1411211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2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5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的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461490"/>
            <a:ext cx="13589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8665" algn="l"/>
              </a:tabLst>
            </a:pP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8506" y="1843074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6603" y="192105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8506" y="1934527"/>
            <a:ext cx="650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118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7506" y="1837651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2839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5C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7080" y="1843074"/>
            <a:ext cx="1216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08521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9085" y="1837651"/>
            <a:ext cx="1116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10CO</a:t>
            </a:r>
            <a:r>
              <a:rPr dirty="0" baseline="-13888" sz="900" spc="3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8H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56" y="2145741"/>
            <a:ext cx="43853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在室温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这个反应的速度很</a:t>
            </a:r>
            <a:r>
              <a:rPr dirty="0" sz="1200" spc="-20">
                <a:latin typeface="Arial Unicode MS"/>
                <a:cs typeface="Arial Unicode MS"/>
              </a:rPr>
              <a:t>慢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如果将反应温度提高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25">
                <a:latin typeface="Georgia"/>
                <a:cs typeface="Georgia"/>
              </a:rPr>
              <a:t>75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85</a:t>
            </a:r>
            <a:r>
              <a:rPr dirty="0" baseline="37037" sz="900" spc="-37" i="1">
                <a:latin typeface="Arial"/>
                <a:cs typeface="Arial"/>
              </a:rPr>
              <a:t>◦</a:t>
            </a:r>
            <a:r>
              <a:rPr dirty="0" sz="1100" spc="-25">
                <a:latin typeface="Georgia"/>
                <a:cs typeface="Georgia"/>
              </a:rPr>
              <a:t>C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反应速度显著加</a:t>
            </a:r>
            <a:r>
              <a:rPr dirty="0" sz="1200" spc="-20">
                <a:latin typeface="Arial Unicode MS"/>
                <a:cs typeface="Arial Unicode MS"/>
              </a:rPr>
              <a:t>快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催化剂对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应速度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83602"/>
            <a:ext cx="4363720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能使氧化还原反应速度发生显著改变的是催化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因为催化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剂改变了反应的历</a:t>
            </a:r>
            <a:r>
              <a:rPr dirty="0" sz="1200" spc="-80">
                <a:latin typeface="Arial Unicode MS"/>
                <a:cs typeface="Arial Unicode MS"/>
              </a:rPr>
              <a:t>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降低了反应过程的能</a:t>
            </a:r>
            <a:r>
              <a:rPr dirty="0" sz="1200" spc="-80">
                <a:latin typeface="Arial Unicode MS"/>
                <a:cs typeface="Arial Unicode MS"/>
              </a:rPr>
              <a:t>垒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从而加速了反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506" y="175407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03" y="18320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8506" y="1845525"/>
            <a:ext cx="650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118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506" y="1748663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2839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5C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7080" y="1754073"/>
            <a:ext cx="1216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08521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9085" y="1748663"/>
            <a:ext cx="1116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10CO</a:t>
            </a:r>
            <a:r>
              <a:rPr dirty="0" baseline="-13888" sz="900" spc="3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8H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56" y="2056739"/>
            <a:ext cx="441261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即便是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10">
                <a:latin typeface="Georgia"/>
                <a:cs typeface="Georgia"/>
              </a:rPr>
              <a:t>80</a:t>
            </a:r>
            <a:r>
              <a:rPr dirty="0" baseline="37037" sz="900" spc="15" i="1">
                <a:latin typeface="Arial"/>
                <a:cs typeface="Arial"/>
              </a:rPr>
              <a:t>◦</a:t>
            </a:r>
            <a:r>
              <a:rPr dirty="0" sz="1100" spc="10">
                <a:latin typeface="Georgia"/>
                <a:cs typeface="Georgia"/>
              </a:rPr>
              <a:t>C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在反应的初</a:t>
            </a:r>
            <a:r>
              <a:rPr dirty="0" sz="1200" spc="-80">
                <a:latin typeface="Arial Unicode MS"/>
                <a:cs typeface="Arial Unicode MS"/>
              </a:rPr>
              <a:t>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反应速度依然很</a:t>
            </a:r>
            <a:r>
              <a:rPr dirty="0" sz="1200" spc="-20">
                <a:latin typeface="Arial Unicode MS"/>
                <a:cs typeface="Arial Unicode MS"/>
              </a:rPr>
              <a:t>慢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5">
                <a:latin typeface="Arial Unicode MS"/>
                <a:cs typeface="Arial Unicode MS"/>
              </a:rPr>
              <a:t>，  如果加入一</a:t>
            </a:r>
            <a:r>
              <a:rPr dirty="0" sz="1200" spc="175">
                <a:latin typeface="Arial Unicode MS"/>
                <a:cs typeface="Arial Unicode MS"/>
              </a:rPr>
              <a:t>些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则反应速度显著加</a:t>
            </a:r>
            <a:r>
              <a:rPr dirty="0" sz="1200" spc="-80">
                <a:latin typeface="Arial Unicode MS"/>
                <a:cs typeface="Arial Unicode MS"/>
              </a:rPr>
              <a:t>快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在这</a:t>
            </a:r>
            <a:r>
              <a:rPr dirty="0" sz="1200" spc="-80">
                <a:latin typeface="Arial Unicode MS"/>
                <a:cs typeface="Arial Unicode MS"/>
              </a:rPr>
              <a:t>里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100" spc="5">
                <a:latin typeface="Georgia"/>
                <a:cs typeface="Georgia"/>
              </a:rPr>
              <a:t>Mn</a:t>
            </a:r>
            <a:r>
              <a:rPr dirty="0" baseline="37037" sz="900" spc="7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起了催 化剂的作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催化剂的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作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用机理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801" y="550456"/>
            <a:ext cx="3596004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一般认</a:t>
            </a:r>
            <a:r>
              <a:rPr dirty="0" spc="-80"/>
              <a:t>为</a:t>
            </a:r>
            <a:r>
              <a:rPr dirty="0" spc="-5"/>
              <a:t>，</a:t>
            </a:r>
            <a:r>
              <a:rPr dirty="0" spc="-170"/>
              <a:t> </a:t>
            </a:r>
            <a:r>
              <a:rPr dirty="0" sz="1100" spc="50">
                <a:latin typeface="Georgia"/>
                <a:cs typeface="Georgia"/>
              </a:rPr>
              <a:t>Mn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baseline="37037" sz="900" spc="337">
                <a:latin typeface="Times New Roman"/>
                <a:cs typeface="Times New Roman"/>
              </a:rPr>
              <a:t> </a:t>
            </a:r>
            <a:r>
              <a:rPr dirty="0" sz="1200" spc="-5"/>
              <a:t>的加</a:t>
            </a:r>
            <a:r>
              <a:rPr dirty="0" sz="1200" spc="-80"/>
              <a:t>入</a:t>
            </a:r>
            <a:r>
              <a:rPr dirty="0" sz="1200" spc="-185"/>
              <a:t>，</a:t>
            </a:r>
            <a:r>
              <a:rPr dirty="0" sz="1200" spc="-5"/>
              <a:t>使反应历程按如下方式进行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384" y="821931"/>
            <a:ext cx="302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M</a:t>
            </a:r>
            <a:r>
              <a:rPr dirty="0" sz="600" spc="75">
                <a:latin typeface="Times New Roman"/>
                <a:cs typeface="Times New Roman"/>
              </a:rPr>
              <a:t>n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80">
                <a:latin typeface="Times New Roman"/>
                <a:cs typeface="Times New Roman"/>
              </a:rPr>
              <a:t>I</a:t>
            </a:r>
            <a:r>
              <a:rPr dirty="0" sz="600" spc="60">
                <a:latin typeface="Times New Roman"/>
                <a:cs typeface="Times New Roman"/>
              </a:rPr>
              <a:t>I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6427" y="976948"/>
            <a:ext cx="62357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827" y="878865"/>
            <a:ext cx="2434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16990" algn="l"/>
              </a:tabLst>
            </a:pPr>
            <a:r>
              <a:rPr dirty="0" sz="1100">
                <a:latin typeface="Georgia"/>
                <a:cs typeface="Georgia"/>
              </a:rPr>
              <a:t>Mn(VII)	Mn(VI)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Mn(III)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777" y="1286205"/>
            <a:ext cx="491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5">
                <a:latin typeface="Georgia"/>
                <a:cs typeface="Georgia"/>
              </a:rPr>
              <a:t>(VI)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9491" y="1229271"/>
            <a:ext cx="623570" cy="248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Mn(II)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320" y="1286205"/>
            <a:ext cx="1130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Mn(IV)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Mn(III)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1277" y="1660487"/>
            <a:ext cx="491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5">
                <a:latin typeface="Georgia"/>
                <a:cs typeface="Georgia"/>
              </a:rPr>
              <a:t>(IV)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6991" y="1603540"/>
            <a:ext cx="623570" cy="248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Mn(II)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1820" y="1660487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sz="1100" spc="-5">
                <a:latin typeface="Georgia"/>
                <a:cs typeface="Georgia"/>
              </a:rPr>
              <a:t>I</a:t>
            </a:r>
            <a:r>
              <a:rPr dirty="0" sz="1100" spc="-15">
                <a:latin typeface="Georgia"/>
                <a:cs typeface="Georgia"/>
              </a:rPr>
              <a:t>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催化剂的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作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用机理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801" y="550456"/>
            <a:ext cx="3596004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一般认</a:t>
            </a:r>
            <a:r>
              <a:rPr dirty="0" spc="-80"/>
              <a:t>为</a:t>
            </a:r>
            <a:r>
              <a:rPr dirty="0" spc="-5"/>
              <a:t>，</a:t>
            </a:r>
            <a:r>
              <a:rPr dirty="0" spc="-170"/>
              <a:t> </a:t>
            </a:r>
            <a:r>
              <a:rPr dirty="0" sz="1100" spc="50">
                <a:latin typeface="Georgia"/>
                <a:cs typeface="Georgia"/>
              </a:rPr>
              <a:t>Mn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baseline="37037" sz="900" spc="337">
                <a:latin typeface="Times New Roman"/>
                <a:cs typeface="Times New Roman"/>
              </a:rPr>
              <a:t> </a:t>
            </a:r>
            <a:r>
              <a:rPr dirty="0" sz="1200" spc="-5"/>
              <a:t>的加</a:t>
            </a:r>
            <a:r>
              <a:rPr dirty="0" sz="1200" spc="-80"/>
              <a:t>入</a:t>
            </a:r>
            <a:r>
              <a:rPr dirty="0" sz="1200" spc="-185"/>
              <a:t>，</a:t>
            </a:r>
            <a:r>
              <a:rPr dirty="0" sz="1200" spc="-5"/>
              <a:t>使反应历程按如下方式进行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384" y="821931"/>
            <a:ext cx="302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M</a:t>
            </a:r>
            <a:r>
              <a:rPr dirty="0" sz="600" spc="75">
                <a:latin typeface="Times New Roman"/>
                <a:cs typeface="Times New Roman"/>
              </a:rPr>
              <a:t>n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80">
                <a:latin typeface="Times New Roman"/>
                <a:cs typeface="Times New Roman"/>
              </a:rPr>
              <a:t>I</a:t>
            </a:r>
            <a:r>
              <a:rPr dirty="0" sz="600" spc="60">
                <a:latin typeface="Times New Roman"/>
                <a:cs typeface="Times New Roman"/>
              </a:rPr>
              <a:t>I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6427" y="976948"/>
            <a:ext cx="62357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827" y="878865"/>
            <a:ext cx="2434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16990" algn="l"/>
              </a:tabLst>
            </a:pPr>
            <a:r>
              <a:rPr dirty="0" sz="1100">
                <a:latin typeface="Georgia"/>
                <a:cs typeface="Georgia"/>
              </a:rPr>
              <a:t>Mn(VII)	Mn(VI)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Mn(III)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777" y="1286205"/>
            <a:ext cx="491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5">
                <a:latin typeface="Georgia"/>
                <a:cs typeface="Georgia"/>
              </a:rPr>
              <a:t>(VI)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9491" y="1229271"/>
            <a:ext cx="623570" cy="248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Mn(II)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320" y="1286205"/>
            <a:ext cx="1130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Mn(IV)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Mn(III)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1277" y="1660487"/>
            <a:ext cx="491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5">
                <a:latin typeface="Georgia"/>
                <a:cs typeface="Georgia"/>
              </a:rPr>
              <a:t>(IV)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6991" y="1603540"/>
            <a:ext cx="623570" cy="248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Mn(II)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59">
                <a:latin typeface="Times New Roman"/>
                <a:cs typeface="Times New Roman"/>
              </a:rPr>
              <a:t> 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-120">
                <a:latin typeface="Times New Roman"/>
                <a:cs typeface="Times New Roman"/>
              </a:rPr>
              <a:t> </a:t>
            </a:r>
            <a:r>
              <a:rPr dirty="0" baseline="24691" sz="675" spc="-2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1820" y="1660487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sz="1100" spc="-5">
                <a:latin typeface="Georgia"/>
                <a:cs typeface="Georgia"/>
              </a:rPr>
              <a:t>I</a:t>
            </a:r>
            <a:r>
              <a:rPr dirty="0" sz="1100" spc="-15">
                <a:latin typeface="Georgia"/>
                <a:cs typeface="Georgia"/>
              </a:rPr>
              <a:t>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5575" y="204184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56052" y="197077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6052" y="205530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401" y="1945144"/>
            <a:ext cx="41167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反应过程中生成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Mn(III)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30" i="1">
                <a:latin typeface="Arial"/>
                <a:cs typeface="Arial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生成一系列的配合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2168842"/>
            <a:ext cx="17913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后分解为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Mn(II)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CO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200" spc="3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8193" y="2543518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sz="1100" spc="-5">
                <a:latin typeface="Georgia"/>
                <a:cs typeface="Georgia"/>
              </a:rPr>
              <a:t>I</a:t>
            </a:r>
            <a:r>
              <a:rPr dirty="0" sz="1100" spc="-15">
                <a:latin typeface="Georgia"/>
                <a:cs typeface="Georgia"/>
              </a:rPr>
              <a:t>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6311" y="2439504"/>
            <a:ext cx="3746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7777" sz="900" spc="172">
                <a:latin typeface="Times New Roman"/>
                <a:cs typeface="Times New Roman"/>
              </a:rPr>
              <a:t>C</a:t>
            </a:r>
            <a:r>
              <a:rPr dirty="0" baseline="-44444" sz="750" spc="172">
                <a:latin typeface="Book Antiqua"/>
                <a:cs typeface="Book Antiqua"/>
              </a:rPr>
              <a:t>2</a:t>
            </a:r>
            <a:r>
              <a:rPr dirty="0" baseline="-27777" sz="900" spc="172">
                <a:latin typeface="Times New Roman"/>
                <a:cs typeface="Times New Roman"/>
              </a:rPr>
              <a:t>O</a:t>
            </a:r>
            <a:r>
              <a:rPr dirty="0" sz="500" spc="114">
                <a:latin typeface="Book Antiqua"/>
                <a:cs typeface="Book Antiqua"/>
              </a:rPr>
              <a:t>2</a:t>
            </a:r>
            <a:r>
              <a:rPr dirty="0" sz="500" spc="114" i="1">
                <a:latin typeface="Verdana"/>
                <a:cs typeface="Verdana"/>
              </a:rPr>
              <a:t>−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7767" y="2518219"/>
            <a:ext cx="650875" cy="216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811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4</a:t>
            </a:r>
            <a:endParaRPr sz="5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209">
                <a:latin typeface="Times New Roman"/>
                <a:cs typeface="Times New Roman"/>
              </a:rPr>
              <a:t> </a:t>
            </a:r>
            <a:r>
              <a:rPr dirty="0" baseline="24691" sz="675" spc="352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baseline="24691" sz="675" spc="-622">
                <a:latin typeface="Times New Roman"/>
                <a:cs typeface="Times New Roman"/>
              </a:rPr>
              <a:t> </a:t>
            </a:r>
            <a:r>
              <a:rPr dirty="0" sz="450" spc="14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35059" y="2548940"/>
            <a:ext cx="316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75">
                <a:latin typeface="Times New Roman"/>
                <a:cs typeface="Times New Roman"/>
              </a:rPr>
              <a:t>(3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85">
                <a:latin typeface="Times New Roman"/>
                <a:cs typeface="Times New Roman"/>
              </a:rPr>
              <a:t>2n)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1980" y="2543518"/>
            <a:ext cx="2346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017905" algn="l"/>
              </a:tabLst>
            </a:pPr>
            <a:r>
              <a:rPr dirty="0" sz="1100" spc="35">
                <a:latin typeface="Georgia"/>
                <a:cs typeface="Georgia"/>
              </a:rPr>
              <a:t>Mn(C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sz="1100" spc="35">
                <a:latin typeface="Georgia"/>
                <a:cs typeface="Georgia"/>
              </a:rPr>
              <a:t>)	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160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Mn(II)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 </a:t>
            </a:r>
            <a:r>
              <a:rPr dirty="0" sz="1100" spc="-40">
                <a:latin typeface="Lucida Sans Unicode"/>
                <a:cs typeface="Lucida Sans Unicode"/>
              </a:rPr>
              <a:t>↑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2841193"/>
            <a:ext cx="4356735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随着反应的进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Mn(II)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的浓度增</a:t>
            </a:r>
            <a:r>
              <a:rPr dirty="0" sz="1200" spc="-80">
                <a:latin typeface="Arial Unicode MS"/>
                <a:cs typeface="Arial Unicode MS"/>
              </a:rPr>
              <a:t>加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这反过来更加速了反</a:t>
            </a:r>
            <a:r>
              <a:rPr dirty="0" sz="1200" spc="-5">
                <a:latin typeface="Arial Unicode MS"/>
                <a:cs typeface="Arial Unicode MS"/>
              </a:rPr>
              <a:t>应 的进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这类反应也被称为自催化反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99199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6.2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氧化还原滴定原理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354455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在氧化还原滴定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随着滴定剂的加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被滴定物质的氧化</a:t>
            </a:r>
            <a:r>
              <a:rPr dirty="0" sz="1200" spc="-5">
                <a:latin typeface="Arial Unicode MS"/>
                <a:cs typeface="Arial Unicode MS"/>
              </a:rPr>
              <a:t>态 </a:t>
            </a:r>
            <a:r>
              <a:rPr dirty="0" sz="1200" spc="-10">
                <a:latin typeface="Arial Unicode MS"/>
                <a:cs typeface="Arial Unicode MS"/>
              </a:rPr>
              <a:t>和还原态的浓度逐渐发生改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电对的电极电位也随之改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我</a:t>
            </a:r>
            <a:r>
              <a:rPr dirty="0" sz="1200" spc="-5">
                <a:latin typeface="Arial Unicode MS"/>
                <a:cs typeface="Arial Unicode MS"/>
              </a:rPr>
              <a:t>们 </a:t>
            </a:r>
            <a:r>
              <a:rPr dirty="0" sz="1200" spc="-5">
                <a:latin typeface="Arial Unicode MS"/>
                <a:cs typeface="Arial Unicode MS"/>
              </a:rPr>
              <a:t>可以通过测定电极电位的变化来判定滴定反应进行的程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6198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对称与非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对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称氧化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原反应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969098"/>
            <a:ext cx="40747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对称的氧化还原反应表现为反应式中电对的系数相</a:t>
            </a:r>
            <a:r>
              <a:rPr dirty="0" spc="-80"/>
              <a:t>同</a:t>
            </a:r>
            <a:r>
              <a:rPr dirty="0" spc="-204"/>
              <a:t>，</a:t>
            </a:r>
            <a:r>
              <a:rPr dirty="0" spc="-10"/>
              <a:t>例</a:t>
            </a:r>
            <a:r>
              <a:rPr dirty="0" spc="-95"/>
              <a:t>如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1096" y="1345260"/>
            <a:ext cx="592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2807" y="144334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5351" y="1288059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669084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非对称的氧化还原反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其中至少有一个电对的系数不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1521" y="225466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1998" y="226813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1998" y="2176678"/>
            <a:ext cx="6343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7191" y="2171268"/>
            <a:ext cx="12553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3870" algn="l"/>
              </a:tabLst>
            </a:pP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14H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6e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7165" y="2269338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8706" y="2176678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4935" y="225466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5110" y="2171268"/>
            <a:ext cx="876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0525" algn="l"/>
              </a:tabLst>
            </a:pPr>
            <a:r>
              <a:rPr dirty="0" sz="1100" spc="-5">
                <a:latin typeface="Georgia"/>
                <a:cs typeface="Georgia"/>
              </a:rPr>
              <a:t>2Cr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5">
                <a:latin typeface="Georgia"/>
                <a:cs typeface="Georgia"/>
              </a:rPr>
              <a:t>7H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513" y="2477973"/>
            <a:ext cx="3636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为理论分析的方</a:t>
            </a:r>
            <a:r>
              <a:rPr dirty="0" sz="1200" spc="-80">
                <a:latin typeface="Arial Unicode MS"/>
                <a:cs typeface="Arial Unicode MS"/>
              </a:rPr>
              <a:t>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这里仅讨论对称的氧化还原反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6.2.1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氧化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原滴定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方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962317"/>
            <a:ext cx="259651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对称的氧化还原反应可以用下式表</a:t>
            </a:r>
            <a:r>
              <a:rPr dirty="0" spc="-90"/>
              <a:t>示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39378" y="1436561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4950" y="1338478"/>
            <a:ext cx="2092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90955" algn="l"/>
              </a:tabLst>
            </a:pP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baseline="-13888" sz="900" spc="21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2	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n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R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9722" y="133847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13" y="1688071"/>
            <a:ext cx="19888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其相关的两个电对的反应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2940" y="2064232"/>
            <a:ext cx="603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5662" y="2162302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4165" y="2064232"/>
            <a:ext cx="224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2940" y="2427109"/>
            <a:ext cx="5981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R</a:t>
            </a:r>
            <a:r>
              <a:rPr dirty="0" baseline="-13888" sz="900" spc="6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n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883" y="2525179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8386" y="2427109"/>
            <a:ext cx="2305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355600"/>
            <a:ext cx="42964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设用浓度为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(O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的氧化剂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滴定浓度为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c</a:t>
            </a:r>
            <a:r>
              <a:rPr dirty="0" sz="1100" spc="-30">
                <a:latin typeface="Georgia"/>
                <a:cs typeface="Georgia"/>
              </a:rPr>
              <a:t>(R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)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体积为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的还原剂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R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当加入氧化剂的体积为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104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质量平衡如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91530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72651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71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965860"/>
            <a:ext cx="50749" cy="7606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959711"/>
            <a:ext cx="4432935" cy="817880"/>
          </a:xfrm>
          <a:custGeom>
            <a:avLst/>
            <a:gdLst/>
            <a:ahLst/>
            <a:cxnLst/>
            <a:rect l="l" t="t" r="r" b="b"/>
            <a:pathLst>
              <a:path w="4432935" h="817880">
                <a:moveTo>
                  <a:pt x="4432566" y="0"/>
                </a:moveTo>
                <a:lnTo>
                  <a:pt x="0" y="0"/>
                </a:lnTo>
                <a:lnTo>
                  <a:pt x="0" y="766802"/>
                </a:lnTo>
                <a:lnTo>
                  <a:pt x="4008" y="786527"/>
                </a:lnTo>
                <a:lnTo>
                  <a:pt x="14922" y="802680"/>
                </a:lnTo>
                <a:lnTo>
                  <a:pt x="31075" y="813594"/>
                </a:lnTo>
                <a:lnTo>
                  <a:pt x="50800" y="817603"/>
                </a:lnTo>
                <a:lnTo>
                  <a:pt x="4381765" y="817603"/>
                </a:lnTo>
                <a:lnTo>
                  <a:pt x="4401490" y="813594"/>
                </a:lnTo>
                <a:lnTo>
                  <a:pt x="4417643" y="802680"/>
                </a:lnTo>
                <a:lnTo>
                  <a:pt x="4428558" y="786527"/>
                </a:lnTo>
                <a:lnTo>
                  <a:pt x="4432566" y="766802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003948"/>
            <a:ext cx="0" cy="741680"/>
          </a:xfrm>
          <a:custGeom>
            <a:avLst/>
            <a:gdLst/>
            <a:ahLst/>
            <a:cxnLst/>
            <a:rect l="l" t="t" r="r" b="b"/>
            <a:pathLst>
              <a:path w="0" h="741680">
                <a:moveTo>
                  <a:pt x="0" y="74161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912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9785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9658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53946" y="963752"/>
            <a:ext cx="434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(O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5535" y="1047153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02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4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6608" y="1152512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7418" y="1235926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3752" y="1057478"/>
            <a:ext cx="2374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158365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[O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5">
                <a:latin typeface="Georgia"/>
                <a:cs typeface="Georgia"/>
              </a:rPr>
              <a:t>(5)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1736" y="1372095"/>
            <a:ext cx="4292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(R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7560" y="1455509"/>
            <a:ext cx="2660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02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6608" y="1560868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47418" y="1644269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5949" y="1465834"/>
            <a:ext cx="2371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155825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[O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20">
                <a:latin typeface="Georgia"/>
                <a:cs typeface="Georgia"/>
              </a:rPr>
              <a:t>(6)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355600"/>
            <a:ext cx="42964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设用浓度为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(O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的氧化剂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滴定浓度为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c</a:t>
            </a:r>
            <a:r>
              <a:rPr dirty="0" sz="1100" spc="-30">
                <a:latin typeface="Georgia"/>
                <a:cs typeface="Georgia"/>
              </a:rPr>
              <a:t>(R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)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体积为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的还原剂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R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当加入氧化剂的体积为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104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质量平衡如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91530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72651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71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965860"/>
            <a:ext cx="50749" cy="7606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959711"/>
            <a:ext cx="4432935" cy="817880"/>
          </a:xfrm>
          <a:custGeom>
            <a:avLst/>
            <a:gdLst/>
            <a:ahLst/>
            <a:cxnLst/>
            <a:rect l="l" t="t" r="r" b="b"/>
            <a:pathLst>
              <a:path w="4432935" h="817880">
                <a:moveTo>
                  <a:pt x="4432566" y="0"/>
                </a:moveTo>
                <a:lnTo>
                  <a:pt x="0" y="0"/>
                </a:lnTo>
                <a:lnTo>
                  <a:pt x="0" y="766802"/>
                </a:lnTo>
                <a:lnTo>
                  <a:pt x="4008" y="786527"/>
                </a:lnTo>
                <a:lnTo>
                  <a:pt x="14922" y="802680"/>
                </a:lnTo>
                <a:lnTo>
                  <a:pt x="31075" y="813594"/>
                </a:lnTo>
                <a:lnTo>
                  <a:pt x="50800" y="817603"/>
                </a:lnTo>
                <a:lnTo>
                  <a:pt x="4381765" y="817603"/>
                </a:lnTo>
                <a:lnTo>
                  <a:pt x="4401490" y="813594"/>
                </a:lnTo>
                <a:lnTo>
                  <a:pt x="4417643" y="802680"/>
                </a:lnTo>
                <a:lnTo>
                  <a:pt x="4428558" y="786527"/>
                </a:lnTo>
                <a:lnTo>
                  <a:pt x="4432566" y="766802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003948"/>
            <a:ext cx="0" cy="741680"/>
          </a:xfrm>
          <a:custGeom>
            <a:avLst/>
            <a:gdLst/>
            <a:ahLst/>
            <a:cxnLst/>
            <a:rect l="l" t="t" r="r" b="b"/>
            <a:pathLst>
              <a:path w="0" h="741680">
                <a:moveTo>
                  <a:pt x="0" y="74161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912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9785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96584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53946" y="963752"/>
            <a:ext cx="434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(O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5535" y="1047153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02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4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6608" y="1152512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7418" y="1235926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3752" y="1057478"/>
            <a:ext cx="2374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158365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[O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5">
                <a:latin typeface="Georgia"/>
                <a:cs typeface="Georgia"/>
              </a:rPr>
              <a:t>(5)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1736" y="1372095"/>
            <a:ext cx="4292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(R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7560" y="1455509"/>
            <a:ext cx="2660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02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6608" y="1560868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47418" y="1644269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5949" y="1465834"/>
            <a:ext cx="2371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155825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[O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20">
                <a:latin typeface="Georgia"/>
                <a:cs typeface="Georgia"/>
              </a:rPr>
              <a:t>(6)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7624" y="1887143"/>
            <a:ext cx="16992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5">
                <a:latin typeface="Georgia"/>
                <a:cs typeface="Georgia"/>
                <a:hlinkClick r:id="rId5" action="ppaction://hlinksldjump"/>
              </a:rPr>
              <a:t>5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式除</a:t>
            </a:r>
            <a:r>
              <a:rPr dirty="0" sz="1200" spc="-26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  <a:hlinkClick r:id="rId5" action="ppaction://hlinksldjump"/>
              </a:rPr>
              <a:t>6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2505" y="2184400"/>
            <a:ext cx="2720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(O</a:t>
            </a:r>
            <a:r>
              <a:rPr dirty="0" u="sng" baseline="-13888" sz="9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-13888" sz="900" spc="15" i="1">
                <a:latin typeface="Arial"/>
                <a:cs typeface="Arial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[O</a:t>
            </a:r>
            <a:r>
              <a:rPr dirty="0" u="sng" baseline="-13888" sz="90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[R</a:t>
            </a:r>
            <a:r>
              <a:rPr dirty="0" u="sng" baseline="-13888" sz="90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[R</a:t>
            </a:r>
            <a:r>
              <a:rPr dirty="0" u="sng" baseline="-13888" sz="900" spc="-4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]([O</a:t>
            </a:r>
            <a:r>
              <a:rPr dirty="0" u="sng" baseline="-13888" sz="900" spc="-4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/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[R</a:t>
            </a:r>
            <a:r>
              <a:rPr dirty="0" u="sng" baseline="-13888" sz="900" spc="-4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dirty="0" u="sng" sz="1100" spc="20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2505" y="2373172"/>
            <a:ext cx="2723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08660" algn="l"/>
                <a:tab pos="1562100" algn="l"/>
              </a:tabLst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(R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5" b="0" i="1">
                <a:latin typeface="Bookman Old Style"/>
                <a:cs typeface="Bookman Old Style"/>
              </a:rPr>
              <a:t>V</a:t>
            </a:r>
            <a:r>
              <a:rPr dirty="0" baseline="-13888" sz="900" spc="7">
                <a:latin typeface="Times New Roman"/>
                <a:cs typeface="Times New Roman"/>
              </a:rPr>
              <a:t>0	</a:t>
            </a: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[O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30">
                <a:latin typeface="Georgia"/>
                <a:cs typeface="Georgia"/>
              </a:rPr>
              <a:t>[O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]([R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[O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9722" y="227813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506069"/>
            <a:ext cx="4333240" cy="473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对于可逆反</a:t>
            </a:r>
            <a:r>
              <a:rPr dirty="0" spc="-80"/>
              <a:t>应</a:t>
            </a:r>
            <a:r>
              <a:rPr dirty="0" spc="-185"/>
              <a:t>，</a:t>
            </a:r>
            <a:r>
              <a:rPr dirty="0" spc="-5"/>
              <a:t>在滴定的任一瞬</a:t>
            </a:r>
            <a:r>
              <a:rPr dirty="0" spc="-80"/>
              <a:t>间</a:t>
            </a:r>
            <a:r>
              <a:rPr dirty="0" spc="-185"/>
              <a:t>，</a:t>
            </a:r>
            <a:r>
              <a:rPr dirty="0" spc="-5"/>
              <a:t>反应达到平</a:t>
            </a:r>
            <a:r>
              <a:rPr dirty="0" spc="-80"/>
              <a:t>衡</a:t>
            </a:r>
            <a:r>
              <a:rPr dirty="0" spc="-185"/>
              <a:t>，</a:t>
            </a:r>
            <a:r>
              <a:rPr dirty="0" spc="-5"/>
              <a:t>溶液中的 </a:t>
            </a:r>
            <a:r>
              <a:rPr dirty="0" spc="-5"/>
              <a:t>电</a:t>
            </a:r>
            <a:r>
              <a:rPr dirty="0" spc="175"/>
              <a:t>势</a:t>
            </a:r>
            <a:r>
              <a:rPr dirty="0" sz="1100" spc="55" b="0" i="1">
                <a:latin typeface="Bookman Old Style"/>
                <a:cs typeface="Bookman Old Style"/>
              </a:rPr>
              <a:t>E</a:t>
            </a:r>
            <a:r>
              <a:rPr dirty="0" sz="1100" spc="-90" b="0" i="1">
                <a:latin typeface="Bookman Old Style"/>
                <a:cs typeface="Bookman Old Style"/>
              </a:rPr>
              <a:t> </a:t>
            </a:r>
            <a:r>
              <a:rPr dirty="0" spc="-90"/>
              <a:t>为</a:t>
            </a:r>
            <a:r>
              <a:rPr dirty="0" spc="-5"/>
              <a:t>：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4725" y="1133665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909" y="1230845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480" y="1147432"/>
            <a:ext cx="1102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4695" y="1264043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81848" y="1242466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007" y="13258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5843" y="114743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0038" y="11371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1995" y="1053706"/>
            <a:ext cx="765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40">
                <a:latin typeface="Georgia"/>
                <a:cs typeface="Georgia"/>
              </a:rPr>
              <a:t>[O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06498" y="1264043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 h="0">
                <a:moveTo>
                  <a:pt x="0" y="0"/>
                </a:moveTo>
                <a:lnTo>
                  <a:pt x="23745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37155" y="13258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6693" y="1242466"/>
            <a:ext cx="257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[R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1409" y="1133665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3606" y="1230845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4920" y="1147432"/>
            <a:ext cx="9537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71392" y="1264043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448545" y="1242466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31704" y="13258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12540" y="114743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06735" y="11371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58692" y="1053706"/>
            <a:ext cx="765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	</a:t>
            </a:r>
            <a:r>
              <a:rPr dirty="0" sz="1100" spc="-40">
                <a:latin typeface="Georgia"/>
                <a:cs typeface="Georgia"/>
              </a:rPr>
              <a:t>[O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73195" y="1264043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 h="0">
                <a:moveTo>
                  <a:pt x="0" y="0"/>
                </a:moveTo>
                <a:lnTo>
                  <a:pt x="23745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003852" y="13258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63378" y="1242466"/>
            <a:ext cx="257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[R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9501" y="1528305"/>
            <a:ext cx="6223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所以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37639" y="1876221"/>
            <a:ext cx="307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34744" y="1715985"/>
            <a:ext cx="1747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baseline="10101" sz="1650" spc="-4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</a:t>
            </a:r>
            <a:r>
              <a:rPr dirty="0" u="sng" baseline="10101" sz="1650" spc="-89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u="sng" baseline="4629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baseline="10101" sz="1650" spc="-1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baseline="10101" sz="1650">
                <a:latin typeface="Georgia"/>
                <a:cs typeface="Georgia"/>
              </a:rPr>
              <a:t> </a:t>
            </a:r>
            <a:r>
              <a:rPr dirty="0" baseline="10101" sz="1650" spc="-165">
                <a:latin typeface="Georgia"/>
                <a:cs typeface="Georgia"/>
              </a:rPr>
              <a:t> </a:t>
            </a:r>
            <a:r>
              <a:rPr dirty="0" baseline="-25252" sz="1650" spc="209">
                <a:latin typeface="Georgia"/>
                <a:cs typeface="Georgia"/>
              </a:rPr>
              <a:t>=</a:t>
            </a:r>
            <a:r>
              <a:rPr dirty="0" baseline="-25252" sz="1650" spc="52">
                <a:latin typeface="Georgia"/>
                <a:cs typeface="Georgia"/>
              </a:rPr>
              <a:t> </a:t>
            </a:r>
            <a:r>
              <a:rPr dirty="0" baseline="-25252" sz="1650" spc="-37">
                <a:latin typeface="Georgia"/>
                <a:cs typeface="Georgia"/>
              </a:rPr>
              <a:t>1</a:t>
            </a:r>
            <a:r>
              <a:rPr dirty="0" baseline="-25252" sz="1650" spc="-60">
                <a:latin typeface="Georgia"/>
                <a:cs typeface="Georgia"/>
              </a:rPr>
              <a:t>0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baseline="-5050" sz="1650" spc="7">
                <a:latin typeface="Georgia"/>
                <a:cs typeface="Georgia"/>
              </a:rPr>
              <a:t>(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baseline="50000" sz="750" spc="7" i="1">
                <a:latin typeface="Verdana"/>
                <a:cs typeface="Verdana"/>
              </a:rPr>
              <a:t>I</a:t>
            </a:r>
            <a:r>
              <a:rPr dirty="0" baseline="50000" sz="750" spc="-120" i="1">
                <a:latin typeface="Verdana"/>
                <a:cs typeface="Verdana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(O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125">
                <a:latin typeface="Times New Roman"/>
                <a:cs typeface="Times New Roman"/>
              </a:rPr>
              <a:t>R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-5050" sz="1650" spc="7">
                <a:latin typeface="Georgia"/>
                <a:cs typeface="Georgia"/>
              </a:rPr>
              <a:t>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79722" y="1781187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34477" y="2298420"/>
            <a:ext cx="307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[R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1582" y="2138184"/>
            <a:ext cx="1753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baseline="10101" sz="1650" spc="-4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</a:t>
            </a:r>
            <a:r>
              <a:rPr dirty="0" u="sng" baseline="10101" sz="1650" spc="-89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u="sng" baseline="4629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baseline="10101" sz="1650" spc="-1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baseline="10101" sz="1650">
                <a:latin typeface="Georgia"/>
                <a:cs typeface="Georgia"/>
              </a:rPr>
              <a:t> </a:t>
            </a:r>
            <a:r>
              <a:rPr dirty="0" baseline="10101" sz="1650" spc="-165">
                <a:latin typeface="Georgia"/>
                <a:cs typeface="Georgia"/>
              </a:rPr>
              <a:t> </a:t>
            </a:r>
            <a:r>
              <a:rPr dirty="0" baseline="-25252" sz="1650" spc="209">
                <a:latin typeface="Georgia"/>
                <a:cs typeface="Georgia"/>
              </a:rPr>
              <a:t>=</a:t>
            </a:r>
            <a:r>
              <a:rPr dirty="0" baseline="-25252" sz="1650" spc="52">
                <a:latin typeface="Georgia"/>
                <a:cs typeface="Georgia"/>
              </a:rPr>
              <a:t> </a:t>
            </a:r>
            <a:r>
              <a:rPr dirty="0" baseline="-25252" sz="1650" spc="-37">
                <a:latin typeface="Georgia"/>
                <a:cs typeface="Georgia"/>
              </a:rPr>
              <a:t>1</a:t>
            </a:r>
            <a:r>
              <a:rPr dirty="0" baseline="-25252" sz="1650" spc="-60">
                <a:latin typeface="Georgia"/>
                <a:cs typeface="Georgia"/>
              </a:rPr>
              <a:t>0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baseline="-27777" sz="750" spc="127">
                <a:latin typeface="Book Antiqua"/>
                <a:cs typeface="Book Antiqua"/>
              </a:rPr>
              <a:t>2</a:t>
            </a:r>
            <a:r>
              <a:rPr dirty="0" baseline="-27777" sz="750" spc="-44">
                <a:latin typeface="Book Antiqua"/>
                <a:cs typeface="Book Antiqua"/>
              </a:rPr>
              <a:t> </a:t>
            </a:r>
            <a:r>
              <a:rPr dirty="0" baseline="-5050" sz="1650" spc="7">
                <a:latin typeface="Georgia"/>
                <a:cs typeface="Georgia"/>
              </a:rPr>
              <a:t>(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baseline="50000" sz="750" spc="7" i="1">
                <a:latin typeface="Verdana"/>
                <a:cs typeface="Verdana"/>
              </a:rPr>
              <a:t>I</a:t>
            </a:r>
            <a:r>
              <a:rPr dirty="0" baseline="50000" sz="750" spc="-120" i="1">
                <a:latin typeface="Verdana"/>
                <a:cs typeface="Verdana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(O</a:t>
            </a:r>
            <a:r>
              <a:rPr dirty="0" baseline="-11111" sz="750" spc="195">
                <a:latin typeface="Book Antiqua"/>
                <a:cs typeface="Book Antiqua"/>
              </a:rPr>
              <a:t>2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125">
                <a:latin typeface="Times New Roman"/>
                <a:cs typeface="Times New Roman"/>
              </a:rPr>
              <a:t>R</a:t>
            </a:r>
            <a:r>
              <a:rPr dirty="0" baseline="-11111" sz="750" spc="195">
                <a:latin typeface="Book Antiqua"/>
                <a:cs typeface="Book Antiqua"/>
              </a:rPr>
              <a:t>2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-5050" sz="1650" spc="7">
                <a:latin typeface="Georgia"/>
                <a:cs typeface="Georgia"/>
              </a:rPr>
              <a:t>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79722" y="2203386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滴定方程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755840"/>
            <a:ext cx="4430395" cy="10026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两种滴定产物的浓度之间存在如下的计量关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727835">
              <a:lnSpc>
                <a:spcPct val="100000"/>
              </a:lnSpc>
              <a:spcBef>
                <a:spcPts val="425"/>
              </a:spcBef>
              <a:tabLst>
                <a:tab pos="4109720" algn="l"/>
              </a:tabLst>
            </a:pPr>
            <a:r>
              <a:rPr dirty="0" sz="1100" spc="-5" b="0" i="1">
                <a:latin typeface="Bookman Old Style"/>
                <a:cs typeface="Bookman Old Style"/>
              </a:rPr>
              <a:t>n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[O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n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sz="1100">
                <a:latin typeface="Georgia"/>
                <a:cs typeface="Georgia"/>
              </a:rPr>
              <a:t>[R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sz="1100">
                <a:latin typeface="Georgia"/>
                <a:cs typeface="Georgia"/>
              </a:rPr>
              <a:t>]	</a:t>
            </a:r>
            <a:r>
              <a:rPr dirty="0" sz="1100" spc="-10">
                <a:latin typeface="Georgia"/>
                <a:cs typeface="Georgia"/>
              </a:rPr>
              <a:t>(10)</a:t>
            </a:r>
            <a:endParaRPr sz="1100">
              <a:latin typeface="Georgia"/>
              <a:cs typeface="Georgia"/>
            </a:endParaRPr>
          </a:p>
          <a:p>
            <a:pPr marL="328930">
              <a:lnSpc>
                <a:spcPct val="100000"/>
              </a:lnSpc>
              <a:spcBef>
                <a:spcPts val="99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120">
                <a:latin typeface="Arial Unicode MS"/>
                <a:cs typeface="Arial Unicode MS"/>
              </a:rPr>
              <a:t>（</a:t>
            </a:r>
            <a:r>
              <a:rPr dirty="0" sz="1100" spc="-120">
                <a:latin typeface="Georgia"/>
                <a:cs typeface="Georgia"/>
                <a:hlinkClick r:id="rId2" action="ppaction://hlinksldjump"/>
              </a:rPr>
              <a:t>8</a:t>
            </a:r>
            <a:r>
              <a:rPr dirty="0" sz="1200" spc="-12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340">
                <a:latin typeface="Arial Unicode MS"/>
                <a:cs typeface="Arial Unicode MS"/>
              </a:rPr>
              <a:t>，（</a:t>
            </a:r>
            <a:r>
              <a:rPr dirty="0" sz="1100" spc="-340">
                <a:latin typeface="Georgia"/>
                <a:cs typeface="Georgia"/>
                <a:hlinkClick r:id="rId2" action="ppaction://hlinksldjump"/>
              </a:rPr>
              <a:t>9</a:t>
            </a:r>
            <a:r>
              <a:rPr dirty="0" sz="1200" spc="-34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80">
                <a:latin typeface="Arial Unicode MS"/>
                <a:cs typeface="Arial Unicode MS"/>
              </a:rPr>
              <a:t>（</a:t>
            </a:r>
            <a:r>
              <a:rPr dirty="0" sz="1100" spc="-80">
                <a:latin typeface="Georgia"/>
                <a:cs typeface="Georgia"/>
                <a:hlinkClick r:id="rId3" action="ppaction://hlinksldjump"/>
              </a:rPr>
              <a:t>10</a:t>
            </a:r>
            <a:r>
              <a:rPr dirty="0" sz="1200" spc="-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式带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90">
                <a:latin typeface="Arial Unicode MS"/>
                <a:cs typeface="Arial Unicode MS"/>
              </a:rPr>
              <a:t>（</a:t>
            </a:r>
            <a:r>
              <a:rPr dirty="0" sz="1100" spc="-90">
                <a:latin typeface="Georgia"/>
                <a:cs typeface="Georgia"/>
              </a:rPr>
              <a:t>7</a:t>
            </a:r>
            <a:r>
              <a:rPr dirty="0" sz="1200" spc="-9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并令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85111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35144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338743"/>
            <a:ext cx="4381715" cy="114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901672"/>
            <a:ext cx="50749" cy="4497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895533"/>
            <a:ext cx="4432935" cy="506730"/>
          </a:xfrm>
          <a:custGeom>
            <a:avLst/>
            <a:gdLst/>
            <a:ahLst/>
            <a:cxnLst/>
            <a:rect l="l" t="t" r="r" b="b"/>
            <a:pathLst>
              <a:path w="4432935" h="506730">
                <a:moveTo>
                  <a:pt x="4432566" y="0"/>
                </a:moveTo>
                <a:lnTo>
                  <a:pt x="0" y="0"/>
                </a:lnTo>
                <a:lnTo>
                  <a:pt x="0" y="455909"/>
                </a:lnTo>
                <a:lnTo>
                  <a:pt x="4008" y="475634"/>
                </a:lnTo>
                <a:lnTo>
                  <a:pt x="14922" y="491787"/>
                </a:lnTo>
                <a:lnTo>
                  <a:pt x="31075" y="502701"/>
                </a:lnTo>
                <a:lnTo>
                  <a:pt x="50800" y="506710"/>
                </a:lnTo>
                <a:lnTo>
                  <a:pt x="4381765" y="506710"/>
                </a:lnTo>
                <a:lnTo>
                  <a:pt x="4401490" y="502701"/>
                </a:lnTo>
                <a:lnTo>
                  <a:pt x="4417643" y="491787"/>
                </a:lnTo>
                <a:lnTo>
                  <a:pt x="4428558" y="475634"/>
                </a:lnTo>
                <a:lnTo>
                  <a:pt x="4432566" y="455909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939770"/>
            <a:ext cx="0" cy="431165"/>
          </a:xfrm>
          <a:custGeom>
            <a:avLst/>
            <a:gdLst/>
            <a:ahLst/>
            <a:cxnLst/>
            <a:rect l="l" t="t" r="r" b="b"/>
            <a:pathLst>
              <a:path w="0" h="431164">
                <a:moveTo>
                  <a:pt x="0" y="43072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9270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9143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9016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84630" y="2033714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0248" y="2023389"/>
            <a:ext cx="3403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67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7088" y="1939988"/>
            <a:ext cx="676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(R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2398" y="1937410"/>
            <a:ext cx="3835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1</a:t>
            </a:r>
            <a:r>
              <a:rPr dirty="0" baseline="-11111" sz="750" spc="427">
                <a:latin typeface="Book Antiqua"/>
                <a:cs typeface="Book Antiqua"/>
              </a:rPr>
              <a:t> </a:t>
            </a:r>
            <a:r>
              <a:rPr dirty="0" sz="600" spc="195" i="1">
                <a:latin typeface="Arial"/>
                <a:cs typeface="Arial"/>
              </a:rPr>
              <a:t>E−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27325" y="189268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5621" y="1890445"/>
            <a:ext cx="750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3260" algn="l"/>
              </a:tabLst>
            </a:pP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29560" y="1937410"/>
            <a:ext cx="8648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35" i="1">
                <a:latin typeface="Arial"/>
                <a:cs typeface="Arial"/>
              </a:rPr>
              <a:t>E </a:t>
            </a:r>
            <a:r>
              <a:rPr dirty="0" sz="600" spc="125">
                <a:latin typeface="Times New Roman"/>
                <a:cs typeface="Times New Roman"/>
              </a:rPr>
              <a:t>(O</a:t>
            </a:r>
            <a:r>
              <a:rPr dirty="0" baseline="-11111" sz="750" spc="187">
                <a:latin typeface="Book Antiqua"/>
                <a:cs typeface="Book Antiqua"/>
              </a:rPr>
              <a:t>1</a:t>
            </a:r>
            <a:r>
              <a:rPr dirty="0" sz="600" spc="125" i="1">
                <a:latin typeface="Arial"/>
                <a:cs typeface="Arial"/>
              </a:rPr>
              <a:t>/</a:t>
            </a:r>
            <a:r>
              <a:rPr dirty="0" sz="600" spc="125">
                <a:latin typeface="Times New Roman"/>
                <a:cs typeface="Times New Roman"/>
              </a:rPr>
              <a:t>R</a:t>
            </a:r>
            <a:r>
              <a:rPr dirty="0" baseline="-11111" sz="750" spc="187">
                <a:latin typeface="Book Antiqua"/>
                <a:cs typeface="Book Antiqua"/>
              </a:rPr>
              <a:t>1</a:t>
            </a:r>
            <a:r>
              <a:rPr dirty="0" sz="600" spc="125">
                <a:latin typeface="Times New Roman"/>
                <a:cs typeface="Times New Roman"/>
              </a:rPr>
              <a:t>)</a:t>
            </a:r>
            <a:r>
              <a:rPr dirty="0" sz="600" spc="280">
                <a:latin typeface="Times New Roman"/>
                <a:cs typeface="Times New Roman"/>
              </a:rPr>
              <a:t> 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0</a:t>
            </a:r>
            <a:r>
              <a:rPr dirty="0" sz="600" spc="85" i="1">
                <a:latin typeface="Arial"/>
                <a:cs typeface="Arial"/>
              </a:rPr>
              <a:t>.</a:t>
            </a:r>
            <a:r>
              <a:rPr dirty="0" sz="600" spc="8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0181" y="1939988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68869" y="2150325"/>
            <a:ext cx="2126615" cy="0"/>
          </a:xfrm>
          <a:custGeom>
            <a:avLst/>
            <a:gdLst/>
            <a:ahLst/>
            <a:cxnLst/>
            <a:rect l="l" t="t" r="r" b="b"/>
            <a:pathLst>
              <a:path w="2126615" h="0">
                <a:moveTo>
                  <a:pt x="0" y="0"/>
                </a:moveTo>
                <a:lnTo>
                  <a:pt x="21266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39329" y="2255342"/>
            <a:ext cx="3467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6169" y="2171928"/>
            <a:ext cx="681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(O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7270" y="2169350"/>
            <a:ext cx="4692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0" i="1">
                <a:latin typeface="Arial"/>
                <a:cs typeface="Arial"/>
              </a:rPr>
              <a:t>−n</a:t>
            </a:r>
            <a:r>
              <a:rPr dirty="0" baseline="-11111" sz="750" spc="209">
                <a:latin typeface="Book Antiqua"/>
                <a:cs typeface="Book Antiqua"/>
              </a:rPr>
              <a:t>2</a:t>
            </a:r>
            <a:r>
              <a:rPr dirty="0" baseline="-11111" sz="750" spc="442">
                <a:latin typeface="Book Antiqua"/>
                <a:cs typeface="Book Antiqua"/>
              </a:rPr>
              <a:t> </a:t>
            </a:r>
            <a:r>
              <a:rPr dirty="0" sz="600" spc="195" i="1">
                <a:latin typeface="Arial"/>
                <a:cs typeface="Arial"/>
              </a:rPr>
              <a:t>E−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65285" y="214160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93582" y="2122385"/>
            <a:ext cx="753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5800" algn="l"/>
              </a:tabLst>
            </a:pP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67521" y="2169350"/>
            <a:ext cx="867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35" i="1">
                <a:latin typeface="Arial"/>
                <a:cs typeface="Arial"/>
              </a:rPr>
              <a:t>E </a:t>
            </a:r>
            <a:r>
              <a:rPr dirty="0" sz="600" spc="125">
                <a:latin typeface="Times New Roman"/>
                <a:cs typeface="Times New Roman"/>
              </a:rPr>
              <a:t>(O</a:t>
            </a:r>
            <a:r>
              <a:rPr dirty="0" baseline="-11111" sz="750" spc="187">
                <a:latin typeface="Book Antiqua"/>
                <a:cs typeface="Book Antiqua"/>
              </a:rPr>
              <a:t>2</a:t>
            </a:r>
            <a:r>
              <a:rPr dirty="0" sz="600" spc="125" i="1">
                <a:latin typeface="Arial"/>
                <a:cs typeface="Arial"/>
              </a:rPr>
              <a:t>/R</a:t>
            </a:r>
            <a:r>
              <a:rPr dirty="0" baseline="-11111" sz="750" spc="187">
                <a:latin typeface="Book Antiqua"/>
                <a:cs typeface="Book Antiqua"/>
              </a:rPr>
              <a:t>2</a:t>
            </a:r>
            <a:r>
              <a:rPr dirty="0" sz="600" spc="125">
                <a:latin typeface="Times New Roman"/>
                <a:cs typeface="Times New Roman"/>
              </a:rPr>
              <a:t>)</a:t>
            </a:r>
            <a:r>
              <a:rPr dirty="0" sz="600" spc="270">
                <a:latin typeface="Times New Roman"/>
                <a:cs typeface="Times New Roman"/>
              </a:rPr>
              <a:t> 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0</a:t>
            </a:r>
            <a:r>
              <a:rPr dirty="0" sz="600" spc="85" i="1">
                <a:latin typeface="Arial"/>
                <a:cs typeface="Arial"/>
              </a:rPr>
              <a:t>.</a:t>
            </a:r>
            <a:r>
              <a:rPr dirty="0" sz="600" spc="8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21088" y="2171928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10456" y="203371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(11)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844" y="2470569"/>
            <a:ext cx="401764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8448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25">
                <a:latin typeface="Georgia"/>
                <a:cs typeface="Georgia"/>
                <a:hlinkClick r:id="rId3" action="ppaction://hlinksldjump"/>
              </a:rPr>
              <a:t>1</a:t>
            </a:r>
            <a:r>
              <a:rPr dirty="0" sz="1100">
                <a:latin typeface="Georgia"/>
                <a:cs typeface="Georgia"/>
                <a:hlinkClick r:id="rId3" action="ppaction://hlinksldjump"/>
              </a:rPr>
              <a:t>0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式建立了滴定过程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电位与滴定体积比之间的关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 b="0" i="1">
                <a:latin typeface="Bookman Old Style"/>
                <a:cs typeface="Bookman Old Style"/>
              </a:rPr>
              <a:t>E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3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图即为滴定曲</a:t>
            </a:r>
            <a:r>
              <a:rPr dirty="0" sz="1200" spc="-20">
                <a:latin typeface="Arial Unicode MS"/>
                <a:cs typeface="Arial Unicode MS"/>
              </a:rPr>
              <a:t>线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8839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氧化还原滴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曲线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1125354" y="644809"/>
            <a:ext cx="2543810" cy="0"/>
          </a:xfrm>
          <a:custGeom>
            <a:avLst/>
            <a:gdLst/>
            <a:ahLst/>
            <a:cxnLst/>
            <a:rect l="l" t="t" r="r" b="b"/>
            <a:pathLst>
              <a:path w="2543810" h="0">
                <a:moveTo>
                  <a:pt x="0" y="0"/>
                </a:moveTo>
                <a:lnTo>
                  <a:pt x="25432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5354" y="2649731"/>
            <a:ext cx="2543810" cy="0"/>
          </a:xfrm>
          <a:custGeom>
            <a:avLst/>
            <a:gdLst/>
            <a:ahLst/>
            <a:cxnLst/>
            <a:rect l="l" t="t" r="r" b="b"/>
            <a:pathLst>
              <a:path w="2543810" h="0">
                <a:moveTo>
                  <a:pt x="0" y="0"/>
                </a:moveTo>
                <a:lnTo>
                  <a:pt x="25432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68620" y="644809"/>
            <a:ext cx="0" cy="2005330"/>
          </a:xfrm>
          <a:custGeom>
            <a:avLst/>
            <a:gdLst/>
            <a:ahLst/>
            <a:cxnLst/>
            <a:rect l="l" t="t" r="r" b="b"/>
            <a:pathLst>
              <a:path w="0" h="2005330">
                <a:moveTo>
                  <a:pt x="0" y="200492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5354" y="644809"/>
            <a:ext cx="0" cy="2005330"/>
          </a:xfrm>
          <a:custGeom>
            <a:avLst/>
            <a:gdLst/>
            <a:ahLst/>
            <a:cxnLst/>
            <a:rect l="l" t="t" r="r" b="b"/>
            <a:pathLst>
              <a:path w="0" h="2005330">
                <a:moveTo>
                  <a:pt x="0" y="200492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25354" y="2649731"/>
            <a:ext cx="2543810" cy="0"/>
          </a:xfrm>
          <a:custGeom>
            <a:avLst/>
            <a:gdLst/>
            <a:ahLst/>
            <a:cxnLst/>
            <a:rect l="l" t="t" r="r" b="b"/>
            <a:pathLst>
              <a:path w="2543810" h="0">
                <a:moveTo>
                  <a:pt x="0" y="0"/>
                </a:moveTo>
                <a:lnTo>
                  <a:pt x="25432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25354" y="644809"/>
            <a:ext cx="0" cy="2005330"/>
          </a:xfrm>
          <a:custGeom>
            <a:avLst/>
            <a:gdLst/>
            <a:ahLst/>
            <a:cxnLst/>
            <a:rect l="l" t="t" r="r" b="b"/>
            <a:pathLst>
              <a:path w="0" h="2005330">
                <a:moveTo>
                  <a:pt x="0" y="200492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25354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25354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57632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88204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8204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20482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51998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51998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84280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15326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15326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47604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78648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78648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510928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41970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41970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907454" y="2647464"/>
            <a:ext cx="69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05298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05298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237576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1.1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68620" y="262411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6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68620" y="64480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1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600899" y="2647464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Arial"/>
                <a:cs typeface="Arial"/>
              </a:rPr>
              <a:t>1</a:t>
            </a:r>
            <a:r>
              <a:rPr dirty="0" sz="600" spc="10">
                <a:latin typeface="Arial"/>
                <a:cs typeface="Arial"/>
              </a:rPr>
              <a:t>.2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25354" y="264925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3007" y="264925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85536" y="2586278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25354" y="242680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43007" y="242680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25354" y="220387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43007" y="220387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25354" y="198095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43007" y="198095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85536" y="1917970"/>
            <a:ext cx="136525" cy="567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25354" y="175849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3007" y="175849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51940" y="1695518"/>
            <a:ext cx="69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25354" y="153557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3007" y="153557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85536" y="1472590"/>
            <a:ext cx="13652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1.1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25354" y="131264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43007" y="131264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25354" y="109018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43007" y="109018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25354" y="86726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43007" y="86726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25354" y="64480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43007" y="64480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6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985536" y="581830"/>
            <a:ext cx="136525" cy="789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1.5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1.4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1.3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1.2</a:t>
            </a:r>
            <a:endParaRPr sz="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25354" y="644809"/>
            <a:ext cx="2543810" cy="0"/>
          </a:xfrm>
          <a:custGeom>
            <a:avLst/>
            <a:gdLst/>
            <a:ahLst/>
            <a:cxnLst/>
            <a:rect l="l" t="t" r="r" b="b"/>
            <a:pathLst>
              <a:path w="2543810" h="0">
                <a:moveTo>
                  <a:pt x="0" y="0"/>
                </a:moveTo>
                <a:lnTo>
                  <a:pt x="25432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25354" y="2649731"/>
            <a:ext cx="2543810" cy="0"/>
          </a:xfrm>
          <a:custGeom>
            <a:avLst/>
            <a:gdLst/>
            <a:ahLst/>
            <a:cxnLst/>
            <a:rect l="l" t="t" r="r" b="b"/>
            <a:pathLst>
              <a:path w="2543810" h="0">
                <a:moveTo>
                  <a:pt x="0" y="0"/>
                </a:moveTo>
                <a:lnTo>
                  <a:pt x="25432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668620" y="644809"/>
            <a:ext cx="0" cy="2005330"/>
          </a:xfrm>
          <a:custGeom>
            <a:avLst/>
            <a:gdLst/>
            <a:ahLst/>
            <a:cxnLst/>
            <a:rect l="l" t="t" r="r" b="b"/>
            <a:pathLst>
              <a:path w="0" h="2005330">
                <a:moveTo>
                  <a:pt x="0" y="200492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25354" y="644809"/>
            <a:ext cx="0" cy="2005330"/>
          </a:xfrm>
          <a:custGeom>
            <a:avLst/>
            <a:gdLst/>
            <a:ahLst/>
            <a:cxnLst/>
            <a:rect l="l" t="t" r="r" b="b"/>
            <a:pathLst>
              <a:path w="0" h="2005330">
                <a:moveTo>
                  <a:pt x="0" y="200492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25354" y="870579"/>
            <a:ext cx="2543810" cy="1600835"/>
          </a:xfrm>
          <a:custGeom>
            <a:avLst/>
            <a:gdLst/>
            <a:ahLst/>
            <a:cxnLst/>
            <a:rect l="l" t="t" r="r" b="b"/>
            <a:pathLst>
              <a:path w="2543810" h="1600835">
                <a:moveTo>
                  <a:pt x="0" y="1600807"/>
                </a:moveTo>
                <a:lnTo>
                  <a:pt x="350043" y="1578518"/>
                </a:lnTo>
                <a:lnTo>
                  <a:pt x="674945" y="1556223"/>
                </a:lnTo>
                <a:lnTo>
                  <a:pt x="956215" y="1533929"/>
                </a:lnTo>
                <a:lnTo>
                  <a:pt x="1186253" y="1511640"/>
                </a:lnTo>
                <a:lnTo>
                  <a:pt x="1364599" y="1489345"/>
                </a:lnTo>
                <a:lnTo>
                  <a:pt x="1497405" y="1467050"/>
                </a:lnTo>
                <a:lnTo>
                  <a:pt x="1594164" y="1444761"/>
                </a:lnTo>
                <a:lnTo>
                  <a:pt x="1662938" y="1422467"/>
                </a:lnTo>
                <a:lnTo>
                  <a:pt x="1711318" y="1400172"/>
                </a:lnTo>
                <a:lnTo>
                  <a:pt x="1744524" y="1377883"/>
                </a:lnTo>
                <a:lnTo>
                  <a:pt x="1787014" y="1325871"/>
                </a:lnTo>
                <a:lnTo>
                  <a:pt x="1807700" y="1257278"/>
                </a:lnTo>
                <a:lnTo>
                  <a:pt x="1814239" y="1172927"/>
                </a:lnTo>
                <a:lnTo>
                  <a:pt x="1815622" y="1123059"/>
                </a:lnTo>
                <a:lnTo>
                  <a:pt x="1815926" y="1072580"/>
                </a:lnTo>
                <a:lnTo>
                  <a:pt x="1815527" y="1021838"/>
                </a:lnTo>
                <a:lnTo>
                  <a:pt x="1814801" y="971185"/>
                </a:lnTo>
                <a:lnTo>
                  <a:pt x="1814123" y="920969"/>
                </a:lnTo>
                <a:lnTo>
                  <a:pt x="1813871" y="871542"/>
                </a:lnTo>
                <a:lnTo>
                  <a:pt x="1814419" y="823253"/>
                </a:lnTo>
                <a:lnTo>
                  <a:pt x="1816143" y="776452"/>
                </a:lnTo>
                <a:lnTo>
                  <a:pt x="1816935" y="724554"/>
                </a:lnTo>
                <a:lnTo>
                  <a:pt x="1817185" y="672623"/>
                </a:lnTo>
                <a:lnTo>
                  <a:pt x="1817079" y="620666"/>
                </a:lnTo>
                <a:lnTo>
                  <a:pt x="1816806" y="568689"/>
                </a:lnTo>
                <a:lnTo>
                  <a:pt x="1816551" y="516701"/>
                </a:lnTo>
                <a:lnTo>
                  <a:pt x="1816503" y="464708"/>
                </a:lnTo>
                <a:lnTo>
                  <a:pt x="1816847" y="412719"/>
                </a:lnTo>
                <a:lnTo>
                  <a:pt x="1817771" y="360739"/>
                </a:lnTo>
                <a:lnTo>
                  <a:pt x="1819461" y="308777"/>
                </a:lnTo>
                <a:lnTo>
                  <a:pt x="1823019" y="267445"/>
                </a:lnTo>
                <a:lnTo>
                  <a:pt x="1829876" y="226501"/>
                </a:lnTo>
                <a:lnTo>
                  <a:pt x="1843147" y="187684"/>
                </a:lnTo>
                <a:lnTo>
                  <a:pt x="1865946" y="152732"/>
                </a:lnTo>
                <a:lnTo>
                  <a:pt x="1924759" y="108143"/>
                </a:lnTo>
                <a:lnTo>
                  <a:pt x="1976463" y="85854"/>
                </a:lnTo>
                <a:lnTo>
                  <a:pt x="2052823" y="63559"/>
                </a:lnTo>
                <a:lnTo>
                  <a:pt x="2165714" y="41265"/>
                </a:lnTo>
                <a:lnTo>
                  <a:pt x="2332670" y="18976"/>
                </a:lnTo>
                <a:lnTo>
                  <a:pt x="2543738" y="0"/>
                </a:lnTo>
              </a:path>
            </a:pathLst>
          </a:custGeom>
          <a:ln w="1138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871366" y="1532726"/>
            <a:ext cx="113664" cy="20955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 spc="15" b="1" i="1">
                <a:latin typeface="Times New Roman"/>
                <a:cs typeface="Times New Roman"/>
              </a:rPr>
              <a:t>E</a:t>
            </a:r>
            <a:r>
              <a:rPr dirty="0" sz="600" spc="-50" b="1" i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(V)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919300" y="160206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19">
                <a:moveTo>
                  <a:pt x="45534" y="22767"/>
                </a:moveTo>
                <a:lnTo>
                  <a:pt x="43744" y="31626"/>
                </a:lnTo>
                <a:lnTo>
                  <a:pt x="38863" y="38863"/>
                </a:lnTo>
                <a:lnTo>
                  <a:pt x="31626" y="43744"/>
                </a:lnTo>
                <a:lnTo>
                  <a:pt x="22767" y="45534"/>
                </a:lnTo>
                <a:lnTo>
                  <a:pt x="13907" y="43744"/>
                </a:lnTo>
                <a:lnTo>
                  <a:pt x="6670" y="38863"/>
                </a:lnTo>
                <a:lnTo>
                  <a:pt x="1790" y="31626"/>
                </a:lnTo>
                <a:lnTo>
                  <a:pt x="0" y="22767"/>
                </a:lnTo>
                <a:lnTo>
                  <a:pt x="1790" y="13907"/>
                </a:lnTo>
                <a:lnTo>
                  <a:pt x="6670" y="6670"/>
                </a:lnTo>
                <a:lnTo>
                  <a:pt x="13907" y="1790"/>
                </a:lnTo>
                <a:lnTo>
                  <a:pt x="22767" y="0"/>
                </a:lnTo>
                <a:lnTo>
                  <a:pt x="31626" y="1790"/>
                </a:lnTo>
                <a:lnTo>
                  <a:pt x="38863" y="6670"/>
                </a:lnTo>
                <a:lnTo>
                  <a:pt x="43744" y="13907"/>
                </a:lnTo>
                <a:lnTo>
                  <a:pt x="45534" y="22767"/>
                </a:lnTo>
              </a:path>
            </a:pathLst>
          </a:custGeom>
          <a:ln w="1138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918731" y="2047828"/>
            <a:ext cx="39370" cy="34290"/>
          </a:xfrm>
          <a:custGeom>
            <a:avLst/>
            <a:gdLst/>
            <a:ahLst/>
            <a:cxnLst/>
            <a:rect l="l" t="t" r="r" b="b"/>
            <a:pathLst>
              <a:path w="39369" h="34289">
                <a:moveTo>
                  <a:pt x="0" y="33672"/>
                </a:moveTo>
                <a:lnTo>
                  <a:pt x="38891" y="33672"/>
                </a:lnTo>
                <a:lnTo>
                  <a:pt x="19448" y="0"/>
                </a:lnTo>
                <a:lnTo>
                  <a:pt x="0" y="33672"/>
                </a:lnTo>
                <a:close/>
              </a:path>
            </a:pathLst>
          </a:custGeom>
          <a:ln w="1138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25846" y="1157068"/>
            <a:ext cx="39370" cy="34290"/>
          </a:xfrm>
          <a:custGeom>
            <a:avLst/>
            <a:gdLst/>
            <a:ahLst/>
            <a:cxnLst/>
            <a:rect l="l" t="t" r="r" b="b"/>
            <a:pathLst>
              <a:path w="39369" h="34290">
                <a:moveTo>
                  <a:pt x="0" y="33672"/>
                </a:moveTo>
                <a:lnTo>
                  <a:pt x="38891" y="33672"/>
                </a:lnTo>
                <a:lnTo>
                  <a:pt x="19448" y="0"/>
                </a:lnTo>
                <a:lnTo>
                  <a:pt x="0" y="33672"/>
                </a:lnTo>
                <a:close/>
              </a:path>
            </a:pathLst>
          </a:custGeom>
          <a:ln w="1138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703173" y="1869116"/>
            <a:ext cx="18986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5">
                <a:latin typeface="Times New Roman"/>
                <a:cs typeface="Times New Roman"/>
              </a:rPr>
              <a:t>2</a:t>
            </a:r>
            <a:r>
              <a:rPr dirty="0" sz="500" spc="100">
                <a:latin typeface="Times New Roman"/>
                <a:cs typeface="Times New Roman"/>
              </a:rPr>
              <a:t> </a:t>
            </a:r>
            <a:r>
              <a:rPr dirty="0" sz="500" spc="-5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84123" y="1812196"/>
            <a:ext cx="69469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c(H </a:t>
            </a:r>
            <a:r>
              <a:rPr dirty="0" sz="600" spc="15">
                <a:latin typeface="Times New Roman"/>
                <a:cs typeface="Times New Roman"/>
              </a:rPr>
              <a:t>SO </a:t>
            </a:r>
            <a:r>
              <a:rPr dirty="0" sz="600" spc="10">
                <a:latin typeface="Times New Roman"/>
                <a:cs typeface="Times New Roman"/>
              </a:rPr>
              <a:t>)=1.0</a:t>
            </a:r>
            <a:r>
              <a:rPr dirty="0" sz="600" spc="-55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58718" y="1369190"/>
            <a:ext cx="79883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Times New Roman"/>
                <a:cs typeface="Times New Roman"/>
              </a:rPr>
              <a:t>c(Ce</a:t>
            </a:r>
            <a:r>
              <a:rPr dirty="0" baseline="33333" sz="750" spc="7">
                <a:latin typeface="Times New Roman"/>
                <a:cs typeface="Times New Roman"/>
              </a:rPr>
              <a:t>4+</a:t>
            </a:r>
            <a:r>
              <a:rPr dirty="0" sz="600" spc="5">
                <a:latin typeface="Times New Roman"/>
                <a:cs typeface="Times New Roman"/>
              </a:rPr>
              <a:t>)=0.1000</a:t>
            </a:r>
            <a:r>
              <a:rPr dirty="0" sz="600" spc="-15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600" spc="5">
                <a:latin typeface="Times New Roman"/>
                <a:cs typeface="Times New Roman"/>
              </a:rPr>
              <a:t>c(Fe</a:t>
            </a:r>
            <a:r>
              <a:rPr dirty="0" baseline="33333" sz="750" spc="7">
                <a:latin typeface="Times New Roman"/>
                <a:cs typeface="Times New Roman"/>
              </a:rPr>
              <a:t>2+</a:t>
            </a:r>
            <a:r>
              <a:rPr dirty="0" sz="600" spc="5">
                <a:latin typeface="Times New Roman"/>
                <a:cs typeface="Times New Roman"/>
              </a:rPr>
              <a:t>)=0.1000</a:t>
            </a:r>
            <a:r>
              <a:rPr dirty="0" sz="600" spc="-20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87741" y="2724777"/>
            <a:ext cx="2032635" cy="495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84150">
              <a:lnSpc>
                <a:spcPct val="100000"/>
              </a:lnSpc>
              <a:spcBef>
                <a:spcPts val="114"/>
              </a:spcBef>
            </a:pPr>
            <a:r>
              <a:rPr dirty="0" sz="700" spc="5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8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75">
                <a:latin typeface="Georgia"/>
                <a:cs typeface="Georgia"/>
              </a:rPr>
              <a:t>Ce</a:t>
            </a:r>
            <a:r>
              <a:rPr dirty="0" baseline="27777" sz="1050" spc="112">
                <a:latin typeface="Times New Roman"/>
                <a:cs typeface="Times New Roman"/>
              </a:rPr>
              <a:t>4+</a:t>
            </a:r>
            <a:r>
              <a:rPr dirty="0" baseline="27777" sz="1050" spc="29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25">
                <a:latin typeface="Arial Unicode MS"/>
                <a:cs typeface="Arial Unicode MS"/>
              </a:rPr>
              <a:t> </a:t>
            </a:r>
            <a:r>
              <a:rPr dirty="0" sz="1000" spc="45">
                <a:latin typeface="Georgia"/>
                <a:cs typeface="Georgia"/>
              </a:rPr>
              <a:t>Fe</a:t>
            </a:r>
            <a:r>
              <a:rPr dirty="0" baseline="27777" sz="1050" spc="67">
                <a:latin typeface="Times New Roman"/>
                <a:cs typeface="Times New Roman"/>
              </a:rPr>
              <a:t>2+</a:t>
            </a:r>
            <a:r>
              <a:rPr dirty="0" baseline="27777" sz="1050" spc="29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96468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6.2.2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化学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计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量点与滴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突跃范围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1034783"/>
            <a:ext cx="24123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根据化学反应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5"/>
              <a:t>化学计量关系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6801" y="1410944"/>
            <a:ext cx="2613660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04595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n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(O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sz="1100" spc="20" b="0" i="1">
                <a:latin typeface="Bookman Old Style"/>
                <a:cs typeface="Bookman Old Style"/>
              </a:rPr>
              <a:t>V</a:t>
            </a:r>
            <a:r>
              <a:rPr dirty="0" baseline="-13888" sz="900" spc="30" i="1">
                <a:latin typeface="Arial"/>
                <a:cs typeface="Arial"/>
              </a:rPr>
              <a:t>t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(R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sz="1100" spc="15" b="0" i="1">
                <a:latin typeface="Bookman Old Style"/>
                <a:cs typeface="Bookman Old Style"/>
              </a:rPr>
              <a:t>V</a:t>
            </a:r>
            <a:r>
              <a:rPr dirty="0" baseline="-13888" sz="900" spc="22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化学计量点时的体积比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3163" y="2152586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ρ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7480" y="2269197"/>
            <a:ext cx="464184" cy="0"/>
          </a:xfrm>
          <a:custGeom>
            <a:avLst/>
            <a:gdLst/>
            <a:ahLst/>
            <a:cxnLst/>
            <a:rect l="l" t="t" r="r" b="b"/>
            <a:pathLst>
              <a:path w="464185" h="0">
                <a:moveTo>
                  <a:pt x="0" y="0"/>
                </a:moveTo>
                <a:lnTo>
                  <a:pt x="4640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09380" y="2036353"/>
            <a:ext cx="54038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2540">
              <a:lnSpc>
                <a:spcPct val="112599"/>
              </a:lnSpc>
              <a:spcBef>
                <a:spcPts val="10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456" y="215258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38162"/>
            <a:ext cx="127444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根</a:t>
            </a:r>
            <a:r>
              <a:rPr dirty="0" spc="-260"/>
              <a:t>据</a:t>
            </a:r>
            <a:r>
              <a:rPr dirty="0" spc="-5"/>
              <a:t>（</a:t>
            </a:r>
            <a:r>
              <a:rPr dirty="0" sz="1100" spc="7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 spc="105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pc="-280"/>
              <a:t>）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90"/>
              <a:t>得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8874" y="1199591"/>
            <a:ext cx="1636395" cy="0"/>
          </a:xfrm>
          <a:custGeom>
            <a:avLst/>
            <a:gdLst/>
            <a:ahLst/>
            <a:cxnLst/>
            <a:rect l="l" t="t" r="r" b="b"/>
            <a:pathLst>
              <a:path w="1636395" h="0">
                <a:moveTo>
                  <a:pt x="0" y="0"/>
                </a:moveTo>
                <a:lnTo>
                  <a:pt x="1636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20774" y="858365"/>
            <a:ext cx="1712595" cy="489584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605"/>
              </a:spcBef>
            </a:pPr>
            <a:r>
              <a:rPr dirty="0" baseline="-25252" sz="1650" spc="-44">
                <a:latin typeface="Georgia"/>
                <a:cs typeface="Georgia"/>
              </a:rPr>
              <a:t>10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baseline="-5050" sz="1650" spc="7">
                <a:latin typeface="Georgia"/>
                <a:cs typeface="Georgia"/>
              </a:rPr>
              <a:t>(</a:t>
            </a:r>
            <a:r>
              <a:rPr dirty="0" sz="600" spc="130" i="1">
                <a:latin typeface="Arial"/>
                <a:cs typeface="Arial"/>
              </a:rPr>
              <a:t>E</a:t>
            </a:r>
            <a:r>
              <a:rPr dirty="0" baseline="-11111" sz="750" spc="82">
                <a:latin typeface="Book Antiqua"/>
                <a:cs typeface="Book Antiqua"/>
              </a:rPr>
              <a:t>s</a:t>
            </a:r>
            <a:r>
              <a:rPr dirty="0" baseline="-11111" sz="750" spc="179">
                <a:latin typeface="Book Antiqua"/>
                <a:cs typeface="Book Antiqua"/>
              </a:rPr>
              <a:t>p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baseline="50000" sz="750" spc="7" i="1">
                <a:latin typeface="Verdana"/>
                <a:cs typeface="Verdana"/>
              </a:rPr>
              <a:t>I</a:t>
            </a:r>
            <a:r>
              <a:rPr dirty="0" baseline="50000" sz="750" spc="-120" i="1">
                <a:latin typeface="Verdana"/>
                <a:cs typeface="Verdana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(O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125">
                <a:latin typeface="Times New Roman"/>
                <a:cs typeface="Times New Roman"/>
              </a:rPr>
              <a:t>R</a:t>
            </a:r>
            <a:r>
              <a:rPr dirty="0" baseline="-11111" sz="750" spc="195">
                <a:latin typeface="Book Antiqua"/>
                <a:cs typeface="Book Antiqua"/>
              </a:rPr>
              <a:t>1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-5050" sz="1650" spc="7">
                <a:latin typeface="Georgia"/>
                <a:cs typeface="Georgia"/>
              </a:rPr>
              <a:t>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r>
              <a:rPr dirty="0" sz="6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 </a:t>
            </a:r>
            <a:r>
              <a:rPr dirty="0" baseline="-25252" sz="1650" spc="209">
                <a:latin typeface="Georgia"/>
                <a:cs typeface="Georgia"/>
              </a:rPr>
              <a:t>+</a:t>
            </a:r>
            <a:r>
              <a:rPr dirty="0" baseline="-25252" sz="1650" spc="-37">
                <a:latin typeface="Georgia"/>
                <a:cs typeface="Georgia"/>
              </a:rPr>
              <a:t> </a:t>
            </a:r>
            <a:r>
              <a:rPr dirty="0" baseline="-25252" sz="1650" spc="104">
                <a:latin typeface="Georgia"/>
                <a:cs typeface="Georgia"/>
              </a:rPr>
              <a:t>1</a:t>
            </a:r>
            <a:endParaRPr baseline="-25252" sz="165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09"/>
              </a:spcBef>
            </a:pPr>
            <a:r>
              <a:rPr dirty="0" baseline="-25252" sz="1650" spc="-44">
                <a:latin typeface="Georgia"/>
                <a:cs typeface="Georgia"/>
              </a:rPr>
              <a:t>10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baseline="-11111" sz="750" spc="195">
                <a:latin typeface="Book Antiqua"/>
                <a:cs typeface="Book Antiqua"/>
              </a:rPr>
              <a:t>2</a:t>
            </a:r>
            <a:r>
              <a:rPr dirty="0" baseline="-5050" sz="1650" spc="7">
                <a:latin typeface="Georgia"/>
                <a:cs typeface="Georgia"/>
              </a:rPr>
              <a:t>(</a:t>
            </a:r>
            <a:r>
              <a:rPr dirty="0" sz="600" spc="130" i="1">
                <a:latin typeface="Arial"/>
                <a:cs typeface="Arial"/>
              </a:rPr>
              <a:t>E</a:t>
            </a:r>
            <a:r>
              <a:rPr dirty="0" baseline="-11111" sz="750" spc="82">
                <a:latin typeface="Book Antiqua"/>
                <a:cs typeface="Book Antiqua"/>
              </a:rPr>
              <a:t>s</a:t>
            </a:r>
            <a:r>
              <a:rPr dirty="0" baseline="-11111" sz="750" spc="179">
                <a:latin typeface="Book Antiqua"/>
                <a:cs typeface="Book Antiqua"/>
              </a:rPr>
              <a:t>p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165" i="1">
                <a:latin typeface="Arial"/>
                <a:cs typeface="Arial"/>
              </a:rPr>
              <a:t>E</a:t>
            </a:r>
            <a:r>
              <a:rPr dirty="0" baseline="33333" sz="750" spc="7" i="1">
                <a:latin typeface="Verdana"/>
                <a:cs typeface="Verdana"/>
              </a:rPr>
              <a:t>I</a:t>
            </a:r>
            <a:r>
              <a:rPr dirty="0" baseline="33333" sz="750" spc="-120" i="1">
                <a:latin typeface="Verdana"/>
                <a:cs typeface="Verdana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(O</a:t>
            </a:r>
            <a:r>
              <a:rPr dirty="0" baseline="-11111" sz="750" spc="195">
                <a:latin typeface="Book Antiqua"/>
                <a:cs typeface="Book Antiqua"/>
              </a:rPr>
              <a:t>2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125">
                <a:latin typeface="Times New Roman"/>
                <a:cs typeface="Times New Roman"/>
              </a:rPr>
              <a:t>R</a:t>
            </a:r>
            <a:r>
              <a:rPr dirty="0" baseline="-11111" sz="750" spc="195">
                <a:latin typeface="Book Antiqua"/>
                <a:cs typeface="Book Antiqua"/>
              </a:rPr>
              <a:t>2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-5050" sz="1650" spc="7">
                <a:latin typeface="Georgia"/>
                <a:cs typeface="Georgia"/>
              </a:rPr>
              <a:t>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r>
              <a:rPr dirty="0" sz="6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 </a:t>
            </a:r>
            <a:r>
              <a:rPr dirty="0" baseline="-25252" sz="1650" spc="209">
                <a:latin typeface="Georgia"/>
                <a:cs typeface="Georgia"/>
              </a:rPr>
              <a:t>+</a:t>
            </a:r>
            <a:r>
              <a:rPr dirty="0" baseline="-25252" sz="1650" spc="-37">
                <a:latin typeface="Georgia"/>
                <a:cs typeface="Georgia"/>
              </a:rPr>
              <a:t> </a:t>
            </a:r>
            <a:r>
              <a:rPr dirty="0" baseline="-25252" sz="1650" spc="104">
                <a:latin typeface="Georgia"/>
                <a:cs typeface="Georgia"/>
              </a:rPr>
              <a:t>1</a:t>
            </a:r>
            <a:endParaRPr baseline="-25252" sz="16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6100" y="1082980"/>
            <a:ext cx="24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01" y="1622196"/>
            <a:ext cx="24441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整理得化学计量点时的电极电位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6314" y="2024430"/>
            <a:ext cx="4197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 b="0" i="1">
                <a:latin typeface="Bookman Old Style"/>
                <a:cs typeface="Bookman Old Style"/>
              </a:rPr>
              <a:t>E</a:t>
            </a:r>
            <a:r>
              <a:rPr dirty="0" baseline="-13888" sz="900" spc="104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31276" y="2141042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1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93176" y="1908197"/>
            <a:ext cx="18034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2222" sz="750" spc="7" i="1">
                <a:latin typeface="Verdana"/>
                <a:cs typeface="Verdana"/>
              </a:rPr>
              <a:t>I</a:t>
            </a:r>
            <a:r>
              <a:rPr dirty="0" baseline="72222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2222" sz="750" spc="7" i="1">
                <a:latin typeface="Verdana"/>
                <a:cs typeface="Verdana"/>
              </a:rPr>
              <a:t>I</a:t>
            </a:r>
            <a:r>
              <a:rPr dirty="0" baseline="72222" sz="750" spc="-120" i="1">
                <a:latin typeface="Verdana"/>
                <a:cs typeface="Verdan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1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n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456" y="202443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744461"/>
            <a:ext cx="30270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对于</a:t>
            </a:r>
            <a:r>
              <a:rPr dirty="0" sz="1200" spc="-260">
                <a:latin typeface="Arial Unicode MS"/>
                <a:cs typeface="Arial Unicode MS"/>
              </a:rPr>
              <a:t>图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105">
                <a:latin typeface="Georgia"/>
                <a:cs typeface="Georgia"/>
              </a:rPr>
              <a:t>1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所示的滴定曲</a:t>
            </a:r>
            <a:r>
              <a:rPr dirty="0" sz="1200" spc="-80">
                <a:latin typeface="Arial Unicode MS"/>
                <a:cs typeface="Arial Unicode MS"/>
              </a:rPr>
              <a:t>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化学计量点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1194" y="1365097"/>
            <a:ext cx="2673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04" b="0" i="1">
                <a:latin typeface="Bookman Old Style"/>
                <a:cs typeface="Bookman Old Style"/>
              </a:rPr>
              <a:t>E</a:t>
            </a:r>
            <a:r>
              <a:rPr dirty="0" sz="600" spc="7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076" y="134430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4142" y="1250581"/>
            <a:ext cx="2477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2222" sz="750" spc="7" i="1">
                <a:latin typeface="Verdana"/>
                <a:cs typeface="Verdana"/>
              </a:rPr>
              <a:t>I</a:t>
            </a:r>
            <a:r>
              <a:rPr dirty="0" baseline="72222" sz="750" spc="-120" i="1">
                <a:latin typeface="Verdana"/>
                <a:cs typeface="Verdana"/>
              </a:rPr>
              <a:t> </a:t>
            </a:r>
            <a:r>
              <a:rPr dirty="0" sz="1100" spc="15">
                <a:latin typeface="Georgia"/>
                <a:cs typeface="Georgia"/>
              </a:rPr>
              <a:t>(Ce</a:t>
            </a:r>
            <a:r>
              <a:rPr dirty="0" baseline="37037" sz="900" spc="195">
                <a:latin typeface="Times New Roman"/>
                <a:cs typeface="Times New Roman"/>
              </a:rPr>
              <a:t>4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15">
                <a:latin typeface="Georgia"/>
                <a:cs typeface="Georgia"/>
              </a:rPr>
              <a:t>Ce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2222" sz="750" spc="7" i="1">
                <a:latin typeface="Verdana"/>
                <a:cs typeface="Verdana"/>
              </a:rPr>
              <a:t>I</a:t>
            </a:r>
            <a:r>
              <a:rPr dirty="0" baseline="72222" sz="750" spc="-120" i="1">
                <a:latin typeface="Verdana"/>
                <a:cs typeface="Verdana"/>
              </a:rPr>
              <a:t> 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3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37037" sz="900" spc="195">
                <a:latin typeface="Times New Roman"/>
                <a:cs typeface="Times New Roman"/>
              </a:rPr>
              <a:t>2</a:t>
            </a:r>
            <a:r>
              <a:rPr dirty="0" baseline="37037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2242" y="1460919"/>
            <a:ext cx="2401570" cy="0"/>
          </a:xfrm>
          <a:custGeom>
            <a:avLst/>
            <a:gdLst/>
            <a:ahLst/>
            <a:cxnLst/>
            <a:rect l="l" t="t" r="r" b="b"/>
            <a:pathLst>
              <a:path w="2401570" h="0">
                <a:moveTo>
                  <a:pt x="0" y="0"/>
                </a:moveTo>
                <a:lnTo>
                  <a:pt x="24012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16238" y="1439354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0076" y="168451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9542" y="1590789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44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68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82242" y="1801126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193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65871" y="177954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076" y="1946173"/>
            <a:ext cx="763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1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06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(V)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滴定突跃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范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围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1165085"/>
            <a:ext cx="33235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随着滴定过程的进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该体系中占主导的电对</a:t>
            </a:r>
            <a:r>
              <a:rPr dirty="0" sz="1200" spc="-90">
                <a:latin typeface="Arial Unicode MS"/>
                <a:cs typeface="Arial Unicode MS"/>
              </a:rPr>
              <a:t>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281" y="1541246"/>
            <a:ext cx="571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4834" y="1639316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3337" y="1484045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13" y="1890839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变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3123" y="2127821"/>
            <a:ext cx="592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41666" sz="900" spc="112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4834" y="2225891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15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165">
                <a:latin typeface="Times New Roman"/>
                <a:cs typeface="Times New Roman"/>
              </a:rPr>
              <a:t> </a:t>
            </a:r>
            <a:r>
              <a:rPr dirty="0" baseline="24691" sz="675" spc="-569">
                <a:latin typeface="Times New Roman"/>
                <a:cs typeface="Times New Roman"/>
              </a:rPr>
              <a:t>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3337" y="2070608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586067"/>
            <a:ext cx="423608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如果要求滴定分析的终点误差小于</a:t>
            </a:r>
            <a:r>
              <a:rPr dirty="0" sz="1200" spc="-25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Lucida Sans Unicode"/>
                <a:cs typeface="Lucida Sans Unicode"/>
              </a:rPr>
              <a:t>±</a:t>
            </a:r>
            <a:r>
              <a:rPr dirty="0" sz="1100" spc="-65">
                <a:latin typeface="Georgia"/>
                <a:cs typeface="Georgia"/>
              </a:rPr>
              <a:t>0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1%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这也就是要求终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点时应该满</a:t>
            </a:r>
            <a:r>
              <a:rPr dirty="0" sz="1200" spc="-90">
                <a:latin typeface="Arial Unicode MS"/>
                <a:cs typeface="Arial Unicode MS"/>
              </a:rPr>
              <a:t>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0081" y="1344041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 h="0">
                <a:moveTo>
                  <a:pt x="0" y="0"/>
                </a:moveTo>
                <a:lnTo>
                  <a:pt x="3411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74647" y="1214145"/>
            <a:ext cx="7962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05790" algn="l"/>
              </a:tabLst>
            </a:pPr>
            <a:r>
              <a:rPr dirty="0" baseline="-37878" sz="1650" spc="-165">
                <a:latin typeface="Georgia"/>
                <a:cs typeface="Georgia"/>
              </a:rPr>
              <a:t>] </a:t>
            </a:r>
            <a:r>
              <a:rPr dirty="0" baseline="-37878" sz="165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41666" sz="900">
                <a:latin typeface="Times New Roman"/>
                <a:cs typeface="Times New Roman"/>
              </a:rPr>
              <a:t>3	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9281" y="1133703"/>
            <a:ext cx="164083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26820" algn="l"/>
              </a:tabLst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37037" sz="900">
                <a:latin typeface="Times New Roman"/>
                <a:cs typeface="Times New Roman"/>
              </a:rPr>
              <a:t>3+</a:t>
            </a:r>
            <a:r>
              <a:rPr dirty="0" sz="1100">
                <a:latin typeface="Georgia"/>
                <a:cs typeface="Georgia"/>
              </a:rPr>
              <a:t>]	</a:t>
            </a:r>
            <a:r>
              <a:rPr dirty="0" sz="1100" spc="20">
                <a:latin typeface="Georgia"/>
                <a:cs typeface="Georgia"/>
              </a:rPr>
              <a:t>[Ce</a:t>
            </a:r>
            <a:r>
              <a:rPr dirty="0" baseline="37037" sz="900" spc="30">
                <a:latin typeface="Times New Roman"/>
                <a:cs typeface="Times New Roman"/>
              </a:rPr>
              <a:t>4+</a:t>
            </a:r>
            <a:r>
              <a:rPr dirty="0" sz="1100" spc="2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86507" y="134404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 h="0">
                <a:moveTo>
                  <a:pt x="0" y="0"/>
                </a:moveTo>
                <a:lnTo>
                  <a:pt x="3623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97381" y="1322463"/>
            <a:ext cx="14020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88720" algn="l"/>
              </a:tabLst>
            </a:pPr>
            <a:r>
              <a:rPr dirty="0" sz="1100" spc="-25">
                <a:latin typeface="Georgia"/>
                <a:cs typeface="Georgia"/>
              </a:rPr>
              <a:t>[</a:t>
            </a:r>
            <a:r>
              <a:rPr dirty="0" sz="1100" spc="-130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30">
                <a:latin typeface="Georgia"/>
                <a:cs typeface="Georgia"/>
              </a:rPr>
              <a:t>[Ce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6336" y="1345069"/>
            <a:ext cx="13404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0967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2244" y="1227429"/>
            <a:ext cx="572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-165">
                <a:latin typeface="Georgia"/>
                <a:cs typeface="Georgia"/>
              </a:rPr>
              <a:t>]</a:t>
            </a:r>
            <a:r>
              <a:rPr dirty="0" baseline="-37878" sz="1650" spc="67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≤</a:t>
            </a:r>
            <a:r>
              <a:rPr dirty="0" sz="1100" spc="-16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3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501" y="1745335"/>
            <a:ext cx="18053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滴定的突跃范围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72" y="2121497"/>
            <a:ext cx="3968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41666" sz="900" spc="195">
                <a:latin typeface="Times New Roman"/>
                <a:cs typeface="Times New Roman"/>
              </a:rPr>
              <a:t>3</a:t>
            </a:r>
            <a:r>
              <a:rPr dirty="0" baseline="41666" sz="900" spc="292">
                <a:latin typeface="Times New Roman"/>
                <a:cs typeface="Times New Roman"/>
              </a:rPr>
              <a:t>+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baseline="41666" sz="900" spc="195">
                <a:latin typeface="Times New Roman"/>
                <a:cs typeface="Times New Roman"/>
              </a:rPr>
              <a:t>2</a:t>
            </a:r>
            <a:r>
              <a:rPr dirty="0" baseline="41666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41666" sz="900" spc="16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15">
                <a:latin typeface="Georgia"/>
                <a:cs typeface="Georgia"/>
              </a:rPr>
              <a:t>(Ce</a:t>
            </a:r>
            <a:r>
              <a:rPr dirty="0" baseline="41666" sz="900" spc="195">
                <a:latin typeface="Times New Roman"/>
                <a:cs typeface="Times New Roman"/>
              </a:rPr>
              <a:t>4</a:t>
            </a:r>
            <a:r>
              <a:rPr dirty="0" baseline="41666" sz="900" spc="292">
                <a:latin typeface="Times New Roman"/>
                <a:cs typeface="Times New Roman"/>
              </a:rPr>
              <a:t>+</a:t>
            </a:r>
            <a:r>
              <a:rPr dirty="0" sz="1100" spc="-114" b="0" i="1">
                <a:latin typeface="Bookman Old Style"/>
                <a:cs typeface="Bookman Old Style"/>
              </a:rPr>
              <a:t>/</a:t>
            </a:r>
            <a:r>
              <a:rPr dirty="0" sz="1100" spc="15">
                <a:latin typeface="Georgia"/>
                <a:cs typeface="Georgia"/>
              </a:rPr>
              <a:t>Ce</a:t>
            </a:r>
            <a:r>
              <a:rPr dirty="0" baseline="41666" sz="900" spc="195">
                <a:latin typeface="Times New Roman"/>
                <a:cs typeface="Times New Roman"/>
              </a:rPr>
              <a:t>3</a:t>
            </a:r>
            <a:r>
              <a:rPr dirty="0" baseline="41666" sz="900" spc="292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059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41666" sz="900" spc="330" i="1">
                <a:latin typeface="Arial"/>
                <a:cs typeface="Arial"/>
              </a:rPr>
              <a:t>−</a:t>
            </a:r>
            <a:r>
              <a:rPr dirty="0" baseline="41666" sz="900" spc="16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386" y="2121497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24" y="837349"/>
            <a:ext cx="194500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（</a:t>
            </a:r>
            <a:r>
              <a:rPr dirty="0" sz="1100" spc="-5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 spc="30">
                <a:latin typeface="Georgia"/>
                <a:cs typeface="Georgia"/>
                <a:hlinkClick r:id="rId2" action="ppaction://hlinksldjump"/>
              </a:rPr>
              <a:t>4</a:t>
            </a:r>
            <a:r>
              <a:rPr dirty="0" spc="-280"/>
              <a:t>）</a:t>
            </a:r>
            <a:r>
              <a:rPr dirty="0" spc="-5"/>
              <a:t>式可以写成一般形</a:t>
            </a:r>
            <a:r>
              <a:rPr dirty="0" spc="-90"/>
              <a:t>式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194" y="119973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378" y="129691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059" y="1213510"/>
            <a:ext cx="861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</a:t>
            </a:r>
            <a:r>
              <a:rPr dirty="0" sz="1100" spc="30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7464" y="1119784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7317" y="1308544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0477" y="139194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2635" y="12189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1325" y="1213510"/>
            <a:ext cx="6419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220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8095" y="119973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0279" y="1296911"/>
            <a:ext cx="295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22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7833" y="1213510"/>
            <a:ext cx="807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20">
                <a:latin typeface="Georgia"/>
                <a:cs typeface="Georgia"/>
              </a:rPr>
              <a:t>(O 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R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5378" y="1119784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5218" y="1308544"/>
            <a:ext cx="108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8378" y="139194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0536" y="121892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59226" y="1213510"/>
            <a:ext cx="4768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10486" y="121351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(15)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844" y="1677873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270">
                <a:latin typeface="Arial Unicode MS"/>
                <a:cs typeface="Arial Unicode MS"/>
              </a:rPr>
              <a:t>从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3" action="ppaction://hlinksldjump"/>
              </a:rPr>
              <a:t>13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10">
                <a:latin typeface="Arial Unicode MS"/>
                <a:cs typeface="Arial Unicode MS"/>
              </a:rPr>
              <a:t>式</a:t>
            </a:r>
            <a:r>
              <a:rPr dirty="0" sz="1200" spc="-270">
                <a:latin typeface="Arial Unicode MS"/>
                <a:cs typeface="Arial Unicode MS"/>
              </a:rPr>
              <a:t>和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4" action="ppaction://hlinksldjump"/>
              </a:rPr>
              <a:t>15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10">
                <a:latin typeface="Arial Unicode MS"/>
                <a:cs typeface="Arial Unicode MS"/>
              </a:rPr>
              <a:t>式可以看</a:t>
            </a:r>
            <a:r>
              <a:rPr dirty="0" sz="1200" spc="-80">
                <a:latin typeface="Arial Unicode MS"/>
                <a:cs typeface="Arial Unicode MS"/>
              </a:rPr>
              <a:t>到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对于对称的氧化还原滴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化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学计量点和滴定突跃范围与浓度无</a:t>
            </a:r>
            <a:r>
              <a:rPr dirty="0" sz="1200" spc="-20">
                <a:latin typeface="Arial Unicode MS"/>
                <a:cs typeface="Arial Unicode MS"/>
              </a:rPr>
              <a:t>关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971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6.3</a:t>
            </a:r>
            <a:r>
              <a:rPr dirty="0" sz="1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氧化还原滴定的指示剂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227651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53817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79982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844" y="756119"/>
            <a:ext cx="4356735" cy="215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氧化还原反应的类型繁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如何根据反应的特点选择合适的 指示剂是一个值得研究的问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由于描述氧化还原反应的能斯特 </a:t>
            </a:r>
            <a:r>
              <a:rPr dirty="0" sz="1200" spc="-10">
                <a:latin typeface="Arial Unicode MS"/>
                <a:cs typeface="Arial Unicode MS"/>
              </a:rPr>
              <a:t>方程给出了电极电位与浓度的关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采用电位测量的方式</a:t>
            </a:r>
            <a:r>
              <a:rPr dirty="0" sz="1200" spc="-5">
                <a:latin typeface="Arial Unicode MS"/>
                <a:cs typeface="Arial Unicode MS"/>
              </a:rPr>
              <a:t>是 </a:t>
            </a:r>
            <a:r>
              <a:rPr dirty="0" sz="1200" spc="-5">
                <a:latin typeface="Arial Unicode MS"/>
                <a:cs typeface="Arial Unicode MS"/>
              </a:rPr>
              <a:t>一种选</a:t>
            </a:r>
            <a:r>
              <a:rPr dirty="0" sz="1200" spc="-20">
                <a:latin typeface="Arial Unicode MS"/>
                <a:cs typeface="Arial Unicode MS"/>
              </a:rPr>
              <a:t>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对于一些常规的滴定分析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采用化学指示剂依 然是首</a:t>
            </a:r>
            <a:r>
              <a:rPr dirty="0" sz="1200" spc="-20">
                <a:latin typeface="Arial Unicode MS"/>
                <a:cs typeface="Arial Unicode MS"/>
              </a:rPr>
              <a:t>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常用的氧化还原指示剂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氧化还原指示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自身指示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特殊指示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998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6.3.1</a:t>
            </a:r>
            <a:r>
              <a:rPr dirty="0" sz="1000" spc="1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氧化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原指示剂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氧化还原指示剂是一些本身具有氧化还原性质的有机化合</a:t>
            </a:r>
            <a:r>
              <a:rPr dirty="0" spc="-80"/>
              <a:t>物</a:t>
            </a:r>
            <a:r>
              <a:rPr dirty="0" spc="-5"/>
              <a:t>， </a:t>
            </a:r>
            <a:r>
              <a:rPr dirty="0" spc="-5"/>
              <a:t>其氧化态和还原态具有不同的颜</a:t>
            </a:r>
            <a:r>
              <a:rPr dirty="0" spc="-80"/>
              <a:t>色</a:t>
            </a:r>
            <a:r>
              <a:rPr dirty="0" spc="-185"/>
              <a:t>，</a:t>
            </a:r>
            <a:r>
              <a:rPr dirty="0" spc="-5"/>
              <a:t>据此可以判定氧化还原反应 的终</a:t>
            </a:r>
            <a:r>
              <a:rPr dirty="0" spc="-20"/>
              <a:t>点</a:t>
            </a:r>
            <a:r>
              <a:rPr dirty="0" spc="-5"/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56" y="1545298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邻二氮菲－亚铁是邻二氮菲与二价铁的络合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呈深</a:t>
            </a:r>
            <a:r>
              <a:rPr dirty="0" sz="1200" spc="-5">
                <a:latin typeface="Arial Unicode MS"/>
                <a:cs typeface="Arial Unicode MS"/>
              </a:rPr>
              <a:t>红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当遇到氧化剂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发生如下反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3299" y="2186660"/>
            <a:ext cx="786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F90000"/>
                </a:solidFill>
                <a:latin typeface="Georgia"/>
                <a:cs typeface="Georgia"/>
              </a:rPr>
              <a:t>Fe(C </a:t>
            </a:r>
            <a:r>
              <a:rPr dirty="0" sz="1100" spc="-80">
                <a:solidFill>
                  <a:srgbClr val="F90000"/>
                </a:solidFill>
                <a:latin typeface="Georgia"/>
                <a:cs typeface="Georgia"/>
              </a:rPr>
              <a:t>H </a:t>
            </a:r>
            <a:r>
              <a:rPr dirty="0" sz="1100" spc="-30">
                <a:solidFill>
                  <a:srgbClr val="F90000"/>
                </a:solidFill>
                <a:latin typeface="Georgia"/>
                <a:cs typeface="Georgia"/>
              </a:rPr>
              <a:t>N</a:t>
            </a:r>
            <a:r>
              <a:rPr dirty="0" sz="1100" spc="80">
                <a:solidFill>
                  <a:srgbClr val="F90000"/>
                </a:solidFill>
                <a:latin typeface="Georgia"/>
                <a:cs typeface="Georgia"/>
              </a:rPr>
              <a:t> </a:t>
            </a:r>
            <a:r>
              <a:rPr dirty="0" sz="1100" spc="10">
                <a:solidFill>
                  <a:srgbClr val="F90000"/>
                </a:solid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3953" y="2192070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solidFill>
                  <a:srgbClr val="F90000"/>
                </a:solidFill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311" y="2270061"/>
            <a:ext cx="589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90000"/>
                </a:solidFill>
                <a:latin typeface="Times New Roman"/>
                <a:cs typeface="Times New Roman"/>
              </a:rPr>
              <a:t>12 8 2</a:t>
            </a:r>
            <a:r>
              <a:rPr dirty="0" sz="600" spc="240">
                <a:solidFill>
                  <a:srgbClr val="F90000"/>
                </a:solidFill>
                <a:latin typeface="Times New Roman"/>
                <a:cs typeface="Times New Roman"/>
              </a:rPr>
              <a:t> </a:t>
            </a:r>
            <a:r>
              <a:rPr dirty="0" baseline="-9259" sz="900" spc="97">
                <a:solidFill>
                  <a:srgbClr val="F90000"/>
                </a:solidFill>
                <a:latin typeface="Times New Roman"/>
                <a:cs typeface="Times New Roman"/>
              </a:rPr>
              <a:t>3</a:t>
            </a:r>
            <a:endParaRPr baseline="-9259"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720" y="2145639"/>
            <a:ext cx="546100" cy="232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20"/>
              </a:spcBef>
            </a:pPr>
            <a:r>
              <a:rPr dirty="0" sz="500" spc="20">
                <a:latin typeface="Arial Unicode MS"/>
                <a:cs typeface="Arial Unicode MS"/>
              </a:rPr>
              <a:t>氧化剂</a:t>
            </a:r>
            <a:endParaRPr sz="5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217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</a:t>
            </a:r>
            <a:r>
              <a:rPr dirty="0" sz="450" spc="204">
                <a:latin typeface="Times New Roman"/>
                <a:cs typeface="Times New Roman"/>
              </a:rPr>
              <a:t> </a:t>
            </a:r>
            <a:r>
              <a:rPr dirty="0" baseline="24691" sz="675" spc="-630">
                <a:latin typeface="Times New Roman"/>
                <a:cs typeface="Times New Roman"/>
              </a:rPr>
              <a:t> </a:t>
            </a:r>
            <a:r>
              <a:rPr dirty="0" sz="450" spc="145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4940" y="2186660"/>
            <a:ext cx="786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000099"/>
                </a:solidFill>
                <a:latin typeface="Georgia"/>
                <a:cs typeface="Georgia"/>
              </a:rPr>
              <a:t>Fe(C </a:t>
            </a:r>
            <a:r>
              <a:rPr dirty="0" sz="1100" spc="-80">
                <a:solidFill>
                  <a:srgbClr val="000099"/>
                </a:solidFill>
                <a:latin typeface="Georgia"/>
                <a:cs typeface="Georgia"/>
              </a:rPr>
              <a:t>H </a:t>
            </a:r>
            <a:r>
              <a:rPr dirty="0" sz="1100" spc="-30">
                <a:solidFill>
                  <a:srgbClr val="000099"/>
                </a:solidFill>
                <a:latin typeface="Georgia"/>
                <a:cs typeface="Georgia"/>
              </a:rPr>
              <a:t>N</a:t>
            </a:r>
            <a:r>
              <a:rPr dirty="0" sz="1100" spc="80">
                <a:solidFill>
                  <a:srgbClr val="000099"/>
                </a:solidFill>
                <a:latin typeface="Georgia"/>
                <a:cs typeface="Georgia"/>
              </a:rPr>
              <a:t> </a:t>
            </a:r>
            <a:r>
              <a:rPr dirty="0" sz="1100" spc="10">
                <a:solidFill>
                  <a:srgbClr val="000099"/>
                </a:solid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5594" y="2192070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solidFill>
                  <a:srgbClr val="000099"/>
                </a:solidFill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3951" y="2270061"/>
            <a:ext cx="589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000099"/>
                </a:solidFill>
                <a:latin typeface="Times New Roman"/>
                <a:cs typeface="Times New Roman"/>
              </a:rPr>
              <a:t>12 8 2</a:t>
            </a:r>
            <a:r>
              <a:rPr dirty="0" sz="600" spc="24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baseline="-9259" sz="900" spc="97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endParaRPr baseline="-9259"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1086" y="2648813"/>
            <a:ext cx="431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12 8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501" y="2552128"/>
            <a:ext cx="17437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氧化的生成物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Fe(C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47328" y="2577757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47328" y="2662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7216" y="2552128"/>
            <a:ext cx="7835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显浅蓝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77684"/>
            <a:ext cx="43497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如果以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In(O)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In(R)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分别表示指示剂的氧化态和还原</a:t>
            </a:r>
            <a:r>
              <a:rPr dirty="0" sz="1200" spc="-80">
                <a:latin typeface="Arial Unicode MS"/>
                <a:cs typeface="Arial Unicode MS"/>
              </a:rPr>
              <a:t>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其氧化还原半反应和能斯特方程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6130" y="1319047"/>
            <a:ext cx="1396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In(O)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 b="0" i="1">
                <a:latin typeface="Bookman Old Style"/>
                <a:cs typeface="Bookman Old Style"/>
              </a:rPr>
              <a:t>ne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In(R)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0305" y="189802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02385" y="1781416"/>
            <a:ext cx="2188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sz="1100" spc="-15">
                <a:latin typeface="Georgia"/>
                <a:cs typeface="Georgia"/>
              </a:rPr>
              <a:t>(In)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spc="-120" i="1">
                <a:latin typeface="Verdana"/>
                <a:cs typeface="Verdana"/>
              </a:rPr>
              <a:t> </a:t>
            </a:r>
            <a:r>
              <a:rPr dirty="0" sz="1100" spc="-15">
                <a:latin typeface="Georgia"/>
                <a:cs typeface="Georgia"/>
              </a:rPr>
              <a:t>(In)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baseline="37878" sz="1650" spc="-195">
                <a:latin typeface="Georgia"/>
                <a:cs typeface="Georgia"/>
              </a:rPr>
              <a:t>0</a:t>
            </a:r>
            <a:r>
              <a:rPr dirty="0" baseline="37878" sz="1650" spc="-52" b="0" i="1">
                <a:latin typeface="Bookman Old Style"/>
                <a:cs typeface="Bookman Old Style"/>
              </a:rPr>
              <a:t>.</a:t>
            </a:r>
            <a:r>
              <a:rPr dirty="0" baseline="37878" sz="1650" spc="-127">
                <a:latin typeface="Georgia"/>
                <a:cs typeface="Georgia"/>
              </a:rPr>
              <a:t>059</a:t>
            </a:r>
            <a:r>
              <a:rPr dirty="0" baseline="37878" sz="1650" spc="52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baseline="37878" sz="1650" spc="-97" b="0" i="1">
                <a:latin typeface="Bookman Old Style"/>
                <a:cs typeface="Bookman Old Style"/>
              </a:rPr>
              <a:t>c</a:t>
            </a:r>
            <a:r>
              <a:rPr dirty="0" baseline="37878" sz="1650" spc="-22">
                <a:latin typeface="Georgia"/>
                <a:cs typeface="Georgia"/>
              </a:rPr>
              <a:t>(In</a:t>
            </a:r>
            <a:r>
              <a:rPr dirty="0" baseline="37878" sz="1650" spc="-30">
                <a:latin typeface="Georgia"/>
                <a:cs typeface="Georgia"/>
              </a:rPr>
              <a:t>(</a:t>
            </a:r>
            <a:r>
              <a:rPr dirty="0" baseline="37878" sz="1650" spc="22">
                <a:latin typeface="Georgia"/>
                <a:cs typeface="Georgia"/>
              </a:rPr>
              <a:t>O))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2107" y="1898027"/>
            <a:ext cx="510540" cy="0"/>
          </a:xfrm>
          <a:custGeom>
            <a:avLst/>
            <a:gdLst/>
            <a:ahLst/>
            <a:cxnLst/>
            <a:rect l="l" t="t" r="r" b="b"/>
            <a:pathLst>
              <a:path w="510539" h="0">
                <a:moveTo>
                  <a:pt x="0" y="0"/>
                </a:moveTo>
                <a:lnTo>
                  <a:pt x="5102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44" y="1815062"/>
            <a:ext cx="3287395" cy="50292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575"/>
              </a:spcBef>
              <a:tabLst>
                <a:tab pos="387985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(In</a:t>
            </a:r>
            <a:r>
              <a:rPr dirty="0" sz="1100" spc="-20">
                <a:latin typeface="Georgia"/>
                <a:cs typeface="Georgia"/>
              </a:rPr>
              <a:t>(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1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2222" sz="750" spc="7" i="1">
                <a:latin typeface="Verdana"/>
                <a:cs typeface="Verdana"/>
              </a:rPr>
              <a:t>I</a:t>
            </a:r>
            <a:r>
              <a:rPr dirty="0" baseline="72222" sz="750" spc="-120" i="1">
                <a:latin typeface="Verdana"/>
                <a:cs typeface="Verdana"/>
              </a:rPr>
              <a:t> </a:t>
            </a:r>
            <a:r>
              <a:rPr dirty="0" sz="1100" spc="-15">
                <a:latin typeface="Georgia"/>
                <a:cs typeface="Georgia"/>
              </a:rPr>
              <a:t>(In)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是指示剂的条件电极电</a:t>
            </a:r>
            <a:r>
              <a:rPr dirty="0" sz="1200" spc="-20">
                <a:latin typeface="Arial Unicode MS"/>
                <a:cs typeface="Arial Unicode MS"/>
              </a:rPr>
              <a:t>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理论变色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范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围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07757" y="1579435"/>
            <a:ext cx="510540" cy="0"/>
          </a:xfrm>
          <a:custGeom>
            <a:avLst/>
            <a:gdLst/>
            <a:ahLst/>
            <a:cxnLst/>
            <a:rect l="l" t="t" r="r" b="b"/>
            <a:pathLst>
              <a:path w="510539" h="0">
                <a:moveTo>
                  <a:pt x="0" y="0"/>
                </a:moveTo>
                <a:lnTo>
                  <a:pt x="5102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46376" y="157943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 h="0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65133" y="157943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 h="0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044" y="822096"/>
            <a:ext cx="4433570" cy="14535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随着滴定过程的进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溶液的电位值会发生改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这就导致</a:t>
            </a:r>
            <a:r>
              <a:rPr dirty="0" sz="1200" spc="-5">
                <a:latin typeface="Arial Unicode MS"/>
                <a:cs typeface="Arial Unicode MS"/>
              </a:rPr>
              <a:t>指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示剂两种形态浓度比会发生改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67030">
              <a:lnSpc>
                <a:spcPts val="1145"/>
              </a:lnSpc>
            </a:pPr>
            <a:r>
              <a:rPr dirty="0" sz="1200" spc="-5">
                <a:latin typeface="Arial Unicode MS"/>
                <a:cs typeface="Arial Unicode MS"/>
              </a:rPr>
              <a:t>理论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37878" sz="1650" spc="-15" b="0" i="1">
                <a:latin typeface="Bookman Old Style"/>
                <a:cs typeface="Bookman Old Style"/>
              </a:rPr>
              <a:t>c</a:t>
            </a:r>
            <a:r>
              <a:rPr dirty="0" baseline="37878" sz="1650" spc="-15">
                <a:latin typeface="Georgia"/>
                <a:cs typeface="Georgia"/>
              </a:rPr>
              <a:t>(In(O))</a:t>
            </a:r>
            <a:r>
              <a:rPr dirty="0" baseline="37878" sz="1650" spc="4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从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37878" sz="1650" spc="-44">
                <a:latin typeface="Georgia"/>
                <a:cs typeface="Georgia"/>
              </a:rPr>
              <a:t>10</a:t>
            </a:r>
            <a:r>
              <a:rPr dirty="0" baseline="37878" sz="1650" spc="4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变到</a:t>
            </a:r>
            <a:r>
              <a:rPr dirty="0" sz="1200" spc="225">
                <a:latin typeface="Arial Unicode MS"/>
                <a:cs typeface="Arial Unicode MS"/>
              </a:rPr>
              <a:t> </a:t>
            </a:r>
            <a:r>
              <a:rPr dirty="0" baseline="37878" sz="1650" spc="104">
                <a:latin typeface="Georgia"/>
                <a:cs typeface="Georgia"/>
              </a:rPr>
              <a:t>1</a:t>
            </a:r>
            <a:r>
              <a:rPr dirty="0" baseline="37878" sz="1650" spc="434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指示剂从氧化态的颜色</a:t>
            </a:r>
            <a:endParaRPr sz="1200">
              <a:latin typeface="Arial Unicode MS"/>
              <a:cs typeface="Arial Unicode MS"/>
            </a:endParaRPr>
          </a:p>
          <a:p>
            <a:pPr marL="1135380">
              <a:lnSpc>
                <a:spcPts val="950"/>
              </a:lnSpc>
              <a:tabLst>
                <a:tab pos="1905635" algn="l"/>
                <a:tab pos="2389505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(In(R))	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ts val="1365"/>
              </a:lnSpc>
            </a:pPr>
            <a:r>
              <a:rPr dirty="0" sz="1200" spc="-5">
                <a:latin typeface="Arial Unicode MS"/>
                <a:cs typeface="Arial Unicode MS"/>
              </a:rPr>
              <a:t>变到还原态的颜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670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指示剂的理论变色范围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2221" y="2430208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1960" y="2443988"/>
            <a:ext cx="549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-15">
                <a:latin typeface="Georgia"/>
                <a:cs typeface="Georgia"/>
              </a:rPr>
              <a:t>(In)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±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2037" y="2327755"/>
            <a:ext cx="3409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059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8973" y="2443988"/>
            <a:ext cx="237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>
                <a:latin typeface="Georgia"/>
                <a:cs typeface="Georgia"/>
              </a:rPr>
              <a:t>(V)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3441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6.3.2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自身</a:t>
            </a:r>
            <a:r>
              <a:rPr dirty="0" sz="1050" spc="-10">
                <a:solidFill>
                  <a:srgbClr val="FFFFFF"/>
                </a:solidFill>
              </a:rPr>
              <a:t>指</a:t>
            </a:r>
            <a:r>
              <a:rPr dirty="0" sz="1050" spc="-5">
                <a:solidFill>
                  <a:srgbClr val="FFFFFF"/>
                </a:solidFill>
              </a:rPr>
              <a:t>示剂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96518"/>
            <a:ext cx="4434840" cy="159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5778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有些作为滴定剂的物质或被滴定物质本身具有颜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而它们 </a:t>
            </a:r>
            <a:r>
              <a:rPr dirty="0" sz="1200" spc="-10">
                <a:latin typeface="Arial Unicode MS"/>
                <a:cs typeface="Arial Unicode MS"/>
              </a:rPr>
              <a:t>的滴定产物为无色或颜色很</a:t>
            </a:r>
            <a:r>
              <a:rPr dirty="0" sz="1200" spc="-80">
                <a:latin typeface="Arial Unicode MS"/>
                <a:cs typeface="Arial Unicode MS"/>
              </a:rPr>
              <a:t>浅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此时可以不加指示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只需利用</a:t>
            </a:r>
            <a:r>
              <a:rPr dirty="0" sz="1200" spc="-5">
                <a:latin typeface="Arial Unicode MS"/>
                <a:cs typeface="Arial Unicode MS"/>
              </a:rPr>
              <a:t>它 </a:t>
            </a:r>
            <a:r>
              <a:rPr dirty="0" sz="1200" spc="-5">
                <a:latin typeface="Arial Unicode MS"/>
                <a:cs typeface="Arial Unicode MS"/>
              </a:rPr>
              <a:t>们自身颜色的改变来判定滴定反应的终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在高锰酸钾法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作为滴定剂的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MnO</a:t>
            </a:r>
            <a:r>
              <a:rPr dirty="0" baseline="37037" sz="900" spc="-104" i="1">
                <a:latin typeface="Arial"/>
                <a:cs typeface="Arial"/>
              </a:rPr>
              <a:t>−</a:t>
            </a:r>
            <a:r>
              <a:rPr dirty="0" baseline="-23148" sz="900" spc="-104">
                <a:latin typeface="Times New Roman"/>
                <a:cs typeface="Times New Roman"/>
              </a:rPr>
              <a:t>4</a:t>
            </a:r>
            <a:r>
              <a:rPr dirty="0" baseline="-23148" sz="900" spc="-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本身是紫红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，  而其还原产物为几乎无色的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在滴定反应达到化学计 量点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稍微过量的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MnO</a:t>
            </a:r>
            <a:r>
              <a:rPr dirty="0" baseline="37037" sz="900" spc="-104" i="1">
                <a:latin typeface="Arial"/>
                <a:cs typeface="Arial"/>
              </a:rPr>
              <a:t>−</a:t>
            </a:r>
            <a:r>
              <a:rPr dirty="0" baseline="-23148" sz="900" spc="-104">
                <a:latin typeface="Times New Roman"/>
                <a:cs typeface="Times New Roman"/>
              </a:rPr>
              <a:t>4</a:t>
            </a:r>
            <a:r>
              <a:rPr dirty="0" baseline="-23148" sz="900" spc="-3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就会使溶液呈现粉红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从而指示终 点的到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3441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6.3.3</a:t>
            </a:r>
            <a:r>
              <a:rPr dirty="0" sz="1000" spc="1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特殊</a:t>
            </a:r>
            <a:r>
              <a:rPr dirty="0" sz="1050" spc="-10">
                <a:solidFill>
                  <a:srgbClr val="FFFFFF"/>
                </a:solidFill>
              </a:rPr>
              <a:t>指</a:t>
            </a:r>
            <a:r>
              <a:rPr dirty="0" sz="1050" spc="-5">
                <a:solidFill>
                  <a:srgbClr val="FFFFFF"/>
                </a:solidFill>
              </a:rPr>
              <a:t>示剂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815492"/>
            <a:ext cx="4407535" cy="203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有些物质本身并不具备氧化还原特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但它能与滴定剂或被 </a:t>
            </a:r>
            <a:r>
              <a:rPr dirty="0" sz="1200" spc="-10">
                <a:latin typeface="Arial Unicode MS"/>
                <a:cs typeface="Arial Unicode MS"/>
              </a:rPr>
              <a:t>滴定物质反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生成具有特殊颜色的物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因而也可以作为氧化</a:t>
            </a:r>
            <a:r>
              <a:rPr dirty="0" sz="1200" spc="-5">
                <a:latin typeface="Arial Unicode MS"/>
                <a:cs typeface="Arial Unicode MS"/>
              </a:rPr>
              <a:t>还 </a:t>
            </a:r>
            <a:r>
              <a:rPr dirty="0" sz="1200" spc="-5">
                <a:latin typeface="Arial Unicode MS"/>
                <a:cs typeface="Arial Unicode MS"/>
              </a:rPr>
              <a:t>原反应的指示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5397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可溶性淀粉与碘分子反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生成深蓝色的络合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而当 </a:t>
            </a:r>
            <a:r>
              <a:rPr dirty="0" sz="1200" spc="-5">
                <a:latin typeface="Arial Unicode MS"/>
                <a:cs typeface="Arial Unicode MS"/>
              </a:rPr>
              <a:t>碘分子被还原为碘离子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深蓝色消</a:t>
            </a:r>
            <a:r>
              <a:rPr dirty="0" sz="1200" spc="-20">
                <a:latin typeface="Arial Unicode MS"/>
                <a:cs typeface="Arial Unicode MS"/>
              </a:rPr>
              <a:t>失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在碘量法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可溶 性淀粉溶液是常用的指示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要说明的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淀粉溶液应当采用新鲜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陈旧的淀粉溶液与</a:t>
            </a:r>
            <a:r>
              <a:rPr dirty="0" sz="1200" spc="-5">
                <a:latin typeface="Arial Unicode MS"/>
                <a:cs typeface="Arial Unicode MS"/>
              </a:rPr>
              <a:t>碘 </a:t>
            </a:r>
            <a:r>
              <a:rPr dirty="0" sz="1200" spc="-5">
                <a:latin typeface="Arial Unicode MS"/>
                <a:cs typeface="Arial Unicode MS"/>
              </a:rPr>
              <a:t>分子作用不是显蓝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而是显紫色或红紫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并</a:t>
            </a:r>
            <a:r>
              <a:rPr dirty="0" sz="1200" spc="-80">
                <a:latin typeface="Arial Unicode MS"/>
                <a:cs typeface="Arial Unicode MS"/>
              </a:rPr>
              <a:t>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这种有色物质 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作用下变色很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不具有显示滴定终点的作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18237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6.4</a:t>
            </a:r>
            <a:r>
              <a:rPr dirty="0" sz="14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终点误差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46149"/>
            <a:ext cx="425196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</a:t>
            </a:r>
            <a:r>
              <a:rPr dirty="0" sz="1200" spc="-26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  <a:hlinkClick r:id="rId2" action="ppaction://hlinksldjump"/>
              </a:rPr>
              <a:t>4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式所示的氧化还原滴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终点误差可以采用体积比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来计</a:t>
            </a:r>
            <a:r>
              <a:rPr dirty="0" sz="1200" spc="-80">
                <a:latin typeface="Arial Unicode MS"/>
                <a:cs typeface="Arial Unicode MS"/>
              </a:rPr>
              <a:t>算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9781" y="1674228"/>
            <a:ext cx="94106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终点误差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%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8651" y="1593786"/>
            <a:ext cx="437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99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8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4879" y="1657990"/>
            <a:ext cx="511175" cy="3371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  <a:tabLst>
                <a:tab pos="377825" algn="l"/>
              </a:tabLst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sz="600" spc="80">
                <a:latin typeface="Times New Roman"/>
                <a:cs typeface="Times New Roman"/>
              </a:rPr>
              <a:t>	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270"/>
              </a:spcBef>
            </a:pPr>
            <a:r>
              <a:rPr dirty="0" baseline="7575" sz="1650" spc="60" b="0" i="1">
                <a:latin typeface="Bookman Old Style"/>
                <a:cs typeface="Bookman Old Style"/>
              </a:rPr>
              <a:t>ρ</a:t>
            </a:r>
            <a:r>
              <a:rPr dirty="0" sz="600" spc="4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1000" y="1687512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36" y="2028101"/>
            <a:ext cx="450786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baseline="-13888" sz="900" spc="-22">
                <a:latin typeface="Times New Roman"/>
                <a:cs typeface="Times New Roman"/>
              </a:rPr>
              <a:t>ep</a:t>
            </a:r>
            <a:r>
              <a:rPr dirty="0" baseline="-13888" sz="900" spc="1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是滴定终点时的体积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可根据终点时的电极电位从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30">
                <a:latin typeface="Arial Unicode MS"/>
                <a:cs typeface="Arial Unicode MS"/>
              </a:rPr>
              <a:t>（</a:t>
            </a:r>
            <a:r>
              <a:rPr dirty="0" sz="1100" spc="-30">
                <a:latin typeface="Georgia"/>
                <a:cs typeface="Georgia"/>
                <a:hlinkClick r:id="rId3" action="ppaction://hlinksldjump"/>
              </a:rPr>
              <a:t>11</a:t>
            </a:r>
            <a:r>
              <a:rPr dirty="0" sz="1200" spc="-3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式计</a:t>
            </a:r>
            <a:r>
              <a:rPr dirty="0" sz="1200" spc="-65">
                <a:latin typeface="Arial Unicode MS"/>
                <a:cs typeface="Arial Unicode MS"/>
              </a:rPr>
              <a:t>算</a:t>
            </a:r>
            <a:r>
              <a:rPr dirty="0" sz="1200" spc="-20">
                <a:latin typeface="Arial Unicode MS"/>
                <a:cs typeface="Arial Unicode MS"/>
              </a:rPr>
              <a:t>；</a:t>
            </a:r>
            <a:r>
              <a:rPr dirty="0" sz="1100" spc="-20" b="0" i="1">
                <a:latin typeface="Bookman Old Style"/>
                <a:cs typeface="Bookman Old Style"/>
              </a:rPr>
              <a:t>ρ</a:t>
            </a:r>
            <a:r>
              <a:rPr dirty="0" baseline="-13888" sz="900" spc="-30">
                <a:latin typeface="Times New Roman"/>
                <a:cs typeface="Times New Roman"/>
              </a:rPr>
              <a:t>sp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是化学计量点时的体积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可通</a:t>
            </a:r>
            <a:r>
              <a:rPr dirty="0" sz="1200" spc="-260">
                <a:latin typeface="Arial Unicode MS"/>
                <a:cs typeface="Arial Unicode MS"/>
              </a:rPr>
              <a:t>过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4" action="ppaction://hlinksldjump"/>
              </a:rPr>
              <a:t>12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式计</a:t>
            </a:r>
            <a:r>
              <a:rPr dirty="0" sz="1200" spc="-2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6466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03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8059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678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700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301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794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20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3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6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5214"/>
            <a:ext cx="4282440" cy="6870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6.3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75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介质中用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</a:t>
            </a:r>
            <a:r>
              <a:rPr dirty="0" baseline="37037" sz="900" spc="3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  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，若选用二苯胺磺酸钠做指示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6466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03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8059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678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700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301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794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20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3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6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5214"/>
            <a:ext cx="4307840" cy="116014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6.3</a:t>
            </a:r>
            <a:endParaRPr sz="1200">
              <a:latin typeface="Calibri"/>
              <a:cs typeface="Calibri"/>
            </a:endParaRPr>
          </a:p>
          <a:p>
            <a:pPr marL="63500" marR="55880">
              <a:lnSpc>
                <a:spcPts val="1760"/>
              </a:lnSpc>
              <a:spcBef>
                <a:spcPts val="75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介质中用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</a:t>
            </a:r>
            <a:r>
              <a:rPr dirty="0" baseline="37037" sz="900" spc="3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  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，若选用二苯胺磺酸钠做指示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化学计量点的体积比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1300" y="1283068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ρ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630" y="1399667"/>
            <a:ext cx="589280" cy="0"/>
          </a:xfrm>
          <a:custGeom>
            <a:avLst/>
            <a:gdLst/>
            <a:ahLst/>
            <a:cxnLst/>
            <a:rect l="l" t="t" r="r" b="b"/>
            <a:pathLst>
              <a:path w="589280" h="0">
                <a:moveTo>
                  <a:pt x="0" y="0"/>
                </a:moveTo>
                <a:lnTo>
                  <a:pt x="5889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45538" y="128306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8109" y="1189329"/>
            <a:ext cx="1493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3121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n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100" spc="30">
                <a:latin typeface="Georgia"/>
                <a:cs typeface="Georgia"/>
              </a:rPr>
              <a:t>)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2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7530" y="1378102"/>
            <a:ext cx="1503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42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(Ce</a:t>
            </a:r>
            <a:r>
              <a:rPr dirty="0" baseline="27777" sz="900" spc="67">
                <a:latin typeface="Times New Roman"/>
                <a:cs typeface="Times New Roman"/>
              </a:rPr>
              <a:t>4+</a:t>
            </a:r>
            <a:r>
              <a:rPr dirty="0" sz="1100" spc="45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84080" y="1283068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6466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03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8059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678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700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301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794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20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3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6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5214"/>
            <a:ext cx="4307840" cy="116014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6.3</a:t>
            </a:r>
            <a:endParaRPr sz="1200">
              <a:latin typeface="Calibri"/>
              <a:cs typeface="Calibri"/>
            </a:endParaRPr>
          </a:p>
          <a:p>
            <a:pPr marL="63500" marR="55880">
              <a:lnSpc>
                <a:spcPts val="1760"/>
              </a:lnSpc>
              <a:spcBef>
                <a:spcPts val="75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介质中用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</a:t>
            </a:r>
            <a:r>
              <a:rPr dirty="0" baseline="37037" sz="900" spc="3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  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，若选用二苯胺磺酸钠做指示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化学计量点的体积比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1300" y="1283068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ρ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15630" y="1399667"/>
            <a:ext cx="589280" cy="0"/>
          </a:xfrm>
          <a:custGeom>
            <a:avLst/>
            <a:gdLst/>
            <a:ahLst/>
            <a:cxnLst/>
            <a:rect l="l" t="t" r="r" b="b"/>
            <a:pathLst>
              <a:path w="589280" h="0">
                <a:moveTo>
                  <a:pt x="0" y="0"/>
                </a:moveTo>
                <a:lnTo>
                  <a:pt x="5889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45538" y="128306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8109" y="1189329"/>
            <a:ext cx="1493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3121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n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100" spc="30">
                <a:latin typeface="Georgia"/>
                <a:cs typeface="Georgia"/>
              </a:rPr>
              <a:t>)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2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7530" y="1378102"/>
            <a:ext cx="1503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42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(Ce</a:t>
            </a:r>
            <a:r>
              <a:rPr dirty="0" baseline="27777" sz="900" spc="67">
                <a:latin typeface="Times New Roman"/>
                <a:cs typeface="Times New Roman"/>
              </a:rPr>
              <a:t>4+</a:t>
            </a:r>
            <a:r>
              <a:rPr dirty="0" sz="1100" spc="45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84080" y="1283068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501" y="1588033"/>
            <a:ext cx="1381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终点时的体积比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966" y="203457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ep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9338" y="1951177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96073" y="1968131"/>
            <a:ext cx="254190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8570" algn="l"/>
              </a:tabLst>
            </a:pPr>
            <a:r>
              <a:rPr dirty="0" u="sng" sz="5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5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  </a:t>
            </a:r>
            <a:r>
              <a:rPr dirty="0" u="sng" sz="5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	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7941" y="1869795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6389" y="1899158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87956" y="1854860"/>
            <a:ext cx="427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995" algn="l"/>
              </a:tabLst>
            </a:pP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62187" y="1810143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6832" y="1835670"/>
            <a:ext cx="40449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2575" algn="l"/>
              </a:tabLst>
            </a:pPr>
            <a:r>
              <a:rPr dirty="0" sz="500" spc="145">
                <a:latin typeface="Book Antiqua"/>
                <a:cs typeface="Book Antiqua"/>
              </a:rPr>
              <a:t>4+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3+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02091" y="1807895"/>
            <a:ext cx="10458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78535" algn="l"/>
              </a:tabLst>
            </a:pP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17877" y="1867522"/>
            <a:ext cx="131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35" i="1">
                <a:latin typeface="Arial"/>
                <a:cs typeface="Arial"/>
              </a:rPr>
              <a:t>E</a:t>
            </a:r>
            <a:r>
              <a:rPr dirty="0" sz="500" spc="90">
                <a:latin typeface="Book Antiqua"/>
                <a:cs typeface="Book Antiqua"/>
              </a:rPr>
              <a:t>ep </a:t>
            </a:r>
            <a:r>
              <a:rPr dirty="0" baseline="9259" sz="900" spc="202" i="1">
                <a:latin typeface="Arial"/>
                <a:cs typeface="Arial"/>
              </a:rPr>
              <a:t>E </a:t>
            </a:r>
            <a:r>
              <a:rPr dirty="0" baseline="9259" sz="900" spc="127">
                <a:latin typeface="Times New Roman"/>
                <a:cs typeface="Times New Roman"/>
              </a:rPr>
              <a:t>(Ce </a:t>
            </a:r>
            <a:r>
              <a:rPr dirty="0" baseline="9259" sz="900" spc="195" i="1">
                <a:latin typeface="Arial"/>
                <a:cs typeface="Arial"/>
              </a:rPr>
              <a:t>/</a:t>
            </a:r>
            <a:r>
              <a:rPr dirty="0" baseline="9259" sz="900" spc="195">
                <a:latin typeface="Times New Roman"/>
                <a:cs typeface="Times New Roman"/>
              </a:rPr>
              <a:t>Ce</a:t>
            </a:r>
            <a:r>
              <a:rPr dirty="0" baseline="9259" sz="900" spc="615">
                <a:latin typeface="Times New Roman"/>
                <a:cs typeface="Times New Roman"/>
              </a:rPr>
              <a:t> </a:t>
            </a:r>
            <a:r>
              <a:rPr dirty="0" baseline="9259" sz="900" spc="127">
                <a:latin typeface="Times New Roman"/>
                <a:cs typeface="Times New Roman"/>
              </a:rPr>
              <a:t>)</a:t>
            </a:r>
            <a:r>
              <a:rPr dirty="0" baseline="9259" sz="900" spc="382">
                <a:latin typeface="Times New Roman"/>
                <a:cs typeface="Times New Roman"/>
              </a:rPr>
              <a:t> </a:t>
            </a:r>
            <a:r>
              <a:rPr dirty="0" baseline="9259" sz="900" spc="127" i="1">
                <a:latin typeface="Arial"/>
                <a:cs typeface="Arial"/>
              </a:rPr>
              <a:t>/</a:t>
            </a:r>
            <a:r>
              <a:rPr dirty="0" baseline="9259" sz="900" spc="127">
                <a:latin typeface="Times New Roman"/>
                <a:cs typeface="Times New Roman"/>
              </a:rPr>
              <a:t>0</a:t>
            </a:r>
            <a:r>
              <a:rPr dirty="0" baseline="9259" sz="900" spc="127" i="1">
                <a:latin typeface="Arial"/>
                <a:cs typeface="Arial"/>
              </a:rPr>
              <a:t>.</a:t>
            </a:r>
            <a:r>
              <a:rPr dirty="0" baseline="9259" sz="900" spc="127">
                <a:latin typeface="Times New Roman"/>
                <a:cs typeface="Times New Roman"/>
              </a:rPr>
              <a:t>059</a:t>
            </a:r>
            <a:endParaRPr baseline="9259"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4775" y="1857451"/>
            <a:ext cx="2484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0980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   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79232" y="217279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07426" y="2111997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4+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96073" y="2089391"/>
            <a:ext cx="807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(Ce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2952" y="2039848"/>
            <a:ext cx="297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</a:t>
            </a:r>
            <a:r>
              <a:rPr dirty="0" baseline="9259" sz="900" spc="195" i="1">
                <a:latin typeface="Arial"/>
                <a:cs typeface="Arial"/>
              </a:rPr>
              <a:t>E</a:t>
            </a:r>
            <a:r>
              <a:rPr dirty="0" sz="500" spc="65">
                <a:latin typeface="Book Antiqua"/>
                <a:cs typeface="Book Antiqua"/>
              </a:rPr>
              <a:t>ep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52040" y="2086813"/>
            <a:ext cx="558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33070" algn="l"/>
              </a:tabLst>
            </a:pPr>
            <a:r>
              <a:rPr dirty="0" sz="600" spc="140" i="1">
                <a:latin typeface="Arial"/>
                <a:cs typeface="Arial"/>
              </a:rPr>
              <a:t>−n</a:t>
            </a:r>
            <a:r>
              <a:rPr dirty="0" baseline="-11111" sz="750" spc="209">
                <a:latin typeface="Book Antiqua"/>
                <a:cs typeface="Book Antiqua"/>
              </a:rPr>
              <a:t>2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18435" y="205905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89313" y="2077682"/>
            <a:ext cx="3905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dirty="0" sz="500" spc="145">
                <a:latin typeface="Book Antiqua"/>
                <a:cs typeface="Book Antiqua"/>
              </a:rPr>
              <a:t>3+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2+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96933" y="2039848"/>
            <a:ext cx="79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46070" y="2086813"/>
            <a:ext cx="993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5" i="1">
                <a:latin typeface="Arial"/>
                <a:cs typeface="Arial"/>
              </a:rPr>
              <a:t>E </a:t>
            </a:r>
            <a:r>
              <a:rPr dirty="0" sz="600" spc="70">
                <a:latin typeface="Times New Roman"/>
                <a:cs typeface="Times New Roman"/>
              </a:rPr>
              <a:t>(Fe </a:t>
            </a:r>
            <a:r>
              <a:rPr dirty="0" sz="600" spc="114" i="1">
                <a:latin typeface="Arial"/>
                <a:cs typeface="Arial"/>
              </a:rPr>
              <a:t>/</a:t>
            </a:r>
            <a:r>
              <a:rPr dirty="0" sz="600" spc="114">
                <a:latin typeface="Times New Roman"/>
                <a:cs typeface="Times New Roman"/>
              </a:rPr>
              <a:t>Fe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sz="600" spc="110">
                <a:latin typeface="Times New Roman"/>
                <a:cs typeface="Times New Roman"/>
              </a:rPr>
              <a:t> 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0</a:t>
            </a:r>
            <a:r>
              <a:rPr dirty="0" sz="600" spc="85" i="1">
                <a:latin typeface="Arial"/>
                <a:cs typeface="Arial"/>
              </a:rPr>
              <a:t>.</a:t>
            </a:r>
            <a:r>
              <a:rPr dirty="0" sz="600" spc="8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50818" y="2089391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6607" y="237557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17839" y="2294204"/>
            <a:ext cx="8902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220" i="1">
                <a:latin typeface="Arial"/>
                <a:cs typeface="Arial"/>
              </a:rPr>
              <a:t>×</a:t>
            </a:r>
            <a:r>
              <a:rPr dirty="0" sz="600" spc="75">
                <a:latin typeface="Times New Roman"/>
                <a:cs typeface="Times New Roman"/>
              </a:rPr>
              <a:t>(0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84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70">
                <a:latin typeface="Times New Roman"/>
                <a:cs typeface="Times New Roman"/>
              </a:rPr>
              <a:t>44)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32623" y="2281847"/>
            <a:ext cx="2174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99285" algn="l"/>
              </a:tabLst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1000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(10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08773" y="2492184"/>
            <a:ext cx="2221865" cy="0"/>
          </a:xfrm>
          <a:custGeom>
            <a:avLst/>
            <a:gdLst/>
            <a:ahLst/>
            <a:cxnLst/>
            <a:rect l="l" t="t" r="r" b="b"/>
            <a:pathLst>
              <a:path w="2221865" h="0">
                <a:moveTo>
                  <a:pt x="0" y="0"/>
                </a:moveTo>
                <a:lnTo>
                  <a:pt x="22216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170673" y="2430589"/>
            <a:ext cx="2298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104">
                <a:latin typeface="Georgia"/>
                <a:cs typeface="Georgia"/>
              </a:rPr>
              <a:t>1 </a:t>
            </a:r>
            <a:r>
              <a:rPr dirty="0" baseline="-15151" sz="1650" spc="-44">
                <a:latin typeface="Lucida Sans Unicode"/>
                <a:cs typeface="Lucida Sans Unicode"/>
              </a:rPr>
              <a:t>× </a:t>
            </a:r>
            <a:r>
              <a:rPr dirty="0" baseline="-15151" sz="1650" spc="-127">
                <a:latin typeface="Georgia"/>
                <a:cs typeface="Georgia"/>
              </a:rPr>
              <a:t>0</a:t>
            </a:r>
            <a:r>
              <a:rPr dirty="0" baseline="-15151" sz="1650" spc="-127" b="0" i="1">
                <a:latin typeface="Bookman Old Style"/>
                <a:cs typeface="Bookman Old Style"/>
              </a:rPr>
              <a:t>.</a:t>
            </a:r>
            <a:r>
              <a:rPr dirty="0" baseline="-15151" sz="1650" spc="-127">
                <a:latin typeface="Georgia"/>
                <a:cs typeface="Georgia"/>
              </a:rPr>
              <a:t>1000 </a:t>
            </a:r>
            <a:r>
              <a:rPr dirty="0" baseline="-15151" sz="1650" spc="-44">
                <a:latin typeface="Lucida Sans Unicode"/>
                <a:cs typeface="Lucida Sans Unicode"/>
              </a:rPr>
              <a:t>× </a:t>
            </a:r>
            <a:r>
              <a:rPr dirty="0" baseline="-15151" sz="1650" spc="120">
                <a:latin typeface="Georgia"/>
                <a:cs typeface="Georgia"/>
              </a:rPr>
              <a:t>(10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1</a:t>
            </a:r>
            <a:r>
              <a:rPr dirty="0" sz="600" spc="80" i="1">
                <a:latin typeface="Arial"/>
                <a:cs typeface="Arial"/>
              </a:rPr>
              <a:t>×</a:t>
            </a:r>
            <a:r>
              <a:rPr dirty="0" sz="600" spc="80">
                <a:latin typeface="Times New Roman"/>
                <a:cs typeface="Times New Roman"/>
              </a:rPr>
              <a:t>(0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84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68)</a:t>
            </a:r>
            <a:r>
              <a:rPr dirty="0" sz="600" spc="80" i="1">
                <a:latin typeface="Arial"/>
                <a:cs typeface="Arial"/>
              </a:rPr>
              <a:t>/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059 </a:t>
            </a:r>
            <a:r>
              <a:rPr dirty="0" baseline="-15151" sz="1650" spc="209">
                <a:latin typeface="Georgia"/>
                <a:cs typeface="Georgia"/>
              </a:rPr>
              <a:t>+</a:t>
            </a:r>
            <a:r>
              <a:rPr dirty="0" baseline="-15151" sz="1650" spc="-262">
                <a:latin typeface="Georgia"/>
                <a:cs typeface="Georgia"/>
              </a:rPr>
              <a:t> </a:t>
            </a:r>
            <a:r>
              <a:rPr dirty="0" baseline="-15151" sz="1650" spc="60">
                <a:latin typeface="Georgia"/>
                <a:cs typeface="Georgia"/>
              </a:rPr>
              <a:t>1)</a:t>
            </a:r>
            <a:endParaRPr baseline="-15151" sz="165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71443" y="2375573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998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6466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03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8059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678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700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301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794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20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3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6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0444" y="15214"/>
            <a:ext cx="4257040" cy="462915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dirty="0" spc="190">
                <a:solidFill>
                  <a:srgbClr val="FFFFFF"/>
                </a:solidFill>
              </a:rPr>
              <a:t>例</a:t>
            </a:r>
            <a:r>
              <a:rPr dirty="0" spc="-10">
                <a:solidFill>
                  <a:srgbClr val="FFFFFF"/>
                </a:solidFill>
                <a:latin typeface="Calibri"/>
                <a:cs typeface="Calibri"/>
              </a:rPr>
              <a:t>6.3</a:t>
            </a: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spc="-5"/>
              <a:t>在</a:t>
            </a:r>
            <a:r>
              <a:rPr dirty="0" spc="25"/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/>
              <a:t>介质中用</a:t>
            </a:r>
            <a:r>
              <a:rPr dirty="0" sz="1200" spc="30"/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Ce</a:t>
            </a:r>
            <a:r>
              <a:rPr dirty="0" baseline="37037" sz="900" spc="112">
                <a:latin typeface="Times New Roman"/>
                <a:cs typeface="Times New Roman"/>
              </a:rPr>
              <a:t>4+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/>
              <a:t>滴定</a:t>
            </a:r>
            <a:r>
              <a:rPr dirty="0" sz="1200" spc="30"/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44" y="494207"/>
            <a:ext cx="3641090" cy="681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，若选用二苯胺磺酸钠做指示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化学计量点的体积比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1300" y="1283068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ρ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15630" y="1399667"/>
            <a:ext cx="589280" cy="0"/>
          </a:xfrm>
          <a:custGeom>
            <a:avLst/>
            <a:gdLst/>
            <a:ahLst/>
            <a:cxnLst/>
            <a:rect l="l" t="t" r="r" b="b"/>
            <a:pathLst>
              <a:path w="589280" h="0">
                <a:moveTo>
                  <a:pt x="0" y="0"/>
                </a:moveTo>
                <a:lnTo>
                  <a:pt x="5889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45538" y="128306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8109" y="1189329"/>
            <a:ext cx="1493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3121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n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100" spc="30">
                <a:latin typeface="Georgia"/>
                <a:cs typeface="Georgia"/>
              </a:rPr>
              <a:t>)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2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7530" y="1378102"/>
            <a:ext cx="1503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42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1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(Ce</a:t>
            </a:r>
            <a:r>
              <a:rPr dirty="0" baseline="27777" sz="900" spc="67">
                <a:latin typeface="Times New Roman"/>
                <a:cs typeface="Times New Roman"/>
              </a:rPr>
              <a:t>4+</a:t>
            </a:r>
            <a:r>
              <a:rPr dirty="0" sz="1100" spc="45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84080" y="1283068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9501" y="1588033"/>
            <a:ext cx="1381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终点时的体积比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966" y="203457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ep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338" y="1951177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6073" y="1968131"/>
            <a:ext cx="254190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8570" algn="l"/>
              </a:tabLst>
            </a:pPr>
            <a:r>
              <a:rPr dirty="0" u="sng" sz="5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5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  </a:t>
            </a:r>
            <a:r>
              <a:rPr dirty="0" u="sng" sz="5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	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7941" y="1869795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6389" y="1899158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87956" y="1854860"/>
            <a:ext cx="427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995" algn="l"/>
              </a:tabLst>
            </a:pP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62187" y="1810143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46832" y="1835670"/>
            <a:ext cx="40449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2575" algn="l"/>
              </a:tabLst>
            </a:pPr>
            <a:r>
              <a:rPr dirty="0" sz="500" spc="145">
                <a:latin typeface="Book Antiqua"/>
                <a:cs typeface="Book Antiqua"/>
              </a:rPr>
              <a:t>4+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3+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02091" y="1807895"/>
            <a:ext cx="10458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78535" algn="l"/>
              </a:tabLst>
            </a:pP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17877" y="1867522"/>
            <a:ext cx="131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35" i="1">
                <a:latin typeface="Arial"/>
                <a:cs typeface="Arial"/>
              </a:rPr>
              <a:t>E</a:t>
            </a:r>
            <a:r>
              <a:rPr dirty="0" sz="500" spc="90">
                <a:latin typeface="Book Antiqua"/>
                <a:cs typeface="Book Antiqua"/>
              </a:rPr>
              <a:t>ep </a:t>
            </a:r>
            <a:r>
              <a:rPr dirty="0" baseline="9259" sz="900" spc="202" i="1">
                <a:latin typeface="Arial"/>
                <a:cs typeface="Arial"/>
              </a:rPr>
              <a:t>E </a:t>
            </a:r>
            <a:r>
              <a:rPr dirty="0" baseline="9259" sz="900" spc="127">
                <a:latin typeface="Times New Roman"/>
                <a:cs typeface="Times New Roman"/>
              </a:rPr>
              <a:t>(Ce </a:t>
            </a:r>
            <a:r>
              <a:rPr dirty="0" baseline="9259" sz="900" spc="195" i="1">
                <a:latin typeface="Arial"/>
                <a:cs typeface="Arial"/>
              </a:rPr>
              <a:t>/</a:t>
            </a:r>
            <a:r>
              <a:rPr dirty="0" baseline="9259" sz="900" spc="195">
                <a:latin typeface="Times New Roman"/>
                <a:cs typeface="Times New Roman"/>
              </a:rPr>
              <a:t>Ce</a:t>
            </a:r>
            <a:r>
              <a:rPr dirty="0" baseline="9259" sz="900" spc="615">
                <a:latin typeface="Times New Roman"/>
                <a:cs typeface="Times New Roman"/>
              </a:rPr>
              <a:t> </a:t>
            </a:r>
            <a:r>
              <a:rPr dirty="0" baseline="9259" sz="900" spc="127">
                <a:latin typeface="Times New Roman"/>
                <a:cs typeface="Times New Roman"/>
              </a:rPr>
              <a:t>)</a:t>
            </a:r>
            <a:r>
              <a:rPr dirty="0" baseline="9259" sz="900" spc="382">
                <a:latin typeface="Times New Roman"/>
                <a:cs typeface="Times New Roman"/>
              </a:rPr>
              <a:t> </a:t>
            </a:r>
            <a:r>
              <a:rPr dirty="0" baseline="9259" sz="900" spc="127" i="1">
                <a:latin typeface="Arial"/>
                <a:cs typeface="Arial"/>
              </a:rPr>
              <a:t>/</a:t>
            </a:r>
            <a:r>
              <a:rPr dirty="0" baseline="9259" sz="900" spc="127">
                <a:latin typeface="Times New Roman"/>
                <a:cs typeface="Times New Roman"/>
              </a:rPr>
              <a:t>0</a:t>
            </a:r>
            <a:r>
              <a:rPr dirty="0" baseline="9259" sz="900" spc="127" i="1">
                <a:latin typeface="Arial"/>
                <a:cs typeface="Arial"/>
              </a:rPr>
              <a:t>.</a:t>
            </a:r>
            <a:r>
              <a:rPr dirty="0" baseline="9259" sz="900" spc="127">
                <a:latin typeface="Times New Roman"/>
                <a:cs typeface="Times New Roman"/>
              </a:rPr>
              <a:t>059</a:t>
            </a:r>
            <a:endParaRPr baseline="9259"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4775" y="1857451"/>
            <a:ext cx="2484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0980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   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79232" y="217279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07426" y="2111997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4+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6073" y="2089391"/>
            <a:ext cx="807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(Ce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32952" y="2039848"/>
            <a:ext cx="297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</a:t>
            </a:r>
            <a:r>
              <a:rPr dirty="0" baseline="9259" sz="900" spc="195" i="1">
                <a:latin typeface="Arial"/>
                <a:cs typeface="Arial"/>
              </a:rPr>
              <a:t>E</a:t>
            </a:r>
            <a:r>
              <a:rPr dirty="0" sz="500" spc="65">
                <a:latin typeface="Book Antiqua"/>
                <a:cs typeface="Book Antiqua"/>
              </a:rPr>
              <a:t>ep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52040" y="2086813"/>
            <a:ext cx="558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33070" algn="l"/>
              </a:tabLst>
            </a:pPr>
            <a:r>
              <a:rPr dirty="0" sz="600" spc="140" i="1">
                <a:latin typeface="Arial"/>
                <a:cs typeface="Arial"/>
              </a:rPr>
              <a:t>−n</a:t>
            </a:r>
            <a:r>
              <a:rPr dirty="0" baseline="-11111" sz="750" spc="209">
                <a:latin typeface="Book Antiqua"/>
                <a:cs typeface="Book Antiqua"/>
              </a:rPr>
              <a:t>2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18435" y="2059051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89313" y="2077682"/>
            <a:ext cx="3905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dirty="0" sz="500" spc="145">
                <a:latin typeface="Book Antiqua"/>
                <a:cs typeface="Book Antiqua"/>
              </a:rPr>
              <a:t>3+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2+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96933" y="2039848"/>
            <a:ext cx="79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46070" y="2086813"/>
            <a:ext cx="993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5" i="1">
                <a:latin typeface="Arial"/>
                <a:cs typeface="Arial"/>
              </a:rPr>
              <a:t>E </a:t>
            </a:r>
            <a:r>
              <a:rPr dirty="0" sz="600" spc="70">
                <a:latin typeface="Times New Roman"/>
                <a:cs typeface="Times New Roman"/>
              </a:rPr>
              <a:t>(Fe </a:t>
            </a:r>
            <a:r>
              <a:rPr dirty="0" sz="600" spc="114" i="1">
                <a:latin typeface="Arial"/>
                <a:cs typeface="Arial"/>
              </a:rPr>
              <a:t>/</a:t>
            </a:r>
            <a:r>
              <a:rPr dirty="0" sz="600" spc="114">
                <a:latin typeface="Times New Roman"/>
                <a:cs typeface="Times New Roman"/>
              </a:rPr>
              <a:t>Fe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sz="600" spc="110">
                <a:latin typeface="Times New Roman"/>
                <a:cs typeface="Times New Roman"/>
              </a:rPr>
              <a:t> 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0</a:t>
            </a:r>
            <a:r>
              <a:rPr dirty="0" sz="600" spc="85" i="1">
                <a:latin typeface="Arial"/>
                <a:cs typeface="Arial"/>
              </a:rPr>
              <a:t>.</a:t>
            </a:r>
            <a:r>
              <a:rPr dirty="0" sz="600" spc="8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50818" y="2089391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46607" y="237557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17839" y="2294204"/>
            <a:ext cx="8902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220" i="1">
                <a:latin typeface="Arial"/>
                <a:cs typeface="Arial"/>
              </a:rPr>
              <a:t>×</a:t>
            </a:r>
            <a:r>
              <a:rPr dirty="0" sz="600" spc="75">
                <a:latin typeface="Times New Roman"/>
                <a:cs typeface="Times New Roman"/>
              </a:rPr>
              <a:t>(0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84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70">
                <a:latin typeface="Times New Roman"/>
                <a:cs typeface="Times New Roman"/>
              </a:rPr>
              <a:t>44)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32623" y="2281847"/>
            <a:ext cx="2174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99285" algn="l"/>
              </a:tabLst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1000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(10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08773" y="2492184"/>
            <a:ext cx="2221865" cy="0"/>
          </a:xfrm>
          <a:custGeom>
            <a:avLst/>
            <a:gdLst/>
            <a:ahLst/>
            <a:cxnLst/>
            <a:rect l="l" t="t" r="r" b="b"/>
            <a:pathLst>
              <a:path w="2221865" h="0">
                <a:moveTo>
                  <a:pt x="0" y="0"/>
                </a:moveTo>
                <a:lnTo>
                  <a:pt x="22216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170673" y="2430589"/>
            <a:ext cx="2298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104">
                <a:latin typeface="Georgia"/>
                <a:cs typeface="Georgia"/>
              </a:rPr>
              <a:t>1 </a:t>
            </a:r>
            <a:r>
              <a:rPr dirty="0" baseline="-15151" sz="1650" spc="-44">
                <a:latin typeface="Lucida Sans Unicode"/>
                <a:cs typeface="Lucida Sans Unicode"/>
              </a:rPr>
              <a:t>× </a:t>
            </a:r>
            <a:r>
              <a:rPr dirty="0" baseline="-15151" sz="1650" spc="-127">
                <a:latin typeface="Georgia"/>
                <a:cs typeface="Georgia"/>
              </a:rPr>
              <a:t>0</a:t>
            </a:r>
            <a:r>
              <a:rPr dirty="0" baseline="-15151" sz="1650" spc="-127" b="0" i="1">
                <a:latin typeface="Bookman Old Style"/>
                <a:cs typeface="Bookman Old Style"/>
              </a:rPr>
              <a:t>.</a:t>
            </a:r>
            <a:r>
              <a:rPr dirty="0" baseline="-15151" sz="1650" spc="-127">
                <a:latin typeface="Georgia"/>
                <a:cs typeface="Georgia"/>
              </a:rPr>
              <a:t>1000 </a:t>
            </a:r>
            <a:r>
              <a:rPr dirty="0" baseline="-15151" sz="1650" spc="-44">
                <a:latin typeface="Lucida Sans Unicode"/>
                <a:cs typeface="Lucida Sans Unicode"/>
              </a:rPr>
              <a:t>× </a:t>
            </a:r>
            <a:r>
              <a:rPr dirty="0" baseline="-15151" sz="1650" spc="120">
                <a:latin typeface="Georgia"/>
                <a:cs typeface="Georgia"/>
              </a:rPr>
              <a:t>(10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1</a:t>
            </a:r>
            <a:r>
              <a:rPr dirty="0" sz="600" spc="80" i="1">
                <a:latin typeface="Arial"/>
                <a:cs typeface="Arial"/>
              </a:rPr>
              <a:t>×</a:t>
            </a:r>
            <a:r>
              <a:rPr dirty="0" sz="600" spc="80">
                <a:latin typeface="Times New Roman"/>
                <a:cs typeface="Times New Roman"/>
              </a:rPr>
              <a:t>(0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84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68)</a:t>
            </a:r>
            <a:r>
              <a:rPr dirty="0" sz="600" spc="80" i="1">
                <a:latin typeface="Arial"/>
                <a:cs typeface="Arial"/>
              </a:rPr>
              <a:t>/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059 </a:t>
            </a:r>
            <a:r>
              <a:rPr dirty="0" baseline="-15151" sz="1650" spc="209">
                <a:latin typeface="Georgia"/>
                <a:cs typeface="Georgia"/>
              </a:rPr>
              <a:t>+</a:t>
            </a:r>
            <a:r>
              <a:rPr dirty="0" baseline="-15151" sz="1650" spc="-262">
                <a:latin typeface="Georgia"/>
                <a:cs typeface="Georgia"/>
              </a:rPr>
              <a:t> </a:t>
            </a:r>
            <a:r>
              <a:rPr dirty="0" baseline="-15151" sz="1650" spc="60">
                <a:latin typeface="Georgia"/>
                <a:cs typeface="Georgia"/>
              </a:rPr>
              <a:t>1)</a:t>
            </a:r>
            <a:endParaRPr baseline="-15151" sz="1650">
              <a:latin typeface="Georgia"/>
              <a:cs typeface="Georg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71443" y="2375573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998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8566" y="2939262"/>
            <a:ext cx="94106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终点误差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%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59065" y="2942234"/>
            <a:ext cx="460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2425" algn="l"/>
              </a:tabLst>
            </a:pPr>
            <a:r>
              <a:rPr dirty="0" u="sng" sz="6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32077" y="3068370"/>
            <a:ext cx="236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0" b="0" i="1">
                <a:latin typeface="Bookman Old Style"/>
                <a:cs typeface="Bookman Old Style"/>
              </a:rPr>
              <a:t>ρ</a:t>
            </a:r>
            <a:r>
              <a:rPr dirty="0" sz="600" spc="4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39785" y="2952546"/>
            <a:ext cx="633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87437" y="2858820"/>
            <a:ext cx="2040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995" algn="l"/>
                <a:tab pos="122618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u="sng" sz="1100" spc="-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9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998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7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43974" y="3047581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247974" y="2952546"/>
            <a:ext cx="779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002278" y="2952546"/>
            <a:ext cx="387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5">
                <a:latin typeface="Georgia"/>
                <a:cs typeface="Georgia"/>
              </a:rPr>
              <a:t>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8320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58774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8733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7463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27444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03044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65538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19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528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401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274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21958"/>
            <a:ext cx="4090670" cy="6870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6.4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95">
                <a:latin typeface="Georgia"/>
                <a:cs typeface="Georgia"/>
              </a:rPr>
              <a:t>0.0500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  </a:t>
            </a:r>
            <a:r>
              <a:rPr dirty="0" sz="1100">
                <a:latin typeface="Georgia"/>
                <a:cs typeface="Georgia"/>
              </a:rPr>
              <a:t>Sn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若以亚甲基蓝为指示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8320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58774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8733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7463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27444"/>
            <a:ext cx="50749" cy="5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03044"/>
            <a:ext cx="4432935" cy="435609"/>
          </a:xfrm>
          <a:custGeom>
            <a:avLst/>
            <a:gdLst/>
            <a:ahLst/>
            <a:cxnLst/>
            <a:rect l="l" t="t" r="r" b="b"/>
            <a:pathLst>
              <a:path w="4432935" h="435609">
                <a:moveTo>
                  <a:pt x="4432566" y="0"/>
                </a:moveTo>
                <a:lnTo>
                  <a:pt x="0" y="0"/>
                </a:lnTo>
                <a:lnTo>
                  <a:pt x="0" y="384291"/>
                </a:lnTo>
                <a:lnTo>
                  <a:pt x="4008" y="404016"/>
                </a:lnTo>
                <a:lnTo>
                  <a:pt x="14922" y="420169"/>
                </a:lnTo>
                <a:lnTo>
                  <a:pt x="31075" y="431083"/>
                </a:lnTo>
                <a:lnTo>
                  <a:pt x="50800" y="435092"/>
                </a:lnTo>
                <a:lnTo>
                  <a:pt x="4381765" y="435092"/>
                </a:lnTo>
                <a:lnTo>
                  <a:pt x="4401490" y="431083"/>
                </a:lnTo>
                <a:lnTo>
                  <a:pt x="4417643" y="420169"/>
                </a:lnTo>
                <a:lnTo>
                  <a:pt x="4428558" y="404016"/>
                </a:lnTo>
                <a:lnTo>
                  <a:pt x="4432566" y="38429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65538"/>
            <a:ext cx="0" cy="541020"/>
          </a:xfrm>
          <a:custGeom>
            <a:avLst/>
            <a:gdLst/>
            <a:ahLst/>
            <a:cxnLst/>
            <a:rect l="l" t="t" r="r" b="b"/>
            <a:pathLst>
              <a:path w="0" h="541019">
                <a:moveTo>
                  <a:pt x="0" y="5408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528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401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274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21958"/>
            <a:ext cx="4116070" cy="11722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6.4</a:t>
            </a:r>
            <a:endParaRPr sz="1200">
              <a:latin typeface="Calibri"/>
              <a:cs typeface="Calibri"/>
            </a:endParaRPr>
          </a:p>
          <a:p>
            <a:pPr marL="63500" marR="558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95">
                <a:latin typeface="Georgia"/>
                <a:cs typeface="Georgia"/>
              </a:rPr>
              <a:t>0.0500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  </a:t>
            </a:r>
            <a:r>
              <a:rPr dirty="0" sz="1100">
                <a:latin typeface="Georgia"/>
                <a:cs typeface="Georgia"/>
              </a:rPr>
              <a:t>Sn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若以亚甲基蓝为指示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滴定反应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44" y="1562671"/>
            <a:ext cx="4319270" cy="781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3952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2+ </a:t>
            </a:r>
            <a:r>
              <a:rPr dirty="0" baseline="-18518" sz="675" spc="-135">
                <a:latin typeface="Times New Roman"/>
                <a:cs typeface="Times New Roman"/>
              </a:rPr>
              <a:t>�</a:t>
            </a:r>
            <a:r>
              <a:rPr dirty="0" baseline="-18518" sz="675" spc="-135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41666" sz="900" spc="82">
                <a:latin typeface="Times New Roman"/>
                <a:cs typeface="Times New Roman"/>
              </a:rPr>
              <a:t>4+</a:t>
            </a:r>
            <a:endParaRPr baseline="41666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 b="0" i="1">
                <a:latin typeface="Bookman Old Style"/>
                <a:cs typeface="Bookman Old Style"/>
              </a:rPr>
              <a:t>n</a:t>
            </a:r>
            <a:r>
              <a:rPr dirty="0" baseline="-13888" sz="900" spc="-75">
                <a:latin typeface="Times New Roman"/>
                <a:cs typeface="Times New Roman"/>
              </a:rPr>
              <a:t>1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1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100" spc="-40" b="0" i="1">
                <a:latin typeface="Bookman Old Style"/>
                <a:cs typeface="Bookman Old Style"/>
              </a:rPr>
              <a:t>n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baseline="-13888" sz="900" spc="-3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滴定终点的电位为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 b="0" i="1">
                <a:latin typeface="Bookman Old Style"/>
                <a:cs typeface="Bookman Old Style"/>
              </a:rPr>
              <a:t>E</a:t>
            </a:r>
            <a:r>
              <a:rPr dirty="0" baseline="-13888" sz="900" spc="104">
                <a:latin typeface="Times New Roman"/>
                <a:cs typeface="Times New Roman"/>
              </a:rPr>
              <a:t>ep</a:t>
            </a:r>
            <a:r>
              <a:rPr dirty="0" baseline="-13888" sz="900" spc="29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53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V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计量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点时的体积比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5148" y="2512123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ρ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19478" y="2628734"/>
            <a:ext cx="581660" cy="0"/>
          </a:xfrm>
          <a:custGeom>
            <a:avLst/>
            <a:gdLst/>
            <a:ahLst/>
            <a:cxnLst/>
            <a:rect l="l" t="t" r="r" b="b"/>
            <a:pathLst>
              <a:path w="581660" h="0">
                <a:moveTo>
                  <a:pt x="0" y="0"/>
                </a:moveTo>
                <a:lnTo>
                  <a:pt x="5812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468678" y="2418397"/>
            <a:ext cx="15087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4645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n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(Sn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100" spc="30">
                <a:latin typeface="Georgia"/>
                <a:cs typeface="Georgia"/>
              </a:rPr>
              <a:t>)	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1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0500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8109" y="2607157"/>
            <a:ext cx="1489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2740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n</a:t>
            </a:r>
            <a:r>
              <a:rPr dirty="0" baseline="-13888" sz="900" spc="44">
                <a:latin typeface="Times New Roman"/>
                <a:cs typeface="Times New Roman"/>
              </a:rPr>
              <a:t>1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27777" sz="900" spc="44">
                <a:latin typeface="Times New Roman"/>
                <a:cs typeface="Times New Roman"/>
              </a:rPr>
              <a:t>3+</a:t>
            </a:r>
            <a:r>
              <a:rPr dirty="0" sz="1100" spc="30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1689" y="2512123"/>
            <a:ext cx="1325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0900" algn="l"/>
              </a:tabLst>
            </a:pPr>
            <a:r>
              <a:rPr dirty="0" sz="1100" spc="140">
                <a:latin typeface="Georgia"/>
                <a:cs typeface="Georgia"/>
              </a:rPr>
              <a:t>=	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446722"/>
            <a:ext cx="13817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终点时的体积比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826" y="96766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ep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198" y="884250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988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2412" y="87393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2909" y="802868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9253" y="790524"/>
            <a:ext cx="799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c</a:t>
            </a:r>
            <a:r>
              <a:rPr dirty="0" sz="1100" spc="-30">
                <a:latin typeface="Georgia"/>
                <a:cs typeface="Georgia"/>
              </a:rPr>
              <a:t>(Sn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0734" y="740981"/>
            <a:ext cx="79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9208" y="800595"/>
            <a:ext cx="231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35" i="1">
                <a:latin typeface="Arial"/>
                <a:cs typeface="Arial"/>
              </a:rPr>
              <a:t>E</a:t>
            </a:r>
            <a:r>
              <a:rPr dirty="0" sz="500" spc="90">
                <a:latin typeface="Book Antiqua"/>
                <a:cs typeface="Book Antiqua"/>
              </a:rPr>
              <a:t>ep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7524" y="787946"/>
            <a:ext cx="4718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0045" algn="l"/>
              </a:tabLst>
            </a:pPr>
            <a:r>
              <a:rPr dirty="0" sz="600" spc="105" i="1">
                <a:latin typeface="Arial"/>
                <a:cs typeface="Arial"/>
              </a:rPr>
              <a:t>n</a:t>
            </a:r>
            <a:r>
              <a:rPr dirty="0" baseline="-11111" sz="750" spc="157">
                <a:latin typeface="Book Antiqua"/>
                <a:cs typeface="Book Antiqua"/>
              </a:rPr>
              <a:t>1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0817" y="743216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1696" y="768743"/>
            <a:ext cx="3905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dirty="0" sz="500" spc="145">
                <a:latin typeface="Book Antiqua"/>
                <a:cs typeface="Book Antiqua"/>
              </a:rPr>
              <a:t>3+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2+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9315" y="740981"/>
            <a:ext cx="79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08453" y="787946"/>
            <a:ext cx="993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5" i="1">
                <a:latin typeface="Arial"/>
                <a:cs typeface="Arial"/>
              </a:rPr>
              <a:t>E </a:t>
            </a:r>
            <a:r>
              <a:rPr dirty="0" sz="600" spc="70">
                <a:latin typeface="Times New Roman"/>
                <a:cs typeface="Times New Roman"/>
              </a:rPr>
              <a:t>(Fe </a:t>
            </a:r>
            <a:r>
              <a:rPr dirty="0" sz="600" spc="114" i="1">
                <a:latin typeface="Arial"/>
                <a:cs typeface="Arial"/>
              </a:rPr>
              <a:t>/</a:t>
            </a:r>
            <a:r>
              <a:rPr dirty="0" sz="600" spc="114">
                <a:latin typeface="Times New Roman"/>
                <a:cs typeface="Times New Roman"/>
              </a:rPr>
              <a:t>Fe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sz="600" spc="114">
                <a:latin typeface="Times New Roman"/>
                <a:cs typeface="Times New Roman"/>
              </a:rPr>
              <a:t> 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0</a:t>
            </a:r>
            <a:r>
              <a:rPr dirty="0" sz="600" spc="85" i="1">
                <a:latin typeface="Arial"/>
                <a:cs typeface="Arial"/>
              </a:rPr>
              <a:t>.</a:t>
            </a:r>
            <a:r>
              <a:rPr dirty="0" sz="600" spc="8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3201" y="790524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8620" y="1000861"/>
            <a:ext cx="2522855" cy="0"/>
          </a:xfrm>
          <a:custGeom>
            <a:avLst/>
            <a:gdLst/>
            <a:ahLst/>
            <a:cxnLst/>
            <a:rect l="l" t="t" r="r" b="b"/>
            <a:pathLst>
              <a:path w="2522854" h="0">
                <a:moveTo>
                  <a:pt x="0" y="0"/>
                </a:moveTo>
                <a:lnTo>
                  <a:pt x="252229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79080" y="1133157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9100" y="1045070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5920" y="1022477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n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(Fe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)(10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0648" y="1064183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6446" y="992136"/>
            <a:ext cx="533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5" i="1">
                <a:latin typeface="Verdana"/>
                <a:cs typeface="Verdana"/>
              </a:rPr>
              <a:t>I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86164" y="1010754"/>
            <a:ext cx="39941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8130" algn="l"/>
              </a:tabLst>
            </a:pPr>
            <a:r>
              <a:rPr dirty="0" sz="500" spc="145">
                <a:latin typeface="Book Antiqua"/>
                <a:cs typeface="Book Antiqua"/>
              </a:rPr>
              <a:t>4+</a:t>
            </a:r>
            <a:r>
              <a:rPr dirty="0" sz="500" spc="145">
                <a:latin typeface="Book Antiqua"/>
                <a:cs typeface="Book Antiqua"/>
              </a:rPr>
              <a:t>	</a:t>
            </a:r>
            <a:r>
              <a:rPr dirty="0" sz="500" spc="145">
                <a:latin typeface="Book Antiqua"/>
                <a:cs typeface="Book Antiqua"/>
              </a:rPr>
              <a:t>2+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33714" y="957262"/>
            <a:ext cx="1562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i="1">
                <a:latin typeface="Arial"/>
                <a:cs typeface="Arial"/>
              </a:rPr>
              <a:t>  </a:t>
            </a:r>
            <a:r>
              <a:rPr dirty="0" sz="600" spc="-65" i="1">
                <a:latin typeface="Arial"/>
                <a:cs typeface="Arial"/>
              </a:rPr>
              <a:t> </a:t>
            </a:r>
            <a:r>
              <a:rPr dirty="0" baseline="-5050" sz="1650" spc="7">
                <a:latin typeface="Georgia"/>
                <a:cs typeface="Georgia"/>
              </a:rPr>
              <a:t>(</a:t>
            </a:r>
            <a:r>
              <a:rPr dirty="0" sz="600" spc="130" i="1">
                <a:latin typeface="Arial"/>
                <a:cs typeface="Arial"/>
              </a:rPr>
              <a:t>E</a:t>
            </a:r>
            <a:r>
              <a:rPr dirty="0" baseline="-11111" sz="750" spc="89">
                <a:latin typeface="Book Antiqua"/>
                <a:cs typeface="Book Antiqua"/>
              </a:rPr>
              <a:t>e</a:t>
            </a:r>
            <a:r>
              <a:rPr dirty="0" baseline="-11111" sz="750" spc="179">
                <a:latin typeface="Book Antiqua"/>
                <a:cs typeface="Book Antiqua"/>
              </a:rPr>
              <a:t>p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135" i="1">
                <a:latin typeface="Arial"/>
                <a:cs typeface="Arial"/>
              </a:rPr>
              <a:t>E</a:t>
            </a:r>
            <a:r>
              <a:rPr dirty="0" sz="600" i="1">
                <a:latin typeface="Arial"/>
                <a:cs typeface="Arial"/>
              </a:rPr>
              <a:t> </a:t>
            </a:r>
            <a:r>
              <a:rPr dirty="0" sz="600" spc="15" i="1">
                <a:latin typeface="Arial"/>
                <a:cs typeface="Arial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65">
                <a:latin typeface="Times New Roman"/>
                <a:cs typeface="Times New Roman"/>
              </a:rPr>
              <a:t>S</a:t>
            </a:r>
            <a:r>
              <a:rPr dirty="0" sz="600" spc="100">
                <a:latin typeface="Times New Roman"/>
                <a:cs typeface="Times New Roman"/>
              </a:rPr>
              <a:t>n</a:t>
            </a:r>
            <a:r>
              <a:rPr dirty="0" sz="600">
                <a:latin typeface="Times New Roman"/>
                <a:cs typeface="Times New Roman"/>
              </a:rPr>
              <a:t>      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Sn</a:t>
            </a:r>
            <a:r>
              <a:rPr dirty="0" sz="600">
                <a:latin typeface="Times New Roman"/>
                <a:cs typeface="Times New Roman"/>
              </a:rPr>
              <a:t>     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-5050" sz="1650" spc="7">
                <a:latin typeface="Georgia"/>
                <a:cs typeface="Georgia"/>
              </a:rPr>
              <a:t>)</a:t>
            </a:r>
            <a:r>
              <a:rPr dirty="0" sz="600" spc="210" i="1">
                <a:latin typeface="Arial"/>
                <a:cs typeface="Arial"/>
              </a:rPr>
              <a:t>/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059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56533" y="1022477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7071" y="1165415"/>
            <a:ext cx="22250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0202" sz="1650" spc="-104">
                <a:latin typeface="Georgia"/>
                <a:cs typeface="Georgia"/>
              </a:rPr>
              <a:t>2 </a:t>
            </a:r>
            <a:r>
              <a:rPr dirty="0" baseline="-20202" sz="1650" spc="-44">
                <a:latin typeface="Lucida Sans Unicode"/>
                <a:cs typeface="Lucida Sans Unicode"/>
              </a:rPr>
              <a:t>× </a:t>
            </a:r>
            <a:r>
              <a:rPr dirty="0" baseline="-20202" sz="1650" spc="-150">
                <a:latin typeface="Georgia"/>
                <a:cs typeface="Georgia"/>
              </a:rPr>
              <a:t>0</a:t>
            </a:r>
            <a:r>
              <a:rPr dirty="0" baseline="-20202" sz="1650" spc="-150" b="0" i="1">
                <a:latin typeface="Bookman Old Style"/>
                <a:cs typeface="Bookman Old Style"/>
              </a:rPr>
              <a:t>.</a:t>
            </a:r>
            <a:r>
              <a:rPr dirty="0" baseline="-20202" sz="1650" spc="-150">
                <a:latin typeface="Georgia"/>
                <a:cs typeface="Georgia"/>
              </a:rPr>
              <a:t>0500 </a:t>
            </a:r>
            <a:r>
              <a:rPr dirty="0" baseline="-20202" sz="1650" spc="-44">
                <a:latin typeface="Lucida Sans Unicode"/>
                <a:cs typeface="Lucida Sans Unicode"/>
              </a:rPr>
              <a:t>× </a:t>
            </a:r>
            <a:r>
              <a:rPr dirty="0" baseline="-20202" sz="1650" spc="112">
                <a:latin typeface="Georgia"/>
                <a:cs typeface="Georgia"/>
              </a:rPr>
              <a:t>(10</a:t>
            </a:r>
            <a:r>
              <a:rPr dirty="0" sz="600" spc="75">
                <a:latin typeface="Times New Roman"/>
                <a:cs typeface="Times New Roman"/>
              </a:rPr>
              <a:t>1</a:t>
            </a:r>
            <a:r>
              <a:rPr dirty="0" sz="600" spc="75" i="1">
                <a:latin typeface="Arial"/>
                <a:cs typeface="Arial"/>
              </a:rPr>
              <a:t>×</a:t>
            </a:r>
            <a:r>
              <a:rPr dirty="0" sz="600" spc="75">
                <a:latin typeface="Times New Roman"/>
                <a:cs typeface="Times New Roman"/>
              </a:rPr>
              <a:t>(0</a:t>
            </a:r>
            <a:r>
              <a:rPr dirty="0" sz="600" spc="75" i="1">
                <a:latin typeface="Arial"/>
                <a:cs typeface="Arial"/>
              </a:rPr>
              <a:t>.</a:t>
            </a:r>
            <a:r>
              <a:rPr dirty="0" sz="600" spc="75">
                <a:latin typeface="Times New Roman"/>
                <a:cs typeface="Times New Roman"/>
              </a:rPr>
              <a:t>53</a:t>
            </a:r>
            <a:r>
              <a:rPr dirty="0" sz="600" spc="75" i="1">
                <a:latin typeface="Arial"/>
                <a:cs typeface="Arial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0</a:t>
            </a:r>
            <a:r>
              <a:rPr dirty="0" sz="600" spc="75" i="1">
                <a:latin typeface="Arial"/>
                <a:cs typeface="Arial"/>
              </a:rPr>
              <a:t>.</a:t>
            </a:r>
            <a:r>
              <a:rPr dirty="0" sz="600" spc="75">
                <a:latin typeface="Times New Roman"/>
                <a:cs typeface="Times New Roman"/>
              </a:rPr>
              <a:t>68)</a:t>
            </a:r>
            <a:r>
              <a:rPr dirty="0" sz="600" spc="75" i="1">
                <a:latin typeface="Arial"/>
                <a:cs typeface="Arial"/>
              </a:rPr>
              <a:t>/</a:t>
            </a:r>
            <a:r>
              <a:rPr dirty="0" sz="600" spc="75">
                <a:latin typeface="Times New Roman"/>
                <a:cs typeface="Times New Roman"/>
              </a:rPr>
              <a:t>0</a:t>
            </a:r>
            <a:r>
              <a:rPr dirty="0" sz="600" spc="75" i="1">
                <a:latin typeface="Arial"/>
                <a:cs typeface="Arial"/>
              </a:rPr>
              <a:t>.</a:t>
            </a:r>
            <a:r>
              <a:rPr dirty="0" sz="600" spc="75">
                <a:latin typeface="Times New Roman"/>
                <a:cs typeface="Times New Roman"/>
              </a:rPr>
              <a:t>059 </a:t>
            </a:r>
            <a:r>
              <a:rPr dirty="0" baseline="-20202" sz="1650" spc="209">
                <a:latin typeface="Georgia"/>
                <a:cs typeface="Georgia"/>
              </a:rPr>
              <a:t>+</a:t>
            </a:r>
            <a:r>
              <a:rPr dirty="0" baseline="-20202" sz="1650" spc="-75">
                <a:latin typeface="Georgia"/>
                <a:cs typeface="Georgia"/>
              </a:rPr>
              <a:t> </a:t>
            </a:r>
            <a:r>
              <a:rPr dirty="0" baseline="-20202" sz="1650" spc="60">
                <a:latin typeface="Georgia"/>
                <a:cs typeface="Georgia"/>
              </a:rPr>
              <a:t>1)</a:t>
            </a:r>
            <a:endParaRPr baseline="-20202" sz="165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08620" y="1426032"/>
            <a:ext cx="2221865" cy="0"/>
          </a:xfrm>
          <a:custGeom>
            <a:avLst/>
            <a:gdLst/>
            <a:ahLst/>
            <a:cxnLst/>
            <a:rect l="l" t="t" r="r" b="b"/>
            <a:pathLst>
              <a:path w="2221865" h="0">
                <a:moveTo>
                  <a:pt x="0" y="0"/>
                </a:moveTo>
                <a:lnTo>
                  <a:pt x="22216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270520" y="1364437"/>
            <a:ext cx="2298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104">
                <a:latin typeface="Georgia"/>
                <a:cs typeface="Georgia"/>
              </a:rPr>
              <a:t>1</a:t>
            </a:r>
            <a:r>
              <a:rPr dirty="0" baseline="-15151" sz="1650" spc="-52">
                <a:latin typeface="Georgia"/>
                <a:cs typeface="Georgia"/>
              </a:rPr>
              <a:t> </a:t>
            </a:r>
            <a:r>
              <a:rPr dirty="0" baseline="-15151" sz="1650" spc="-44">
                <a:latin typeface="Lucida Sans Unicode"/>
                <a:cs typeface="Lucida Sans Unicode"/>
              </a:rPr>
              <a:t>×</a:t>
            </a:r>
            <a:r>
              <a:rPr dirty="0" baseline="-15151" sz="1650" spc="-172">
                <a:latin typeface="Lucida Sans Unicode"/>
                <a:cs typeface="Lucida Sans Unicode"/>
              </a:rPr>
              <a:t> </a:t>
            </a:r>
            <a:r>
              <a:rPr dirty="0" baseline="-15151" sz="1650" spc="-120">
                <a:latin typeface="Georgia"/>
                <a:cs typeface="Georgia"/>
              </a:rPr>
              <a:t>0</a:t>
            </a:r>
            <a:r>
              <a:rPr dirty="0" baseline="-15151" sz="1650" spc="-120" b="0" i="1">
                <a:latin typeface="Bookman Old Style"/>
                <a:cs typeface="Bookman Old Style"/>
              </a:rPr>
              <a:t>.</a:t>
            </a:r>
            <a:r>
              <a:rPr dirty="0" baseline="-15151" sz="1650" spc="-120">
                <a:latin typeface="Georgia"/>
                <a:cs typeface="Georgia"/>
              </a:rPr>
              <a:t>1000</a:t>
            </a:r>
            <a:r>
              <a:rPr dirty="0" baseline="-15151" sz="1650" spc="-44">
                <a:latin typeface="Georgia"/>
                <a:cs typeface="Georgia"/>
              </a:rPr>
              <a:t> </a:t>
            </a:r>
            <a:r>
              <a:rPr dirty="0" baseline="-15151" sz="1650" spc="-44">
                <a:latin typeface="Lucida Sans Unicode"/>
                <a:cs typeface="Lucida Sans Unicode"/>
              </a:rPr>
              <a:t>×</a:t>
            </a:r>
            <a:r>
              <a:rPr dirty="0" baseline="-15151" sz="1650" spc="-172">
                <a:latin typeface="Lucida Sans Unicode"/>
                <a:cs typeface="Lucida Sans Unicode"/>
              </a:rPr>
              <a:t> </a:t>
            </a:r>
            <a:r>
              <a:rPr dirty="0" baseline="-15151" sz="1650" spc="120">
                <a:latin typeface="Georgia"/>
                <a:cs typeface="Georgia"/>
              </a:rPr>
              <a:t>(10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 i="1">
                <a:latin typeface="Arial"/>
                <a:cs typeface="Arial"/>
              </a:rPr>
              <a:t>×</a:t>
            </a:r>
            <a:r>
              <a:rPr dirty="0" sz="600" spc="80">
                <a:latin typeface="Times New Roman"/>
                <a:cs typeface="Times New Roman"/>
              </a:rPr>
              <a:t>(0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53</a:t>
            </a:r>
            <a:r>
              <a:rPr dirty="0" sz="600" spc="80" i="1">
                <a:latin typeface="Arial"/>
                <a:cs typeface="Arial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14)</a:t>
            </a:r>
            <a:r>
              <a:rPr dirty="0" sz="600" spc="80" i="1">
                <a:latin typeface="Arial"/>
                <a:cs typeface="Arial"/>
              </a:rPr>
              <a:t>/</a:t>
            </a:r>
            <a:r>
              <a:rPr dirty="0" sz="600" spc="80">
                <a:latin typeface="Times New Roman"/>
                <a:cs typeface="Times New Roman"/>
              </a:rPr>
              <a:t>0</a:t>
            </a:r>
            <a:r>
              <a:rPr dirty="0" sz="600" spc="80" i="1">
                <a:latin typeface="Arial"/>
                <a:cs typeface="Arial"/>
              </a:rPr>
              <a:t>.</a:t>
            </a:r>
            <a:r>
              <a:rPr dirty="0" sz="600" spc="80">
                <a:latin typeface="Times New Roman"/>
                <a:cs typeface="Times New Roman"/>
              </a:rPr>
              <a:t>059</a:t>
            </a:r>
            <a:r>
              <a:rPr dirty="0" sz="600" spc="135">
                <a:latin typeface="Times New Roman"/>
                <a:cs typeface="Times New Roman"/>
              </a:rPr>
              <a:t> </a:t>
            </a:r>
            <a:r>
              <a:rPr dirty="0" baseline="-15151" sz="1650" spc="209">
                <a:latin typeface="Georgia"/>
                <a:cs typeface="Georgia"/>
              </a:rPr>
              <a:t>+</a:t>
            </a:r>
            <a:r>
              <a:rPr dirty="0" baseline="-15151" sz="1650" spc="-44">
                <a:latin typeface="Georgia"/>
                <a:cs typeface="Georgia"/>
              </a:rPr>
              <a:t> </a:t>
            </a:r>
            <a:r>
              <a:rPr dirty="0" baseline="-15151" sz="1650" spc="60">
                <a:latin typeface="Georgia"/>
                <a:cs typeface="Georgia"/>
              </a:rPr>
              <a:t>1)</a:t>
            </a:r>
            <a:endParaRPr baseline="-15151" sz="165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46454" y="1214015"/>
            <a:ext cx="575310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1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003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2440" y="2283548"/>
            <a:ext cx="94106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终点误差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%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1310" y="2203107"/>
            <a:ext cx="84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9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2847" y="2203107"/>
            <a:ext cx="235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8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12938" y="2286508"/>
            <a:ext cx="460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2425" algn="l"/>
              </a:tabLst>
            </a:pPr>
            <a:r>
              <a:rPr dirty="0" u="sng" sz="6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5950" y="2412644"/>
            <a:ext cx="236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0" b="0" i="1">
                <a:latin typeface="Bookman Old Style"/>
                <a:cs typeface="Bookman Old Style"/>
              </a:rPr>
              <a:t>ρ</a:t>
            </a:r>
            <a:r>
              <a:rPr dirty="0" sz="600" spc="4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93671" y="2296833"/>
            <a:ext cx="633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55392" y="2203107"/>
            <a:ext cx="826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003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3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7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97848" y="2391867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01847" y="2296833"/>
            <a:ext cx="741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7670" y="2296833"/>
            <a:ext cx="318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30%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58750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6.5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样品的预处理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3498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49664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5849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42015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68180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795096"/>
            <a:ext cx="2905760" cy="199580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预处理方式分两</a:t>
            </a:r>
            <a:r>
              <a:rPr dirty="0" sz="1200" spc="-90">
                <a:latin typeface="Arial Unicode MS"/>
                <a:cs typeface="Arial Unicode MS"/>
              </a:rPr>
              <a:t>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 marR="106426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将待测离子氧化成高价</a:t>
            </a:r>
            <a:r>
              <a:rPr dirty="0" sz="1200" spc="-65">
                <a:latin typeface="Arial Unicode MS"/>
                <a:cs typeface="Arial Unicode MS"/>
              </a:rPr>
              <a:t>态</a:t>
            </a:r>
            <a:r>
              <a:rPr dirty="0" sz="1200" spc="-5">
                <a:latin typeface="Arial Unicode MS"/>
                <a:cs typeface="Arial Unicode MS"/>
              </a:rPr>
              <a:t>； 将待测离子还原为低价</a:t>
            </a:r>
            <a:r>
              <a:rPr dirty="0" sz="1200" spc="-20">
                <a:latin typeface="Arial Unicode MS"/>
                <a:cs typeface="Arial Unicode MS"/>
              </a:rPr>
              <a:t>态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所用的氧化剂或还原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应符合下列要</a:t>
            </a:r>
            <a:r>
              <a:rPr dirty="0" sz="1200" spc="-90">
                <a:latin typeface="Arial Unicode MS"/>
                <a:cs typeface="Arial Unicode MS"/>
              </a:rPr>
              <a:t>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反应进行完</a:t>
            </a:r>
            <a:r>
              <a:rPr dirty="0" sz="1200" spc="-80">
                <a:latin typeface="Arial Unicode MS"/>
                <a:cs typeface="Arial Unicode MS"/>
              </a:rPr>
              <a:t>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速度</a:t>
            </a:r>
            <a:r>
              <a:rPr dirty="0" sz="1200" spc="-65">
                <a:latin typeface="Arial Unicode MS"/>
                <a:cs typeface="Arial Unicode MS"/>
              </a:rPr>
              <a:t>快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过量的氧化剂或还原剂应易于除</a:t>
            </a:r>
            <a:r>
              <a:rPr dirty="0" sz="1200" spc="-65">
                <a:latin typeface="Arial Unicode MS"/>
                <a:cs typeface="Arial Unicode MS"/>
              </a:rPr>
              <a:t>去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Unicode MS"/>
                <a:cs typeface="Arial Unicode MS"/>
              </a:rPr>
              <a:t>反应具有一定的选择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998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6.5.1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预氧化剂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50172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6338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2504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286698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061847"/>
            <a:ext cx="1419225" cy="13341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常用的预氧化剂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just" marL="12700" marR="79121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过硫酸铵 高锰酸钾 过氧化氢 </a:t>
            </a:r>
            <a:r>
              <a:rPr dirty="0" sz="1200" spc="-5">
                <a:latin typeface="Arial Unicode MS"/>
                <a:cs typeface="Arial Unicode MS"/>
              </a:rPr>
              <a:t>高氯酸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84086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5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5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55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过硫酸铵</a:t>
            </a:r>
            <a:r>
              <a:rPr dirty="0" sz="105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(NH</a:t>
            </a:r>
            <a:r>
              <a:rPr dirty="0" baseline="-11904" sz="1050" spc="37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)</a:t>
            </a:r>
            <a:r>
              <a:rPr dirty="0" baseline="-11904" sz="1050" spc="37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r>
              <a:rPr dirty="0" baseline="-11904" sz="1050" spc="37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dirty="0" baseline="-11904" sz="1050" spc="37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509308"/>
            <a:ext cx="432689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过硫酸铵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(NH</a:t>
            </a:r>
            <a:r>
              <a:rPr dirty="0" baseline="-13888" sz="900" spc="44">
                <a:latin typeface="Times New Roman"/>
                <a:cs typeface="Times New Roman"/>
              </a:rPr>
              <a:t>4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S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8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是强氧化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可发生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如下的氧化反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1323" y="1137285"/>
            <a:ext cx="398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75">
                <a:latin typeface="Georgia"/>
                <a:cs typeface="Georgia"/>
              </a:rPr>
              <a:t>Mn</a:t>
            </a:r>
            <a:r>
              <a:rPr dirty="0" sz="600" spc="5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1363" y="1118832"/>
            <a:ext cx="1599565" cy="267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6530">
              <a:lnSpc>
                <a:spcPts val="655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(NH</a:t>
            </a:r>
            <a:r>
              <a:rPr dirty="0" baseline="-11111" sz="750" spc="150">
                <a:latin typeface="Book Antiqua"/>
                <a:cs typeface="Book Antiqua"/>
              </a:rPr>
              <a:t>4</a:t>
            </a:r>
            <a:r>
              <a:rPr dirty="0" sz="600" spc="100">
                <a:latin typeface="Times New Roman"/>
                <a:cs typeface="Times New Roman"/>
              </a:rPr>
              <a:t>)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S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O</a:t>
            </a:r>
            <a:r>
              <a:rPr dirty="0" baseline="-11111" sz="750" spc="150">
                <a:latin typeface="Book Antiqua"/>
                <a:cs typeface="Book Antiqua"/>
              </a:rPr>
              <a:t>8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Ag</a:t>
            </a:r>
            <a:r>
              <a:rPr dirty="0" baseline="27777" sz="750" spc="150">
                <a:latin typeface="Book Antiqua"/>
                <a:cs typeface="Book Antiqua"/>
              </a:rPr>
              <a:t>+</a:t>
            </a:r>
            <a:endParaRPr baseline="27777" sz="750">
              <a:latin typeface="Book Antiqua"/>
              <a:cs typeface="Book Antiqua"/>
            </a:endParaRPr>
          </a:p>
          <a:p>
            <a:pPr marL="38100">
              <a:lnSpc>
                <a:spcPts val="1255"/>
              </a:lnSpc>
            </a:pP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50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41666" sz="900" spc="67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6455" y="129137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1412" y="1646910"/>
            <a:ext cx="347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20">
                <a:latin typeface="Georgia"/>
                <a:cs typeface="Georgia"/>
              </a:rPr>
              <a:t>Cr</a:t>
            </a:r>
            <a:r>
              <a:rPr dirty="0" sz="600" spc="8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0351" y="1628457"/>
            <a:ext cx="838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(NH</a:t>
            </a:r>
            <a:r>
              <a:rPr dirty="0" baseline="-11111" sz="750" spc="150">
                <a:latin typeface="Book Antiqua"/>
                <a:cs typeface="Book Antiqua"/>
              </a:rPr>
              <a:t>4</a:t>
            </a:r>
            <a:r>
              <a:rPr dirty="0" sz="600" spc="100">
                <a:latin typeface="Times New Roman"/>
                <a:cs typeface="Times New Roman"/>
              </a:rPr>
              <a:t>)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S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O</a:t>
            </a:r>
            <a:r>
              <a:rPr dirty="0" baseline="-11111" sz="750" spc="150">
                <a:latin typeface="Book Antiqua"/>
                <a:cs typeface="Book Antiqua"/>
              </a:rPr>
              <a:t>8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Ag</a:t>
            </a:r>
            <a:r>
              <a:rPr dirty="0" baseline="27777" sz="750" spc="150">
                <a:latin typeface="Book Antiqua"/>
                <a:cs typeface="Book Antiqua"/>
              </a:rPr>
              <a:t>+</a:t>
            </a:r>
            <a:endParaRPr baseline="27777" sz="75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9496" y="178751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7207" y="1704111"/>
            <a:ext cx="1478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9973" y="1709534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9973" y="18009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5389" y="2099589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3100" y="2081136"/>
            <a:ext cx="1122045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(NH</a:t>
            </a:r>
            <a:r>
              <a:rPr dirty="0" baseline="-11111" sz="750" spc="150">
                <a:latin typeface="Book Antiqua"/>
                <a:cs typeface="Book Antiqua"/>
              </a:rPr>
              <a:t>4</a:t>
            </a:r>
            <a:r>
              <a:rPr dirty="0" sz="600" spc="100">
                <a:latin typeface="Times New Roman"/>
                <a:cs typeface="Times New Roman"/>
              </a:rPr>
              <a:t>)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S</a:t>
            </a:r>
            <a:r>
              <a:rPr dirty="0" baseline="-11111" sz="750" spc="150">
                <a:latin typeface="Book Antiqua"/>
                <a:cs typeface="Book Antiqua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O</a:t>
            </a:r>
            <a:r>
              <a:rPr dirty="0" baseline="-11111" sz="750" spc="150">
                <a:latin typeface="Book Antiqua"/>
                <a:cs typeface="Book Antiqua"/>
              </a:rPr>
              <a:t>8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Ag</a:t>
            </a:r>
            <a:r>
              <a:rPr dirty="0" baseline="27777" sz="750" spc="150">
                <a:latin typeface="Book Antiqua"/>
                <a:cs typeface="Book Antiqua"/>
              </a:rPr>
              <a:t>+</a:t>
            </a:r>
            <a:endParaRPr baseline="27777" sz="75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</a:t>
            </a:r>
            <a:r>
              <a:rPr dirty="0" sz="450" spc="105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1058" y="2099589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4+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8151" y="25792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8628" y="25081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8628" y="259267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501" y="2482532"/>
            <a:ext cx="30200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3290" algn="l"/>
              </a:tabLst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可以通过煮沸除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5463" y="288201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95463" y="29734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4986" y="2959989"/>
            <a:ext cx="701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135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5189" y="2817088"/>
            <a:ext cx="158750" cy="10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" spc="20">
                <a:latin typeface="Arial Unicode MS"/>
                <a:cs typeface="Arial Unicode MS"/>
              </a:rPr>
              <a:t>煮沸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76854" y="288201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76854" y="29734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33381" y="29599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88745" y="2876588"/>
            <a:ext cx="2430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5615" algn="l"/>
              </a:tabLst>
            </a:pPr>
            <a:r>
              <a:rPr dirty="0" sz="1100" spc="-40">
                <a:latin typeface="Georgia"/>
                <a:cs typeface="Georgia"/>
              </a:rPr>
              <a:t>2S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-35">
                <a:latin typeface="Georgia"/>
                <a:cs typeface="Georgia"/>
              </a:rPr>
              <a:t>4HSO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↑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5970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高锰酸钾</a:t>
            </a:r>
            <a:r>
              <a:rPr dirty="0" sz="105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15">
                <a:solidFill>
                  <a:srgbClr val="FFFFFF"/>
                </a:solidFill>
                <a:latin typeface="Georgia"/>
                <a:cs typeface="Georgia"/>
              </a:rPr>
              <a:t>KMnO</a:t>
            </a:r>
            <a:r>
              <a:rPr dirty="0" baseline="-11904" sz="1050" spc="22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803821"/>
            <a:ext cx="424370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高锰酸钾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既适用于酸性溶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也适用于碱性溶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0439" y="1248803"/>
            <a:ext cx="347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20">
                <a:latin typeface="Georgia"/>
                <a:cs typeface="Georgia"/>
              </a:rPr>
              <a:t>Cr</a:t>
            </a:r>
            <a:r>
              <a:rPr dirty="0" sz="600" spc="8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9379" y="1234706"/>
            <a:ext cx="719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85">
                <a:latin typeface="Times New Roman"/>
                <a:cs typeface="Times New Roman"/>
              </a:rPr>
              <a:t>KMnO</a:t>
            </a:r>
            <a:r>
              <a:rPr dirty="0" baseline="-11111" sz="750" spc="127">
                <a:latin typeface="Book Antiqua"/>
                <a:cs typeface="Book Antiqua"/>
              </a:rPr>
              <a:t>4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500" spc="20">
                <a:latin typeface="Arial Unicode MS"/>
                <a:cs typeface="Arial Unicode MS"/>
              </a:rPr>
              <a:t>碱性溶液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6234" y="1306004"/>
            <a:ext cx="13004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24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</a:t>
            </a:r>
            <a:r>
              <a:rPr dirty="0" sz="450" spc="24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4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Georgia"/>
                <a:cs typeface="Georgia"/>
              </a:rPr>
              <a:t>CrO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0946" y="1311427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0946" y="14028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051" y="1674965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774" y="1660868"/>
            <a:ext cx="996950" cy="24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85">
                <a:latin typeface="Times New Roman"/>
                <a:cs typeface="Times New Roman"/>
              </a:rPr>
              <a:t>KMnO</a:t>
            </a:r>
            <a:r>
              <a:rPr dirty="0" baseline="-11111" sz="750" spc="127">
                <a:latin typeface="Book Antiqua"/>
                <a:cs typeface="Book Antiqua"/>
              </a:rPr>
              <a:t>4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500" spc="20">
                <a:latin typeface="Arial Unicode MS"/>
                <a:cs typeface="Arial Unicode MS"/>
              </a:rPr>
              <a:t>碱性溶液</a:t>
            </a:r>
            <a:endParaRPr sz="5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450" spc="24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</a:t>
            </a:r>
            <a:r>
              <a:rPr dirty="0" sz="450" spc="24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8396" y="1674965"/>
            <a:ext cx="355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12">
                <a:latin typeface="Georgia"/>
                <a:cs typeface="Georgia"/>
              </a:rPr>
              <a:t>Ce</a:t>
            </a:r>
            <a:r>
              <a:rPr dirty="0" sz="600" spc="75">
                <a:latin typeface="Times New Roman"/>
                <a:cs typeface="Times New Roman"/>
              </a:rPr>
              <a:t>4+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113" y="2058670"/>
            <a:ext cx="38665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可在酸性条件下用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2  </a:t>
            </a:r>
            <a:r>
              <a:rPr dirty="0" sz="1200" spc="-5">
                <a:latin typeface="Arial Unicode MS"/>
                <a:cs typeface="Arial Unicode MS"/>
              </a:rPr>
              <a:t>除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1588" y="244024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588" y="253169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1292" y="253169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587" y="2434818"/>
            <a:ext cx="2171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1447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5NO 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6H	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30">
                <a:latin typeface="Times New Roman"/>
                <a:cs typeface="Times New Roman"/>
              </a:rPr>
              <a:t> </a:t>
            </a:r>
            <a:r>
              <a:rPr dirty="0" sz="1100" spc="-45">
                <a:latin typeface="Georgia"/>
                <a:cs typeface="Georgia"/>
              </a:rPr>
              <a:t>2Mn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1292" y="2440241"/>
            <a:ext cx="13773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  <a:tab pos="1246505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9594" y="244024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59594" y="253169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81539" y="251823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40113" y="2434818"/>
            <a:ext cx="10274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5NO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3H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725944"/>
            <a:ext cx="440753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10"/>
              <a:t>在加</a:t>
            </a:r>
            <a:r>
              <a:rPr dirty="0" spc="-5"/>
              <a:t>入</a:t>
            </a:r>
            <a:r>
              <a:rPr dirty="0" spc="15"/>
              <a:t> </a:t>
            </a: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2</a:t>
            </a:r>
            <a:r>
              <a:rPr dirty="0" baseline="-23148" sz="900" spc="-104">
                <a:latin typeface="Times New Roman"/>
                <a:cs typeface="Times New Roman"/>
              </a:rPr>
              <a:t> </a:t>
            </a:r>
            <a:r>
              <a:rPr dirty="0" sz="1200" spc="-10"/>
              <a:t>除</a:t>
            </a:r>
            <a:r>
              <a:rPr dirty="0" sz="1200" spc="-5"/>
              <a:t>去</a:t>
            </a:r>
            <a:r>
              <a:rPr dirty="0" sz="1200" spc="15"/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10"/>
              <a:t>之</a:t>
            </a:r>
            <a:r>
              <a:rPr dirty="0" sz="1200" spc="-80"/>
              <a:t>前</a:t>
            </a:r>
            <a:r>
              <a:rPr dirty="0" sz="1200" spc="-195"/>
              <a:t>，</a:t>
            </a:r>
            <a:r>
              <a:rPr dirty="0" sz="1200" spc="-10"/>
              <a:t>为防</a:t>
            </a:r>
            <a:r>
              <a:rPr dirty="0" sz="1200" spc="-5"/>
              <a:t>止</a:t>
            </a:r>
            <a:r>
              <a:rPr dirty="0" sz="1200" spc="15"/>
              <a:t> </a:t>
            </a: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2</a:t>
            </a:r>
            <a:r>
              <a:rPr dirty="0" baseline="-23148" sz="900" spc="-104">
                <a:latin typeface="Times New Roman"/>
                <a:cs typeface="Times New Roman"/>
              </a:rPr>
              <a:t> </a:t>
            </a:r>
            <a:r>
              <a:rPr dirty="0" sz="1200" spc="-10"/>
              <a:t>还原已被氧化</a:t>
            </a:r>
            <a:r>
              <a:rPr dirty="0" sz="1200" spc="-5"/>
              <a:t>为 高价态的离</a:t>
            </a:r>
            <a:r>
              <a:rPr dirty="0" sz="1200" spc="-80"/>
              <a:t>子</a:t>
            </a:r>
            <a:r>
              <a:rPr dirty="0" sz="1200" spc="-185"/>
              <a:t>，</a:t>
            </a:r>
            <a:r>
              <a:rPr dirty="0" sz="1200" spc="-5"/>
              <a:t>通常要先加入尿</a:t>
            </a:r>
            <a:r>
              <a:rPr dirty="0" sz="1200" spc="-80"/>
              <a:t>素</a:t>
            </a:r>
            <a:r>
              <a:rPr dirty="0" sz="1200" spc="-185"/>
              <a:t>，</a:t>
            </a:r>
            <a:r>
              <a:rPr dirty="0" sz="1200" spc="-5"/>
              <a:t>然后小心滴加</a:t>
            </a:r>
            <a:r>
              <a:rPr dirty="0" sz="1200" spc="20"/>
              <a:t> </a:t>
            </a: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2 </a:t>
            </a:r>
            <a:r>
              <a:rPr dirty="0" sz="1200" spc="-5"/>
              <a:t>溶液至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10"/>
              <a:t>的红色</a:t>
            </a:r>
            <a:r>
              <a:rPr dirty="0" sz="1200" spc="-5"/>
              <a:t>刚</a:t>
            </a:r>
            <a:r>
              <a:rPr dirty="0" sz="1200" spc="-10"/>
              <a:t>好退</a:t>
            </a:r>
            <a:r>
              <a:rPr dirty="0" sz="1200" spc="-20"/>
              <a:t>去</a:t>
            </a:r>
            <a:r>
              <a:rPr dirty="0" sz="1200" spc="-235"/>
              <a:t>。</a:t>
            </a:r>
            <a:r>
              <a:rPr dirty="0" sz="1200" spc="-10"/>
              <a:t>多余</a:t>
            </a:r>
            <a:r>
              <a:rPr dirty="0" sz="1200" spc="-5"/>
              <a:t>的</a:t>
            </a:r>
            <a:r>
              <a:rPr dirty="0" sz="1200" spc="10"/>
              <a:t> </a:t>
            </a: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2</a:t>
            </a:r>
            <a:r>
              <a:rPr dirty="0" baseline="-23148" sz="900" spc="-15">
                <a:latin typeface="Times New Roman"/>
                <a:cs typeface="Times New Roman"/>
              </a:rPr>
              <a:t> </a:t>
            </a:r>
            <a:r>
              <a:rPr dirty="0" sz="1200" spc="-10"/>
              <a:t>在尿</a:t>
            </a:r>
            <a:r>
              <a:rPr dirty="0" sz="1200" spc="-5"/>
              <a:t>素</a:t>
            </a:r>
            <a:r>
              <a:rPr dirty="0" sz="1200" spc="-10"/>
              <a:t>作用下分</a:t>
            </a:r>
            <a:r>
              <a:rPr dirty="0" sz="1200" spc="-80"/>
              <a:t>解</a:t>
            </a:r>
            <a:r>
              <a:rPr dirty="0" sz="1200" spc="-190"/>
              <a:t>，</a:t>
            </a:r>
            <a:r>
              <a:rPr dirty="0" sz="1200" spc="-10"/>
              <a:t>反应</a:t>
            </a:r>
            <a:r>
              <a:rPr dirty="0" sz="1200" spc="-5"/>
              <a:t>如 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98" y="191157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98" y="1820125"/>
            <a:ext cx="13169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32535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6372" y="1898103"/>
            <a:ext cx="2280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6185" algn="l"/>
                <a:tab pos="1741170" algn="l"/>
                <a:tab pos="222123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61" y="1814702"/>
            <a:ext cx="3394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82750" algn="l"/>
              </a:tabLst>
            </a:pPr>
            <a:r>
              <a:rPr dirty="0" sz="1100" spc="-25">
                <a:latin typeface="Georgia"/>
                <a:cs typeface="Georgia"/>
              </a:rPr>
              <a:t>2NO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CO(NH 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2H	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-50">
                <a:latin typeface="Georgia"/>
                <a:cs typeface="Georgia"/>
              </a:rPr>
              <a:t>2N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 spc="80">
                <a:latin typeface="Georgia"/>
                <a:cs typeface="Georgia"/>
              </a:rPr>
              <a:t>+CO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>
                <a:latin typeface="Georgia"/>
                <a:cs typeface="Georgia"/>
              </a:rPr>
              <a:t>+3H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463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95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9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95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过氧化氢</a:t>
            </a:r>
            <a:r>
              <a:rPr dirty="0" sz="1050" spc="2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r>
              <a:rPr dirty="0" baseline="-11904" sz="1050" spc="3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dirty="0" baseline="-11904" sz="1050" spc="3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969022"/>
            <a:ext cx="424053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过氧化氢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是一种有效的氧化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常用于碱性介质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7914" y="1413992"/>
            <a:ext cx="347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20">
                <a:latin typeface="Georgia"/>
                <a:cs typeface="Georgia"/>
              </a:rPr>
              <a:t>Cr</a:t>
            </a:r>
            <a:r>
              <a:rPr dirty="0" sz="600" spc="8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6854" y="1399895"/>
            <a:ext cx="7848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H</a:t>
            </a:r>
            <a:r>
              <a:rPr dirty="0" baseline="-11111" sz="750" spc="135">
                <a:latin typeface="Book Antiqua"/>
                <a:cs typeface="Book Antiqua"/>
              </a:rPr>
              <a:t>2</a:t>
            </a:r>
            <a:r>
              <a:rPr dirty="0" sz="600" spc="90">
                <a:latin typeface="Times New Roman"/>
                <a:cs typeface="Times New Roman"/>
              </a:rPr>
              <a:t>O</a:t>
            </a:r>
            <a:r>
              <a:rPr dirty="0" baseline="-11111" sz="750" spc="135">
                <a:latin typeface="Book Antiqua"/>
                <a:cs typeface="Book Antiqua"/>
              </a:rPr>
              <a:t>2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NaOH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sz="500" spc="20">
                <a:latin typeface="Arial Unicode MS"/>
                <a:cs typeface="Arial Unicode MS"/>
              </a:rPr>
              <a:t>溶液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3710" y="1471206"/>
            <a:ext cx="136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75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</a:t>
            </a:r>
            <a:r>
              <a:rPr dirty="0" sz="450" spc="75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4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Georgia"/>
                <a:cs typeface="Georgia"/>
              </a:rPr>
              <a:t>CrO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3471" y="147661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3471" y="156806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113" y="1796326"/>
            <a:ext cx="3024505" cy="582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可通过加热的方式除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413384">
              <a:lnSpc>
                <a:spcPts val="630"/>
              </a:lnSpc>
              <a:spcBef>
                <a:spcPts val="1095"/>
              </a:spcBef>
            </a:pPr>
            <a:r>
              <a:rPr dirty="0" sz="600" spc="229">
                <a:latin typeface="Times New Roman"/>
                <a:cs typeface="Times New Roman"/>
              </a:rPr>
              <a:t>∆</a:t>
            </a:r>
            <a:endParaRPr sz="600">
              <a:latin typeface="Times New Roman"/>
              <a:cs typeface="Times New Roman"/>
            </a:endParaRPr>
          </a:p>
          <a:p>
            <a:pPr marL="1063625">
              <a:lnSpc>
                <a:spcPts val="1230"/>
              </a:lnSpc>
            </a:pPr>
            <a:r>
              <a:rPr dirty="0" sz="1100" spc="10">
                <a:latin typeface="Georgia"/>
                <a:cs typeface="Georgia"/>
              </a:rPr>
              <a:t>2H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O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</a:t>
            </a:r>
            <a:r>
              <a:rPr dirty="0" sz="1100" spc="-40">
                <a:latin typeface="Lucida Sans Unicode"/>
                <a:cs typeface="Lucida Sans Unicode"/>
              </a:rPr>
              <a:t>↑</a:t>
            </a:r>
            <a:r>
              <a:rPr dirty="0" sz="1100" spc="-8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+2H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4008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高氯酸</a:t>
            </a:r>
            <a:r>
              <a:rPr dirty="0" sz="1050" spc="2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Georgia"/>
                <a:cs typeface="Georgia"/>
              </a:rPr>
              <a:t>HClO</a:t>
            </a:r>
            <a:r>
              <a:rPr dirty="0" baseline="-11904" sz="1050" spc="1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856259"/>
            <a:ext cx="238442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热的高氯酸</a:t>
            </a:r>
            <a:r>
              <a:rPr dirty="0"/>
              <a:t> </a:t>
            </a:r>
            <a:r>
              <a:rPr dirty="0" sz="1100" spc="15">
                <a:latin typeface="Georgia"/>
                <a:cs typeface="Georgia"/>
              </a:rPr>
              <a:t>HClO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/>
              <a:t>具有强氧化</a:t>
            </a:r>
            <a:r>
              <a:rPr dirty="0" sz="1200" spc="-80"/>
              <a:t>性</a:t>
            </a:r>
            <a:r>
              <a:rPr dirty="0" sz="1200" spc="-5"/>
              <a:t>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816" y="1193355"/>
            <a:ext cx="347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20">
                <a:latin typeface="Georgia"/>
                <a:cs typeface="Georgia"/>
              </a:rPr>
              <a:t>Cr</a:t>
            </a:r>
            <a:r>
              <a:rPr dirty="0" sz="600" spc="8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1769" y="1179258"/>
            <a:ext cx="5156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浓热</a:t>
            </a:r>
            <a:r>
              <a:rPr dirty="0" sz="500" spc="65">
                <a:latin typeface="Arial Unicode MS"/>
                <a:cs typeface="Arial Unicode MS"/>
              </a:rPr>
              <a:t> </a:t>
            </a:r>
            <a:r>
              <a:rPr dirty="0" sz="600" spc="95">
                <a:latin typeface="Times New Roman"/>
                <a:cs typeface="Times New Roman"/>
              </a:rPr>
              <a:t>HClO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8079" y="13339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8624" y="1250556"/>
            <a:ext cx="1155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</a:t>
            </a: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8556" y="125597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8556" y="134743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3819" y="1677301"/>
            <a:ext cx="401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35">
                <a:latin typeface="Georgia"/>
                <a:cs typeface="Georgia"/>
              </a:rPr>
              <a:t>VO</a:t>
            </a:r>
            <a:r>
              <a:rPr dirty="0" sz="600" spc="9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6251" y="1663204"/>
            <a:ext cx="5156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浓热</a:t>
            </a:r>
            <a:r>
              <a:rPr dirty="0" sz="500" spc="65">
                <a:latin typeface="Arial Unicode MS"/>
                <a:cs typeface="Arial Unicode MS"/>
              </a:rPr>
              <a:t> </a:t>
            </a:r>
            <a:r>
              <a:rPr dirty="0" sz="600" spc="95">
                <a:latin typeface="Times New Roman"/>
                <a:cs typeface="Times New Roman"/>
              </a:rPr>
              <a:t>HClO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3107" y="1734502"/>
            <a:ext cx="104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</a:t>
            </a: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30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Georgia"/>
                <a:cs typeface="Georgia"/>
              </a:rPr>
              <a:t>VO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6067" y="1739925"/>
            <a:ext cx="965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600" spc="135">
                <a:latin typeface="Times New Roman"/>
                <a:cs typeface="Times New Roman"/>
              </a:rPr>
              <a:t>+ 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4113" y="2061298"/>
            <a:ext cx="28479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HClO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经稀释后即失去氧化能</a:t>
            </a:r>
            <a:r>
              <a:rPr dirty="0" sz="1200" spc="-20">
                <a:latin typeface="Arial Unicode MS"/>
                <a:cs typeface="Arial Unicode MS"/>
              </a:rPr>
              <a:t>力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4008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高氯酸</a:t>
            </a:r>
            <a:r>
              <a:rPr dirty="0" sz="1050" spc="2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Georgia"/>
                <a:cs typeface="Georgia"/>
              </a:rPr>
              <a:t>HClO</a:t>
            </a:r>
            <a:r>
              <a:rPr dirty="0" baseline="-11904" sz="1050" spc="1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856259"/>
            <a:ext cx="238442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热的高氯酸</a:t>
            </a:r>
            <a:r>
              <a:rPr dirty="0"/>
              <a:t> </a:t>
            </a:r>
            <a:r>
              <a:rPr dirty="0" sz="1100" spc="15">
                <a:latin typeface="Georgia"/>
                <a:cs typeface="Georgia"/>
              </a:rPr>
              <a:t>HClO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/>
              <a:t>具有强氧化</a:t>
            </a:r>
            <a:r>
              <a:rPr dirty="0" sz="1200" spc="-80"/>
              <a:t>性</a:t>
            </a:r>
            <a:r>
              <a:rPr dirty="0" sz="1200" spc="-5"/>
              <a:t>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816" y="1193355"/>
            <a:ext cx="347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20">
                <a:latin typeface="Georgia"/>
                <a:cs typeface="Georgia"/>
              </a:rPr>
              <a:t>Cr</a:t>
            </a:r>
            <a:r>
              <a:rPr dirty="0" sz="600" spc="8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1769" y="1179258"/>
            <a:ext cx="5156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浓热</a:t>
            </a:r>
            <a:r>
              <a:rPr dirty="0" sz="500" spc="65">
                <a:latin typeface="Arial Unicode MS"/>
                <a:cs typeface="Arial Unicode MS"/>
              </a:rPr>
              <a:t> </a:t>
            </a:r>
            <a:r>
              <a:rPr dirty="0" sz="600" spc="95">
                <a:latin typeface="Times New Roman"/>
                <a:cs typeface="Times New Roman"/>
              </a:rPr>
              <a:t>HClO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8079" y="13339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8624" y="1250556"/>
            <a:ext cx="1155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</a:t>
            </a: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8556" y="125597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8556" y="134743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3819" y="1677301"/>
            <a:ext cx="401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35">
                <a:latin typeface="Georgia"/>
                <a:cs typeface="Georgia"/>
              </a:rPr>
              <a:t>VO</a:t>
            </a:r>
            <a:r>
              <a:rPr dirty="0" sz="600" spc="9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6251" y="1663204"/>
            <a:ext cx="5156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浓热</a:t>
            </a:r>
            <a:r>
              <a:rPr dirty="0" sz="500" spc="65">
                <a:latin typeface="Arial Unicode MS"/>
                <a:cs typeface="Arial Unicode MS"/>
              </a:rPr>
              <a:t> </a:t>
            </a:r>
            <a:r>
              <a:rPr dirty="0" sz="600" spc="95">
                <a:latin typeface="Times New Roman"/>
                <a:cs typeface="Times New Roman"/>
              </a:rPr>
              <a:t>HClO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3107" y="1734502"/>
            <a:ext cx="104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</a:t>
            </a:r>
            <a:r>
              <a:rPr dirty="0" sz="450" spc="9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30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Georgia"/>
                <a:cs typeface="Georgia"/>
              </a:rPr>
              <a:t>VO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6067" y="1739925"/>
            <a:ext cx="965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600" spc="135">
                <a:latin typeface="Times New Roman"/>
                <a:cs typeface="Times New Roman"/>
              </a:rPr>
              <a:t>+ 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44" y="2061298"/>
            <a:ext cx="4432935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HClO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经稀释后即失去氧化能</a:t>
            </a:r>
            <a:r>
              <a:rPr dirty="0" sz="1200" spc="-20">
                <a:latin typeface="Arial Unicode MS"/>
                <a:cs typeface="Arial Unicode MS"/>
              </a:rPr>
              <a:t>力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注</a:t>
            </a:r>
            <a:r>
              <a:rPr dirty="0" sz="1200" spc="-80">
                <a:solidFill>
                  <a:srgbClr val="FF0000"/>
                </a:solidFill>
                <a:latin typeface="Arial Unicode MS"/>
                <a:cs typeface="Arial Unicode MS"/>
              </a:rPr>
              <a:t>意</a:t>
            </a:r>
            <a:r>
              <a:rPr dirty="0" sz="1200" spc="-210">
                <a:solidFill>
                  <a:srgbClr val="FF0000"/>
                </a:solidFill>
                <a:latin typeface="Arial Unicode MS"/>
                <a:cs typeface="Arial Unicode MS"/>
              </a:rPr>
              <a:t>，</a:t>
            </a: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浓热</a:t>
            </a: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的</a:t>
            </a: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dirty="0" sz="1100" spc="15">
                <a:solidFill>
                  <a:srgbClr val="FF0000"/>
                </a:solidFill>
                <a:latin typeface="Georgia"/>
                <a:cs typeface="Georgia"/>
              </a:rPr>
              <a:t>HClO</a:t>
            </a:r>
            <a:r>
              <a:rPr dirty="0" baseline="-13888" sz="900" spc="22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遇到有机物时会发生爆</a:t>
            </a:r>
            <a:r>
              <a:rPr dirty="0" sz="1200" spc="-95">
                <a:solidFill>
                  <a:srgbClr val="FF0000"/>
                </a:solidFill>
                <a:latin typeface="Arial Unicode MS"/>
                <a:cs typeface="Arial Unicode MS"/>
              </a:rPr>
              <a:t>炸</a:t>
            </a:r>
            <a:r>
              <a:rPr dirty="0" sz="1200" spc="-190">
                <a:solidFill>
                  <a:srgbClr val="FF0000"/>
                </a:solidFill>
                <a:latin typeface="Arial Unicode MS"/>
                <a:cs typeface="Arial Unicode MS"/>
              </a:rPr>
              <a:t>！</a:t>
            </a: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因</a:t>
            </a:r>
            <a:r>
              <a:rPr dirty="0" sz="1200" spc="-80">
                <a:solidFill>
                  <a:srgbClr val="FF0000"/>
                </a:solidFill>
                <a:latin typeface="Arial Unicode MS"/>
                <a:cs typeface="Arial Unicode MS"/>
              </a:rPr>
              <a:t>此</a:t>
            </a:r>
            <a:r>
              <a:rPr dirty="0" sz="1200" spc="-210">
                <a:solidFill>
                  <a:srgbClr val="FF0000"/>
                </a:solidFill>
                <a:latin typeface="Arial Unicode MS"/>
                <a:cs typeface="Arial Unicode MS"/>
              </a:rPr>
              <a:t>，</a:t>
            </a:r>
            <a:r>
              <a:rPr dirty="0" sz="1200" spc="-10">
                <a:solidFill>
                  <a:srgbClr val="FF0000"/>
                </a:solidFill>
                <a:latin typeface="Arial Unicode MS"/>
                <a:cs typeface="Arial Unicode MS"/>
              </a:rPr>
              <a:t>对含有有</a:t>
            </a: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机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物的试</a:t>
            </a:r>
            <a:r>
              <a:rPr dirty="0" sz="1200" spc="-80">
                <a:solidFill>
                  <a:srgbClr val="FF0000"/>
                </a:solidFill>
                <a:latin typeface="Arial Unicode MS"/>
                <a:cs typeface="Arial Unicode MS"/>
              </a:rPr>
              <a:t>样</a:t>
            </a:r>
            <a:r>
              <a:rPr dirty="0" sz="1200" spc="-185">
                <a:solidFill>
                  <a:srgbClr val="FF0000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应先用</a:t>
            </a:r>
            <a:r>
              <a:rPr dirty="0" sz="1200" spc="25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dirty="0" sz="1100" spc="-5">
                <a:solidFill>
                  <a:srgbClr val="FF0000"/>
                </a:solidFill>
                <a:latin typeface="Georgia"/>
                <a:cs typeface="Georgia"/>
              </a:rPr>
              <a:t>HNO</a:t>
            </a:r>
            <a:r>
              <a:rPr dirty="0" baseline="-13888" sz="900" spc="-7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dirty="0" baseline="-13888" sz="900" spc="1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将有机物破坏</a:t>
            </a:r>
            <a:r>
              <a:rPr dirty="0" sz="1200" spc="-20">
                <a:solidFill>
                  <a:srgbClr val="FF0000"/>
                </a:solidFill>
                <a:latin typeface="Arial Unicode MS"/>
                <a:cs typeface="Arial Unicode MS"/>
              </a:rPr>
              <a:t>掉</a:t>
            </a:r>
            <a:r>
              <a:rPr dirty="0" sz="1200" spc="-5">
                <a:solidFill>
                  <a:srgbClr val="FF0000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998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6.5.2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预还原剂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49923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6089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2255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28420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059357"/>
            <a:ext cx="1419225" cy="13341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常用的预还原剂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 marR="639445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氯化亚锡 三氯化钛 </a:t>
            </a:r>
            <a:r>
              <a:rPr dirty="0" sz="1200" spc="-5">
                <a:latin typeface="Arial Unicode MS"/>
                <a:cs typeface="Arial Unicode MS"/>
              </a:rPr>
              <a:t>金属还原剂 </a:t>
            </a:r>
            <a:r>
              <a:rPr dirty="0" sz="1200" spc="-5">
                <a:latin typeface="Arial Unicode MS"/>
                <a:cs typeface="Arial Unicode MS"/>
              </a:rPr>
              <a:t>二氧化硫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4808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5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5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55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氯化亚锡</a:t>
            </a:r>
            <a:r>
              <a:rPr dirty="0" sz="1050" spc="2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Georgia"/>
                <a:cs typeface="Georgia"/>
              </a:rPr>
              <a:t>SnCl</a:t>
            </a:r>
            <a:r>
              <a:rPr dirty="0" baseline="-11904" sz="1050" spc="1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758863"/>
            <a:ext cx="32042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氯化亚锡</a:t>
            </a:r>
            <a:r>
              <a:rPr dirty="0"/>
              <a:t> </a:t>
            </a:r>
            <a:r>
              <a:rPr dirty="0" sz="1100" spc="15">
                <a:latin typeface="Georgia"/>
                <a:cs typeface="Georgia"/>
              </a:rPr>
              <a:t>SnCl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/>
              <a:t>通常在酸性溶液中使</a:t>
            </a:r>
            <a:r>
              <a:rPr dirty="0" sz="1200" spc="-80"/>
              <a:t>用</a:t>
            </a:r>
            <a:r>
              <a:rPr dirty="0" sz="1200" spc="-185"/>
              <a:t>，</a:t>
            </a:r>
            <a:r>
              <a:rPr dirty="0" sz="1200" spc="-5"/>
              <a:t>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1922" y="1096264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8462" y="1082167"/>
            <a:ext cx="971550" cy="24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热 </a:t>
            </a:r>
            <a:r>
              <a:rPr dirty="0" sz="600" spc="80">
                <a:latin typeface="Times New Roman"/>
                <a:cs typeface="Times New Roman"/>
              </a:rPr>
              <a:t>SnCl</a:t>
            </a:r>
            <a:r>
              <a:rPr dirty="0" baseline="-11111" sz="750" spc="120">
                <a:latin typeface="Book Antiqua"/>
                <a:cs typeface="Book Antiqua"/>
              </a:rPr>
              <a:t>2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-65">
                <a:latin typeface="Times New Roman"/>
                <a:cs typeface="Times New Roman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HCl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450" spc="14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</a:t>
            </a:r>
            <a:r>
              <a:rPr dirty="0" sz="450" spc="14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5696" y="1096264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1640" y="1566113"/>
            <a:ext cx="1925320" cy="26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45720">
              <a:lnSpc>
                <a:spcPts val="635"/>
              </a:lnSpc>
              <a:spcBef>
                <a:spcPts val="95"/>
              </a:spcBef>
            </a:pPr>
            <a:r>
              <a:rPr dirty="0" sz="500" spc="20">
                <a:latin typeface="Arial Unicode MS"/>
                <a:cs typeface="Arial Unicode MS"/>
              </a:rPr>
              <a:t>热  </a:t>
            </a:r>
            <a:r>
              <a:rPr dirty="0" sz="600" spc="85">
                <a:latin typeface="Times New Roman"/>
                <a:cs typeface="Times New Roman"/>
              </a:rPr>
              <a:t>SnCl</a:t>
            </a:r>
            <a:r>
              <a:rPr dirty="0" baseline="-11111" sz="750" spc="127">
                <a:latin typeface="Book Antiqua"/>
                <a:cs typeface="Book Antiqua"/>
              </a:rPr>
              <a:t>2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-60">
                <a:latin typeface="Times New Roman"/>
                <a:cs typeface="Times New Roman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HCl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ts val="1235"/>
              </a:lnSpc>
            </a:pPr>
            <a:r>
              <a:rPr dirty="0" sz="1100" spc="25">
                <a:latin typeface="Georgia"/>
                <a:cs typeface="Georgia"/>
              </a:rPr>
              <a:t>As(V)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30">
                <a:latin typeface="Times New Roman"/>
                <a:cs typeface="Times New Roman"/>
              </a:rPr>
              <a:t> </a:t>
            </a:r>
            <a:r>
              <a:rPr dirty="0" sz="1100">
                <a:latin typeface="Georgia"/>
                <a:cs typeface="Georgia"/>
              </a:rPr>
              <a:t>As(III)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923161"/>
            <a:ext cx="436499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SnCl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可通过加入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HgCl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baseline="-13888" sz="900" spc="14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溶液使生成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Hg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Cl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沉淀而除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397" y="2564523"/>
            <a:ext cx="318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S</a:t>
            </a:r>
            <a:r>
              <a:rPr dirty="0" sz="1100" spc="-35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6878" y="256994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6878" y="26613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3039" y="264792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3494" y="2564523"/>
            <a:ext cx="1352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6910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2HgCl	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40">
                <a:latin typeface="Times New Roman"/>
                <a:cs typeface="Times New Roman"/>
              </a:rPr>
              <a:t> </a:t>
            </a:r>
            <a:r>
              <a:rPr dirty="0" sz="1100">
                <a:latin typeface="Georgia"/>
                <a:cs typeface="Georgia"/>
              </a:rPr>
              <a:t>SnCl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0060" y="256994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20060" y="26613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88398" y="2647924"/>
            <a:ext cx="2635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6664" y="2551239"/>
            <a:ext cx="9874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Hg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白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421805"/>
            <a:ext cx="43395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要注意的</a:t>
            </a:r>
            <a:r>
              <a:rPr dirty="0" spc="-80"/>
              <a:t>是</a:t>
            </a:r>
            <a:r>
              <a:rPr dirty="0" spc="-185"/>
              <a:t>，</a:t>
            </a:r>
            <a:r>
              <a:rPr dirty="0" spc="-5"/>
              <a:t>在进行还原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应避免加入过多的</a:t>
            </a:r>
            <a:r>
              <a:rPr dirty="0" spc="-20"/>
              <a:t> </a:t>
            </a:r>
            <a:r>
              <a:rPr dirty="0" sz="1100" spc="-25">
                <a:latin typeface="Georgia"/>
                <a:cs typeface="Georgia"/>
              </a:rPr>
              <a:t>SnCl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200" spc="-25"/>
              <a:t>，</a:t>
            </a:r>
            <a:r>
              <a:rPr dirty="0" sz="1200" spc="-5"/>
              <a:t>否则 不但会生成大量的</a:t>
            </a:r>
            <a:r>
              <a:rPr dirty="0" sz="1200" spc="15"/>
              <a:t> </a:t>
            </a:r>
            <a:r>
              <a:rPr dirty="0" sz="1100" spc="-10">
                <a:latin typeface="Georgia"/>
                <a:cs typeface="Georgia"/>
              </a:rPr>
              <a:t>Hg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Cl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200" spc="-10"/>
              <a:t>，</a:t>
            </a:r>
            <a:r>
              <a:rPr dirty="0" sz="1200" spc="-5"/>
              <a:t>而且</a:t>
            </a:r>
            <a:r>
              <a:rPr dirty="0" sz="1200" spc="15"/>
              <a:t> </a:t>
            </a:r>
            <a:r>
              <a:rPr dirty="0" sz="1100" spc="15">
                <a:latin typeface="Georgia"/>
                <a:cs typeface="Georgia"/>
              </a:rPr>
              <a:t>SnCl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/>
              <a:t>还会进一步将</a:t>
            </a:r>
            <a:r>
              <a:rPr dirty="0" sz="1200" spc="15"/>
              <a:t> </a:t>
            </a:r>
            <a:r>
              <a:rPr dirty="0" sz="1100" spc="25">
                <a:latin typeface="Georgia"/>
                <a:cs typeface="Georgia"/>
              </a:rPr>
              <a:t>Hg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Cl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/>
              <a:t>还原 为金属</a:t>
            </a:r>
            <a:r>
              <a:rPr dirty="0" sz="1200" spc="25"/>
              <a:t> </a:t>
            </a:r>
            <a:r>
              <a:rPr dirty="0" sz="1100" spc="-60">
                <a:latin typeface="Georgia"/>
                <a:cs typeface="Georgia"/>
              </a:rPr>
              <a:t>Hg</a:t>
            </a:r>
            <a:r>
              <a:rPr dirty="0" sz="1200" spc="-60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2832" y="1370266"/>
            <a:ext cx="2635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8634" y="129228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8634" y="138374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9642" y="1286865"/>
            <a:ext cx="22834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09345" algn="l"/>
              </a:tabLst>
            </a:pPr>
            <a:r>
              <a:rPr dirty="0" sz="1100" spc="-50">
                <a:latin typeface="Georgia"/>
                <a:cs typeface="Georgia"/>
              </a:rPr>
              <a:t>Hg  </a:t>
            </a:r>
            <a:r>
              <a:rPr dirty="0" sz="1100" spc="30">
                <a:latin typeface="Georgia"/>
                <a:cs typeface="Georgia"/>
              </a:rPr>
              <a:t>Cl 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SnCl	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-55">
                <a:latin typeface="Georgia"/>
                <a:cs typeface="Georgia"/>
              </a:rPr>
              <a:t>2Hg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+SnCl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7130" y="129228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7130" y="138374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629549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生成的金</a:t>
            </a:r>
            <a:r>
              <a:rPr dirty="0" sz="1200" spc="-5">
                <a:latin typeface="Arial Unicode MS"/>
                <a:cs typeface="Arial Unicode MS"/>
              </a:rPr>
              <a:t>属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Hg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具有一定的还原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可与溶液中存在的氧化</a:t>
            </a:r>
            <a:r>
              <a:rPr dirty="0" sz="1200" spc="-5">
                <a:latin typeface="Arial Unicode MS"/>
                <a:cs typeface="Arial Unicode MS"/>
              </a:rPr>
              <a:t>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038" y="23677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4038" y="2276335"/>
            <a:ext cx="11137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3555" algn="l"/>
                <a:tab pos="102743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2701" y="2354313"/>
            <a:ext cx="2635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975" y="2270912"/>
            <a:ext cx="3457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61210" algn="l"/>
              </a:tabLst>
            </a:pPr>
            <a:r>
              <a:rPr dirty="0" sz="1100" spc="-40">
                <a:latin typeface="Georgia"/>
                <a:cs typeface="Georgia"/>
              </a:rPr>
              <a:t>10Hg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10Cl	</a:t>
            </a:r>
            <a:r>
              <a:rPr dirty="0" sz="450" spc="625">
                <a:latin typeface="Times New Roman"/>
                <a:cs typeface="Times New Roman"/>
              </a:rPr>
              <a:t>► </a:t>
            </a:r>
            <a:r>
              <a:rPr dirty="0" sz="1100" spc="-45">
                <a:latin typeface="Georgia"/>
                <a:cs typeface="Georgia"/>
              </a:rPr>
              <a:t>5Hg </a:t>
            </a:r>
            <a:r>
              <a:rPr dirty="0" sz="1100" spc="30">
                <a:latin typeface="Georgia"/>
                <a:cs typeface="Georgia"/>
              </a:rPr>
              <a:t>Cl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3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+2Mn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93921" y="2276335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60151" y="235431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8417" y="2270912"/>
            <a:ext cx="497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8H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887" y="192722"/>
            <a:ext cx="146685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三氯化钛</a:t>
            </a:r>
            <a:r>
              <a:rPr dirty="0" sz="1050" spc="2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TiCl</a:t>
            </a:r>
            <a:r>
              <a:rPr dirty="0" baseline="-11904" sz="1050" spc="52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137589"/>
            <a:ext cx="438404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并</a:t>
            </a:r>
            <a:r>
              <a:rPr dirty="0" sz="1200" spc="-80">
                <a:latin typeface="Arial Unicode MS"/>
                <a:cs typeface="Arial Unicode MS"/>
              </a:rPr>
              <a:t>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HgCl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是有毒物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部颁标准中已采用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TiCl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取代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15">
                <a:latin typeface="Georgia"/>
                <a:cs typeface="Georgia"/>
              </a:rPr>
              <a:t>SnCl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来还原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Fe</a:t>
            </a:r>
            <a:r>
              <a:rPr dirty="0" baseline="37037" sz="900" spc="82">
                <a:latin typeface="Times New Roman"/>
                <a:cs typeface="Times New Roman"/>
              </a:rPr>
              <a:t>3+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4243" y="1721751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0796" y="1707654"/>
            <a:ext cx="906780" cy="24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TiCl</a:t>
            </a:r>
            <a:r>
              <a:rPr dirty="0" baseline="-11111" sz="750" spc="97">
                <a:latin typeface="Book Antiqua"/>
                <a:cs typeface="Book Antiqua"/>
              </a:rPr>
              <a:t>3</a:t>
            </a:r>
            <a:r>
              <a:rPr dirty="0" sz="500" spc="65">
                <a:latin typeface="Arial Unicode MS"/>
                <a:cs typeface="Arial Unicode MS"/>
              </a:rPr>
              <a:t>，</a:t>
            </a:r>
            <a:r>
              <a:rPr dirty="0" sz="500" spc="20">
                <a:latin typeface="Arial Unicode MS"/>
                <a:cs typeface="Arial Unicode MS"/>
              </a:rPr>
              <a:t>酸性溶液</a:t>
            </a:r>
            <a:endParaRPr sz="5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450" spc="95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</a:t>
            </a:r>
            <a:r>
              <a:rPr dirty="0" sz="450" spc="95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73375" y="1721751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113" y="2162683"/>
            <a:ext cx="3382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TiCl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用水稀释后易被水中的溶解氧氧</a:t>
            </a:r>
            <a:r>
              <a:rPr dirty="0" sz="1200" spc="-20">
                <a:latin typeface="Arial Unicode MS"/>
                <a:cs typeface="Arial Unicode MS"/>
              </a:rPr>
              <a:t>化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9925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金属还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原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677214"/>
            <a:ext cx="28054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常用的金属还原剂有</a:t>
            </a:r>
            <a:r>
              <a:rPr dirty="0" spc="-80"/>
              <a:t>铝</a:t>
            </a:r>
            <a:r>
              <a:rPr dirty="0" spc="-185"/>
              <a:t>，</a:t>
            </a:r>
            <a:r>
              <a:rPr dirty="0" spc="-80"/>
              <a:t>锌</a:t>
            </a:r>
            <a:r>
              <a:rPr dirty="0" spc="-185"/>
              <a:t>，</a:t>
            </a:r>
            <a:r>
              <a:rPr dirty="0" spc="-5"/>
              <a:t>铁</a:t>
            </a:r>
            <a:r>
              <a:rPr dirty="0" spc="-20"/>
              <a:t>等</a:t>
            </a:r>
            <a:r>
              <a:rPr dirty="0" spc="-235"/>
              <a:t>。</a:t>
            </a:r>
            <a:r>
              <a:rPr dirty="0" spc="-5"/>
              <a:t>例</a:t>
            </a:r>
            <a:r>
              <a:rPr dirty="0" spc="-90"/>
              <a:t>如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9344" y="1000683"/>
            <a:ext cx="158940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9530">
              <a:lnSpc>
                <a:spcPts val="630"/>
              </a:lnSpc>
              <a:spcBef>
                <a:spcPts val="95"/>
              </a:spcBef>
            </a:pPr>
            <a:r>
              <a:rPr dirty="0" sz="600" spc="55">
                <a:latin typeface="Times New Roman"/>
                <a:cs typeface="Times New Roman"/>
              </a:rPr>
              <a:t>Zn</a:t>
            </a:r>
            <a:r>
              <a:rPr dirty="0" sz="500" spc="55">
                <a:latin typeface="Arial Unicode MS"/>
                <a:cs typeface="Arial Unicode MS"/>
              </a:rPr>
              <a:t>，</a:t>
            </a:r>
            <a:r>
              <a:rPr dirty="0" sz="600" spc="55">
                <a:latin typeface="Times New Roman"/>
                <a:cs typeface="Times New Roman"/>
              </a:rPr>
              <a:t>HCl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ts val="1230"/>
              </a:lnSpc>
            </a:pPr>
            <a:r>
              <a:rPr dirty="0" sz="1100">
                <a:latin typeface="Georgia"/>
                <a:cs typeface="Georgia"/>
              </a:rPr>
              <a:t>Sn(IV)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640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Sn(II)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799" y="1482356"/>
            <a:ext cx="161290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630"/>
              </a:lnSpc>
              <a:spcBef>
                <a:spcPts val="95"/>
              </a:spcBef>
            </a:pPr>
            <a:r>
              <a:rPr dirty="0" sz="600" spc="55">
                <a:latin typeface="Times New Roman"/>
                <a:cs typeface="Times New Roman"/>
              </a:rPr>
              <a:t>Zn</a:t>
            </a:r>
            <a:r>
              <a:rPr dirty="0" sz="500" spc="55">
                <a:latin typeface="Arial Unicode MS"/>
                <a:cs typeface="Arial Unicode MS"/>
              </a:rPr>
              <a:t>，</a:t>
            </a:r>
            <a:r>
              <a:rPr dirty="0" sz="600" spc="55">
                <a:latin typeface="Times New Roman"/>
                <a:cs typeface="Times New Roman"/>
              </a:rPr>
              <a:t>HCl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ts val="1230"/>
              </a:lnSpc>
            </a:pPr>
            <a:r>
              <a:rPr dirty="0" sz="1100" spc="25">
                <a:latin typeface="Georgia"/>
                <a:cs typeface="Georgia"/>
              </a:rPr>
              <a:t>Ti(IV)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r>
              <a:rPr dirty="0" sz="450" spc="54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Georgia"/>
                <a:cs typeface="Georgia"/>
              </a:rPr>
              <a:t>Ti(III)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835023"/>
            <a:ext cx="4308475" cy="12827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过量的金属还原剂可通过过滤的方式或通过加酸溶解的方式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除</a:t>
            </a:r>
            <a:r>
              <a:rPr dirty="0" sz="1200" spc="-20">
                <a:latin typeface="Arial Unicode MS"/>
                <a:cs typeface="Arial Unicode MS"/>
              </a:rPr>
              <a:t>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金属还原剂最好将其制备成汞齐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组装成还原柱使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 </a:t>
            </a:r>
            <a:r>
              <a:rPr dirty="0" sz="1100" spc="-40">
                <a:latin typeface="Georgia"/>
                <a:cs typeface="Georgia"/>
              </a:rPr>
              <a:t>Jone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还原器即为锌汞齐</a:t>
            </a:r>
            <a:r>
              <a:rPr dirty="0" sz="1200" spc="-20">
                <a:latin typeface="Arial Unicode MS"/>
                <a:cs typeface="Arial Unicode MS"/>
              </a:rPr>
              <a:t>柱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Fe(III)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Cr(III)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Ti(IV)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溶液流经锌 汞齐柱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能分别还原成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Fe(II)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Cr(II)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Ti(III)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8597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二氧化硫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820191"/>
            <a:ext cx="413829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二氧化硫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是弱的还原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反应速度通常也较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在有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37037" sz="900" spc="97" i="1">
                <a:latin typeface="Arial"/>
                <a:cs typeface="Arial"/>
              </a:rPr>
              <a:t>−</a:t>
            </a:r>
            <a:r>
              <a:rPr dirty="0" baseline="37037" sz="900" spc="359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共存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反应速度才较</a:t>
            </a:r>
            <a:r>
              <a:rPr dirty="0" sz="1200" spc="-90">
                <a:latin typeface="Arial Unicode MS"/>
                <a:cs typeface="Arial Unicode MS"/>
              </a:rPr>
              <a:t>快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8227" y="1447711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4779" y="1429258"/>
            <a:ext cx="1678939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SO</a:t>
            </a:r>
            <a:r>
              <a:rPr dirty="0" baseline="-11111" sz="750" spc="135">
                <a:latin typeface="Book Antiqua"/>
                <a:cs typeface="Book Antiqua"/>
              </a:rPr>
              <a:t>2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H</a:t>
            </a:r>
            <a:r>
              <a:rPr dirty="0" baseline="-11111" sz="750" spc="157">
                <a:latin typeface="Book Antiqua"/>
                <a:cs typeface="Book Antiqua"/>
              </a:rPr>
              <a:t>2</a:t>
            </a:r>
            <a:r>
              <a:rPr dirty="0" sz="600" spc="105">
                <a:latin typeface="Times New Roman"/>
                <a:cs typeface="Times New Roman"/>
              </a:rPr>
              <a:t>SO</a:t>
            </a:r>
            <a:r>
              <a:rPr dirty="0" baseline="-11111" sz="750" spc="157">
                <a:latin typeface="Book Antiqua"/>
                <a:cs typeface="Book Antiqua"/>
              </a:rPr>
              <a:t>4</a:t>
            </a:r>
            <a:r>
              <a:rPr dirty="0" sz="600" spc="105">
                <a:latin typeface="Times New Roman"/>
                <a:cs typeface="Times New Roman"/>
              </a:rPr>
              <a:t>( </a:t>
            </a:r>
            <a:r>
              <a:rPr dirty="0" sz="600" spc="65">
                <a:latin typeface="Times New Roman"/>
                <a:cs typeface="Times New Roman"/>
              </a:rPr>
              <a:t>1 </a:t>
            </a:r>
            <a:r>
              <a:rPr dirty="0" sz="600" spc="85">
                <a:latin typeface="Times New Roman"/>
                <a:cs typeface="Times New Roman"/>
              </a:rPr>
              <a:t>mol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L)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SCN</a:t>
            </a:r>
            <a:r>
              <a:rPr dirty="0" baseline="27777" sz="750" spc="127" i="1">
                <a:latin typeface="Verdana"/>
                <a:cs typeface="Verdana"/>
              </a:rPr>
              <a:t>−</a:t>
            </a:r>
            <a:endParaRPr baseline="27777" sz="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         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59391" y="1447711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67">
                <a:latin typeface="Georgia"/>
                <a:cs typeface="Georgia"/>
              </a:rPr>
              <a:t>Fe</a:t>
            </a:r>
            <a:r>
              <a:rPr dirty="0" sz="600" spc="45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8331" y="2014524"/>
            <a:ext cx="418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AS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45">
                <a:latin typeface="Georgia"/>
                <a:cs typeface="Georgia"/>
              </a:rPr>
              <a:t>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7830" y="1938870"/>
            <a:ext cx="1678939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SO</a:t>
            </a:r>
            <a:r>
              <a:rPr dirty="0" baseline="-11111" sz="750" spc="135">
                <a:latin typeface="Book Antiqua"/>
                <a:cs typeface="Book Antiqua"/>
              </a:rPr>
              <a:t>2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H</a:t>
            </a:r>
            <a:r>
              <a:rPr dirty="0" baseline="-11111" sz="750" spc="157">
                <a:latin typeface="Book Antiqua"/>
                <a:cs typeface="Book Antiqua"/>
              </a:rPr>
              <a:t>2</a:t>
            </a:r>
            <a:r>
              <a:rPr dirty="0" sz="600" spc="105">
                <a:latin typeface="Times New Roman"/>
                <a:cs typeface="Times New Roman"/>
              </a:rPr>
              <a:t>SO</a:t>
            </a:r>
            <a:r>
              <a:rPr dirty="0" baseline="-11111" sz="750" spc="157">
                <a:latin typeface="Book Antiqua"/>
                <a:cs typeface="Book Antiqua"/>
              </a:rPr>
              <a:t>4</a:t>
            </a:r>
            <a:r>
              <a:rPr dirty="0" sz="600" spc="105">
                <a:latin typeface="Times New Roman"/>
                <a:cs typeface="Times New Roman"/>
              </a:rPr>
              <a:t>( </a:t>
            </a:r>
            <a:r>
              <a:rPr dirty="0" sz="600" spc="65">
                <a:latin typeface="Times New Roman"/>
                <a:cs typeface="Times New Roman"/>
              </a:rPr>
              <a:t>1 </a:t>
            </a:r>
            <a:r>
              <a:rPr dirty="0" sz="600" spc="85">
                <a:latin typeface="Times New Roman"/>
                <a:cs typeface="Times New Roman"/>
              </a:rPr>
              <a:t>mol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L)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SCN</a:t>
            </a:r>
            <a:r>
              <a:rPr dirty="0" baseline="27777" sz="750" spc="127" i="1">
                <a:latin typeface="Verdana"/>
                <a:cs typeface="Verdana"/>
              </a:rPr>
              <a:t>−</a:t>
            </a:r>
            <a:endParaRPr baseline="27777" sz="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         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7854" y="2014524"/>
            <a:ext cx="4718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AS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-5">
                <a:latin typeface="Georgia"/>
                <a:cs typeface="Georgia"/>
              </a:rPr>
              <a:t>II</a:t>
            </a:r>
            <a:r>
              <a:rPr dirty="0" sz="1100" spc="-15">
                <a:latin typeface="Georgia"/>
                <a:cs typeface="Georgia"/>
              </a:rPr>
              <a:t>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5268" y="2467216"/>
            <a:ext cx="391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20">
                <a:latin typeface="Georgia"/>
                <a:cs typeface="Georgia"/>
              </a:rPr>
              <a:t>b</a:t>
            </a:r>
            <a:r>
              <a:rPr dirty="0" sz="1100" spc="35">
                <a:latin typeface="Georgia"/>
                <a:cs typeface="Georgia"/>
              </a:rPr>
              <a:t>(V)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7830" y="2391549"/>
            <a:ext cx="1678939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SO</a:t>
            </a:r>
            <a:r>
              <a:rPr dirty="0" baseline="-11111" sz="750" spc="135">
                <a:latin typeface="Book Antiqua"/>
                <a:cs typeface="Book Antiqua"/>
              </a:rPr>
              <a:t>2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H</a:t>
            </a:r>
            <a:r>
              <a:rPr dirty="0" baseline="-11111" sz="750" spc="157">
                <a:latin typeface="Book Antiqua"/>
                <a:cs typeface="Book Antiqua"/>
              </a:rPr>
              <a:t>2</a:t>
            </a:r>
            <a:r>
              <a:rPr dirty="0" sz="600" spc="105">
                <a:latin typeface="Times New Roman"/>
                <a:cs typeface="Times New Roman"/>
              </a:rPr>
              <a:t>SO</a:t>
            </a:r>
            <a:r>
              <a:rPr dirty="0" baseline="-11111" sz="750" spc="157">
                <a:latin typeface="Book Antiqua"/>
                <a:cs typeface="Book Antiqua"/>
              </a:rPr>
              <a:t>4</a:t>
            </a:r>
            <a:r>
              <a:rPr dirty="0" sz="600" spc="105">
                <a:latin typeface="Times New Roman"/>
                <a:cs typeface="Times New Roman"/>
              </a:rPr>
              <a:t>( </a:t>
            </a:r>
            <a:r>
              <a:rPr dirty="0" sz="600" spc="65">
                <a:latin typeface="Times New Roman"/>
                <a:cs typeface="Times New Roman"/>
              </a:rPr>
              <a:t>1 </a:t>
            </a:r>
            <a:r>
              <a:rPr dirty="0" sz="600" spc="85">
                <a:latin typeface="Times New Roman"/>
                <a:cs typeface="Times New Roman"/>
              </a:rPr>
              <a:t>mol</a:t>
            </a:r>
            <a:r>
              <a:rPr dirty="0" sz="600" spc="85" i="1">
                <a:latin typeface="Arial"/>
                <a:cs typeface="Arial"/>
              </a:rPr>
              <a:t>/</a:t>
            </a:r>
            <a:r>
              <a:rPr dirty="0" sz="600" spc="85">
                <a:latin typeface="Times New Roman"/>
                <a:cs typeface="Times New Roman"/>
              </a:rPr>
              <a:t>L)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SCN</a:t>
            </a:r>
            <a:r>
              <a:rPr dirty="0" baseline="27777" sz="750" spc="127" i="1">
                <a:latin typeface="Verdana"/>
                <a:cs typeface="Verdana"/>
              </a:rPr>
              <a:t>−</a:t>
            </a:r>
            <a:endParaRPr baseline="27777" sz="7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300">
                <a:latin typeface="Times New Roman"/>
                <a:cs typeface="Times New Roman"/>
              </a:rPr>
              <a:t>                         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625">
                <a:latin typeface="Times New Roman"/>
                <a:cs typeface="Times New Roman"/>
              </a:rPr>
              <a:t>►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7854" y="2467203"/>
            <a:ext cx="4451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20">
                <a:latin typeface="Georgia"/>
                <a:cs typeface="Georgia"/>
              </a:rPr>
              <a:t>b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sz="1100" spc="-5">
                <a:latin typeface="Georgia"/>
                <a:cs typeface="Georgia"/>
              </a:rPr>
              <a:t>I</a:t>
            </a:r>
            <a:r>
              <a:rPr dirty="0" sz="1100" spc="-15">
                <a:latin typeface="Georgia"/>
                <a:cs typeface="Georgia"/>
              </a:rPr>
              <a:t>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23971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6.6</a:t>
            </a:r>
            <a:r>
              <a:rPr dirty="0" sz="1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氧化还原滴定法的应用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9506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56715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91837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18003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44168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955179"/>
            <a:ext cx="1723389" cy="15957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常用的氧化还原方法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just" marL="12700" marR="942975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高锰酸钾法 重铬酸钾法 </a:t>
            </a:r>
            <a:r>
              <a:rPr dirty="0" sz="1200" spc="-5">
                <a:latin typeface="Arial Unicode MS"/>
                <a:cs typeface="Arial Unicode MS"/>
              </a:rPr>
              <a:t>碘量法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硫酸铈法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溴酸钾法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6.6.1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钾法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550456"/>
            <a:ext cx="1463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370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在强酸性溶液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6525" y="6471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7044" y="550456"/>
            <a:ext cx="17367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10">
                <a:latin typeface="Georgia"/>
                <a:cs typeface="Georgia"/>
              </a:rPr>
              <a:t>KMnO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表现为强氧化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9918" y="6606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2784" y="550456"/>
            <a:ext cx="9696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baseline="37037" sz="900" spc="28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774153"/>
            <a:ext cx="14706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629" y="11896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629" y="1098232"/>
            <a:ext cx="5187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908" y="1092822"/>
            <a:ext cx="1136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8H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5e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2137" y="119089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4044" y="1098232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0273" y="11762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0082" y="1092822"/>
            <a:ext cx="856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dirty="0" sz="1100" spc="-35">
                <a:latin typeface="Georgia"/>
                <a:cs typeface="Georgia"/>
              </a:rPr>
              <a:t>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2439" y="1092822"/>
            <a:ext cx="808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15">
                <a:latin typeface="Georgia"/>
                <a:cs typeface="Georgia"/>
              </a:rPr>
              <a:t>51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6.6.1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钾法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550456"/>
            <a:ext cx="1463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370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在强酸性溶液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6525" y="6471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7044" y="550456"/>
            <a:ext cx="17367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10">
                <a:latin typeface="Georgia"/>
                <a:cs typeface="Georgia"/>
              </a:rPr>
              <a:t>KMnO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表现为强氧化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9918" y="6606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2784" y="550456"/>
            <a:ext cx="9696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baseline="37037" sz="900" spc="28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774153"/>
            <a:ext cx="14706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629" y="11896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629" y="1098232"/>
            <a:ext cx="5187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908" y="1092822"/>
            <a:ext cx="1136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8H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5e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2137" y="119089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4044" y="1098232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0273" y="11762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0082" y="1092822"/>
            <a:ext cx="856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dirty="0" sz="1100" spc="-35">
                <a:latin typeface="Georgia"/>
                <a:cs typeface="Georgia"/>
              </a:rPr>
              <a:t>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2439" y="1092822"/>
            <a:ext cx="808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15">
                <a:latin typeface="Georgia"/>
                <a:cs typeface="Georgia"/>
              </a:rPr>
              <a:t>51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1383817"/>
            <a:ext cx="429069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409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在弱酸或中性溶液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KMnO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表现为中等强度氧化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70">
                <a:latin typeface="Georgia"/>
                <a:cs typeface="Georgia"/>
              </a:rPr>
              <a:t>MnO</a:t>
            </a:r>
            <a:r>
              <a:rPr dirty="0" baseline="37037" sz="900" spc="-104" i="1">
                <a:latin typeface="Arial"/>
                <a:cs typeface="Arial"/>
              </a:rPr>
              <a:t>−</a:t>
            </a:r>
            <a:r>
              <a:rPr dirty="0" baseline="-23148" sz="900" spc="-104">
                <a:latin typeface="Times New Roman"/>
                <a:cs typeface="Times New Roman"/>
              </a:rPr>
              <a:t>4</a:t>
            </a:r>
            <a:r>
              <a:rPr dirty="0" baseline="-23148" sz="900" spc="-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被还原为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MnO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252" y="206455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252" y="1973097"/>
            <a:ext cx="5187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2518" y="1967674"/>
            <a:ext cx="1136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3e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3748" y="2065757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3592" y="1967674"/>
            <a:ext cx="1978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195070" algn="l"/>
              </a:tabLst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59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6.6.1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高锰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钾法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550456"/>
            <a:ext cx="1463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370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在强酸性溶液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6525" y="6471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7044" y="550456"/>
            <a:ext cx="17367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10">
                <a:latin typeface="Georgia"/>
                <a:cs typeface="Georgia"/>
              </a:rPr>
              <a:t>KMnO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表现为强氧化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9918" y="6606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2784" y="550456"/>
            <a:ext cx="9696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baseline="37037" sz="900" spc="28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774153"/>
            <a:ext cx="14706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629" y="11896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629" y="1098232"/>
            <a:ext cx="5187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908" y="1092822"/>
            <a:ext cx="1136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8H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5e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2137" y="119089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4044" y="1098232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0273" y="11762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0082" y="1092822"/>
            <a:ext cx="856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840" algn="l"/>
              </a:tabLst>
            </a:pPr>
            <a:r>
              <a:rPr dirty="0" sz="1100" spc="-35">
                <a:latin typeface="Georgia"/>
                <a:cs typeface="Georgia"/>
              </a:rPr>
              <a:t>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2439" y="1092822"/>
            <a:ext cx="808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15">
                <a:latin typeface="Georgia"/>
                <a:cs typeface="Georgia"/>
              </a:rPr>
              <a:t>51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1383817"/>
            <a:ext cx="429069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409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在弱酸或中性溶液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KMnO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表现为中等强度氧化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70">
                <a:latin typeface="Georgia"/>
                <a:cs typeface="Georgia"/>
              </a:rPr>
              <a:t>MnO</a:t>
            </a:r>
            <a:r>
              <a:rPr dirty="0" baseline="37037" sz="900" spc="-104" i="1">
                <a:latin typeface="Arial"/>
                <a:cs typeface="Arial"/>
              </a:rPr>
              <a:t>−</a:t>
            </a:r>
            <a:r>
              <a:rPr dirty="0" baseline="-23148" sz="900" spc="-104">
                <a:latin typeface="Times New Roman"/>
                <a:cs typeface="Times New Roman"/>
              </a:rPr>
              <a:t>4</a:t>
            </a:r>
            <a:r>
              <a:rPr dirty="0" baseline="-23148" sz="900" spc="-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被还原为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MnO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252" y="206455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252" y="1973097"/>
            <a:ext cx="5187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2518" y="1967674"/>
            <a:ext cx="1136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3e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3748" y="2065757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3592" y="1967674"/>
            <a:ext cx="1978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195070" algn="l"/>
              </a:tabLst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59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76525" y="239687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501" y="2300185"/>
            <a:ext cx="33166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415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在强碱性溶液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KMnO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表现为弱的氧化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1747" y="241034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4613" y="2300185"/>
            <a:ext cx="8172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baseline="37037" sz="900" spc="27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只被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9253" y="254951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9253" y="26340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844" y="2523883"/>
            <a:ext cx="18332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还原为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MnO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13751" y="29394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6617" y="2842539"/>
            <a:ext cx="698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41666" sz="900" spc="67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14144" y="294062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32088" y="2842539"/>
            <a:ext cx="337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43810" y="284796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3810" y="29394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21330" y="2842539"/>
            <a:ext cx="808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56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注意事项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87744" y="1028395"/>
            <a:ext cx="443293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 marR="4508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在弱酸性和中性溶液中与还原剂作用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则会生成 褐色的水合物二氧化锰沉淀影响终点的观</a:t>
            </a:r>
            <a:r>
              <a:rPr dirty="0" sz="1200" spc="-80">
                <a:latin typeface="Arial Unicode MS"/>
                <a:cs typeface="Arial Unicode MS"/>
              </a:rPr>
              <a:t>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故一般用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 滴定剂时都在强酸性或强碱性溶液中进</a:t>
            </a:r>
            <a:r>
              <a:rPr dirty="0" sz="1200" spc="-20">
                <a:latin typeface="Arial Unicode MS"/>
                <a:cs typeface="Arial Unicode MS"/>
              </a:rPr>
              <a:t>行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800" marR="43180" indent="303530">
              <a:lnSpc>
                <a:spcPct val="122300"/>
              </a:lnSpc>
              <a:spcBef>
                <a:spcPts val="1090"/>
              </a:spcBef>
            </a:pP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法存在的另一个问题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KMnO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常与水和空气中某</a:t>
            </a:r>
            <a:r>
              <a:rPr dirty="0" sz="1200" spc="-5">
                <a:latin typeface="Arial Unicode MS"/>
                <a:cs typeface="Arial Unicode MS"/>
              </a:rPr>
              <a:t>些 还原性物质起反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导致标准溶液不稳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KMnO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baseline="-13888" sz="900" spc="1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经标定 后即刻使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不宜长期保</a:t>
            </a:r>
            <a:r>
              <a:rPr dirty="0" sz="1200" spc="-20">
                <a:latin typeface="Arial Unicode MS"/>
                <a:cs typeface="Arial Unicode MS"/>
              </a:rPr>
              <a:t>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应用举例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173465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20532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78620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044" y="784367"/>
            <a:ext cx="4406265" cy="199707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395"/>
              </a:spcBef>
            </a:pPr>
            <a:r>
              <a:rPr dirty="0" sz="1000" spc="15">
                <a:latin typeface="Georgia"/>
                <a:cs typeface="Georgia"/>
              </a:rPr>
              <a:t>KMnO</a:t>
            </a:r>
            <a:r>
              <a:rPr dirty="0" baseline="-11904" sz="1050" spc="22">
                <a:latin typeface="Times New Roman"/>
                <a:cs typeface="Times New Roman"/>
              </a:rPr>
              <a:t>4</a:t>
            </a:r>
            <a:r>
              <a:rPr dirty="0" baseline="-11904" sz="1050" spc="277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法</a:t>
            </a:r>
            <a:r>
              <a:rPr dirty="0" sz="1050" spc="-5">
                <a:latin typeface="Arial Unicode MS"/>
                <a:cs typeface="Arial Unicode MS"/>
              </a:rPr>
              <a:t>可以直接</a:t>
            </a:r>
            <a:r>
              <a:rPr dirty="0" sz="1050" spc="-10">
                <a:latin typeface="Arial Unicode MS"/>
                <a:cs typeface="Arial Unicode MS"/>
              </a:rPr>
              <a:t>或</a:t>
            </a:r>
            <a:r>
              <a:rPr dirty="0" sz="1050" spc="-5">
                <a:latin typeface="Arial Unicode MS"/>
                <a:cs typeface="Arial Unicode MS"/>
              </a:rPr>
              <a:t>间接地</a:t>
            </a:r>
            <a:r>
              <a:rPr dirty="0" sz="1050" spc="-10">
                <a:latin typeface="Arial Unicode MS"/>
                <a:cs typeface="Arial Unicode MS"/>
              </a:rPr>
              <a:t>测</a:t>
            </a:r>
            <a:r>
              <a:rPr dirty="0" sz="1050" spc="-5">
                <a:latin typeface="Arial Unicode MS"/>
                <a:cs typeface="Arial Unicode MS"/>
              </a:rPr>
              <a:t>定许多无</a:t>
            </a:r>
            <a:r>
              <a:rPr dirty="0" sz="1050" spc="-10">
                <a:latin typeface="Arial Unicode MS"/>
                <a:cs typeface="Arial Unicode MS"/>
              </a:rPr>
              <a:t>机</a:t>
            </a:r>
            <a:r>
              <a:rPr dirty="0" sz="1050" spc="-5">
                <a:latin typeface="Arial Unicode MS"/>
                <a:cs typeface="Arial Unicode MS"/>
              </a:rPr>
              <a:t>物和有</a:t>
            </a:r>
            <a:r>
              <a:rPr dirty="0" sz="1050" spc="-10">
                <a:latin typeface="Arial Unicode MS"/>
                <a:cs typeface="Arial Unicode MS"/>
              </a:rPr>
              <a:t>机</a:t>
            </a:r>
            <a:r>
              <a:rPr dirty="0" sz="1050" spc="-70">
                <a:latin typeface="Arial Unicode MS"/>
                <a:cs typeface="Arial Unicode MS"/>
              </a:rPr>
              <a:t>物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并</a:t>
            </a:r>
            <a:r>
              <a:rPr dirty="0" sz="1050" spc="-70">
                <a:latin typeface="Arial Unicode MS"/>
                <a:cs typeface="Arial Unicode MS"/>
              </a:rPr>
              <a:t>且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可</a:t>
            </a:r>
            <a:r>
              <a:rPr dirty="0" sz="1050" spc="-5">
                <a:latin typeface="Arial Unicode MS"/>
                <a:cs typeface="Arial Unicode MS"/>
              </a:rPr>
              <a:t>利用</a:t>
            </a:r>
            <a:endParaRPr sz="10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295"/>
              </a:spcBef>
            </a:pPr>
            <a:r>
              <a:rPr dirty="0" sz="1000" spc="15">
                <a:latin typeface="Georgia"/>
                <a:cs typeface="Georgia"/>
              </a:rPr>
              <a:t>KMnO</a:t>
            </a:r>
            <a:r>
              <a:rPr dirty="0" baseline="-11904" sz="1050" spc="22">
                <a:latin typeface="Times New Roman"/>
                <a:cs typeface="Times New Roman"/>
              </a:rPr>
              <a:t>4</a:t>
            </a:r>
            <a:r>
              <a:rPr dirty="0" baseline="-11904" sz="1050" spc="30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自身的</a:t>
            </a:r>
            <a:r>
              <a:rPr dirty="0" sz="1050" spc="-10">
                <a:latin typeface="Arial Unicode MS"/>
                <a:cs typeface="Arial Unicode MS"/>
              </a:rPr>
              <a:t>颜</a:t>
            </a:r>
            <a:r>
              <a:rPr dirty="0" sz="1050" spc="-5">
                <a:latin typeface="Arial Unicode MS"/>
                <a:cs typeface="Arial Unicode MS"/>
              </a:rPr>
              <a:t>色变化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示滴定终</a:t>
            </a:r>
            <a:r>
              <a:rPr dirty="0" sz="1050" spc="-20">
                <a:latin typeface="Arial Unicode MS"/>
                <a:cs typeface="Arial Unicode MS"/>
              </a:rPr>
              <a:t>点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</a:pPr>
            <a:r>
              <a:rPr dirty="0" sz="1050" spc="-5">
                <a:latin typeface="Arial Unicode MS"/>
                <a:cs typeface="Arial Unicode MS"/>
              </a:rPr>
              <a:t>依</a:t>
            </a:r>
            <a:r>
              <a:rPr dirty="0" sz="1050" spc="-10">
                <a:latin typeface="Arial Unicode MS"/>
                <a:cs typeface="Arial Unicode MS"/>
              </a:rPr>
              <a:t>据</a:t>
            </a:r>
            <a:r>
              <a:rPr dirty="0" sz="1050" spc="-5">
                <a:latin typeface="Arial Unicode MS"/>
                <a:cs typeface="Arial Unicode MS"/>
              </a:rPr>
              <a:t>被测物质</a:t>
            </a:r>
            <a:r>
              <a:rPr dirty="0" sz="1050" spc="-10">
                <a:latin typeface="Arial Unicode MS"/>
                <a:cs typeface="Arial Unicode MS"/>
              </a:rPr>
              <a:t>性</a:t>
            </a:r>
            <a:r>
              <a:rPr dirty="0" sz="1050" spc="-5">
                <a:latin typeface="Arial Unicode MS"/>
                <a:cs typeface="Arial Unicode MS"/>
              </a:rPr>
              <a:t>质不</a:t>
            </a:r>
            <a:r>
              <a:rPr dirty="0" sz="1050" spc="-70">
                <a:latin typeface="Arial Unicode MS"/>
                <a:cs typeface="Arial Unicode MS"/>
              </a:rPr>
              <a:t>同</a:t>
            </a:r>
            <a:r>
              <a:rPr dirty="0" sz="1050" spc="-15">
                <a:latin typeface="Arial Unicode MS"/>
                <a:cs typeface="Arial Unicode MS"/>
              </a:rPr>
              <a:t>，</a:t>
            </a:r>
            <a:r>
              <a:rPr dirty="0" sz="1000" spc="-15">
                <a:latin typeface="Georgia"/>
                <a:cs typeface="Georgia"/>
              </a:rPr>
              <a:t>KMnO</a:t>
            </a:r>
            <a:r>
              <a:rPr dirty="0" baseline="-11904" sz="1050" spc="-22">
                <a:latin typeface="Times New Roman"/>
                <a:cs typeface="Times New Roman"/>
              </a:rPr>
              <a:t>4</a:t>
            </a:r>
            <a:r>
              <a:rPr dirty="0" baseline="-11904" sz="1050" spc="52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法</a:t>
            </a:r>
            <a:r>
              <a:rPr dirty="0" sz="1050" spc="-5">
                <a:latin typeface="Arial Unicode MS"/>
                <a:cs typeface="Arial Unicode MS"/>
              </a:rPr>
              <a:t>应采用</a:t>
            </a:r>
            <a:r>
              <a:rPr dirty="0" sz="1050" spc="-10">
                <a:latin typeface="Arial Unicode MS"/>
                <a:cs typeface="Arial Unicode MS"/>
              </a:rPr>
              <a:t>不</a:t>
            </a:r>
            <a:r>
              <a:rPr dirty="0" sz="1050" spc="-5">
                <a:latin typeface="Arial Unicode MS"/>
                <a:cs typeface="Arial Unicode MS"/>
              </a:rPr>
              <a:t>同的滴定</a:t>
            </a:r>
            <a:r>
              <a:rPr dirty="0" sz="1050" spc="-10">
                <a:latin typeface="Arial Unicode MS"/>
                <a:cs typeface="Arial Unicode MS"/>
              </a:rPr>
              <a:t>方</a:t>
            </a:r>
            <a:r>
              <a:rPr dirty="0" sz="1050" spc="-70">
                <a:latin typeface="Arial Unicode MS"/>
                <a:cs typeface="Arial Unicode MS"/>
              </a:rPr>
              <a:t>式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80">
                <a:latin typeface="Arial Unicode MS"/>
                <a:cs typeface="Arial Unicode MS"/>
              </a:rPr>
              <a:t>如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  <a:p>
            <a:pPr marL="328930" marR="651510">
              <a:lnSpc>
                <a:spcPct val="123300"/>
              </a:lnSpc>
              <a:spcBef>
                <a:spcPts val="894"/>
              </a:spcBef>
            </a:pPr>
            <a:r>
              <a:rPr dirty="0" sz="1050" spc="-10">
                <a:latin typeface="Arial Unicode MS"/>
                <a:cs typeface="Arial Unicode MS"/>
              </a:rPr>
              <a:t>直</a:t>
            </a:r>
            <a:r>
              <a:rPr dirty="0" sz="1050" spc="-5">
                <a:latin typeface="Arial Unicode MS"/>
                <a:cs typeface="Arial Unicode MS"/>
              </a:rPr>
              <a:t>接滴定</a:t>
            </a:r>
            <a:r>
              <a:rPr dirty="0" sz="1050" spc="-80">
                <a:latin typeface="Arial Unicode MS"/>
                <a:cs typeface="Arial Unicode MS"/>
              </a:rPr>
              <a:t>法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适用</a:t>
            </a:r>
            <a:r>
              <a:rPr dirty="0" sz="1050" spc="-10">
                <a:latin typeface="Arial Unicode MS"/>
                <a:cs typeface="Arial Unicode MS"/>
              </a:rPr>
              <a:t>于</a:t>
            </a:r>
            <a:r>
              <a:rPr dirty="0" sz="1050" spc="-5">
                <a:latin typeface="Arial Unicode MS"/>
                <a:cs typeface="Arial Unicode MS"/>
              </a:rPr>
              <a:t>还原性</a:t>
            </a:r>
            <a:r>
              <a:rPr dirty="0" sz="1050" spc="-10">
                <a:latin typeface="Arial Unicode MS"/>
                <a:cs typeface="Arial Unicode MS"/>
              </a:rPr>
              <a:t>物</a:t>
            </a:r>
            <a:r>
              <a:rPr dirty="0" sz="1050" spc="-5">
                <a:latin typeface="Arial Unicode MS"/>
                <a:cs typeface="Arial Unicode MS"/>
              </a:rPr>
              <a:t>质测</a:t>
            </a:r>
            <a:r>
              <a:rPr dirty="0" sz="1050" spc="-70">
                <a:latin typeface="Arial Unicode MS"/>
                <a:cs typeface="Arial Unicode MS"/>
              </a:rPr>
              <a:t>定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如</a:t>
            </a:r>
            <a:r>
              <a:rPr dirty="0" sz="1050" spc="-25">
                <a:latin typeface="Arial Unicode MS"/>
                <a:cs typeface="Arial Unicode MS"/>
              </a:rPr>
              <a:t> </a:t>
            </a:r>
            <a:r>
              <a:rPr dirty="0" sz="1000" spc="5">
                <a:latin typeface="Georgia"/>
                <a:cs typeface="Georgia"/>
              </a:rPr>
              <a:t>FeSO</a:t>
            </a:r>
            <a:r>
              <a:rPr dirty="0" baseline="-11904" sz="1050" spc="7">
                <a:latin typeface="Times New Roman"/>
                <a:cs typeface="Times New Roman"/>
              </a:rPr>
              <a:t>4</a:t>
            </a:r>
            <a:r>
              <a:rPr dirty="0" sz="1050" spc="5">
                <a:latin typeface="Arial Unicode MS"/>
                <a:cs typeface="Arial Unicode MS"/>
              </a:rPr>
              <a:t>，</a:t>
            </a:r>
            <a:r>
              <a:rPr dirty="0" sz="1000" spc="5">
                <a:latin typeface="Georgia"/>
                <a:cs typeface="Georgia"/>
              </a:rPr>
              <a:t>H</a:t>
            </a:r>
            <a:r>
              <a:rPr dirty="0" baseline="-11904" sz="1050" spc="7">
                <a:latin typeface="Times New Roman"/>
                <a:cs typeface="Times New Roman"/>
              </a:rPr>
              <a:t>2</a:t>
            </a:r>
            <a:r>
              <a:rPr dirty="0" sz="1000" spc="5">
                <a:latin typeface="Georgia"/>
                <a:cs typeface="Georgia"/>
              </a:rPr>
              <a:t>C</a:t>
            </a:r>
            <a:r>
              <a:rPr dirty="0" baseline="-11904" sz="1050" spc="7">
                <a:latin typeface="Times New Roman"/>
                <a:cs typeface="Times New Roman"/>
              </a:rPr>
              <a:t>2</a:t>
            </a:r>
            <a:r>
              <a:rPr dirty="0" sz="1000" spc="5">
                <a:latin typeface="Georgia"/>
                <a:cs typeface="Georgia"/>
              </a:rPr>
              <a:t>O</a:t>
            </a:r>
            <a:r>
              <a:rPr dirty="0" baseline="-11904" sz="1050" spc="7">
                <a:latin typeface="Times New Roman"/>
                <a:cs typeface="Times New Roman"/>
              </a:rPr>
              <a:t>4</a:t>
            </a:r>
            <a:r>
              <a:rPr dirty="0" sz="1050" spc="5">
                <a:latin typeface="Arial Unicode MS"/>
                <a:cs typeface="Arial Unicode MS"/>
              </a:rPr>
              <a:t>，  </a:t>
            </a:r>
            <a:r>
              <a:rPr dirty="0" sz="1000" spc="-5">
                <a:latin typeface="Georgia"/>
                <a:cs typeface="Georgia"/>
              </a:rPr>
              <a:t>H</a:t>
            </a:r>
            <a:r>
              <a:rPr dirty="0" baseline="-11904" sz="1050" spc="-7">
                <a:latin typeface="Times New Roman"/>
                <a:cs typeface="Times New Roman"/>
              </a:rPr>
              <a:t>2</a:t>
            </a:r>
            <a:r>
              <a:rPr dirty="0" sz="1000" spc="-5">
                <a:latin typeface="Georgia"/>
                <a:cs typeface="Georgia"/>
              </a:rPr>
              <a:t>O</a:t>
            </a:r>
            <a:r>
              <a:rPr dirty="0" baseline="-11904" sz="1050" spc="-7">
                <a:latin typeface="Times New Roman"/>
                <a:cs typeface="Times New Roman"/>
              </a:rPr>
              <a:t>2</a:t>
            </a:r>
            <a:r>
              <a:rPr dirty="0" sz="1050" spc="-5">
                <a:latin typeface="Arial Unicode MS"/>
                <a:cs typeface="Arial Unicode MS"/>
              </a:rPr>
              <a:t>，</a:t>
            </a:r>
            <a:r>
              <a:rPr dirty="0" sz="1000" spc="-5">
                <a:latin typeface="Georgia"/>
                <a:cs typeface="Georgia"/>
              </a:rPr>
              <a:t>As(III)</a:t>
            </a:r>
            <a:r>
              <a:rPr dirty="0" sz="1050" spc="-5">
                <a:latin typeface="Arial Unicode MS"/>
                <a:cs typeface="Arial Unicode MS"/>
              </a:rPr>
              <a:t>，</a:t>
            </a:r>
            <a:r>
              <a:rPr dirty="0" sz="1000" spc="-5">
                <a:latin typeface="Georgia"/>
                <a:cs typeface="Georgia"/>
              </a:rPr>
              <a:t>NO</a:t>
            </a:r>
            <a:r>
              <a:rPr dirty="0" baseline="27777" sz="1050" spc="-7">
                <a:latin typeface="Times New Roman"/>
                <a:cs typeface="Times New Roman"/>
              </a:rPr>
              <a:t>2</a:t>
            </a:r>
            <a:r>
              <a:rPr dirty="0" baseline="27777" sz="1050" spc="-7" i="1">
                <a:latin typeface="Arial"/>
                <a:cs typeface="Arial"/>
              </a:rPr>
              <a:t>−</a:t>
            </a:r>
            <a:r>
              <a:rPr dirty="0" baseline="27777" sz="1050" spc="-75" i="1">
                <a:latin typeface="Arial"/>
                <a:cs typeface="Arial"/>
              </a:rPr>
              <a:t> </a:t>
            </a:r>
            <a:r>
              <a:rPr dirty="0" sz="1050" spc="-60">
                <a:latin typeface="Arial Unicode MS"/>
                <a:cs typeface="Arial Unicode MS"/>
              </a:rPr>
              <a:t>等 </a:t>
            </a:r>
            <a:r>
              <a:rPr dirty="0" sz="1050" spc="-5">
                <a:latin typeface="Arial Unicode MS"/>
                <a:cs typeface="Arial Unicode MS"/>
              </a:rPr>
              <a:t>；</a:t>
            </a:r>
            <a:endParaRPr sz="105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894"/>
              </a:spcBef>
            </a:pPr>
            <a:r>
              <a:rPr dirty="0" sz="1050" spc="-10">
                <a:latin typeface="Arial Unicode MS"/>
                <a:cs typeface="Arial Unicode MS"/>
              </a:rPr>
              <a:t>返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-80">
                <a:latin typeface="Arial Unicode MS"/>
                <a:cs typeface="Arial Unicode MS"/>
              </a:rPr>
              <a:t>法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适用于</a:t>
            </a:r>
            <a:r>
              <a:rPr dirty="0" sz="1050" spc="-10">
                <a:latin typeface="Arial Unicode MS"/>
                <a:cs typeface="Arial Unicode MS"/>
              </a:rPr>
              <a:t>氧</a:t>
            </a:r>
            <a:r>
              <a:rPr dirty="0" sz="1050" spc="-5">
                <a:latin typeface="Arial Unicode MS"/>
                <a:cs typeface="Arial Unicode MS"/>
              </a:rPr>
              <a:t>化性物</a:t>
            </a:r>
            <a:r>
              <a:rPr dirty="0" sz="1050" spc="-10">
                <a:latin typeface="Arial Unicode MS"/>
                <a:cs typeface="Arial Unicode MS"/>
              </a:rPr>
              <a:t>质</a:t>
            </a:r>
            <a:r>
              <a:rPr dirty="0" sz="1050" spc="-5">
                <a:latin typeface="Arial Unicode MS"/>
                <a:cs typeface="Arial Unicode MS"/>
              </a:rPr>
              <a:t>测</a:t>
            </a:r>
            <a:r>
              <a:rPr dirty="0" sz="1050" spc="-70">
                <a:latin typeface="Arial Unicode MS"/>
                <a:cs typeface="Arial Unicode MS"/>
              </a:rPr>
              <a:t>定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如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5">
                <a:latin typeface="Georgia"/>
                <a:cs typeface="Georgia"/>
              </a:rPr>
              <a:t>MnO</a:t>
            </a:r>
            <a:r>
              <a:rPr dirty="0" baseline="-11904" sz="1050" spc="7">
                <a:latin typeface="Times New Roman"/>
                <a:cs typeface="Times New Roman"/>
              </a:rPr>
              <a:t>2</a:t>
            </a:r>
            <a:r>
              <a:rPr dirty="0" sz="1050" spc="5">
                <a:latin typeface="Arial Unicode MS"/>
                <a:cs typeface="Arial Unicode MS"/>
              </a:rPr>
              <a:t>，</a:t>
            </a:r>
            <a:r>
              <a:rPr dirty="0" sz="1000" spc="5">
                <a:latin typeface="Georgia"/>
                <a:cs typeface="Georgia"/>
              </a:rPr>
              <a:t>PbO</a:t>
            </a:r>
            <a:r>
              <a:rPr dirty="0" baseline="-11904" sz="1050" spc="7">
                <a:latin typeface="Times New Roman"/>
                <a:cs typeface="Times New Roman"/>
              </a:rPr>
              <a:t>2</a:t>
            </a:r>
            <a:r>
              <a:rPr dirty="0" sz="1050" spc="5">
                <a:latin typeface="Arial Unicode MS"/>
                <a:cs typeface="Arial Unicode MS"/>
              </a:rPr>
              <a:t>，</a:t>
            </a:r>
            <a:r>
              <a:rPr dirty="0" sz="1000" spc="5">
                <a:latin typeface="Georgia"/>
                <a:cs typeface="Georgia"/>
              </a:rPr>
              <a:t>ClO</a:t>
            </a:r>
            <a:r>
              <a:rPr dirty="0" baseline="27777" sz="1050" spc="7">
                <a:latin typeface="Times New Roman"/>
                <a:cs typeface="Times New Roman"/>
              </a:rPr>
              <a:t>3</a:t>
            </a:r>
            <a:r>
              <a:rPr dirty="0" baseline="27777" sz="1050" spc="7" i="1">
                <a:latin typeface="Arial"/>
                <a:cs typeface="Arial"/>
              </a:rPr>
              <a:t>−</a:t>
            </a:r>
            <a:r>
              <a:rPr dirty="0" baseline="27777" sz="1050" spc="277" i="1">
                <a:latin typeface="Arial"/>
                <a:cs typeface="Arial"/>
              </a:rPr>
              <a:t> </a:t>
            </a:r>
            <a:r>
              <a:rPr dirty="0" sz="1050" spc="-60">
                <a:latin typeface="Arial Unicode MS"/>
                <a:cs typeface="Arial Unicode MS"/>
              </a:rPr>
              <a:t>等</a:t>
            </a:r>
            <a:r>
              <a:rPr dirty="0" sz="1050" spc="-5">
                <a:latin typeface="Arial Unicode MS"/>
                <a:cs typeface="Arial Unicode MS"/>
              </a:rPr>
              <a:t>；</a:t>
            </a:r>
            <a:endParaRPr sz="105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间</a:t>
            </a:r>
            <a:r>
              <a:rPr dirty="0" sz="1050" spc="-5">
                <a:latin typeface="Arial Unicode MS"/>
                <a:cs typeface="Arial Unicode MS"/>
              </a:rPr>
              <a:t>接滴定</a:t>
            </a:r>
            <a:r>
              <a:rPr dirty="0" sz="1050" spc="-80">
                <a:latin typeface="Arial Unicode MS"/>
                <a:cs typeface="Arial Unicode MS"/>
              </a:rPr>
              <a:t>法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适于</a:t>
            </a:r>
            <a:r>
              <a:rPr dirty="0" sz="1050" spc="-10">
                <a:latin typeface="Arial Unicode MS"/>
                <a:cs typeface="Arial Unicode MS"/>
              </a:rPr>
              <a:t>非</a:t>
            </a:r>
            <a:r>
              <a:rPr dirty="0" sz="1050" spc="-5">
                <a:latin typeface="Arial Unicode MS"/>
                <a:cs typeface="Arial Unicode MS"/>
              </a:rPr>
              <a:t>氧化性</a:t>
            </a:r>
            <a:r>
              <a:rPr dirty="0" sz="1050" spc="-10">
                <a:latin typeface="Arial Unicode MS"/>
                <a:cs typeface="Arial Unicode MS"/>
              </a:rPr>
              <a:t>物</a:t>
            </a:r>
            <a:r>
              <a:rPr dirty="0" sz="1050" spc="-5">
                <a:latin typeface="Arial Unicode MS"/>
                <a:cs typeface="Arial Unicode MS"/>
              </a:rPr>
              <a:t>质和非还</a:t>
            </a:r>
            <a:r>
              <a:rPr dirty="0" sz="1050" spc="-10">
                <a:latin typeface="Arial Unicode MS"/>
                <a:cs typeface="Arial Unicode MS"/>
              </a:rPr>
              <a:t>原</a:t>
            </a:r>
            <a:r>
              <a:rPr dirty="0" sz="1050" spc="-5">
                <a:latin typeface="Arial Unicode MS"/>
                <a:cs typeface="Arial Unicode MS"/>
              </a:rPr>
              <a:t>性物质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测</a:t>
            </a:r>
            <a:r>
              <a:rPr dirty="0" sz="1050" spc="-70">
                <a:latin typeface="Arial Unicode MS"/>
                <a:cs typeface="Arial Unicode MS"/>
              </a:rPr>
              <a:t>定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如</a:t>
            </a:r>
            <a:endParaRPr sz="105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295"/>
              </a:spcBef>
            </a:pPr>
            <a:r>
              <a:rPr dirty="0" sz="1000" spc="40">
                <a:latin typeface="Georgia"/>
                <a:cs typeface="Georgia"/>
              </a:rPr>
              <a:t>Ca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50" spc="40">
                <a:latin typeface="Arial Unicode MS"/>
                <a:cs typeface="Arial Unicode MS"/>
              </a:rPr>
              <a:t>，</a:t>
            </a:r>
            <a:r>
              <a:rPr dirty="0" sz="1000" spc="40">
                <a:latin typeface="Georgia"/>
                <a:cs typeface="Georgia"/>
              </a:rPr>
              <a:t>Ba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50" spc="40">
                <a:latin typeface="Arial Unicode MS"/>
                <a:cs typeface="Arial Unicode MS"/>
              </a:rPr>
              <a:t>，</a:t>
            </a:r>
            <a:r>
              <a:rPr dirty="0" sz="1000" spc="40">
                <a:latin typeface="Georgia"/>
                <a:cs typeface="Georgia"/>
              </a:rPr>
              <a:t>Pb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baseline="27777" sz="1050" spc="30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Arial Unicode MS"/>
                <a:cs typeface="Arial Unicode MS"/>
              </a:rPr>
              <a:t>等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298551"/>
            <a:ext cx="43713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例</a:t>
            </a:r>
            <a:r>
              <a:rPr dirty="0" spc="-80"/>
              <a:t>如</a:t>
            </a:r>
            <a:r>
              <a:rPr dirty="0" spc="-185"/>
              <a:t>，</a:t>
            </a:r>
            <a:r>
              <a:rPr dirty="0" spc="-5"/>
              <a:t>过氧化氢</a:t>
            </a:r>
            <a:r>
              <a:rPr dirty="0" spc="-10"/>
              <a:t> </a:t>
            </a:r>
            <a:r>
              <a:rPr dirty="0" sz="1100" spc="30">
                <a:latin typeface="Georgia"/>
                <a:cs typeface="Georgia"/>
              </a:rPr>
              <a:t>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200" spc="-5"/>
              <a:t>的滴定可采用直接滴定</a:t>
            </a:r>
            <a:r>
              <a:rPr dirty="0" sz="1200" spc="-20"/>
              <a:t>法</a:t>
            </a:r>
            <a:r>
              <a:rPr dirty="0" sz="1200" spc="-235"/>
              <a:t>。</a:t>
            </a:r>
            <a:r>
              <a:rPr dirty="0" sz="1200" spc="-5"/>
              <a:t>滴定在室温 和酸性条件下进</a:t>
            </a:r>
            <a:r>
              <a:rPr dirty="0" sz="1200" spc="-80"/>
              <a:t>行</a:t>
            </a:r>
            <a:r>
              <a:rPr dirty="0" sz="1200" spc="-185"/>
              <a:t>，</a:t>
            </a:r>
            <a:r>
              <a:rPr dirty="0" sz="1200" spc="-5"/>
              <a:t>反应如</a:t>
            </a:r>
            <a:r>
              <a:rPr dirty="0" sz="1200" spc="-260"/>
              <a:t>下</a:t>
            </a:r>
            <a:r>
              <a:rPr dirty="0" sz="1200" spc="-5"/>
              <a:t>（反应开始</a:t>
            </a:r>
            <a:r>
              <a:rPr dirty="0" sz="1200" spc="-80"/>
              <a:t>前</a:t>
            </a:r>
            <a:r>
              <a:rPr dirty="0" sz="1200" spc="-185"/>
              <a:t>，</a:t>
            </a:r>
            <a:r>
              <a:rPr dirty="0" sz="1200" spc="-5"/>
              <a:t>可加入少量的</a:t>
            </a:r>
            <a:r>
              <a:rPr dirty="0" sz="1200"/>
              <a:t> </a:t>
            </a:r>
            <a:r>
              <a:rPr dirty="0" sz="1100" spc="50">
                <a:latin typeface="Georgia"/>
                <a:cs typeface="Georgia"/>
              </a:rPr>
              <a:t>Mn</a:t>
            </a:r>
            <a:r>
              <a:rPr dirty="0" baseline="37037" sz="900" spc="75">
                <a:latin typeface="Times New Roman"/>
                <a:cs typeface="Times New Roman"/>
              </a:rPr>
              <a:t>2+  </a:t>
            </a:r>
            <a:r>
              <a:rPr dirty="0" sz="1200" spc="-5"/>
              <a:t>做催化</a:t>
            </a:r>
            <a:r>
              <a:rPr dirty="0" sz="1200" spc="-80"/>
              <a:t>剂</a:t>
            </a:r>
            <a:r>
              <a:rPr dirty="0" sz="1200" spc="-185"/>
              <a:t>，</a:t>
            </a:r>
            <a:r>
              <a:rPr dirty="0" sz="1200" spc="-5"/>
              <a:t>以加速反应的进</a:t>
            </a:r>
            <a:r>
              <a:rPr dirty="0" sz="1200" spc="-20"/>
              <a:t>行</a:t>
            </a:r>
            <a:r>
              <a:rPr dirty="0" sz="1200" spc="-580"/>
              <a:t>。</a:t>
            </a:r>
            <a:r>
              <a:rPr dirty="0" sz="1200" spc="-365"/>
              <a:t>）：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7747" y="12604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7747" y="1169035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9965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5407" y="1169035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692" y="1247025"/>
            <a:ext cx="22980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8314" algn="l"/>
                <a:tab pos="223774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     </a:t>
            </a:r>
            <a:r>
              <a:rPr dirty="0" sz="600" spc="-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47" y="1163612"/>
            <a:ext cx="3215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79245" algn="l"/>
                <a:tab pos="1818005" algn="l"/>
                <a:tab pos="2245360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5H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6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6H	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-45">
                <a:latin typeface="Georgia"/>
                <a:cs typeface="Georgia"/>
              </a:rPr>
              <a:t>2Mn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5O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 spc="-20">
                <a:latin typeface="Georgia"/>
                <a:cs typeface="Georgia"/>
              </a:rPr>
              <a:t>+8H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44" y="1471701"/>
            <a:ext cx="4408170" cy="12890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对于软锰矿中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MnO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含量的测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采用返滴定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首先利用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5">
                <a:latin typeface="Georgia"/>
                <a:cs typeface="Georgia"/>
              </a:rPr>
              <a:t>MnO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baseline="-13888" sz="900" spc="14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在试样中加入一定量且过量的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Na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C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于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介质中加热使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MnO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至所余残渣为白色时表明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MnO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已全部被还</a:t>
            </a:r>
            <a:r>
              <a:rPr dirty="0" sz="1200" spc="-80">
                <a:latin typeface="Arial Unicode MS"/>
                <a:cs typeface="Arial Unicode MS"/>
              </a:rPr>
              <a:t>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24765">
              <a:lnSpc>
                <a:spcPts val="425"/>
              </a:lnSpc>
              <a:spcBef>
                <a:spcPts val="5"/>
              </a:spcBef>
              <a:tabLst>
                <a:tab pos="1991360" algn="l"/>
              </a:tabLst>
            </a:pPr>
            <a:r>
              <a:rPr dirty="0" sz="1100" spc="5">
                <a:latin typeface="Georgia"/>
                <a:cs typeface="Georgia"/>
              </a:rPr>
              <a:t>MnO</a:t>
            </a:r>
            <a:r>
              <a:rPr dirty="0" baseline="-13888" sz="900" spc="7">
                <a:latin typeface="Times New Roman"/>
                <a:cs typeface="Times New Roman"/>
              </a:rPr>
              <a:t>2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>
                <a:latin typeface="Georgia"/>
                <a:cs typeface="Georgia"/>
              </a:rPr>
              <a:t>2CO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 spc="-5">
                <a:latin typeface="Georgia"/>
                <a:cs typeface="Georgia"/>
              </a:rPr>
              <a:t>+2H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L="277495">
              <a:lnSpc>
                <a:spcPts val="290"/>
              </a:lnSpc>
              <a:tabLst>
                <a:tab pos="743585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  <a:p>
            <a:pPr algn="r" marR="786130">
              <a:lnSpc>
                <a:spcPts val="665"/>
              </a:lnSpc>
              <a:tabLst>
                <a:tab pos="4794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44" y="760755"/>
            <a:ext cx="43649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对于不具备氧化或还原特性的</a:t>
            </a:r>
            <a:r>
              <a:rPr dirty="0" spc="15"/>
              <a:t> 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367">
                <a:latin typeface="Times New Roman"/>
                <a:cs typeface="Times New Roman"/>
              </a:rPr>
              <a:t> </a:t>
            </a:r>
            <a:r>
              <a:rPr dirty="0" sz="1200" spc="-5"/>
              <a:t>的滴定可采用间接滴定 </a:t>
            </a:r>
            <a:r>
              <a:rPr dirty="0" sz="1200" spc="-20"/>
              <a:t>法</a:t>
            </a:r>
            <a:r>
              <a:rPr dirty="0" sz="1200" spc="-235"/>
              <a:t>。</a:t>
            </a:r>
            <a:r>
              <a:rPr dirty="0" sz="1200" spc="-5"/>
              <a:t>先将</a:t>
            </a:r>
            <a:r>
              <a:rPr dirty="0" sz="1200" spc="5"/>
              <a:t> 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359">
                <a:latin typeface="Times New Roman"/>
                <a:cs typeface="Times New Roman"/>
              </a:rPr>
              <a:t> </a:t>
            </a:r>
            <a:r>
              <a:rPr dirty="0" sz="1200" spc="-5"/>
              <a:t>全部沉淀为</a:t>
            </a:r>
            <a:r>
              <a:rPr dirty="0" sz="1200" spc="10"/>
              <a:t> </a:t>
            </a:r>
            <a:r>
              <a:rPr dirty="0" sz="1100" spc="20">
                <a:latin typeface="Georgia"/>
                <a:cs typeface="Georgia"/>
              </a:rPr>
              <a:t>CaC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200" spc="20"/>
              <a:t>，</a:t>
            </a:r>
            <a:r>
              <a:rPr dirty="0" sz="1200" spc="-5"/>
              <a:t>沉淀经过</a:t>
            </a:r>
            <a:r>
              <a:rPr dirty="0" sz="1200" spc="15"/>
              <a:t>滤</a:t>
            </a:r>
            <a:r>
              <a:rPr dirty="0" sz="1200" spc="-270"/>
              <a:t>、</a:t>
            </a:r>
            <a:r>
              <a:rPr dirty="0" sz="1200" spc="-5"/>
              <a:t>洗涤后溶于稀硫 酸</a:t>
            </a:r>
            <a:r>
              <a:rPr dirty="0" sz="1200" spc="-80"/>
              <a:t>中</a:t>
            </a:r>
            <a:r>
              <a:rPr dirty="0" sz="1200" spc="-5"/>
              <a:t>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1486636"/>
            <a:ext cx="4136390" cy="724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81100">
              <a:lnSpc>
                <a:spcPts val="409"/>
              </a:lnSpc>
              <a:spcBef>
                <a:spcPts val="90"/>
              </a:spcBef>
              <a:tabLst>
                <a:tab pos="2592070" algn="l"/>
              </a:tabLst>
            </a:pPr>
            <a:r>
              <a:rPr dirty="0" sz="1100" spc="55">
                <a:latin typeface="Georgia"/>
                <a:cs typeface="Georgia"/>
              </a:rPr>
              <a:t>CaC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O</a:t>
            </a:r>
            <a:r>
              <a:rPr dirty="0" baseline="-13888" sz="900" spc="82">
                <a:latin typeface="Times New Roman"/>
                <a:cs typeface="Times New Roman"/>
              </a:rPr>
              <a:t>4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 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Ca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L="424815">
              <a:lnSpc>
                <a:spcPts val="305"/>
              </a:lnSpc>
              <a:tabLst>
                <a:tab pos="855980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  <a:p>
            <a:pPr algn="r" marR="934085">
              <a:lnSpc>
                <a:spcPts val="665"/>
              </a:lnSpc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00">
              <a:latin typeface="Times New Roman"/>
              <a:cs typeface="Times New Roman"/>
            </a:endParaRPr>
          </a:p>
          <a:p>
            <a:pPr marL="25400" marR="177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再用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标准溶液滴定生成的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C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从而间接求得 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319595"/>
            <a:ext cx="440499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用</a:t>
            </a:r>
            <a:r>
              <a:rPr dirty="0" spc="-10"/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/>
              <a:t>法测定某些有机化合物的情况稍微有些复</a:t>
            </a:r>
            <a:r>
              <a:rPr dirty="0" sz="1200" spc="-80"/>
              <a:t>杂</a:t>
            </a:r>
            <a:r>
              <a:rPr dirty="0" sz="1200" spc="-185"/>
              <a:t>，</a:t>
            </a:r>
            <a:r>
              <a:rPr dirty="0" sz="1200" spc="-5"/>
              <a:t>为防 </a:t>
            </a:r>
            <a:r>
              <a:rPr dirty="0" sz="1200" spc="-5"/>
              <a:t>止反应剧烈进</a:t>
            </a:r>
            <a:r>
              <a:rPr dirty="0" sz="1200" spc="-80"/>
              <a:t>行</a:t>
            </a:r>
            <a:r>
              <a:rPr dirty="0" sz="1200" spc="-185"/>
              <a:t>，</a:t>
            </a:r>
            <a:r>
              <a:rPr dirty="0" sz="1200" spc="-5"/>
              <a:t>通常在碱性溶液中进行滴</a:t>
            </a:r>
            <a:r>
              <a:rPr dirty="0" sz="1200" spc="-20"/>
              <a:t>定</a:t>
            </a:r>
            <a:r>
              <a:rPr dirty="0" sz="1200" spc="-235"/>
              <a:t>。</a:t>
            </a:r>
            <a:r>
              <a:rPr dirty="0" sz="1200" spc="-5"/>
              <a:t>以甲醇的测定为</a:t>
            </a:r>
            <a:r>
              <a:rPr dirty="0" sz="1200" spc="-80"/>
              <a:t>例 </a:t>
            </a:r>
            <a:r>
              <a:rPr dirty="0" sz="1200" spc="-185"/>
              <a:t>，</a:t>
            </a:r>
            <a:r>
              <a:rPr dirty="0" sz="1200" spc="-5"/>
              <a:t>首先将一定量过量的</a:t>
            </a:r>
            <a:r>
              <a:rPr dirty="0" sz="1200"/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/>
              <a:t>标准溶液加入待测的试液</a:t>
            </a:r>
            <a:r>
              <a:rPr dirty="0" sz="1200" spc="-80"/>
              <a:t>中</a:t>
            </a:r>
            <a:r>
              <a:rPr dirty="0" sz="1200" spc="-185"/>
              <a:t>，</a:t>
            </a:r>
            <a:r>
              <a:rPr dirty="0" sz="1200" spc="-5"/>
              <a:t>反应 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9637" y="150522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366" y="14917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637" y="1413776"/>
            <a:ext cx="12661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983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637" y="1408353"/>
            <a:ext cx="2045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6MnO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CH </a:t>
            </a:r>
            <a:r>
              <a:rPr dirty="0" sz="1100" spc="-25">
                <a:latin typeface="Georgia"/>
                <a:cs typeface="Georgia"/>
              </a:rPr>
              <a:t>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8OH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9004" y="141377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9004" y="150522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5607" y="1408353"/>
            <a:ext cx="545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6MnO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5152" y="141377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5152" y="150522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3490" y="14917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1768" y="1408353"/>
            <a:ext cx="497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6H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1111" y="178357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113" y="1757946"/>
            <a:ext cx="3633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待反应完全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将溶液酸</a:t>
            </a:r>
            <a:r>
              <a:rPr dirty="0" sz="1200" spc="-80">
                <a:latin typeface="Arial Unicode MS"/>
                <a:cs typeface="Arial Unicode MS"/>
              </a:rPr>
              <a:t>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MnO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 </a:t>
            </a:r>
            <a:r>
              <a:rPr dirty="0" sz="1200" spc="-5">
                <a:latin typeface="Arial Unicode MS"/>
                <a:cs typeface="Arial Unicode MS"/>
              </a:rPr>
              <a:t>歧化为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MnO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01111" y="1868106"/>
            <a:ext cx="10572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758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1117" y="1707667"/>
            <a:ext cx="3536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180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和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444" y="1940141"/>
            <a:ext cx="4438650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100" spc="15">
                <a:latin typeface="Georgia"/>
                <a:cs typeface="Georgia"/>
              </a:rPr>
              <a:t>MnO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再加入一定量且过量的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FeSO</a:t>
            </a:r>
            <a:r>
              <a:rPr dirty="0" baseline="-13888" sz="900" spc="-7">
                <a:latin typeface="Times New Roman"/>
                <a:cs typeface="Times New Roman"/>
              </a:rPr>
              <a:t>4</a:t>
            </a:r>
            <a:r>
              <a:rPr dirty="0" baseline="-13888" sz="900" spc="1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将所有的高价锰还原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Mn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最后以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标准溶液返滴定剩余的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Fe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根据各次标准溶液的加入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以及各反应物之间的计量关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即可求得试液中甲醇的含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6.6.2</a:t>
            </a:r>
            <a:r>
              <a:rPr dirty="0" sz="1000" spc="1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重铬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钾法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787463"/>
            <a:ext cx="42964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重铬酸钾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也是一种常用的氧化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在酸性溶液中具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有很强的氧化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137" y="15122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9614" y="152570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4781" y="1526896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819" y="1428826"/>
            <a:ext cx="19869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3870" algn="l"/>
                <a:tab pos="1750060" algn="l"/>
              </a:tabLst>
            </a:pP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14H</a:t>
            </a:r>
            <a:r>
              <a:rPr dirty="0" sz="1100">
                <a:latin typeface="Georgia"/>
                <a:cs typeface="Georgia"/>
              </a:rPr>
              <a:t>  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6e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5">
                <a:latin typeface="Georgia"/>
                <a:cs typeface="Georgia"/>
              </a:rPr>
              <a:t>2Cr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614" y="1434249"/>
            <a:ext cx="179006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65925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2551" y="15122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5417" y="1428826"/>
            <a:ext cx="151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86765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7H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14" b="0" i="1">
                <a:latin typeface="Bookman Old Style"/>
                <a:cs typeface="Bookman Old Style"/>
              </a:rPr>
              <a:t>E</a:t>
            </a:r>
            <a:r>
              <a:rPr dirty="0" baseline="77777" sz="750" spc="7" i="1">
                <a:latin typeface="Verdana"/>
                <a:cs typeface="Verdana"/>
              </a:rPr>
              <a:t>I</a:t>
            </a:r>
            <a:r>
              <a:rPr dirty="0" baseline="77777" sz="750" i="1">
                <a:latin typeface="Verdana"/>
                <a:cs typeface="Verdana"/>
              </a:rPr>
              <a:t> </a:t>
            </a:r>
            <a:r>
              <a:rPr dirty="0" baseline="77777" sz="750" spc="75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33V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1752333"/>
            <a:ext cx="4407535" cy="11442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试剂易提纯且稳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145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250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baseline="37037" sz="900" spc="217" i="1">
                <a:latin typeface="Arial"/>
                <a:cs typeface="Arial"/>
              </a:rPr>
              <a:t>◦</a:t>
            </a:r>
            <a:r>
              <a:rPr dirty="0" sz="1100" spc="145">
                <a:latin typeface="Georgia"/>
                <a:cs typeface="Georgia"/>
              </a:rPr>
              <a:t>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干燥后可以直接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配制标准溶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并可长期保存和使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本身显橙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而其还原产物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Cr</a:t>
            </a:r>
            <a:r>
              <a:rPr dirty="0" baseline="37037" sz="900" spc="120">
                <a:latin typeface="Times New Roman"/>
                <a:cs typeface="Times New Roman"/>
              </a:rPr>
              <a:t>3+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显绿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终点时难 </a:t>
            </a:r>
            <a:r>
              <a:rPr dirty="0" sz="1200" spc="-10">
                <a:latin typeface="Arial Unicode MS"/>
                <a:cs typeface="Arial Unicode MS"/>
              </a:rPr>
              <a:t>于辨别出过量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2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的橙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故其自身不能做指示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而应</a:t>
            </a:r>
            <a:r>
              <a:rPr dirty="0" sz="1200" spc="-5">
                <a:latin typeface="Arial Unicode MS"/>
                <a:cs typeface="Arial Unicode MS"/>
              </a:rPr>
              <a:t>加 入其它指示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常用的指示剂是二苯胺磺酸</a:t>
            </a:r>
            <a:r>
              <a:rPr dirty="0" sz="1200" spc="-20">
                <a:latin typeface="Arial Unicode MS"/>
                <a:cs typeface="Arial Unicode MS"/>
              </a:rPr>
              <a:t>钠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铁矿石中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全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铁含量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测定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74243"/>
            <a:ext cx="427799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铁矿试样首先用热浓盐酸溶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趁热加入适量的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SnCl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还原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试液中大部分的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3+</a:t>
            </a:r>
            <a:r>
              <a:rPr dirty="0" sz="1200" spc="-5">
                <a:latin typeface="Arial Unicode MS"/>
                <a:cs typeface="Arial Unicode MS"/>
              </a:rPr>
              <a:t>，反应如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293" y="1321028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4827" y="132102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4827" y="14124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153" y="1315605"/>
            <a:ext cx="2446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01955" algn="l"/>
                <a:tab pos="989330" algn="l"/>
              </a:tabLst>
            </a:pPr>
            <a:r>
              <a:rPr dirty="0" sz="1100" spc="-55">
                <a:latin typeface="Georgia"/>
                <a:cs typeface="Georgia"/>
              </a:rPr>
              <a:t>2Fe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SnCl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5">
                <a:latin typeface="Georgia"/>
                <a:cs typeface="Georgia"/>
              </a:rPr>
              <a:t>2Cl</a:t>
            </a:r>
            <a:r>
              <a:rPr dirty="0" baseline="41666" sz="900" spc="8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SnCl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7232" y="132102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7232" y="14124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44" y="1623695"/>
            <a:ext cx="4432935" cy="14503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以钨酸钠为指示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TiCl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还原剩余的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3+</a:t>
            </a:r>
            <a:r>
              <a:rPr dirty="0" sz="1200" spc="-5">
                <a:latin typeface="Arial Unicode MS"/>
                <a:cs typeface="Arial Unicode MS"/>
              </a:rPr>
              <a:t>，反应如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947419">
              <a:lnSpc>
                <a:spcPts val="990"/>
              </a:lnSpc>
              <a:spcBef>
                <a:spcPts val="425"/>
              </a:spcBef>
            </a:pP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</a:t>
            </a:r>
            <a:r>
              <a:rPr dirty="0" baseline="41666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90">
                <a:latin typeface="Georgia"/>
                <a:cs typeface="Georgia"/>
              </a:rPr>
              <a:t>Ti</a:t>
            </a:r>
            <a:r>
              <a:rPr dirty="0" baseline="41666" sz="900" spc="135">
                <a:latin typeface="Times New Roman"/>
                <a:cs typeface="Times New Roman"/>
              </a:rPr>
              <a:t>3+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2+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TiO</a:t>
            </a:r>
            <a:r>
              <a:rPr dirty="0" baseline="41666" sz="900" spc="112">
                <a:latin typeface="Times New Roman"/>
                <a:cs typeface="Times New Roman"/>
              </a:rPr>
              <a:t>2+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2H</a:t>
            </a:r>
            <a:r>
              <a:rPr dirty="0" baseline="41666" sz="900" spc="30">
                <a:latin typeface="Times New Roman"/>
                <a:cs typeface="Times New Roman"/>
              </a:rPr>
              <a:t>+</a:t>
            </a:r>
            <a:endParaRPr baseline="41666" sz="900">
              <a:latin typeface="Times New Roman"/>
              <a:cs typeface="Times New Roman"/>
            </a:endParaRPr>
          </a:p>
          <a:p>
            <a:pPr algn="ctr" marR="545465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00">
              <a:latin typeface="Times New Roman"/>
              <a:cs typeface="Times New Roman"/>
            </a:endParaRPr>
          </a:p>
          <a:p>
            <a:pPr marL="50800" marR="43180" indent="303530">
              <a:lnSpc>
                <a:spcPct val="122300"/>
              </a:lnSpc>
              <a:spcBef>
                <a:spcPts val="5"/>
              </a:spcBef>
            </a:pPr>
            <a:r>
              <a:rPr dirty="0" sz="1200" spc="-10">
                <a:latin typeface="Arial Unicode MS"/>
                <a:cs typeface="Arial Unicode MS"/>
              </a:rPr>
              <a:t>过量一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TiCl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33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既可使溶液中作为指示剂的钨酸钠显蓝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显 示所有的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被还原为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Fe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滴加稀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至蓝色刚好退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5">
                <a:latin typeface="Arial Unicode MS"/>
                <a:cs typeface="Arial Unicode MS"/>
              </a:rPr>
              <a:t>，  以除去过量的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TiCl</a:t>
            </a:r>
            <a:r>
              <a:rPr dirty="0" baseline="-13888" sz="900" spc="75">
                <a:latin typeface="Times New Roman"/>
                <a:cs typeface="Times New Roman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498856"/>
            <a:ext cx="43618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最</a:t>
            </a:r>
            <a:r>
              <a:rPr dirty="0" spc="-80"/>
              <a:t>后</a:t>
            </a:r>
            <a:r>
              <a:rPr dirty="0" spc="-185"/>
              <a:t>，</a:t>
            </a:r>
            <a:r>
              <a:rPr dirty="0" spc="-5"/>
              <a:t>在</a:t>
            </a:r>
            <a:r>
              <a:rPr dirty="0" spc="15"/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/>
              <a:t>和</a:t>
            </a:r>
            <a:r>
              <a:rPr dirty="0" sz="1200" spc="20"/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/>
              <a:t>的混合酸介质</a:t>
            </a:r>
            <a:r>
              <a:rPr dirty="0" sz="1200" spc="-80"/>
              <a:t>中</a:t>
            </a:r>
            <a:r>
              <a:rPr dirty="0" sz="1200" spc="-185"/>
              <a:t>，</a:t>
            </a:r>
            <a:r>
              <a:rPr dirty="0" sz="1200" spc="-5"/>
              <a:t>以二苯胺磺酸钠 为指示</a:t>
            </a:r>
            <a:r>
              <a:rPr dirty="0" sz="1200" spc="-80"/>
              <a:t>剂</a:t>
            </a:r>
            <a:r>
              <a:rPr dirty="0" sz="1200" spc="-185"/>
              <a:t>，</a:t>
            </a:r>
            <a:r>
              <a:rPr dirty="0" sz="1200" spc="-5"/>
              <a:t>用</a:t>
            </a:r>
            <a:r>
              <a:rPr dirty="0" sz="1200" spc="15"/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/>
              <a:t>标准溶液滴定</a:t>
            </a:r>
            <a:r>
              <a:rPr dirty="0" sz="1200" spc="20"/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-5"/>
              <a:t>至溶液呈现稳定的紫红 色即为终</a:t>
            </a:r>
            <a:r>
              <a:rPr dirty="0" sz="1200" spc="-80"/>
              <a:t>点</a:t>
            </a:r>
            <a:r>
              <a:rPr dirty="0" sz="1200" spc="-185"/>
              <a:t>，</a:t>
            </a:r>
            <a:r>
              <a:rPr dirty="0" sz="1200" spc="-5"/>
              <a:t>反应如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0462" y="14473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940" y="146079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940" y="1369339"/>
            <a:ext cx="166941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7525" algn="l"/>
                <a:tab pos="1052830" algn="l"/>
                <a:tab pos="153860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9765" y="1369339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5994" y="14473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132" y="1363916"/>
            <a:ext cx="2995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3870" algn="l"/>
                <a:tab pos="986790" algn="l"/>
                <a:tab pos="2007870" algn="l"/>
                <a:tab pos="2510155" algn="l"/>
              </a:tabLst>
            </a:pP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6Fe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14H  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2Cr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6Fe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5">
                <a:latin typeface="Georgia"/>
                <a:cs typeface="Georgia"/>
              </a:rPr>
              <a:t>7H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1672005"/>
            <a:ext cx="4332605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加入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的目的有两</a:t>
            </a:r>
            <a:r>
              <a:rPr dirty="0" sz="1200" spc="-80">
                <a:latin typeface="Arial Unicode MS"/>
                <a:cs typeface="Arial Unicode MS"/>
              </a:rPr>
              <a:t>个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其一是生成无色的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Fe(HPO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baseline="37037" sz="900" spc="37" i="1">
                <a:latin typeface="Arial"/>
                <a:cs typeface="Arial"/>
              </a:rPr>
              <a:t>−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以消除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的黄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有利于滴定终点的观</a:t>
            </a:r>
            <a:r>
              <a:rPr dirty="0" sz="1200" spc="-65">
                <a:latin typeface="Arial Unicode MS"/>
                <a:cs typeface="Arial Unicode MS"/>
              </a:rPr>
              <a:t>察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其二是降低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sz="1100" spc="35" b="0" i="1">
                <a:latin typeface="Bookman Old Style"/>
                <a:cs typeface="Bookman Old Style"/>
              </a:rPr>
              <a:t>/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baseline="37037" sz="900" spc="3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电对的电</a:t>
            </a:r>
            <a:r>
              <a:rPr dirty="0" sz="1200" spc="-80">
                <a:latin typeface="Arial Unicode MS"/>
                <a:cs typeface="Arial Unicode MS"/>
              </a:rPr>
              <a:t>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使指示剂变色点电势更接近化学计量点电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从而减小终点误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35445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水中化学</a:t>
            </a:r>
            <a:r>
              <a:rPr dirty="0" sz="1050" spc="-10">
                <a:solidFill>
                  <a:srgbClr val="FFFFFF"/>
                </a:solidFill>
              </a:rPr>
              <a:t>耗</a:t>
            </a:r>
            <a:r>
              <a:rPr dirty="0" sz="1050" spc="-5">
                <a:solidFill>
                  <a:srgbClr val="FFFFFF"/>
                </a:solidFill>
              </a:rPr>
              <a:t>氧量的</a:t>
            </a:r>
            <a:r>
              <a:rPr dirty="0" sz="1050" spc="-10">
                <a:solidFill>
                  <a:srgbClr val="FFFFFF"/>
                </a:solidFill>
              </a:rPr>
              <a:t>测</a:t>
            </a:r>
            <a:r>
              <a:rPr dirty="0" sz="1050" spc="-5">
                <a:solidFill>
                  <a:srgbClr val="FFFFFF"/>
                </a:solidFill>
              </a:rPr>
              <a:t>定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00444" y="902424"/>
            <a:ext cx="4407535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常规的高锰酸钾法也可用于水中化学耗氧量的测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但一般 </a:t>
            </a:r>
            <a:r>
              <a:rPr dirty="0" sz="1200" spc="-10">
                <a:latin typeface="Arial Unicode MS"/>
                <a:cs typeface="Arial Unicode MS"/>
              </a:rPr>
              <a:t>用于地表</a:t>
            </a:r>
            <a:r>
              <a:rPr dirty="0" sz="1200" spc="15">
                <a:latin typeface="Arial Unicode MS"/>
                <a:cs typeface="Arial Unicode MS"/>
              </a:rPr>
              <a:t>水</a:t>
            </a:r>
            <a:r>
              <a:rPr dirty="0" sz="1200" spc="-290">
                <a:latin typeface="Arial Unicode MS"/>
                <a:cs typeface="Arial Unicode MS"/>
              </a:rPr>
              <a:t>、</a:t>
            </a:r>
            <a:r>
              <a:rPr dirty="0" sz="1200" spc="-10">
                <a:latin typeface="Arial Unicode MS"/>
                <a:cs typeface="Arial Unicode MS"/>
              </a:rPr>
              <a:t>饮用水和生活污水等污染程度不算太严重的水</a:t>
            </a:r>
            <a:r>
              <a:rPr dirty="0" sz="1200" spc="-20">
                <a:latin typeface="Arial Unicode MS"/>
                <a:cs typeface="Arial Unicode MS"/>
              </a:rPr>
              <a:t>体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而 </a:t>
            </a:r>
            <a:r>
              <a:rPr dirty="0" sz="1200" spc="-5">
                <a:latin typeface="Arial Unicode MS"/>
                <a:cs typeface="Arial Unicode MS"/>
              </a:rPr>
              <a:t>对于污染严重的水体如工业废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重铬酸钾法更为适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法测定化学耗氧量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先在强酸性的水样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 </a:t>
            </a:r>
            <a:r>
              <a:rPr dirty="0" sz="1100" spc="25">
                <a:latin typeface="Georgia"/>
                <a:cs typeface="Georgia"/>
              </a:rPr>
              <a:t>AgSO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为催化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加入一定量过量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加热回</a:t>
            </a:r>
            <a:r>
              <a:rPr dirty="0" sz="1200" spc="-5">
                <a:latin typeface="Arial Unicode MS"/>
                <a:cs typeface="Arial Unicode MS"/>
              </a:rPr>
              <a:t>流 使有机物氧化为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CO</a:t>
            </a:r>
            <a:r>
              <a:rPr dirty="0" baseline="-13888" sz="900" spc="104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FeSO</a:t>
            </a:r>
            <a:r>
              <a:rPr dirty="0" baseline="-13888" sz="900" spc="-7">
                <a:latin typeface="Times New Roman"/>
                <a:cs typeface="Times New Roman"/>
              </a:rPr>
              <a:t>4</a:t>
            </a:r>
            <a:r>
              <a:rPr dirty="0" baseline="-13888" sz="900" spc="1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标准溶液返滴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用邻二氮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菲</a:t>
            </a:r>
            <a:r>
              <a:rPr dirty="0" sz="1100" spc="-40">
                <a:latin typeface="Georgia"/>
                <a:cs typeface="Georgia"/>
              </a:rPr>
              <a:t>–Fe(II)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指示滴定终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592835"/>
            <a:ext cx="43827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00">
                <a:latin typeface="Times New Roman"/>
                <a:cs typeface="Times New Roman"/>
              </a:rPr>
              <a:t> </a:t>
            </a:r>
            <a:r>
              <a:rPr dirty="0" sz="1200" spc="-5"/>
              <a:t>法也可用于许多有机物的测</a:t>
            </a:r>
            <a:r>
              <a:rPr dirty="0" sz="1200" spc="-80"/>
              <a:t>定</a:t>
            </a:r>
            <a:r>
              <a:rPr dirty="0" sz="1200" spc="-185"/>
              <a:t>，</a:t>
            </a:r>
            <a:r>
              <a:rPr dirty="0" sz="1200" spc="-5"/>
              <a:t>例</a:t>
            </a:r>
            <a:r>
              <a:rPr dirty="0" sz="1200" spc="-80"/>
              <a:t>如</a:t>
            </a:r>
            <a:r>
              <a:rPr dirty="0" sz="1200" spc="-185"/>
              <a:t>，</a:t>
            </a:r>
            <a:r>
              <a:rPr dirty="0" sz="1200" spc="-5"/>
              <a:t>工业甲醇中的 甲醇含量可用本法测</a:t>
            </a:r>
            <a:r>
              <a:rPr dirty="0" sz="1200" spc="-20"/>
              <a:t>定</a:t>
            </a:r>
            <a:r>
              <a:rPr dirty="0" sz="1200" spc="-235"/>
              <a:t>。</a:t>
            </a:r>
            <a:r>
              <a:rPr dirty="0" sz="1200" spc="-5"/>
              <a:t>将工业甲醇与一定量的过量的</a:t>
            </a:r>
            <a:r>
              <a:rPr dirty="0" sz="1200" spc="10"/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  </a:t>
            </a:r>
            <a:r>
              <a:rPr dirty="0" sz="1200" spc="-5"/>
              <a:t>标准溶液反</a:t>
            </a:r>
            <a:r>
              <a:rPr dirty="0" sz="1200" spc="-80"/>
              <a:t>应</a:t>
            </a:r>
            <a:r>
              <a:rPr dirty="0" sz="1200" spc="-185"/>
              <a:t>，</a:t>
            </a:r>
            <a:r>
              <a:rPr dirty="0" sz="1200" spc="-5"/>
              <a:t>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422" y="1541297"/>
            <a:ext cx="6604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007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448" y="1457896"/>
            <a:ext cx="978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CH </a:t>
            </a:r>
            <a:r>
              <a:rPr dirty="0" sz="1100" spc="-25">
                <a:latin typeface="Georgia"/>
                <a:cs typeface="Georgia"/>
              </a:rPr>
              <a:t>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9935" y="146330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9935" y="15547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8273" y="146330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8135" y="15412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6551" y="1457896"/>
            <a:ext cx="1337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8H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 spc="30">
                <a:latin typeface="Georgia"/>
                <a:cs typeface="Georgia"/>
              </a:rPr>
              <a:t>+2Cr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8449" y="146330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4678" y="15412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42957" y="1457896"/>
            <a:ext cx="497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6H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1765986"/>
            <a:ext cx="4357370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上述反应完成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以邻苯氨基苯甲酸为指示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15">
                <a:latin typeface="Georgia"/>
                <a:cs typeface="Georgia"/>
              </a:rPr>
              <a:t>(NH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Fe(SO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标准溶液返滴定过量的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37">
                <a:latin typeface="Times New Roman"/>
                <a:cs typeface="Times New Roman"/>
              </a:rPr>
              <a:t>7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由此可求得甲醇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7689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6.6.3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碘量法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867486"/>
            <a:ext cx="43948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碘量法是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的氧化性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37" i="1">
                <a:latin typeface="Arial"/>
                <a:cs typeface="Arial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的还原性为基础</a:t>
            </a:r>
            <a:r>
              <a:rPr dirty="0" sz="1200" spc="-5">
                <a:latin typeface="Arial Unicode MS"/>
                <a:cs typeface="Arial Unicode MS"/>
              </a:rPr>
              <a:t>的滴</a:t>
            </a:r>
            <a:r>
              <a:rPr dirty="0" sz="1200" spc="-1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极反应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0992" y="146775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90">
                <a:latin typeface="Times New Roman"/>
                <a:cs typeface="Times New Roman"/>
              </a:rPr>
              <a:t>�</a:t>
            </a:r>
            <a:r>
              <a:rPr dirty="0" baseline="24691" sz="675" spc="300">
                <a:latin typeface="Times New Roman"/>
                <a:cs typeface="Times New Roman"/>
              </a:rPr>
              <a:t> </a:t>
            </a:r>
            <a:r>
              <a:rPr dirty="0" baseline="24691" sz="675" spc="359">
                <a:latin typeface="Times New Roman"/>
                <a:cs typeface="Times New Roman"/>
              </a:rPr>
              <a:t> </a:t>
            </a:r>
            <a:r>
              <a:rPr dirty="0" sz="450" spc="260">
                <a:latin typeface="Times New Roman"/>
                <a:cs typeface="Times New Roman"/>
              </a:rPr>
              <a:t> </a:t>
            </a:r>
            <a:r>
              <a:rPr dirty="0" baseline="24691" sz="675" spc="-712">
                <a:latin typeface="Times New Roman"/>
                <a:cs typeface="Times New Roman"/>
              </a:rPr>
              <a:t> </a:t>
            </a:r>
            <a:r>
              <a:rPr dirty="0" sz="450" spc="200">
                <a:latin typeface="Times New Roman"/>
                <a:cs typeface="Times New Roman"/>
              </a:rPr>
              <a:t> </a:t>
            </a:r>
            <a:r>
              <a:rPr dirty="0" sz="450" spc="545"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903" y="1369669"/>
            <a:ext cx="1205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61390" algn="l"/>
              </a:tabLst>
            </a:pP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2e	</a:t>
            </a:r>
            <a:r>
              <a:rPr dirty="0" sz="1100" spc="40">
                <a:latin typeface="Georgia"/>
                <a:cs typeface="Georgia"/>
              </a:rPr>
              <a:t>2I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9354" y="1369669"/>
            <a:ext cx="774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90" b="0" i="1">
                <a:latin typeface="Bookman Old Style"/>
                <a:cs typeface="Bookman Old Style"/>
              </a:rPr>
              <a:t>E</a:t>
            </a:r>
            <a:r>
              <a:rPr dirty="0" baseline="41666" sz="900" spc="135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54V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634579"/>
            <a:ext cx="44075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是一种较弱的氧化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能与较强的还原剂反</a:t>
            </a:r>
            <a:r>
              <a:rPr dirty="0" sz="1200" spc="-65">
                <a:latin typeface="Arial Unicode MS"/>
                <a:cs typeface="Arial Unicode MS"/>
              </a:rPr>
              <a:t>应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3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是一 种中等强度的还原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能与许多氧化剂起反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碘量法的测 </a:t>
            </a:r>
            <a:r>
              <a:rPr dirty="0" sz="1200" spc="-10">
                <a:latin typeface="Arial Unicode MS"/>
                <a:cs typeface="Arial Unicode MS"/>
              </a:rPr>
              <a:t>定对象很广</a:t>
            </a:r>
            <a:r>
              <a:rPr dirty="0" sz="1200" spc="-80">
                <a:latin typeface="Arial Unicode MS"/>
                <a:cs typeface="Arial Unicode MS"/>
              </a:rPr>
              <a:t>泛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既可测定氧化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又可测定还原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265">
                <a:latin typeface="Arial Unicode MS"/>
                <a:cs typeface="Arial Unicode MS"/>
              </a:rPr>
              <a:t>。</a:t>
            </a:r>
            <a:r>
              <a:rPr dirty="0" sz="1100" spc="25">
                <a:latin typeface="Georgia"/>
                <a:cs typeface="Georgia"/>
              </a:rPr>
              <a:t>I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 b="0" i="1">
                <a:latin typeface="Bookman Old Style"/>
                <a:cs typeface="Bookman Old Style"/>
              </a:rPr>
              <a:t>/</a:t>
            </a:r>
            <a:r>
              <a:rPr dirty="0" sz="1100" spc="25">
                <a:latin typeface="Georgia"/>
                <a:cs typeface="Georgia"/>
              </a:rPr>
              <a:t>I</a:t>
            </a:r>
            <a:r>
              <a:rPr dirty="0" baseline="37037" sz="900" spc="37" i="1">
                <a:latin typeface="Arial"/>
                <a:cs typeface="Arial"/>
              </a:rPr>
              <a:t>−</a:t>
            </a:r>
            <a:r>
              <a:rPr dirty="0" baseline="37037" sz="900" spc="254" i="1">
                <a:latin typeface="Arial"/>
                <a:cs typeface="Arial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电对的</a:t>
            </a:r>
            <a:r>
              <a:rPr dirty="0" sz="1200" spc="-5">
                <a:latin typeface="Arial Unicode MS"/>
                <a:cs typeface="Arial Unicode MS"/>
              </a:rPr>
              <a:t>可 逆性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副反应</a:t>
            </a:r>
            <a:r>
              <a:rPr dirty="0" sz="1200" spc="-80">
                <a:latin typeface="Arial Unicode MS"/>
                <a:cs typeface="Arial Unicode MS"/>
              </a:rPr>
              <a:t>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其电位在一个较宽的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的范围内不受酸度和 其它络合剂的影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152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注</a:t>
            </a:r>
            <a:r>
              <a:rPr dirty="0" sz="1050" spc="-80">
                <a:solidFill>
                  <a:srgbClr val="FFFFFF"/>
                </a:solidFill>
                <a:latin typeface="Arial Unicode MS"/>
                <a:cs typeface="Arial Unicode MS"/>
              </a:rPr>
              <a:t>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！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1260487"/>
            <a:ext cx="443230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/>
              <a:t>易挥</a:t>
            </a:r>
            <a:r>
              <a:rPr dirty="0" sz="1200" spc="-80"/>
              <a:t>发</a:t>
            </a:r>
            <a:r>
              <a:rPr dirty="0" sz="1200" spc="-185"/>
              <a:t>，</a:t>
            </a:r>
            <a:r>
              <a:rPr dirty="0" sz="1200" spc="-5"/>
              <a:t>在使用过程中通常加入过量的</a:t>
            </a:r>
            <a:r>
              <a:rPr dirty="0" sz="1200" spc="5"/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/>
              <a:t>使之形成溶解度 </a:t>
            </a:r>
            <a:r>
              <a:rPr dirty="0" sz="1200" spc="-10"/>
              <a:t>较大</a:t>
            </a:r>
            <a:r>
              <a:rPr dirty="0" sz="1200" spc="-5"/>
              <a:t>的 </a:t>
            </a:r>
            <a:r>
              <a:rPr dirty="0" sz="1100" spc="-110">
                <a:latin typeface="Georgia"/>
                <a:cs typeface="Georgia"/>
              </a:rPr>
              <a:t>I</a:t>
            </a:r>
            <a:r>
              <a:rPr dirty="0" baseline="37037" sz="900" spc="-165" i="1">
                <a:latin typeface="Arial"/>
                <a:cs typeface="Arial"/>
              </a:rPr>
              <a:t>−</a:t>
            </a:r>
            <a:r>
              <a:rPr dirty="0" baseline="-23148" sz="900" spc="-165">
                <a:latin typeface="Times New Roman"/>
                <a:cs typeface="Times New Roman"/>
              </a:rPr>
              <a:t>3</a:t>
            </a:r>
            <a:r>
              <a:rPr dirty="0" baseline="-23148" sz="900" spc="-127">
                <a:latin typeface="Times New Roman"/>
                <a:cs typeface="Times New Roman"/>
              </a:rPr>
              <a:t> </a:t>
            </a:r>
            <a:r>
              <a:rPr dirty="0" sz="1200" spc="-235"/>
              <a:t>。</a:t>
            </a:r>
            <a:r>
              <a:rPr dirty="0" sz="1200" spc="-10"/>
              <a:t>对</a:t>
            </a:r>
            <a:r>
              <a:rPr dirty="0" sz="1200" spc="-5"/>
              <a:t>于</a:t>
            </a:r>
            <a:r>
              <a:rPr dirty="0" sz="1200" spc="-10"/>
              <a:t>有碘析出的反</a:t>
            </a:r>
            <a:r>
              <a:rPr dirty="0" sz="1200" spc="-80"/>
              <a:t>应</a:t>
            </a:r>
            <a:r>
              <a:rPr dirty="0" sz="1200" spc="-190"/>
              <a:t>，</a:t>
            </a:r>
            <a:r>
              <a:rPr dirty="0" sz="1200" spc="-10"/>
              <a:t>应在带塞</a:t>
            </a:r>
            <a:r>
              <a:rPr dirty="0" sz="1200" spc="-5"/>
              <a:t>的</a:t>
            </a:r>
            <a:r>
              <a:rPr dirty="0" sz="1200" spc="-10"/>
              <a:t>碘量瓶中进</a:t>
            </a:r>
            <a:r>
              <a:rPr dirty="0" sz="1200" spc="-80"/>
              <a:t>行</a:t>
            </a:r>
            <a:r>
              <a:rPr dirty="0" sz="1200" spc="-190"/>
              <a:t>，</a:t>
            </a:r>
            <a:r>
              <a:rPr dirty="0" sz="1200" spc="-10"/>
              <a:t>且</a:t>
            </a:r>
            <a:r>
              <a:rPr dirty="0" sz="1200" spc="-5"/>
              <a:t>反 应完毕后应马上进行滴</a:t>
            </a:r>
            <a:r>
              <a:rPr dirty="0" sz="1200" spc="-20"/>
              <a:t>定</a:t>
            </a:r>
            <a:r>
              <a:rPr dirty="0" sz="1200" spc="-235"/>
              <a:t>。</a:t>
            </a:r>
            <a:r>
              <a:rPr dirty="0" sz="1200" spc="-5"/>
              <a:t>另一方</a:t>
            </a:r>
            <a:r>
              <a:rPr dirty="0" sz="1200" spc="-80"/>
              <a:t>面</a:t>
            </a:r>
            <a:r>
              <a:rPr dirty="0" sz="1200"/>
              <a:t>，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baseline="37037" sz="900" i="1">
                <a:latin typeface="Arial"/>
                <a:cs typeface="Arial"/>
              </a:rPr>
              <a:t>− </a:t>
            </a:r>
            <a:r>
              <a:rPr dirty="0" sz="1200" spc="-5"/>
              <a:t>易被空气中的氧所氧</a:t>
            </a:r>
            <a:r>
              <a:rPr dirty="0" sz="1200" spc="-80"/>
              <a:t>化</a:t>
            </a:r>
            <a:r>
              <a:rPr dirty="0" sz="1200" spc="-5"/>
              <a:t>，  而光照会催化</a:t>
            </a:r>
            <a:r>
              <a:rPr dirty="0" sz="1200" spc="20"/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59" i="1">
                <a:latin typeface="Arial"/>
                <a:cs typeface="Arial"/>
              </a:rPr>
              <a:t> </a:t>
            </a:r>
            <a:r>
              <a:rPr dirty="0" sz="1200" spc="-5"/>
              <a:t>的氧</a:t>
            </a:r>
            <a:r>
              <a:rPr dirty="0" sz="1200" spc="-80"/>
              <a:t>化</a:t>
            </a:r>
            <a:r>
              <a:rPr dirty="0" sz="1200" spc="-185"/>
              <a:t>，</a:t>
            </a:r>
            <a:r>
              <a:rPr dirty="0" sz="1200" spc="-5"/>
              <a:t>所</a:t>
            </a:r>
            <a:r>
              <a:rPr dirty="0" sz="1200" spc="-80"/>
              <a:t>以</a:t>
            </a:r>
            <a:r>
              <a:rPr dirty="0" sz="1200" spc="-130"/>
              <a:t>，</a:t>
            </a:r>
            <a:r>
              <a:rPr dirty="0" sz="1100" spc="-130">
                <a:latin typeface="Georgia"/>
                <a:cs typeface="Georgia"/>
              </a:rPr>
              <a:t>I</a:t>
            </a:r>
            <a:r>
              <a:rPr dirty="0" baseline="37037" sz="900" spc="-195" i="1">
                <a:latin typeface="Arial"/>
                <a:cs typeface="Arial"/>
              </a:rPr>
              <a:t>−</a:t>
            </a:r>
            <a:r>
              <a:rPr dirty="0" baseline="-23148" sz="900" spc="-195">
                <a:latin typeface="Times New Roman"/>
                <a:cs typeface="Times New Roman"/>
              </a:rPr>
              <a:t>3</a:t>
            </a:r>
            <a:r>
              <a:rPr dirty="0" baseline="-23148" sz="900" spc="-179">
                <a:latin typeface="Times New Roman"/>
                <a:cs typeface="Times New Roman"/>
              </a:rPr>
              <a:t> </a:t>
            </a:r>
            <a:r>
              <a:rPr dirty="0" sz="1200" spc="-5"/>
              <a:t>溶液应保存在棕色瓶</a:t>
            </a:r>
            <a:r>
              <a:rPr dirty="0" sz="1200" spc="-20"/>
              <a:t>中</a:t>
            </a:r>
            <a:r>
              <a:rPr dirty="0" sz="1200" spc="-5"/>
              <a:t>。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直接碘量法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101" y="984186"/>
            <a:ext cx="40036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直接碘量法是用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溶液作为滴定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滴定较强的还原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043" y="130456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819" y="1233513"/>
            <a:ext cx="10591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2595" algn="l"/>
                <a:tab pos="92583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310" y="1318044"/>
            <a:ext cx="5556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07884"/>
            <a:ext cx="22123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SO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100" spc="-100">
                <a:latin typeface="Georgia"/>
                <a:cs typeface="Georgia"/>
              </a:rPr>
              <a:t>S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维生素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390078"/>
            <a:ext cx="42449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直接碘量法不宜在碱性条件下或强酸性条件下进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因为会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发生如下反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从而影响滴定的准确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8184" y="21283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6239" y="2036851"/>
            <a:ext cx="8890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  <a:tab pos="8026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3243" y="2114842"/>
            <a:ext cx="178688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720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3939" y="2031441"/>
            <a:ext cx="2020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Georgia"/>
                <a:cs typeface="Georgia"/>
              </a:rPr>
              <a:t>3I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5">
                <a:latin typeface="Georgia"/>
                <a:cs typeface="Georgia"/>
              </a:rPr>
              <a:t>6OH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">
                <a:latin typeface="Georgia"/>
                <a:cs typeface="Georgia"/>
              </a:rPr>
              <a:t>IO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5I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3H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1846" y="2394318"/>
            <a:ext cx="18846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425"/>
              </a:lnSpc>
              <a:spcBef>
                <a:spcPts val="90"/>
              </a:spcBef>
            </a:pPr>
            <a:r>
              <a:rPr dirty="0" sz="1100" spc="35">
                <a:latin typeface="Georgia"/>
                <a:cs typeface="Georgia"/>
              </a:rPr>
              <a:t>4I</a:t>
            </a:r>
            <a:r>
              <a:rPr dirty="0" baseline="41666" sz="900" spc="5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2I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L="4445">
              <a:lnSpc>
                <a:spcPts val="290"/>
              </a:lnSpc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  <a:p>
            <a:pPr algn="r" marR="144145">
              <a:lnSpc>
                <a:spcPts val="665"/>
              </a:lnSpc>
              <a:tabLst>
                <a:tab pos="39497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79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间接碘量法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970191"/>
            <a:ext cx="44075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间接碘量法是将待测氧化物与过量的</a:t>
            </a:r>
            <a:r>
              <a:rPr dirty="0"/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22" i="1">
                <a:latin typeface="Arial"/>
                <a:cs typeface="Arial"/>
              </a:rPr>
              <a:t> </a:t>
            </a:r>
            <a:r>
              <a:rPr dirty="0" sz="1200" spc="-5"/>
              <a:t>反</a:t>
            </a:r>
            <a:r>
              <a:rPr dirty="0" sz="1200" spc="-80"/>
              <a:t>应</a:t>
            </a:r>
            <a:r>
              <a:rPr dirty="0" sz="1200" spc="-185"/>
              <a:t>，</a:t>
            </a:r>
            <a:r>
              <a:rPr dirty="0" sz="1200" spc="-5"/>
              <a:t>生成与待测氧 </a:t>
            </a:r>
            <a:r>
              <a:rPr dirty="0" sz="1200" spc="-10"/>
              <a:t>化物的量相</a:t>
            </a:r>
            <a:r>
              <a:rPr dirty="0" sz="1200" spc="-5"/>
              <a:t>当的</a:t>
            </a:r>
            <a:r>
              <a:rPr dirty="0" sz="1200" spc="10"/>
              <a:t> </a:t>
            </a:r>
            <a:r>
              <a:rPr dirty="0" sz="1100" spc="-65">
                <a:latin typeface="Georgia"/>
                <a:cs typeface="Georgia"/>
              </a:rPr>
              <a:t>I</a:t>
            </a:r>
            <a:r>
              <a:rPr dirty="0" baseline="-13888" sz="900" spc="-97">
                <a:latin typeface="Times New Roman"/>
                <a:cs typeface="Times New Roman"/>
              </a:rPr>
              <a:t>2</a:t>
            </a:r>
            <a:r>
              <a:rPr dirty="0" sz="1200" spc="-65"/>
              <a:t>，</a:t>
            </a:r>
            <a:r>
              <a:rPr dirty="0" sz="1200" spc="-10"/>
              <a:t>再</a:t>
            </a:r>
            <a:r>
              <a:rPr dirty="0" sz="1200" spc="-5"/>
              <a:t>用</a:t>
            </a:r>
            <a:r>
              <a:rPr dirty="0" sz="1200" spc="15"/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10"/>
              <a:t>标准溶液</a:t>
            </a:r>
            <a:r>
              <a:rPr dirty="0" sz="1200" spc="-5"/>
              <a:t>滴</a:t>
            </a:r>
            <a:r>
              <a:rPr dirty="0" sz="1200" spc="-10"/>
              <a:t>定生成</a:t>
            </a:r>
            <a:r>
              <a:rPr dirty="0" sz="1200" spc="-5"/>
              <a:t>的</a:t>
            </a:r>
            <a:r>
              <a:rPr dirty="0" sz="1200" spc="15"/>
              <a:t> </a:t>
            </a:r>
            <a:r>
              <a:rPr dirty="0" sz="1100" spc="-65">
                <a:latin typeface="Georgia"/>
                <a:cs typeface="Georgia"/>
              </a:rPr>
              <a:t>I</a:t>
            </a:r>
            <a:r>
              <a:rPr dirty="0" baseline="-13888" sz="900" spc="-97">
                <a:latin typeface="Times New Roman"/>
                <a:cs typeface="Times New Roman"/>
              </a:rPr>
              <a:t>2</a:t>
            </a:r>
            <a:r>
              <a:rPr dirty="0" sz="1200" spc="-65"/>
              <a:t>，</a:t>
            </a:r>
            <a:r>
              <a:rPr dirty="0" sz="1200" spc="-10"/>
              <a:t>从而</a:t>
            </a:r>
            <a:r>
              <a:rPr dirty="0" sz="1200" spc="-5"/>
              <a:t>求 得该氧化物的</a:t>
            </a:r>
            <a:r>
              <a:rPr dirty="0" sz="1200" spc="-80"/>
              <a:t>量</a:t>
            </a:r>
            <a:r>
              <a:rPr dirty="0" sz="1200" spc="-185"/>
              <a:t>，</a:t>
            </a:r>
            <a:r>
              <a:rPr dirty="0" sz="1200" spc="-5"/>
              <a:t>反应如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7677" y="19321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7200" y="1918652"/>
            <a:ext cx="5778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159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7677" y="1840661"/>
            <a:ext cx="8007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437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5348" y="191865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0959" y="1835251"/>
            <a:ext cx="152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5615" algn="l"/>
              </a:tabLst>
            </a:pPr>
            <a:r>
              <a:rPr dirty="0" sz="1100" spc="-40">
                <a:latin typeface="Georgia"/>
                <a:cs typeface="Georgia"/>
              </a:rPr>
              <a:t>2S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I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2I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S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5825" y="18406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5825" y="19321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113" y="2184844"/>
            <a:ext cx="40157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29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是一种中等强度的还原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故间接碘量法可用于测定相当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9260" y="25186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0359" y="25186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9260" y="2434170"/>
            <a:ext cx="10306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3240" algn="l"/>
                <a:tab pos="899794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2408542"/>
            <a:ext cx="36931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多的氧化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ClO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100" spc="-60">
                <a:latin typeface="Georgia"/>
                <a:cs typeface="Georgia"/>
              </a:rPr>
              <a:t>MnO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Cu</a:t>
            </a:r>
            <a:r>
              <a:rPr dirty="0" sz="1100" spc="17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及许多有机物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594537"/>
            <a:ext cx="3941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间接碘量法应在中性或弱酸性溶液中进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因为在碱性条件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888" y="914933"/>
            <a:ext cx="1628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6908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1004" y="9283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2885" y="91493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004" y="843864"/>
            <a:ext cx="150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96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8189" y="9283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818235"/>
            <a:ext cx="44037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下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I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会发生歧化反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6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会被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I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氧化成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影响反应的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041933"/>
            <a:ext cx="1501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计量关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9154" y="15149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677" y="1501495"/>
            <a:ext cx="6470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737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9154" y="1423517"/>
            <a:ext cx="10858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885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4028" y="15149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4028" y="1423517"/>
            <a:ext cx="513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67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00424" y="15014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1702" y="1418094"/>
            <a:ext cx="2764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6400" algn="l"/>
                <a:tab pos="1911350" algn="l"/>
              </a:tabLst>
            </a:pP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4I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10OH 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2SO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8I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5H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9225" y="18643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4154" y="1767687"/>
            <a:ext cx="22510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在强酸条件下进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因为此时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69690" y="187784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44290" y="1717408"/>
            <a:ext cx="4000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2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85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易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93527" y="1767687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844" y="1726184"/>
            <a:ext cx="15443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间接碘量法也不宜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82318" y="23252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82318" y="2233790"/>
            <a:ext cx="5651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06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4866" y="2228367"/>
            <a:ext cx="166623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6400" algn="l"/>
              </a:tabLst>
            </a:pP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>
                <a:latin typeface="Georgia"/>
                <a:cs typeface="Georgia"/>
              </a:rPr>
              <a:t>S </a:t>
            </a:r>
            <a:r>
              <a:rPr dirty="0" sz="1100" spc="-40">
                <a:latin typeface="Lucida Sans Unicode"/>
                <a:cs typeface="Lucida Sans Unicode"/>
              </a:rPr>
              <a:t>↓ </a:t>
            </a:r>
            <a:r>
              <a:rPr dirty="0" sz="1100" spc="30">
                <a:latin typeface="Georgia"/>
                <a:cs typeface="Georgia"/>
              </a:rPr>
              <a:t>+H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1841" y="2311768"/>
            <a:ext cx="16351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7945" algn="l"/>
                <a:tab pos="15754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铜合金中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铜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的测定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229995"/>
            <a:ext cx="4438015" cy="10026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的量相当的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I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74930">
              <a:lnSpc>
                <a:spcPts val="990"/>
              </a:lnSpc>
              <a:spcBef>
                <a:spcPts val="425"/>
              </a:spcBef>
            </a:pPr>
            <a:r>
              <a:rPr dirty="0" sz="1100" spc="50">
                <a:latin typeface="Georgia"/>
                <a:cs typeface="Georgia"/>
              </a:rPr>
              <a:t>2Cu</a:t>
            </a:r>
            <a:r>
              <a:rPr dirty="0" baseline="41666" sz="900" spc="75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4I</a:t>
            </a:r>
            <a:r>
              <a:rPr dirty="0" baseline="41666" sz="900" spc="5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>
                <a:latin typeface="Georgia"/>
                <a:cs typeface="Georgia"/>
              </a:rPr>
              <a:t>2CuI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24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+I</a:t>
            </a:r>
            <a:endParaRPr sz="1100">
              <a:latin typeface="Georgia"/>
              <a:cs typeface="Georgia"/>
            </a:endParaRPr>
          </a:p>
          <a:p>
            <a:pPr marL="2938145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然后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标准溶液滴定生成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I</a:t>
            </a:r>
            <a:r>
              <a:rPr dirty="0" baseline="-13888" sz="900" spc="-97">
                <a:latin typeface="Times New Roman"/>
                <a:cs typeface="Times New Roman"/>
              </a:rPr>
              <a:t>2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从而求出铜的含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葡萄糖含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的测定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44" y="831342"/>
            <a:ext cx="4427855" cy="18649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将一定量过量的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标准溶液加入到待测的葡萄糖溶液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加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使溶液呈碱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此时发生如下反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186180" marR="1123315">
              <a:lnSpc>
                <a:spcPts val="2860"/>
              </a:lnSpc>
              <a:spcBef>
                <a:spcPts val="330"/>
              </a:spcBef>
            </a:pP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9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2NaOH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NaIO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NaI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  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6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12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6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NaIO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6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11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7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NaI</a:t>
            </a:r>
            <a:endParaRPr sz="1100">
              <a:latin typeface="Georgia"/>
              <a:cs typeface="Georgia"/>
            </a:endParaRPr>
          </a:p>
          <a:p>
            <a:pPr marL="37973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Unicode MS"/>
                <a:cs typeface="Arial Unicode MS"/>
              </a:rPr>
              <a:t>总反应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55244">
              <a:lnSpc>
                <a:spcPct val="100000"/>
              </a:lnSpc>
              <a:spcBef>
                <a:spcPts val="5"/>
              </a:spcBef>
            </a:pP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6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12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6</a:t>
            </a:r>
            <a:r>
              <a:rPr dirty="0" baseline="-13888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3NaOH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NaC</a:t>
            </a:r>
            <a:r>
              <a:rPr dirty="0" baseline="-13888" sz="900" spc="52">
                <a:latin typeface="Times New Roman"/>
                <a:cs typeface="Times New Roman"/>
              </a:rPr>
              <a:t>6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11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7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2NaI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2H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608825"/>
            <a:ext cx="32804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剩余的</a:t>
            </a:r>
            <a:r>
              <a:rPr dirty="0"/>
              <a:t> </a:t>
            </a:r>
            <a:r>
              <a:rPr dirty="0" sz="1100" spc="70">
                <a:latin typeface="Georgia"/>
                <a:cs typeface="Georgia"/>
              </a:rPr>
              <a:t>IO</a:t>
            </a:r>
            <a:r>
              <a:rPr dirty="0" baseline="37037" sz="900" spc="104" i="1">
                <a:latin typeface="Arial"/>
                <a:cs typeface="Arial"/>
              </a:rPr>
              <a:t>−</a:t>
            </a:r>
            <a:r>
              <a:rPr dirty="0" baseline="37037" sz="900" spc="315" i="1">
                <a:latin typeface="Arial"/>
                <a:cs typeface="Arial"/>
              </a:rPr>
              <a:t> </a:t>
            </a:r>
            <a:r>
              <a:rPr dirty="0" sz="1200" spc="-5"/>
              <a:t>在碱性溶液中发生如下的歧化反</a:t>
            </a:r>
            <a:r>
              <a:rPr dirty="0" sz="1200" spc="-90"/>
              <a:t>应</a:t>
            </a:r>
            <a:r>
              <a:rPr dirty="0" sz="1200" spc="-5"/>
              <a:t>：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057" y="10818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649" y="984986"/>
            <a:ext cx="1166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5">
                <a:latin typeface="Georgia"/>
                <a:cs typeface="Georgia"/>
              </a:rPr>
              <a:t>3IO</a:t>
            </a:r>
            <a:r>
              <a:rPr dirty="0" baseline="41666" sz="900" spc="5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70">
                <a:latin typeface="Georgia"/>
                <a:cs typeface="Georgia"/>
              </a:rPr>
              <a:t>IO</a:t>
            </a:r>
            <a:r>
              <a:rPr dirty="0" baseline="41666" sz="900" spc="104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2I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13" y="1334579"/>
            <a:ext cx="41268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将试液酸</a:t>
            </a:r>
            <a:r>
              <a:rPr dirty="0" sz="1200" spc="-80">
                <a:latin typeface="Arial Unicode MS"/>
                <a:cs typeface="Arial Unicode MS"/>
              </a:rPr>
              <a:t>化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上述歧化反应产物可转变</a:t>
            </a:r>
            <a:r>
              <a:rPr dirty="0" sz="1200" spc="-5">
                <a:latin typeface="Arial Unicode MS"/>
                <a:cs typeface="Arial Unicode MS"/>
              </a:rPr>
              <a:t>成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析</a:t>
            </a:r>
            <a:r>
              <a:rPr dirty="0" sz="1200" spc="-80">
                <a:latin typeface="Arial Unicode MS"/>
                <a:cs typeface="Arial Unicode MS"/>
              </a:rPr>
              <a:t>出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反应如</a:t>
            </a:r>
            <a:r>
              <a:rPr dirty="0" sz="1200" spc="-95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6664" y="18076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6664" y="1716163"/>
            <a:ext cx="8864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0365" algn="l"/>
                <a:tab pos="8026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8023" y="1794141"/>
            <a:ext cx="46735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767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8879" y="1710740"/>
            <a:ext cx="19107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IO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5I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6H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3I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0">
                <a:latin typeface="Georgia"/>
                <a:cs typeface="Georgia"/>
              </a:rPr>
              <a:t>3H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44" y="2018830"/>
            <a:ext cx="42938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再用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标准溶液滴定生成的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I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根据反应的计量关系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求得葡萄糖的含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59969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6.7</a:t>
            </a:r>
            <a:r>
              <a:rPr dirty="0" sz="1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氧化还原滴定结果的计算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2888"/>
            <a:ext cx="433451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氧化还原滴定通常要经过多个反应步</a:t>
            </a:r>
            <a:r>
              <a:rPr dirty="0" sz="1200" spc="-80">
                <a:latin typeface="Arial Unicode MS"/>
                <a:cs typeface="Arial Unicode MS"/>
              </a:rPr>
              <a:t>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涉及多个化学反应 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使计量关系复杂</a:t>
            </a:r>
            <a:r>
              <a:rPr dirty="0" sz="1200" spc="-20">
                <a:latin typeface="Arial Unicode MS"/>
                <a:cs typeface="Arial Unicode MS"/>
              </a:rPr>
              <a:t>化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在进行氧化还原滴定结果的计算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首先 </a:t>
            </a:r>
            <a:r>
              <a:rPr dirty="0" sz="1200" spc="-5">
                <a:latin typeface="Arial Unicode MS"/>
                <a:cs typeface="Arial Unicode MS"/>
              </a:rPr>
              <a:t>必须列出所有相关的化学反应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然后再根据各反应物之间的计 量关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建立被测物质与滴定剂之间的计量关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15598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3154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432115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419415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00215"/>
            <a:ext cx="50749" cy="1231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75811"/>
            <a:ext cx="4432935" cy="1107440"/>
          </a:xfrm>
          <a:custGeom>
            <a:avLst/>
            <a:gdLst/>
            <a:ahLst/>
            <a:cxnLst/>
            <a:rect l="l" t="t" r="r" b="b"/>
            <a:pathLst>
              <a:path w="4432935" h="1107440">
                <a:moveTo>
                  <a:pt x="4432566" y="0"/>
                </a:moveTo>
                <a:lnTo>
                  <a:pt x="0" y="0"/>
                </a:lnTo>
                <a:lnTo>
                  <a:pt x="0" y="1056304"/>
                </a:lnTo>
                <a:lnTo>
                  <a:pt x="4008" y="1076029"/>
                </a:lnTo>
                <a:lnTo>
                  <a:pt x="14922" y="1092182"/>
                </a:lnTo>
                <a:lnTo>
                  <a:pt x="31075" y="1103096"/>
                </a:lnTo>
                <a:lnTo>
                  <a:pt x="50800" y="1107104"/>
                </a:lnTo>
                <a:lnTo>
                  <a:pt x="4381765" y="1107104"/>
                </a:lnTo>
                <a:lnTo>
                  <a:pt x="4401490" y="1103096"/>
                </a:lnTo>
                <a:lnTo>
                  <a:pt x="4417643" y="1092182"/>
                </a:lnTo>
                <a:lnTo>
                  <a:pt x="4428558" y="1076029"/>
                </a:lnTo>
                <a:lnTo>
                  <a:pt x="4432566" y="105630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38304"/>
            <a:ext cx="0" cy="1213485"/>
          </a:xfrm>
          <a:custGeom>
            <a:avLst/>
            <a:gdLst/>
            <a:ahLst/>
            <a:cxnLst/>
            <a:rect l="l" t="t" r="r" b="b"/>
            <a:pathLst>
              <a:path w="0" h="1213485">
                <a:moveTo>
                  <a:pt x="0" y="121286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256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129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002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94589"/>
            <a:ext cx="4541520" cy="135826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84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6.5</a:t>
            </a:r>
            <a:endParaRPr sz="1200">
              <a:latin typeface="Calibri"/>
              <a:cs typeface="Calibri"/>
            </a:endParaRPr>
          </a:p>
          <a:p>
            <a:pPr marL="62865" marR="55880">
              <a:lnSpc>
                <a:spcPts val="1760"/>
              </a:lnSpc>
              <a:spcBef>
                <a:spcPts val="75"/>
              </a:spcBef>
            </a:pPr>
            <a:r>
              <a:rPr dirty="0" sz="1200" spc="-5">
                <a:latin typeface="Arial Unicode MS"/>
                <a:cs typeface="Arial Unicode MS"/>
              </a:rPr>
              <a:t>取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25.00mL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试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加入稀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10.00mL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分析浓度为 </a:t>
            </a:r>
            <a:r>
              <a:rPr dirty="0" sz="1100" spc="-80">
                <a:latin typeface="Georgia"/>
                <a:cs typeface="Georgia"/>
              </a:rPr>
              <a:t>0.05000mol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3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溶</a:t>
            </a:r>
            <a:r>
              <a:rPr dirty="0" sz="1200" spc="-85">
                <a:latin typeface="Arial Unicode MS"/>
                <a:cs typeface="Arial Unicode MS"/>
              </a:rPr>
              <a:t>液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析出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经煮沸挥发释</a:t>
            </a:r>
            <a:r>
              <a:rPr dirty="0" sz="1200" spc="-25">
                <a:latin typeface="Arial Unicode MS"/>
                <a:cs typeface="Arial Unicode MS"/>
              </a:rPr>
              <a:t>出</a:t>
            </a:r>
            <a:r>
              <a:rPr dirty="0" sz="1200" spc="-28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冷却</a:t>
            </a:r>
            <a:r>
              <a:rPr dirty="0" sz="1200" spc="-85">
                <a:latin typeface="Arial Unicode MS"/>
                <a:cs typeface="Arial Unicode MS"/>
              </a:rPr>
              <a:t>后</a:t>
            </a:r>
            <a:r>
              <a:rPr dirty="0" sz="1200" spc="-5">
                <a:latin typeface="Arial Unicode MS"/>
                <a:cs typeface="Arial Unicode MS"/>
              </a:rPr>
              <a:t>，  加入过量的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与剩余的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析出的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用分析浓度为 </a:t>
            </a:r>
            <a:r>
              <a:rPr dirty="0" sz="1100" spc="-60">
                <a:latin typeface="Georgia"/>
                <a:cs typeface="Georgia"/>
              </a:rPr>
              <a:t>0.1008mol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标准溶液滴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耗</a:t>
            </a:r>
            <a:r>
              <a:rPr dirty="0" sz="1200" spc="-5">
                <a:latin typeface="Arial Unicode MS"/>
                <a:cs typeface="Arial Unicode MS"/>
              </a:rPr>
              <a:t>去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21.14mL</a:t>
            </a:r>
            <a:r>
              <a:rPr dirty="0" sz="1200" spc="-26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计算试</a:t>
            </a:r>
            <a:r>
              <a:rPr dirty="0" sz="1200" spc="-5">
                <a:latin typeface="Arial Unicode MS"/>
                <a:cs typeface="Arial Unicode MS"/>
              </a:rPr>
              <a:t>液 中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15598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3154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432115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419415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00215"/>
            <a:ext cx="50749" cy="1231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75811"/>
            <a:ext cx="4432935" cy="1107440"/>
          </a:xfrm>
          <a:custGeom>
            <a:avLst/>
            <a:gdLst/>
            <a:ahLst/>
            <a:cxnLst/>
            <a:rect l="l" t="t" r="r" b="b"/>
            <a:pathLst>
              <a:path w="4432935" h="1107440">
                <a:moveTo>
                  <a:pt x="4432566" y="0"/>
                </a:moveTo>
                <a:lnTo>
                  <a:pt x="0" y="0"/>
                </a:lnTo>
                <a:lnTo>
                  <a:pt x="0" y="1056304"/>
                </a:lnTo>
                <a:lnTo>
                  <a:pt x="4008" y="1076029"/>
                </a:lnTo>
                <a:lnTo>
                  <a:pt x="14922" y="1092182"/>
                </a:lnTo>
                <a:lnTo>
                  <a:pt x="31075" y="1103096"/>
                </a:lnTo>
                <a:lnTo>
                  <a:pt x="50800" y="1107104"/>
                </a:lnTo>
                <a:lnTo>
                  <a:pt x="4381765" y="1107104"/>
                </a:lnTo>
                <a:lnTo>
                  <a:pt x="4401490" y="1103096"/>
                </a:lnTo>
                <a:lnTo>
                  <a:pt x="4417643" y="1092182"/>
                </a:lnTo>
                <a:lnTo>
                  <a:pt x="4428558" y="1076029"/>
                </a:lnTo>
                <a:lnTo>
                  <a:pt x="4432566" y="105630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38304"/>
            <a:ext cx="0" cy="1213485"/>
          </a:xfrm>
          <a:custGeom>
            <a:avLst/>
            <a:gdLst/>
            <a:ahLst/>
            <a:cxnLst/>
            <a:rect l="l" t="t" r="r" b="b"/>
            <a:pathLst>
              <a:path w="0" h="1213485">
                <a:moveTo>
                  <a:pt x="0" y="121286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256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129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0020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94589"/>
            <a:ext cx="4566920" cy="184467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384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6.5</a:t>
            </a:r>
            <a:endParaRPr sz="1200">
              <a:latin typeface="Calibri"/>
              <a:cs typeface="Calibri"/>
            </a:endParaRPr>
          </a:p>
          <a:p>
            <a:pPr marL="75565" marR="68580">
              <a:lnSpc>
                <a:spcPts val="1760"/>
              </a:lnSpc>
              <a:spcBef>
                <a:spcPts val="75"/>
              </a:spcBef>
            </a:pPr>
            <a:r>
              <a:rPr dirty="0" sz="1200" spc="-5">
                <a:latin typeface="Arial Unicode MS"/>
                <a:cs typeface="Arial Unicode MS"/>
              </a:rPr>
              <a:t>取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25.00mL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试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加入稀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10.00mL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分析浓度为 </a:t>
            </a:r>
            <a:r>
              <a:rPr dirty="0" sz="1100" spc="-80">
                <a:latin typeface="Georgia"/>
                <a:cs typeface="Georgia"/>
              </a:rPr>
              <a:t>0.05000mol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3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溶</a:t>
            </a:r>
            <a:r>
              <a:rPr dirty="0" sz="1200" spc="-85">
                <a:latin typeface="Arial Unicode MS"/>
                <a:cs typeface="Arial Unicode MS"/>
              </a:rPr>
              <a:t>液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析出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经煮沸挥发释</a:t>
            </a:r>
            <a:r>
              <a:rPr dirty="0" sz="1200" spc="-25">
                <a:latin typeface="Arial Unicode MS"/>
                <a:cs typeface="Arial Unicode MS"/>
              </a:rPr>
              <a:t>出</a:t>
            </a:r>
            <a:r>
              <a:rPr dirty="0" sz="1200" spc="-28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冷却</a:t>
            </a:r>
            <a:r>
              <a:rPr dirty="0" sz="1200" spc="-85">
                <a:latin typeface="Arial Unicode MS"/>
                <a:cs typeface="Arial Unicode MS"/>
              </a:rPr>
              <a:t>后</a:t>
            </a:r>
            <a:r>
              <a:rPr dirty="0" sz="1200" spc="-5">
                <a:latin typeface="Arial Unicode MS"/>
                <a:cs typeface="Arial Unicode MS"/>
              </a:rPr>
              <a:t>，  加入过量的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与剩余的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析出的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用分析浓度为 </a:t>
            </a:r>
            <a:r>
              <a:rPr dirty="0" sz="1100" spc="-60">
                <a:latin typeface="Georgia"/>
                <a:cs typeface="Georgia"/>
              </a:rPr>
              <a:t>0.1008mol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标准溶液滴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耗</a:t>
            </a:r>
            <a:r>
              <a:rPr dirty="0" sz="1200" spc="-5">
                <a:latin typeface="Arial Unicode MS"/>
                <a:cs typeface="Arial Unicode MS"/>
              </a:rPr>
              <a:t>去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21.14mL</a:t>
            </a:r>
            <a:r>
              <a:rPr dirty="0" sz="1200" spc="-26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计算试</a:t>
            </a:r>
            <a:r>
              <a:rPr dirty="0" sz="1200" spc="-5">
                <a:latin typeface="Arial Unicode MS"/>
                <a:cs typeface="Arial Unicode MS"/>
              </a:rPr>
              <a:t>液 中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 Unicode MS"/>
              <a:cs typeface="Arial Unicode MS"/>
            </a:endParaRPr>
          </a:p>
          <a:p>
            <a:pPr marL="75565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在预处理阶</a:t>
            </a:r>
            <a:r>
              <a:rPr dirty="0" sz="1200" spc="-90">
                <a:latin typeface="Arial Unicode MS"/>
                <a:cs typeface="Arial Unicode MS"/>
              </a:rPr>
              <a:t>段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846" y="2063365"/>
            <a:ext cx="110658" cy="110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42277" y="204821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2846" y="2325023"/>
            <a:ext cx="110658" cy="110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2277" y="23098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153" y="1913496"/>
            <a:ext cx="4136390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通过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与样品中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的歧化反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将样品中的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消耗</a:t>
            </a:r>
            <a:r>
              <a:rPr dirty="0" sz="1200" spc="-65">
                <a:latin typeface="Arial Unicode MS"/>
                <a:cs typeface="Arial Unicode MS"/>
              </a:rPr>
              <a:t>完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还是通过歧化反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将过量的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全部转化为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I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75565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两步涉及同样的反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06664" y="298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6664" y="2897835"/>
            <a:ext cx="8864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0365" algn="l"/>
                <a:tab pos="8026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8023" y="2975813"/>
            <a:ext cx="46735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767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8879" y="2892412"/>
            <a:ext cx="19107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IO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5I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6H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3I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0">
                <a:latin typeface="Georgia"/>
                <a:cs typeface="Georgia"/>
              </a:rPr>
              <a:t>3H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88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48767"/>
            <a:ext cx="40259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第二步反应生成的</a:t>
            </a:r>
            <a:r>
              <a:rPr dirty="0" spc="15"/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/>
              <a:t>用</a:t>
            </a:r>
            <a:r>
              <a:rPr dirty="0" sz="1200" spc="20"/>
              <a:t>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/>
              <a:t>标准溶液滴</a:t>
            </a:r>
            <a:r>
              <a:rPr dirty="0" sz="1200" spc="-80"/>
              <a:t>定</a:t>
            </a:r>
            <a:r>
              <a:rPr dirty="0" sz="1200" spc="-185"/>
              <a:t>，</a:t>
            </a:r>
            <a:r>
              <a:rPr dirty="0" sz="1200" spc="-5"/>
              <a:t>反应如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0985" y="920978"/>
            <a:ext cx="440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036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762" y="84992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762" y="9344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277" y="92097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7754" y="9344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0959" y="837577"/>
            <a:ext cx="1567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5650" algn="l"/>
                <a:tab pos="1296035" algn="l"/>
              </a:tabLst>
            </a:pPr>
            <a:r>
              <a:rPr dirty="0" sz="1100" spc="-35">
                <a:latin typeface="Georgia"/>
                <a:cs typeface="Georgia"/>
              </a:rPr>
              <a:t>I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2S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2I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7754" y="849922"/>
            <a:ext cx="513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672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501" y="1199819"/>
            <a:ext cx="2140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各物质之间的计量关系分别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6932" y="1659382"/>
            <a:ext cx="640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1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2862" y="1575981"/>
            <a:ext cx="1544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18465" algn="l"/>
                <a:tab pos="657225" algn="l"/>
                <a:tab pos="960119" algn="l"/>
                <a:tab pos="1198880" algn="l"/>
              </a:tabLst>
            </a:pPr>
            <a:r>
              <a:rPr dirty="0" sz="1100" spc="70">
                <a:latin typeface="Georgia"/>
                <a:cs typeface="Georgia"/>
              </a:rPr>
              <a:t>IO</a:t>
            </a:r>
            <a:r>
              <a:rPr dirty="0" baseline="41666" sz="900" spc="104" i="1">
                <a:latin typeface="Arial"/>
                <a:cs typeface="Arial"/>
              </a:rPr>
              <a:t>−	</a:t>
            </a:r>
            <a:r>
              <a:rPr dirty="0" sz="600" spc="70" i="1">
                <a:latin typeface="Arial"/>
                <a:cs typeface="Arial"/>
              </a:rPr>
              <a:t>	</a:t>
            </a:r>
            <a:r>
              <a:rPr dirty="0" sz="1100" spc="-50">
                <a:latin typeface="Georgia"/>
                <a:cs typeface="Georgia"/>
              </a:rPr>
              <a:t>3I		</a:t>
            </a:r>
            <a:r>
              <a:rPr dirty="0" sz="1100" spc="-45">
                <a:latin typeface="Georgia"/>
                <a:cs typeface="Georgia"/>
              </a:rPr>
              <a:t>6S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5823" y="1581404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58747" y="1672856"/>
            <a:ext cx="136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113" y="1925574"/>
            <a:ext cx="35794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真正消耗于试样中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KIO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的物质的量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0442" y="2292527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3142" y="250286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86917" y="2386253"/>
            <a:ext cx="2834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(KIO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100">
                <a:latin typeface="Georgia"/>
                <a:cs typeface="Georgia"/>
              </a:rPr>
              <a:t>)</a:t>
            </a:r>
            <a:r>
              <a:rPr dirty="0" sz="1100" b="0" i="1">
                <a:latin typeface="Bookman Old Style"/>
                <a:cs typeface="Bookman Old Style"/>
              </a:rPr>
              <a:t>V </a:t>
            </a:r>
            <a:r>
              <a:rPr dirty="0" sz="1100" spc="30">
                <a:latin typeface="Georgia"/>
                <a:cs typeface="Georgia"/>
              </a:rPr>
              <a:t>(KIO</a:t>
            </a:r>
            <a:r>
              <a:rPr dirty="0" baseline="-13888" sz="900" spc="44">
                <a:latin typeface="Times New Roman"/>
                <a:cs typeface="Times New Roman"/>
              </a:rPr>
              <a:t>3</a:t>
            </a:r>
            <a:r>
              <a:rPr dirty="0" sz="1100" spc="3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baseline="-37878" sz="1650" spc="-120">
                <a:latin typeface="Georgia"/>
                <a:cs typeface="Georgia"/>
              </a:rPr>
              <a:t>6 </a:t>
            </a: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(Na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S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O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0" b="0" i="1">
                <a:latin typeface="Bookman Old Style"/>
                <a:cs typeface="Bookman Old Style"/>
              </a:rPr>
              <a:t>V</a:t>
            </a:r>
            <a:r>
              <a:rPr dirty="0" sz="1100" spc="-75" b="0" i="1">
                <a:latin typeface="Bookman Old Style"/>
                <a:cs typeface="Bookman Old Style"/>
              </a:rPr>
              <a:t> </a:t>
            </a:r>
            <a:r>
              <a:rPr dirty="0" sz="1100" spc="35">
                <a:latin typeface="Georgia"/>
                <a:cs typeface="Georgia"/>
              </a:rPr>
              <a:t>(Na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05396"/>
            <a:ext cx="251079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所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试样中</a:t>
            </a:r>
            <a:r>
              <a:rPr dirty="0" spc="-15"/>
              <a:t> 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pc="-5"/>
              <a:t>的物质的量浓度</a:t>
            </a:r>
            <a:r>
              <a:rPr dirty="0" spc="-90"/>
              <a:t>为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689" y="1380744"/>
            <a:ext cx="5854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(KI)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794" y="999744"/>
            <a:ext cx="1436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ts val="66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660"/>
              </a:lnSpc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4162" y="1278509"/>
            <a:ext cx="6096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2900" y="110136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2900" y="129012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4186" y="1195095"/>
            <a:ext cx="176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060" algn="l"/>
                <a:tab pos="1691639" algn="l"/>
              </a:tabLst>
            </a:pP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(KIO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sz="1100" spc="-90" b="0" i="1">
                <a:latin typeface="Bookman Old Style"/>
                <a:cs typeface="Bookman Old Style"/>
              </a:rPr>
              <a:t> </a:t>
            </a:r>
            <a:r>
              <a:rPr dirty="0" sz="1100" spc="20">
                <a:latin typeface="Georgia"/>
                <a:cs typeface="Georgia"/>
              </a:rPr>
              <a:t>(KIO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0552" y="1278509"/>
            <a:ext cx="3625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73489" y="1195095"/>
            <a:ext cx="649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(Na </a:t>
            </a:r>
            <a:r>
              <a:rPr dirty="0" sz="1100" spc="-15">
                <a:latin typeface="Georgia"/>
                <a:cs typeface="Georgia"/>
              </a:rPr>
              <a:t>S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5984" y="1278509"/>
            <a:ext cx="3619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7313" y="1195095"/>
            <a:ext cx="761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-10">
                <a:latin typeface="Georgia"/>
                <a:cs typeface="Georgia"/>
              </a:rPr>
              <a:t>(Na </a:t>
            </a:r>
            <a:r>
              <a:rPr dirty="0" sz="1100" spc="-15">
                <a:latin typeface="Georgia"/>
                <a:cs typeface="Georgia"/>
              </a:rPr>
              <a:t>S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2745" y="999744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46886" y="1497355"/>
            <a:ext cx="3201035" cy="0"/>
          </a:xfrm>
          <a:custGeom>
            <a:avLst/>
            <a:gdLst/>
            <a:ahLst/>
            <a:cxnLst/>
            <a:rect l="l" t="t" r="r" b="b"/>
            <a:pathLst>
              <a:path w="3201035" h="0">
                <a:moveTo>
                  <a:pt x="0" y="0"/>
                </a:moveTo>
                <a:lnTo>
                  <a:pt x="320053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45880" y="1475790"/>
            <a:ext cx="403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15">
                <a:latin typeface="Georgia"/>
                <a:cs typeface="Georgia"/>
              </a:rPr>
              <a:t>(KI)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4720" y="189311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50210" y="1650314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8786" y="1744040"/>
            <a:ext cx="2670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5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90">
                <a:latin typeface="Georgia"/>
                <a:cs typeface="Georgia"/>
              </a:rPr>
              <a:t>(0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05000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70">
                <a:latin typeface="Georgia"/>
                <a:cs typeface="Georgia"/>
              </a:rPr>
              <a:t>10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baseline="-37878" sz="1650" spc="-12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1008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21</a:t>
            </a:r>
            <a:r>
              <a:rPr dirty="0" sz="1100" spc="-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46886" y="2009724"/>
            <a:ext cx="2593975" cy="0"/>
          </a:xfrm>
          <a:custGeom>
            <a:avLst/>
            <a:gdLst/>
            <a:ahLst/>
            <a:cxnLst/>
            <a:rect l="l" t="t" r="r" b="b"/>
            <a:pathLst>
              <a:path w="2593975" h="0">
                <a:moveTo>
                  <a:pt x="0" y="0"/>
                </a:moveTo>
                <a:lnTo>
                  <a:pt x="25934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73122" y="1988147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25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4720" y="2154770"/>
            <a:ext cx="12471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02896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(mol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L)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27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88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88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2023-10-22T13:55:59Z</dcterms:created>
  <dcterms:modified xsi:type="dcterms:W3CDTF">2023-10-22T13:55:59Z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2010-04-27T00:00:00Z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2010-04-27T00:00:00Z</vt:filetime>
  </property>
</Properties>
</file>