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9" r:id="rId1"/>
  </p:sldMasterIdLst>
  <p:sldIdLst>
    <p:sldId id="256" r:id="rId2"/>
    <p:sldId id="257" r:id="rId3"/>
    <p:sldId id="272" r:id="rId4"/>
    <p:sldId id="273" r:id="rId5"/>
    <p:sldId id="258" r:id="rId6"/>
    <p:sldId id="275" r:id="rId7"/>
    <p:sldId id="259" r:id="rId8"/>
    <p:sldId id="260" r:id="rId9"/>
    <p:sldId id="261" r:id="rId10"/>
    <p:sldId id="262" r:id="rId11"/>
    <p:sldId id="271" r:id="rId12"/>
    <p:sldId id="263" r:id="rId13"/>
    <p:sldId id="264" r:id="rId14"/>
    <p:sldId id="265" r:id="rId15"/>
    <p:sldId id="266" r:id="rId16"/>
    <p:sldId id="267" r:id="rId17"/>
    <p:sldId id="268" r:id="rId18"/>
    <p:sldId id="269" r:id="rId19"/>
    <p:sldId id="270" r:id="rId20"/>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00"/>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240" y="6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C1CC42B7-076B-4B08-FD8A-A36B4E855E6D}"/>
              </a:ext>
            </a:extLst>
          </p:cNvPr>
          <p:cNvSpPr>
            <a:spLocks noGrp="1" noRot="1" noChangeArrowheads="1"/>
          </p:cNvSpPr>
          <p:nvPr>
            <p:ph type="ctrTitle"/>
          </p:nvPr>
        </p:nvSpPr>
        <p:spPr>
          <a:xfrm>
            <a:off x="533400" y="1905000"/>
            <a:ext cx="7772400" cy="1143000"/>
          </a:xfrm>
        </p:spPr>
        <p:txBody>
          <a:bodyPr/>
          <a:lstStyle>
            <a:lvl1pPr algn="r">
              <a:defRPr/>
            </a:lvl1pPr>
          </a:lstStyle>
          <a:p>
            <a:pPr lvl="0"/>
            <a:r>
              <a:rPr lang="zh-CN" altLang="en-US" noProof="0"/>
              <a:t>单击此处编辑母版标题样式</a:t>
            </a:r>
          </a:p>
        </p:txBody>
      </p:sp>
      <p:sp>
        <p:nvSpPr>
          <p:cNvPr id="39939" name="Rectangle 3">
            <a:extLst>
              <a:ext uri="{FF2B5EF4-FFF2-40B4-BE49-F238E27FC236}">
                <a16:creationId xmlns:a16="http://schemas.microsoft.com/office/drawing/2014/main" id="{44D2AC53-5D0C-DFFF-F84D-C84F9FDBB8A9}"/>
              </a:ext>
            </a:extLst>
          </p:cNvPr>
          <p:cNvSpPr>
            <a:spLocks noGrp="1" noRot="1" noChangeArrowheads="1"/>
          </p:cNvSpPr>
          <p:nvPr>
            <p:ph type="subTitle" idx="1"/>
          </p:nvPr>
        </p:nvSpPr>
        <p:spPr>
          <a:xfrm>
            <a:off x="1905000" y="3505200"/>
            <a:ext cx="6400800" cy="1752600"/>
          </a:xfrm>
        </p:spPr>
        <p:txBody>
          <a:bodyPr/>
          <a:lstStyle>
            <a:lvl1pPr marL="0" indent="0" algn="r">
              <a:buFont typeface="Wingdings" panose="05000000000000000000" pitchFamily="2" charset="2"/>
              <a:buNone/>
              <a:defRPr>
                <a:effectLst>
                  <a:outerShdw blurRad="38100" dist="38100" dir="2700000" algn="tl">
                    <a:srgbClr val="000000"/>
                  </a:outerShdw>
                </a:effectLst>
              </a:defRPr>
            </a:lvl1pPr>
          </a:lstStyle>
          <a:p>
            <a:pPr lvl="0"/>
            <a:r>
              <a:rPr lang="zh-CN" altLang="en-US" noProof="0"/>
              <a:t>单击此处编辑母版副标题样式</a:t>
            </a:r>
          </a:p>
        </p:txBody>
      </p:sp>
      <p:sp>
        <p:nvSpPr>
          <p:cNvPr id="39940" name="Rectangle 4">
            <a:extLst>
              <a:ext uri="{FF2B5EF4-FFF2-40B4-BE49-F238E27FC236}">
                <a16:creationId xmlns:a16="http://schemas.microsoft.com/office/drawing/2014/main" id="{14C27510-1835-2715-04BD-7E8348B1732E}"/>
              </a:ext>
            </a:extLst>
          </p:cNvPr>
          <p:cNvSpPr>
            <a:spLocks noGrp="1" noChangeArrowheads="1"/>
          </p:cNvSpPr>
          <p:nvPr>
            <p:ph type="dt" sz="half" idx="2"/>
          </p:nvPr>
        </p:nvSpPr>
        <p:spPr>
          <a:xfrm>
            <a:off x="301625" y="6245225"/>
            <a:ext cx="2289175" cy="476250"/>
          </a:xfrm>
        </p:spPr>
        <p:txBody>
          <a:bodyPr/>
          <a:lstStyle>
            <a:lvl1pPr>
              <a:defRPr/>
            </a:lvl1pPr>
          </a:lstStyle>
          <a:p>
            <a:endParaRPr lang="en-US" altLang="zh-CN"/>
          </a:p>
        </p:txBody>
      </p:sp>
      <p:sp>
        <p:nvSpPr>
          <p:cNvPr id="39941" name="Rectangle 5">
            <a:extLst>
              <a:ext uri="{FF2B5EF4-FFF2-40B4-BE49-F238E27FC236}">
                <a16:creationId xmlns:a16="http://schemas.microsoft.com/office/drawing/2014/main" id="{A7ADC124-66D4-BBDB-78E5-77455467E21E}"/>
              </a:ext>
            </a:extLst>
          </p:cNvPr>
          <p:cNvSpPr>
            <a:spLocks noGrp="1" noChangeArrowheads="1"/>
          </p:cNvSpPr>
          <p:nvPr>
            <p:ph type="ftr" sz="quarter" idx="3"/>
          </p:nvPr>
        </p:nvSpPr>
        <p:spPr>
          <a:xfrm>
            <a:off x="3124200" y="6245225"/>
            <a:ext cx="2895600" cy="476250"/>
          </a:xfrm>
        </p:spPr>
        <p:txBody>
          <a:bodyPr/>
          <a:lstStyle>
            <a:lvl1pPr>
              <a:defRPr/>
            </a:lvl1pPr>
          </a:lstStyle>
          <a:p>
            <a:endParaRPr lang="en-US" altLang="zh-CN"/>
          </a:p>
        </p:txBody>
      </p:sp>
      <p:sp>
        <p:nvSpPr>
          <p:cNvPr id="39942" name="Rectangle 6">
            <a:extLst>
              <a:ext uri="{FF2B5EF4-FFF2-40B4-BE49-F238E27FC236}">
                <a16:creationId xmlns:a16="http://schemas.microsoft.com/office/drawing/2014/main" id="{E596A65B-0E8B-2E7A-84EE-AC4D4D77514B}"/>
              </a:ext>
            </a:extLst>
          </p:cNvPr>
          <p:cNvSpPr>
            <a:spLocks noGrp="1" noChangeArrowheads="1"/>
          </p:cNvSpPr>
          <p:nvPr>
            <p:ph type="sldNum" sz="quarter" idx="4"/>
          </p:nvPr>
        </p:nvSpPr>
        <p:spPr>
          <a:xfrm>
            <a:off x="6553200" y="6245225"/>
            <a:ext cx="2289175" cy="476250"/>
          </a:xfrm>
        </p:spPr>
        <p:txBody>
          <a:bodyPr/>
          <a:lstStyle>
            <a:lvl1pPr>
              <a:defRPr/>
            </a:lvl1pPr>
          </a:lstStyle>
          <a:p>
            <a:fld id="{203C053E-EE12-47EC-A59A-9A1CCDAA52F3}" type="slidenum">
              <a:rPr lang="en-US" altLang="zh-CN"/>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7C5461-8165-4C5E-38B2-ED17AA865BE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FD77426-B6A0-5D81-AD02-B956FF9A524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7945D74-E138-BB5D-68B2-F8A382027859}"/>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168414A5-FDF2-FB1B-47B2-F7EC91A613F8}"/>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4AC09959-DD0D-FFD2-1B70-06BAC33969AC}"/>
              </a:ext>
            </a:extLst>
          </p:cNvPr>
          <p:cNvSpPr>
            <a:spLocks noGrp="1"/>
          </p:cNvSpPr>
          <p:nvPr>
            <p:ph type="sldNum" sz="quarter" idx="12"/>
          </p:nvPr>
        </p:nvSpPr>
        <p:spPr/>
        <p:txBody>
          <a:bodyPr/>
          <a:lstStyle>
            <a:lvl1pPr>
              <a:defRPr/>
            </a:lvl1pPr>
          </a:lstStyle>
          <a:p>
            <a:fld id="{98EC886E-E46E-4CF8-A2A4-247E4FE66C9F}" type="slidenum">
              <a:rPr lang="en-US" altLang="zh-CN"/>
              <a:pPr/>
              <a:t>‹#›</a:t>
            </a:fld>
            <a:endParaRPr lang="en-US" altLang="zh-CN"/>
          </a:p>
        </p:txBody>
      </p:sp>
    </p:spTree>
    <p:extLst>
      <p:ext uri="{BB962C8B-B14F-4D97-AF65-F5344CB8AC3E}">
        <p14:creationId xmlns:p14="http://schemas.microsoft.com/office/powerpoint/2010/main" val="22136234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920FA4-A0B5-BA5C-1242-D910E17CA5B5}"/>
              </a:ext>
            </a:extLst>
          </p:cNvPr>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7D5D62C3-90D6-48C4-C9A9-4110837E3745}"/>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A99CC184-304E-A677-A3FF-170AFB0AF53D}"/>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50A62A38-62F7-DED7-7EBA-E29AFDB2542C}"/>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73A41889-BB65-0A62-3305-056113805AB9}"/>
              </a:ext>
            </a:extLst>
          </p:cNvPr>
          <p:cNvSpPr>
            <a:spLocks noGrp="1"/>
          </p:cNvSpPr>
          <p:nvPr>
            <p:ph type="sldNum" sz="quarter" idx="12"/>
          </p:nvPr>
        </p:nvSpPr>
        <p:spPr/>
        <p:txBody>
          <a:bodyPr/>
          <a:lstStyle>
            <a:lvl1pPr>
              <a:defRPr/>
            </a:lvl1pPr>
          </a:lstStyle>
          <a:p>
            <a:fld id="{3A9D41CF-95C8-4E71-9BF9-73E1010D6BEB}" type="slidenum">
              <a:rPr lang="en-US" altLang="zh-CN"/>
              <a:pPr/>
              <a:t>‹#›</a:t>
            </a:fld>
            <a:endParaRPr lang="en-US" altLang="zh-CN"/>
          </a:p>
        </p:txBody>
      </p:sp>
    </p:spTree>
    <p:extLst>
      <p:ext uri="{BB962C8B-B14F-4D97-AF65-F5344CB8AC3E}">
        <p14:creationId xmlns:p14="http://schemas.microsoft.com/office/powerpoint/2010/main" val="10155268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8A4FBA-88BE-65F7-6E69-6CBF56EC76E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5D8DE65-D22D-D910-F9C3-59BB0A0597CD}"/>
              </a:ext>
            </a:extLst>
          </p:cNvPr>
          <p:cNvSpPr>
            <a:spLocks noGrp="1"/>
          </p:cNvSpPr>
          <p:nvPr>
            <p:ph sz="half" idx="1"/>
          </p:nvPr>
        </p:nvSpPr>
        <p:spPr>
          <a:xfrm>
            <a:off x="533400" y="1673225"/>
            <a:ext cx="3962400" cy="449897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ECC34424-4242-D7B0-C3E3-67CC208467CB}"/>
              </a:ext>
            </a:extLst>
          </p:cNvPr>
          <p:cNvSpPr>
            <a:spLocks noGrp="1"/>
          </p:cNvSpPr>
          <p:nvPr>
            <p:ph sz="half" idx="2"/>
          </p:nvPr>
        </p:nvSpPr>
        <p:spPr>
          <a:xfrm>
            <a:off x="4648200" y="1673225"/>
            <a:ext cx="3962400" cy="449897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B1096806-FD5C-3ABC-F84A-F0E67BD6085C}"/>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C73DFD57-4586-B89B-B453-898E227F5111}"/>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156AFB34-8E39-1333-8618-A0CD0FD87AE4}"/>
              </a:ext>
            </a:extLst>
          </p:cNvPr>
          <p:cNvSpPr>
            <a:spLocks noGrp="1"/>
          </p:cNvSpPr>
          <p:nvPr>
            <p:ph type="sldNum" sz="quarter" idx="12"/>
          </p:nvPr>
        </p:nvSpPr>
        <p:spPr/>
        <p:txBody>
          <a:bodyPr/>
          <a:lstStyle>
            <a:lvl1pPr>
              <a:defRPr/>
            </a:lvl1pPr>
          </a:lstStyle>
          <a:p>
            <a:fld id="{0F931349-7D66-44A3-9A54-06C1632F7604}" type="slidenum">
              <a:rPr lang="en-US" altLang="zh-CN"/>
              <a:pPr/>
              <a:t>‹#›</a:t>
            </a:fld>
            <a:endParaRPr lang="en-US" altLang="zh-CN"/>
          </a:p>
        </p:txBody>
      </p:sp>
    </p:spTree>
    <p:extLst>
      <p:ext uri="{BB962C8B-B14F-4D97-AF65-F5344CB8AC3E}">
        <p14:creationId xmlns:p14="http://schemas.microsoft.com/office/powerpoint/2010/main" val="28491265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86E1AC-EC42-288F-B7E0-052CFBAA3DB5}"/>
              </a:ext>
            </a:extLst>
          </p:cNvPr>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43EA3853-88DB-2C5C-500E-4B1F9837285B}"/>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312770CE-E445-7AFC-D0E6-E96B09DA06C2}"/>
              </a:ext>
            </a:extLst>
          </p:cNvPr>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B958764-B851-08CB-2816-5A741EE76C8A}"/>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22A96ED-3C14-9758-524F-E8AFC298F230}"/>
              </a:ext>
            </a:extLst>
          </p:cNvPr>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456DC9C8-212D-6A62-CC62-667A1B67ED44}"/>
              </a:ext>
            </a:extLst>
          </p:cNvPr>
          <p:cNvSpPr>
            <a:spLocks noGrp="1"/>
          </p:cNvSpPr>
          <p:nvPr>
            <p:ph type="dt" sz="half" idx="10"/>
          </p:nvPr>
        </p:nvSpPr>
        <p:spPr/>
        <p:txBody>
          <a:bodyPr/>
          <a:lstStyle>
            <a:lvl1pPr>
              <a:defRPr/>
            </a:lvl1pPr>
          </a:lstStyle>
          <a:p>
            <a:endParaRPr lang="en-US" altLang="zh-CN"/>
          </a:p>
        </p:txBody>
      </p:sp>
      <p:sp>
        <p:nvSpPr>
          <p:cNvPr id="8" name="页脚占位符 7">
            <a:extLst>
              <a:ext uri="{FF2B5EF4-FFF2-40B4-BE49-F238E27FC236}">
                <a16:creationId xmlns:a16="http://schemas.microsoft.com/office/drawing/2014/main" id="{0015F75B-58A8-D9A5-2F1C-4CBEF26D3D31}"/>
              </a:ext>
            </a:extLst>
          </p:cNvPr>
          <p:cNvSpPr>
            <a:spLocks noGrp="1"/>
          </p:cNvSpPr>
          <p:nvPr>
            <p:ph type="ftr" sz="quarter" idx="11"/>
          </p:nvPr>
        </p:nvSpPr>
        <p:spPr/>
        <p:txBody>
          <a:bodyPr/>
          <a:lstStyle>
            <a:lvl1pPr>
              <a:defRPr/>
            </a:lvl1pPr>
          </a:lstStyle>
          <a:p>
            <a:endParaRPr lang="en-US" altLang="zh-CN"/>
          </a:p>
        </p:txBody>
      </p:sp>
      <p:sp>
        <p:nvSpPr>
          <p:cNvPr id="9" name="灯片编号占位符 8">
            <a:extLst>
              <a:ext uri="{FF2B5EF4-FFF2-40B4-BE49-F238E27FC236}">
                <a16:creationId xmlns:a16="http://schemas.microsoft.com/office/drawing/2014/main" id="{DA3CB96E-2430-090D-D816-F049F9445B94}"/>
              </a:ext>
            </a:extLst>
          </p:cNvPr>
          <p:cNvSpPr>
            <a:spLocks noGrp="1"/>
          </p:cNvSpPr>
          <p:nvPr>
            <p:ph type="sldNum" sz="quarter" idx="12"/>
          </p:nvPr>
        </p:nvSpPr>
        <p:spPr/>
        <p:txBody>
          <a:bodyPr/>
          <a:lstStyle>
            <a:lvl1pPr>
              <a:defRPr/>
            </a:lvl1pPr>
          </a:lstStyle>
          <a:p>
            <a:fld id="{6746D5A6-504C-4B06-BA55-E9BBAAF97ECC}" type="slidenum">
              <a:rPr lang="en-US" altLang="zh-CN"/>
              <a:pPr/>
              <a:t>‹#›</a:t>
            </a:fld>
            <a:endParaRPr lang="en-US" altLang="zh-CN"/>
          </a:p>
        </p:txBody>
      </p:sp>
    </p:spTree>
    <p:extLst>
      <p:ext uri="{BB962C8B-B14F-4D97-AF65-F5344CB8AC3E}">
        <p14:creationId xmlns:p14="http://schemas.microsoft.com/office/powerpoint/2010/main" val="7155507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330E9B-5A81-53EB-C6E7-8EFD85CEA6F5}"/>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112F8525-2254-A118-2F19-A3A5EE3EF99E}"/>
              </a:ext>
            </a:extLst>
          </p:cNvPr>
          <p:cNvSpPr>
            <a:spLocks noGrp="1"/>
          </p:cNvSpPr>
          <p:nvPr>
            <p:ph type="dt" sz="half" idx="10"/>
          </p:nvPr>
        </p:nvSpPr>
        <p:spPr/>
        <p:txBody>
          <a:bodyPr/>
          <a:lstStyle>
            <a:lvl1pPr>
              <a:defRPr/>
            </a:lvl1pPr>
          </a:lstStyle>
          <a:p>
            <a:endParaRPr lang="en-US" altLang="zh-CN"/>
          </a:p>
        </p:txBody>
      </p:sp>
      <p:sp>
        <p:nvSpPr>
          <p:cNvPr id="4" name="页脚占位符 3">
            <a:extLst>
              <a:ext uri="{FF2B5EF4-FFF2-40B4-BE49-F238E27FC236}">
                <a16:creationId xmlns:a16="http://schemas.microsoft.com/office/drawing/2014/main" id="{1EDA3FE4-51FF-7E32-71C1-D1F91E1C3BF0}"/>
              </a:ext>
            </a:extLst>
          </p:cNvPr>
          <p:cNvSpPr>
            <a:spLocks noGrp="1"/>
          </p:cNvSpPr>
          <p:nvPr>
            <p:ph type="ftr" sz="quarter" idx="11"/>
          </p:nvPr>
        </p:nvSpPr>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85335435-516D-69E2-DA93-00308275140C}"/>
              </a:ext>
            </a:extLst>
          </p:cNvPr>
          <p:cNvSpPr>
            <a:spLocks noGrp="1"/>
          </p:cNvSpPr>
          <p:nvPr>
            <p:ph type="sldNum" sz="quarter" idx="12"/>
          </p:nvPr>
        </p:nvSpPr>
        <p:spPr/>
        <p:txBody>
          <a:bodyPr/>
          <a:lstStyle>
            <a:lvl1pPr>
              <a:defRPr/>
            </a:lvl1pPr>
          </a:lstStyle>
          <a:p>
            <a:fld id="{2E807DD8-5A9A-477C-A4B0-39263249F266}" type="slidenum">
              <a:rPr lang="en-US" altLang="zh-CN"/>
              <a:pPr/>
              <a:t>‹#›</a:t>
            </a:fld>
            <a:endParaRPr lang="en-US" altLang="zh-CN"/>
          </a:p>
        </p:txBody>
      </p:sp>
    </p:spTree>
    <p:extLst>
      <p:ext uri="{BB962C8B-B14F-4D97-AF65-F5344CB8AC3E}">
        <p14:creationId xmlns:p14="http://schemas.microsoft.com/office/powerpoint/2010/main" val="41501410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4272738-A662-1619-2436-9E099BE758C8}"/>
              </a:ext>
            </a:extLst>
          </p:cNvPr>
          <p:cNvSpPr>
            <a:spLocks noGrp="1"/>
          </p:cNvSpPr>
          <p:nvPr>
            <p:ph type="dt" sz="half" idx="10"/>
          </p:nvPr>
        </p:nvSpPr>
        <p:spPr/>
        <p:txBody>
          <a:bodyPr/>
          <a:lstStyle>
            <a:lvl1pPr>
              <a:defRPr/>
            </a:lvl1pPr>
          </a:lstStyle>
          <a:p>
            <a:endParaRPr lang="en-US" altLang="zh-CN"/>
          </a:p>
        </p:txBody>
      </p:sp>
      <p:sp>
        <p:nvSpPr>
          <p:cNvPr id="3" name="页脚占位符 2">
            <a:extLst>
              <a:ext uri="{FF2B5EF4-FFF2-40B4-BE49-F238E27FC236}">
                <a16:creationId xmlns:a16="http://schemas.microsoft.com/office/drawing/2014/main" id="{97523431-BCA3-422A-8919-27DFF61B8288}"/>
              </a:ext>
            </a:extLst>
          </p:cNvPr>
          <p:cNvSpPr>
            <a:spLocks noGrp="1"/>
          </p:cNvSpPr>
          <p:nvPr>
            <p:ph type="ftr" sz="quarter" idx="11"/>
          </p:nvPr>
        </p:nvSpPr>
        <p:spPr/>
        <p:txBody>
          <a:bodyPr/>
          <a:lstStyle>
            <a:lvl1pPr>
              <a:defRPr/>
            </a:lvl1pPr>
          </a:lstStyle>
          <a:p>
            <a:endParaRPr lang="en-US" altLang="zh-CN"/>
          </a:p>
        </p:txBody>
      </p:sp>
      <p:sp>
        <p:nvSpPr>
          <p:cNvPr id="4" name="灯片编号占位符 3">
            <a:extLst>
              <a:ext uri="{FF2B5EF4-FFF2-40B4-BE49-F238E27FC236}">
                <a16:creationId xmlns:a16="http://schemas.microsoft.com/office/drawing/2014/main" id="{DFF7874C-24E9-95DB-9060-AF80EE4477C1}"/>
              </a:ext>
            </a:extLst>
          </p:cNvPr>
          <p:cNvSpPr>
            <a:spLocks noGrp="1"/>
          </p:cNvSpPr>
          <p:nvPr>
            <p:ph type="sldNum" sz="quarter" idx="12"/>
          </p:nvPr>
        </p:nvSpPr>
        <p:spPr/>
        <p:txBody>
          <a:bodyPr/>
          <a:lstStyle>
            <a:lvl1pPr>
              <a:defRPr/>
            </a:lvl1pPr>
          </a:lstStyle>
          <a:p>
            <a:fld id="{69111EA2-6BC2-4FF4-93AC-8C3C9E99E1B2}" type="slidenum">
              <a:rPr lang="en-US" altLang="zh-CN"/>
              <a:pPr/>
              <a:t>‹#›</a:t>
            </a:fld>
            <a:endParaRPr lang="en-US" altLang="zh-CN"/>
          </a:p>
        </p:txBody>
      </p:sp>
    </p:spTree>
    <p:extLst>
      <p:ext uri="{BB962C8B-B14F-4D97-AF65-F5344CB8AC3E}">
        <p14:creationId xmlns:p14="http://schemas.microsoft.com/office/powerpoint/2010/main" val="940547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AB010B-9EF9-ACA5-BC12-F99824D8059C}"/>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B96DE8E-3CB1-B507-4A6D-E536F39E77B8}"/>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73F02A17-CB55-B0FD-66DB-22D7E98E3247}"/>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2829D1D-2F14-21E9-8F2D-F0CC1D15EBBB}"/>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4BB991DE-06F1-1A45-7F14-FAD70583FC07}"/>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10379BE5-B460-0A89-F194-02F23965B747}"/>
              </a:ext>
            </a:extLst>
          </p:cNvPr>
          <p:cNvSpPr>
            <a:spLocks noGrp="1"/>
          </p:cNvSpPr>
          <p:nvPr>
            <p:ph type="sldNum" sz="quarter" idx="12"/>
          </p:nvPr>
        </p:nvSpPr>
        <p:spPr/>
        <p:txBody>
          <a:bodyPr/>
          <a:lstStyle>
            <a:lvl1pPr>
              <a:defRPr/>
            </a:lvl1pPr>
          </a:lstStyle>
          <a:p>
            <a:fld id="{CE9556B8-8CE8-4AEB-A60D-B316A716A909}" type="slidenum">
              <a:rPr lang="en-US" altLang="zh-CN"/>
              <a:pPr/>
              <a:t>‹#›</a:t>
            </a:fld>
            <a:endParaRPr lang="en-US" altLang="zh-CN"/>
          </a:p>
        </p:txBody>
      </p:sp>
    </p:spTree>
    <p:extLst>
      <p:ext uri="{BB962C8B-B14F-4D97-AF65-F5344CB8AC3E}">
        <p14:creationId xmlns:p14="http://schemas.microsoft.com/office/powerpoint/2010/main" val="38616717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E706AD-E0FD-494B-0226-1CC47E9D33D5}"/>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A8B14FB8-6D44-06A1-CDF2-28FCD56730E2}"/>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0CE86708-E67D-792B-E3EF-A6AD6D31A459}"/>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303B83C-E135-2C83-63C7-52B54581DA30}"/>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46DE9211-F176-DCF5-E05C-1FEDE2E56D89}"/>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1AC6AF26-096F-0828-9453-9D45D89B2C6A}"/>
              </a:ext>
            </a:extLst>
          </p:cNvPr>
          <p:cNvSpPr>
            <a:spLocks noGrp="1"/>
          </p:cNvSpPr>
          <p:nvPr>
            <p:ph type="sldNum" sz="quarter" idx="12"/>
          </p:nvPr>
        </p:nvSpPr>
        <p:spPr/>
        <p:txBody>
          <a:bodyPr/>
          <a:lstStyle>
            <a:lvl1pPr>
              <a:defRPr/>
            </a:lvl1pPr>
          </a:lstStyle>
          <a:p>
            <a:fld id="{F1EF5B65-F624-405B-96F8-DA705F95AAE0}" type="slidenum">
              <a:rPr lang="en-US" altLang="zh-CN"/>
              <a:pPr/>
              <a:t>‹#›</a:t>
            </a:fld>
            <a:endParaRPr lang="en-US" altLang="zh-CN"/>
          </a:p>
        </p:txBody>
      </p:sp>
    </p:spTree>
    <p:extLst>
      <p:ext uri="{BB962C8B-B14F-4D97-AF65-F5344CB8AC3E}">
        <p14:creationId xmlns:p14="http://schemas.microsoft.com/office/powerpoint/2010/main" val="27535359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7D6494-5E79-5A89-A8DF-8855EA45BCCD}"/>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4700B70-0386-8FF4-9844-80750C55D70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8A03CE9-7C61-95D7-CDB8-53FB1A789E82}"/>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04333AFC-0BD0-0FDC-1D03-4B52FCF9D328}"/>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EBA8A0E7-1571-BA18-67AD-CCD1AE5B5EF7}"/>
              </a:ext>
            </a:extLst>
          </p:cNvPr>
          <p:cNvSpPr>
            <a:spLocks noGrp="1"/>
          </p:cNvSpPr>
          <p:nvPr>
            <p:ph type="sldNum" sz="quarter" idx="12"/>
          </p:nvPr>
        </p:nvSpPr>
        <p:spPr/>
        <p:txBody>
          <a:bodyPr/>
          <a:lstStyle>
            <a:lvl1pPr>
              <a:defRPr/>
            </a:lvl1pPr>
          </a:lstStyle>
          <a:p>
            <a:fld id="{48B9F3BD-3E65-432B-825F-A86FBBC6D937}" type="slidenum">
              <a:rPr lang="en-US" altLang="zh-CN"/>
              <a:pPr/>
              <a:t>‹#›</a:t>
            </a:fld>
            <a:endParaRPr lang="en-US" altLang="zh-CN"/>
          </a:p>
        </p:txBody>
      </p:sp>
    </p:spTree>
    <p:extLst>
      <p:ext uri="{BB962C8B-B14F-4D97-AF65-F5344CB8AC3E}">
        <p14:creationId xmlns:p14="http://schemas.microsoft.com/office/powerpoint/2010/main" val="3515086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62C6024A-B948-EA18-ACDD-AF28E2024802}"/>
              </a:ext>
            </a:extLst>
          </p:cNvPr>
          <p:cNvSpPr>
            <a:spLocks noGrp="1"/>
          </p:cNvSpPr>
          <p:nvPr>
            <p:ph type="title" orient="vert"/>
          </p:nvPr>
        </p:nvSpPr>
        <p:spPr>
          <a:xfrm>
            <a:off x="6591300" y="457200"/>
            <a:ext cx="2019300" cy="5715000"/>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FAB3914-5C4F-CCD2-A331-C046C0D69014}"/>
              </a:ext>
            </a:extLst>
          </p:cNvPr>
          <p:cNvSpPr>
            <a:spLocks noGrp="1"/>
          </p:cNvSpPr>
          <p:nvPr>
            <p:ph type="body" orient="vert" idx="1"/>
          </p:nvPr>
        </p:nvSpPr>
        <p:spPr>
          <a:xfrm>
            <a:off x="533400" y="457200"/>
            <a:ext cx="5905500" cy="571500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DCEEB4D-20B6-2BBF-ED5D-5F80341A96BA}"/>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CF2142D1-B46C-9B54-4E0A-AB482677D45C}"/>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3B03DA56-BCF2-62AB-8FA9-D234C4DEFEE7}"/>
              </a:ext>
            </a:extLst>
          </p:cNvPr>
          <p:cNvSpPr>
            <a:spLocks noGrp="1"/>
          </p:cNvSpPr>
          <p:nvPr>
            <p:ph type="sldNum" sz="quarter" idx="12"/>
          </p:nvPr>
        </p:nvSpPr>
        <p:spPr/>
        <p:txBody>
          <a:bodyPr/>
          <a:lstStyle>
            <a:lvl1pPr>
              <a:defRPr/>
            </a:lvl1pPr>
          </a:lstStyle>
          <a:p>
            <a:fld id="{2886E596-9C7B-41C6-8F72-B77AD50CC7DE}" type="slidenum">
              <a:rPr lang="en-US" altLang="zh-CN"/>
              <a:pPr/>
              <a:t>‹#›</a:t>
            </a:fld>
            <a:endParaRPr lang="en-US" altLang="zh-CN"/>
          </a:p>
        </p:txBody>
      </p:sp>
    </p:spTree>
    <p:extLst>
      <p:ext uri="{BB962C8B-B14F-4D97-AF65-F5344CB8AC3E}">
        <p14:creationId xmlns:p14="http://schemas.microsoft.com/office/powerpoint/2010/main" val="17762785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4C05A9-E7C4-958A-9BA4-707CC0D4D905}"/>
              </a:ext>
            </a:extLst>
          </p:cNvPr>
          <p:cNvSpPr>
            <a:spLocks noGrp="1"/>
          </p:cNvSpPr>
          <p:nvPr>
            <p:ph type="title"/>
          </p:nvPr>
        </p:nvSpPr>
        <p:spPr>
          <a:xfrm>
            <a:off x="533400" y="457200"/>
            <a:ext cx="8077200" cy="1066800"/>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ED21E164-CBDF-922F-C023-E29764B08774}"/>
              </a:ext>
            </a:extLst>
          </p:cNvPr>
          <p:cNvSpPr>
            <a:spLocks noGrp="1"/>
          </p:cNvSpPr>
          <p:nvPr>
            <p:ph type="body" sz="half" idx="1"/>
          </p:nvPr>
        </p:nvSpPr>
        <p:spPr>
          <a:xfrm>
            <a:off x="533400" y="1673225"/>
            <a:ext cx="3962400" cy="449897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E52D83EE-CFD0-0434-5740-B008CB3285F7}"/>
              </a:ext>
            </a:extLst>
          </p:cNvPr>
          <p:cNvSpPr>
            <a:spLocks noGrp="1"/>
          </p:cNvSpPr>
          <p:nvPr>
            <p:ph sz="half" idx="2"/>
          </p:nvPr>
        </p:nvSpPr>
        <p:spPr>
          <a:xfrm>
            <a:off x="4648200" y="1673225"/>
            <a:ext cx="3962400" cy="449897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ACD52756-81CF-B60A-0378-7D3BE2CC1FAF}"/>
              </a:ext>
            </a:extLst>
          </p:cNvPr>
          <p:cNvSpPr>
            <a:spLocks noGrp="1"/>
          </p:cNvSpPr>
          <p:nvPr>
            <p:ph type="dt" sz="half" idx="10"/>
          </p:nvPr>
        </p:nvSpPr>
        <p:spPr>
          <a:xfrm>
            <a:off x="301625" y="6305550"/>
            <a:ext cx="2289175" cy="476250"/>
          </a:xfrm>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F6DA74AC-0980-0811-1499-CCEC0F939242}"/>
              </a:ext>
            </a:extLst>
          </p:cNvPr>
          <p:cNvSpPr>
            <a:spLocks noGrp="1"/>
          </p:cNvSpPr>
          <p:nvPr>
            <p:ph type="ftr" sz="quarter" idx="11"/>
          </p:nvPr>
        </p:nvSpPr>
        <p:spPr>
          <a:xfrm>
            <a:off x="3124200" y="6305550"/>
            <a:ext cx="2895600" cy="476250"/>
          </a:xfrm>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50489E7D-B645-E83C-8EDB-502E1E1F4525}"/>
              </a:ext>
            </a:extLst>
          </p:cNvPr>
          <p:cNvSpPr>
            <a:spLocks noGrp="1"/>
          </p:cNvSpPr>
          <p:nvPr>
            <p:ph type="sldNum" sz="quarter" idx="12"/>
          </p:nvPr>
        </p:nvSpPr>
        <p:spPr>
          <a:xfrm>
            <a:off x="6553200" y="6305550"/>
            <a:ext cx="2289175" cy="476250"/>
          </a:xfrm>
        </p:spPr>
        <p:txBody>
          <a:bodyPr/>
          <a:lstStyle>
            <a:lvl1pPr>
              <a:defRPr/>
            </a:lvl1pPr>
          </a:lstStyle>
          <a:p>
            <a:fld id="{A0B9AFDB-CF66-4763-9042-5F781C772D58}" type="slidenum">
              <a:rPr lang="en-US" altLang="zh-CN"/>
              <a:pPr/>
              <a:t>‹#›</a:t>
            </a:fld>
            <a:endParaRPr lang="en-US" altLang="zh-CN"/>
          </a:p>
        </p:txBody>
      </p:sp>
    </p:spTree>
    <p:extLst>
      <p:ext uri="{BB962C8B-B14F-4D97-AF65-F5344CB8AC3E}">
        <p14:creationId xmlns:p14="http://schemas.microsoft.com/office/powerpoint/2010/main" val="19359656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0076EE95-A00F-1352-3382-9CEA5A41C765}"/>
              </a:ext>
            </a:extLst>
          </p:cNvPr>
          <p:cNvSpPr>
            <a:spLocks noGrp="1" noRot="1" noChangeArrowheads="1"/>
          </p:cNvSpPr>
          <p:nvPr>
            <p:ph type="title"/>
          </p:nvPr>
        </p:nvSpPr>
        <p:spPr bwMode="auto">
          <a:xfrm>
            <a:off x="533400" y="457200"/>
            <a:ext cx="80772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38915" name="Rectangle 3">
            <a:extLst>
              <a:ext uri="{FF2B5EF4-FFF2-40B4-BE49-F238E27FC236}">
                <a16:creationId xmlns:a16="http://schemas.microsoft.com/office/drawing/2014/main" id="{A539B133-9206-4C76-41F0-E17DD53C5AA8}"/>
              </a:ext>
            </a:extLst>
          </p:cNvPr>
          <p:cNvSpPr>
            <a:spLocks noGrp="1" noRot="1" noChangeArrowheads="1"/>
          </p:cNvSpPr>
          <p:nvPr>
            <p:ph type="body" idx="1"/>
          </p:nvPr>
        </p:nvSpPr>
        <p:spPr bwMode="auto">
          <a:xfrm>
            <a:off x="533400" y="1673225"/>
            <a:ext cx="8077200" cy="4498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8916" name="Rectangle 4">
            <a:extLst>
              <a:ext uri="{FF2B5EF4-FFF2-40B4-BE49-F238E27FC236}">
                <a16:creationId xmlns:a16="http://schemas.microsoft.com/office/drawing/2014/main" id="{8312E975-CEBC-32B7-7A2B-AB2C8A028951}"/>
              </a:ext>
            </a:extLst>
          </p:cNvPr>
          <p:cNvSpPr>
            <a:spLocks noGrp="1" noChangeArrowheads="1"/>
          </p:cNvSpPr>
          <p:nvPr>
            <p:ph type="dt" sz="half" idx="2"/>
          </p:nvPr>
        </p:nvSpPr>
        <p:spPr bwMode="auto">
          <a:xfrm>
            <a:off x="301625" y="6305550"/>
            <a:ext cx="22891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ltLang="zh-CN"/>
          </a:p>
        </p:txBody>
      </p:sp>
      <p:sp>
        <p:nvSpPr>
          <p:cNvPr id="38917" name="Rectangle 5">
            <a:extLst>
              <a:ext uri="{FF2B5EF4-FFF2-40B4-BE49-F238E27FC236}">
                <a16:creationId xmlns:a16="http://schemas.microsoft.com/office/drawing/2014/main" id="{20665C6A-F644-4776-B4EF-B7223BED3503}"/>
              </a:ext>
            </a:extLst>
          </p:cNvPr>
          <p:cNvSpPr>
            <a:spLocks noGrp="1" noChangeArrowheads="1"/>
          </p:cNvSpPr>
          <p:nvPr>
            <p:ph type="ftr" sz="quarter" idx="3"/>
          </p:nvPr>
        </p:nvSpPr>
        <p:spPr bwMode="auto">
          <a:xfrm>
            <a:off x="3124200" y="6305550"/>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US" altLang="zh-CN"/>
          </a:p>
        </p:txBody>
      </p:sp>
      <p:sp>
        <p:nvSpPr>
          <p:cNvPr id="38918" name="Rectangle 6">
            <a:extLst>
              <a:ext uri="{FF2B5EF4-FFF2-40B4-BE49-F238E27FC236}">
                <a16:creationId xmlns:a16="http://schemas.microsoft.com/office/drawing/2014/main" id="{B9F26ACE-3D9F-3F1E-09C5-9AE92ABB891E}"/>
              </a:ext>
            </a:extLst>
          </p:cNvPr>
          <p:cNvSpPr>
            <a:spLocks noGrp="1" noChangeArrowheads="1"/>
          </p:cNvSpPr>
          <p:nvPr>
            <p:ph type="sldNum" sz="quarter" idx="4"/>
          </p:nvPr>
        </p:nvSpPr>
        <p:spPr bwMode="auto">
          <a:xfrm>
            <a:off x="6553200" y="6305550"/>
            <a:ext cx="22891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3508B992-3A45-4F5A-AB70-C9D56184DDC4}" type="slidenum">
              <a:rPr lang="en-US" altLang="zh-CN"/>
              <a:pPr/>
              <a:t>‹#›</a:t>
            </a:fld>
            <a:endParaRPr lang="en-US" altLang="zh-CN"/>
          </a:p>
        </p:txBody>
      </p:sp>
    </p:spTree>
  </p:cSld>
  <p:clrMap bg1="dk2" tx1="lt1" bg2="dk1"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txStyles>
    <p:titleStyle>
      <a:lvl1pPr algn="ctr" rtl="0" fontAlgn="base">
        <a:spcBef>
          <a:spcPct val="0"/>
        </a:spcBef>
        <a:spcAft>
          <a:spcPct val="0"/>
        </a:spcAft>
        <a:defRPr sz="4400" kern="1200">
          <a:solidFill>
            <a:schemeClr val="tx2"/>
          </a:solidFill>
          <a:effectLst>
            <a:outerShdw blurRad="38100" dist="38100" dir="2700000" algn="tl">
              <a:srgbClr val="000000"/>
            </a:outerShdw>
          </a:effectLst>
          <a:latin typeface="+mj-lt"/>
          <a:ea typeface="+mj-ea"/>
          <a:cs typeface="+mj-cs"/>
        </a:defRPr>
      </a:lvl1pPr>
      <a:lvl2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lr>
          <a:schemeClr val="hlink"/>
        </a:buClr>
        <a:buSzPct val="65000"/>
        <a:buFont typeface="Wingdings" panose="05000000000000000000" pitchFamily="2" charset="2"/>
        <a:buChar char="v"/>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Font typeface="Wingdings" panose="05000000000000000000" pitchFamily="2" charset="2"/>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hlink"/>
        </a:buClr>
        <a:buSzPct val="70000"/>
        <a:buFont typeface="Wingdings" panose="05000000000000000000" pitchFamily="2" charset="2"/>
        <a:buChar char="v"/>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Font typeface="Wingdings" panose="05000000000000000000" pitchFamily="2" charset="2"/>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hlink"/>
        </a:buClr>
        <a:buSzPct val="75000"/>
        <a:buFont typeface="Wingdings" panose="05000000000000000000" pitchFamily="2" charset="2"/>
        <a:buChar char="v"/>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4D28B82C-DB29-7407-19F0-32032201BA01}"/>
              </a:ext>
            </a:extLst>
          </p:cNvPr>
          <p:cNvSpPr>
            <a:spLocks noGrp="1" noRot="1" noChangeArrowheads="1"/>
          </p:cNvSpPr>
          <p:nvPr>
            <p:ph type="ctrTitle"/>
          </p:nvPr>
        </p:nvSpPr>
        <p:spPr/>
        <p:txBody>
          <a:bodyPr/>
          <a:lstStyle/>
          <a:p>
            <a:r>
              <a:rPr lang="zh-CN" altLang="en-US" b="1"/>
              <a:t>第二章   企业行为方式与目标</a:t>
            </a:r>
          </a:p>
        </p:txBody>
      </p:sp>
      <p:sp>
        <p:nvSpPr>
          <p:cNvPr id="2051" name="Rectangle 3">
            <a:extLst>
              <a:ext uri="{FF2B5EF4-FFF2-40B4-BE49-F238E27FC236}">
                <a16:creationId xmlns:a16="http://schemas.microsoft.com/office/drawing/2014/main" id="{514A845F-154C-0AC5-2B7D-3EF4E56F1C3B}"/>
              </a:ext>
            </a:extLst>
          </p:cNvPr>
          <p:cNvSpPr>
            <a:spLocks noGrp="1" noRot="1" noChangeArrowheads="1"/>
          </p:cNvSpPr>
          <p:nvPr>
            <p:ph type="subTitle" idx="1"/>
          </p:nvPr>
        </p:nvSpPr>
        <p:spPr/>
        <p:txBody>
          <a:bodyPr/>
          <a:lstStyle/>
          <a:p>
            <a:r>
              <a:rPr lang="zh-CN" altLang="en-US" b="1"/>
              <a:t>第一节　关于公司目标的一般理 论</a:t>
            </a:r>
          </a:p>
          <a:p>
            <a:endParaRPr lang="zh-CN" altLang="en-US" b="1"/>
          </a:p>
          <a:p>
            <a:r>
              <a:rPr lang="zh-CN" altLang="en-US" b="1"/>
              <a:t>               授课人：宋耘博士</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05C57FE0-F3CD-516B-DA8F-D1865992F347}"/>
              </a:ext>
            </a:extLst>
          </p:cNvPr>
          <p:cNvSpPr>
            <a:spLocks noGrp="1" noRot="1" noChangeArrowheads="1"/>
          </p:cNvSpPr>
          <p:nvPr>
            <p:ph type="title"/>
          </p:nvPr>
        </p:nvSpPr>
        <p:spPr>
          <a:xfrm>
            <a:off x="533400" y="457200"/>
            <a:ext cx="8077200" cy="92075"/>
          </a:xfrm>
        </p:spPr>
        <p:txBody>
          <a:bodyPr/>
          <a:lstStyle/>
          <a:p>
            <a:endParaRPr lang="zh-CN" altLang="zh-CN" sz="4000"/>
          </a:p>
        </p:txBody>
      </p:sp>
      <p:sp>
        <p:nvSpPr>
          <p:cNvPr id="13315" name="Rectangle 3">
            <a:extLst>
              <a:ext uri="{FF2B5EF4-FFF2-40B4-BE49-F238E27FC236}">
                <a16:creationId xmlns:a16="http://schemas.microsoft.com/office/drawing/2014/main" id="{3B537089-758C-18C5-D811-EADE42221B9B}"/>
              </a:ext>
            </a:extLst>
          </p:cNvPr>
          <p:cNvSpPr>
            <a:spLocks noGrp="1" noRot="1" noChangeArrowheads="1"/>
          </p:cNvSpPr>
          <p:nvPr>
            <p:ph type="body" idx="1"/>
          </p:nvPr>
        </p:nvSpPr>
        <p:spPr>
          <a:xfrm>
            <a:off x="395288" y="692150"/>
            <a:ext cx="8139112" cy="5329238"/>
          </a:xfrm>
        </p:spPr>
        <p:txBody>
          <a:bodyPr/>
          <a:lstStyle/>
          <a:p>
            <a:pPr>
              <a:lnSpc>
                <a:spcPct val="80000"/>
              </a:lnSpc>
              <a:buFont typeface="Wingdings" panose="05000000000000000000" pitchFamily="2" charset="2"/>
              <a:buNone/>
            </a:pPr>
            <a:r>
              <a:rPr lang="zh-CN" altLang="en-US" sz="2400" b="1"/>
              <a:t>一、利润目标</a:t>
            </a:r>
          </a:p>
          <a:p>
            <a:pPr>
              <a:lnSpc>
                <a:spcPct val="80000"/>
              </a:lnSpc>
              <a:buFont typeface="Wingdings" panose="05000000000000000000" pitchFamily="2" charset="2"/>
              <a:buNone/>
            </a:pPr>
            <a:r>
              <a:rPr lang="en-US" altLang="zh-CN" sz="2400" b="1"/>
              <a:t>1</a:t>
            </a:r>
            <a:r>
              <a:rPr lang="zh-CN" altLang="en-US" sz="2400" b="1"/>
              <a:t>、利润最大化</a:t>
            </a:r>
          </a:p>
          <a:p>
            <a:pPr>
              <a:lnSpc>
                <a:spcPct val="80000"/>
              </a:lnSpc>
              <a:buFont typeface="Wingdings" panose="05000000000000000000" pitchFamily="2" charset="2"/>
              <a:buNone/>
            </a:pPr>
            <a:r>
              <a:rPr lang="zh-CN" altLang="en-US" sz="2400" b="1"/>
              <a:t>      对利润最大化目标的批评：</a:t>
            </a:r>
          </a:p>
          <a:p>
            <a:pPr>
              <a:lnSpc>
                <a:spcPct val="80000"/>
              </a:lnSpc>
              <a:buFont typeface="Wingdings" panose="05000000000000000000" pitchFamily="2" charset="2"/>
              <a:buNone/>
            </a:pPr>
            <a:r>
              <a:rPr lang="zh-CN" altLang="en-US" sz="2400" b="1"/>
              <a:t>   （</a:t>
            </a:r>
            <a:r>
              <a:rPr lang="en-US" altLang="zh-CN" sz="2400" b="1"/>
              <a:t>1</a:t>
            </a:r>
            <a:r>
              <a:rPr lang="zh-CN" altLang="en-US" sz="2400" b="1"/>
              <a:t>）现代企业并不仅有一个目标，除了经济目标外，还有对非经济目标的追求。</a:t>
            </a:r>
          </a:p>
          <a:p>
            <a:pPr>
              <a:lnSpc>
                <a:spcPct val="80000"/>
              </a:lnSpc>
              <a:buFont typeface="Wingdings" panose="05000000000000000000" pitchFamily="2" charset="2"/>
              <a:buNone/>
            </a:pPr>
            <a:r>
              <a:rPr lang="zh-CN" altLang="en-US" sz="2400" b="1"/>
              <a:t>   （</a:t>
            </a:r>
            <a:r>
              <a:rPr lang="en-US" altLang="zh-CN" sz="2400" b="1"/>
              <a:t>2</a:t>
            </a:r>
            <a:r>
              <a:rPr lang="zh-CN" altLang="en-US" sz="2400" b="1"/>
              <a:t>）把利润作为唯一的经济目标，显得过于简单。经理会在一系列不同的目标中寻求平衡。</a:t>
            </a:r>
          </a:p>
          <a:p>
            <a:pPr>
              <a:lnSpc>
                <a:spcPct val="80000"/>
              </a:lnSpc>
              <a:buFont typeface="Wingdings" panose="05000000000000000000" pitchFamily="2" charset="2"/>
              <a:buNone/>
            </a:pPr>
            <a:r>
              <a:rPr lang="zh-CN" altLang="en-US" sz="2400" b="1"/>
              <a:t>   （</a:t>
            </a:r>
            <a:r>
              <a:rPr lang="en-US" altLang="zh-CN" sz="2400" b="1"/>
              <a:t>3</a:t>
            </a:r>
            <a:r>
              <a:rPr lang="zh-CN" altLang="en-US" sz="2400" b="1"/>
              <a:t>）企业不可能实现利润最大化。在实践中，利润最大化难于衡量。大量存在的不确定因素使其成为空谈。</a:t>
            </a:r>
          </a:p>
          <a:p>
            <a:pPr>
              <a:lnSpc>
                <a:spcPct val="80000"/>
              </a:lnSpc>
              <a:buFont typeface="Wingdings" panose="05000000000000000000" pitchFamily="2" charset="2"/>
              <a:buNone/>
            </a:pPr>
            <a:r>
              <a:rPr lang="zh-CN" altLang="en-US" sz="2400" b="1"/>
              <a:t>   （</a:t>
            </a:r>
            <a:r>
              <a:rPr lang="en-US" altLang="zh-CN" sz="2400" b="1"/>
              <a:t>4</a:t>
            </a:r>
            <a:r>
              <a:rPr lang="zh-CN" altLang="en-US" sz="2400" b="1"/>
              <a:t>）在两权分离的现代大型公司中，经理们有追求非利润最大化目标的自主权。        </a:t>
            </a:r>
          </a:p>
          <a:p>
            <a:pPr>
              <a:lnSpc>
                <a:spcPct val="80000"/>
              </a:lnSpc>
              <a:buFont typeface="Wingdings" panose="05000000000000000000" pitchFamily="2" charset="2"/>
              <a:buNone/>
            </a:pPr>
            <a:r>
              <a:rPr lang="en-US" altLang="zh-CN" sz="2400" b="1"/>
              <a:t>2</a:t>
            </a:r>
            <a:r>
              <a:rPr lang="zh-CN" altLang="en-US" sz="2400" b="1"/>
              <a:t>、环境约束下的利润最大化</a:t>
            </a:r>
          </a:p>
          <a:p>
            <a:pPr>
              <a:lnSpc>
                <a:spcPct val="80000"/>
              </a:lnSpc>
              <a:buFont typeface="Wingdings" panose="05000000000000000000" pitchFamily="2" charset="2"/>
              <a:buNone/>
            </a:pPr>
            <a:r>
              <a:rPr lang="en-US" altLang="zh-CN" sz="2400" b="1"/>
              <a:t>3</a:t>
            </a:r>
            <a:r>
              <a:rPr lang="zh-CN" altLang="en-US" sz="2400" b="1"/>
              <a:t>、令人满意的利润</a:t>
            </a:r>
          </a:p>
          <a:p>
            <a:pPr>
              <a:lnSpc>
                <a:spcPct val="80000"/>
              </a:lnSpc>
              <a:buFont typeface="Wingdings" panose="05000000000000000000" pitchFamily="2" charset="2"/>
              <a:buNone/>
            </a:pPr>
            <a:r>
              <a:rPr lang="zh-CN" altLang="en-US" sz="2400" b="1"/>
              <a:t>（</a:t>
            </a:r>
            <a:r>
              <a:rPr lang="en-US" altLang="zh-CN" sz="2400" b="1"/>
              <a:t>1</a:t>
            </a:r>
            <a:r>
              <a:rPr lang="zh-CN" altLang="en-US" sz="2400" b="1"/>
              <a:t>）这一观点以现代管理决策理论为支持。 </a:t>
            </a:r>
          </a:p>
          <a:p>
            <a:pPr>
              <a:lnSpc>
                <a:spcPct val="80000"/>
              </a:lnSpc>
              <a:buFont typeface="Wingdings" panose="05000000000000000000" pitchFamily="2" charset="2"/>
              <a:buNone/>
            </a:pPr>
            <a:r>
              <a:rPr lang="zh-CN" altLang="en-US" sz="2400" b="1"/>
              <a:t>（</a:t>
            </a:r>
            <a:r>
              <a:rPr lang="en-US" altLang="zh-CN" sz="2400" b="1"/>
              <a:t>2</a:t>
            </a:r>
            <a:r>
              <a:rPr lang="zh-CN" altLang="en-US" sz="2400" b="1"/>
              <a:t>）具有更强的可操作性。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331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331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331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3315">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3315">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3315">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13315">
                                            <p:txEl>
                                              <p:pRg st="7" end="7"/>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13315">
                                            <p:txEl>
                                              <p:pRg st="8" end="8"/>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13315">
                                            <p:txEl>
                                              <p:pRg st="9" end="9"/>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1331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AC9BA651-9393-5D96-005F-7DDC272AA218}"/>
              </a:ext>
            </a:extLst>
          </p:cNvPr>
          <p:cNvSpPr>
            <a:spLocks noGrp="1" noRot="1" noChangeArrowheads="1"/>
          </p:cNvSpPr>
          <p:nvPr>
            <p:ph type="title"/>
          </p:nvPr>
        </p:nvSpPr>
        <p:spPr>
          <a:xfrm>
            <a:off x="533400" y="333375"/>
            <a:ext cx="8077200" cy="123825"/>
          </a:xfrm>
        </p:spPr>
        <p:txBody>
          <a:bodyPr/>
          <a:lstStyle/>
          <a:p>
            <a:endParaRPr lang="zh-CN" altLang="zh-CN" sz="4000"/>
          </a:p>
        </p:txBody>
      </p:sp>
      <p:sp>
        <p:nvSpPr>
          <p:cNvPr id="41987" name="Rectangle 3">
            <a:extLst>
              <a:ext uri="{FF2B5EF4-FFF2-40B4-BE49-F238E27FC236}">
                <a16:creationId xmlns:a16="http://schemas.microsoft.com/office/drawing/2014/main" id="{2DEAB84B-5DCD-E311-A9CA-1D02C2394720}"/>
              </a:ext>
            </a:extLst>
          </p:cNvPr>
          <p:cNvSpPr>
            <a:spLocks noGrp="1" noRot="1" noChangeArrowheads="1"/>
          </p:cNvSpPr>
          <p:nvPr>
            <p:ph type="body" idx="1"/>
          </p:nvPr>
        </p:nvSpPr>
        <p:spPr>
          <a:xfrm>
            <a:off x="533400" y="692150"/>
            <a:ext cx="8077200" cy="5832475"/>
          </a:xfrm>
        </p:spPr>
        <p:txBody>
          <a:bodyPr/>
          <a:lstStyle/>
          <a:p>
            <a:pPr algn="ctr">
              <a:lnSpc>
                <a:spcPct val="90000"/>
              </a:lnSpc>
              <a:buFont typeface="Wingdings" panose="05000000000000000000" pitchFamily="2" charset="2"/>
              <a:buNone/>
            </a:pPr>
            <a:endParaRPr lang="en-US" altLang="zh-CN" sz="2400" b="1">
              <a:solidFill>
                <a:srgbClr val="FF3399"/>
              </a:solidFill>
              <a:cs typeface="Arial" panose="020B0604020202020204" pitchFamily="34" charset="0"/>
            </a:endParaRPr>
          </a:p>
          <a:p>
            <a:pPr algn="ctr">
              <a:lnSpc>
                <a:spcPct val="90000"/>
              </a:lnSpc>
              <a:buFont typeface="Wingdings" panose="05000000000000000000" pitchFamily="2" charset="2"/>
              <a:buNone/>
            </a:pPr>
            <a:endParaRPr lang="en-US" altLang="zh-CN" sz="2400" b="1">
              <a:solidFill>
                <a:srgbClr val="FF3399"/>
              </a:solidFill>
              <a:cs typeface="Arial" panose="020B0604020202020204" pitchFamily="34" charset="0"/>
            </a:endParaRPr>
          </a:p>
          <a:p>
            <a:pPr algn="ctr">
              <a:lnSpc>
                <a:spcPct val="90000"/>
              </a:lnSpc>
              <a:buFont typeface="Wingdings" panose="05000000000000000000" pitchFamily="2" charset="2"/>
              <a:buNone/>
            </a:pPr>
            <a:r>
              <a:rPr lang="en-US" altLang="zh-CN" sz="2400" b="1">
                <a:solidFill>
                  <a:srgbClr val="FF3399"/>
                </a:solidFill>
                <a:cs typeface="Arial" panose="020B0604020202020204" pitchFamily="34" charset="0"/>
              </a:rPr>
              <a:t>♣  </a:t>
            </a:r>
            <a:r>
              <a:rPr lang="zh-CN" altLang="en-US" sz="2400" b="1"/>
              <a:t>企业满意利润质疑传统经济学 </a:t>
            </a:r>
          </a:p>
          <a:p>
            <a:pPr>
              <a:lnSpc>
                <a:spcPct val="90000"/>
              </a:lnSpc>
              <a:buFont typeface="Wingdings" panose="05000000000000000000" pitchFamily="2" charset="2"/>
              <a:buNone/>
            </a:pPr>
            <a:r>
              <a:rPr lang="zh-CN" altLang="en-US" sz="2400" b="1">
                <a:solidFill>
                  <a:schemeClr val="folHlink"/>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400" b="1"/>
              <a:t>当前的正统主流经济学认为，企业在经济活动中必须取得最大限度的利润，否则就不能在竞争中存在，从而得出企业目标是“利润最大化”的结论。</a:t>
            </a:r>
          </a:p>
          <a:p>
            <a:pPr>
              <a:lnSpc>
                <a:spcPct val="90000"/>
              </a:lnSpc>
              <a:buFont typeface="Wingdings" panose="05000000000000000000" pitchFamily="2" charset="2"/>
              <a:buNone/>
            </a:pPr>
            <a:r>
              <a:rPr lang="zh-CN" altLang="en-US" sz="2400" b="1">
                <a:solidFill>
                  <a:schemeClr val="folHlink"/>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400" b="1"/>
              <a:t>反对理由： </a:t>
            </a:r>
          </a:p>
          <a:p>
            <a:pPr>
              <a:lnSpc>
                <a:spcPct val="90000"/>
              </a:lnSpc>
              <a:buFont typeface="Wingdings" panose="05000000000000000000" pitchFamily="2" charset="2"/>
              <a:buNone/>
            </a:pPr>
            <a:r>
              <a:rPr lang="zh-CN" altLang="en-US" sz="2400" b="1"/>
              <a:t>   </a:t>
            </a:r>
            <a:r>
              <a:rPr lang="zh-CN" altLang="en-US" sz="2400" b="1">
                <a:solidFill>
                  <a:srgbClr val="FF9900"/>
                </a:solidFill>
                <a:cs typeface="Arial" panose="020B0604020202020204" pitchFamily="34" charset="0"/>
              </a:rPr>
              <a:t>♪ </a:t>
            </a:r>
            <a:r>
              <a:rPr lang="zh-CN" altLang="en-US" sz="2400" b="1"/>
              <a:t>“最优”并不是企业行为的特征。</a:t>
            </a:r>
          </a:p>
          <a:p>
            <a:pPr>
              <a:lnSpc>
                <a:spcPct val="90000"/>
              </a:lnSpc>
              <a:buFont typeface="Wingdings" panose="05000000000000000000" pitchFamily="2" charset="2"/>
              <a:buNone/>
            </a:pPr>
            <a:r>
              <a:rPr lang="zh-CN" altLang="en-US" sz="2400" b="1">
                <a:solidFill>
                  <a:srgbClr val="FF9900"/>
                </a:solidFill>
                <a:cs typeface="Arial" panose="020B0604020202020204" pitchFamily="34" charset="0"/>
              </a:rPr>
              <a:t>   ♪  </a:t>
            </a:r>
            <a:r>
              <a:rPr lang="zh-CN" altLang="en-US" sz="2400" b="1"/>
              <a:t>现实经济中的均衡状态只能是暂时的而不能是长期的</a:t>
            </a:r>
          </a:p>
          <a:p>
            <a:pPr>
              <a:lnSpc>
                <a:spcPct val="90000"/>
              </a:lnSpc>
              <a:buFont typeface="Wingdings" panose="05000000000000000000" pitchFamily="2" charset="2"/>
              <a:buNone/>
            </a:pPr>
            <a:r>
              <a:rPr lang="zh-CN" altLang="en-US" sz="2400" b="1">
                <a:solidFill>
                  <a:schemeClr val="folHlink"/>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2400" b="1"/>
              <a:t>1982</a:t>
            </a:r>
            <a:r>
              <a:rPr lang="zh-CN" altLang="en-US" sz="2400" b="1"/>
              <a:t>年理查德</a:t>
            </a:r>
            <a:r>
              <a:rPr lang="en-US" altLang="zh-CN" sz="2400" b="1"/>
              <a:t>·R</a:t>
            </a:r>
            <a:r>
              <a:rPr lang="zh-CN" altLang="en-US" sz="2400" b="1"/>
              <a:t>．纳尔逊（</a:t>
            </a:r>
            <a:r>
              <a:rPr lang="en-US" altLang="zh-CN" sz="2400" b="1"/>
              <a:t>Richard·R·Nelson</a:t>
            </a:r>
            <a:r>
              <a:rPr lang="zh-CN" altLang="en-US" sz="2400" b="1"/>
              <a:t>）和悉尼</a:t>
            </a:r>
            <a:r>
              <a:rPr lang="en-US" altLang="zh-CN" sz="2400" b="1"/>
              <a:t>·G</a:t>
            </a:r>
            <a:r>
              <a:rPr lang="zh-CN" altLang="en-US" sz="2400" b="1"/>
              <a:t>温特（</a:t>
            </a:r>
            <a:r>
              <a:rPr lang="en-US" altLang="zh-CN" sz="2400" b="1"/>
              <a:t>Sideny·G·winter</a:t>
            </a:r>
            <a:r>
              <a:rPr lang="zh-CN" altLang="en-US" sz="2400" b="1"/>
              <a:t>）的著作</a:t>
            </a:r>
            <a:r>
              <a:rPr lang="en-US" altLang="zh-CN" sz="2400" b="1"/>
              <a:t>《</a:t>
            </a:r>
            <a:r>
              <a:rPr lang="zh-CN" altLang="en-US" sz="2400" b="1"/>
              <a:t>经济变迁的演化理论</a:t>
            </a:r>
            <a:r>
              <a:rPr lang="en-US" altLang="zh-CN" sz="2400" b="1"/>
              <a:t>》</a:t>
            </a:r>
            <a:r>
              <a:rPr lang="zh-CN" altLang="en-US" sz="2400" b="1"/>
              <a:t>问世，完整而严密的经济进化理论研究框架开始形成，并由此引发了对正统经济学的严峻挑战。 </a:t>
            </a:r>
            <a:br>
              <a:rPr lang="zh-CN" altLang="en-US" sz="2400" b="1"/>
            </a:br>
            <a:br>
              <a:rPr lang="zh-CN" altLang="en-US" sz="2400" b="1"/>
            </a:br>
            <a:endParaRPr lang="zh-CN" altLang="en-US" sz="2400" b="1"/>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41987">
                                            <p:txEl>
                                              <p:pRg st="2" end="2"/>
                                            </p:txEl>
                                          </p:spTgt>
                                        </p:tgtEl>
                                        <p:attrNameLst>
                                          <p:attrName>style.visibility</p:attrName>
                                        </p:attrNameLst>
                                      </p:cBhvr>
                                      <p:to>
                                        <p:strVal val="visible"/>
                                      </p:to>
                                    </p:set>
                                    <p:animEffect transition="in" filter="checkerboard(across)">
                                      <p:cBhvr>
                                        <p:cTn id="7" dur="500"/>
                                        <p:tgtEl>
                                          <p:spTgt spid="41987">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41987">
                                            <p:txEl>
                                              <p:pRg st="3" end="3"/>
                                            </p:txEl>
                                          </p:spTgt>
                                        </p:tgtEl>
                                        <p:attrNameLst>
                                          <p:attrName>style.visibility</p:attrName>
                                        </p:attrNameLst>
                                      </p:cBhvr>
                                      <p:to>
                                        <p:strVal val="visible"/>
                                      </p:to>
                                    </p:set>
                                    <p:animEffect transition="in" filter="checkerboard(across)">
                                      <p:cBhvr>
                                        <p:cTn id="12" dur="500"/>
                                        <p:tgtEl>
                                          <p:spTgt spid="41987">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41987">
                                            <p:txEl>
                                              <p:pRg st="4" end="4"/>
                                            </p:txEl>
                                          </p:spTgt>
                                        </p:tgtEl>
                                        <p:attrNameLst>
                                          <p:attrName>style.visibility</p:attrName>
                                        </p:attrNameLst>
                                      </p:cBhvr>
                                      <p:to>
                                        <p:strVal val="visible"/>
                                      </p:to>
                                    </p:set>
                                    <p:animEffect transition="in" filter="checkerboard(across)">
                                      <p:cBhvr>
                                        <p:cTn id="17" dur="500"/>
                                        <p:tgtEl>
                                          <p:spTgt spid="41987">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41987">
                                            <p:txEl>
                                              <p:pRg st="5" end="5"/>
                                            </p:txEl>
                                          </p:spTgt>
                                        </p:tgtEl>
                                        <p:attrNameLst>
                                          <p:attrName>style.visibility</p:attrName>
                                        </p:attrNameLst>
                                      </p:cBhvr>
                                      <p:to>
                                        <p:strVal val="visible"/>
                                      </p:to>
                                    </p:set>
                                    <p:animEffect transition="in" filter="checkerboard(across)">
                                      <p:cBhvr>
                                        <p:cTn id="22" dur="500"/>
                                        <p:tgtEl>
                                          <p:spTgt spid="41987">
                                            <p:txEl>
                                              <p:pRg st="5" end="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41987">
                                            <p:txEl>
                                              <p:pRg st="6" end="6"/>
                                            </p:txEl>
                                          </p:spTgt>
                                        </p:tgtEl>
                                        <p:attrNameLst>
                                          <p:attrName>style.visibility</p:attrName>
                                        </p:attrNameLst>
                                      </p:cBhvr>
                                      <p:to>
                                        <p:strVal val="visible"/>
                                      </p:to>
                                    </p:set>
                                    <p:animEffect transition="in" filter="checkerboard(across)">
                                      <p:cBhvr>
                                        <p:cTn id="27" dur="500"/>
                                        <p:tgtEl>
                                          <p:spTgt spid="41987">
                                            <p:txEl>
                                              <p:pRg st="6" end="6"/>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nodeType="clickEffect">
                                  <p:stCondLst>
                                    <p:cond delay="0"/>
                                  </p:stCondLst>
                                  <p:childTnLst>
                                    <p:set>
                                      <p:cBhvr>
                                        <p:cTn id="31" dur="1" fill="hold">
                                          <p:stCondLst>
                                            <p:cond delay="0"/>
                                          </p:stCondLst>
                                        </p:cTn>
                                        <p:tgtEl>
                                          <p:spTgt spid="41987">
                                            <p:txEl>
                                              <p:pRg st="7" end="7"/>
                                            </p:txEl>
                                          </p:spTgt>
                                        </p:tgtEl>
                                        <p:attrNameLst>
                                          <p:attrName>style.visibility</p:attrName>
                                        </p:attrNameLst>
                                      </p:cBhvr>
                                      <p:to>
                                        <p:strVal val="visible"/>
                                      </p:to>
                                    </p:set>
                                    <p:animEffect transition="in" filter="checkerboard(across)">
                                      <p:cBhvr>
                                        <p:cTn id="32" dur="500"/>
                                        <p:tgtEl>
                                          <p:spTgt spid="4198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672202F3-A03E-3CC5-DF14-C21687733C3C}"/>
              </a:ext>
            </a:extLst>
          </p:cNvPr>
          <p:cNvSpPr>
            <a:spLocks noGrp="1" noRot="1" noChangeArrowheads="1"/>
          </p:cNvSpPr>
          <p:nvPr>
            <p:ph type="title"/>
          </p:nvPr>
        </p:nvSpPr>
        <p:spPr/>
        <p:txBody>
          <a:bodyPr/>
          <a:lstStyle/>
          <a:p>
            <a:endParaRPr lang="zh-CN" altLang="zh-CN"/>
          </a:p>
        </p:txBody>
      </p:sp>
      <p:sp>
        <p:nvSpPr>
          <p:cNvPr id="43011" name="Rectangle 3">
            <a:extLst>
              <a:ext uri="{FF2B5EF4-FFF2-40B4-BE49-F238E27FC236}">
                <a16:creationId xmlns:a16="http://schemas.microsoft.com/office/drawing/2014/main" id="{E63679BB-F979-A088-051B-D785FB0D72B8}"/>
              </a:ext>
            </a:extLst>
          </p:cNvPr>
          <p:cNvSpPr>
            <a:spLocks noGrp="1" noRot="1" noChangeArrowheads="1"/>
          </p:cNvSpPr>
          <p:nvPr>
            <p:ph type="body" idx="1"/>
          </p:nvPr>
        </p:nvSpPr>
        <p:spPr/>
        <p:txBody>
          <a:bodyPr/>
          <a:lstStyle/>
          <a:p>
            <a:pPr>
              <a:buFont typeface="Wingdings" panose="05000000000000000000" pitchFamily="2" charset="2"/>
              <a:buNone/>
            </a:pPr>
            <a:r>
              <a:rPr lang="en-US" altLang="zh-CN" sz="2400" b="1">
                <a:solidFill>
                  <a:srgbClr val="FF3399"/>
                </a:solidFill>
                <a:latin typeface="MS PMincho" panose="02020600040205080304" pitchFamily="18" charset="-128"/>
                <a:ea typeface="MS PMincho" panose="02020600040205080304" pitchFamily="18" charset="-128"/>
              </a:rPr>
              <a:t>★ </a:t>
            </a:r>
            <a:r>
              <a:rPr lang="zh-CN" altLang="en-US" sz="2400" b="1"/>
              <a:t>经济进化理论的相关论点：</a:t>
            </a:r>
          </a:p>
          <a:p>
            <a:pPr>
              <a:buFont typeface="Wingdings" panose="05000000000000000000" pitchFamily="2" charset="2"/>
              <a:buNone/>
            </a:pPr>
            <a:r>
              <a:rPr lang="zh-CN" altLang="en-US" sz="2400" b="1">
                <a:solidFill>
                  <a:srgbClr val="FF9900"/>
                </a:solidFill>
                <a:cs typeface="Arial" panose="020B0604020202020204" pitchFamily="34" charset="0"/>
              </a:rPr>
              <a:t>☻ </a:t>
            </a:r>
            <a:r>
              <a:rPr lang="zh-CN" altLang="en-US" sz="2400" b="1"/>
              <a:t>正统经济学的经典思想掩盖了经济演变过程中的基本特征。它的两大理论前提“利润最大化”和“经济均衡”阻碍了对经济变迁实际过程的本质认识。 </a:t>
            </a:r>
          </a:p>
          <a:p>
            <a:pPr>
              <a:buFont typeface="Wingdings" panose="05000000000000000000" pitchFamily="2" charset="2"/>
              <a:buNone/>
            </a:pPr>
            <a:r>
              <a:rPr lang="zh-CN" altLang="en-US" sz="2400" b="1">
                <a:solidFill>
                  <a:srgbClr val="FF9900"/>
                </a:solidFill>
                <a:cs typeface="Arial" panose="020B0604020202020204" pitchFamily="34" charset="0"/>
              </a:rPr>
              <a:t>☻ </a:t>
            </a:r>
            <a:r>
              <a:rPr lang="zh-CN" altLang="en-US" sz="2400" b="1"/>
              <a:t>经济行为者（特别是企业）的目标是追求满意利润，但不是利润最大化。</a:t>
            </a:r>
          </a:p>
          <a:p>
            <a:pPr>
              <a:buFont typeface="Wingdings" panose="05000000000000000000" pitchFamily="2" charset="2"/>
              <a:buNone/>
            </a:pPr>
            <a:r>
              <a:rPr lang="zh-CN" altLang="en-US" sz="2400" b="1">
                <a:solidFill>
                  <a:srgbClr val="FF9900"/>
                </a:solidFill>
                <a:cs typeface="Arial" panose="020B0604020202020204" pitchFamily="34" charset="0"/>
              </a:rPr>
              <a:t>☻ </a:t>
            </a:r>
            <a:r>
              <a:rPr lang="zh-CN" altLang="en-US" sz="2400" b="1"/>
              <a:t>抛弃了正统经济学模型得以成立的所有成份全面的目标函数、明确界定的方案集合和企业完全理性的利润最大化选择，将惯例、搜寻和选择作为经济学研究的基本框架。</a:t>
            </a:r>
            <a:r>
              <a:rPr lang="zh-CN" altLang="en-US"/>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Effect transition="in" filter="box(in)">
                                      <p:cBhvr>
                                        <p:cTn id="7" dur="500"/>
                                        <p:tgtEl>
                                          <p:spTgt spid="430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3011">
                                            <p:txEl>
                                              <p:pRg st="1" end="1"/>
                                            </p:txEl>
                                          </p:spTgt>
                                        </p:tgtEl>
                                        <p:attrNameLst>
                                          <p:attrName>style.visibility</p:attrName>
                                        </p:attrNameLst>
                                      </p:cBhvr>
                                      <p:to>
                                        <p:strVal val="visible"/>
                                      </p:to>
                                    </p:set>
                                    <p:animEffect transition="in" filter="box(in)">
                                      <p:cBhvr>
                                        <p:cTn id="12" dur="500"/>
                                        <p:tgtEl>
                                          <p:spTgt spid="4301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3011">
                                            <p:txEl>
                                              <p:pRg st="2" end="2"/>
                                            </p:txEl>
                                          </p:spTgt>
                                        </p:tgtEl>
                                        <p:attrNameLst>
                                          <p:attrName>style.visibility</p:attrName>
                                        </p:attrNameLst>
                                      </p:cBhvr>
                                      <p:to>
                                        <p:strVal val="visible"/>
                                      </p:to>
                                    </p:set>
                                    <p:animEffect transition="in" filter="box(in)">
                                      <p:cBhvr>
                                        <p:cTn id="17" dur="500"/>
                                        <p:tgtEl>
                                          <p:spTgt spid="4301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43011">
                                            <p:txEl>
                                              <p:pRg st="3" end="3"/>
                                            </p:txEl>
                                          </p:spTgt>
                                        </p:tgtEl>
                                        <p:attrNameLst>
                                          <p:attrName>style.visibility</p:attrName>
                                        </p:attrNameLst>
                                      </p:cBhvr>
                                      <p:to>
                                        <p:strVal val="visible"/>
                                      </p:to>
                                    </p:set>
                                    <p:animEffect transition="in" filter="box(in)">
                                      <p:cBhvr>
                                        <p:cTn id="22" dur="500"/>
                                        <p:tgtEl>
                                          <p:spTgt spid="430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4601AC88-89D5-5B4A-40A0-228A838D610A}"/>
              </a:ext>
            </a:extLst>
          </p:cNvPr>
          <p:cNvSpPr>
            <a:spLocks noGrp="1" noRot="1" noChangeArrowheads="1"/>
          </p:cNvSpPr>
          <p:nvPr>
            <p:ph type="title"/>
          </p:nvPr>
        </p:nvSpPr>
        <p:spPr/>
        <p:txBody>
          <a:bodyPr/>
          <a:lstStyle/>
          <a:p>
            <a:endParaRPr lang="zh-CN" altLang="zh-CN"/>
          </a:p>
        </p:txBody>
      </p:sp>
      <p:sp>
        <p:nvSpPr>
          <p:cNvPr id="16387" name="Rectangle 3">
            <a:extLst>
              <a:ext uri="{FF2B5EF4-FFF2-40B4-BE49-F238E27FC236}">
                <a16:creationId xmlns:a16="http://schemas.microsoft.com/office/drawing/2014/main" id="{EE50A111-D0D8-D0BA-0834-004879722E7A}"/>
              </a:ext>
            </a:extLst>
          </p:cNvPr>
          <p:cNvSpPr>
            <a:spLocks noGrp="1" noRot="1" noChangeArrowheads="1"/>
          </p:cNvSpPr>
          <p:nvPr>
            <p:ph type="body" idx="1"/>
          </p:nvPr>
        </p:nvSpPr>
        <p:spPr/>
        <p:txBody>
          <a:bodyPr/>
          <a:lstStyle/>
          <a:p>
            <a:pPr>
              <a:lnSpc>
                <a:spcPct val="90000"/>
              </a:lnSpc>
              <a:buFont typeface="Wingdings" panose="05000000000000000000" pitchFamily="2" charset="2"/>
              <a:buNone/>
            </a:pPr>
            <a:r>
              <a:rPr lang="zh-CN" altLang="en-US" sz="2400" b="1"/>
              <a:t>二、股东财富最大化</a:t>
            </a:r>
          </a:p>
          <a:p>
            <a:pPr>
              <a:lnSpc>
                <a:spcPct val="90000"/>
              </a:lnSpc>
            </a:pPr>
            <a:r>
              <a:rPr lang="zh-CN" altLang="en-US" sz="2400" b="1"/>
              <a:t>“我们的首要目标是：增加股东的长期财富，以补偿他们承担的风险。”</a:t>
            </a:r>
            <a:r>
              <a:rPr lang="en-US" altLang="zh-CN" sz="2400" b="1"/>
              <a:t>——Campbell Soup</a:t>
            </a:r>
            <a:r>
              <a:rPr lang="zh-CN" altLang="en-US" sz="2400" b="1"/>
              <a:t>公司，</a:t>
            </a:r>
            <a:r>
              <a:rPr lang="en-US" altLang="zh-CN" sz="2400" b="1"/>
              <a:t>1995</a:t>
            </a:r>
            <a:r>
              <a:rPr lang="zh-CN" altLang="en-US" sz="2400" b="1"/>
              <a:t>年年度报告。</a:t>
            </a:r>
          </a:p>
          <a:p>
            <a:pPr>
              <a:lnSpc>
                <a:spcPct val="90000"/>
              </a:lnSpc>
            </a:pPr>
            <a:r>
              <a:rPr lang="zh-CN" altLang="en-US" sz="2400" b="1"/>
              <a:t>“我们只为一个原因而存在，那就是不断的将股东价值最大化。”</a:t>
            </a:r>
            <a:r>
              <a:rPr lang="en-US" altLang="zh-CN" sz="2400" b="1"/>
              <a:t>――</a:t>
            </a:r>
            <a:r>
              <a:rPr lang="zh-CN" altLang="en-US" sz="2400" b="1"/>
              <a:t>可口可乐公司，</a:t>
            </a:r>
            <a:r>
              <a:rPr lang="en-US" altLang="zh-CN" sz="2400" b="1"/>
              <a:t>1995</a:t>
            </a:r>
            <a:r>
              <a:rPr lang="zh-CN" altLang="en-US" sz="2400" b="1"/>
              <a:t>年年度报告。</a:t>
            </a:r>
          </a:p>
          <a:p>
            <a:pPr>
              <a:lnSpc>
                <a:spcPct val="90000"/>
              </a:lnSpc>
            </a:pPr>
            <a:r>
              <a:rPr lang="zh-CN" altLang="en-US" sz="2400" b="1"/>
              <a:t>“为股东创造价值是我们全部的经营和财务策略的目标。”</a:t>
            </a:r>
            <a:r>
              <a:rPr lang="en-US" altLang="zh-CN" sz="2400" b="1"/>
              <a:t>――Equifax</a:t>
            </a:r>
            <a:r>
              <a:rPr lang="zh-CN" altLang="en-US" sz="2400" b="1"/>
              <a:t>公司，</a:t>
            </a:r>
            <a:r>
              <a:rPr lang="en-US" altLang="zh-CN" sz="2400" b="1"/>
              <a:t>1995</a:t>
            </a:r>
            <a:r>
              <a:rPr lang="zh-CN" altLang="en-US" sz="2400" b="1"/>
              <a:t>年年度报告。</a:t>
            </a:r>
          </a:p>
          <a:p>
            <a:pPr>
              <a:lnSpc>
                <a:spcPct val="90000"/>
              </a:lnSpc>
            </a:pPr>
            <a:r>
              <a:rPr lang="zh-CN" altLang="en-US" sz="2400" b="1"/>
              <a:t>“我们的任务永远是创造新的价值和增加股东财富。”</a:t>
            </a:r>
            <a:r>
              <a:rPr lang="en-US" altLang="zh-CN" sz="2400" b="1"/>
              <a:t>――Georgia-Pacific</a:t>
            </a:r>
            <a:r>
              <a:rPr lang="zh-CN" altLang="en-US" sz="2400" b="1"/>
              <a:t>公司，</a:t>
            </a:r>
            <a:r>
              <a:rPr lang="en-US" altLang="zh-CN" sz="2400" b="1"/>
              <a:t>1995</a:t>
            </a:r>
            <a:r>
              <a:rPr lang="zh-CN" altLang="en-US" sz="2400" b="1"/>
              <a:t>年年度报告。</a:t>
            </a:r>
          </a:p>
          <a:p>
            <a:pPr>
              <a:lnSpc>
                <a:spcPct val="90000"/>
              </a:lnSpc>
            </a:pPr>
            <a:r>
              <a:rPr lang="zh-CN" altLang="en-US" sz="2400" b="1"/>
              <a:t>“我们将继续增加公司全体股东的价值。”</a:t>
            </a:r>
            <a:r>
              <a:rPr lang="en-US" altLang="zh-CN" sz="2400" b="1"/>
              <a:t>――Transamerica</a:t>
            </a:r>
            <a:r>
              <a:rPr lang="zh-CN" altLang="en-US" sz="2400" b="1"/>
              <a:t>公司，</a:t>
            </a:r>
            <a:r>
              <a:rPr lang="en-US" altLang="zh-CN" sz="2400" b="1"/>
              <a:t>1995</a:t>
            </a:r>
            <a:r>
              <a:rPr lang="zh-CN" altLang="en-US" sz="2400" b="1"/>
              <a:t>年年度报告。</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animEffect transition="in" filter="blinds(horizontal)">
                                      <p:cBhvr>
                                        <p:cTn id="7" dur="500"/>
                                        <p:tgtEl>
                                          <p:spTgt spid="163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6387">
                                            <p:txEl>
                                              <p:pRg st="1" end="1"/>
                                            </p:txEl>
                                          </p:spTgt>
                                        </p:tgtEl>
                                        <p:attrNameLst>
                                          <p:attrName>style.visibility</p:attrName>
                                        </p:attrNameLst>
                                      </p:cBhvr>
                                      <p:to>
                                        <p:strVal val="visible"/>
                                      </p:to>
                                    </p:set>
                                    <p:animEffect transition="in" filter="blinds(horizontal)">
                                      <p:cBhvr>
                                        <p:cTn id="12" dur="500"/>
                                        <p:tgtEl>
                                          <p:spTgt spid="1638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6387">
                                            <p:txEl>
                                              <p:pRg st="2" end="2"/>
                                            </p:txEl>
                                          </p:spTgt>
                                        </p:tgtEl>
                                        <p:attrNameLst>
                                          <p:attrName>style.visibility</p:attrName>
                                        </p:attrNameLst>
                                      </p:cBhvr>
                                      <p:to>
                                        <p:strVal val="visible"/>
                                      </p:to>
                                    </p:set>
                                    <p:animEffect transition="in" filter="blinds(horizontal)">
                                      <p:cBhvr>
                                        <p:cTn id="17" dur="500"/>
                                        <p:tgtEl>
                                          <p:spTgt spid="1638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6387">
                                            <p:txEl>
                                              <p:pRg st="3" end="3"/>
                                            </p:txEl>
                                          </p:spTgt>
                                        </p:tgtEl>
                                        <p:attrNameLst>
                                          <p:attrName>style.visibility</p:attrName>
                                        </p:attrNameLst>
                                      </p:cBhvr>
                                      <p:to>
                                        <p:strVal val="visible"/>
                                      </p:to>
                                    </p:set>
                                    <p:animEffect transition="in" filter="blinds(horizontal)">
                                      <p:cBhvr>
                                        <p:cTn id="22" dur="500"/>
                                        <p:tgtEl>
                                          <p:spTgt spid="1638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16387">
                                            <p:txEl>
                                              <p:pRg st="4" end="4"/>
                                            </p:txEl>
                                          </p:spTgt>
                                        </p:tgtEl>
                                        <p:attrNameLst>
                                          <p:attrName>style.visibility</p:attrName>
                                        </p:attrNameLst>
                                      </p:cBhvr>
                                      <p:to>
                                        <p:strVal val="visible"/>
                                      </p:to>
                                    </p:set>
                                    <p:animEffect transition="in" filter="blinds(horizontal)">
                                      <p:cBhvr>
                                        <p:cTn id="27" dur="500"/>
                                        <p:tgtEl>
                                          <p:spTgt spid="16387">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16387">
                                            <p:txEl>
                                              <p:pRg st="5" end="5"/>
                                            </p:txEl>
                                          </p:spTgt>
                                        </p:tgtEl>
                                        <p:attrNameLst>
                                          <p:attrName>style.visibility</p:attrName>
                                        </p:attrNameLst>
                                      </p:cBhvr>
                                      <p:to>
                                        <p:strVal val="visible"/>
                                      </p:to>
                                    </p:set>
                                    <p:animEffect transition="in" filter="blinds(horizontal)">
                                      <p:cBhvr>
                                        <p:cTn id="32" dur="500"/>
                                        <p:tgtEl>
                                          <p:spTgt spid="1638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700F226F-81EB-6215-EC6F-5FAED2EB0B4B}"/>
              </a:ext>
            </a:extLst>
          </p:cNvPr>
          <p:cNvSpPr>
            <a:spLocks noGrp="1" noRot="1" noChangeArrowheads="1"/>
          </p:cNvSpPr>
          <p:nvPr>
            <p:ph type="title"/>
          </p:nvPr>
        </p:nvSpPr>
        <p:spPr/>
        <p:txBody>
          <a:bodyPr/>
          <a:lstStyle/>
          <a:p>
            <a:endParaRPr lang="zh-CN" altLang="zh-CN"/>
          </a:p>
        </p:txBody>
      </p:sp>
      <p:sp>
        <p:nvSpPr>
          <p:cNvPr id="45059" name="Rectangle 3">
            <a:extLst>
              <a:ext uri="{FF2B5EF4-FFF2-40B4-BE49-F238E27FC236}">
                <a16:creationId xmlns:a16="http://schemas.microsoft.com/office/drawing/2014/main" id="{FBFB75B9-2C35-084A-1F3A-9DDACA9B774E}"/>
              </a:ext>
            </a:extLst>
          </p:cNvPr>
          <p:cNvSpPr>
            <a:spLocks noGrp="1" noRot="1" noChangeArrowheads="1"/>
          </p:cNvSpPr>
          <p:nvPr>
            <p:ph type="body" idx="1"/>
          </p:nvPr>
        </p:nvSpPr>
        <p:spPr/>
        <p:txBody>
          <a:bodyPr/>
          <a:lstStyle/>
          <a:p>
            <a:pPr>
              <a:lnSpc>
                <a:spcPct val="90000"/>
              </a:lnSpc>
              <a:buFont typeface="Wingdings" panose="05000000000000000000" pitchFamily="2" charset="2"/>
              <a:buNone/>
            </a:pPr>
            <a:r>
              <a:rPr lang="zh-CN" altLang="en-US" sz="2400" b="1"/>
              <a:t>三、公司其他目标</a:t>
            </a:r>
          </a:p>
          <a:p>
            <a:pPr>
              <a:lnSpc>
                <a:spcPct val="90000"/>
              </a:lnSpc>
              <a:buFont typeface="Wingdings" panose="05000000000000000000" pitchFamily="2" charset="2"/>
              <a:buNone/>
            </a:pPr>
            <a:r>
              <a:rPr lang="zh-CN" altLang="en-US" sz="2400" b="1"/>
              <a:t> </a:t>
            </a:r>
            <a:r>
              <a:rPr lang="zh-CN" altLang="en-US" sz="2400" b="1">
                <a:solidFill>
                  <a:srgbClr val="FF3399"/>
                </a:solidFill>
                <a:cs typeface="Arial" panose="020B0604020202020204" pitchFamily="34" charset="0"/>
              </a:rPr>
              <a:t>♣</a:t>
            </a:r>
            <a:r>
              <a:rPr lang="zh-CN" altLang="en-US" sz="2400" b="1">
                <a:solidFill>
                  <a:srgbClr val="FF3399"/>
                </a:solidFill>
              </a:rPr>
              <a:t> </a:t>
            </a:r>
            <a:r>
              <a:rPr lang="en-US" altLang="zh-CN" sz="2400" b="1"/>
              <a:t>1932</a:t>
            </a:r>
            <a:r>
              <a:rPr lang="zh-CN" altLang="en-US" sz="2400" b="1"/>
              <a:t>年，美国经济学家伯利（</a:t>
            </a:r>
            <a:r>
              <a:rPr lang="en-US" altLang="zh-CN" sz="2400" b="1"/>
              <a:t>Berle</a:t>
            </a:r>
            <a:r>
              <a:rPr lang="zh-CN" altLang="en-US" sz="2400" b="1"/>
              <a:t>）和明斯（</a:t>
            </a:r>
            <a:r>
              <a:rPr lang="en-US" altLang="zh-CN" sz="2400" b="1"/>
              <a:t>Means</a:t>
            </a:r>
            <a:r>
              <a:rPr lang="zh-CN" altLang="en-US" sz="2400" b="1"/>
              <a:t>）出版了</a:t>
            </a:r>
            <a:r>
              <a:rPr lang="en-US" altLang="zh-CN" sz="2400" b="1"/>
              <a:t>《</a:t>
            </a:r>
            <a:r>
              <a:rPr lang="zh-CN" altLang="en-US" sz="2400" b="1"/>
              <a:t>现代公司与私有财产</a:t>
            </a:r>
            <a:r>
              <a:rPr lang="en-US" altLang="zh-CN" sz="2400" b="1"/>
              <a:t>》</a:t>
            </a:r>
            <a:r>
              <a:rPr lang="zh-CN" altLang="en-US" sz="2400" b="1"/>
              <a:t>一书，提出著名的“所有权与控制权相分离”的命题，使传统的以利润最大化为目标的企业理论受到严峻挑战。</a:t>
            </a:r>
          </a:p>
          <a:p>
            <a:pPr>
              <a:lnSpc>
                <a:spcPct val="90000"/>
              </a:lnSpc>
              <a:buFont typeface="Wingdings" panose="05000000000000000000" pitchFamily="2" charset="2"/>
              <a:buNone/>
            </a:pPr>
            <a:r>
              <a:rPr lang="zh-CN" altLang="en-US" sz="2400" b="1"/>
              <a:t> </a:t>
            </a:r>
            <a:r>
              <a:rPr lang="zh-CN" altLang="en-US" sz="2400" b="1">
                <a:solidFill>
                  <a:srgbClr val="FF3399"/>
                </a:solidFill>
                <a:cs typeface="Arial" panose="020B0604020202020204" pitchFamily="34" charset="0"/>
              </a:rPr>
              <a:t>♣</a:t>
            </a:r>
            <a:r>
              <a:rPr lang="zh-CN" altLang="en-US" sz="2400" b="1">
                <a:solidFill>
                  <a:srgbClr val="FF3399"/>
                </a:solidFill>
              </a:rPr>
              <a:t> </a:t>
            </a:r>
            <a:r>
              <a:rPr lang="en-US" altLang="zh-CN" sz="2400" b="1"/>
              <a:t>50</a:t>
            </a:r>
            <a:r>
              <a:rPr lang="zh-CN" altLang="en-US" sz="2400" b="1"/>
              <a:t>年代后期和</a:t>
            </a:r>
            <a:r>
              <a:rPr lang="en-US" altLang="zh-CN" sz="2400" b="1"/>
              <a:t>60</a:t>
            </a:r>
            <a:r>
              <a:rPr lang="zh-CN" altLang="en-US" sz="2400" b="1"/>
              <a:t>年代，企业管理者的多目标模型开始流行，鲍莫（</a:t>
            </a:r>
            <a:r>
              <a:rPr lang="en-US" altLang="zh-CN" sz="2400" b="1"/>
              <a:t>Baumol</a:t>
            </a:r>
            <a:r>
              <a:rPr lang="zh-CN" altLang="en-US" sz="2400" b="1"/>
              <a:t>，</a:t>
            </a:r>
            <a:r>
              <a:rPr lang="en-US" altLang="zh-CN" sz="2400" b="1"/>
              <a:t>1959</a:t>
            </a:r>
            <a:r>
              <a:rPr lang="zh-CN" altLang="en-US" sz="2400" b="1"/>
              <a:t>）、马瑞斯（</a:t>
            </a:r>
            <a:r>
              <a:rPr lang="en-US" altLang="zh-CN" sz="2400" b="1"/>
              <a:t>Marris</a:t>
            </a:r>
            <a:r>
              <a:rPr lang="zh-CN" altLang="en-US" sz="2400" b="1"/>
              <a:t>，</a:t>
            </a:r>
            <a:r>
              <a:rPr lang="en-US" altLang="zh-CN" sz="2400" b="1"/>
              <a:t>1964</a:t>
            </a:r>
            <a:r>
              <a:rPr lang="zh-CN" altLang="en-US" sz="2400" b="1"/>
              <a:t>）和威廉姆森（</a:t>
            </a:r>
            <a:r>
              <a:rPr lang="en-US" altLang="zh-CN" sz="2400" b="1"/>
              <a:t>Williamson</a:t>
            </a:r>
            <a:r>
              <a:rPr lang="zh-CN" altLang="en-US" sz="2400" b="1"/>
              <a:t>，</a:t>
            </a:r>
            <a:r>
              <a:rPr lang="en-US" altLang="zh-CN" sz="2400" b="1"/>
              <a:t>1964</a:t>
            </a:r>
            <a:r>
              <a:rPr lang="zh-CN" altLang="en-US" sz="2400" b="1"/>
              <a:t>）分别提出了企业最小利润约束下的销售收入最大化模型、最小股票价值约束下的企业增长最大化模型和最小利润约束下的管理者效用最大化模型。</a:t>
            </a:r>
            <a:r>
              <a:rPr lang="zh-CN" altLang="en-US" sz="240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505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505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505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AE237D8E-C933-63A7-75CA-17A5B0EBDC2D}"/>
              </a:ext>
            </a:extLst>
          </p:cNvPr>
          <p:cNvSpPr>
            <a:spLocks noGrp="1" noRot="1" noChangeArrowheads="1"/>
          </p:cNvSpPr>
          <p:nvPr>
            <p:ph type="title"/>
          </p:nvPr>
        </p:nvSpPr>
        <p:spPr/>
        <p:txBody>
          <a:bodyPr/>
          <a:lstStyle/>
          <a:p>
            <a:endParaRPr lang="zh-CN" altLang="zh-CN"/>
          </a:p>
        </p:txBody>
      </p:sp>
      <p:sp>
        <p:nvSpPr>
          <p:cNvPr id="17411" name="Rectangle 3">
            <a:extLst>
              <a:ext uri="{FF2B5EF4-FFF2-40B4-BE49-F238E27FC236}">
                <a16:creationId xmlns:a16="http://schemas.microsoft.com/office/drawing/2014/main" id="{D09F6909-6C51-33E0-7563-4FF55E118609}"/>
              </a:ext>
            </a:extLst>
          </p:cNvPr>
          <p:cNvSpPr>
            <a:spLocks noGrp="1" noRot="1" noChangeArrowheads="1"/>
          </p:cNvSpPr>
          <p:nvPr>
            <p:ph type="body" idx="1"/>
          </p:nvPr>
        </p:nvSpPr>
        <p:spPr/>
        <p:txBody>
          <a:bodyPr/>
          <a:lstStyle/>
          <a:p>
            <a:pPr>
              <a:buFont typeface="Wingdings" panose="05000000000000000000" pitchFamily="2" charset="2"/>
              <a:buNone/>
            </a:pPr>
            <a:r>
              <a:rPr lang="zh-CN" altLang="en-US" sz="2400" b="1"/>
              <a:t>（一）一定利润水平下的销售收入最大化</a:t>
            </a:r>
          </a:p>
          <a:p>
            <a:pPr>
              <a:buFont typeface="Wingdings" panose="05000000000000000000" pitchFamily="2" charset="2"/>
              <a:buNone/>
            </a:pPr>
            <a:r>
              <a:rPr lang="zh-CN" altLang="en-US" sz="2400" b="1"/>
              <a:t>（</a:t>
            </a:r>
            <a:r>
              <a:rPr lang="en-US" altLang="zh-CN" sz="2400" b="1"/>
              <a:t>1</a:t>
            </a:r>
            <a:r>
              <a:rPr lang="zh-CN" altLang="en-US" sz="2400" b="1"/>
              <a:t>）销售收入是企业活动成效的关键衡量尺度。 </a:t>
            </a:r>
          </a:p>
          <a:p>
            <a:pPr>
              <a:buFont typeface="Wingdings" panose="05000000000000000000" pitchFamily="2" charset="2"/>
              <a:buNone/>
            </a:pPr>
            <a:r>
              <a:rPr lang="zh-CN" altLang="en-US" sz="2400" b="1"/>
              <a:t>（</a:t>
            </a:r>
            <a:r>
              <a:rPr lang="en-US" altLang="zh-CN" sz="2400" b="1"/>
              <a:t>2</a:t>
            </a:r>
            <a:r>
              <a:rPr lang="zh-CN" altLang="en-US" sz="2400" b="1"/>
              <a:t>）企业经理的薪酬、地位及其他报酬与企业经营规模的关系，比与盈利能力的关系更为密切，而公司规模使用销售收入而不是利润来衡量的。 </a:t>
            </a:r>
          </a:p>
          <a:p>
            <a:pPr>
              <a:buFont typeface="Wingdings" panose="05000000000000000000" pitchFamily="2" charset="2"/>
              <a:buNone/>
            </a:pPr>
            <a:r>
              <a:rPr lang="zh-CN" altLang="en-US" sz="2400" b="1"/>
              <a:t>（二）市场份额目标</a:t>
            </a:r>
          </a:p>
          <a:p>
            <a:pPr>
              <a:buFont typeface="Wingdings" panose="05000000000000000000" pitchFamily="2" charset="2"/>
              <a:buNone/>
            </a:pPr>
            <a:r>
              <a:rPr lang="zh-CN" altLang="en-US" sz="2400" b="1"/>
              <a:t>           案例：格兰仕与</a:t>
            </a:r>
            <a:r>
              <a:rPr lang="en-US" altLang="zh-CN" sz="2400" b="1"/>
              <a:t>LG</a:t>
            </a:r>
            <a:r>
              <a:rPr lang="zh-CN" altLang="en-US" sz="2400" b="1"/>
              <a:t>的价格战</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animEffect transition="in" filter="blinds(horizontal)">
                                      <p:cBhvr>
                                        <p:cTn id="7" dur="500"/>
                                        <p:tgtEl>
                                          <p:spTgt spid="174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7411">
                                            <p:txEl>
                                              <p:pRg st="1" end="1"/>
                                            </p:txEl>
                                          </p:spTgt>
                                        </p:tgtEl>
                                        <p:attrNameLst>
                                          <p:attrName>style.visibility</p:attrName>
                                        </p:attrNameLst>
                                      </p:cBhvr>
                                      <p:to>
                                        <p:strVal val="visible"/>
                                      </p:to>
                                    </p:set>
                                    <p:animEffect transition="in" filter="blinds(horizontal)">
                                      <p:cBhvr>
                                        <p:cTn id="12" dur="500"/>
                                        <p:tgtEl>
                                          <p:spTgt spid="1741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7411">
                                            <p:txEl>
                                              <p:pRg st="2" end="2"/>
                                            </p:txEl>
                                          </p:spTgt>
                                        </p:tgtEl>
                                        <p:attrNameLst>
                                          <p:attrName>style.visibility</p:attrName>
                                        </p:attrNameLst>
                                      </p:cBhvr>
                                      <p:to>
                                        <p:strVal val="visible"/>
                                      </p:to>
                                    </p:set>
                                    <p:animEffect transition="in" filter="blinds(horizontal)">
                                      <p:cBhvr>
                                        <p:cTn id="17" dur="500"/>
                                        <p:tgtEl>
                                          <p:spTgt spid="1741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7411">
                                            <p:txEl>
                                              <p:pRg st="3" end="3"/>
                                            </p:txEl>
                                          </p:spTgt>
                                        </p:tgtEl>
                                        <p:attrNameLst>
                                          <p:attrName>style.visibility</p:attrName>
                                        </p:attrNameLst>
                                      </p:cBhvr>
                                      <p:to>
                                        <p:strVal val="visible"/>
                                      </p:to>
                                    </p:set>
                                    <p:animEffect transition="in" filter="blinds(horizontal)">
                                      <p:cBhvr>
                                        <p:cTn id="22" dur="500"/>
                                        <p:tgtEl>
                                          <p:spTgt spid="1741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17411">
                                            <p:txEl>
                                              <p:pRg st="4" end="4"/>
                                            </p:txEl>
                                          </p:spTgt>
                                        </p:tgtEl>
                                        <p:attrNameLst>
                                          <p:attrName>style.visibility</p:attrName>
                                        </p:attrNameLst>
                                      </p:cBhvr>
                                      <p:to>
                                        <p:strVal val="visible"/>
                                      </p:to>
                                    </p:set>
                                    <p:animEffect transition="in" filter="blinds(horizontal)">
                                      <p:cBhvr>
                                        <p:cTn id="27" dur="500"/>
                                        <p:tgtEl>
                                          <p:spTgt spid="1741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6E1E3355-D992-01A6-6563-ED88F3531352}"/>
              </a:ext>
            </a:extLst>
          </p:cNvPr>
          <p:cNvSpPr>
            <a:spLocks noGrp="1" noRot="1" noChangeArrowheads="1"/>
          </p:cNvSpPr>
          <p:nvPr>
            <p:ph type="title"/>
          </p:nvPr>
        </p:nvSpPr>
        <p:spPr/>
        <p:txBody>
          <a:bodyPr/>
          <a:lstStyle/>
          <a:p>
            <a:endParaRPr lang="zh-CN" altLang="zh-CN"/>
          </a:p>
        </p:txBody>
      </p:sp>
      <p:sp>
        <p:nvSpPr>
          <p:cNvPr id="18435" name="Rectangle 3">
            <a:extLst>
              <a:ext uri="{FF2B5EF4-FFF2-40B4-BE49-F238E27FC236}">
                <a16:creationId xmlns:a16="http://schemas.microsoft.com/office/drawing/2014/main" id="{D4F9C60E-4BAA-91DF-D4A9-717150A84EBE}"/>
              </a:ext>
            </a:extLst>
          </p:cNvPr>
          <p:cNvSpPr>
            <a:spLocks noGrp="1" noRot="1" noChangeArrowheads="1"/>
          </p:cNvSpPr>
          <p:nvPr>
            <p:ph type="body" idx="1"/>
          </p:nvPr>
        </p:nvSpPr>
        <p:spPr/>
        <p:txBody>
          <a:bodyPr/>
          <a:lstStyle/>
          <a:p>
            <a:pPr>
              <a:lnSpc>
                <a:spcPct val="80000"/>
              </a:lnSpc>
              <a:buFont typeface="Wingdings" panose="05000000000000000000" pitchFamily="2" charset="2"/>
              <a:buNone/>
            </a:pPr>
            <a:endParaRPr lang="en-US" altLang="zh-CN" sz="2800" b="1"/>
          </a:p>
          <a:p>
            <a:pPr>
              <a:lnSpc>
                <a:spcPct val="80000"/>
              </a:lnSpc>
              <a:buFont typeface="Wingdings" panose="05000000000000000000" pitchFamily="2" charset="2"/>
              <a:buNone/>
            </a:pPr>
            <a:r>
              <a:rPr lang="zh-CN" altLang="en-US" sz="2800" b="1"/>
              <a:t>（三）长期生存目标</a:t>
            </a:r>
          </a:p>
          <a:p>
            <a:pPr>
              <a:lnSpc>
                <a:spcPct val="80000"/>
              </a:lnSpc>
              <a:buFont typeface="Wingdings" panose="05000000000000000000" pitchFamily="2" charset="2"/>
              <a:buNone/>
            </a:pPr>
            <a:r>
              <a:rPr lang="en-US" altLang="zh-CN" sz="2800" b="1"/>
              <a:t>1.</a:t>
            </a:r>
            <a:r>
              <a:rPr lang="zh-CN" altLang="en-US" sz="2800" b="1"/>
              <a:t>生存是企业存在的前提。</a:t>
            </a:r>
          </a:p>
          <a:p>
            <a:pPr>
              <a:lnSpc>
                <a:spcPct val="80000"/>
              </a:lnSpc>
              <a:buFont typeface="Wingdings" panose="05000000000000000000" pitchFamily="2" charset="2"/>
              <a:buNone/>
            </a:pPr>
            <a:r>
              <a:rPr lang="zh-CN" altLang="en-US" sz="2800" b="1"/>
              <a:t>    根据库恩（</a:t>
            </a:r>
            <a:r>
              <a:rPr lang="en-US" altLang="zh-CN" sz="2800" b="1"/>
              <a:t>Kuehn</a:t>
            </a:r>
            <a:r>
              <a:rPr lang="zh-CN" altLang="en-US" sz="2800" b="1"/>
              <a:t>，</a:t>
            </a:r>
            <a:r>
              <a:rPr lang="en-US" altLang="zh-CN" sz="2800" b="1"/>
              <a:t>1975</a:t>
            </a:r>
            <a:r>
              <a:rPr lang="zh-CN" altLang="en-US" sz="2800" b="1"/>
              <a:t>）的调查，</a:t>
            </a:r>
            <a:r>
              <a:rPr lang="en-US" altLang="zh-CN" sz="2800" b="1"/>
              <a:t>1957</a:t>
            </a:r>
            <a:r>
              <a:rPr lang="zh-CN" altLang="en-US" sz="2800" b="1"/>
              <a:t>～</a:t>
            </a:r>
            <a:r>
              <a:rPr lang="en-US" altLang="zh-CN" sz="2800" b="1"/>
              <a:t>1969</a:t>
            </a:r>
            <a:r>
              <a:rPr lang="zh-CN" altLang="en-US" sz="2800" b="1"/>
              <a:t>年的</a:t>
            </a:r>
            <a:r>
              <a:rPr lang="en-US" altLang="zh-CN" sz="2800" b="1"/>
              <a:t>13</a:t>
            </a:r>
            <a:r>
              <a:rPr lang="zh-CN" altLang="en-US" sz="2800" b="1"/>
              <a:t>年间，英国</a:t>
            </a:r>
            <a:r>
              <a:rPr lang="en-US" altLang="zh-CN" sz="2800" b="1"/>
              <a:t>3566</a:t>
            </a:r>
            <a:r>
              <a:rPr lang="zh-CN" altLang="en-US" sz="2800" b="1"/>
              <a:t>家样本企业的生存率为</a:t>
            </a:r>
            <a:r>
              <a:rPr lang="en-US" altLang="zh-CN" sz="2800" b="1"/>
              <a:t>52</a:t>
            </a:r>
            <a:r>
              <a:rPr lang="zh-CN" altLang="en-US" sz="2800" b="1"/>
              <a:t>％，而米勒（</a:t>
            </a:r>
            <a:r>
              <a:rPr lang="en-US" altLang="zh-CN" sz="2800" b="1"/>
              <a:t>Mueller,1986</a:t>
            </a:r>
            <a:r>
              <a:rPr lang="zh-CN" altLang="en-US" sz="2800" b="1"/>
              <a:t>）的调查结果则表明，</a:t>
            </a:r>
            <a:r>
              <a:rPr lang="en-US" altLang="zh-CN" sz="2800" b="1"/>
              <a:t>1950</a:t>
            </a:r>
            <a:r>
              <a:rPr lang="zh-CN" altLang="en-US" sz="2800" b="1"/>
              <a:t>～</a:t>
            </a:r>
            <a:r>
              <a:rPr lang="en-US" altLang="zh-CN" sz="2800" b="1"/>
              <a:t>1972</a:t>
            </a:r>
            <a:r>
              <a:rPr lang="zh-CN" altLang="en-US" sz="2800" b="1"/>
              <a:t>年的</a:t>
            </a:r>
            <a:r>
              <a:rPr lang="en-US" altLang="zh-CN" sz="2800" b="1"/>
              <a:t>23</a:t>
            </a:r>
            <a:r>
              <a:rPr lang="zh-CN" altLang="en-US" sz="2800" b="1"/>
              <a:t>年间，美国</a:t>
            </a:r>
            <a:r>
              <a:rPr lang="en-US" altLang="zh-CN" sz="2800" b="1"/>
              <a:t>1000</a:t>
            </a:r>
            <a:r>
              <a:rPr lang="zh-CN" altLang="en-US" sz="2800" b="1"/>
              <a:t>家样本企业的生存率为</a:t>
            </a:r>
            <a:r>
              <a:rPr lang="en-US" altLang="zh-CN" sz="2800" b="1"/>
              <a:t>58</a:t>
            </a:r>
            <a:r>
              <a:rPr lang="zh-CN" altLang="en-US" sz="2800" b="1"/>
              <a:t>％。 </a:t>
            </a:r>
          </a:p>
          <a:p>
            <a:pPr>
              <a:lnSpc>
                <a:spcPct val="80000"/>
              </a:lnSpc>
              <a:buFont typeface="Wingdings" panose="05000000000000000000" pitchFamily="2" charset="2"/>
              <a:buNone/>
            </a:pPr>
            <a:r>
              <a:rPr lang="en-US" altLang="zh-CN" sz="2800" b="1"/>
              <a:t>2</a:t>
            </a:r>
            <a:r>
              <a:rPr lang="zh-CN" altLang="en-US" sz="2800" b="1"/>
              <a:t>、在大企业的挤压下，中小企业的生存问题很突出。</a:t>
            </a:r>
          </a:p>
          <a:p>
            <a:pPr>
              <a:lnSpc>
                <a:spcPct val="80000"/>
              </a:lnSpc>
              <a:buFont typeface="Wingdings" panose="05000000000000000000" pitchFamily="2" charset="2"/>
              <a:buNone/>
            </a:pPr>
            <a:r>
              <a:rPr lang="en-US" altLang="zh-CN" sz="2800" b="1"/>
              <a:t>3</a:t>
            </a:r>
            <a:r>
              <a:rPr lang="zh-CN" altLang="en-US" sz="2800" b="1"/>
              <a:t>、大型企业、经营较好的公司也面临生存问题。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8435">
                                            <p:txEl>
                                              <p:pRg st="1" end="1"/>
                                            </p:txEl>
                                          </p:spTgt>
                                        </p:tgtEl>
                                        <p:attrNameLst>
                                          <p:attrName>style.visibility</p:attrName>
                                        </p:attrNameLst>
                                      </p:cBhvr>
                                      <p:to>
                                        <p:strVal val="visible"/>
                                      </p:to>
                                    </p:set>
                                    <p:animEffect transition="in" filter="box(in)">
                                      <p:cBhvr>
                                        <p:cTn id="7" dur="500"/>
                                        <p:tgtEl>
                                          <p:spTgt spid="1843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18435">
                                            <p:txEl>
                                              <p:pRg st="2" end="2"/>
                                            </p:txEl>
                                          </p:spTgt>
                                        </p:tgtEl>
                                        <p:attrNameLst>
                                          <p:attrName>style.visibility</p:attrName>
                                        </p:attrNameLst>
                                      </p:cBhvr>
                                      <p:to>
                                        <p:strVal val="visible"/>
                                      </p:to>
                                    </p:set>
                                    <p:animEffect transition="in" filter="box(in)">
                                      <p:cBhvr>
                                        <p:cTn id="12" dur="500"/>
                                        <p:tgtEl>
                                          <p:spTgt spid="1843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18435">
                                            <p:txEl>
                                              <p:pRg st="3" end="3"/>
                                            </p:txEl>
                                          </p:spTgt>
                                        </p:tgtEl>
                                        <p:attrNameLst>
                                          <p:attrName>style.visibility</p:attrName>
                                        </p:attrNameLst>
                                      </p:cBhvr>
                                      <p:to>
                                        <p:strVal val="visible"/>
                                      </p:to>
                                    </p:set>
                                    <p:animEffect transition="in" filter="box(in)">
                                      <p:cBhvr>
                                        <p:cTn id="17" dur="500"/>
                                        <p:tgtEl>
                                          <p:spTgt spid="18435">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18435">
                                            <p:txEl>
                                              <p:pRg st="4" end="4"/>
                                            </p:txEl>
                                          </p:spTgt>
                                        </p:tgtEl>
                                        <p:attrNameLst>
                                          <p:attrName>style.visibility</p:attrName>
                                        </p:attrNameLst>
                                      </p:cBhvr>
                                      <p:to>
                                        <p:strVal val="visible"/>
                                      </p:to>
                                    </p:set>
                                    <p:animEffect transition="in" filter="box(in)">
                                      <p:cBhvr>
                                        <p:cTn id="22" dur="500"/>
                                        <p:tgtEl>
                                          <p:spTgt spid="18435">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18435">
                                            <p:txEl>
                                              <p:pRg st="5" end="5"/>
                                            </p:txEl>
                                          </p:spTgt>
                                        </p:tgtEl>
                                        <p:attrNameLst>
                                          <p:attrName>style.visibility</p:attrName>
                                        </p:attrNameLst>
                                      </p:cBhvr>
                                      <p:to>
                                        <p:strVal val="visible"/>
                                      </p:to>
                                    </p:set>
                                    <p:animEffect transition="in" filter="box(in)">
                                      <p:cBhvr>
                                        <p:cTn id="27" dur="500"/>
                                        <p:tgtEl>
                                          <p:spTgt spid="1843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847EB89B-CAB1-7BA8-B064-0D30FCFD5CA8}"/>
              </a:ext>
            </a:extLst>
          </p:cNvPr>
          <p:cNvSpPr>
            <a:spLocks noGrp="1" noRot="1" noChangeArrowheads="1"/>
          </p:cNvSpPr>
          <p:nvPr>
            <p:ph type="title"/>
          </p:nvPr>
        </p:nvSpPr>
        <p:spPr/>
        <p:txBody>
          <a:bodyPr/>
          <a:lstStyle/>
          <a:p>
            <a:endParaRPr lang="zh-CN" altLang="zh-CN"/>
          </a:p>
        </p:txBody>
      </p:sp>
      <p:sp>
        <p:nvSpPr>
          <p:cNvPr id="19459" name="Rectangle 3">
            <a:extLst>
              <a:ext uri="{FF2B5EF4-FFF2-40B4-BE49-F238E27FC236}">
                <a16:creationId xmlns:a16="http://schemas.microsoft.com/office/drawing/2014/main" id="{1311CD85-BB01-81FB-D51B-D334398446A2}"/>
              </a:ext>
            </a:extLst>
          </p:cNvPr>
          <p:cNvSpPr>
            <a:spLocks noGrp="1" noRot="1" noChangeArrowheads="1"/>
          </p:cNvSpPr>
          <p:nvPr>
            <p:ph type="body" idx="1"/>
          </p:nvPr>
        </p:nvSpPr>
        <p:spPr/>
        <p:txBody>
          <a:bodyPr/>
          <a:lstStyle/>
          <a:p>
            <a:pPr>
              <a:lnSpc>
                <a:spcPct val="80000"/>
              </a:lnSpc>
              <a:buFont typeface="Wingdings" panose="05000000000000000000" pitchFamily="2" charset="2"/>
              <a:buNone/>
            </a:pPr>
            <a:r>
              <a:rPr lang="zh-CN" altLang="en-US" sz="2800" b="1"/>
              <a:t>（四）质量目标</a:t>
            </a:r>
          </a:p>
          <a:p>
            <a:pPr>
              <a:lnSpc>
                <a:spcPct val="80000"/>
              </a:lnSpc>
              <a:buFont typeface="Wingdings" panose="05000000000000000000" pitchFamily="2" charset="2"/>
              <a:buNone/>
            </a:pPr>
            <a:r>
              <a:rPr lang="zh-CN" altLang="en-US" sz="2800" b="1"/>
              <a:t>                        </a:t>
            </a:r>
            <a:r>
              <a:rPr lang="en-US" altLang="zh-CN" sz="2800" b="1"/>
              <a:t>PPA</a:t>
            </a:r>
            <a:r>
              <a:rPr lang="zh-CN" altLang="en-US" sz="2800" b="1"/>
              <a:t>与康泰克 </a:t>
            </a:r>
          </a:p>
          <a:p>
            <a:pPr>
              <a:lnSpc>
                <a:spcPct val="80000"/>
              </a:lnSpc>
              <a:buFont typeface="Wingdings" panose="05000000000000000000" pitchFamily="2" charset="2"/>
              <a:buNone/>
            </a:pPr>
            <a:r>
              <a:rPr lang="zh-CN" altLang="en-US" sz="2800" b="1"/>
              <a:t>    著名药品不良反应伤害事件备忘：</a:t>
            </a:r>
          </a:p>
          <a:p>
            <a:pPr>
              <a:lnSpc>
                <a:spcPct val="80000"/>
              </a:lnSpc>
            </a:pPr>
            <a:r>
              <a:rPr lang="zh-CN" altLang="en-US" sz="2800" b="1"/>
              <a:t>　　</a:t>
            </a:r>
            <a:r>
              <a:rPr lang="en-US" altLang="zh-CN" sz="2800" b="1"/>
              <a:t>-50</a:t>
            </a:r>
            <a:r>
              <a:rPr lang="zh-CN" altLang="en-US" sz="2800" b="1"/>
              <a:t>年代，四环素广普抗菌口服药造成一大批“四环素牙”。</a:t>
            </a:r>
          </a:p>
          <a:p>
            <a:pPr>
              <a:lnSpc>
                <a:spcPct val="80000"/>
              </a:lnSpc>
            </a:pPr>
            <a:r>
              <a:rPr lang="zh-CN" altLang="en-US" sz="2800" b="1"/>
              <a:t>　　</a:t>
            </a:r>
            <a:r>
              <a:rPr lang="en-US" altLang="zh-CN" sz="2800" b="1"/>
              <a:t>-1956</a:t>
            </a:r>
            <a:r>
              <a:rPr lang="zh-CN" altLang="en-US" sz="2800" b="1"/>
              <a:t>年</a:t>
            </a:r>
            <a:r>
              <a:rPr lang="en-US" altLang="zh-CN" sz="2800" b="1"/>
              <a:t>―1961</a:t>
            </a:r>
            <a:r>
              <a:rPr lang="zh-CN" altLang="en-US" sz="2800" b="1"/>
              <a:t>年，欧美、日本治疗妊娠反应药反应停，导致一批“海豹胎儿”的产生。</a:t>
            </a:r>
          </a:p>
          <a:p>
            <a:pPr>
              <a:lnSpc>
                <a:spcPct val="80000"/>
              </a:lnSpc>
            </a:pPr>
            <a:r>
              <a:rPr lang="zh-CN" altLang="en-US" sz="2800" b="1"/>
              <a:t>　　</a:t>
            </a:r>
            <a:r>
              <a:rPr lang="en-US" altLang="zh-CN" sz="2800" b="1"/>
              <a:t>-70―80</a:t>
            </a:r>
            <a:r>
              <a:rPr lang="zh-CN" altLang="en-US" sz="2800" b="1"/>
              <a:t>年代，链霉素、庆大霉素抗菌消炎药导致一批耳聋残疾人的产生。</a:t>
            </a:r>
          </a:p>
          <a:p>
            <a:pPr>
              <a:lnSpc>
                <a:spcPct val="80000"/>
              </a:lnSpc>
            </a:pPr>
            <a:r>
              <a:rPr lang="zh-CN" altLang="en-US" sz="2800" b="1"/>
              <a:t>　　</a:t>
            </a:r>
            <a:r>
              <a:rPr lang="en-US" altLang="zh-CN" sz="2800" b="1"/>
              <a:t>-90</a:t>
            </a:r>
            <a:r>
              <a:rPr lang="zh-CN" altLang="en-US" sz="2800" b="1"/>
              <a:t>年代初，乙双吗啉用于治疗银屑病药会引起肿瘤。</a:t>
            </a:r>
          </a:p>
          <a:p>
            <a:pPr>
              <a:lnSpc>
                <a:spcPct val="80000"/>
              </a:lnSpc>
            </a:pPr>
            <a:endParaRPr lang="en-US" altLang="zh-CN" sz="2800" b="1"/>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Effect transition="in" filter="checkerboard(across)">
                                      <p:cBhvr>
                                        <p:cTn id="7" dur="500"/>
                                        <p:tgtEl>
                                          <p:spTgt spid="194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19459">
                                            <p:txEl>
                                              <p:pRg st="1" end="1"/>
                                            </p:txEl>
                                          </p:spTgt>
                                        </p:tgtEl>
                                        <p:attrNameLst>
                                          <p:attrName>style.visibility</p:attrName>
                                        </p:attrNameLst>
                                      </p:cBhvr>
                                      <p:to>
                                        <p:strVal val="visible"/>
                                      </p:to>
                                    </p:set>
                                    <p:animEffect transition="in" filter="checkerboard(across)">
                                      <p:cBhvr>
                                        <p:cTn id="12" dur="500"/>
                                        <p:tgtEl>
                                          <p:spTgt spid="1945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19459">
                                            <p:txEl>
                                              <p:pRg st="2" end="2"/>
                                            </p:txEl>
                                          </p:spTgt>
                                        </p:tgtEl>
                                        <p:attrNameLst>
                                          <p:attrName>style.visibility</p:attrName>
                                        </p:attrNameLst>
                                      </p:cBhvr>
                                      <p:to>
                                        <p:strVal val="visible"/>
                                      </p:to>
                                    </p:set>
                                    <p:animEffect transition="in" filter="checkerboard(across)">
                                      <p:cBhvr>
                                        <p:cTn id="17" dur="500"/>
                                        <p:tgtEl>
                                          <p:spTgt spid="1945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19459">
                                            <p:txEl>
                                              <p:pRg st="3" end="3"/>
                                            </p:txEl>
                                          </p:spTgt>
                                        </p:tgtEl>
                                        <p:attrNameLst>
                                          <p:attrName>style.visibility</p:attrName>
                                        </p:attrNameLst>
                                      </p:cBhvr>
                                      <p:to>
                                        <p:strVal val="visible"/>
                                      </p:to>
                                    </p:set>
                                    <p:animEffect transition="in" filter="checkerboard(across)">
                                      <p:cBhvr>
                                        <p:cTn id="22" dur="500"/>
                                        <p:tgtEl>
                                          <p:spTgt spid="1945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19459">
                                            <p:txEl>
                                              <p:pRg st="4" end="4"/>
                                            </p:txEl>
                                          </p:spTgt>
                                        </p:tgtEl>
                                        <p:attrNameLst>
                                          <p:attrName>style.visibility</p:attrName>
                                        </p:attrNameLst>
                                      </p:cBhvr>
                                      <p:to>
                                        <p:strVal val="visible"/>
                                      </p:to>
                                    </p:set>
                                    <p:animEffect transition="in" filter="checkerboard(across)">
                                      <p:cBhvr>
                                        <p:cTn id="27" dur="500"/>
                                        <p:tgtEl>
                                          <p:spTgt spid="1945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nodeType="clickEffect">
                                  <p:stCondLst>
                                    <p:cond delay="0"/>
                                  </p:stCondLst>
                                  <p:childTnLst>
                                    <p:set>
                                      <p:cBhvr>
                                        <p:cTn id="31" dur="1" fill="hold">
                                          <p:stCondLst>
                                            <p:cond delay="0"/>
                                          </p:stCondLst>
                                        </p:cTn>
                                        <p:tgtEl>
                                          <p:spTgt spid="19459">
                                            <p:txEl>
                                              <p:pRg st="5" end="5"/>
                                            </p:txEl>
                                          </p:spTgt>
                                        </p:tgtEl>
                                        <p:attrNameLst>
                                          <p:attrName>style.visibility</p:attrName>
                                        </p:attrNameLst>
                                      </p:cBhvr>
                                      <p:to>
                                        <p:strVal val="visible"/>
                                      </p:to>
                                    </p:set>
                                    <p:animEffect transition="in" filter="checkerboard(across)">
                                      <p:cBhvr>
                                        <p:cTn id="32" dur="500"/>
                                        <p:tgtEl>
                                          <p:spTgt spid="19459">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nodeType="clickEffect">
                                  <p:stCondLst>
                                    <p:cond delay="0"/>
                                  </p:stCondLst>
                                  <p:childTnLst>
                                    <p:set>
                                      <p:cBhvr>
                                        <p:cTn id="36" dur="1" fill="hold">
                                          <p:stCondLst>
                                            <p:cond delay="0"/>
                                          </p:stCondLst>
                                        </p:cTn>
                                        <p:tgtEl>
                                          <p:spTgt spid="19459">
                                            <p:txEl>
                                              <p:pRg st="6" end="6"/>
                                            </p:txEl>
                                          </p:spTgt>
                                        </p:tgtEl>
                                        <p:attrNameLst>
                                          <p:attrName>style.visibility</p:attrName>
                                        </p:attrNameLst>
                                      </p:cBhvr>
                                      <p:to>
                                        <p:strVal val="visible"/>
                                      </p:to>
                                    </p:set>
                                    <p:animEffect transition="in" filter="checkerboard(across)">
                                      <p:cBhvr>
                                        <p:cTn id="37" dur="500"/>
                                        <p:tgtEl>
                                          <p:spTgt spid="1945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60A0EF22-C0CB-F41D-BC5D-4EB8C45698D7}"/>
              </a:ext>
            </a:extLst>
          </p:cNvPr>
          <p:cNvSpPr>
            <a:spLocks noGrp="1" noRot="1" noChangeArrowheads="1"/>
          </p:cNvSpPr>
          <p:nvPr>
            <p:ph type="title"/>
          </p:nvPr>
        </p:nvSpPr>
        <p:spPr/>
        <p:txBody>
          <a:bodyPr/>
          <a:lstStyle/>
          <a:p>
            <a:endParaRPr lang="zh-CN" altLang="zh-CN"/>
          </a:p>
        </p:txBody>
      </p:sp>
      <p:sp>
        <p:nvSpPr>
          <p:cNvPr id="20483" name="Rectangle 3">
            <a:extLst>
              <a:ext uri="{FF2B5EF4-FFF2-40B4-BE49-F238E27FC236}">
                <a16:creationId xmlns:a16="http://schemas.microsoft.com/office/drawing/2014/main" id="{5F999AA7-A5CF-70D0-4A11-EF00E8CD7844}"/>
              </a:ext>
            </a:extLst>
          </p:cNvPr>
          <p:cNvSpPr>
            <a:spLocks noGrp="1" noRot="1" noChangeArrowheads="1"/>
          </p:cNvSpPr>
          <p:nvPr>
            <p:ph type="body" idx="1"/>
          </p:nvPr>
        </p:nvSpPr>
        <p:spPr/>
        <p:txBody>
          <a:bodyPr/>
          <a:lstStyle/>
          <a:p>
            <a:pPr>
              <a:buFont typeface="Wingdings" panose="05000000000000000000" pitchFamily="2" charset="2"/>
              <a:buNone/>
            </a:pPr>
            <a:r>
              <a:rPr lang="zh-CN" altLang="en-US" b="1"/>
              <a:t>（五）增长与扩展目标</a:t>
            </a:r>
          </a:p>
          <a:p>
            <a:pPr>
              <a:buFont typeface="Wingdings" panose="05000000000000000000" pitchFamily="2" charset="2"/>
              <a:buNone/>
            </a:pPr>
            <a:r>
              <a:rPr lang="zh-CN" altLang="en-US" b="1"/>
              <a:t>                      关于海尔</a:t>
            </a:r>
          </a:p>
          <a:p>
            <a:pPr>
              <a:buFont typeface="Wingdings" panose="05000000000000000000" pitchFamily="2" charset="2"/>
              <a:buNone/>
            </a:pPr>
            <a:r>
              <a:rPr lang="zh-CN" altLang="en-US" b="1"/>
              <a:t>（六）公司经理的个人目标</a:t>
            </a:r>
          </a:p>
          <a:p>
            <a:pPr>
              <a:buFont typeface="Wingdings" panose="05000000000000000000" pitchFamily="2" charset="2"/>
              <a:buNone/>
            </a:pPr>
            <a:r>
              <a:rPr lang="zh-CN" altLang="en-US" b="1"/>
              <a:t>                     华尔街的丑闻</a:t>
            </a:r>
          </a:p>
          <a:p>
            <a:pPr>
              <a:buFont typeface="Wingdings" panose="05000000000000000000" pitchFamily="2" charset="2"/>
              <a:buNone/>
            </a:pPr>
            <a:r>
              <a:rPr lang="zh-CN" altLang="en-US" b="1"/>
              <a:t>（七）社会责任目标</a:t>
            </a:r>
          </a:p>
          <a:p>
            <a:pPr>
              <a:buFont typeface="Wingdings" panose="05000000000000000000" pitchFamily="2" charset="2"/>
              <a:buNone/>
            </a:pPr>
            <a:r>
              <a:rPr lang="zh-CN" altLang="en-US" b="1"/>
              <a:t>                     默克公司的选择</a:t>
            </a:r>
          </a:p>
          <a:p>
            <a:endParaRPr lang="en-US" altLang="zh-CN" b="1"/>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 calcmode="lin" valueType="num">
                                      <p:cBhvr additive="base">
                                        <p:cTn id="7" dur="500" fill="hold"/>
                                        <p:tgtEl>
                                          <p:spTgt spid="2048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48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0483">
                                            <p:txEl>
                                              <p:pRg st="1" end="1"/>
                                            </p:txEl>
                                          </p:spTgt>
                                        </p:tgtEl>
                                        <p:attrNameLst>
                                          <p:attrName>style.visibility</p:attrName>
                                        </p:attrNameLst>
                                      </p:cBhvr>
                                      <p:to>
                                        <p:strVal val="visible"/>
                                      </p:to>
                                    </p:set>
                                    <p:anim calcmode="lin" valueType="num">
                                      <p:cBhvr additive="base">
                                        <p:cTn id="13" dur="500" fill="hold"/>
                                        <p:tgtEl>
                                          <p:spTgt spid="2048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048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0483">
                                            <p:txEl>
                                              <p:pRg st="2" end="2"/>
                                            </p:txEl>
                                          </p:spTgt>
                                        </p:tgtEl>
                                        <p:attrNameLst>
                                          <p:attrName>style.visibility</p:attrName>
                                        </p:attrNameLst>
                                      </p:cBhvr>
                                      <p:to>
                                        <p:strVal val="visible"/>
                                      </p:to>
                                    </p:set>
                                    <p:anim calcmode="lin" valueType="num">
                                      <p:cBhvr additive="base">
                                        <p:cTn id="19" dur="500" fill="hold"/>
                                        <p:tgtEl>
                                          <p:spTgt spid="2048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048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20483">
                                            <p:txEl>
                                              <p:pRg st="3" end="3"/>
                                            </p:txEl>
                                          </p:spTgt>
                                        </p:tgtEl>
                                        <p:attrNameLst>
                                          <p:attrName>style.visibility</p:attrName>
                                        </p:attrNameLst>
                                      </p:cBhvr>
                                      <p:to>
                                        <p:strVal val="visible"/>
                                      </p:to>
                                    </p:set>
                                    <p:anim calcmode="lin" valueType="num">
                                      <p:cBhvr additive="base">
                                        <p:cTn id="25" dur="500" fill="hold"/>
                                        <p:tgtEl>
                                          <p:spTgt spid="2048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048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20483">
                                            <p:txEl>
                                              <p:pRg st="4" end="4"/>
                                            </p:txEl>
                                          </p:spTgt>
                                        </p:tgtEl>
                                        <p:attrNameLst>
                                          <p:attrName>style.visibility</p:attrName>
                                        </p:attrNameLst>
                                      </p:cBhvr>
                                      <p:to>
                                        <p:strVal val="visible"/>
                                      </p:to>
                                    </p:set>
                                    <p:anim calcmode="lin" valueType="num">
                                      <p:cBhvr additive="base">
                                        <p:cTn id="31" dur="500" fill="hold"/>
                                        <p:tgtEl>
                                          <p:spTgt spid="2048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048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20483">
                                            <p:txEl>
                                              <p:pRg st="5" end="5"/>
                                            </p:txEl>
                                          </p:spTgt>
                                        </p:tgtEl>
                                        <p:attrNameLst>
                                          <p:attrName>style.visibility</p:attrName>
                                        </p:attrNameLst>
                                      </p:cBhvr>
                                      <p:to>
                                        <p:strVal val="visible"/>
                                      </p:to>
                                    </p:set>
                                    <p:anim calcmode="lin" valueType="num">
                                      <p:cBhvr additive="base">
                                        <p:cTn id="37" dur="500" fill="hold"/>
                                        <p:tgtEl>
                                          <p:spTgt spid="2048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048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C5AEB038-42D1-9CCF-2181-FD71A8A8F77F}"/>
              </a:ext>
            </a:extLst>
          </p:cNvPr>
          <p:cNvSpPr>
            <a:spLocks noGrp="1" noRot="1" noChangeArrowheads="1"/>
          </p:cNvSpPr>
          <p:nvPr>
            <p:ph type="title"/>
          </p:nvPr>
        </p:nvSpPr>
        <p:spPr/>
        <p:txBody>
          <a:bodyPr/>
          <a:lstStyle/>
          <a:p>
            <a:endParaRPr lang="zh-CN" altLang="zh-CN"/>
          </a:p>
        </p:txBody>
      </p:sp>
      <p:sp>
        <p:nvSpPr>
          <p:cNvPr id="36867" name="Rectangle 3">
            <a:extLst>
              <a:ext uri="{FF2B5EF4-FFF2-40B4-BE49-F238E27FC236}">
                <a16:creationId xmlns:a16="http://schemas.microsoft.com/office/drawing/2014/main" id="{24E45126-BF13-784C-420E-15979133D337}"/>
              </a:ext>
            </a:extLst>
          </p:cNvPr>
          <p:cNvSpPr>
            <a:spLocks noGrp="1" noRot="1" noChangeArrowheads="1"/>
          </p:cNvSpPr>
          <p:nvPr>
            <p:ph type="body" idx="1"/>
          </p:nvPr>
        </p:nvSpPr>
        <p:spPr/>
        <p:txBody>
          <a:bodyPr/>
          <a:lstStyle/>
          <a:p>
            <a:pPr>
              <a:buFont typeface="Wingdings" panose="05000000000000000000" pitchFamily="2" charset="2"/>
              <a:buNone/>
            </a:pPr>
            <a:r>
              <a:rPr lang="en-US" altLang="zh-CN" b="1"/>
              <a:t>   1</a:t>
            </a:r>
            <a:r>
              <a:rPr lang="zh-CN" altLang="en-US" b="1"/>
              <a:t>、社会责任思想的演化</a:t>
            </a:r>
          </a:p>
          <a:p>
            <a:pPr>
              <a:buFont typeface="Wingdings" panose="05000000000000000000" pitchFamily="2" charset="2"/>
              <a:buNone/>
            </a:pPr>
            <a:r>
              <a:rPr lang="zh-CN" altLang="en-US" b="1"/>
              <a:t>   </a:t>
            </a:r>
            <a:r>
              <a:rPr lang="en-US" altLang="zh-CN" b="1"/>
              <a:t>2</a:t>
            </a:r>
            <a:r>
              <a:rPr lang="zh-CN" altLang="en-US" b="1"/>
              <a:t>、企业社会责任的现代观念</a:t>
            </a:r>
          </a:p>
          <a:p>
            <a:pPr>
              <a:buFont typeface="Wingdings" panose="05000000000000000000" pitchFamily="2" charset="2"/>
              <a:buNone/>
            </a:pPr>
            <a:r>
              <a:rPr lang="zh-CN" altLang="en-US" b="1"/>
              <a:t>             三个同心责任圈</a:t>
            </a:r>
          </a:p>
          <a:p>
            <a:pPr>
              <a:buFont typeface="Wingdings" panose="05000000000000000000" pitchFamily="2" charset="2"/>
              <a:buNone/>
            </a:pPr>
            <a:r>
              <a:rPr lang="zh-CN" altLang="en-US" b="1"/>
              <a:t>   </a:t>
            </a:r>
            <a:r>
              <a:rPr lang="en-US" altLang="zh-CN" b="1"/>
              <a:t>3</a:t>
            </a:r>
            <a:r>
              <a:rPr lang="zh-CN" altLang="en-US" b="1"/>
              <a:t>、关于企业社会责任的争论</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6867">
                                            <p:txEl>
                                              <p:pRg st="0" end="0"/>
                                            </p:txEl>
                                          </p:spTgt>
                                        </p:tgtEl>
                                        <p:attrNameLst>
                                          <p:attrName>style.visibility</p:attrName>
                                        </p:attrNameLst>
                                      </p:cBhvr>
                                      <p:to>
                                        <p:strVal val="visible"/>
                                      </p:to>
                                    </p:set>
                                    <p:anim calcmode="lin" valueType="num">
                                      <p:cBhvr additive="base">
                                        <p:cTn id="7" dur="500" fill="hold"/>
                                        <p:tgtEl>
                                          <p:spTgt spid="368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686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6867">
                                            <p:txEl>
                                              <p:pRg st="1" end="1"/>
                                            </p:txEl>
                                          </p:spTgt>
                                        </p:tgtEl>
                                        <p:attrNameLst>
                                          <p:attrName>style.visibility</p:attrName>
                                        </p:attrNameLst>
                                      </p:cBhvr>
                                      <p:to>
                                        <p:strVal val="visible"/>
                                      </p:to>
                                    </p:set>
                                    <p:anim calcmode="lin" valueType="num">
                                      <p:cBhvr additive="base">
                                        <p:cTn id="13" dur="500" fill="hold"/>
                                        <p:tgtEl>
                                          <p:spTgt spid="3686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686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6867">
                                            <p:txEl>
                                              <p:pRg st="2" end="2"/>
                                            </p:txEl>
                                          </p:spTgt>
                                        </p:tgtEl>
                                        <p:attrNameLst>
                                          <p:attrName>style.visibility</p:attrName>
                                        </p:attrNameLst>
                                      </p:cBhvr>
                                      <p:to>
                                        <p:strVal val="visible"/>
                                      </p:to>
                                    </p:set>
                                    <p:anim calcmode="lin" valueType="num">
                                      <p:cBhvr additive="base">
                                        <p:cTn id="19" dur="500" fill="hold"/>
                                        <p:tgtEl>
                                          <p:spTgt spid="3686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686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36867">
                                            <p:txEl>
                                              <p:pRg st="3" end="3"/>
                                            </p:txEl>
                                          </p:spTgt>
                                        </p:tgtEl>
                                        <p:attrNameLst>
                                          <p:attrName>style.visibility</p:attrName>
                                        </p:attrNameLst>
                                      </p:cBhvr>
                                      <p:to>
                                        <p:strVal val="visible"/>
                                      </p:to>
                                    </p:set>
                                    <p:anim calcmode="lin" valueType="num">
                                      <p:cBhvr additive="base">
                                        <p:cTn id="25" dur="500" fill="hold"/>
                                        <p:tgtEl>
                                          <p:spTgt spid="3686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686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C98B24FD-072E-A247-C53B-40B8573BB729}"/>
              </a:ext>
            </a:extLst>
          </p:cNvPr>
          <p:cNvSpPr>
            <a:spLocks noGrp="1" noRot="1" noChangeArrowheads="1"/>
          </p:cNvSpPr>
          <p:nvPr>
            <p:ph type="title"/>
          </p:nvPr>
        </p:nvSpPr>
        <p:spPr/>
        <p:txBody>
          <a:bodyPr/>
          <a:lstStyle/>
          <a:p>
            <a:endParaRPr lang="zh-CN" altLang="zh-CN"/>
          </a:p>
        </p:txBody>
      </p:sp>
      <p:sp>
        <p:nvSpPr>
          <p:cNvPr id="21507" name="Rectangle 3">
            <a:extLst>
              <a:ext uri="{FF2B5EF4-FFF2-40B4-BE49-F238E27FC236}">
                <a16:creationId xmlns:a16="http://schemas.microsoft.com/office/drawing/2014/main" id="{0B14F480-F727-31D9-04A0-2CC03E06C61A}"/>
              </a:ext>
            </a:extLst>
          </p:cNvPr>
          <p:cNvSpPr>
            <a:spLocks noGrp="1" noRot="1" noChangeArrowheads="1"/>
          </p:cNvSpPr>
          <p:nvPr>
            <p:ph type="body" idx="1"/>
          </p:nvPr>
        </p:nvSpPr>
        <p:spPr/>
        <p:txBody>
          <a:bodyPr/>
          <a:lstStyle/>
          <a:p>
            <a:pPr>
              <a:lnSpc>
                <a:spcPct val="90000"/>
              </a:lnSpc>
              <a:buFont typeface="Wingdings" panose="05000000000000000000" pitchFamily="2" charset="2"/>
              <a:buNone/>
            </a:pPr>
            <a:r>
              <a:rPr lang="zh-CN" altLang="en-US" sz="2800" b="1"/>
              <a:t>（</a:t>
            </a:r>
            <a:r>
              <a:rPr lang="en-US" altLang="zh-CN" sz="2800" b="1"/>
              <a:t>1</a:t>
            </a:r>
            <a:r>
              <a:rPr lang="zh-CN" altLang="en-US" sz="2800" b="1"/>
              <a:t>）认为企业没有社会责任。 </a:t>
            </a:r>
          </a:p>
          <a:p>
            <a:pPr>
              <a:lnSpc>
                <a:spcPct val="90000"/>
              </a:lnSpc>
              <a:buFont typeface="Wingdings" panose="05000000000000000000" pitchFamily="2" charset="2"/>
              <a:buNone/>
            </a:pPr>
            <a:r>
              <a:rPr lang="zh-CN" altLang="en-US" sz="2800" b="1"/>
              <a:t>    企业有一个并且只有一个社会责任</a:t>
            </a:r>
            <a:r>
              <a:rPr lang="en-US" altLang="zh-CN" sz="2800" b="1"/>
              <a:t>——</a:t>
            </a:r>
            <a:r>
              <a:rPr lang="zh-CN" altLang="en-US" sz="2800" b="1"/>
              <a:t>使用它的资源，按照游戏的规则，从事增加利润的活动，只要它存在一天它就如此。也就是说，在一种公开自由的环境中竞争，没有阴谋和欺骗。如果企业管理者接受这种社会责任的观念，而不是尽可能的为其股东创造价值，拉就几乎没有什么倾向能如此彻底的破坏我们这个只有社会的基础了。这种观点基本上是一种败坏社会的信条。－－米尔顿</a:t>
            </a:r>
            <a:r>
              <a:rPr lang="en-US" altLang="zh-CN" sz="2800" b="1"/>
              <a:t>·</a:t>
            </a:r>
            <a:r>
              <a:rPr lang="zh-CN" altLang="en-US" sz="2800" b="1"/>
              <a:t>弗里德曼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animEffect transition="in" filter="diamond(in)">
                                      <p:cBhvr>
                                        <p:cTn id="7" dur="2000"/>
                                        <p:tgtEl>
                                          <p:spTgt spid="2150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16" fill="hold" nodeType="clickEffect">
                                  <p:stCondLst>
                                    <p:cond delay="0"/>
                                  </p:stCondLst>
                                  <p:childTnLst>
                                    <p:set>
                                      <p:cBhvr>
                                        <p:cTn id="11" dur="1" fill="hold">
                                          <p:stCondLst>
                                            <p:cond delay="0"/>
                                          </p:stCondLst>
                                        </p:cTn>
                                        <p:tgtEl>
                                          <p:spTgt spid="21507">
                                            <p:txEl>
                                              <p:pRg st="1" end="1"/>
                                            </p:txEl>
                                          </p:spTgt>
                                        </p:tgtEl>
                                        <p:attrNameLst>
                                          <p:attrName>style.visibility</p:attrName>
                                        </p:attrNameLst>
                                      </p:cBhvr>
                                      <p:to>
                                        <p:strVal val="visible"/>
                                      </p:to>
                                    </p:set>
                                    <p:animEffect transition="in" filter="diamond(in)">
                                      <p:cBhvr>
                                        <p:cTn id="12" dur="2000"/>
                                        <p:tgtEl>
                                          <p:spTgt spid="2150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F3305B94-D32C-35BE-F02E-7C410B891309}"/>
              </a:ext>
            </a:extLst>
          </p:cNvPr>
          <p:cNvSpPr>
            <a:spLocks noGrp="1" noRot="1" noChangeArrowheads="1"/>
          </p:cNvSpPr>
          <p:nvPr>
            <p:ph type="title"/>
          </p:nvPr>
        </p:nvSpPr>
        <p:spPr/>
        <p:txBody>
          <a:bodyPr/>
          <a:lstStyle/>
          <a:p>
            <a:endParaRPr lang="zh-CN" altLang="zh-CN"/>
          </a:p>
        </p:txBody>
      </p:sp>
      <p:sp>
        <p:nvSpPr>
          <p:cNvPr id="22531" name="Rectangle 3">
            <a:extLst>
              <a:ext uri="{FF2B5EF4-FFF2-40B4-BE49-F238E27FC236}">
                <a16:creationId xmlns:a16="http://schemas.microsoft.com/office/drawing/2014/main" id="{4112A5B0-BDFB-9D68-6F74-ED00BF7F502B}"/>
              </a:ext>
            </a:extLst>
          </p:cNvPr>
          <p:cNvSpPr>
            <a:spLocks noGrp="1" noRot="1" noChangeArrowheads="1"/>
          </p:cNvSpPr>
          <p:nvPr>
            <p:ph type="body" idx="1"/>
          </p:nvPr>
        </p:nvSpPr>
        <p:spPr/>
        <p:txBody>
          <a:bodyPr/>
          <a:lstStyle/>
          <a:p>
            <a:pPr>
              <a:buFont typeface="Wingdings" panose="05000000000000000000" pitchFamily="2" charset="2"/>
              <a:buNone/>
            </a:pPr>
            <a:r>
              <a:rPr lang="zh-CN" altLang="en-US" b="1"/>
              <a:t>（</a:t>
            </a:r>
            <a:r>
              <a:rPr lang="en-US" altLang="zh-CN" b="1"/>
              <a:t>2</a:t>
            </a:r>
            <a:r>
              <a:rPr lang="zh-CN" altLang="en-US" b="1"/>
              <a:t>）认为企业有社会责任。 </a:t>
            </a:r>
          </a:p>
          <a:p>
            <a:pPr>
              <a:buFont typeface="Wingdings" panose="05000000000000000000" pitchFamily="2" charset="2"/>
              <a:buNone/>
            </a:pPr>
            <a:r>
              <a:rPr lang="zh-CN" altLang="en-US" b="1"/>
              <a:t>（</a:t>
            </a:r>
            <a:r>
              <a:rPr lang="en-US" altLang="zh-CN" b="1"/>
              <a:t>3</a:t>
            </a:r>
            <a:r>
              <a:rPr lang="zh-CN" altLang="en-US" b="1"/>
              <a:t>）认为企业承担社会责任，从长期看是有利的。</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anim calcmode="lin" valueType="num">
                                      <p:cBhvr additive="base">
                                        <p:cTn id="7" dur="500" fill="hold"/>
                                        <p:tgtEl>
                                          <p:spTgt spid="2253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253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2531">
                                            <p:txEl>
                                              <p:pRg st="1" end="1"/>
                                            </p:txEl>
                                          </p:spTgt>
                                        </p:tgtEl>
                                        <p:attrNameLst>
                                          <p:attrName>style.visibility</p:attrName>
                                        </p:attrNameLst>
                                      </p:cBhvr>
                                      <p:to>
                                        <p:strVal val="visible"/>
                                      </p:to>
                                    </p:set>
                                    <p:anim calcmode="lin" valueType="num">
                                      <p:cBhvr additive="base">
                                        <p:cTn id="13" dur="500" fill="hold"/>
                                        <p:tgtEl>
                                          <p:spTgt spid="2253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2531">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7A69E950-6E6B-2C58-BCDF-45C2F9691AB5}"/>
              </a:ext>
            </a:extLst>
          </p:cNvPr>
          <p:cNvSpPr>
            <a:spLocks noGrp="1" noRot="1" noChangeArrowheads="1"/>
          </p:cNvSpPr>
          <p:nvPr>
            <p:ph type="title"/>
          </p:nvPr>
        </p:nvSpPr>
        <p:spPr/>
        <p:txBody>
          <a:bodyPr/>
          <a:lstStyle/>
          <a:p>
            <a:endParaRPr lang="zh-CN" altLang="zh-CN"/>
          </a:p>
        </p:txBody>
      </p:sp>
      <p:sp>
        <p:nvSpPr>
          <p:cNvPr id="23555" name="Rectangle 3">
            <a:extLst>
              <a:ext uri="{FF2B5EF4-FFF2-40B4-BE49-F238E27FC236}">
                <a16:creationId xmlns:a16="http://schemas.microsoft.com/office/drawing/2014/main" id="{FCD25D45-975A-4E87-586A-C3BDB5BAF834}"/>
              </a:ext>
            </a:extLst>
          </p:cNvPr>
          <p:cNvSpPr>
            <a:spLocks noGrp="1" noRot="1" noChangeArrowheads="1"/>
          </p:cNvSpPr>
          <p:nvPr>
            <p:ph type="body" idx="1"/>
          </p:nvPr>
        </p:nvSpPr>
        <p:spPr/>
        <p:txBody>
          <a:bodyPr/>
          <a:lstStyle/>
          <a:p>
            <a:pPr>
              <a:buFont typeface="Wingdings" panose="05000000000000000000" pitchFamily="2" charset="2"/>
              <a:buNone/>
            </a:pPr>
            <a:r>
              <a:rPr lang="zh-CN" altLang="en-US" b="1"/>
              <a:t>四、企业目标的约束因素：</a:t>
            </a:r>
          </a:p>
          <a:p>
            <a:pPr>
              <a:buFont typeface="Wingdings" panose="05000000000000000000" pitchFamily="2" charset="2"/>
              <a:buNone/>
            </a:pPr>
            <a:r>
              <a:rPr lang="en-US" altLang="zh-CN" b="1"/>
              <a:t>1</a:t>
            </a:r>
            <a:r>
              <a:rPr lang="zh-CN" altLang="en-US" b="1"/>
              <a:t>、外部约束因素： </a:t>
            </a:r>
          </a:p>
          <a:p>
            <a:pPr>
              <a:buFont typeface="Wingdings" panose="05000000000000000000" pitchFamily="2" charset="2"/>
              <a:buNone/>
            </a:pPr>
            <a:r>
              <a:rPr lang="zh-CN" altLang="en-US" b="1"/>
              <a:t>（</a:t>
            </a:r>
            <a:r>
              <a:rPr lang="en-US" altLang="zh-CN" b="1"/>
              <a:t>1</a:t>
            </a:r>
            <a:r>
              <a:rPr lang="zh-CN" altLang="en-US" b="1"/>
              <a:t>）政府管制</a:t>
            </a:r>
          </a:p>
          <a:p>
            <a:pPr>
              <a:buFont typeface="Wingdings" panose="05000000000000000000" pitchFamily="2" charset="2"/>
              <a:buNone/>
            </a:pPr>
            <a:r>
              <a:rPr lang="zh-CN" altLang="en-US" b="1"/>
              <a:t>（</a:t>
            </a:r>
            <a:r>
              <a:rPr lang="en-US" altLang="zh-CN" b="1"/>
              <a:t>2</a:t>
            </a:r>
            <a:r>
              <a:rPr lang="zh-CN" altLang="en-US" b="1"/>
              <a:t>）市场状况</a:t>
            </a:r>
          </a:p>
          <a:p>
            <a:pPr>
              <a:buFont typeface="Wingdings" panose="05000000000000000000" pitchFamily="2" charset="2"/>
              <a:buNone/>
            </a:pPr>
            <a:r>
              <a:rPr lang="zh-CN" altLang="en-US" b="1"/>
              <a:t>（</a:t>
            </a:r>
            <a:r>
              <a:rPr lang="en-US" altLang="zh-CN" b="1"/>
              <a:t>3</a:t>
            </a:r>
            <a:r>
              <a:rPr lang="zh-CN" altLang="en-US" b="1"/>
              <a:t>）技术限制 </a:t>
            </a:r>
          </a:p>
          <a:p>
            <a:pPr>
              <a:buFont typeface="Wingdings" panose="05000000000000000000" pitchFamily="2" charset="2"/>
              <a:buNone/>
            </a:pPr>
            <a:r>
              <a:rPr lang="en-US" altLang="zh-CN" b="1"/>
              <a:t>2</a:t>
            </a:r>
            <a:r>
              <a:rPr lang="zh-CN" altLang="en-US" b="1"/>
              <a:t>、目标之间的一致性与不一致性</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anim calcmode="lin" valueType="num">
                                      <p:cBhvr additive="base">
                                        <p:cTn id="7" dur="500" fill="hold"/>
                                        <p:tgtEl>
                                          <p:spTgt spid="2355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355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3555">
                                            <p:txEl>
                                              <p:pRg st="1" end="1"/>
                                            </p:txEl>
                                          </p:spTgt>
                                        </p:tgtEl>
                                        <p:attrNameLst>
                                          <p:attrName>style.visibility</p:attrName>
                                        </p:attrNameLst>
                                      </p:cBhvr>
                                      <p:to>
                                        <p:strVal val="visible"/>
                                      </p:to>
                                    </p:set>
                                    <p:anim calcmode="lin" valueType="num">
                                      <p:cBhvr additive="base">
                                        <p:cTn id="13" dur="500" fill="hold"/>
                                        <p:tgtEl>
                                          <p:spTgt spid="2355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355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3555">
                                            <p:txEl>
                                              <p:pRg st="2" end="2"/>
                                            </p:txEl>
                                          </p:spTgt>
                                        </p:tgtEl>
                                        <p:attrNameLst>
                                          <p:attrName>style.visibility</p:attrName>
                                        </p:attrNameLst>
                                      </p:cBhvr>
                                      <p:to>
                                        <p:strVal val="visible"/>
                                      </p:to>
                                    </p:set>
                                    <p:anim calcmode="lin" valueType="num">
                                      <p:cBhvr additive="base">
                                        <p:cTn id="19" dur="500" fill="hold"/>
                                        <p:tgtEl>
                                          <p:spTgt spid="2355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355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23555">
                                            <p:txEl>
                                              <p:pRg st="3" end="3"/>
                                            </p:txEl>
                                          </p:spTgt>
                                        </p:tgtEl>
                                        <p:attrNameLst>
                                          <p:attrName>style.visibility</p:attrName>
                                        </p:attrNameLst>
                                      </p:cBhvr>
                                      <p:to>
                                        <p:strVal val="visible"/>
                                      </p:to>
                                    </p:set>
                                    <p:anim calcmode="lin" valueType="num">
                                      <p:cBhvr additive="base">
                                        <p:cTn id="25" dur="500" fill="hold"/>
                                        <p:tgtEl>
                                          <p:spTgt spid="2355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355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23555">
                                            <p:txEl>
                                              <p:pRg st="4" end="4"/>
                                            </p:txEl>
                                          </p:spTgt>
                                        </p:tgtEl>
                                        <p:attrNameLst>
                                          <p:attrName>style.visibility</p:attrName>
                                        </p:attrNameLst>
                                      </p:cBhvr>
                                      <p:to>
                                        <p:strVal val="visible"/>
                                      </p:to>
                                    </p:set>
                                    <p:anim calcmode="lin" valueType="num">
                                      <p:cBhvr additive="base">
                                        <p:cTn id="31" dur="500" fill="hold"/>
                                        <p:tgtEl>
                                          <p:spTgt spid="2355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355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23555">
                                            <p:txEl>
                                              <p:pRg st="5" end="5"/>
                                            </p:txEl>
                                          </p:spTgt>
                                        </p:tgtEl>
                                        <p:attrNameLst>
                                          <p:attrName>style.visibility</p:attrName>
                                        </p:attrNameLst>
                                      </p:cBhvr>
                                      <p:to>
                                        <p:strVal val="visible"/>
                                      </p:to>
                                    </p:set>
                                    <p:anim calcmode="lin" valueType="num">
                                      <p:cBhvr additive="base">
                                        <p:cTn id="37" dur="500" fill="hold"/>
                                        <p:tgtEl>
                                          <p:spTgt spid="2355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355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050D522F-1AD5-45BA-85F8-F712F8C93A24}"/>
              </a:ext>
            </a:extLst>
          </p:cNvPr>
          <p:cNvSpPr>
            <a:spLocks noGrp="1" noRot="1" noChangeArrowheads="1"/>
          </p:cNvSpPr>
          <p:nvPr>
            <p:ph type="title"/>
          </p:nvPr>
        </p:nvSpPr>
        <p:spPr/>
        <p:txBody>
          <a:bodyPr/>
          <a:lstStyle/>
          <a:p>
            <a:r>
              <a:rPr lang="zh-CN" altLang="en-US" b="1"/>
              <a:t>第二节  公司目标的经验研究</a:t>
            </a:r>
          </a:p>
        </p:txBody>
      </p:sp>
      <p:sp>
        <p:nvSpPr>
          <p:cNvPr id="24579" name="Rectangle 3">
            <a:extLst>
              <a:ext uri="{FF2B5EF4-FFF2-40B4-BE49-F238E27FC236}">
                <a16:creationId xmlns:a16="http://schemas.microsoft.com/office/drawing/2014/main" id="{7F979294-F542-6B44-431E-322A407BB1A3}"/>
              </a:ext>
            </a:extLst>
          </p:cNvPr>
          <p:cNvSpPr>
            <a:spLocks noGrp="1" noRot="1" noChangeArrowheads="1"/>
          </p:cNvSpPr>
          <p:nvPr>
            <p:ph type="body" idx="1"/>
          </p:nvPr>
        </p:nvSpPr>
        <p:spPr/>
        <p:txBody>
          <a:bodyPr/>
          <a:lstStyle/>
          <a:p>
            <a:r>
              <a:rPr lang="zh-CN" altLang="en-US" b="1"/>
              <a:t>日本企业目标变化的实证分析：</a:t>
            </a:r>
          </a:p>
          <a:p>
            <a:pPr>
              <a:buFont typeface="Wingdings" panose="05000000000000000000" pitchFamily="2" charset="2"/>
              <a:buNone/>
            </a:pPr>
            <a:r>
              <a:rPr lang="zh-CN" altLang="en-US" b="1"/>
              <a:t>  </a:t>
            </a:r>
            <a:r>
              <a:rPr lang="en-US" altLang="zh-CN" sz="1800" b="1"/>
              <a:t>1</a:t>
            </a:r>
            <a:r>
              <a:rPr lang="zh-CN" altLang="en-US" sz="1800" b="1"/>
              <a:t>、经营目标的优先度：</a:t>
            </a:r>
          </a:p>
          <a:p>
            <a:pPr>
              <a:buFont typeface="Wingdings" panose="05000000000000000000" pitchFamily="2" charset="2"/>
              <a:buNone/>
            </a:pPr>
            <a:endParaRPr lang="en-US" altLang="zh-CN" sz="1800" b="1"/>
          </a:p>
        </p:txBody>
      </p:sp>
      <p:graphicFrame>
        <p:nvGraphicFramePr>
          <p:cNvPr id="24772" name="Group 196">
            <a:extLst>
              <a:ext uri="{FF2B5EF4-FFF2-40B4-BE49-F238E27FC236}">
                <a16:creationId xmlns:a16="http://schemas.microsoft.com/office/drawing/2014/main" id="{B83BCBFB-FFAC-E495-10D5-59DF05374079}"/>
              </a:ext>
            </a:extLst>
          </p:cNvPr>
          <p:cNvGraphicFramePr>
            <a:graphicFrameLocks noGrp="1"/>
          </p:cNvGraphicFramePr>
          <p:nvPr/>
        </p:nvGraphicFramePr>
        <p:xfrm>
          <a:off x="1619250" y="2852738"/>
          <a:ext cx="5410200" cy="2927350"/>
        </p:xfrm>
        <a:graphic>
          <a:graphicData uri="http://schemas.openxmlformats.org/drawingml/2006/table">
            <a:tbl>
              <a:tblPr/>
              <a:tblGrid>
                <a:gridCol w="1800225">
                  <a:extLst>
                    <a:ext uri="{9D8B030D-6E8A-4147-A177-3AD203B41FA5}">
                      <a16:colId xmlns:a16="http://schemas.microsoft.com/office/drawing/2014/main" val="1589658401"/>
                    </a:ext>
                  </a:extLst>
                </a:gridCol>
                <a:gridCol w="1806575">
                  <a:extLst>
                    <a:ext uri="{9D8B030D-6E8A-4147-A177-3AD203B41FA5}">
                      <a16:colId xmlns:a16="http://schemas.microsoft.com/office/drawing/2014/main" val="1426184161"/>
                    </a:ext>
                  </a:extLst>
                </a:gridCol>
                <a:gridCol w="1803400">
                  <a:extLst>
                    <a:ext uri="{9D8B030D-6E8A-4147-A177-3AD203B41FA5}">
                      <a16:colId xmlns:a16="http://schemas.microsoft.com/office/drawing/2014/main" val="2535737969"/>
                    </a:ext>
                  </a:extLst>
                </a:gridCol>
              </a:tblGrid>
              <a:tr h="274638">
                <a:tc>
                  <a:txBody>
                    <a:bodyPr/>
                    <a:lstStyle>
                      <a:lvl1pPr>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经营目标</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经营目标的分平均值（过去）</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经营目标的分平均值（将来）</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41118632"/>
                  </a:ext>
                </a:extLst>
              </a:tr>
              <a:tr h="274638">
                <a:tc>
                  <a:txBody>
                    <a:bodyPr/>
                    <a:lstStyle>
                      <a:lvl1pPr>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销售收益率</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1.6</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1.79</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58312731"/>
                  </a:ext>
                </a:extLst>
              </a:tr>
              <a:tr h="274638">
                <a:tc>
                  <a:txBody>
                    <a:bodyPr/>
                    <a:lstStyle>
                      <a:lvl1pPr>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市场占有率</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1.54</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0.80</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87538540"/>
                  </a:ext>
                </a:extLst>
              </a:tr>
              <a:tr h="274638">
                <a:tc>
                  <a:txBody>
                    <a:bodyPr/>
                    <a:lstStyle>
                      <a:lvl1pPr>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增长率</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1.32</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1.05</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63601639"/>
                  </a:ext>
                </a:extLst>
              </a:tr>
              <a:tr h="274638">
                <a:tc>
                  <a:txBody>
                    <a:bodyPr/>
                    <a:lstStyle>
                      <a:lvl1pPr>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安定性</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0.69</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0.63</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86640707"/>
                  </a:ext>
                </a:extLst>
              </a:tr>
              <a:tr h="274638">
                <a:tc>
                  <a:txBody>
                    <a:bodyPr/>
                    <a:lstStyle>
                      <a:lvl1pPr>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总资本收益率</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0.29</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0.56</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50552208"/>
                  </a:ext>
                </a:extLst>
              </a:tr>
              <a:tr h="274638">
                <a:tc>
                  <a:txBody>
                    <a:bodyPr/>
                    <a:lstStyle>
                      <a:lvl1pPr>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多角化</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0.29</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0.27</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81861070"/>
                  </a:ext>
                </a:extLst>
              </a:tr>
              <a:tr h="274638">
                <a:tc>
                  <a:txBody>
                    <a:bodyPr/>
                    <a:lstStyle>
                      <a:lvl1pPr>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ROE</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0.18</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0.80</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61884502"/>
                  </a:ext>
                </a:extLst>
              </a:tr>
              <a:tr h="274638">
                <a:tc>
                  <a:txBody>
                    <a:bodyPr/>
                    <a:lstStyle>
                      <a:lvl1pPr>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PER</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0.03</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0.05</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08883595"/>
                  </a:ext>
                </a:extLst>
              </a:tr>
              <a:tr h="274638">
                <a:tc>
                  <a:txBody>
                    <a:bodyPr/>
                    <a:lstStyle>
                      <a:lvl1pPr>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其他</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0.07</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0.05</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02687657"/>
                  </a:ext>
                </a:extLst>
              </a:tr>
            </a:tbl>
          </a:graphicData>
        </a:graphic>
      </p:graphicFrame>
      <p:sp>
        <p:nvSpPr>
          <p:cNvPr id="24771" name="Rectangle 195">
            <a:extLst>
              <a:ext uri="{FF2B5EF4-FFF2-40B4-BE49-F238E27FC236}">
                <a16:creationId xmlns:a16="http://schemas.microsoft.com/office/drawing/2014/main" id="{A8FA3F69-9703-57C7-8020-D41BFA0B6A18}"/>
              </a:ext>
            </a:extLst>
          </p:cNvPr>
          <p:cNvSpPr>
            <a:spLocks noChangeArrowheads="1"/>
          </p:cNvSpPr>
          <p:nvPr/>
        </p:nvSpPr>
        <p:spPr bwMode="auto">
          <a:xfrm>
            <a:off x="755650" y="5805488"/>
            <a:ext cx="70802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zh-CN" altLang="en-US" sz="1600">
                <a:latin typeface="Times New Roman" panose="02020603050405020304" pitchFamily="18" charset="0"/>
                <a:cs typeface="Times New Roman" panose="02020603050405020304" pitchFamily="18" charset="0"/>
              </a:rPr>
              <a:t>（数字是经营目标排首位得</a:t>
            </a:r>
            <a:r>
              <a:rPr lang="en-US" altLang="zh-CN" sz="1600">
                <a:latin typeface="Times New Roman" panose="02020603050405020304" pitchFamily="18" charset="0"/>
                <a:cs typeface="Times New Roman" panose="02020603050405020304" pitchFamily="18" charset="0"/>
              </a:rPr>
              <a:t>3</a:t>
            </a:r>
            <a:r>
              <a:rPr lang="zh-CN" altLang="en-US" sz="1600">
                <a:latin typeface="Times New Roman" panose="02020603050405020304" pitchFamily="18" charset="0"/>
                <a:cs typeface="Times New Roman" panose="02020603050405020304" pitchFamily="18" charset="0"/>
              </a:rPr>
              <a:t>分、第</a:t>
            </a:r>
            <a:r>
              <a:rPr lang="en-US" altLang="zh-CN" sz="1600">
                <a:latin typeface="Times New Roman" panose="02020603050405020304" pitchFamily="18" charset="0"/>
                <a:cs typeface="Times New Roman" panose="02020603050405020304" pitchFamily="18" charset="0"/>
              </a:rPr>
              <a:t>2</a:t>
            </a:r>
            <a:r>
              <a:rPr lang="zh-CN" altLang="en-US" sz="1600">
                <a:latin typeface="Times New Roman" panose="02020603050405020304" pitchFamily="18" charset="0"/>
                <a:cs typeface="Times New Roman" panose="02020603050405020304" pitchFamily="18" charset="0"/>
              </a:rPr>
              <a:t>位得</a:t>
            </a:r>
            <a:r>
              <a:rPr lang="en-US" altLang="zh-CN" sz="1600">
                <a:latin typeface="Times New Roman" panose="02020603050405020304" pitchFamily="18" charset="0"/>
                <a:cs typeface="Times New Roman" panose="02020603050405020304" pitchFamily="18" charset="0"/>
              </a:rPr>
              <a:t>2</a:t>
            </a:r>
            <a:r>
              <a:rPr lang="zh-CN" altLang="en-US" sz="1600">
                <a:latin typeface="Times New Roman" panose="02020603050405020304" pitchFamily="18" charset="0"/>
                <a:cs typeface="Times New Roman" panose="02020603050405020304" pitchFamily="18" charset="0"/>
              </a:rPr>
              <a:t>分、第</a:t>
            </a:r>
            <a:r>
              <a:rPr lang="en-US" altLang="zh-CN" sz="1600">
                <a:latin typeface="Times New Roman" panose="02020603050405020304" pitchFamily="18" charset="0"/>
                <a:cs typeface="Times New Roman" panose="02020603050405020304" pitchFamily="18" charset="0"/>
              </a:rPr>
              <a:t>3</a:t>
            </a:r>
            <a:r>
              <a:rPr lang="zh-CN" altLang="en-US" sz="1600">
                <a:latin typeface="Times New Roman" panose="02020603050405020304" pitchFamily="18" charset="0"/>
                <a:cs typeface="Times New Roman" panose="02020603050405020304" pitchFamily="18" charset="0"/>
              </a:rPr>
              <a:t>位得</a:t>
            </a:r>
            <a:r>
              <a:rPr lang="en-US" altLang="zh-CN" sz="1600">
                <a:latin typeface="Times New Roman" panose="02020603050405020304" pitchFamily="18" charset="0"/>
                <a:cs typeface="Times New Roman" panose="02020603050405020304" pitchFamily="18" charset="0"/>
              </a:rPr>
              <a:t>1</a:t>
            </a:r>
            <a:r>
              <a:rPr lang="zh-CN" altLang="en-US" sz="1600">
                <a:latin typeface="Times New Roman" panose="02020603050405020304" pitchFamily="18" charset="0"/>
                <a:cs typeface="Times New Roman" panose="02020603050405020304" pitchFamily="18" charset="0"/>
              </a:rPr>
              <a:t>分的平均值）</a:t>
            </a:r>
            <a:endParaRPr lang="zh-CN" altLang="en-US" sz="16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animEffect transition="in" filter="blinds(horizontal)">
                                      <p:cBhvr>
                                        <p:cTn id="7" dur="500"/>
                                        <p:tgtEl>
                                          <p:spTgt spid="2457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4579">
                                            <p:txEl>
                                              <p:pRg st="1" end="1"/>
                                            </p:txEl>
                                          </p:spTgt>
                                        </p:tgtEl>
                                        <p:attrNameLst>
                                          <p:attrName>style.visibility</p:attrName>
                                        </p:attrNameLst>
                                      </p:cBhvr>
                                      <p:to>
                                        <p:strVal val="visible"/>
                                      </p:to>
                                    </p:set>
                                    <p:animEffect transition="in" filter="blinds(horizontal)">
                                      <p:cBhvr>
                                        <p:cTn id="12" dur="500"/>
                                        <p:tgtEl>
                                          <p:spTgt spid="2457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B56680DF-ECC0-D9DC-1F4A-A654FAB5BB32}"/>
              </a:ext>
            </a:extLst>
          </p:cNvPr>
          <p:cNvSpPr>
            <a:spLocks noGrp="1" noRot="1" noChangeArrowheads="1"/>
          </p:cNvSpPr>
          <p:nvPr>
            <p:ph type="title"/>
          </p:nvPr>
        </p:nvSpPr>
        <p:spPr/>
        <p:txBody>
          <a:bodyPr/>
          <a:lstStyle/>
          <a:p>
            <a:endParaRPr lang="zh-CN" altLang="zh-CN"/>
          </a:p>
        </p:txBody>
      </p:sp>
      <p:sp>
        <p:nvSpPr>
          <p:cNvPr id="25603" name="Rectangle 3">
            <a:extLst>
              <a:ext uri="{FF2B5EF4-FFF2-40B4-BE49-F238E27FC236}">
                <a16:creationId xmlns:a16="http://schemas.microsoft.com/office/drawing/2014/main" id="{18101BC7-18C5-5778-2B77-1059C2380094}"/>
              </a:ext>
            </a:extLst>
          </p:cNvPr>
          <p:cNvSpPr>
            <a:spLocks noGrp="1" noRot="1" noChangeArrowheads="1"/>
          </p:cNvSpPr>
          <p:nvPr>
            <p:ph type="body" idx="1"/>
          </p:nvPr>
        </p:nvSpPr>
        <p:spPr/>
        <p:txBody>
          <a:bodyPr/>
          <a:lstStyle/>
          <a:p>
            <a:pPr>
              <a:buFont typeface="Wingdings" panose="05000000000000000000" pitchFamily="2" charset="2"/>
              <a:buNone/>
            </a:pPr>
            <a:r>
              <a:rPr lang="en-US" altLang="zh-CN" b="1"/>
              <a:t>   </a:t>
            </a:r>
            <a:r>
              <a:rPr lang="zh-CN" altLang="en-US" b="1"/>
              <a:t>（</a:t>
            </a:r>
            <a:r>
              <a:rPr lang="en-US" altLang="zh-CN" b="1"/>
              <a:t>1</a:t>
            </a:r>
            <a:r>
              <a:rPr lang="zh-CN" altLang="en-US" b="1"/>
              <a:t>）对市场占有率、增长率的重视程度显著降低。</a:t>
            </a:r>
          </a:p>
          <a:p>
            <a:pPr>
              <a:buFont typeface="Wingdings" panose="05000000000000000000" pitchFamily="2" charset="2"/>
              <a:buNone/>
            </a:pPr>
            <a:r>
              <a:rPr lang="zh-CN" altLang="en-US" b="1"/>
              <a:t>   （</a:t>
            </a:r>
            <a:r>
              <a:rPr lang="en-US" altLang="zh-CN" b="1"/>
              <a:t>2</a:t>
            </a:r>
            <a:r>
              <a:rPr lang="zh-CN" altLang="en-US" b="1"/>
              <a:t>）对收益率的重视程度上升。</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anim calcmode="lin" valueType="num">
                                      <p:cBhvr additive="base">
                                        <p:cTn id="7" dur="500" fill="hold"/>
                                        <p:tgtEl>
                                          <p:spTgt spid="2560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560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5603">
                                            <p:txEl>
                                              <p:pRg st="1" end="1"/>
                                            </p:txEl>
                                          </p:spTgt>
                                        </p:tgtEl>
                                        <p:attrNameLst>
                                          <p:attrName>style.visibility</p:attrName>
                                        </p:attrNameLst>
                                      </p:cBhvr>
                                      <p:to>
                                        <p:strVal val="visible"/>
                                      </p:to>
                                    </p:set>
                                    <p:anim calcmode="lin" valueType="num">
                                      <p:cBhvr additive="base">
                                        <p:cTn id="13" dur="500" fill="hold"/>
                                        <p:tgtEl>
                                          <p:spTgt spid="2560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560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52" name="Rectangle 280">
            <a:extLst>
              <a:ext uri="{FF2B5EF4-FFF2-40B4-BE49-F238E27FC236}">
                <a16:creationId xmlns:a16="http://schemas.microsoft.com/office/drawing/2014/main" id="{D47AE1C5-3AE8-DF74-E3E2-66BE86A0BD5F}"/>
              </a:ext>
            </a:extLst>
          </p:cNvPr>
          <p:cNvSpPr>
            <a:spLocks noGrp="1" noRot="1" noChangeArrowheads="1"/>
          </p:cNvSpPr>
          <p:nvPr>
            <p:ph type="title"/>
          </p:nvPr>
        </p:nvSpPr>
        <p:spPr/>
        <p:txBody>
          <a:bodyPr/>
          <a:lstStyle/>
          <a:p>
            <a:endParaRPr lang="zh-CN" altLang="zh-CN"/>
          </a:p>
        </p:txBody>
      </p:sp>
      <p:sp>
        <p:nvSpPr>
          <p:cNvPr id="28675" name="Rectangle 3">
            <a:extLst>
              <a:ext uri="{FF2B5EF4-FFF2-40B4-BE49-F238E27FC236}">
                <a16:creationId xmlns:a16="http://schemas.microsoft.com/office/drawing/2014/main" id="{54F810C9-6015-0F7F-1E6E-B6BB7E136668}"/>
              </a:ext>
            </a:extLst>
          </p:cNvPr>
          <p:cNvSpPr>
            <a:spLocks noGrp="1" noRot="1" noChangeArrowheads="1"/>
          </p:cNvSpPr>
          <p:nvPr>
            <p:ph type="body" sz="half" idx="1"/>
          </p:nvPr>
        </p:nvSpPr>
        <p:spPr>
          <a:xfrm>
            <a:off x="533400" y="1673225"/>
            <a:ext cx="3960813" cy="4498975"/>
          </a:xfrm>
        </p:spPr>
        <p:txBody>
          <a:bodyPr/>
          <a:lstStyle/>
          <a:p>
            <a:endParaRPr lang="en-US" altLang="zh-CN" sz="2800"/>
          </a:p>
          <a:p>
            <a:endParaRPr lang="en-US" altLang="zh-CN" sz="2800"/>
          </a:p>
          <a:p>
            <a:endParaRPr lang="en-US" altLang="zh-CN" sz="2800"/>
          </a:p>
          <a:p>
            <a:endParaRPr lang="en-US" altLang="zh-CN" sz="2800"/>
          </a:p>
          <a:p>
            <a:endParaRPr lang="en-US" altLang="zh-CN" sz="2800"/>
          </a:p>
        </p:txBody>
      </p:sp>
      <p:sp>
        <p:nvSpPr>
          <p:cNvPr id="28676" name="Text Box 4">
            <a:extLst>
              <a:ext uri="{FF2B5EF4-FFF2-40B4-BE49-F238E27FC236}">
                <a16:creationId xmlns:a16="http://schemas.microsoft.com/office/drawing/2014/main" id="{0B8761B9-7045-4662-2C40-26D73E496224}"/>
              </a:ext>
            </a:extLst>
          </p:cNvPr>
          <p:cNvSpPr txBox="1">
            <a:spLocks noChangeArrowheads="1"/>
          </p:cNvSpPr>
          <p:nvPr/>
        </p:nvSpPr>
        <p:spPr bwMode="auto">
          <a:xfrm>
            <a:off x="1908175" y="1557338"/>
            <a:ext cx="66246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zh-CN" altLang="zh-CN"/>
          </a:p>
        </p:txBody>
      </p:sp>
      <p:graphicFrame>
        <p:nvGraphicFramePr>
          <p:cNvPr id="28970" name="Group 298">
            <a:extLst>
              <a:ext uri="{FF2B5EF4-FFF2-40B4-BE49-F238E27FC236}">
                <a16:creationId xmlns:a16="http://schemas.microsoft.com/office/drawing/2014/main" id="{92E33971-7E0C-7F48-1327-ED8F4DBFD76E}"/>
              </a:ext>
            </a:extLst>
          </p:cNvPr>
          <p:cNvGraphicFramePr>
            <a:graphicFrameLocks noGrp="1"/>
          </p:cNvGraphicFramePr>
          <p:nvPr>
            <p:ph sz="half" idx="2"/>
          </p:nvPr>
        </p:nvGraphicFramePr>
        <p:xfrm>
          <a:off x="395288" y="2133600"/>
          <a:ext cx="8064500" cy="3527425"/>
        </p:xfrm>
        <a:graphic>
          <a:graphicData uri="http://schemas.openxmlformats.org/drawingml/2006/table">
            <a:tbl>
              <a:tblPr/>
              <a:tblGrid>
                <a:gridCol w="2305050">
                  <a:extLst>
                    <a:ext uri="{9D8B030D-6E8A-4147-A177-3AD203B41FA5}">
                      <a16:colId xmlns:a16="http://schemas.microsoft.com/office/drawing/2014/main" val="144776912"/>
                    </a:ext>
                  </a:extLst>
                </a:gridCol>
                <a:gridCol w="1223962">
                  <a:extLst>
                    <a:ext uri="{9D8B030D-6E8A-4147-A177-3AD203B41FA5}">
                      <a16:colId xmlns:a16="http://schemas.microsoft.com/office/drawing/2014/main" val="2999774889"/>
                    </a:ext>
                  </a:extLst>
                </a:gridCol>
                <a:gridCol w="1152525">
                  <a:extLst>
                    <a:ext uri="{9D8B030D-6E8A-4147-A177-3AD203B41FA5}">
                      <a16:colId xmlns:a16="http://schemas.microsoft.com/office/drawing/2014/main" val="1282718331"/>
                    </a:ext>
                  </a:extLst>
                </a:gridCol>
                <a:gridCol w="1079500">
                  <a:extLst>
                    <a:ext uri="{9D8B030D-6E8A-4147-A177-3AD203B41FA5}">
                      <a16:colId xmlns:a16="http://schemas.microsoft.com/office/drawing/2014/main" val="2403385052"/>
                    </a:ext>
                  </a:extLst>
                </a:gridCol>
                <a:gridCol w="1152525">
                  <a:extLst>
                    <a:ext uri="{9D8B030D-6E8A-4147-A177-3AD203B41FA5}">
                      <a16:colId xmlns:a16="http://schemas.microsoft.com/office/drawing/2014/main" val="3003094542"/>
                    </a:ext>
                  </a:extLst>
                </a:gridCol>
                <a:gridCol w="1150938">
                  <a:extLst>
                    <a:ext uri="{9D8B030D-6E8A-4147-A177-3AD203B41FA5}">
                      <a16:colId xmlns:a16="http://schemas.microsoft.com/office/drawing/2014/main" val="3931557582"/>
                    </a:ext>
                  </a:extLst>
                </a:gridCol>
              </a:tblGrid>
              <a:tr h="790575">
                <a:tc>
                  <a:txBody>
                    <a:bodyPr/>
                    <a:lstStyle>
                      <a:lvl1pPr>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dist"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完全符合</a:t>
                      </a:r>
                    </a:p>
                    <a:p>
                      <a:pPr marL="342900" marR="0" lvl="0" indent="-342900" algn="dist" defTabSz="914400" rtl="0" eaLnBrk="0" fontAlgn="base" latinLnBrk="0" hangingPunct="0">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dist"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大体符合</a:t>
                      </a:r>
                    </a:p>
                    <a:p>
                      <a:pPr marL="342900" marR="0" lvl="0" indent="-342900" algn="dist" defTabSz="914400" rtl="0" eaLnBrk="0" fontAlgn="base" latinLnBrk="0" hangingPunct="0">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dist"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有点符合</a:t>
                      </a:r>
                    </a:p>
                    <a:p>
                      <a:pPr marL="342900" marR="0" lvl="0" indent="-342900" algn="dist" defTabSz="914400" rtl="0" eaLnBrk="0" fontAlgn="base" latinLnBrk="0" hangingPunct="0">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dist"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几乎不符</a:t>
                      </a:r>
                    </a:p>
                    <a:p>
                      <a:pPr marL="342900" marR="0" lvl="0" indent="-342900" algn="dist" defTabSz="914400" rtl="0" eaLnBrk="0" fontAlgn="base" latinLnBrk="0" hangingPunct="0">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dist"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完全不符</a:t>
                      </a:r>
                    </a:p>
                    <a:p>
                      <a:pPr marL="342900" marR="0" lvl="0" indent="-342900" algn="dist" defTabSz="914400" rtl="0" eaLnBrk="0" fontAlgn="base" latinLnBrk="0" hangingPunct="0">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79359200"/>
                  </a:ext>
                </a:extLst>
              </a:tr>
              <a:tr h="488950">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积极的组织革新</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19.9</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47.4</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26.3</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5.8</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0.6</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91996626"/>
                  </a:ext>
                </a:extLst>
              </a:tr>
              <a:tr h="447675">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进入有希望的业务领域</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11.5</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39.1</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37.2</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8.3</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3.8</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07280801"/>
                  </a:ext>
                </a:extLst>
              </a:tr>
              <a:tr h="485775">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海外市场的开拓</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21.8</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28.8</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31.4</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10.9</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7.1</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279925"/>
                  </a:ext>
                </a:extLst>
              </a:tr>
              <a:tr h="490538">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早期撤退</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7.1</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33.3</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38.4</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19.2</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1.9</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5039039"/>
                  </a:ext>
                </a:extLst>
              </a:tr>
              <a:tr h="488950">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利用外部企业和组织</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5.1</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23.7</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37.8</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30.1</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3.2</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66256065"/>
                  </a:ext>
                </a:extLst>
              </a:tr>
              <a:tr h="185738">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创造价值的意向</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13.5</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38.5</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34.0</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12.8</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1.3</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47536341"/>
                  </a:ext>
                </a:extLst>
              </a:tr>
            </a:tbl>
          </a:graphicData>
        </a:graphic>
      </p:graphicFrame>
      <p:sp>
        <p:nvSpPr>
          <p:cNvPr id="28966" name="Rectangle 294">
            <a:extLst>
              <a:ext uri="{FF2B5EF4-FFF2-40B4-BE49-F238E27FC236}">
                <a16:creationId xmlns:a16="http://schemas.microsoft.com/office/drawing/2014/main" id="{8433DD87-DDB3-9F24-7733-17AD16CD8783}"/>
              </a:ext>
            </a:extLst>
          </p:cNvPr>
          <p:cNvSpPr>
            <a:spLocks noChangeArrowheads="1"/>
          </p:cNvSpPr>
          <p:nvPr/>
        </p:nvSpPr>
        <p:spPr bwMode="auto">
          <a:xfrm>
            <a:off x="395288" y="1606550"/>
            <a:ext cx="31686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US" altLang="zh-CN" sz="2000"/>
              <a:t>2</a:t>
            </a:r>
            <a:r>
              <a:rPr lang="zh-CN" altLang="en-US" sz="2000"/>
              <a:t>、经营战略的展开。</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39" name="Rectangle 119">
            <a:extLst>
              <a:ext uri="{FF2B5EF4-FFF2-40B4-BE49-F238E27FC236}">
                <a16:creationId xmlns:a16="http://schemas.microsoft.com/office/drawing/2014/main" id="{F1CDE2DE-40A8-3B77-7893-4844D14F6D54}"/>
              </a:ext>
            </a:extLst>
          </p:cNvPr>
          <p:cNvSpPr>
            <a:spLocks noGrp="1" noRot="1" noChangeArrowheads="1"/>
          </p:cNvSpPr>
          <p:nvPr>
            <p:ph type="title"/>
          </p:nvPr>
        </p:nvSpPr>
        <p:spPr/>
        <p:txBody>
          <a:bodyPr/>
          <a:lstStyle/>
          <a:p>
            <a:endParaRPr lang="zh-CN" altLang="zh-CN"/>
          </a:p>
        </p:txBody>
      </p:sp>
      <p:sp>
        <p:nvSpPr>
          <p:cNvPr id="30723" name="Rectangle 3">
            <a:extLst>
              <a:ext uri="{FF2B5EF4-FFF2-40B4-BE49-F238E27FC236}">
                <a16:creationId xmlns:a16="http://schemas.microsoft.com/office/drawing/2014/main" id="{3CBB5B63-2A6C-C7BB-3A15-3388C938995A}"/>
              </a:ext>
            </a:extLst>
          </p:cNvPr>
          <p:cNvSpPr>
            <a:spLocks noGrp="1" noRot="1" noChangeArrowheads="1"/>
          </p:cNvSpPr>
          <p:nvPr>
            <p:ph type="body" sz="half" idx="1"/>
          </p:nvPr>
        </p:nvSpPr>
        <p:spPr>
          <a:xfrm>
            <a:off x="533400" y="1673225"/>
            <a:ext cx="3960813" cy="4498975"/>
          </a:xfrm>
        </p:spPr>
        <p:txBody>
          <a:bodyPr/>
          <a:lstStyle/>
          <a:p>
            <a:endParaRPr lang="en-US" altLang="zh-CN" sz="2800"/>
          </a:p>
          <a:p>
            <a:pPr>
              <a:buFont typeface="Wingdings" panose="05000000000000000000" pitchFamily="2" charset="2"/>
              <a:buNone/>
            </a:pPr>
            <a:endParaRPr lang="en-US" altLang="zh-CN" sz="2800"/>
          </a:p>
        </p:txBody>
      </p:sp>
      <p:sp>
        <p:nvSpPr>
          <p:cNvPr id="30724" name="Text Box 4">
            <a:extLst>
              <a:ext uri="{FF2B5EF4-FFF2-40B4-BE49-F238E27FC236}">
                <a16:creationId xmlns:a16="http://schemas.microsoft.com/office/drawing/2014/main" id="{D81DC96B-6C4A-738C-EAD1-004475399F99}"/>
              </a:ext>
            </a:extLst>
          </p:cNvPr>
          <p:cNvSpPr txBox="1">
            <a:spLocks noChangeArrowheads="1"/>
          </p:cNvSpPr>
          <p:nvPr/>
        </p:nvSpPr>
        <p:spPr bwMode="auto">
          <a:xfrm>
            <a:off x="900113" y="2708275"/>
            <a:ext cx="72009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zh-CN" altLang="zh-CN"/>
          </a:p>
        </p:txBody>
      </p:sp>
      <p:graphicFrame>
        <p:nvGraphicFramePr>
          <p:cNvPr id="30848" name="Group 128">
            <a:extLst>
              <a:ext uri="{FF2B5EF4-FFF2-40B4-BE49-F238E27FC236}">
                <a16:creationId xmlns:a16="http://schemas.microsoft.com/office/drawing/2014/main" id="{283B89CD-CD25-E8C2-1A19-59269FE05266}"/>
              </a:ext>
            </a:extLst>
          </p:cNvPr>
          <p:cNvGraphicFramePr>
            <a:graphicFrameLocks noGrp="1"/>
          </p:cNvGraphicFramePr>
          <p:nvPr>
            <p:ph sz="half" idx="2"/>
          </p:nvPr>
        </p:nvGraphicFramePr>
        <p:xfrm>
          <a:off x="1476375" y="1844675"/>
          <a:ext cx="6767513" cy="4214813"/>
        </p:xfrm>
        <a:graphic>
          <a:graphicData uri="http://schemas.openxmlformats.org/drawingml/2006/table">
            <a:tbl>
              <a:tblPr/>
              <a:tblGrid>
                <a:gridCol w="2016125">
                  <a:extLst>
                    <a:ext uri="{9D8B030D-6E8A-4147-A177-3AD203B41FA5}">
                      <a16:colId xmlns:a16="http://schemas.microsoft.com/office/drawing/2014/main" val="1612236334"/>
                    </a:ext>
                  </a:extLst>
                </a:gridCol>
                <a:gridCol w="2447925">
                  <a:extLst>
                    <a:ext uri="{9D8B030D-6E8A-4147-A177-3AD203B41FA5}">
                      <a16:colId xmlns:a16="http://schemas.microsoft.com/office/drawing/2014/main" val="286231082"/>
                    </a:ext>
                  </a:extLst>
                </a:gridCol>
                <a:gridCol w="2303463">
                  <a:extLst>
                    <a:ext uri="{9D8B030D-6E8A-4147-A177-3AD203B41FA5}">
                      <a16:colId xmlns:a16="http://schemas.microsoft.com/office/drawing/2014/main" val="3571701179"/>
                    </a:ext>
                  </a:extLst>
                </a:gridCol>
              </a:tblGrid>
              <a:tr h="736600">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分配对象</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得分平均值（过去）</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得分平均值（将来）</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32979035"/>
                  </a:ext>
                </a:extLst>
              </a:tr>
              <a:tr h="703263">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设备投资</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1.95</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1.57</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46683243"/>
                  </a:ext>
                </a:extLst>
              </a:tr>
              <a:tr h="736600">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对股东的分配</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1.57</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1.93</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02381486"/>
                  </a:ext>
                </a:extLst>
              </a:tr>
              <a:tr h="736600">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内部保留</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1.36</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1.25</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47737224"/>
                  </a:ext>
                </a:extLst>
              </a:tr>
              <a:tr h="736600">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公司员工</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1.07</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1.18</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62931519"/>
                  </a:ext>
                </a:extLst>
              </a:tr>
              <a:tr h="565150">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其他</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0.05</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0.07</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28587747"/>
                  </a:ext>
                </a:extLst>
              </a:tr>
            </a:tbl>
          </a:graphicData>
        </a:graphic>
      </p:graphicFrame>
      <p:sp>
        <p:nvSpPr>
          <p:cNvPr id="30847" name="Rectangle 127">
            <a:extLst>
              <a:ext uri="{FF2B5EF4-FFF2-40B4-BE49-F238E27FC236}">
                <a16:creationId xmlns:a16="http://schemas.microsoft.com/office/drawing/2014/main" id="{4EFF18C6-A458-B466-2927-A4CDD5FEF3E0}"/>
              </a:ext>
            </a:extLst>
          </p:cNvPr>
          <p:cNvSpPr>
            <a:spLocks noChangeArrowheads="1"/>
          </p:cNvSpPr>
          <p:nvPr/>
        </p:nvSpPr>
        <p:spPr bwMode="auto">
          <a:xfrm>
            <a:off x="1476375" y="1387475"/>
            <a:ext cx="2357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a:t>3</a:t>
            </a:r>
            <a:r>
              <a:rPr lang="zh-CN" altLang="en-US" sz="2000"/>
              <a:t>、成果分配的方式</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E71D53BC-5DE0-61C0-6423-3632AC007565}"/>
              </a:ext>
            </a:extLst>
          </p:cNvPr>
          <p:cNvSpPr>
            <a:spLocks noGrp="1" noRot="1" noChangeArrowheads="1"/>
          </p:cNvSpPr>
          <p:nvPr>
            <p:ph type="title"/>
          </p:nvPr>
        </p:nvSpPr>
        <p:spPr/>
        <p:txBody>
          <a:bodyPr/>
          <a:lstStyle/>
          <a:p>
            <a:endParaRPr lang="zh-CN" altLang="zh-CN"/>
          </a:p>
        </p:txBody>
      </p:sp>
      <p:sp>
        <p:nvSpPr>
          <p:cNvPr id="32772" name="Text Box 4">
            <a:extLst>
              <a:ext uri="{FF2B5EF4-FFF2-40B4-BE49-F238E27FC236}">
                <a16:creationId xmlns:a16="http://schemas.microsoft.com/office/drawing/2014/main" id="{B4316717-7504-1435-2CDF-06F1091D81B9}"/>
              </a:ext>
            </a:extLst>
          </p:cNvPr>
          <p:cNvSpPr txBox="1">
            <a:spLocks noChangeArrowheads="1"/>
          </p:cNvSpPr>
          <p:nvPr/>
        </p:nvSpPr>
        <p:spPr bwMode="auto">
          <a:xfrm>
            <a:off x="950913" y="1851025"/>
            <a:ext cx="70056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zh-CN"/>
          </a:p>
        </p:txBody>
      </p:sp>
      <p:sp>
        <p:nvSpPr>
          <p:cNvPr id="32773" name="Text Box 5">
            <a:extLst>
              <a:ext uri="{FF2B5EF4-FFF2-40B4-BE49-F238E27FC236}">
                <a16:creationId xmlns:a16="http://schemas.microsoft.com/office/drawing/2014/main" id="{DBA6675F-55D5-A8A6-C6C6-CE7B35EC8C76}"/>
              </a:ext>
            </a:extLst>
          </p:cNvPr>
          <p:cNvSpPr txBox="1">
            <a:spLocks noChangeArrowheads="1"/>
          </p:cNvSpPr>
          <p:nvPr/>
        </p:nvSpPr>
        <p:spPr bwMode="auto">
          <a:xfrm>
            <a:off x="971550" y="2133600"/>
            <a:ext cx="77771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zh-CN" altLang="zh-CN"/>
          </a:p>
        </p:txBody>
      </p:sp>
      <p:graphicFrame>
        <p:nvGraphicFramePr>
          <p:cNvPr id="32980" name="Group 212">
            <a:extLst>
              <a:ext uri="{FF2B5EF4-FFF2-40B4-BE49-F238E27FC236}">
                <a16:creationId xmlns:a16="http://schemas.microsoft.com/office/drawing/2014/main" id="{78C4BAA8-DEE1-1403-4B7E-18A4397B1E94}"/>
              </a:ext>
            </a:extLst>
          </p:cNvPr>
          <p:cNvGraphicFramePr>
            <a:graphicFrameLocks noGrp="1"/>
          </p:cNvGraphicFramePr>
          <p:nvPr/>
        </p:nvGraphicFramePr>
        <p:xfrm>
          <a:off x="755650" y="2781300"/>
          <a:ext cx="7705725" cy="1943100"/>
        </p:xfrm>
        <a:graphic>
          <a:graphicData uri="http://schemas.openxmlformats.org/drawingml/2006/table">
            <a:tbl>
              <a:tblPr/>
              <a:tblGrid>
                <a:gridCol w="3529013">
                  <a:extLst>
                    <a:ext uri="{9D8B030D-6E8A-4147-A177-3AD203B41FA5}">
                      <a16:colId xmlns:a16="http://schemas.microsoft.com/office/drawing/2014/main" val="2815152542"/>
                    </a:ext>
                  </a:extLst>
                </a:gridCol>
                <a:gridCol w="1079500">
                  <a:extLst>
                    <a:ext uri="{9D8B030D-6E8A-4147-A177-3AD203B41FA5}">
                      <a16:colId xmlns:a16="http://schemas.microsoft.com/office/drawing/2014/main" val="2681267501"/>
                    </a:ext>
                  </a:extLst>
                </a:gridCol>
                <a:gridCol w="1081087">
                  <a:extLst>
                    <a:ext uri="{9D8B030D-6E8A-4147-A177-3AD203B41FA5}">
                      <a16:colId xmlns:a16="http://schemas.microsoft.com/office/drawing/2014/main" val="69712798"/>
                    </a:ext>
                  </a:extLst>
                </a:gridCol>
                <a:gridCol w="1008063">
                  <a:extLst>
                    <a:ext uri="{9D8B030D-6E8A-4147-A177-3AD203B41FA5}">
                      <a16:colId xmlns:a16="http://schemas.microsoft.com/office/drawing/2014/main" val="3431528791"/>
                    </a:ext>
                  </a:extLst>
                </a:gridCol>
                <a:gridCol w="1008062">
                  <a:extLst>
                    <a:ext uri="{9D8B030D-6E8A-4147-A177-3AD203B41FA5}">
                      <a16:colId xmlns:a16="http://schemas.microsoft.com/office/drawing/2014/main" val="1975881851"/>
                    </a:ext>
                  </a:extLst>
                </a:gridCol>
              </a:tblGrid>
              <a:tr h="565150">
                <a:tc>
                  <a:txBody>
                    <a:bodyPr/>
                    <a:lstStyle>
                      <a:lvl1pPr>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日本</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美国</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西德</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法国</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43449718"/>
                  </a:ext>
                </a:extLst>
              </a:tr>
              <a:tr h="1377950">
                <a:tc>
                  <a:txBody>
                    <a:bodyPr/>
                    <a:lstStyle>
                      <a:lvl1pPr>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设备投资（亿美元）</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与上一年相比的增长率（％）</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与</a:t>
                      </a: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GNP</a:t>
                      </a:r>
                      <a:r>
                        <a:rPr kumimoji="0"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之比（％）</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4980</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28.2</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17.4</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4884</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9.3</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10.0</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1477</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11.1</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12.2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6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1053</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13.5</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11.1</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61467855"/>
                  </a:ext>
                </a:extLst>
              </a:tr>
            </a:tbl>
          </a:graphicData>
        </a:graphic>
      </p:graphicFrame>
    </p:spTree>
  </p:cSld>
  <p:clrMapOvr>
    <a:masterClrMapping/>
  </p:clrMapOvr>
</p:sld>
</file>

<file path=ppt/theme/theme1.xml><?xml version="1.0" encoding="utf-8"?>
<a:theme xmlns:a="http://schemas.openxmlformats.org/drawingml/2006/main" name="熊猫翠竹">
  <a:themeElements>
    <a:clrScheme name="熊猫翠竹 1">
      <a:dk1>
        <a:srgbClr val="969696"/>
      </a:dk1>
      <a:lt1>
        <a:srgbClr val="FFFFFF"/>
      </a:lt1>
      <a:dk2>
        <a:srgbClr val="38AC8B"/>
      </a:dk2>
      <a:lt2>
        <a:srgbClr val="FFFFFF"/>
      </a:lt2>
      <a:accent1>
        <a:srgbClr val="8A95B2"/>
      </a:accent1>
      <a:accent2>
        <a:srgbClr val="99FF33"/>
      </a:accent2>
      <a:accent3>
        <a:srgbClr val="AED2C4"/>
      </a:accent3>
      <a:accent4>
        <a:srgbClr val="DADADA"/>
      </a:accent4>
      <a:accent5>
        <a:srgbClr val="C4C8D5"/>
      </a:accent5>
      <a:accent6>
        <a:srgbClr val="8AE72D"/>
      </a:accent6>
      <a:hlink>
        <a:srgbClr val="66FFFF"/>
      </a:hlink>
      <a:folHlink>
        <a:srgbClr val="FFFF00"/>
      </a:folHlink>
    </a:clrScheme>
    <a:fontScheme name="熊猫翠竹">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熊猫翠竹 1">
        <a:dk1>
          <a:srgbClr val="969696"/>
        </a:dk1>
        <a:lt1>
          <a:srgbClr val="FFFFFF"/>
        </a:lt1>
        <a:dk2>
          <a:srgbClr val="38AC8B"/>
        </a:dk2>
        <a:lt2>
          <a:srgbClr val="FFFFFF"/>
        </a:lt2>
        <a:accent1>
          <a:srgbClr val="8A95B2"/>
        </a:accent1>
        <a:accent2>
          <a:srgbClr val="99FF33"/>
        </a:accent2>
        <a:accent3>
          <a:srgbClr val="AED2C4"/>
        </a:accent3>
        <a:accent4>
          <a:srgbClr val="DADADA"/>
        </a:accent4>
        <a:accent5>
          <a:srgbClr val="C4C8D5"/>
        </a:accent5>
        <a:accent6>
          <a:srgbClr val="8AE72D"/>
        </a:accent6>
        <a:hlink>
          <a:srgbClr val="66FFFF"/>
        </a:hlink>
        <a:folHlink>
          <a:srgbClr val="FFFF00"/>
        </a:folHlink>
      </a:clrScheme>
      <a:clrMap bg1="dk2" tx1="lt1" bg2="dk1" tx2="lt2" accent1="accent1" accent2="accent2" accent3="accent3" accent4="accent4" accent5="accent5" accent6="accent6" hlink="hlink" folHlink="folHlink"/>
    </a:extraClrScheme>
    <a:extraClrScheme>
      <a:clrScheme name="熊猫翠竹 2">
        <a:dk1>
          <a:srgbClr val="969696"/>
        </a:dk1>
        <a:lt1>
          <a:srgbClr val="FFFFFF"/>
        </a:lt1>
        <a:dk2>
          <a:srgbClr val="0099CC"/>
        </a:dk2>
        <a:lt2>
          <a:srgbClr val="FFFFFF"/>
        </a:lt2>
        <a:accent1>
          <a:srgbClr val="93A0BB"/>
        </a:accent1>
        <a:accent2>
          <a:srgbClr val="CCFFFF"/>
        </a:accent2>
        <a:accent3>
          <a:srgbClr val="AACAE2"/>
        </a:accent3>
        <a:accent4>
          <a:srgbClr val="DADADA"/>
        </a:accent4>
        <a:accent5>
          <a:srgbClr val="C8CDDA"/>
        </a:accent5>
        <a:accent6>
          <a:srgbClr val="B9E7E7"/>
        </a:accent6>
        <a:hlink>
          <a:srgbClr val="FFFF66"/>
        </a:hlink>
        <a:folHlink>
          <a:srgbClr val="FF9966"/>
        </a:folHlink>
      </a:clrScheme>
      <a:clrMap bg1="dk2" tx1="lt1" bg2="dk1" tx2="lt2" accent1="accent1" accent2="accent2" accent3="accent3" accent4="accent4" accent5="accent5" accent6="accent6" hlink="hlink" folHlink="folHlink"/>
    </a:extraClrScheme>
    <a:extraClrScheme>
      <a:clrScheme name="熊猫翠竹 3">
        <a:dk1>
          <a:srgbClr val="C0C0C0"/>
        </a:dk1>
        <a:lt1>
          <a:srgbClr val="FFFFFF"/>
        </a:lt1>
        <a:dk2>
          <a:srgbClr val="C0C0C0"/>
        </a:dk2>
        <a:lt2>
          <a:srgbClr val="FFFF00"/>
        </a:lt2>
        <a:accent1>
          <a:srgbClr val="5F7F81"/>
        </a:accent1>
        <a:accent2>
          <a:srgbClr val="CCCCFF"/>
        </a:accent2>
        <a:accent3>
          <a:srgbClr val="DCDCDC"/>
        </a:accent3>
        <a:accent4>
          <a:srgbClr val="DADADA"/>
        </a:accent4>
        <a:accent5>
          <a:srgbClr val="B6C0C1"/>
        </a:accent5>
        <a:accent6>
          <a:srgbClr val="B9B9E7"/>
        </a:accent6>
        <a:hlink>
          <a:srgbClr val="66FF33"/>
        </a:hlink>
        <a:folHlink>
          <a:srgbClr val="66FFFF"/>
        </a:folHlink>
      </a:clrScheme>
      <a:clrMap bg1="dk2" tx1="lt1" bg2="dk1" tx2="lt2" accent1="accent1" accent2="accent2" accent3="accent3" accent4="accent4" accent5="accent5" accent6="accent6" hlink="hlink" folHlink="folHlink"/>
    </a:extraClrScheme>
    <a:extraClrScheme>
      <a:clrScheme name="熊猫翠竹 4">
        <a:dk1>
          <a:srgbClr val="969696"/>
        </a:dk1>
        <a:lt1>
          <a:srgbClr val="FFFF99"/>
        </a:lt1>
        <a:dk2>
          <a:srgbClr val="336600"/>
        </a:dk2>
        <a:lt2>
          <a:srgbClr val="FFFFFF"/>
        </a:lt2>
        <a:accent1>
          <a:srgbClr val="D2990A"/>
        </a:accent1>
        <a:accent2>
          <a:srgbClr val="CCCCFF"/>
        </a:accent2>
        <a:accent3>
          <a:srgbClr val="ADB8AA"/>
        </a:accent3>
        <a:accent4>
          <a:srgbClr val="DADA82"/>
        </a:accent4>
        <a:accent5>
          <a:srgbClr val="E5CAAA"/>
        </a:accent5>
        <a:accent6>
          <a:srgbClr val="B9B9E7"/>
        </a:accent6>
        <a:hlink>
          <a:srgbClr val="00FFFF"/>
        </a:hlink>
        <a:folHlink>
          <a:srgbClr val="66FF66"/>
        </a:folHlink>
      </a:clrScheme>
      <a:clrMap bg1="dk2" tx1="lt1" bg2="dk1" tx2="lt2" accent1="accent1" accent2="accent2" accent3="accent3" accent4="accent4" accent5="accent5" accent6="accent6" hlink="hlink" folHlink="folHlink"/>
    </a:extraClrScheme>
    <a:extraClrScheme>
      <a:clrScheme name="熊猫翠竹 5">
        <a:dk1>
          <a:srgbClr val="969696"/>
        </a:dk1>
        <a:lt1>
          <a:srgbClr val="CCFFFF"/>
        </a:lt1>
        <a:dk2>
          <a:srgbClr val="006699"/>
        </a:dk2>
        <a:lt2>
          <a:srgbClr val="FFFF00"/>
        </a:lt2>
        <a:accent1>
          <a:srgbClr val="8D8DB3"/>
        </a:accent1>
        <a:accent2>
          <a:srgbClr val="FF7C80"/>
        </a:accent2>
        <a:accent3>
          <a:srgbClr val="AAB8CA"/>
        </a:accent3>
        <a:accent4>
          <a:srgbClr val="AEDADA"/>
        </a:accent4>
        <a:accent5>
          <a:srgbClr val="C5C5D6"/>
        </a:accent5>
        <a:accent6>
          <a:srgbClr val="E77073"/>
        </a:accent6>
        <a:hlink>
          <a:srgbClr val="99FF33"/>
        </a:hlink>
        <a:folHlink>
          <a:srgbClr val="CCCCFF"/>
        </a:folHlink>
      </a:clrScheme>
      <a:clrMap bg1="dk2" tx1="lt1" bg2="dk1" tx2="lt2" accent1="accent1" accent2="accent2" accent3="accent3" accent4="accent4" accent5="accent5" accent6="accent6" hlink="hlink" folHlink="folHlink"/>
    </a:extraClrScheme>
    <a:extraClrScheme>
      <a:clrScheme name="熊猫翠竹 6">
        <a:dk1>
          <a:srgbClr val="969696"/>
        </a:dk1>
        <a:lt1>
          <a:srgbClr val="FFFFFF"/>
        </a:lt1>
        <a:dk2>
          <a:srgbClr val="FF9933"/>
        </a:dk2>
        <a:lt2>
          <a:srgbClr val="CCECFF"/>
        </a:lt2>
        <a:accent1>
          <a:srgbClr val="376EA5"/>
        </a:accent1>
        <a:accent2>
          <a:srgbClr val="FF9933"/>
        </a:accent2>
        <a:accent3>
          <a:srgbClr val="FFCAAD"/>
        </a:accent3>
        <a:accent4>
          <a:srgbClr val="DADADA"/>
        </a:accent4>
        <a:accent5>
          <a:srgbClr val="AEBACF"/>
        </a:accent5>
        <a:accent6>
          <a:srgbClr val="E78A2D"/>
        </a:accent6>
        <a:hlink>
          <a:srgbClr val="FFFF66"/>
        </a:hlink>
        <a:folHlink>
          <a:srgbClr val="66FFFF"/>
        </a:folHlink>
      </a:clrScheme>
      <a:clrMap bg1="dk2" tx1="lt1" bg2="dk1" tx2="lt2" accent1="accent1" accent2="accent2" accent3="accent3" accent4="accent4" accent5="accent5" accent6="accent6" hlink="hlink" folHlink="folHlink"/>
    </a:extraClrScheme>
    <a:extraClrScheme>
      <a:clrScheme name="熊猫翠竹 7">
        <a:dk1>
          <a:srgbClr val="969696"/>
        </a:dk1>
        <a:lt1>
          <a:srgbClr val="FFFFFF"/>
        </a:lt1>
        <a:dk2>
          <a:srgbClr val="2B8156"/>
        </a:dk2>
        <a:lt2>
          <a:srgbClr val="00FFFF"/>
        </a:lt2>
        <a:accent1>
          <a:srgbClr val="5B8689"/>
        </a:accent1>
        <a:accent2>
          <a:srgbClr val="99FF99"/>
        </a:accent2>
        <a:accent3>
          <a:srgbClr val="ACC1B4"/>
        </a:accent3>
        <a:accent4>
          <a:srgbClr val="DADADA"/>
        </a:accent4>
        <a:accent5>
          <a:srgbClr val="B5C3C4"/>
        </a:accent5>
        <a:accent6>
          <a:srgbClr val="8AE78A"/>
        </a:accent6>
        <a:hlink>
          <a:srgbClr val="FFFF00"/>
        </a:hlink>
        <a:folHlink>
          <a:srgbClr val="D7C4E2"/>
        </a:folHlink>
      </a:clrScheme>
      <a:clrMap bg1="dk2" tx1="lt1" bg2="dk1" tx2="lt2" accent1="accent1" accent2="accent2" accent3="accent3" accent4="accent4" accent5="accent5" accent6="accent6" hlink="hlink" folHlink="folHlink"/>
    </a:extraClrScheme>
    <a:extraClrScheme>
      <a:clrScheme name="熊猫翠竹 8">
        <a:dk1>
          <a:srgbClr val="969696"/>
        </a:dk1>
        <a:lt1>
          <a:srgbClr val="FFFF00"/>
        </a:lt1>
        <a:dk2>
          <a:srgbClr val="FFD5D5"/>
        </a:dk2>
        <a:lt2>
          <a:srgbClr val="00FF00"/>
        </a:lt2>
        <a:accent1>
          <a:srgbClr val="008080"/>
        </a:accent1>
        <a:accent2>
          <a:srgbClr val="FF5050"/>
        </a:accent2>
        <a:accent3>
          <a:srgbClr val="FFE7E7"/>
        </a:accent3>
        <a:accent4>
          <a:srgbClr val="DADA00"/>
        </a:accent4>
        <a:accent5>
          <a:srgbClr val="AAC0C0"/>
        </a:accent5>
        <a:accent6>
          <a:srgbClr val="E74848"/>
        </a:accent6>
        <a:hlink>
          <a:srgbClr val="99CCFF"/>
        </a:hlink>
        <a:folHlink>
          <a:srgbClr val="FFFFFF"/>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CDESIGNC</Template>
  <TotalTime>353</TotalTime>
  <Words>1502</Words>
  <Application>Microsoft Office PowerPoint</Application>
  <PresentationFormat>全屏显示(4:3)</PresentationFormat>
  <Paragraphs>198</Paragraphs>
  <Slides>19</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19</vt:i4>
      </vt:variant>
    </vt:vector>
  </HeadingPairs>
  <TitlesOfParts>
    <vt:vector size="26" baseType="lpstr">
      <vt:lpstr>Arial</vt:lpstr>
      <vt:lpstr>宋体</vt:lpstr>
      <vt:lpstr>Wingdings</vt:lpstr>
      <vt:lpstr>Arial Unicode MS</vt:lpstr>
      <vt:lpstr>MS PMincho</vt:lpstr>
      <vt:lpstr>Times New Roman</vt:lpstr>
      <vt:lpstr>熊猫翠竹</vt:lpstr>
      <vt:lpstr>第二章   企业行为方式与目标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第二节  公司目标的经验研究</vt:lpstr>
      <vt:lpstr>PowerPoint 演示文稿</vt:lpstr>
      <vt:lpstr>PowerPoint 演示文稿</vt:lpstr>
      <vt:lpstr>PowerPoint 演示文稿</vt:lpstr>
      <vt:lpstr>PowerPoint 演示文稿</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第二章   企业行为方式与目标</dc:title>
  <dc:creator>zjz</dc:creator>
  <cp:lastModifiedBy>先生 刘</cp:lastModifiedBy>
  <cp:revision>20</cp:revision>
  <dcterms:created xsi:type="dcterms:W3CDTF">2002-09-24T14:20:45Z</dcterms:created>
  <dcterms:modified xsi:type="dcterms:W3CDTF">2023-10-22T14:21:36Z</dcterms:modified>
</cp:coreProperties>
</file>