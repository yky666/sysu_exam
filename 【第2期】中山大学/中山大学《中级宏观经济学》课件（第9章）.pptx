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6"/>
  </p:notesMasterIdLst>
  <p:sldIdLst>
    <p:sldId id="403" r:id="rId2"/>
    <p:sldId id="404" r:id="rId3"/>
    <p:sldId id="278" r:id="rId4"/>
    <p:sldId id="380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90" r:id="rId13"/>
    <p:sldId id="391" r:id="rId14"/>
    <p:sldId id="392" r:id="rId15"/>
    <p:sldId id="393" r:id="rId16"/>
    <p:sldId id="395" r:id="rId17"/>
    <p:sldId id="394" r:id="rId18"/>
    <p:sldId id="396" r:id="rId19"/>
    <p:sldId id="381" r:id="rId20"/>
    <p:sldId id="397" r:id="rId21"/>
    <p:sldId id="398" r:id="rId22"/>
    <p:sldId id="399" r:id="rId23"/>
    <p:sldId id="401" r:id="rId24"/>
    <p:sldId id="402" r:id="rId25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33CC33"/>
    <a:srgbClr val="00FF00"/>
    <a:srgbClr val="E5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35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32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B3775D1D-C4EF-88D9-5E55-16941CFB83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A59894D3-80E2-574F-9D05-6A115F62CB6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F6EF140F-BF9A-BAB4-F5A3-F97C88FB221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482D5EFD-110F-D869-F105-795CA760EE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749D2B34-0476-29E2-9DF1-6D190046D1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5" name="Rectangle 7">
            <a:extLst>
              <a:ext uri="{FF2B5EF4-FFF2-40B4-BE49-F238E27FC236}">
                <a16:creationId xmlns:a16="http://schemas.microsoft.com/office/drawing/2014/main" id="{E14F0163-E3CC-D364-FF34-69842434D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ffectLst/>
              </a:defRPr>
            </a:lvl1pPr>
          </a:lstStyle>
          <a:p>
            <a:fld id="{A42666A8-0E27-4D6C-8FE2-29209356C85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905FFF5-72DB-F0FF-69FA-82EA8B5CD6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0933FD-958D-45C3-8220-509E42A09BF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59778" name="Rectangle 2">
            <a:extLst>
              <a:ext uri="{FF2B5EF4-FFF2-40B4-BE49-F238E27FC236}">
                <a16:creationId xmlns:a16="http://schemas.microsoft.com/office/drawing/2014/main" id="{36CA0A30-4FEA-1E01-0A7D-31CF19E422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>
            <a:extLst>
              <a:ext uri="{FF2B5EF4-FFF2-40B4-BE49-F238E27FC236}">
                <a16:creationId xmlns:a16="http://schemas.microsoft.com/office/drawing/2014/main" id="{11604B6D-EE4F-D791-D92B-74E8D7637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资料来源于中国国内生产总值核算历史资料</a:t>
            </a:r>
            <a:r>
              <a:rPr lang="en-US" altLang="zh-CN"/>
              <a:t>1996-2002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49D54B1-38DB-C8E7-3F53-46AB74202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E31B59-6DF8-4C50-A419-D4369B6AB323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60802" name="Rectangle 1026">
            <a:extLst>
              <a:ext uri="{FF2B5EF4-FFF2-40B4-BE49-F238E27FC236}">
                <a16:creationId xmlns:a16="http://schemas.microsoft.com/office/drawing/2014/main" id="{9B6A26AF-B797-68CD-54B8-02EFAE2CD5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03" name="Rectangle 1027">
            <a:extLst>
              <a:ext uri="{FF2B5EF4-FFF2-40B4-BE49-F238E27FC236}">
                <a16:creationId xmlns:a16="http://schemas.microsoft.com/office/drawing/2014/main" id="{EF84BEF3-C6F0-3C03-8EC1-A72859363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资料源于中国国内生产总值核算资料资料</a:t>
            </a:r>
            <a:r>
              <a:rPr lang="en-US" altLang="zh-CN"/>
              <a:t>1996-2002</a:t>
            </a:r>
            <a:r>
              <a:rPr lang="zh-CN" altLang="en-US"/>
              <a:t>和教材第</a:t>
            </a:r>
            <a:r>
              <a:rPr lang="en-US" altLang="zh-CN"/>
              <a:t>9</a:t>
            </a:r>
            <a:r>
              <a:rPr lang="zh-CN" altLang="en-US"/>
              <a:t>版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2C73DCE-F4B6-D56C-1C25-6B785B2F8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266DA0-AF93-4FDA-A2A3-DD3E4B64E6A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2C2B8BB7-B4B9-8EAD-8840-D9B3EF0E44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B38A8C5B-28EC-47CD-0CAA-92B256826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4175E69D-5E60-3FF2-2B33-CC01125A225A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8F474770-D8A6-DCA5-18FD-5E5500B89429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33179DF8-07F0-A586-B4C1-17E39A629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C0145602-FD90-320F-517A-3AE0641B7C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A6C03671-7460-74DC-31C1-8BA912000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719EA297-A91B-AFFF-DA24-21E9F5544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3353E1F7-BAD0-D49E-4F9D-A6070FDB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A65E9A96-43DB-13DC-28E2-C13B64D6A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B0AA688C-84F5-D6C3-0F2C-63D37A828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98F6066F-4CE6-E223-7F38-CAAA9B31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4649260B-A30B-7352-136D-E98E0FEA5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F3F132DA-2F09-06B3-BB99-382AB6CBE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F028F4B0-8BB9-F304-FF6F-E56CCCF25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DF91C55C-45D8-9F52-51FC-5E912BAFC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BBD39CEE-1FFF-4901-BEF5-9945BAA4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3384DF32-C94B-4F3F-0800-E6A5BF7019CC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58042712-6EA8-AF4E-F5EB-A126D4F21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69934C26-9586-196D-07B7-1272CEE03B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BB7E2963-24CD-EFFA-460E-F4621F324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D555B4A1-C013-DEF7-28E0-76FA4CDC3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84F76FAD-C14C-D259-472A-E330FE7494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B1AD3842-FCD8-F1B9-CD89-5EFB8C51F7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E28EB213-9194-8356-26D0-B5BE4D5DE7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038A1A04-1FAC-3FF9-3398-78E0546D8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6915EC97-AD83-3467-D286-BA54D54C5B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D16B3098-8BA2-C4D7-168D-EA08B88AB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817DFAF7-8B7D-9146-FA5B-4F6ED9B139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E66F97C3-DD47-0352-2D6D-2E0D5208A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4B9D313B-9478-147D-F348-F303F1DE7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3BBB6E74-508E-579C-5BB1-7F13930139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7F5D2007-AD97-1DCB-0D4C-E96952A677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BA1E97A6-8816-34F3-4021-9CEA8656F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259D6891-2916-AC6F-16A3-757F385F0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A6852F7B-430E-89A7-9C9D-824E0B048D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AF2BC972-44E7-108E-C56A-1E1E91576F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1D1A0836-1166-FCE5-92A9-E245257462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15E4C59F-C61E-5424-6032-C25B81DFBD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6CCCD5A1-AF32-F0A1-0D8D-0D655C9259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15410720-E310-3395-3168-F570F36CD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422B9D98-6561-1878-060E-6AE848BDB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DBB6A69C-E4C9-A9B8-6732-7595C7E5D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BE424D98-3699-FC82-23E3-C23E3B6570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76763931-38EB-0BEC-72C5-F08A9130B2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644702DA-2A5C-C342-DAFF-2C64415A6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ADCE6B4F-3081-5ABC-75AB-480C816FB9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26647307-5F8A-C1B7-0EC5-3279C61450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A67379DD-2A6C-36B2-2AE1-39A4156F56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79FCA392-6AB4-8217-2EE5-9EB7D3FACD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60361EAE-D1C7-AAE3-1F87-A5CA3E3A73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F80CAF8A-7BF9-46CB-8DA7-201A5C5D3B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67C37511-FCB5-C2E4-8275-6D26AEF629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B3CF35DC-AA21-ED19-C9A7-5FFD4EFD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F3617A60-A5CD-0792-6AA5-E44EB9DB0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D4E6B450-9D0E-D9F7-2411-F83E0B8C64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A46BB338-5D83-64E7-7D17-8BF04D8D8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ECC39702-D1FE-A0CC-52F5-8A7DD55ECF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C7BE8BAD-52D2-37FA-995B-EB7596290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E05CC20F-D0EB-894C-D4FD-2EA35E041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E0D692F8-2747-4A2C-B222-F87165CBD6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F5407536-B8FC-0192-229D-1ACCBE158A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5A956942-5446-A56D-2F6D-99FD48835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717AEEA2-F75E-4DAA-48DA-30CACF9081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6DCFF413-293E-3276-BF0A-B617DFCFB0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3921C7D0-64F0-5C8E-6F18-A23D0D8ED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4793E8AB-F9CB-B28B-A5B2-2BE1514BF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96B2C295-619D-80BA-E8C6-673FB7367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AD1E0EA5-AF1D-44E6-E5C4-DD05343E13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18422377-7363-4668-2939-BD8FC366F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79839057-8E34-E051-9CFE-5F745ABBD7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7F166344-2323-6707-F059-DF94B47A03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5FD42C23-8BAE-DF2E-6D86-3B3C045CC7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0F1E6249-4718-474F-025A-D5FF84F588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EEEC39CA-C9CE-7ACB-45C0-A16CD0C341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B066BA8C-ECAF-45FF-0A41-5E3363A2E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CEA4615B-8824-CBD5-E2E0-ACCB368F51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7D99AF89-AD4C-E93A-6087-F89467FDB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D71EC770-89A4-0476-D30D-74091BF46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1A63A59F-1827-5C67-9BEF-7B6FAAA643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17A71A32-9A3A-4F7A-188E-5D246EF7B0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3F6A2990-FEBB-254A-FE7F-170457626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3752A46E-D65F-E6D9-1956-5F3D2101DF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E83D1E19-1461-E1D6-4FDA-40FF66EBC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F50CD327-F6A4-C225-13ED-1CA09F95E5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732F76AC-762A-F361-A9D2-71652765C9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23A4D1A4-DEFE-F7BC-1BD8-12A4EE7274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F2C1AB0A-382B-5210-FAFC-B4CC49D65D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2C04CA40-F4FE-5FEC-77E6-D0F6816708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E6B9ED49-E35C-BB33-78F8-DD4959126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C76C4FB6-D551-DC70-963B-8FC360277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918F73C1-2680-C021-E09B-DBB4B7D28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7650EED8-B91E-D115-BE22-D9671C5A71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BA260808-09FD-5BC6-DBA8-7CA1B0F0BE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B60222DE-0558-B8E8-E85C-E9EF356134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C9977C00-D8A0-D2F2-E79E-0784197018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5554C319-0152-E1A0-42A6-4ED25BB788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11A94D48-D31E-02F5-A9BF-F47635DC63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7C853E97-816E-FC1E-4D38-C0F79B9517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744BB5E6-ED21-4665-7D58-2C2BAA60EC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8DB55A22-E3CD-1BA1-6CBD-CD500D092C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02241FD9-1F4C-4FFC-C451-53DE21067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F844331D-9443-0EFA-3588-98ECC6F84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4F806F2D-7D67-4505-4512-8EB7931411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C6EF72C6-56B3-1CBD-E2D2-9B4ED80630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55E9726C-74C0-E63E-A1E8-631ACC0DF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DE5C82B1-13D6-3B1D-0C44-8831EE1A40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62C9A24E-211F-3238-53C6-F90860D81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BB8F1E43-9208-A9E8-EA2E-D4BB682C1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754906BE-6BC8-7A29-ED6A-5CA1D63F21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6C8A1021-27D0-47AB-2698-0BCB4BBAF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AF67C072-9BDE-15AE-AF53-2C1EC0B91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D9D1E04F-3D44-9130-53F5-A69C6269CA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1AB6B9F6-137E-DF15-7A42-EAB5D7EAC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A89E43A4-BCC9-5496-1282-15DAF67BE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C1DD78E8-0DFA-F435-8E63-AE829F5E21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E8C1399F-B902-890B-4045-05FF434F8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B86B83B5-EA94-8B7A-3CB2-7ACEF3C65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95ABE28B-BDD5-9AC8-7FA5-7B0146FB6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1ABA6A7A-42DE-D869-4224-0BDA9A853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85EC5D12-10DE-FA06-ABDA-A311D8826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0040F9BC-28D6-5F41-B292-5073EAF02F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ED18E356-1637-F6C4-D70B-E23B6B47F1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98D4361A-FE51-AC64-ABCF-0F2F44017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82FB421F-E9F8-66F8-D390-079C1168FB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55B182AC-1CD4-9933-0DCA-4FCF3C05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285AE821-B5C6-0306-D0A3-C118DDDE5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E06AFC0D-B58A-4A87-584C-8269146958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B2FEF147-7B90-4D17-6499-B313C01D7E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97801CD0-823F-2C3D-93A7-CEF9C376FA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B647C8E4-2E31-9644-85FA-0E6E9E8A62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20F4D3EA-E804-AC09-C7FF-D2797EAE90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15D49B8D-1956-A2BF-ABC8-57CADB20D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7095C53F-85A7-7742-8B89-69F904971A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C8A94F99-88CF-C82C-045B-948C66649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13FA49E8-A09D-9356-B257-E5D211B66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35530FE6-D16A-4630-DFB9-F9C132AF11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478649B4-A70A-0493-CC13-B24E6AE9D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F6AA42F2-E758-B5FC-3791-6C4F62928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D2DF5AF0-A015-999E-42E2-5E880328E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FDA0DF0D-8D4B-0B02-77B8-9B542DEC9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10535AAD-5B93-71B4-F3FE-DD4C0EC189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A0A70532-9303-B0E7-844E-24C9F42F12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BAF5D8E5-61FE-DB32-ED97-058F344376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8646F68F-E0D1-7A16-C3B5-C28A3740E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8EE573F5-EC3D-5060-89F6-2E2ED76B9B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A2C5E2D8-E817-CCDF-B578-A29589F630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705C2ED8-A593-B23F-0BB3-3DCF31495F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397BCA63-A8F0-06B6-E8C0-DF85BE721F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4A408071-DAAF-41B3-6037-C212D77B3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8938F875-C672-9F38-8495-BCC29E746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BA71A622-D12F-AED7-E201-8EBF1A74B4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ACA29EAE-1192-436D-FE29-8AA1183EB1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5115C18D-7EC3-CCFA-727E-597386895E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421D73BF-BD17-7B17-5A7D-C27F5E3719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A8380FEC-77B8-C65C-F838-B2634EA043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5004FB50-5717-639B-6FCE-35A1841B9B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BDA241AF-F884-EEB5-7528-1AA3932D52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AA8CCD98-C1BC-50B4-B53C-AC458321D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89EAF050-CE3C-739E-2921-642AE4C523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26FA7BE7-6913-F6AA-B060-5DB4339BE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5E761DED-742D-5550-8FA0-BEC3CD613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90CFA5B2-E41D-999D-4C6C-469B891C4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E4B06C23-2499-0CD6-FB8B-4B47065D0F7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BCFCE99D-D77B-CB7D-A414-F71B6147DB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D2B86713-A9C7-433F-AC05-FCC26DF054A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3127A0B8-7021-5000-21A7-D0270A1D2F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60D85325-F2D4-898F-4C53-DBBF3417A0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F2F75BC9-5AA8-46C8-AB9A-532E51C75E5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017763F8-1C63-F3A8-623B-2EC5FD8B347B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2573E427-768B-4995-1AFC-684BA64DA51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0666BD85-7C8A-5180-BA64-B423A599E5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A24E48CA-7ADC-C751-F732-EAB8F76E98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0B426605-85B2-A624-0B63-205BFB188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87D0F0D3-6DCD-BD96-03BF-729EA9001C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A6CED65F-9F62-F0A1-70EC-2AF582B71D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3B7F9306-6ACF-ADA5-677B-20EDBF57E1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7F3C7C38-2120-C3EA-1D1D-7EEABB65B3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81E31915-D47A-9B4D-B4A4-BBBEE59270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17FE5E51-44AD-6C10-6B44-524AD044C4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E6A7781C-A2C5-CDEE-2F70-E390B955B3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9EEDE199-DB07-3EE7-8505-4B0B492F79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B236F00F-592B-D3C6-7BCA-39BC91BFAC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F1ABC83F-B884-4EEB-DEEF-BD0569DD53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8D84B-36F1-5333-3800-FD467989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61830-6258-F414-2EE3-3B0B4AEA6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03E7F2-C89E-F632-643C-7E925433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4403B8-62EA-4FC5-8A73-F1E1500DD82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5C962-3C24-BED8-FE8C-64094419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F3317-6CE5-1426-A203-0DBD3D78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1F193-39E9-4902-929C-FE17B1EC14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650194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C8509-3908-37E0-A144-CA264747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863079-C8D1-1E2A-9DB6-2D82146F9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DE143-7CE8-0527-8F97-19EA288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B7A462-4E39-4D43-865B-80109AF7946D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CE13E-64EA-661B-98F1-CB12DC40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603110-8F78-BEE3-96E1-A15483A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1FAFC-9C2C-4710-A339-7841B28CD6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80280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B8BE-3819-6347-0F09-6CF005D4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AB0250-F44B-4A1B-0D12-B8F5D70690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72573B-134F-B3A5-C2BF-21E9FA9D6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F2ED53-E5BF-E75A-B13B-8B2F7ADE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32134D-FC78-4765-8990-ADB80E154E9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6E602-2CF4-2D8E-15F7-C98B3D22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5638F6-AB4B-DE14-990B-53BECA6F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F1CBA-F1B8-4D10-AA13-0B4613A531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9455959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84974-2BFC-E840-1160-B84F799E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4A624-19E2-F04A-CCE5-4CD6B644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3CCDD-CCFF-730F-B409-1E5FDE94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82F255-3B21-6CF1-CD21-F53686D08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29AA5C-8BF9-24ED-623A-8242ACDAE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413CBD-AFCD-C9EF-ED1F-251AECC9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2FBCEE-3C9A-48FF-B403-CAB33187703B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D61BF7-6CCC-0F68-2A77-F5153C0F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CC9E56-9BFF-96B7-BCD4-DA420804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33BEA1-3EDD-4563-91BE-F30DB2A326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604958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D5282-F47A-E63B-AF1A-8F1F129A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85CA0-909D-4FC1-0583-106D24AA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1657BB-0CD1-42BB-BFB0-CC2B729C397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0382C8-9F08-0A86-8063-76C5EEDC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368644-6F1F-F45B-FC50-EC015D04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90EC8-7491-4BB0-B35E-6695CC4899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166629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40BC3-91B2-8B79-3877-56844143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FD05AC-7E4F-4C95-BC8C-09D3CFE40E5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88FF20-7CF9-06E9-CE9E-4CF02B5B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53260B-65DB-BA40-7DA1-3577EDBA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59B13-60A1-43EC-9F1A-FB8C50C409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0029296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315E8-3AD3-2B1D-4306-3DA732E9A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5917AD-7270-BC7A-BD91-48FE27432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0B944A-2D75-6C0B-E1EB-E5F85C07E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5C21D0-E92A-A4E1-D0B1-87C5E41F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E382DE-09C3-4E55-8F7D-CD044CADC0E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DA8B8C-BBB9-90C5-51F5-45179E81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B3506-EF46-5FC9-1578-AB318405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45E550-A4E6-46A9-B703-B28D04D324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234410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B6070-2184-D394-1D30-BC1129C0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59AB24-8C09-5A93-A605-ADB96AA45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964E44-AE6F-0F77-A05C-8328C2F0B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BA8C81-54F5-4F1B-7C8C-63A62633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299D9E-95EB-42F2-A0B0-05BC522CE43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BCCF4B-CD5F-DF50-D429-C3524BD9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89E975-7784-2330-B175-CDBA4B32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E2D4C-BBB8-44C0-8517-5057742224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841179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388DF-B80A-7BC5-8CDE-70086C7A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8DC171-80E0-B6BD-830A-88068A991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C655D-D861-C45B-90B7-8421ADB4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02822F-0E6C-4C2E-8BD7-98D33C7FF30D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D3F02-C262-42BA-F868-89F1B3F5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04F63-BB31-758A-2046-73816FA4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DCE11-AC25-446D-BC30-84B5DD4682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1395959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BC620-2CD0-FE04-FC3C-929B7652F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215D49-F78C-383F-B7B8-FEC72615D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BC22A-A2E0-A89F-326E-58F97513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ECA419-385A-4566-9D7A-373675434C24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CC5C9-05CC-A72E-6508-F05D4C00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F7BF71-1E7D-A066-9954-8ACA6FED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1C465-1C27-4055-ABC4-00FD7695B6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2581980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0F241F91-78E3-25CC-DA4E-3FEF4F95D86B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BD32F1E5-BD35-3A5D-AB31-084FFBF6F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DAD6246D-A5B5-8883-34D6-06D6141F75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7ED0214B-AA50-FB8B-CA24-B61ADA23F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EB24AB17-283F-A69F-49A1-99A55E5B4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1F6B851E-FE12-D897-86A5-7618848C5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58C49A74-13E2-4D49-C7DB-0F97A75485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D7CA1B48-A025-D0CC-8AF7-77FFED490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60A8213D-805C-801F-86CB-FC4040DA23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367019E0-F3D1-F025-ABBC-BDA88F2970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4F244C9E-D12D-BF87-AFAE-512602A0B4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DBDD8B26-CA9E-6ABB-B9A5-B48D4700DB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AFF59EFD-3C8C-1FF4-6B68-96D675359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1E3F4CB5-EB3A-0EDF-906F-69BEB7807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E195A7F2-0C06-B971-B6BA-2FA00CD141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3F00CF75-8FFF-37A3-9173-4A4C76704D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857C746C-A675-A9D9-2EFD-DDB96561E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BF3138BF-408E-A85A-A1F3-13D951CF9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03AC9D8F-FF3C-3CB7-0016-76345A788A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45AC39D9-6039-D8C0-A82D-97F3854A6C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19BE46EC-2DA5-456D-0E05-707866BF2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C1E936DF-FA81-586C-1BC4-6B36EB9C3A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59305489-3D40-2D48-880F-E088033C2B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D8370D03-5D8E-9D66-F1B3-BF84ACF37C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52AD99F3-2EB3-C586-ED59-FBD00651E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73754BF6-1D51-B6A4-24FA-EA6BE17F6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976F3ACC-306C-1DFE-A9A7-BFE8AF359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F088CF6E-E36B-2B92-F463-1A2DB6B534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4EB09473-2534-5250-F988-0D197FCDC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F8D81833-126E-6FA9-3D4C-C971C16C13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BC72DD80-0025-AE77-860E-C09BAB39B5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DFDE3E83-41FA-AD4E-AE27-7117569730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FAE7CBB2-16A4-19B3-FB8F-2303FD17D4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5574F7B2-89FC-B832-93D5-2850405CAF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1B33D33D-2782-D7F8-FAF9-10CA6B144B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111BD067-A209-99B8-0E45-C1C24B2C92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66085213-CB91-DE49-81C2-B71E059A5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5E1A1CF3-09A9-546B-088A-5F0B6AB21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9834F843-5B65-890C-64BA-746D829E6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FF980AA5-FD58-B60C-FF83-D19B3C71E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1F812F05-F752-FB0A-5809-2C84BE1F25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DC89AADB-01D1-664A-C3A8-CE0D06013D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665A1CF5-0F5A-879D-F4DB-E5BED3C12F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6381640F-BEC0-A6AE-15EB-EC46FF41F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5C3FD9FB-F090-392C-1030-E5EEBFABC6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717D5536-2FA6-DC1E-B0E5-61B73BFDE6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676D76D3-BED3-BA1F-7E0E-8A9B37C3B1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F2B7CB1C-CFDA-6EBD-E4F8-ACC037FDF7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CF558A95-1756-6899-4D5C-BB52374A7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059BBE32-3AD3-2A7F-0544-FBFB940E8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891E848F-7134-5BCD-0F94-D3CBA9818B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EBC94AD0-F743-D245-5B40-897531E94B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9E23B40D-BD3A-C03F-F832-D6B52A08E8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E7A3B6D9-328C-A6F7-759B-24A0F01574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B2344D74-DEBE-E7BC-7D94-09BCFE495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EF1B7E21-D685-5B08-F529-EB1413CB92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E66E08A4-3251-00B7-2B2A-1119DFA366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2722FC1F-F5FA-8647-1F41-4A8BED9D26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16B4B0D2-6A7F-165E-409E-E079E9BE17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CB5B9FD0-9A82-28EC-F1A7-C744674BA9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42AB75E2-6E5A-D5CA-25BA-E5EDC82D0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08A8DE36-4BFE-F77B-01C2-E44ACC23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E68239C7-BEC0-BD92-2F7F-6480C8AC9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8C64492B-257F-2B78-E3B7-D193298DB2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39608B64-CA8D-B025-9870-8A952CD736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156ACD3E-B4F1-317C-672B-D9A85CC06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C620605A-4E65-AED3-0682-C6FAE660B0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586D5F12-7027-289E-1829-F86C6A354A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60881178-8593-B532-D00B-2D0E2222B4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277439B9-94A6-EB04-20A8-4A3F490390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53C0A002-DDE1-6925-AED4-9E2D1FDD5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89F99A3D-1044-6D04-890F-4815D604F7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1B8C5487-0C15-B011-4033-F40C35F6C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4D83F078-0D44-4A89-2639-5D0564FB7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158B4782-F272-4E48-57A0-657B0B9E3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65C482F6-A890-FDDD-C7EB-BB38049535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0BCE9A5E-4132-8B82-DBBF-774A1BDA7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4C10A4F4-E820-FFC3-D24E-67393AD1E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CD7C6509-F102-18B4-E0D7-F2203C2C6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14BD94F1-BA41-D2CB-5A5A-A0312A397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75192EA1-1C1A-F262-4B82-E615B63A5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3E769272-232D-8035-A96E-86620D3723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4C61EA8E-8F3E-E648-4D53-681F3F45DF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07B96770-5245-D71A-1D7E-F93666504F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86D8F122-71F4-4A2B-9286-485AEE158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84231F10-6B23-49EA-CDEA-228607E67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6C1DB32B-C1B3-A706-6928-BDEA5438E9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9361F6D1-7A52-D94C-B99F-3AC6092F3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28101C95-6165-B938-63BC-AC08E233F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F24CFB04-BAB5-5083-8CB3-6FD6EC3D1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7318B3B3-9D5C-BC3D-575C-B8EE99F706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253EB27C-2D14-0D12-FDCB-FA9D03A463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6ADF0CB9-0A66-08CD-4E6D-8F6CF9600C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6F4DF585-8E59-8AB6-7C57-E452D40CDB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2CC3429B-4F6A-EEAF-42E9-ACE4E76B03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15165183-46A1-30C8-BCEF-0F22211C01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444C6B77-669B-2285-6CE6-6B547992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62ED7CBA-0ABD-A8C1-A2BB-8DF0AED4A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99908D50-96D0-F712-8B24-707D245FDF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76E7337F-1525-DB18-28AE-D7DB4B695D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78F42669-AE8D-FDE3-0A27-CAE68F0CD1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846E8BD1-09E6-0BF8-230D-C715F16F6E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35F2881E-0E06-ECF4-EF6D-A842F55ED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5EBFB5C5-C13B-DE4A-1C95-3161367B14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A98F6075-BE98-CFDE-006F-86A4D4145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138DDB34-A02C-1555-85B9-053B8BF8D6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B1263C75-DCA4-FA36-492F-1DDA3A6B9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B854BA7D-95B8-BC3F-5109-E64DDD089C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1874AC68-244E-2D93-9EB6-DAFC379E0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2BB14F9F-E5ED-16C3-5170-12F37D86A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BDEF769B-5B96-8DFA-C935-23C7EA2A70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82F5C66F-6450-219D-3BEB-08691C063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6AFCA8C3-7255-24F1-38EB-380FF9244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8C534032-A450-03D7-F2A4-589B88A931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737B7F8C-93A5-BE6F-69FC-A55054F2C8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DE59A70F-141A-3785-F155-E2B302E779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7A085038-CBC4-AAD9-D7DD-C8C83E453A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1150089E-96D4-A044-6AEF-F4BD572767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0A3E38DD-EE8B-B3F5-5020-C51E8B955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CE473647-AB81-4F89-84C2-900B65273B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E8418991-447C-4F38-0F6B-7EAF4913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21682977-C1FB-614E-7B6E-2EEBFCAC4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01C7D924-F6AE-B6FF-2625-6E15BA7DC4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2E2FEDD1-CB3F-909F-FC96-68E0F52815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B54A37E4-1038-5415-BCE2-9FE63F742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46B97797-A182-C91D-8A27-42029F4E4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D54A48E6-88B0-2433-06E8-C873899D5D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10493EC0-DED8-AFC0-2285-0E9A525C4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153FC590-8C6B-E9C9-4175-0D5EC1997E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D237DFD2-4ABD-ACEE-35A5-B66FEF975F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AC3AEE92-7374-D60B-7D64-C037F4DB5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616839E2-A88E-ADEC-2C22-484860483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377CE58E-E177-434A-2012-4B0E2F504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FED5C514-5547-B2EB-B8D9-E25D22053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82B45E4D-565C-B3FE-95E6-AEFD76296B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4768DCFD-B9E0-59D1-87C3-79EDFA275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54EADF05-2526-85EA-3212-18AD5594B5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2CCC1C00-423F-B1CF-8A37-E2FAA56378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70E260C3-8FA3-473E-7455-3E5D4EF479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141FB96B-63CB-D544-C4C6-751C150EA2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C18F546B-5329-53F2-4BC1-EAA79D77D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AEFC4586-25F5-BCDA-5E58-978D46190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8EFD55B9-92E1-AB27-C88B-F25FD012C6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50A01F0B-14C0-1D90-CCEF-EC33471790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2A8A513E-0C94-FADE-AC61-36ED55E2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3078FEDE-B0D2-FDB7-29F8-1DB8F2F3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2F670987-A74B-956E-D05C-4812DD31F73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020D7A7F-01E5-AFE2-D43E-845ED6CF59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BCE778AF-B93C-1BAD-3035-FA55B93682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465DC222-B976-E3C8-779B-D2150B54A9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B11FD535-83BE-47CA-B623-7E3F265E1D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E47BE700-F34B-9270-382C-E66FEA846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41570870-AAAC-407E-4563-8F841F01E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AFA8DE9A-6EBD-6D45-8BFA-487C174D0E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12966947-7428-74FB-71DE-5B55C233C4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33BB1154-603D-A44C-79B1-BF195C76C7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01AA5286-5D52-6BEC-3AE1-A509C689D9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DAA7927C-013A-E213-FB44-2D84C1C92D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124C5335-2FB5-E226-04A0-FBB03949F2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39CD0BF4-B0AA-A92B-01AD-F48F3D1709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2A9EFD69-0F5F-BBA2-4388-63C3A4664B7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3DF2DA4E-03D5-3CF1-2B2E-1E898940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4411DBD4-6CCD-31B0-43FB-A4401E0E7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BB9013BB-B9E4-0CA0-652C-2CE9686A85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23A2B92B-390F-0458-9454-6CDA86340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FD0BB570-CC83-5A44-DE87-B16DF7094D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ECEFB7CF-100A-0DD1-61EB-B91AEA33DD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E628EF61-49ED-5282-570B-A9FD920AB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171E6227-D556-432F-8185-0709C45A97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6AA4CAE8-91F0-BA76-78A8-CB1182FBEA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9B78931C-0793-C2A9-C05D-308583515A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57EB64F9-8A37-D41F-53D3-22A5731594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9C131EBB-35E2-2F51-870B-6D24D36573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F2FF5A89-7164-A3ED-8C41-A1F2203CD3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5222F752-1D14-C11D-6269-119C5E4AF78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299235C7-7CA1-A365-DE7F-7A52EF35D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72C5FBFD-2740-751C-8386-BF9C30697C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3FC4F045-BE22-6790-2AC3-6037D66AB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BCBA1EDA-D5AE-C07E-69D2-88F59A8C3C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A539F033-0983-0B5A-BAF0-049A2E255C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C079CF0A-9765-7B8A-FB71-031ABAABF2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5C5A507E-393F-92FB-FA8A-1309A593C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2DE064C9-226D-4C93-4C1E-C0B6DEACDF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1A34D57B-3D6F-97D7-80BA-55E15F6D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EC1096FE-905C-424C-048F-6A578936B8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1DB478C2-A5DC-7DED-12DD-2DC8040AF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B215593F-AAE5-419D-749C-A2F235B484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0E027A32-68BC-B80F-21C3-CA037C09BF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2EA0C25F-6013-92EA-BE82-99C849C05BA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460D41B1-1D2D-CCAB-5D8A-5D88DA527F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D2FBF06D-A99B-A6CD-9C2D-DAC5C13A17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0467FEF1-52D0-B03F-5355-4B243FE466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28D69FBD-DD0D-81EE-9C8E-C3F88410DC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1412785D-B870-60B1-6FFB-D7948E1598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28E9A0F8-8736-F89F-D4DF-50E93C9B04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FFD02494-D190-CC33-56F8-BBAABBC55C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BEE0E37B-BFC0-D4D9-7F56-5DD2F622D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335A68D9-212E-79E2-AAD9-6A4CF719FC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26817B0A-6202-1247-7E3B-13CD11D89B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9280586D-8E82-B9F4-E58C-BEBF50822E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AAC29DE3-1FD3-00E1-7C5E-70A19AF3E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9FB7A8C3-0ACE-F997-66C5-2D3C432679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929C732C-3CF1-D495-2D01-B488A1589DC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9F7FB6B2-21C7-139F-24BF-C397AB7CBD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97CB1E97-2F0F-2F46-1775-4E2C382204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4EAE17B4-AB2A-2090-5B84-FFD29E9586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3E597B35-F59D-813B-E9AC-F99B7FCAE7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3E6BBEFE-3650-C092-E40D-E5819A6A30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ABED1022-8E71-E45C-F50F-27FF35F922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3B4F009C-23D4-9C35-34E9-3B35BE19A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C1A2CBA4-6CD3-C3AA-838D-AE27C4C34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C1E2C011-ED1F-0D41-4820-A61942055A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A930B9EB-AB9D-E535-4D0A-F3E3F7A0D9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4B14F616-57BF-8B66-CBCB-3469E3375E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5AA6C9B9-1AED-6C6B-C493-12C4216835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D13F5C94-7BEC-A506-A860-7FEDA5106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3F39E44B-3928-0431-A946-9B4BD19CA3A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4850EC66-C804-DA5B-5AA5-E34F89EC34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7A6AE6FF-B0C5-B991-F53F-73EFE7589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C08A7D3F-1C06-8D67-D528-278A6D223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256D6826-3914-3972-ECC6-66BC769B22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1CC945AB-49C1-4033-8ED1-2ECCEDB44C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77602857-A994-4A9D-2B14-88F05D2AD4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00FB40C7-8252-4217-EB95-EF609449E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7BD98AD6-F468-3F00-CCF6-AC896922A3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22A7D8EB-BC94-FBA3-EA21-6C2F98FD7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EEAEA6BB-8BBB-53AA-28E8-B29C8F2C9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30767CF8-B54E-597C-CC04-0A88D4E98A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51334DB0-C6A4-15C5-11CA-BB072D658C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E8B4F4D5-C694-09C6-F141-D8B5F8EF52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66636A6A-3975-0960-096B-015275593B2B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C392BA9C-A04B-11B1-F17C-7D21A23B80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56EDFC30-FC3A-D2A1-9FEC-AA134925D61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54EAD58B-31DA-D851-6B26-F60B7541E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E9BE42BB-EE94-D24D-D81D-5B7AF8405F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345C25BA-5A81-5FC7-F6C5-177C4DD75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5F067DBA-90B5-07A0-664A-8438CB4C5E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13219E9C-957F-2042-5F62-2D2C095A5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AC12C092-3BCE-FCBE-219F-117D14878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8D64B835-C236-144A-A0EC-177A4FB03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C0C680E1-C36C-0847-A0AC-62C66F96E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5205CCC9-E680-EF8B-8FE6-4626C0D5D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C51F69E2-A904-86F3-25DE-D0FE9DF6A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435FB05B-CDE9-D3C3-A269-A6F42A76B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DDEBE4B2-9A38-C283-F386-8F0668D6C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F2AB3957-0F41-BF36-1EC3-6B3A23572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AE9710A4-12AE-7409-2DB4-5A0FC124B1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76C7E69C-F581-27CD-527E-5A6BE7CE125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4D5CF500-9802-17AA-B3F8-A261E5002E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0">
                <a:effectLst/>
              </a:defRPr>
            </a:lvl1pPr>
          </a:lstStyle>
          <a:p>
            <a:fld id="{290B10F2-67D6-4867-972B-5CF92A52664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4C62299C-F5DD-B2C8-F2AE-69069360AF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4EB592F8-E3C6-C41C-6191-90CB78222C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effectLst/>
              </a:defRPr>
            </a:lvl1pPr>
          </a:lstStyle>
          <a:p>
            <a:fld id="{BC48FED0-65E0-40A3-809B-91572E4CF9F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ransition>
    <p:blinds dir="vert"/>
  </p:transition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mail.sy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1.wmf"/><Relationship Id="rId3" Type="http://schemas.openxmlformats.org/officeDocument/2006/relationships/image" Target="../media/image17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9.png"/><Relationship Id="rId7" Type="http://schemas.openxmlformats.org/officeDocument/2006/relationships/image" Target="../media/image30.wmf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2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5.bin"/><Relationship Id="rId3" Type="http://schemas.openxmlformats.org/officeDocument/2006/relationships/image" Target="../media/image33.w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8.wmf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7.wmf"/><Relationship Id="rId4" Type="http://schemas.openxmlformats.org/officeDocument/2006/relationships/image" Target="../media/image34.jpeg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41.e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4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631F02D-81C0-30D5-6886-48EA88F0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EF36-45B3-40A0-B613-8EC729BC4AB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A1E10D4-7E7D-0F6D-5135-884BFA34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0D1D4-C4F1-4F88-8D61-C8C4709C304F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82306" name="Rectangle 2">
            <a:extLst>
              <a:ext uri="{FF2B5EF4-FFF2-40B4-BE49-F238E27FC236}">
                <a16:creationId xmlns:a16="http://schemas.microsoft.com/office/drawing/2014/main" id="{78E3B4B1-AE68-7273-3BE9-705FF5D39BB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DB086C67-2DA0-8F29-6A6A-33FD45E8F3F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5373688" cy="1735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Lnsxuxx@mail.sysu.edu.cn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84110495(O)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8803E54-E32E-87F5-A2E4-E1E6CD68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41D07-737E-40C6-87FB-84F9ED44838A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809B28E-F1B1-0C20-0EF3-B9572B86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B01C-C4E6-4A88-BA59-452F37080AD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8C5E6C60-34DA-EFB3-9E62-80B7E7B728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4E0A3757-DD69-3042-3741-1177C5F68A2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/>
              <a:t>IS-LM</a:t>
            </a:r>
            <a:r>
              <a:rPr lang="zh-CN" altLang="en-US" sz="2400" b="1"/>
              <a:t>模型和总需求曲线的推导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目标、政策、挑战和绩效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微观基础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/>
              <a:t>消费和投资</a:t>
            </a:r>
          </a:p>
        </p:txBody>
      </p:sp>
      <p:sp>
        <p:nvSpPr>
          <p:cNvPr id="483332" name="Oval 4">
            <a:extLst>
              <a:ext uri="{FF2B5EF4-FFF2-40B4-BE49-F238E27FC236}">
                <a16:creationId xmlns:a16="http://schemas.microsoft.com/office/drawing/2014/main" id="{12A3E892-8D7A-C4B6-D989-980937D2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805488"/>
            <a:ext cx="792162" cy="55245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endParaRPr lang="zh-CN" altLang="zh-CN" sz="2400" b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83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83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1" grpId="0" build="p" autoUpdateAnimBg="0"/>
      <p:bldP spid="483332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10EA1BB-3DF9-6F2B-0498-E4AB7F4B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2484-DF49-495F-B3B3-B9F7E6372EF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ADB7461-9BFC-79D4-B62B-4B4D161C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B0EE-2236-4868-B6D1-46BA6C09FC06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A8C9EB9B-066B-8D93-CC1B-875C4459E2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254E41AD-EFED-8D20-C04D-0ACD252A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5F92674E-851F-1E5E-9BD0-633F63AD4AE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0" y="1828800"/>
            <a:ext cx="6096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投资在宏观经济中的作用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投资理论的发展</a:t>
            </a:r>
          </a:p>
        </p:txBody>
      </p:sp>
      <p:sp>
        <p:nvSpPr>
          <p:cNvPr id="221194" name="Rectangle 10">
            <a:extLst>
              <a:ext uri="{FF2B5EF4-FFF2-40B4-BE49-F238E27FC236}">
                <a16:creationId xmlns:a16="http://schemas.microsoft.com/office/drawing/2014/main" id="{A60E4F5C-F2C2-05F7-164C-440D0C6E2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038600"/>
            <a:ext cx="426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对应章节</a:t>
            </a:r>
          </a:p>
          <a:p>
            <a:pPr lvl="1"/>
            <a:r>
              <a:rPr lang="zh-CN" altLang="en-US" sz="2400">
                <a:effectLst/>
              </a:rPr>
              <a:t>第</a:t>
            </a:r>
            <a:r>
              <a:rPr lang="en-US" altLang="zh-CN" sz="2400">
                <a:effectLst/>
              </a:rPr>
              <a:t>14</a:t>
            </a:r>
            <a:r>
              <a:rPr lang="zh-CN" altLang="en-US" sz="2400">
                <a:effectLst/>
              </a:rPr>
              <a:t>章</a:t>
            </a:r>
          </a:p>
        </p:txBody>
      </p:sp>
      <p:sp>
        <p:nvSpPr>
          <p:cNvPr id="221195" name="Line 11">
            <a:extLst>
              <a:ext uri="{FF2B5EF4-FFF2-40B4-BE49-F238E27FC236}">
                <a16:creationId xmlns:a16="http://schemas.microsoft.com/office/drawing/2014/main" id="{7902A500-7C71-F37B-21C7-0758F4BEC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48000"/>
            <a:ext cx="28956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  <p:bldP spid="22119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950B63D-5902-3D4B-B47E-7CC68F97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C3F1-F80F-4536-80B1-D343051CBBC5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EC6E2B2-398D-B3E7-3E62-E19D6970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C6B3-2A95-4492-A8CA-E743E841519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53634" name="Rectangle 2">
            <a:extLst>
              <a:ext uri="{FF2B5EF4-FFF2-40B4-BE49-F238E27FC236}">
                <a16:creationId xmlns:a16="http://schemas.microsoft.com/office/drawing/2014/main" id="{37C88D17-8117-3689-7CB0-D0104371DB7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1.0 </a:t>
            </a:r>
            <a:r>
              <a:rPr lang="zh-CN" altLang="en-US" b="1">
                <a:solidFill>
                  <a:srgbClr val="CC0000"/>
                </a:solidFill>
              </a:rPr>
              <a:t>投资需求的基本</a:t>
            </a:r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D68AA724-0328-D5EA-C89E-770ADD4A1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3636" name="Rectangle 4">
            <a:extLst>
              <a:ext uri="{FF2B5EF4-FFF2-40B4-BE49-F238E27FC236}">
                <a16:creationId xmlns:a16="http://schemas.microsoft.com/office/drawing/2014/main" id="{67C5852B-372B-E211-CA09-CFFD4D543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两个基本概念</a:t>
            </a:r>
          </a:p>
        </p:txBody>
      </p:sp>
      <p:sp>
        <p:nvSpPr>
          <p:cNvPr id="453637" name="Rectangle 5">
            <a:extLst>
              <a:ext uri="{FF2B5EF4-FFF2-40B4-BE49-F238E27FC236}">
                <a16:creationId xmlns:a16="http://schemas.microsoft.com/office/drawing/2014/main" id="{AEA31B93-5939-7CF7-7350-64EC148E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57400"/>
            <a:ext cx="8763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</a:rPr>
              <a:t>资本 ： 积累的机器、设备、厂房以及其它耐用生产要素存量。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</a:rPr>
              <a:t>投资 ： 用来维持或增加经济中资本存量的流量。</a:t>
            </a:r>
            <a:endParaRPr lang="zh-CN" altLang="en-US">
              <a:effectLst/>
            </a:endParaRPr>
          </a:p>
        </p:txBody>
      </p:sp>
      <p:sp>
        <p:nvSpPr>
          <p:cNvPr id="453644" name="Rectangle 12">
            <a:extLst>
              <a:ext uri="{FF2B5EF4-FFF2-40B4-BE49-F238E27FC236}">
                <a16:creationId xmlns:a16="http://schemas.microsoft.com/office/drawing/2014/main" id="{6518889C-9134-2F84-B055-C9FDD3911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92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endParaRPr lang="zh-CN" altLang="zh-CN">
              <a:effectLst/>
            </a:endParaRPr>
          </a:p>
        </p:txBody>
      </p:sp>
      <p:sp>
        <p:nvSpPr>
          <p:cNvPr id="453645" name="Rectangle 13">
            <a:extLst>
              <a:ext uri="{FF2B5EF4-FFF2-40B4-BE49-F238E27FC236}">
                <a16:creationId xmlns:a16="http://schemas.microsoft.com/office/drawing/2014/main" id="{87411C15-0C3D-3E51-29B7-3D98EB878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33800"/>
            <a:ext cx="86868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投资分类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固定投资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存货投资（包括原料积累、半成品、库存成品等）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住宅投资（包括房屋维修和建造新房的开支）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4" grpId="0" autoUpdateAnimBg="0"/>
      <p:bldP spid="453636" grpId="0" autoUpdateAnimBg="0"/>
      <p:bldP spid="453637" grpId="0" autoUpdateAnimBg="0"/>
      <p:bldP spid="453644" grpId="0" autoUpdateAnimBg="0"/>
      <p:bldP spid="45364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841CFF4-958C-67EA-8AFA-4421A63B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FE82-FC4C-4036-BA49-ACE3597B3B0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01F4CFA-A578-6434-BB49-2F729290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DCA4E-5343-40C7-AB0A-5A956108DB1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55682" name="Rectangle 2">
            <a:extLst>
              <a:ext uri="{FF2B5EF4-FFF2-40B4-BE49-F238E27FC236}">
                <a16:creationId xmlns:a16="http://schemas.microsoft.com/office/drawing/2014/main" id="{74CF28E6-9F2F-3359-F6A1-B3E663A7639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1.0 </a:t>
            </a:r>
            <a:r>
              <a:rPr lang="zh-CN" altLang="en-US" b="1">
                <a:solidFill>
                  <a:srgbClr val="CC0000"/>
                </a:solidFill>
              </a:rPr>
              <a:t>投资需求的基本概念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F130CFA9-DF55-1A3F-10AA-E271E008A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5684" name="Rectangle 4">
            <a:extLst>
              <a:ext uri="{FF2B5EF4-FFF2-40B4-BE49-F238E27FC236}">
                <a16:creationId xmlns:a16="http://schemas.microsoft.com/office/drawing/2014/main" id="{C45C40D6-0650-866E-64DE-65DDB8601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总投资包括</a:t>
            </a:r>
          </a:p>
          <a:p>
            <a:pPr lvl="1"/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折旧，即用于替换因磨损等而需废弃的资本的支出</a:t>
            </a:r>
          </a:p>
          <a:p>
            <a:pPr lvl="1"/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净投资，即用于增加经济中资本存量的支出。</a:t>
            </a:r>
          </a:p>
        </p:txBody>
      </p:sp>
      <p:sp>
        <p:nvSpPr>
          <p:cNvPr id="455687" name="Rectangle 7">
            <a:extLst>
              <a:ext uri="{FF2B5EF4-FFF2-40B4-BE49-F238E27FC236}">
                <a16:creationId xmlns:a16="http://schemas.microsoft.com/office/drawing/2014/main" id="{CBF85DCD-2B64-B424-C416-FBA5DB8A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00400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投资需求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假定直线折旧。</a:t>
            </a:r>
          </a:p>
        </p:txBody>
      </p:sp>
      <p:grpSp>
        <p:nvGrpSpPr>
          <p:cNvPr id="455699" name="Group 19">
            <a:extLst>
              <a:ext uri="{FF2B5EF4-FFF2-40B4-BE49-F238E27FC236}">
                <a16:creationId xmlns:a16="http://schemas.microsoft.com/office/drawing/2014/main" id="{0E6D6A30-CC80-FDEB-4BB3-D08664C7F664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146550"/>
            <a:ext cx="8229600" cy="1187450"/>
            <a:chOff x="576" y="2612"/>
            <a:chExt cx="5184" cy="748"/>
          </a:xfrm>
        </p:grpSpPr>
        <p:graphicFrame>
          <p:nvGraphicFramePr>
            <p:cNvPr id="455690" name="Object 10">
              <a:extLst>
                <a:ext uri="{FF2B5EF4-FFF2-40B4-BE49-F238E27FC236}">
                  <a16:creationId xmlns:a16="http://schemas.microsoft.com/office/drawing/2014/main" id="{C3953914-1DB1-443E-8054-78AD433883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880"/>
            <a:ext cx="100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47640" imgH="190440" progId="Equation.DSMT4">
                    <p:embed/>
                  </p:oleObj>
                </mc:Choice>
                <mc:Fallback>
                  <p:oleObj name="Equation" r:id="rId2" imgW="647640" imgH="1904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880"/>
                          <a:ext cx="100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5691" name="Object 11">
              <a:extLst>
                <a:ext uri="{FF2B5EF4-FFF2-40B4-BE49-F238E27FC236}">
                  <a16:creationId xmlns:a16="http://schemas.microsoft.com/office/drawing/2014/main" id="{91AB182F-EE72-6C8A-0A48-9BCB1D25FE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2866"/>
            <a:ext cx="129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61760" imgH="177480" progId="Equation.DSMT4">
                    <p:embed/>
                  </p:oleObj>
                </mc:Choice>
                <mc:Fallback>
                  <p:oleObj name="Equation" r:id="rId4" imgW="761760" imgH="1774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866"/>
                          <a:ext cx="129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5692" name="Text Box 12">
              <a:extLst>
                <a:ext uri="{FF2B5EF4-FFF2-40B4-BE49-F238E27FC236}">
                  <a16:creationId xmlns:a16="http://schemas.microsoft.com/office/drawing/2014/main" id="{EC7A30A7-96A9-C5C6-1D4F-681D724C7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2612"/>
              <a:ext cx="2449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>
                  <a:effectLst/>
                  <a:latin typeface="Times New Roman" panose="02020603050405020304" pitchFamily="18" charset="0"/>
                </a:rPr>
                <a:t>其中</a:t>
              </a:r>
              <a:r>
                <a:rPr kumimoji="1" lang="en-US" altLang="zh-CN" sz="2400">
                  <a:effectLst/>
                  <a:latin typeface="Times New Roman" panose="02020603050405020304" pitchFamily="18" charset="0"/>
                </a:rPr>
                <a:t>,  I</a:t>
              </a:r>
              <a:r>
                <a:rPr kumimoji="1" lang="en-US" altLang="zh-CN" sz="2400" baseline="30000">
                  <a:effectLst/>
                  <a:latin typeface="Times New Roman" panose="02020603050405020304" pitchFamily="18" charset="0"/>
                </a:rPr>
                <a:t>gross</a:t>
              </a:r>
              <a:r>
                <a:rPr kumimoji="1" lang="zh-CN" altLang="en-US" sz="2400">
                  <a:effectLst/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400">
                  <a:effectLst/>
                  <a:latin typeface="Times New Roman" panose="02020603050405020304" pitchFamily="18" charset="0"/>
                </a:rPr>
                <a:t>I</a:t>
              </a:r>
              <a:r>
                <a:rPr kumimoji="1" lang="zh-CN" altLang="en-US" sz="2400">
                  <a:effectLst/>
                  <a:latin typeface="Times New Roman" panose="02020603050405020304" pitchFamily="18" charset="0"/>
                </a:rPr>
                <a:t>、</a:t>
              </a:r>
              <a:r>
                <a:rPr kumimoji="1" lang="en-US" altLang="zh-CN" sz="2400">
                  <a:effectLst/>
                  <a:latin typeface="Times New Roman" panose="02020603050405020304" pitchFamily="18" charset="0"/>
                </a:rPr>
                <a:t>D</a:t>
              </a:r>
              <a:r>
                <a:rPr kumimoji="1" lang="zh-CN" altLang="en-US" sz="2400">
                  <a:effectLst/>
                  <a:latin typeface="Times New Roman" panose="02020603050405020304" pitchFamily="18" charset="0"/>
                </a:rPr>
                <a:t>和</a:t>
              </a:r>
              <a:r>
                <a:rPr kumimoji="1" lang="en-US" altLang="zh-CN" sz="2400">
                  <a:effectLst/>
                  <a:latin typeface="Times New Roman" panose="02020603050405020304" pitchFamily="18" charset="0"/>
                </a:rPr>
                <a:t>K</a:t>
              </a:r>
              <a:r>
                <a:rPr kumimoji="1" lang="zh-CN" altLang="en-US" sz="2400">
                  <a:effectLst/>
                  <a:latin typeface="Times New Roman" panose="02020603050405020304" pitchFamily="18" charset="0"/>
                </a:rPr>
                <a:t>分别是总投资、净投资、折旧率和资本存量。</a:t>
              </a:r>
            </a:p>
          </p:txBody>
        </p:sp>
      </p:grpSp>
      <p:grpSp>
        <p:nvGrpSpPr>
          <p:cNvPr id="455700" name="Group 20">
            <a:extLst>
              <a:ext uri="{FF2B5EF4-FFF2-40B4-BE49-F238E27FC236}">
                <a16:creationId xmlns:a16="http://schemas.microsoft.com/office/drawing/2014/main" id="{9E21708C-60A5-57A6-4656-C951AA42CF6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805488"/>
            <a:ext cx="7620000" cy="528637"/>
            <a:chOff x="480" y="3657"/>
            <a:chExt cx="4800" cy="333"/>
          </a:xfrm>
        </p:grpSpPr>
        <p:graphicFrame>
          <p:nvGraphicFramePr>
            <p:cNvPr id="455694" name="Object 14">
              <a:extLst>
                <a:ext uri="{FF2B5EF4-FFF2-40B4-BE49-F238E27FC236}">
                  <a16:creationId xmlns:a16="http://schemas.microsoft.com/office/drawing/2014/main" id="{BCB5EF2E-8D08-E08C-5220-1286944DCE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3682"/>
            <a:ext cx="168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30040" imgH="203040" progId="Equation.DSMT4">
                    <p:embed/>
                  </p:oleObj>
                </mc:Choice>
                <mc:Fallback>
                  <p:oleObj name="Equation" r:id="rId6" imgW="1130040" imgH="2030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682"/>
                          <a:ext cx="168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5695" name="Object 15">
              <a:extLst>
                <a:ext uri="{FF2B5EF4-FFF2-40B4-BE49-F238E27FC236}">
                  <a16:creationId xmlns:a16="http://schemas.microsoft.com/office/drawing/2014/main" id="{CE02DCFB-B6C9-5234-BDB8-A0233766EF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7" y="3657"/>
            <a:ext cx="96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640" imgH="190440" progId="Equation.DSMT4">
                    <p:embed/>
                  </p:oleObj>
                </mc:Choice>
                <mc:Fallback>
                  <p:oleObj name="Equation" r:id="rId8" imgW="647640" imgH="19044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7" y="3657"/>
                          <a:ext cx="96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5696" name="Rectangle 16">
              <a:extLst>
                <a:ext uri="{FF2B5EF4-FFF2-40B4-BE49-F238E27FC236}">
                  <a16:creationId xmlns:a16="http://schemas.microsoft.com/office/drawing/2014/main" id="{FEF6907A-9D2A-5C66-211F-A64E4AB99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63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>
                  <a:effectLst/>
                  <a:latin typeface="Times New Roman" panose="02020603050405020304" pitchFamily="18" charset="0"/>
                </a:rPr>
                <a:t>资本积累方程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2" grpId="0" autoUpdateAnimBg="0"/>
      <p:bldP spid="455684" grpId="0" autoUpdateAnimBg="0"/>
      <p:bldP spid="45568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D79ED42-7BBA-8A8D-AE46-19946057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A203-5AFA-44B7-965A-7A1C54111F6B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6CE2CE-67D6-50D5-58DC-1B152EA3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7AA04-12AC-4A02-8ADA-EEA3E15647F3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56706" name="Rectangle 2">
            <a:extLst>
              <a:ext uri="{FF2B5EF4-FFF2-40B4-BE49-F238E27FC236}">
                <a16:creationId xmlns:a16="http://schemas.microsoft.com/office/drawing/2014/main" id="{6AF85AAB-4B88-60B9-6598-10B8DC89E8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2.1 </a:t>
            </a:r>
            <a:r>
              <a:rPr lang="zh-CN" altLang="en-US" b="1">
                <a:solidFill>
                  <a:srgbClr val="CC0000"/>
                </a:solidFill>
              </a:rPr>
              <a:t>投资的典型实事 </a:t>
            </a: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AE8FF198-E557-2BA3-399E-BDCCE4275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6708" name="Rectangle 4">
            <a:extLst>
              <a:ext uri="{FF2B5EF4-FFF2-40B4-BE49-F238E27FC236}">
                <a16:creationId xmlns:a16="http://schemas.microsoft.com/office/drawing/2014/main" id="{F65F8A5E-6373-8B0F-6120-C3ED9705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投资占</a:t>
            </a:r>
            <a:r>
              <a:rPr lang="en-US" altLang="zh-CN">
                <a:solidFill>
                  <a:schemeClr val="tx2"/>
                </a:solidFill>
                <a:effectLst/>
              </a:rPr>
              <a:t>GDP</a:t>
            </a:r>
            <a:r>
              <a:rPr lang="zh-CN" altLang="en-US">
                <a:solidFill>
                  <a:schemeClr val="tx2"/>
                </a:solidFill>
                <a:effectLst/>
              </a:rPr>
              <a:t>的比重比消费的低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456718" name="Object 14">
            <a:extLst>
              <a:ext uri="{FF2B5EF4-FFF2-40B4-BE49-F238E27FC236}">
                <a16:creationId xmlns:a16="http://schemas.microsoft.com/office/drawing/2014/main" id="{8406C4EE-7898-2265-AD17-479EA551D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475" y="1828800"/>
          <a:ext cx="6384925" cy="434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867754" imgH="4353154" progId="MSGraph.Chart.8">
                  <p:embed followColorScheme="full"/>
                </p:oleObj>
              </mc:Choice>
              <mc:Fallback>
                <p:oleObj name="Chart" r:id="rId3" imgW="6867754" imgH="4353154" progId="MSGraph.Chart.8">
                  <p:embed followColorScheme="full"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828800"/>
                        <a:ext cx="6384925" cy="434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9" name="Text Box 15">
            <a:extLst>
              <a:ext uri="{FF2B5EF4-FFF2-40B4-BE49-F238E27FC236}">
                <a16:creationId xmlns:a16="http://schemas.microsoft.com/office/drawing/2014/main" id="{ED9C6D01-8261-17D5-1767-E44248AE5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248400"/>
            <a:ext cx="487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中国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1952-2002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年间消费与投资占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比重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71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718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718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6" grpId="0" autoUpdateAnimBg="0"/>
      <p:bldP spid="456708" grpId="0" autoUpdateAnimBg="0"/>
      <p:bldOleChart spid="456718" grpId="0" bld="series"/>
      <p:bldP spid="45671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1179D59-1C26-0946-333B-70E1D28A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DA52-DDF7-42F7-9BE5-4FE3DC80170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E1D99F6-414D-6A7B-7B3A-13F7FAAD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B923-5451-4B02-B25B-A5FAD9648D32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D732A19C-A2B1-A979-FF73-131CB33B217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投资的典型实事 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BCC3EDDB-1D0F-778D-4F12-E0AD69510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7732" name="Rectangle 4">
            <a:extLst>
              <a:ext uri="{FF2B5EF4-FFF2-40B4-BE49-F238E27FC236}">
                <a16:creationId xmlns:a16="http://schemas.microsoft.com/office/drawing/2014/main" id="{DA3E5806-7926-229C-5822-9376650A6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投资波动大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457735" name="Picture 7">
            <a:extLst>
              <a:ext uri="{FF2B5EF4-FFF2-40B4-BE49-F238E27FC236}">
                <a16:creationId xmlns:a16="http://schemas.microsoft.com/office/drawing/2014/main" id="{DCF9C6F7-4A44-9705-9671-D4143C85E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08275"/>
            <a:ext cx="4114800" cy="289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57736" name="Object 8">
            <a:extLst>
              <a:ext uri="{FF2B5EF4-FFF2-40B4-BE49-F238E27FC236}">
                <a16:creationId xmlns:a16="http://schemas.microsoft.com/office/drawing/2014/main" id="{54A944B7-5C34-6B1E-5FF5-F99D64A66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9800" y="2111375"/>
          <a:ext cx="4470400" cy="375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877507" imgH="4362907" progId="MSGraph.Chart.8">
                  <p:embed followColorScheme="full"/>
                </p:oleObj>
              </mc:Choice>
              <mc:Fallback>
                <p:oleObj name="Chart" r:id="rId4" imgW="6877507" imgH="4362907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2111375"/>
                        <a:ext cx="4470400" cy="375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37" name="Text Box 9">
            <a:extLst>
              <a:ext uri="{FF2B5EF4-FFF2-40B4-BE49-F238E27FC236}">
                <a16:creationId xmlns:a16="http://schemas.microsoft.com/office/drawing/2014/main" id="{807F4C14-4367-7A6F-C4E5-C3B2DC098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1722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美国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1959-2002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年的投资与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</a:p>
        </p:txBody>
      </p:sp>
      <p:sp>
        <p:nvSpPr>
          <p:cNvPr id="457738" name="Text Box 10">
            <a:extLst>
              <a:ext uri="{FF2B5EF4-FFF2-40B4-BE49-F238E27FC236}">
                <a16:creationId xmlns:a16="http://schemas.microsoft.com/office/drawing/2014/main" id="{196D26D7-C0A9-5BE6-3046-7CF256607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21665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中国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1952-2002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年的投资与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GDP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736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736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736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0" grpId="0" autoUpdateAnimBg="0"/>
      <p:bldP spid="457732" grpId="0" autoUpdateAnimBg="0"/>
      <p:bldOleChart spid="457736" grpId="0" bld="series"/>
      <p:bldP spid="457737" grpId="0" autoUpdateAnimBg="0"/>
      <p:bldP spid="45773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082DA97-FA09-D8ED-2973-348BCA772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EFFCB-3B3C-4D42-9C8F-9CF562D4143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A13D031-DECE-9A65-C1E5-84114F7A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99B4-0F64-4C55-8AA6-D86525D2C09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58754" name="Rectangle 1026">
            <a:extLst>
              <a:ext uri="{FF2B5EF4-FFF2-40B4-BE49-F238E27FC236}">
                <a16:creationId xmlns:a16="http://schemas.microsoft.com/office/drawing/2014/main" id="{26C9DFB4-6EC9-7D37-D8CC-BD5DD89629D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2.3 </a:t>
            </a:r>
            <a:r>
              <a:rPr lang="zh-CN" altLang="en-US" b="1">
                <a:solidFill>
                  <a:srgbClr val="CC0000"/>
                </a:solidFill>
              </a:rPr>
              <a:t>投资的典型实事 </a:t>
            </a:r>
          </a:p>
        </p:txBody>
      </p:sp>
      <p:sp>
        <p:nvSpPr>
          <p:cNvPr id="458755" name="Rectangle 1027">
            <a:extLst>
              <a:ext uri="{FF2B5EF4-FFF2-40B4-BE49-F238E27FC236}">
                <a16:creationId xmlns:a16="http://schemas.microsoft.com/office/drawing/2014/main" id="{42AC0AF9-E7FB-88D2-5891-1ADD500F9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8756" name="Rectangle 1028">
            <a:extLst>
              <a:ext uri="{FF2B5EF4-FFF2-40B4-BE49-F238E27FC236}">
                <a16:creationId xmlns:a16="http://schemas.microsoft.com/office/drawing/2014/main" id="{6618F7A8-7E6D-9A55-C29F-9D648778F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（非住宅）固定资产投资最要紧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458758" name="Object 1030">
            <a:extLst>
              <a:ext uri="{FF2B5EF4-FFF2-40B4-BE49-F238E27FC236}">
                <a16:creationId xmlns:a16="http://schemas.microsoft.com/office/drawing/2014/main" id="{3CDC1337-E274-2B49-D5D9-C688447CB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111375"/>
          <a:ext cx="4470400" cy="390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877507" imgH="4362907" progId="MSGraph.Chart.8">
                  <p:embed followColorScheme="full"/>
                </p:oleObj>
              </mc:Choice>
              <mc:Fallback>
                <p:oleObj name="Chart" r:id="rId2" imgW="6877507" imgH="4362907" progId="MSGraph.Chart.8">
                  <p:embed followColorScheme="full"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111375"/>
                        <a:ext cx="4470400" cy="390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8759" name="Picture 1031">
            <a:extLst>
              <a:ext uri="{FF2B5EF4-FFF2-40B4-BE49-F238E27FC236}">
                <a16:creationId xmlns:a16="http://schemas.microsoft.com/office/drawing/2014/main" id="{E780DD2C-9B40-4C56-3E7D-BDC5A43F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89213"/>
            <a:ext cx="4425950" cy="31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8760" name="Text Box 1032">
            <a:extLst>
              <a:ext uri="{FF2B5EF4-FFF2-40B4-BE49-F238E27FC236}">
                <a16:creationId xmlns:a16="http://schemas.microsoft.com/office/drawing/2014/main" id="{51938EDD-2241-2ECD-1A88-E62E6EA7A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338888"/>
            <a:ext cx="350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美国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1959-2002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年间投资的构成</a:t>
            </a:r>
          </a:p>
        </p:txBody>
      </p:sp>
      <p:sp>
        <p:nvSpPr>
          <p:cNvPr id="458761" name="Text Box 1033">
            <a:extLst>
              <a:ext uri="{FF2B5EF4-FFF2-40B4-BE49-F238E27FC236}">
                <a16:creationId xmlns:a16="http://schemas.microsoft.com/office/drawing/2014/main" id="{5FA0C3D7-34B7-D6FD-C656-3CBA8B0C1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262688"/>
            <a:ext cx="350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中国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1952-2002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年间投资的构成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875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8758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8758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4" grpId="0" autoUpdateAnimBg="0"/>
      <p:bldP spid="458756" grpId="0" autoUpdateAnimBg="0"/>
      <p:bldOleChart spid="458758" grpId="0" bld="series"/>
      <p:bldP spid="458760" grpId="0" autoUpdateAnimBg="0"/>
      <p:bldP spid="45876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58EC4E1-13EB-65AA-C4AD-C523A4DA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80F3-7864-42FE-8C92-DB72F0E6C05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861FB24D-880F-E25B-09E5-32ED473A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23D2B-263E-4996-BA99-F845B599D63B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61826" name="Rectangle 1026">
            <a:extLst>
              <a:ext uri="{FF2B5EF4-FFF2-40B4-BE49-F238E27FC236}">
                <a16:creationId xmlns:a16="http://schemas.microsoft.com/office/drawing/2014/main" id="{7DDF3C50-BF3A-FF26-E45E-0951F24221C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投资的典型实事 </a:t>
            </a:r>
          </a:p>
        </p:txBody>
      </p:sp>
      <p:sp>
        <p:nvSpPr>
          <p:cNvPr id="461827" name="Rectangle 1027">
            <a:extLst>
              <a:ext uri="{FF2B5EF4-FFF2-40B4-BE49-F238E27FC236}">
                <a16:creationId xmlns:a16="http://schemas.microsoft.com/office/drawing/2014/main" id="{180C2586-7980-8881-56E3-471FEF58F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1828" name="Rectangle 1028">
            <a:extLst>
              <a:ext uri="{FF2B5EF4-FFF2-40B4-BE49-F238E27FC236}">
                <a16:creationId xmlns:a16="http://schemas.microsoft.com/office/drawing/2014/main" id="{CBECF763-7092-A4C3-AC70-C106E4A9F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投资主要来自自有资金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461829" name="Object 1029">
            <a:extLst>
              <a:ext uri="{FF2B5EF4-FFF2-40B4-BE49-F238E27FC236}">
                <a16:creationId xmlns:a16="http://schemas.microsoft.com/office/drawing/2014/main" id="{643D8482-D9F1-0E8A-4548-8D16B2E1E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676400"/>
          <a:ext cx="4470400" cy="367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877507" imgH="4362907" progId="MSGraph.Chart.8">
                  <p:embed followColorScheme="full"/>
                </p:oleObj>
              </mc:Choice>
              <mc:Fallback>
                <p:oleObj name="Chart" r:id="rId2" imgW="6877507" imgH="4362907" progId="MSGraph.Chart.8">
                  <p:embed followColorScheme="full"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676400"/>
                        <a:ext cx="4470400" cy="367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1" name="Text Box 1031">
            <a:extLst>
              <a:ext uri="{FF2B5EF4-FFF2-40B4-BE49-F238E27FC236}">
                <a16:creationId xmlns:a16="http://schemas.microsoft.com/office/drawing/2014/main" id="{EE5091F8-0198-18BD-49D3-A31E5E6D8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338888"/>
            <a:ext cx="350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美国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1970-1984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年间资金来源</a:t>
            </a:r>
          </a:p>
        </p:txBody>
      </p:sp>
      <p:sp>
        <p:nvSpPr>
          <p:cNvPr id="461832" name="Text Box 1032">
            <a:extLst>
              <a:ext uri="{FF2B5EF4-FFF2-40B4-BE49-F238E27FC236}">
                <a16:creationId xmlns:a16="http://schemas.microsoft.com/office/drawing/2014/main" id="{39BC5051-3C17-631A-5367-2423370A5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6096000"/>
            <a:ext cx="3505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中国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1981-2002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年间投资来源的构成</a:t>
            </a:r>
          </a:p>
        </p:txBody>
      </p:sp>
      <p:graphicFrame>
        <p:nvGraphicFramePr>
          <p:cNvPr id="461833" name="Object 1033">
            <a:extLst>
              <a:ext uri="{FF2B5EF4-FFF2-40B4-BE49-F238E27FC236}">
                <a16:creationId xmlns:a16="http://schemas.microsoft.com/office/drawing/2014/main" id="{7954465B-4F72-5156-65F8-08A3ADFAF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2133600"/>
          <a:ext cx="42672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96305" imgH="4067556" progId="MSGraph.Chart.8">
                  <p:embed followColorScheme="full"/>
                </p:oleObj>
              </mc:Choice>
              <mc:Fallback>
                <p:oleObj name="Chart" r:id="rId4" imgW="6096305" imgH="4067556" progId="MSGraph.Chart.8">
                  <p:embed followColorScheme="full"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133600"/>
                        <a:ext cx="42672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183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183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1833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1833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829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6" grpId="0" autoUpdateAnimBg="0"/>
      <p:bldP spid="461828" grpId="0" autoUpdateAnimBg="0"/>
      <p:bldOleChart spid="461829" grpId="0" bld="series"/>
      <p:bldP spid="461831" grpId="0" autoUpdateAnimBg="0"/>
      <p:bldP spid="461832" grpId="0" autoUpdateAnimBg="0"/>
      <p:bldOleChart spid="461833" grpId="0" bld="series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85E53B2-C151-1668-905D-0E6C6F89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CF696-D93F-4DD8-9C6B-0E5DDB75C29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F9B13AB-E510-F258-B7AC-22F7324E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CD3FD-46E1-4548-9976-EDF741D23A1E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62850" name="Rectangle 2">
            <a:extLst>
              <a:ext uri="{FF2B5EF4-FFF2-40B4-BE49-F238E27FC236}">
                <a16:creationId xmlns:a16="http://schemas.microsoft.com/office/drawing/2014/main" id="{FDA88410-0AAF-3C97-F66B-DF8239D285D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2.5 </a:t>
            </a:r>
            <a:r>
              <a:rPr lang="zh-CN" altLang="en-US" b="1">
                <a:solidFill>
                  <a:srgbClr val="CC0000"/>
                </a:solidFill>
              </a:rPr>
              <a:t>投资的典型实事 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25969DE2-E243-E4CE-7BF2-670DC10B1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2852" name="Rectangle 4">
            <a:extLst>
              <a:ext uri="{FF2B5EF4-FFF2-40B4-BE49-F238E27FC236}">
                <a16:creationId xmlns:a16="http://schemas.microsoft.com/office/drawing/2014/main" id="{CA41F7CB-6A0A-D996-2D70-A1718D206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投资率越高，经济体越富裕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462857" name="Picture 9">
            <a:extLst>
              <a:ext uri="{FF2B5EF4-FFF2-40B4-BE49-F238E27FC236}">
                <a16:creationId xmlns:a16="http://schemas.microsoft.com/office/drawing/2014/main" id="{7DAA41AB-D045-0716-5DBD-444E39031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09775"/>
            <a:ext cx="5638800" cy="484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0" grpId="0" autoUpdateAnimBg="0"/>
      <p:bldP spid="46285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EC19ED5-B02C-80FF-DB6E-6E5C21BA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53D2-D3D6-4457-B299-A3F41165B79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C30FA71-CB51-5E25-0934-9C39241C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79DC6-E312-4465-AE08-2305A96D6A08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5241E8D7-E029-5FAB-0123-DBC3CBDAB71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2.6 </a:t>
            </a:r>
            <a:r>
              <a:rPr lang="zh-CN" altLang="en-US" b="1">
                <a:solidFill>
                  <a:srgbClr val="CC0000"/>
                </a:solidFill>
              </a:rPr>
              <a:t>小结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2D7748D9-A877-E19E-58BE-B84B40D2B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3876" name="Rectangle 4">
            <a:extLst>
              <a:ext uri="{FF2B5EF4-FFF2-40B4-BE49-F238E27FC236}">
                <a16:creationId xmlns:a16="http://schemas.microsoft.com/office/drawing/2014/main" id="{C6ECAC3A-ADF4-9AB9-0EFE-9E640FEC9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投资典型事实小结</a:t>
            </a:r>
          </a:p>
        </p:txBody>
      </p:sp>
      <p:sp>
        <p:nvSpPr>
          <p:cNvPr id="463877" name="Rectangle 5">
            <a:extLst>
              <a:ext uri="{FF2B5EF4-FFF2-40B4-BE49-F238E27FC236}">
                <a16:creationId xmlns:a16="http://schemas.microsoft.com/office/drawing/2014/main" id="{90D1DE13-E46B-43AE-B4D2-5640853F5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57400"/>
            <a:ext cx="8763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</a:rPr>
              <a:t>投资所占比重不是很大，但波动大</a:t>
            </a:r>
          </a:p>
          <a:p>
            <a:pPr lvl="1"/>
            <a:r>
              <a:rPr lang="zh-CN" altLang="en-US">
                <a:effectLst/>
              </a:rPr>
              <a:t>非住宅投资最要紧</a:t>
            </a:r>
          </a:p>
          <a:p>
            <a:pPr lvl="1"/>
            <a:r>
              <a:rPr lang="zh-CN" altLang="en-US">
                <a:effectLst/>
              </a:rPr>
              <a:t>投资主要来自自由资金</a:t>
            </a:r>
          </a:p>
          <a:p>
            <a:pPr lvl="1"/>
            <a:r>
              <a:rPr lang="zh-CN" altLang="en-US">
                <a:effectLst/>
              </a:rPr>
              <a:t>投资与经济体的富裕程度高度相关</a:t>
            </a:r>
          </a:p>
        </p:txBody>
      </p:sp>
      <p:sp>
        <p:nvSpPr>
          <p:cNvPr id="463879" name="Rectangle 7">
            <a:extLst>
              <a:ext uri="{FF2B5EF4-FFF2-40B4-BE49-F238E27FC236}">
                <a16:creationId xmlns:a16="http://schemas.microsoft.com/office/drawing/2014/main" id="{E285A7F9-F975-0F0A-25EF-9DD3F501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343400"/>
            <a:ext cx="86868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投资非常重要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投资波动与经济波动密切相关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投资是宏观经济政策传导的“桥梁”</a:t>
            </a:r>
          </a:p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  <a:sym typeface="Wingdings" panose="05000000000000000000" pitchFamily="2" charset="2"/>
              </a:rPr>
              <a:t>投资关系到经济体的长期增长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4" grpId="0" autoUpdateAnimBg="0"/>
      <p:bldP spid="463876" grpId="0" autoUpdateAnimBg="0"/>
      <p:bldP spid="463877" grpId="0" autoUpdateAnimBg="0"/>
      <p:bldP spid="46387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020335C-5480-0B03-6A19-F31AE74C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7E73-C830-4B8F-9926-69E5D078009F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9FBD057-D2D3-4A33-BD5C-ED1E1A92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258F-8A94-47EF-B17D-B4FF92038B0C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B94FCBCC-4387-4C61-FFD7-F02451F8FFB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3.0 </a:t>
            </a:r>
            <a:r>
              <a:rPr lang="zh-CN" altLang="en-US" b="1">
                <a:solidFill>
                  <a:srgbClr val="CC0000"/>
                </a:solidFill>
              </a:rPr>
              <a:t>投资理论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BE5E1BD6-5ABD-D632-FE05-437DB48CA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5924" name="Rectangle 4">
            <a:extLst>
              <a:ext uri="{FF2B5EF4-FFF2-40B4-BE49-F238E27FC236}">
                <a16:creationId xmlns:a16="http://schemas.microsoft.com/office/drawing/2014/main" id="{A4A4BEFF-EE44-3374-705D-E7C0A5C9B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7772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effectLst/>
                <a:latin typeface="Times New Roman" panose="02020603050405020304" pitchFamily="18" charset="0"/>
              </a:rPr>
              <a:t>投资理论的发展大致经历了四个阶段</a:t>
            </a:r>
          </a:p>
          <a:p>
            <a:pPr lvl="1"/>
            <a:r>
              <a:rPr lang="zh-CN" altLang="en-US">
                <a:effectLst/>
              </a:rPr>
              <a:t>古典投资理论</a:t>
            </a:r>
          </a:p>
          <a:p>
            <a:pPr lvl="1"/>
            <a:r>
              <a:rPr lang="zh-CN" altLang="en-US">
                <a:effectLst/>
              </a:rPr>
              <a:t>新古典投资理论</a:t>
            </a:r>
          </a:p>
          <a:p>
            <a:pPr lvl="1"/>
            <a:r>
              <a:rPr lang="en-US" altLang="zh-CN">
                <a:effectLst/>
              </a:rPr>
              <a:t>Q</a:t>
            </a:r>
            <a:r>
              <a:rPr lang="zh-CN" altLang="en-US">
                <a:effectLst/>
              </a:rPr>
              <a:t>理论</a:t>
            </a:r>
          </a:p>
          <a:p>
            <a:pPr lvl="1"/>
            <a:r>
              <a:rPr lang="zh-CN" altLang="en-US">
                <a:effectLst/>
              </a:rPr>
              <a:t>不可逆投资理论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2" grpId="0" autoUpdateAnimBg="0"/>
      <p:bldP spid="46592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F987F65-07F6-C129-13CE-10EEF6DF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140-B4BF-47FA-9014-CF821B145CC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98592A6-55BA-4775-B400-2BEF9A41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F63B5-569E-4607-8863-91B1157D24E5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66946" name="Rectangle 1026">
            <a:extLst>
              <a:ext uri="{FF2B5EF4-FFF2-40B4-BE49-F238E27FC236}">
                <a16:creationId xmlns:a16="http://schemas.microsoft.com/office/drawing/2014/main" id="{5E76BB63-640B-886E-1C7C-ED061B6705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3.1 </a:t>
            </a:r>
            <a:r>
              <a:rPr lang="zh-CN" altLang="en-US" b="1">
                <a:solidFill>
                  <a:srgbClr val="CC0000"/>
                </a:solidFill>
              </a:rPr>
              <a:t>投资理论－古典</a:t>
            </a:r>
          </a:p>
        </p:txBody>
      </p:sp>
      <p:sp>
        <p:nvSpPr>
          <p:cNvPr id="466947" name="Rectangle 1027">
            <a:extLst>
              <a:ext uri="{FF2B5EF4-FFF2-40B4-BE49-F238E27FC236}">
                <a16:creationId xmlns:a16="http://schemas.microsoft.com/office/drawing/2014/main" id="{4D4D287F-A756-DFFB-91CC-9C95D8096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6948" name="Rectangle 1028">
            <a:extLst>
              <a:ext uri="{FF2B5EF4-FFF2-40B4-BE49-F238E27FC236}">
                <a16:creationId xmlns:a16="http://schemas.microsoft.com/office/drawing/2014/main" id="{379F539F-178F-E806-FB41-A3C86F4E6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78486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effectLst/>
                <a:latin typeface="Times New Roman" panose="02020603050405020304" pitchFamily="18" charset="0"/>
              </a:rPr>
              <a:t>核心思路是最优资本存量是多少？</a:t>
            </a:r>
          </a:p>
          <a:p>
            <a:r>
              <a:rPr lang="zh-CN" altLang="en-US">
                <a:effectLst/>
              </a:rPr>
              <a:t>基本假定</a:t>
            </a:r>
          </a:p>
          <a:p>
            <a:pPr lvl="1"/>
            <a:r>
              <a:rPr lang="zh-CN" altLang="en-US">
                <a:effectLst/>
              </a:rPr>
              <a:t>市场是竞争性市场</a:t>
            </a:r>
          </a:p>
          <a:p>
            <a:pPr lvl="1"/>
            <a:r>
              <a:rPr lang="zh-CN" altLang="en-US">
                <a:effectLst/>
              </a:rPr>
              <a:t>企业租资本、雇佣劳动生产</a:t>
            </a:r>
          </a:p>
          <a:p>
            <a:pPr lvl="1"/>
            <a:r>
              <a:rPr lang="zh-CN" altLang="en-US">
                <a:effectLst/>
              </a:rPr>
              <a:t>企业最求利润最大化，资本和劳动的价格是        产出价格单位化为</a:t>
            </a:r>
            <a:r>
              <a:rPr lang="en-US" altLang="zh-CN">
                <a:effectLst/>
              </a:rPr>
              <a:t>1</a:t>
            </a:r>
            <a:r>
              <a:rPr lang="zh-CN" altLang="en-US">
                <a:effectLst/>
              </a:rPr>
              <a:t>。</a:t>
            </a:r>
          </a:p>
        </p:txBody>
      </p:sp>
      <p:graphicFrame>
        <p:nvGraphicFramePr>
          <p:cNvPr id="466950" name="Object 1030">
            <a:extLst>
              <a:ext uri="{FF2B5EF4-FFF2-40B4-BE49-F238E27FC236}">
                <a16:creationId xmlns:a16="http://schemas.microsoft.com/office/drawing/2014/main" id="{86A68CAB-DC9E-1BDF-9E40-B6697E9BB0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37525" y="3962400"/>
          <a:ext cx="701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60" imgH="190440" progId="Equation.DSMT4">
                  <p:embed/>
                </p:oleObj>
              </mc:Choice>
              <mc:Fallback>
                <p:oleObj name="Equation" r:id="rId2" imgW="291960" imgH="19044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7525" y="3962400"/>
                        <a:ext cx="7016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6953" name="Group 1033">
            <a:extLst>
              <a:ext uri="{FF2B5EF4-FFF2-40B4-BE49-F238E27FC236}">
                <a16:creationId xmlns:a16="http://schemas.microsoft.com/office/drawing/2014/main" id="{93ED4343-1598-5AFC-EFB4-B599C11574D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410200"/>
            <a:ext cx="4968875" cy="915988"/>
            <a:chOff x="624" y="3408"/>
            <a:chExt cx="3130" cy="577"/>
          </a:xfrm>
        </p:grpSpPr>
        <p:graphicFrame>
          <p:nvGraphicFramePr>
            <p:cNvPr id="466949" name="Object 1029">
              <a:extLst>
                <a:ext uri="{FF2B5EF4-FFF2-40B4-BE49-F238E27FC236}">
                  <a16:creationId xmlns:a16="http://schemas.microsoft.com/office/drawing/2014/main" id="{761B544B-EA04-0444-9479-C53C13D65A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3523"/>
            <a:ext cx="2016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33440" imgH="241200" progId="Equation.DSMT4">
                    <p:embed/>
                  </p:oleObj>
                </mc:Choice>
                <mc:Fallback>
                  <p:oleObj name="Equation" r:id="rId4" imgW="1333440" imgH="241200" progId="Equation.DSMT4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523"/>
                          <a:ext cx="2016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6951" name="Object 1031">
              <a:extLst>
                <a:ext uri="{FF2B5EF4-FFF2-40B4-BE49-F238E27FC236}">
                  <a16:creationId xmlns:a16="http://schemas.microsoft.com/office/drawing/2014/main" id="{CFDE9F64-7A7C-107A-6083-C8F39CB5D1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408"/>
            <a:ext cx="1018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72840" imgH="380880" progId="Equation.DSMT4">
                    <p:embed/>
                  </p:oleObj>
                </mc:Choice>
                <mc:Fallback>
                  <p:oleObj name="Equation" r:id="rId6" imgW="672840" imgH="380880" progId="Equation.DSMT4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408"/>
                          <a:ext cx="1018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6952" name="Object 1032">
            <a:extLst>
              <a:ext uri="{FF2B5EF4-FFF2-40B4-BE49-F238E27FC236}">
                <a16:creationId xmlns:a16="http://schemas.microsoft.com/office/drawing/2014/main" id="{FE658B16-2F00-E0EF-D0E8-10E91C1D5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800600"/>
          <a:ext cx="1706563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749160" progId="Equation.DSMT4">
                  <p:embed/>
                </p:oleObj>
              </mc:Choice>
              <mc:Fallback>
                <p:oleObj name="Equation" r:id="rId8" imgW="711000" imgH="749160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00600"/>
                        <a:ext cx="1706563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3760DCD-7C51-6D18-F7E8-B07DF684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8EFF3-F6FB-4E89-A2FB-ADDB55CD8A49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8EBE0A2-AF58-23BD-76DF-A72C3297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5377-2E8C-4398-B18B-BA1BBE93BD6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67970" name="Rectangle 1026">
            <a:extLst>
              <a:ext uri="{FF2B5EF4-FFF2-40B4-BE49-F238E27FC236}">
                <a16:creationId xmlns:a16="http://schemas.microsoft.com/office/drawing/2014/main" id="{49E14BCF-1932-EF9C-84E9-30A68AC3948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3.2 </a:t>
            </a:r>
            <a:r>
              <a:rPr lang="zh-CN" altLang="en-US" b="1">
                <a:solidFill>
                  <a:srgbClr val="CC0000"/>
                </a:solidFill>
              </a:rPr>
              <a:t>投资理论－古典</a:t>
            </a:r>
          </a:p>
        </p:txBody>
      </p:sp>
      <p:sp>
        <p:nvSpPr>
          <p:cNvPr id="467971" name="Rectangle 1027">
            <a:extLst>
              <a:ext uri="{FF2B5EF4-FFF2-40B4-BE49-F238E27FC236}">
                <a16:creationId xmlns:a16="http://schemas.microsoft.com/office/drawing/2014/main" id="{586C037A-F6CF-57AC-A7D3-82BFD5152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7973" name="Object 1029">
            <a:extLst>
              <a:ext uri="{FF2B5EF4-FFF2-40B4-BE49-F238E27FC236}">
                <a16:creationId xmlns:a16="http://schemas.microsoft.com/office/drawing/2014/main" id="{E5144DEC-A52D-2D2B-000A-16CB124A3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514600"/>
          <a:ext cx="36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90440" progId="Equation.DSMT4">
                  <p:embed/>
                </p:oleObj>
              </mc:Choice>
              <mc:Fallback>
                <p:oleObj name="Equation" r:id="rId2" imgW="152280" imgH="190440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14600"/>
                        <a:ext cx="36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7984" name="Group 1040">
            <a:extLst>
              <a:ext uri="{FF2B5EF4-FFF2-40B4-BE49-F238E27FC236}">
                <a16:creationId xmlns:a16="http://schemas.microsoft.com/office/drawing/2014/main" id="{9C786D34-5A82-34A2-6497-B63616F7DB2A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1143000"/>
            <a:ext cx="3186112" cy="1801813"/>
            <a:chOff x="3129" y="720"/>
            <a:chExt cx="2007" cy="1135"/>
          </a:xfrm>
        </p:grpSpPr>
        <p:graphicFrame>
          <p:nvGraphicFramePr>
            <p:cNvPr id="467976" name="Object 1032">
              <a:extLst>
                <a:ext uri="{FF2B5EF4-FFF2-40B4-BE49-F238E27FC236}">
                  <a16:creationId xmlns:a16="http://schemas.microsoft.com/office/drawing/2014/main" id="{6B1D8207-8812-70E1-1A78-32AB68C384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9" y="1007"/>
            <a:ext cx="787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20560" imgH="380880" progId="Equation.DSMT4">
                    <p:embed/>
                  </p:oleObj>
                </mc:Choice>
                <mc:Fallback>
                  <p:oleObj name="Equation" r:id="rId4" imgW="520560" imgH="380880" progId="Equation.DSMT4">
                    <p:embed/>
                    <p:pic>
                      <p:nvPicPr>
                        <p:cNvPr id="0" name="Object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9" y="1007"/>
                          <a:ext cx="787" cy="5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7977" name="Object 1033">
              <a:extLst>
                <a:ext uri="{FF2B5EF4-FFF2-40B4-BE49-F238E27FC236}">
                  <a16:creationId xmlns:a16="http://schemas.microsoft.com/office/drawing/2014/main" id="{D3C9A870-9E4F-828C-5D9F-8FADD74D6C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1" y="720"/>
            <a:ext cx="1075" cy="1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11000" imgH="749160" progId="Equation.DSMT4">
                    <p:embed/>
                  </p:oleObj>
                </mc:Choice>
                <mc:Fallback>
                  <p:oleObj name="Equation" r:id="rId6" imgW="711000" imgH="749160" progId="Equation.DSMT4">
                    <p:embed/>
                    <p:pic>
                      <p:nvPicPr>
                        <p:cNvPr id="0" name="Object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720"/>
                          <a:ext cx="1075" cy="1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7979" name="Rectangle 1035">
            <a:extLst>
              <a:ext uri="{FF2B5EF4-FFF2-40B4-BE49-F238E27FC236}">
                <a16:creationId xmlns:a16="http://schemas.microsoft.com/office/drawing/2014/main" id="{3A366504-A006-396A-A418-C296152E4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30363"/>
            <a:ext cx="457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资本需求函数</a:t>
            </a:r>
            <a:endParaRPr lang="zh-CN" altLang="en-US" sz="2800">
              <a:effectLst/>
            </a:endParaRPr>
          </a:p>
        </p:txBody>
      </p:sp>
      <p:sp>
        <p:nvSpPr>
          <p:cNvPr id="467980" name="Line 1036">
            <a:extLst>
              <a:ext uri="{FF2B5EF4-FFF2-40B4-BE49-F238E27FC236}">
                <a16:creationId xmlns:a16="http://schemas.microsoft.com/office/drawing/2014/main" id="{6906E250-C0FC-2858-DD38-87C6D4012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438400"/>
            <a:ext cx="0" cy="2438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981" name="Line 1037">
            <a:extLst>
              <a:ext uri="{FF2B5EF4-FFF2-40B4-BE49-F238E27FC236}">
                <a16:creationId xmlns:a16="http://schemas.microsoft.com/office/drawing/2014/main" id="{6115F323-4535-18CB-D3F7-93D759EA1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876800"/>
            <a:ext cx="2743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7982" name="Line 1038">
            <a:extLst>
              <a:ext uri="{FF2B5EF4-FFF2-40B4-BE49-F238E27FC236}">
                <a16:creationId xmlns:a16="http://schemas.microsoft.com/office/drawing/2014/main" id="{FE5C3917-9043-EAFC-D67F-316018EC6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895600"/>
            <a:ext cx="19812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7983" name="Object 1039">
            <a:extLst>
              <a:ext uri="{FF2B5EF4-FFF2-40B4-BE49-F238E27FC236}">
                <a16:creationId xmlns:a16="http://schemas.microsoft.com/office/drawing/2014/main" id="{B70BED45-52CB-E84F-12A7-210E6D9C2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4708525"/>
          <a:ext cx="36671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39680" progId="Equation.DSMT4">
                  <p:embed/>
                </p:oleObj>
              </mc:Choice>
              <mc:Fallback>
                <p:oleObj name="Equation" r:id="rId8" imgW="152280" imgH="139680" progId="Equation.DSMT4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08525"/>
                        <a:ext cx="366713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7989" name="Group 1045">
            <a:extLst>
              <a:ext uri="{FF2B5EF4-FFF2-40B4-BE49-F238E27FC236}">
                <a16:creationId xmlns:a16="http://schemas.microsoft.com/office/drawing/2014/main" id="{916AF359-1D5B-9A52-F45A-076683F57CB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200400"/>
            <a:ext cx="1662113" cy="2119313"/>
            <a:chOff x="816" y="2016"/>
            <a:chExt cx="1047" cy="1335"/>
          </a:xfrm>
        </p:grpSpPr>
        <p:sp>
          <p:nvSpPr>
            <p:cNvPr id="467985" name="Line 1041">
              <a:extLst>
                <a:ext uri="{FF2B5EF4-FFF2-40B4-BE49-F238E27FC236}">
                  <a16:creationId xmlns:a16="http://schemas.microsoft.com/office/drawing/2014/main" id="{285FA8A2-6A25-C83F-8CA9-BA5AA5943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208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986" name="Line 1042">
              <a:extLst>
                <a:ext uri="{FF2B5EF4-FFF2-40B4-BE49-F238E27FC236}">
                  <a16:creationId xmlns:a16="http://schemas.microsoft.com/office/drawing/2014/main" id="{43056759-6FB5-7A0E-5954-97FC1487A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208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67987" name="Object 1043">
              <a:extLst>
                <a:ext uri="{FF2B5EF4-FFF2-40B4-BE49-F238E27FC236}">
                  <a16:creationId xmlns:a16="http://schemas.microsoft.com/office/drawing/2014/main" id="{4078DC5C-B7FE-FA8C-5CC4-A34E4689B9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016"/>
            <a:ext cx="2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80" imgH="190440" progId="Equation.DSMT4">
                    <p:embed/>
                  </p:oleObj>
                </mc:Choice>
                <mc:Fallback>
                  <p:oleObj name="Equation" r:id="rId10" imgW="152280" imgH="190440" progId="Equation.DSMT4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016"/>
                          <a:ext cx="23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7988" name="Object 1044">
              <a:extLst>
                <a:ext uri="{FF2B5EF4-FFF2-40B4-BE49-F238E27FC236}">
                  <a16:creationId xmlns:a16="http://schemas.microsoft.com/office/drawing/2014/main" id="{ADF821D2-8A26-A49F-B359-7472D53CB3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3101"/>
            <a:ext cx="23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80" imgH="164880" progId="Equation.DSMT4">
                    <p:embed/>
                  </p:oleObj>
                </mc:Choice>
                <mc:Fallback>
                  <p:oleObj name="Equation" r:id="rId12" imgW="152280" imgH="164880" progId="Equation.DSMT4">
                    <p:embed/>
                    <p:pic>
                      <p:nvPicPr>
                        <p:cNvPr id="0" name="Object 1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3101"/>
                          <a:ext cx="23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7990" name="AutoShape 1046">
            <a:extLst>
              <a:ext uri="{FF2B5EF4-FFF2-40B4-BE49-F238E27FC236}">
                <a16:creationId xmlns:a16="http://schemas.microsoft.com/office/drawing/2014/main" id="{D98451CE-74EB-4A71-A859-9F84F0D02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91000"/>
            <a:ext cx="1600200" cy="2438400"/>
          </a:xfrm>
          <a:prstGeom prst="cloudCallout">
            <a:avLst>
              <a:gd name="adj1" fmla="val 82144"/>
              <a:gd name="adj2" fmla="val -74870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zh-CN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当其他条件不变时，给定一个价格，就有一个最优资本存量与之对应。</a:t>
            </a:r>
          </a:p>
        </p:txBody>
      </p:sp>
      <p:grpSp>
        <p:nvGrpSpPr>
          <p:cNvPr id="467993" name="Group 1049">
            <a:extLst>
              <a:ext uri="{FF2B5EF4-FFF2-40B4-BE49-F238E27FC236}">
                <a16:creationId xmlns:a16="http://schemas.microsoft.com/office/drawing/2014/main" id="{2636DC43-E4D0-A21F-7C49-490CF002D1F6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572000"/>
            <a:ext cx="2514600" cy="2133600"/>
            <a:chOff x="4080" y="2880"/>
            <a:chExt cx="1584" cy="1344"/>
          </a:xfrm>
        </p:grpSpPr>
        <p:sp>
          <p:nvSpPr>
            <p:cNvPr id="467991" name="AutoShape 1047">
              <a:extLst>
                <a:ext uri="{FF2B5EF4-FFF2-40B4-BE49-F238E27FC236}">
                  <a16:creationId xmlns:a16="http://schemas.microsoft.com/office/drawing/2014/main" id="{7E0639CB-908E-A59A-71D2-31E59A14F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3648"/>
              <a:ext cx="576" cy="576"/>
            </a:xfrm>
            <a:prstGeom prst="smileyFace">
              <a:avLst>
                <a:gd name="adj" fmla="val 465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992" name="AutoShape 1048">
              <a:extLst>
                <a:ext uri="{FF2B5EF4-FFF2-40B4-BE49-F238E27FC236}">
                  <a16:creationId xmlns:a16="http://schemas.microsoft.com/office/drawing/2014/main" id="{FFF19CC5-E0EC-3DC5-1EDF-2467A51DF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880"/>
              <a:ext cx="1008" cy="672"/>
            </a:xfrm>
            <a:prstGeom prst="cloudCallout">
              <a:avLst>
                <a:gd name="adj1" fmla="val 63097"/>
                <a:gd name="adj2" fmla="val 73361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r>
                <a:rPr lang="zh-CN" altLang="en-US" sz="16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如果产出增加将会怎样变化？</a:t>
              </a:r>
            </a:p>
          </p:txBody>
        </p:sp>
      </p:grpSp>
      <p:grpSp>
        <p:nvGrpSpPr>
          <p:cNvPr id="467996" name="Group 1052">
            <a:extLst>
              <a:ext uri="{FF2B5EF4-FFF2-40B4-BE49-F238E27FC236}">
                <a16:creationId xmlns:a16="http://schemas.microsoft.com/office/drawing/2014/main" id="{25704462-8E12-6AA8-9E14-8900842B83E7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590800"/>
            <a:ext cx="1981200" cy="1752600"/>
            <a:chOff x="1584" y="1632"/>
            <a:chExt cx="1248" cy="1104"/>
          </a:xfrm>
        </p:grpSpPr>
        <p:sp>
          <p:nvSpPr>
            <p:cNvPr id="467994" name="Line 1050">
              <a:extLst>
                <a:ext uri="{FF2B5EF4-FFF2-40B4-BE49-F238E27FC236}">
                  <a16:creationId xmlns:a16="http://schemas.microsoft.com/office/drawing/2014/main" id="{B151125A-349C-A1B3-D02C-034CC3AC7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32"/>
              <a:ext cx="1248" cy="11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995" name="AutoShape 1051">
              <a:extLst>
                <a:ext uri="{FF2B5EF4-FFF2-40B4-BE49-F238E27FC236}">
                  <a16:creationId xmlns:a16="http://schemas.microsoft.com/office/drawing/2014/main" id="{1F39AF3F-9931-8D9A-E8CC-4C4A36AC6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56"/>
              <a:ext cx="336" cy="14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467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467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6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9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4F8B3AD-5258-35EC-5B01-CABE1D1A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3F4D-84A7-439F-A592-3BD2D65B6FF3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F020A39-6900-871F-3002-FB7E110B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69571-2E6B-4C73-B108-5B9C99566DF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87DBFE96-C5C1-704C-07EC-9423144C7C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3.3 </a:t>
            </a:r>
            <a:r>
              <a:rPr lang="zh-CN" altLang="en-US" b="1">
                <a:solidFill>
                  <a:srgbClr val="CC0000"/>
                </a:solidFill>
              </a:rPr>
              <a:t>投资理论－古典</a:t>
            </a:r>
          </a:p>
        </p:txBody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01000828-2703-DB47-4901-79D3A0DC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8998" name="Object 6">
            <a:extLst>
              <a:ext uri="{FF2B5EF4-FFF2-40B4-BE49-F238E27FC236}">
                <a16:creationId xmlns:a16="http://schemas.microsoft.com/office/drawing/2014/main" id="{ED2CD2E4-3E92-BD1A-BFFB-03C58F05F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4763" y="2590800"/>
          <a:ext cx="13414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190440" progId="Equation.DSMT4">
                  <p:embed/>
                </p:oleObj>
              </mc:Choice>
              <mc:Fallback>
                <p:oleObj name="Equation" r:id="rId2" imgW="558720" imgH="1904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2590800"/>
                        <a:ext cx="13414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9000" name="Rectangle 8">
            <a:extLst>
              <a:ext uri="{FF2B5EF4-FFF2-40B4-BE49-F238E27FC236}">
                <a16:creationId xmlns:a16="http://schemas.microsoft.com/office/drawing/2014/main" id="{70B8FA7F-B3FF-28ED-63BB-5BB985D9E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30363"/>
            <a:ext cx="4800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资本的价格由什么构成？</a:t>
            </a:r>
            <a:endParaRPr lang="zh-CN" altLang="en-US" sz="2800">
              <a:effectLst/>
            </a:endParaRPr>
          </a:p>
        </p:txBody>
      </p:sp>
      <p:sp>
        <p:nvSpPr>
          <p:cNvPr id="469017" name="AutoShape 25">
            <a:extLst>
              <a:ext uri="{FF2B5EF4-FFF2-40B4-BE49-F238E27FC236}">
                <a16:creationId xmlns:a16="http://schemas.microsoft.com/office/drawing/2014/main" id="{171C2EB2-CF5D-93CB-4000-BC21CCE72944}"/>
              </a:ext>
            </a:extLst>
          </p:cNvPr>
          <p:cNvSpPr>
            <a:spLocks/>
          </p:cNvSpPr>
          <p:nvPr/>
        </p:nvSpPr>
        <p:spPr bwMode="auto">
          <a:xfrm>
            <a:off x="1524000" y="3733800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33333"/>
              <a:gd name="adj4" fmla="val 1876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实际利率</a:t>
            </a:r>
          </a:p>
        </p:txBody>
      </p:sp>
      <p:sp>
        <p:nvSpPr>
          <p:cNvPr id="469018" name="AutoShape 26">
            <a:extLst>
              <a:ext uri="{FF2B5EF4-FFF2-40B4-BE49-F238E27FC236}">
                <a16:creationId xmlns:a16="http://schemas.microsoft.com/office/drawing/2014/main" id="{DC766B08-B63D-7767-A8C8-AEBDC56D251D}"/>
              </a:ext>
            </a:extLst>
          </p:cNvPr>
          <p:cNvSpPr>
            <a:spLocks/>
          </p:cNvSpPr>
          <p:nvPr/>
        </p:nvSpPr>
        <p:spPr bwMode="auto">
          <a:xfrm>
            <a:off x="4495800" y="3810000"/>
            <a:ext cx="914400" cy="609600"/>
          </a:xfrm>
          <a:prstGeom prst="borderCallout1">
            <a:avLst>
              <a:gd name="adj1" fmla="val 18750"/>
              <a:gd name="adj2" fmla="val -8333"/>
              <a:gd name="adj3" fmla="val -152606"/>
              <a:gd name="adj4" fmla="val -892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折旧率</a:t>
            </a:r>
          </a:p>
        </p:txBody>
      </p:sp>
      <p:grpSp>
        <p:nvGrpSpPr>
          <p:cNvPr id="469027" name="Group 35">
            <a:extLst>
              <a:ext uri="{FF2B5EF4-FFF2-40B4-BE49-F238E27FC236}">
                <a16:creationId xmlns:a16="http://schemas.microsoft.com/office/drawing/2014/main" id="{C61DC070-236A-4CEE-6D52-6D6B05DFC96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859338"/>
            <a:ext cx="6659563" cy="855662"/>
            <a:chOff x="192" y="3061"/>
            <a:chExt cx="4195" cy="539"/>
          </a:xfrm>
        </p:grpSpPr>
        <p:sp>
          <p:nvSpPr>
            <p:cNvPr id="469019" name="Rectangle 27">
              <a:extLst>
                <a:ext uri="{FF2B5EF4-FFF2-40B4-BE49-F238E27FC236}">
                  <a16:creationId xmlns:a16="http://schemas.microsoft.com/office/drawing/2014/main" id="{5597B597-32DE-6179-1739-394F9AD6B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120"/>
              <a:ext cx="36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Clr>
                  <a:schemeClr val="hlink"/>
                </a:buClr>
                <a:buFont typeface="Wingdings" panose="05000000000000000000" pitchFamily="2" charset="2"/>
                <a:buChar char="§"/>
              </a:pPr>
              <a:r>
                <a:rPr lang="zh-CN" altLang="en-US" sz="3200">
                  <a:effectLst/>
                </a:rPr>
                <a:t>资本需求函数可以表示为</a:t>
              </a:r>
              <a:endParaRPr lang="zh-CN" altLang="en-US" sz="2800">
                <a:effectLst/>
              </a:endParaRPr>
            </a:p>
          </p:txBody>
        </p:sp>
        <p:graphicFrame>
          <p:nvGraphicFramePr>
            <p:cNvPr id="469022" name="Object 30">
              <a:extLst>
                <a:ext uri="{FF2B5EF4-FFF2-40B4-BE49-F238E27FC236}">
                  <a16:creationId xmlns:a16="http://schemas.microsoft.com/office/drawing/2014/main" id="{8E27EF0E-34BF-ABCA-0FC9-9E9CD471F0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3061"/>
            <a:ext cx="883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20" imgH="355320" progId="Equation.DSMT4">
                    <p:embed/>
                  </p:oleObj>
                </mc:Choice>
                <mc:Fallback>
                  <p:oleObj name="Equation" r:id="rId4" imgW="583920" imgH="35532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061"/>
                          <a:ext cx="883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D043F55-9CB2-8AE7-9BE0-22E24600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C383-C30D-44BA-8E1A-05446896982C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3F07E96-194E-3ACA-66FB-76C2D4FB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38F9D-F24C-4176-9C89-F699AAB22BE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A0A4DB39-6F35-146A-4CA8-8AAA08763FF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3.3 </a:t>
            </a:r>
            <a:r>
              <a:rPr lang="zh-CN" altLang="en-US" b="1">
                <a:solidFill>
                  <a:srgbClr val="CC0000"/>
                </a:solidFill>
              </a:rPr>
              <a:t>投资理论－古典</a:t>
            </a: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5C0F6153-5019-AC12-2CD3-3439660BF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044" name="Rectangle 4">
            <a:extLst>
              <a:ext uri="{FF2B5EF4-FFF2-40B4-BE49-F238E27FC236}">
                <a16:creationId xmlns:a16="http://schemas.microsoft.com/office/drawing/2014/main" id="{CC984A1B-577C-16FE-36E4-68C56C4D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投资需求函数可以表示为</a:t>
            </a:r>
            <a:endParaRPr lang="zh-CN" altLang="en-US" sz="2800">
              <a:effectLst/>
            </a:endParaRPr>
          </a:p>
        </p:txBody>
      </p:sp>
      <p:graphicFrame>
        <p:nvGraphicFramePr>
          <p:cNvPr id="471045" name="Object 5">
            <a:extLst>
              <a:ext uri="{FF2B5EF4-FFF2-40B4-BE49-F238E27FC236}">
                <a16:creationId xmlns:a16="http://schemas.microsoft.com/office/drawing/2014/main" id="{47A50DD7-CEDB-82D0-D3DA-76AC4FD2B8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570038"/>
          <a:ext cx="16144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190440" progId="Equation.DSMT4">
                  <p:embed/>
                </p:oleObj>
              </mc:Choice>
              <mc:Fallback>
                <p:oleObj name="Equation" r:id="rId2" imgW="672840" imgH="1904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570038"/>
                        <a:ext cx="16144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46" name="Object 6">
            <a:extLst>
              <a:ext uri="{FF2B5EF4-FFF2-40B4-BE49-F238E27FC236}">
                <a16:creationId xmlns:a16="http://schemas.microsoft.com/office/drawing/2014/main" id="{E2BCC742-D91C-081B-7111-81D459DEB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9100" y="1371600"/>
          <a:ext cx="22225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355320" progId="Equation.DSMT4">
                  <p:embed/>
                </p:oleObj>
              </mc:Choice>
              <mc:Fallback>
                <p:oleObj name="Equation" r:id="rId4" imgW="927000" imgH="3553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371600"/>
                        <a:ext cx="2222500" cy="85566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47" name="Group 7">
            <a:extLst>
              <a:ext uri="{FF2B5EF4-FFF2-40B4-BE49-F238E27FC236}">
                <a16:creationId xmlns:a16="http://schemas.microsoft.com/office/drawing/2014/main" id="{33E1742E-B0A5-682E-696F-9161DA2179AD}"/>
              </a:ext>
            </a:extLst>
          </p:cNvPr>
          <p:cNvGrpSpPr>
            <a:grpSpLocks/>
          </p:cNvGrpSpPr>
          <p:nvPr/>
        </p:nvGrpSpPr>
        <p:grpSpPr bwMode="auto">
          <a:xfrm>
            <a:off x="2651125" y="2438400"/>
            <a:ext cx="3597275" cy="2605088"/>
            <a:chOff x="864" y="1536"/>
            <a:chExt cx="2266" cy="1641"/>
          </a:xfrm>
        </p:grpSpPr>
        <p:graphicFrame>
          <p:nvGraphicFramePr>
            <p:cNvPr id="471048" name="Object 8">
              <a:extLst>
                <a:ext uri="{FF2B5EF4-FFF2-40B4-BE49-F238E27FC236}">
                  <a16:creationId xmlns:a16="http://schemas.microsoft.com/office/drawing/2014/main" id="{E13D9CA7-847E-6646-C1ED-3F9DAB8D8B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612"/>
            <a:ext cx="13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560" imgH="152280" progId="Equation.DSMT4">
                    <p:embed/>
                  </p:oleObj>
                </mc:Choice>
                <mc:Fallback>
                  <p:oleObj name="Equation" r:id="rId6" imgW="88560" imgH="1522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612"/>
                          <a:ext cx="13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049" name="Line 9">
              <a:extLst>
                <a:ext uri="{FF2B5EF4-FFF2-40B4-BE49-F238E27FC236}">
                  <a16:creationId xmlns:a16="http://schemas.microsoft.com/office/drawing/2014/main" id="{EFCF2358-F428-70CC-91C1-2694455E2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36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50" name="Line 10">
              <a:extLst>
                <a:ext uri="{FF2B5EF4-FFF2-40B4-BE49-F238E27FC236}">
                  <a16:creationId xmlns:a16="http://schemas.microsoft.com/office/drawing/2014/main" id="{8F9CA1D4-3B49-C4E9-653E-E66D4A43F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51" name="Line 11">
              <a:extLst>
                <a:ext uri="{FF2B5EF4-FFF2-40B4-BE49-F238E27FC236}">
                  <a16:creationId xmlns:a16="http://schemas.microsoft.com/office/drawing/2014/main" id="{41838FAA-F081-3419-AE20-FD2631F5A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824"/>
              <a:ext cx="1248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052" name="Object 12">
              <a:extLst>
                <a:ext uri="{FF2B5EF4-FFF2-40B4-BE49-F238E27FC236}">
                  <a16:creationId xmlns:a16="http://schemas.microsoft.com/office/drawing/2014/main" id="{70D2324B-F218-822A-CFE2-F60D6B05A7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7" y="2966"/>
            <a:ext cx="17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39680" progId="Equation.DSMT4">
                    <p:embed/>
                  </p:oleObj>
                </mc:Choice>
                <mc:Fallback>
                  <p:oleObj name="Equation" r:id="rId8" imgW="114120" imgH="1396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7" y="2966"/>
                          <a:ext cx="17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62516B4-7ACA-9DF2-5AB6-E761A2EF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44D9-C21B-429A-B0DB-8A394DB6769B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D376B21-359C-62F7-A746-376AC3C8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F3DC-4192-4F0F-94A8-4DC9987EB079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805CF876-486B-8E3D-F055-43541832064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3.4 </a:t>
            </a:r>
            <a:r>
              <a:rPr lang="zh-CN" altLang="en-US" b="1">
                <a:solidFill>
                  <a:srgbClr val="CC0000"/>
                </a:solidFill>
              </a:rPr>
              <a:t>投资模型－古典</a:t>
            </a: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4184B413-B7D3-F334-72A7-F2E292AA8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0026" name="Rectangle 10">
            <a:extLst>
              <a:ext uri="{FF2B5EF4-FFF2-40B4-BE49-F238E27FC236}">
                <a16:creationId xmlns:a16="http://schemas.microsoft.com/office/drawing/2014/main" id="{B5DCCEDA-2542-AFB5-0C67-1E3A7020D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305800" cy="16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如何调整到最优资本存量？</a:t>
            </a:r>
          </a:p>
          <a:p>
            <a:pPr lvl="1" algn="l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effectLst/>
              </a:rPr>
              <a:t>加速度模型（</a:t>
            </a:r>
            <a:r>
              <a:rPr lang="en-US" altLang="zh-CN" sz="2400">
                <a:effectLst/>
              </a:rPr>
              <a:t>The Accelerator Model</a:t>
            </a:r>
            <a:r>
              <a:rPr lang="zh-CN" altLang="en-US" sz="2400">
                <a:effectLst/>
              </a:rPr>
              <a:t>）</a:t>
            </a:r>
          </a:p>
          <a:p>
            <a:pPr lvl="1" algn="l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effectLst/>
              </a:rPr>
              <a:t>弹性加速度模型</a:t>
            </a:r>
            <a:r>
              <a:rPr lang="en-US" altLang="zh-CN" sz="2400">
                <a:effectLst/>
              </a:rPr>
              <a:t>(the flexible accelerator model)</a:t>
            </a:r>
          </a:p>
        </p:txBody>
      </p:sp>
      <p:sp>
        <p:nvSpPr>
          <p:cNvPr id="470038" name="Rectangle 22">
            <a:extLst>
              <a:ext uri="{FF2B5EF4-FFF2-40B4-BE49-F238E27FC236}">
                <a16:creationId xmlns:a16="http://schemas.microsoft.com/office/drawing/2014/main" id="{0F693242-7816-E529-1F49-952764158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52800"/>
            <a:ext cx="4572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l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effectLst/>
              </a:rPr>
              <a:t>加速度模型由</a:t>
            </a:r>
            <a:r>
              <a:rPr lang="en-US" altLang="zh-CN" sz="2400">
                <a:effectLst/>
              </a:rPr>
              <a:t>Clark</a:t>
            </a:r>
            <a:r>
              <a:rPr lang="zh-CN" altLang="en-US" sz="2400">
                <a:effectLst/>
              </a:rPr>
              <a:t>提出，经</a:t>
            </a:r>
            <a:r>
              <a:rPr lang="en-US" altLang="zh-CN" sz="2400">
                <a:effectLst/>
              </a:rPr>
              <a:t>Samuelson</a:t>
            </a:r>
            <a:r>
              <a:rPr lang="zh-CN" altLang="en-US" sz="2400">
                <a:effectLst/>
              </a:rPr>
              <a:t>发展</a:t>
            </a:r>
          </a:p>
        </p:txBody>
      </p:sp>
      <p:pic>
        <p:nvPicPr>
          <p:cNvPr id="470039" name="Picture 23">
            <a:extLst>
              <a:ext uri="{FF2B5EF4-FFF2-40B4-BE49-F238E27FC236}">
                <a16:creationId xmlns:a16="http://schemas.microsoft.com/office/drawing/2014/main" id="{48CD5DEC-10C0-2A3A-67C9-BB8FA3FC8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4337050"/>
            <a:ext cx="1749425" cy="24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040" name="Picture 24">
            <a:extLst>
              <a:ext uri="{FF2B5EF4-FFF2-40B4-BE49-F238E27FC236}">
                <a16:creationId xmlns:a16="http://schemas.microsoft.com/office/drawing/2014/main" id="{368A1899-0DC9-FA9D-B26F-DDDC9919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95800"/>
            <a:ext cx="1863725" cy="221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0046" name="Group 30">
            <a:extLst>
              <a:ext uri="{FF2B5EF4-FFF2-40B4-BE49-F238E27FC236}">
                <a16:creationId xmlns:a16="http://schemas.microsoft.com/office/drawing/2014/main" id="{EF0A53F9-A80B-63D0-B70D-63B743838C8A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505200"/>
            <a:ext cx="1614488" cy="1752600"/>
            <a:chOff x="3312" y="2208"/>
            <a:chExt cx="1017" cy="1104"/>
          </a:xfrm>
        </p:grpSpPr>
        <p:graphicFrame>
          <p:nvGraphicFramePr>
            <p:cNvPr id="470027" name="Object 11">
              <a:extLst>
                <a:ext uri="{FF2B5EF4-FFF2-40B4-BE49-F238E27FC236}">
                  <a16:creationId xmlns:a16="http://schemas.microsoft.com/office/drawing/2014/main" id="{D509AB77-2A51-E782-1BCC-EF26A6F9ED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3023"/>
            <a:ext cx="101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190440" progId="Equation.DSMT4">
                    <p:embed/>
                  </p:oleObj>
                </mc:Choice>
                <mc:Fallback>
                  <p:oleObj name="Equation" r:id="rId4" imgW="672840" imgH="1904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023"/>
                          <a:ext cx="101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0042" name="Object 26">
              <a:extLst>
                <a:ext uri="{FF2B5EF4-FFF2-40B4-BE49-F238E27FC236}">
                  <a16:creationId xmlns:a16="http://schemas.microsoft.com/office/drawing/2014/main" id="{C486D2B7-D43B-7C6A-DD06-CA490AE52B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2208"/>
            <a:ext cx="883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355320" progId="Equation.DSMT4">
                    <p:embed/>
                  </p:oleObj>
                </mc:Choice>
                <mc:Fallback>
                  <p:oleObj name="Equation" r:id="rId6" imgW="583920" imgH="35532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08"/>
                          <a:ext cx="883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0049" name="Group 33">
            <a:extLst>
              <a:ext uri="{FF2B5EF4-FFF2-40B4-BE49-F238E27FC236}">
                <a16:creationId xmlns:a16="http://schemas.microsoft.com/office/drawing/2014/main" id="{B8534E64-BA7C-F493-935E-9102383F4FED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733800"/>
            <a:ext cx="1766888" cy="396875"/>
            <a:chOff x="4032" y="2352"/>
            <a:chExt cx="1113" cy="250"/>
          </a:xfrm>
        </p:grpSpPr>
        <p:graphicFrame>
          <p:nvGraphicFramePr>
            <p:cNvPr id="470044" name="Object 28">
              <a:extLst>
                <a:ext uri="{FF2B5EF4-FFF2-40B4-BE49-F238E27FC236}">
                  <a16:creationId xmlns:a16="http://schemas.microsoft.com/office/drawing/2014/main" id="{2B5E56E4-ECCA-A5EC-1610-48F549E9DB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2352"/>
            <a:ext cx="729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400" imgH="164880" progId="Equation.DSMT4">
                    <p:embed/>
                  </p:oleObj>
                </mc:Choice>
                <mc:Fallback>
                  <p:oleObj name="Equation" r:id="rId8" imgW="482400" imgH="16488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352"/>
                          <a:ext cx="729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0045" name="AutoShape 29">
              <a:extLst>
                <a:ext uri="{FF2B5EF4-FFF2-40B4-BE49-F238E27FC236}">
                  <a16:creationId xmlns:a16="http://schemas.microsoft.com/office/drawing/2014/main" id="{763543B9-A990-14D0-281F-EBC71F01C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400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0047" name="AutoShape 31">
            <a:extLst>
              <a:ext uri="{FF2B5EF4-FFF2-40B4-BE49-F238E27FC236}">
                <a16:creationId xmlns:a16="http://schemas.microsoft.com/office/drawing/2014/main" id="{6E266659-84BC-4B3B-08CD-15FA77E0C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3434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0048" name="Object 32">
            <a:extLst>
              <a:ext uri="{FF2B5EF4-FFF2-40B4-BE49-F238E27FC236}">
                <a16:creationId xmlns:a16="http://schemas.microsoft.com/office/drawing/2014/main" id="{9F909FDB-830E-D44F-4230-8804664C5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800600"/>
          <a:ext cx="17668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190440" progId="Equation.DSMT4">
                  <p:embed/>
                </p:oleObj>
              </mc:Choice>
              <mc:Fallback>
                <p:oleObj name="Equation" r:id="rId10" imgW="736560" imgH="1904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00600"/>
                        <a:ext cx="17668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50" name="AutoShape 34">
            <a:extLst>
              <a:ext uri="{FF2B5EF4-FFF2-40B4-BE49-F238E27FC236}">
                <a16:creationId xmlns:a16="http://schemas.microsoft.com/office/drawing/2014/main" id="{D3034370-DA14-144D-DE48-2147A1AE9C8B}"/>
              </a:ext>
            </a:extLst>
          </p:cNvPr>
          <p:cNvSpPr>
            <a:spLocks/>
          </p:cNvSpPr>
          <p:nvPr/>
        </p:nvSpPr>
        <p:spPr bwMode="auto">
          <a:xfrm>
            <a:off x="5880100" y="5868988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26824"/>
              <a:gd name="adj4" fmla="val 155556"/>
            </a:avLst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通常是大于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0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0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0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0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7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7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7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7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7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50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D0647C8-BA9E-B7D6-1DA7-81264A8B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95073-2741-4E36-946A-3DA8FF491976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4363645-A3F3-24D6-E4BB-44027613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D769-3B70-4EE0-AADF-9EBCB9A56761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72066" name="Rectangle 2">
            <a:extLst>
              <a:ext uri="{FF2B5EF4-FFF2-40B4-BE49-F238E27FC236}">
                <a16:creationId xmlns:a16="http://schemas.microsoft.com/office/drawing/2014/main" id="{7EAF5985-1827-3AEB-5C42-DA5A3C4ADEF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3.4 </a:t>
            </a:r>
            <a:r>
              <a:rPr lang="zh-CN" altLang="en-US" b="1">
                <a:solidFill>
                  <a:srgbClr val="CC0000"/>
                </a:solidFill>
              </a:rPr>
              <a:t>投资模型－古典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7C2A7454-E325-C886-2940-F1C95D95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2073" name="Object 9">
            <a:extLst>
              <a:ext uri="{FF2B5EF4-FFF2-40B4-BE49-F238E27FC236}">
                <a16:creationId xmlns:a16="http://schemas.microsoft.com/office/drawing/2014/main" id="{FB10357D-FA9B-90CD-F7C0-027E65180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8788" y="1676400"/>
          <a:ext cx="33512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190440" progId="Equation.DSMT4">
                  <p:embed/>
                </p:oleObj>
              </mc:Choice>
              <mc:Fallback>
                <p:oleObj name="Equation" r:id="rId2" imgW="1396800" imgH="1904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1676400"/>
                        <a:ext cx="33512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81" name="Rectangle 17">
            <a:extLst>
              <a:ext uri="{FF2B5EF4-FFF2-40B4-BE49-F238E27FC236}">
                <a16:creationId xmlns:a16="http://schemas.microsoft.com/office/drawing/2014/main" id="{C212CAC1-73BC-C861-BA7E-B163D104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92275"/>
            <a:ext cx="3733800" cy="167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弹性加速度模型</a:t>
            </a:r>
            <a:endParaRPr lang="zh-CN" altLang="en-US" sz="3200">
              <a:solidFill>
                <a:schemeClr val="tx2"/>
              </a:solidFill>
              <a:effectLst/>
            </a:endParaRPr>
          </a:p>
          <a:p>
            <a:pPr lvl="1" algn="l"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投资是否一步到位？</a:t>
            </a:r>
          </a:p>
          <a:p>
            <a:pPr lvl="1" algn="l"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由钱纳里提出</a:t>
            </a:r>
          </a:p>
        </p:txBody>
      </p:sp>
      <p:grpSp>
        <p:nvGrpSpPr>
          <p:cNvPr id="472084" name="Group 20">
            <a:extLst>
              <a:ext uri="{FF2B5EF4-FFF2-40B4-BE49-F238E27FC236}">
                <a16:creationId xmlns:a16="http://schemas.microsoft.com/office/drawing/2014/main" id="{8EAEC9E7-BEDC-4E57-8471-1246A4FBA3B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352800"/>
            <a:ext cx="2657475" cy="3597275"/>
            <a:chOff x="603" y="2112"/>
            <a:chExt cx="1674" cy="2266"/>
          </a:xfrm>
        </p:grpSpPr>
        <p:pic>
          <p:nvPicPr>
            <p:cNvPr id="472082" name="Picture 18">
              <a:extLst>
                <a:ext uri="{FF2B5EF4-FFF2-40B4-BE49-F238E27FC236}">
                  <a16:creationId xmlns:a16="http://schemas.microsoft.com/office/drawing/2014/main" id="{3F40E806-157D-55F6-0F77-1A3879CAA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" y="2112"/>
              <a:ext cx="1674" cy="1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2083" name="Rectangle 19">
              <a:extLst>
                <a:ext uri="{FF2B5EF4-FFF2-40B4-BE49-F238E27FC236}">
                  <a16:creationId xmlns:a16="http://schemas.microsoft.com/office/drawing/2014/main" id="{B10270E4-44F5-40A6-ECFC-A0BF52C26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4128"/>
              <a:ext cx="11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zh-CN" sz="2000">
                  <a:effectLst/>
                </a:rPr>
                <a:t>1918-1994</a:t>
              </a:r>
              <a:endParaRPr lang="en-US" altLang="zh-CN" sz="2000" b="0">
                <a:effectLst/>
              </a:endParaRPr>
            </a:p>
          </p:txBody>
        </p:sp>
      </p:grpSp>
      <p:grpSp>
        <p:nvGrpSpPr>
          <p:cNvPr id="472086" name="Group 22">
            <a:extLst>
              <a:ext uri="{FF2B5EF4-FFF2-40B4-BE49-F238E27FC236}">
                <a16:creationId xmlns:a16="http://schemas.microsoft.com/office/drawing/2014/main" id="{E5EB33A8-7555-E833-3651-3AC282111983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990600"/>
            <a:ext cx="1219200" cy="609600"/>
            <a:chOff x="4608" y="768"/>
            <a:chExt cx="768" cy="384"/>
          </a:xfrm>
        </p:grpSpPr>
        <p:sp>
          <p:nvSpPr>
            <p:cNvPr id="472080" name="AutoShape 16">
              <a:extLst>
                <a:ext uri="{FF2B5EF4-FFF2-40B4-BE49-F238E27FC236}">
                  <a16:creationId xmlns:a16="http://schemas.microsoft.com/office/drawing/2014/main" id="{8F4908D8-CE69-EC72-4519-27A07E0AB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768"/>
              <a:ext cx="768" cy="384"/>
            </a:xfrm>
            <a:prstGeom prst="borderCallout1">
              <a:avLst>
                <a:gd name="adj1" fmla="val 18750"/>
                <a:gd name="adj2" fmla="val -6250"/>
                <a:gd name="adj3" fmla="val 151824"/>
                <a:gd name="adj4" fmla="val -96222"/>
              </a:avLst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graphicFrame>
          <p:nvGraphicFramePr>
            <p:cNvPr id="472085" name="Object 21">
              <a:extLst>
                <a:ext uri="{FF2B5EF4-FFF2-40B4-BE49-F238E27FC236}">
                  <a16:creationId xmlns:a16="http://schemas.microsoft.com/office/drawing/2014/main" id="{607331D7-79DA-E622-CE30-D94816B267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882"/>
            <a:ext cx="57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82400" imgH="152280" progId="Equation.DSMT4">
                    <p:embed/>
                  </p:oleObj>
                </mc:Choice>
                <mc:Fallback>
                  <p:oleObj name="Equation" r:id="rId5" imgW="482400" imgH="15228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882"/>
                          <a:ext cx="57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2088" name="Rectangle 24">
            <a:extLst>
              <a:ext uri="{FF2B5EF4-FFF2-40B4-BE49-F238E27FC236}">
                <a16:creationId xmlns:a16="http://schemas.microsoft.com/office/drawing/2014/main" id="{CB000150-7C23-6C2D-9BD1-F424F3F6C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457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经济含义</a:t>
            </a:r>
            <a:endParaRPr kumimoji="1" lang="zh-CN" altLang="en-US" sz="2400"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472089" name="Object 25">
            <a:extLst>
              <a:ext uri="{FF2B5EF4-FFF2-40B4-BE49-F238E27FC236}">
                <a16:creationId xmlns:a16="http://schemas.microsoft.com/office/drawing/2014/main" id="{F906073B-B891-D0D9-6BE7-408355321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581400"/>
          <a:ext cx="3074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203040" progId="Equation.DSMT4">
                  <p:embed/>
                </p:oleObj>
              </mc:Choice>
              <mc:Fallback>
                <p:oleObj name="Equation" r:id="rId7" imgW="1282680" imgH="2030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81400"/>
                        <a:ext cx="30749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0" name="Object 26">
            <a:extLst>
              <a:ext uri="{FF2B5EF4-FFF2-40B4-BE49-F238E27FC236}">
                <a16:creationId xmlns:a16="http://schemas.microsoft.com/office/drawing/2014/main" id="{41726FFE-AE1F-6709-D79C-30CC3F886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6775" y="3581400"/>
          <a:ext cx="3197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33440" imgH="203040" progId="Equation.DSMT4">
                  <p:embed/>
                </p:oleObj>
              </mc:Choice>
              <mc:Fallback>
                <p:oleObj name="Equation" r:id="rId9" imgW="1333440" imgH="2030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3581400"/>
                        <a:ext cx="3197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1" name="Object 27">
            <a:extLst>
              <a:ext uri="{FF2B5EF4-FFF2-40B4-BE49-F238E27FC236}">
                <a16:creationId xmlns:a16="http://schemas.microsoft.com/office/drawing/2014/main" id="{CB957627-7172-E27E-8BC7-7B847836A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114800"/>
          <a:ext cx="52689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97080" imgH="241200" progId="Equation.DSMT4">
                  <p:embed/>
                </p:oleObj>
              </mc:Choice>
              <mc:Fallback>
                <p:oleObj name="Equation" r:id="rId11" imgW="2197080" imgH="24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14800"/>
                        <a:ext cx="52689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2092" name="Object 28">
            <a:extLst>
              <a:ext uri="{FF2B5EF4-FFF2-40B4-BE49-F238E27FC236}">
                <a16:creationId xmlns:a16="http://schemas.microsoft.com/office/drawing/2014/main" id="{21B4CFDE-C237-9F57-DFB0-76FCA9367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876800"/>
          <a:ext cx="29241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18960" imgH="342720" progId="Equation.DSMT4">
                  <p:embed/>
                </p:oleObj>
              </mc:Choice>
              <mc:Fallback>
                <p:oleObj name="Equation" r:id="rId13" imgW="1218960" imgH="34272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2924175" cy="8255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094" name="Rectangle 30">
            <a:extLst>
              <a:ext uri="{FF2B5EF4-FFF2-40B4-BE49-F238E27FC236}">
                <a16:creationId xmlns:a16="http://schemas.microsoft.com/office/drawing/2014/main" id="{C87F0ADE-AEBE-E0CA-C881-D9E3FC56D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943600"/>
            <a:ext cx="601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l"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</a:pPr>
            <a:r>
              <a:rPr kumimoji="1" lang="zh-CN" altLang="en-US" sz="2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当期的资本存量取决于过去的合意资本存量。</a:t>
            </a:r>
          </a:p>
        </p:txBody>
      </p:sp>
      <p:graphicFrame>
        <p:nvGraphicFramePr>
          <p:cNvPr id="472095" name="Object 31">
            <a:extLst>
              <a:ext uri="{FF2B5EF4-FFF2-40B4-BE49-F238E27FC236}">
                <a16:creationId xmlns:a16="http://schemas.microsoft.com/office/drawing/2014/main" id="{43F80529-02A3-ED7D-D9CD-F4967A94A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9175" y="4876800"/>
          <a:ext cx="30448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9720" imgH="342720" progId="Equation.DSMT4">
                  <p:embed/>
                </p:oleObj>
              </mc:Choice>
              <mc:Fallback>
                <p:oleObj name="Equation" r:id="rId15" imgW="1269720" imgH="34272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4876800"/>
                        <a:ext cx="3044825" cy="8255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7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47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7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7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7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7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472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472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88" grpId="0" autoUpdateAnimBg="0"/>
      <p:bldP spid="47209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2EE6831-7F7E-7820-BE1E-6F7F6104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2BBF-32DE-4179-B9BE-94B345FCF32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1659DE7-0E12-C60F-A3B1-A7A73C59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8D7D-911F-4849-8164-C968559340F5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54658" name="Rectangle 2">
            <a:extLst>
              <a:ext uri="{FF2B5EF4-FFF2-40B4-BE49-F238E27FC236}">
                <a16:creationId xmlns:a16="http://schemas.microsoft.com/office/drawing/2014/main" id="{B0E902CA-1A63-BFC9-1583-AA2D6F6424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4.1 </a:t>
            </a:r>
            <a:r>
              <a:rPr lang="zh-CN" altLang="en-US" b="1">
                <a:solidFill>
                  <a:srgbClr val="CC0000"/>
                </a:solidFill>
              </a:rPr>
              <a:t>政府的税收和投资补贴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00AF9A76-3C5B-BD21-232E-5582BC1CF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4661" name="Rectangle 5">
            <a:extLst>
              <a:ext uri="{FF2B5EF4-FFF2-40B4-BE49-F238E27FC236}">
                <a16:creationId xmlns:a16="http://schemas.microsoft.com/office/drawing/2014/main" id="{A0825E86-D73D-CF64-198D-9D062DC0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449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如何考察税收和投资补贴对投资的影响？</a:t>
            </a:r>
          </a:p>
        </p:txBody>
      </p:sp>
      <p:graphicFrame>
        <p:nvGraphicFramePr>
          <p:cNvPr id="454664" name="Object 8">
            <a:extLst>
              <a:ext uri="{FF2B5EF4-FFF2-40B4-BE49-F238E27FC236}">
                <a16:creationId xmlns:a16="http://schemas.microsoft.com/office/drawing/2014/main" id="{39573A81-09EC-2189-AED8-272C90F40A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1143000"/>
          <a:ext cx="4572000" cy="384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877507" imgH="4362907" progId="MSGraph.Chart.8">
                  <p:embed followColorScheme="full"/>
                </p:oleObj>
              </mc:Choice>
              <mc:Fallback>
                <p:oleObj name="Chart" r:id="rId2" imgW="6877507" imgH="4362907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4572000" cy="384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4667" name="Group 11">
            <a:extLst>
              <a:ext uri="{FF2B5EF4-FFF2-40B4-BE49-F238E27FC236}">
                <a16:creationId xmlns:a16="http://schemas.microsoft.com/office/drawing/2014/main" id="{8688C025-731B-C0EE-B270-AE1D717D994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743200"/>
            <a:ext cx="4495800" cy="1143000"/>
            <a:chOff x="96" y="1728"/>
            <a:chExt cx="2832" cy="720"/>
          </a:xfrm>
        </p:grpSpPr>
        <p:sp>
          <p:nvSpPr>
            <p:cNvPr id="454665" name="Rectangle 9">
              <a:extLst>
                <a:ext uri="{FF2B5EF4-FFF2-40B4-BE49-F238E27FC236}">
                  <a16:creationId xmlns:a16="http://schemas.microsoft.com/office/drawing/2014/main" id="{55AD3B00-A6DC-4E00-6CBD-AD6F258C0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728"/>
              <a:ext cx="2832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>
                  <a:effectLst/>
                </a:rPr>
                <a:t>投资</a:t>
              </a:r>
              <a:r>
                <a:rPr lang="zh-CN" altLang="en-US">
                  <a:effectLst/>
                  <a:sym typeface="Symbol" panose="05050102010706020507" pitchFamily="18" charset="2"/>
                </a:rPr>
                <a:t>最优资本存量</a:t>
              </a:r>
              <a:endParaRPr lang="zh-CN" altLang="en-US">
                <a:effectLst/>
              </a:endParaRPr>
            </a:p>
          </p:txBody>
        </p:sp>
        <p:graphicFrame>
          <p:nvGraphicFramePr>
            <p:cNvPr id="454666" name="Object 10">
              <a:extLst>
                <a:ext uri="{FF2B5EF4-FFF2-40B4-BE49-F238E27FC236}">
                  <a16:creationId xmlns:a16="http://schemas.microsoft.com/office/drawing/2014/main" id="{19B84460-3865-616B-B39A-B324C49E13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1" y="2063"/>
            <a:ext cx="84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58720" imgH="190440" progId="Equation.DSMT4">
                    <p:embed/>
                  </p:oleObj>
                </mc:Choice>
                <mc:Fallback>
                  <p:oleObj name="Equation" r:id="rId4" imgW="558720" imgH="1904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1" y="2063"/>
                          <a:ext cx="84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4675" name="Group 19">
            <a:extLst>
              <a:ext uri="{FF2B5EF4-FFF2-40B4-BE49-F238E27FC236}">
                <a16:creationId xmlns:a16="http://schemas.microsoft.com/office/drawing/2014/main" id="{CC38B6FF-BF3D-2850-ADE1-51678544A3F0}"/>
              </a:ext>
            </a:extLst>
          </p:cNvPr>
          <p:cNvGrpSpPr>
            <a:grpSpLocks/>
          </p:cNvGrpSpPr>
          <p:nvPr/>
        </p:nvGrpSpPr>
        <p:grpSpPr bwMode="auto">
          <a:xfrm>
            <a:off x="0" y="3657600"/>
            <a:ext cx="4495800" cy="1143000"/>
            <a:chOff x="0" y="2400"/>
            <a:chExt cx="2832" cy="720"/>
          </a:xfrm>
        </p:grpSpPr>
        <p:sp>
          <p:nvSpPr>
            <p:cNvPr id="454669" name="Rectangle 13">
              <a:extLst>
                <a:ext uri="{FF2B5EF4-FFF2-40B4-BE49-F238E27FC236}">
                  <a16:creationId xmlns:a16="http://schemas.microsoft.com/office/drawing/2014/main" id="{3D77AB3C-E19A-4D89-52A8-4BACCD9E4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00"/>
              <a:ext cx="2832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>
                  <a:effectLst/>
                </a:rPr>
                <a:t>如果税收同时影响              </a:t>
              </a:r>
              <a:r>
                <a:rPr lang="en-US" altLang="zh-CN">
                  <a:effectLst/>
                </a:rPr>
                <a:t>,K*</a:t>
              </a:r>
              <a:r>
                <a:rPr lang="zh-CN" altLang="en-US">
                  <a:effectLst/>
                </a:rPr>
                <a:t>不变</a:t>
              </a:r>
            </a:p>
          </p:txBody>
        </p:sp>
        <p:graphicFrame>
          <p:nvGraphicFramePr>
            <p:cNvPr id="454670" name="Object 14">
              <a:extLst>
                <a:ext uri="{FF2B5EF4-FFF2-40B4-BE49-F238E27FC236}">
                  <a16:creationId xmlns:a16="http://schemas.microsoft.com/office/drawing/2014/main" id="{11C3534E-0353-FD2C-F19D-0E15DD3CED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688"/>
            <a:ext cx="72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82400" imgH="190440" progId="Equation.DSMT4">
                    <p:embed/>
                  </p:oleObj>
                </mc:Choice>
                <mc:Fallback>
                  <p:oleObj name="Equation" r:id="rId6" imgW="482400" imgH="1904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688"/>
                          <a:ext cx="72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4674" name="Group 18">
            <a:extLst>
              <a:ext uri="{FF2B5EF4-FFF2-40B4-BE49-F238E27FC236}">
                <a16:creationId xmlns:a16="http://schemas.microsoft.com/office/drawing/2014/main" id="{58AA46EC-71B4-3BAE-7818-0B936B498A4A}"/>
              </a:ext>
            </a:extLst>
          </p:cNvPr>
          <p:cNvGrpSpPr>
            <a:grpSpLocks/>
          </p:cNvGrpSpPr>
          <p:nvPr/>
        </p:nvGrpSpPr>
        <p:grpSpPr bwMode="auto">
          <a:xfrm>
            <a:off x="0" y="4648200"/>
            <a:ext cx="4572000" cy="914400"/>
            <a:chOff x="144" y="3312"/>
            <a:chExt cx="2880" cy="576"/>
          </a:xfrm>
        </p:grpSpPr>
        <p:sp>
          <p:nvSpPr>
            <p:cNvPr id="454672" name="Rectangle 16">
              <a:extLst>
                <a:ext uri="{FF2B5EF4-FFF2-40B4-BE49-F238E27FC236}">
                  <a16:creationId xmlns:a16="http://schemas.microsoft.com/office/drawing/2014/main" id="{6A348121-405D-E4FD-9AA7-BDFDB380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12"/>
              <a:ext cx="2880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>
                  <a:effectLst/>
                </a:rPr>
                <a:t>投资补贴降低了      ，最优资本存量增加。</a:t>
              </a:r>
            </a:p>
          </p:txBody>
        </p:sp>
        <p:graphicFrame>
          <p:nvGraphicFramePr>
            <p:cNvPr id="454673" name="Object 17">
              <a:extLst>
                <a:ext uri="{FF2B5EF4-FFF2-40B4-BE49-F238E27FC236}">
                  <a16:creationId xmlns:a16="http://schemas.microsoft.com/office/drawing/2014/main" id="{1BB04CA1-D309-9074-8696-012F74DBF0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3359"/>
            <a:ext cx="23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190440" progId="Equation.DSMT4">
                    <p:embed/>
                  </p:oleObj>
                </mc:Choice>
                <mc:Fallback>
                  <p:oleObj name="Equation" r:id="rId8" imgW="152280" imgH="1904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359"/>
                          <a:ext cx="23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4681" name="Group 25">
            <a:extLst>
              <a:ext uri="{FF2B5EF4-FFF2-40B4-BE49-F238E27FC236}">
                <a16:creationId xmlns:a16="http://schemas.microsoft.com/office/drawing/2014/main" id="{A0D02E91-051D-C13A-F202-AEF860177323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5591175"/>
            <a:ext cx="6350000" cy="1266825"/>
            <a:chOff x="863" y="3522"/>
            <a:chExt cx="4000" cy="798"/>
          </a:xfrm>
        </p:grpSpPr>
        <p:graphicFrame>
          <p:nvGraphicFramePr>
            <p:cNvPr id="454678" name="Object 22">
              <a:extLst>
                <a:ext uri="{FF2B5EF4-FFF2-40B4-BE49-F238E27FC236}">
                  <a16:creationId xmlns:a16="http://schemas.microsoft.com/office/drawing/2014/main" id="{5938BCBF-FBE4-F3C9-2394-936C8860FE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522"/>
            <a:ext cx="2127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625400" imgH="609480" progId="Equation.DSMT4">
                    <p:embed/>
                  </p:oleObj>
                </mc:Choice>
                <mc:Fallback>
                  <p:oleObj name="Equation" r:id="rId10" imgW="1625400" imgH="6094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522"/>
                          <a:ext cx="2127" cy="7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4680" name="Rectangle 24">
              <a:extLst>
                <a:ext uri="{FF2B5EF4-FFF2-40B4-BE49-F238E27FC236}">
                  <a16:creationId xmlns:a16="http://schemas.microsoft.com/office/drawing/2014/main" id="{27071753-9D92-E27F-070E-0D58053A8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" y="3729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>
                  <a:effectLst/>
                </a:rPr>
                <a:t>综合分析（画图）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4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5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5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5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5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8" grpId="0" autoUpdateAnimBg="0"/>
      <p:bldP spid="454661" grpId="0" autoUpdateAnimBg="0"/>
      <p:bldOleChart spid="454664" grpId="0" bld="series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FA3BB11-9F58-FFFC-16F9-E3A2C37E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3F84-AF8C-426A-971A-AA17B6598840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EA96BFD-34D6-B817-C1DE-6792E0BA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14A-5D52-40A8-9308-1D37D04F6484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5870FC87-95C0-0B53-DF9D-F7848D6879C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5.1  </a:t>
            </a:r>
            <a:r>
              <a:rPr lang="zh-CN" altLang="en-US" b="1">
                <a:solidFill>
                  <a:srgbClr val="CC0000"/>
                </a:solidFill>
              </a:rPr>
              <a:t>新古典投资理论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B11BBCB1-6F93-D35E-FF00-91E88AD17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3092" name="Rectangle 4">
            <a:extLst>
              <a:ext uri="{FF2B5EF4-FFF2-40B4-BE49-F238E27FC236}">
                <a16:creationId xmlns:a16="http://schemas.microsoft.com/office/drawing/2014/main" id="{8C66BC00-B214-2DD7-A4E7-266C53568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7924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核心思想：长期利润最大化。</a:t>
            </a:r>
          </a:p>
          <a:p>
            <a:pPr lvl="1"/>
            <a:r>
              <a:rPr lang="zh-CN" altLang="en-US">
                <a:effectLst/>
              </a:rPr>
              <a:t>是</a:t>
            </a:r>
            <a:r>
              <a:rPr lang="en-US" altLang="zh-CN">
                <a:effectLst/>
              </a:rPr>
              <a:t>Jorgenson</a:t>
            </a:r>
          </a:p>
        </p:txBody>
      </p:sp>
      <p:grpSp>
        <p:nvGrpSpPr>
          <p:cNvPr id="473109" name="Group 21">
            <a:extLst>
              <a:ext uri="{FF2B5EF4-FFF2-40B4-BE49-F238E27FC236}">
                <a16:creationId xmlns:a16="http://schemas.microsoft.com/office/drawing/2014/main" id="{0CBD6CA1-8C69-A941-9C6F-11FC2F9E562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743200"/>
            <a:ext cx="4495800" cy="4024313"/>
            <a:chOff x="192" y="1728"/>
            <a:chExt cx="2832" cy="2535"/>
          </a:xfrm>
        </p:grpSpPr>
        <p:pic>
          <p:nvPicPr>
            <p:cNvPr id="473106" name="Picture 18">
              <a:extLst>
                <a:ext uri="{FF2B5EF4-FFF2-40B4-BE49-F238E27FC236}">
                  <a16:creationId xmlns:a16="http://schemas.microsoft.com/office/drawing/2014/main" id="{89B39AC1-8B74-6400-C8C2-585235B85A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728"/>
              <a:ext cx="2832" cy="2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3108" name="Text Box 20">
              <a:extLst>
                <a:ext uri="{FF2B5EF4-FFF2-40B4-BE49-F238E27FC236}">
                  <a16:creationId xmlns:a16="http://schemas.microsoft.com/office/drawing/2014/main" id="{C3F5D964-4A7E-214C-FC92-D62A4637B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4032"/>
              <a:ext cx="1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1933-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0" grpId="0" autoUpdateAnimBg="0"/>
      <p:bldP spid="47309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7B00205-660F-4110-7538-4095F2F6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8439-49C7-4404-965C-B870A58F69F7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47D5CC1-60F0-45A7-9804-455F5629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5667E-BC1C-4971-A5CE-BFB260369AB0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474114" name="Rectangle 2">
            <a:extLst>
              <a:ext uri="{FF2B5EF4-FFF2-40B4-BE49-F238E27FC236}">
                <a16:creationId xmlns:a16="http://schemas.microsoft.com/office/drawing/2014/main" id="{E012D610-1BE3-67EE-2931-6996A75B9A5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5.2  Q</a:t>
            </a:r>
            <a:r>
              <a:rPr lang="zh-CN" altLang="en-US" b="1">
                <a:solidFill>
                  <a:srgbClr val="CC0000"/>
                </a:solidFill>
              </a:rPr>
              <a:t>理论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822E880D-26D4-29BF-1896-9AEB28ACA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4116" name="Rectangle 4">
            <a:extLst>
              <a:ext uri="{FF2B5EF4-FFF2-40B4-BE49-F238E27FC236}">
                <a16:creationId xmlns:a16="http://schemas.microsoft.com/office/drawing/2014/main" id="{EA6E57EF-03F1-29F7-8B1F-05B9E3D00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8534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核心思想：强调股票价格与（物质资本）投资之间的联系。</a:t>
            </a:r>
          </a:p>
          <a:p>
            <a:pPr lvl="1"/>
            <a:r>
              <a:rPr lang="en-US" altLang="zh-CN">
                <a:effectLst/>
              </a:rPr>
              <a:t>James Tobin </a:t>
            </a:r>
            <a:r>
              <a:rPr lang="zh-CN" altLang="en-US">
                <a:effectLst/>
              </a:rPr>
              <a:t>首次提出，</a:t>
            </a:r>
            <a:r>
              <a:rPr lang="en-US" altLang="zh-CN">
                <a:effectLst/>
              </a:rPr>
              <a:t>Tobin</a:t>
            </a:r>
            <a:r>
              <a:rPr lang="en-US" altLang="zh-CN">
                <a:effectLst/>
                <a:latin typeface="Times New Roman" panose="02020603050405020304" pitchFamily="18" charset="0"/>
              </a:rPr>
              <a:t>’</a:t>
            </a:r>
            <a:r>
              <a:rPr lang="en-US" altLang="zh-CN">
                <a:effectLst/>
              </a:rPr>
              <a:t>S Q</a:t>
            </a:r>
          </a:p>
        </p:txBody>
      </p:sp>
      <p:grpSp>
        <p:nvGrpSpPr>
          <p:cNvPr id="474122" name="Group 10">
            <a:extLst>
              <a:ext uri="{FF2B5EF4-FFF2-40B4-BE49-F238E27FC236}">
                <a16:creationId xmlns:a16="http://schemas.microsoft.com/office/drawing/2014/main" id="{48AFDB98-8963-DC66-AA6B-4264EE824E1C}"/>
              </a:ext>
            </a:extLst>
          </p:cNvPr>
          <p:cNvGrpSpPr>
            <a:grpSpLocks/>
          </p:cNvGrpSpPr>
          <p:nvPr/>
        </p:nvGrpSpPr>
        <p:grpSpPr bwMode="auto">
          <a:xfrm>
            <a:off x="1557338" y="3048000"/>
            <a:ext cx="4233862" cy="3733800"/>
            <a:chOff x="240" y="1920"/>
            <a:chExt cx="2667" cy="2352"/>
          </a:xfrm>
        </p:grpSpPr>
        <p:pic>
          <p:nvPicPr>
            <p:cNvPr id="474120" name="Picture 8">
              <a:extLst>
                <a:ext uri="{FF2B5EF4-FFF2-40B4-BE49-F238E27FC236}">
                  <a16:creationId xmlns:a16="http://schemas.microsoft.com/office/drawing/2014/main" id="{819C2E7C-1BE7-9145-4C27-7FE68C296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1920"/>
              <a:ext cx="1611" cy="2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4121" name="Text Box 9">
              <a:extLst>
                <a:ext uri="{FF2B5EF4-FFF2-40B4-BE49-F238E27FC236}">
                  <a16:creationId xmlns:a16="http://schemas.microsoft.com/office/drawing/2014/main" id="{F18575CF-FCA2-A351-01BC-BF0D1999C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552"/>
              <a:ext cx="1104" cy="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1918-2002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年</a:t>
              </a:r>
            </a:p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1981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年获得诺贝尔经济学奖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4" grpId="0" autoUpdateAnimBg="0"/>
      <p:bldP spid="47411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231A53E-87B9-2119-80C3-00AEC915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546C9-66E9-48DF-8DAA-C7EEF5A1A328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A9376F7-F07A-1F47-661E-7468C6BB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410D2-E13F-45B2-98A2-567DBE0FFC31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A73B2C4C-66A9-351F-21EA-0D3AB7E404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5.2  Q</a:t>
            </a:r>
            <a:r>
              <a:rPr lang="zh-CN" altLang="en-US" b="1">
                <a:solidFill>
                  <a:srgbClr val="CC0000"/>
                </a:solidFill>
              </a:rPr>
              <a:t>理论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00206D65-5CC5-D063-9462-338BA2E68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75148" name="Group 12">
            <a:extLst>
              <a:ext uri="{FF2B5EF4-FFF2-40B4-BE49-F238E27FC236}">
                <a16:creationId xmlns:a16="http://schemas.microsoft.com/office/drawing/2014/main" id="{5BA008B0-FD8D-26F4-F636-0D96F318FD4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524000"/>
            <a:ext cx="7102475" cy="1266825"/>
            <a:chOff x="96" y="960"/>
            <a:chExt cx="4474" cy="798"/>
          </a:xfrm>
        </p:grpSpPr>
        <p:sp>
          <p:nvSpPr>
            <p:cNvPr id="475140" name="Rectangle 4">
              <a:extLst>
                <a:ext uri="{FF2B5EF4-FFF2-40B4-BE49-F238E27FC236}">
                  <a16:creationId xmlns:a16="http://schemas.microsoft.com/office/drawing/2014/main" id="{DCDC4EFE-4BA2-6F19-D0C2-47FAE0D55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960"/>
              <a:ext cx="2064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effectLst/>
                </a:rPr>
                <a:t>Tobin</a:t>
              </a:r>
              <a:r>
                <a:rPr lang="en-US" altLang="zh-CN">
                  <a:effectLst/>
                  <a:latin typeface="Times New Roman" panose="02020603050405020304" pitchFamily="18" charset="0"/>
                </a:rPr>
                <a:t>’</a:t>
              </a:r>
              <a:r>
                <a:rPr lang="en-US" altLang="zh-CN">
                  <a:effectLst/>
                </a:rPr>
                <a:t>S Q</a:t>
              </a:r>
            </a:p>
            <a:p>
              <a:pPr lvl="1"/>
              <a:r>
                <a:rPr lang="zh-CN" altLang="en-US">
                  <a:effectLst/>
                </a:rPr>
                <a:t>定义：</a:t>
              </a:r>
            </a:p>
          </p:txBody>
        </p:sp>
        <p:grpSp>
          <p:nvGrpSpPr>
            <p:cNvPr id="475144" name="Group 8">
              <a:extLst>
                <a:ext uri="{FF2B5EF4-FFF2-40B4-BE49-F238E27FC236}">
                  <a16:creationId xmlns:a16="http://schemas.microsoft.com/office/drawing/2014/main" id="{E8B6A6B5-A68E-DE07-BF59-A62AFFB07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200"/>
              <a:ext cx="3322" cy="558"/>
              <a:chOff x="230" y="546"/>
              <a:chExt cx="3322" cy="558"/>
            </a:xfrm>
          </p:grpSpPr>
          <p:sp>
            <p:nvSpPr>
              <p:cNvPr id="475145" name="Text Box 9">
                <a:extLst>
                  <a:ext uri="{FF2B5EF4-FFF2-40B4-BE49-F238E27FC236}">
                    <a16:creationId xmlns:a16="http://schemas.microsoft.com/office/drawing/2014/main" id="{88390FD8-20AE-7315-0073-6AB7F16BF7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" y="685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endParaRPr kumimoji="1" lang="zh-CN" altLang="zh-CN" sz="2400" b="0">
                  <a:effectLst/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75146" name="Object 10">
                <a:extLst>
                  <a:ext uri="{FF2B5EF4-FFF2-40B4-BE49-F238E27FC236}">
                    <a16:creationId xmlns:a16="http://schemas.microsoft.com/office/drawing/2014/main" id="{911D0624-3C07-35BD-AC2A-39F66CAC5DF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546"/>
              <a:ext cx="2400" cy="5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803240" imgH="419040" progId="Equation.3">
                      <p:embed/>
                    </p:oleObj>
                  </mc:Choice>
                  <mc:Fallback>
                    <p:oleObj name="Equation" r:id="rId2" imgW="1803240" imgH="41904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546"/>
                            <a:ext cx="2400" cy="5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5147" name="Rectangle 11">
            <a:extLst>
              <a:ext uri="{FF2B5EF4-FFF2-40B4-BE49-F238E27FC236}">
                <a16:creationId xmlns:a16="http://schemas.microsoft.com/office/drawing/2014/main" id="{1C745A5D-8019-F00D-F1D5-388E3C1EA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95600"/>
            <a:ext cx="87439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</a:rPr>
              <a:t>内容：</a:t>
            </a:r>
          </a:p>
          <a:p>
            <a:pPr lvl="2"/>
            <a:r>
              <a:rPr kumimoji="1" lang="zh-CN" altLang="en-US">
                <a:effectLst/>
                <a:latin typeface="Times New Roman" panose="02020603050405020304" pitchFamily="18" charset="0"/>
              </a:rPr>
              <a:t>如果</a:t>
            </a:r>
            <a:r>
              <a:rPr kumimoji="1" lang="en-US" altLang="zh-CN">
                <a:effectLst/>
                <a:latin typeface="Times New Roman" panose="02020603050405020304" pitchFamily="18" charset="0"/>
              </a:rPr>
              <a:t>q&gt;1,</a:t>
            </a:r>
            <a:r>
              <a:rPr kumimoji="1" lang="zh-CN" altLang="en-US">
                <a:effectLst/>
                <a:latin typeface="Times New Roman" panose="02020603050405020304" pitchFamily="18" charset="0"/>
              </a:rPr>
              <a:t>那么企业会增加投资</a:t>
            </a:r>
          </a:p>
          <a:p>
            <a:pPr lvl="2"/>
            <a:r>
              <a:rPr kumimoji="1" lang="zh-CN" altLang="en-US">
                <a:effectLst/>
                <a:latin typeface="Times New Roman" panose="02020603050405020304" pitchFamily="18" charset="0"/>
              </a:rPr>
              <a:t>如果</a:t>
            </a:r>
            <a:r>
              <a:rPr kumimoji="1" lang="en-US" altLang="zh-CN">
                <a:effectLst/>
                <a:latin typeface="Times New Roman" panose="02020603050405020304" pitchFamily="18" charset="0"/>
              </a:rPr>
              <a:t>q&lt;1,</a:t>
            </a:r>
            <a:r>
              <a:rPr kumimoji="1" lang="zh-CN" altLang="en-US">
                <a:effectLst/>
                <a:latin typeface="Times New Roman" panose="02020603050405020304" pitchFamily="18" charset="0"/>
              </a:rPr>
              <a:t>那么即使面对资本损耗，企业也不会重置。</a:t>
            </a:r>
          </a:p>
        </p:txBody>
      </p:sp>
      <p:sp>
        <p:nvSpPr>
          <p:cNvPr id="475149" name="Rectangle 13">
            <a:extLst>
              <a:ext uri="{FF2B5EF4-FFF2-40B4-BE49-F238E27FC236}">
                <a16:creationId xmlns:a16="http://schemas.microsoft.com/office/drawing/2014/main" id="{713802DD-90F8-88EE-4821-23F478E21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419600"/>
            <a:ext cx="8839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>
                <a:effectLst/>
                <a:latin typeface="Times New Roman" panose="02020603050405020304" pitchFamily="18" charset="0"/>
              </a:rPr>
              <a:t>理论解释：</a:t>
            </a:r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企业股票价值等于企业未来所支付红利的现值，所以</a:t>
            </a:r>
            <a:r>
              <a:rPr kumimoji="1" lang="en-US" altLang="zh-CN" sz="2400">
                <a:effectLst/>
                <a:latin typeface="Times New Roman" panose="02020603050405020304" pitchFamily="18" charset="0"/>
              </a:rPr>
              <a:t>q</a:t>
            </a:r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值就是单位资本未来红利的现值。</a:t>
            </a:r>
          </a:p>
          <a:p>
            <a:pPr lvl="2"/>
            <a:r>
              <a:rPr kumimoji="1" lang="zh-CN" altLang="en-US" sz="2000">
                <a:effectLst/>
                <a:latin typeface="Times New Roman" panose="02020603050405020304" pitchFamily="18" charset="0"/>
              </a:rPr>
              <a:t>假定单位资本的未来边际产出不变，则</a:t>
            </a:r>
          </a:p>
        </p:txBody>
      </p:sp>
      <p:graphicFrame>
        <p:nvGraphicFramePr>
          <p:cNvPr id="475151" name="Object 15">
            <a:extLst>
              <a:ext uri="{FF2B5EF4-FFF2-40B4-BE49-F238E27FC236}">
                <a16:creationId xmlns:a16="http://schemas.microsoft.com/office/drawing/2014/main" id="{D3F9CB05-00DD-EFDA-C783-18A122C97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811838"/>
          <a:ext cx="56388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380880" progId="Equation.DSMT4">
                  <p:embed/>
                </p:oleObj>
              </mc:Choice>
              <mc:Fallback>
                <p:oleObj name="Equation" r:id="rId4" imgW="2209680" imgH="3808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811838"/>
                        <a:ext cx="56388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5152" name="Object 16">
            <a:extLst>
              <a:ext uri="{FF2B5EF4-FFF2-40B4-BE49-F238E27FC236}">
                <a16:creationId xmlns:a16="http://schemas.microsoft.com/office/drawing/2014/main" id="{727DE9BE-3E03-2FEF-BA59-8C9CC4A0C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7163" y="5791200"/>
          <a:ext cx="23320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355320" progId="Equation.DSMT4">
                  <p:embed/>
                </p:oleObj>
              </mc:Choice>
              <mc:Fallback>
                <p:oleObj name="Equation" r:id="rId6" imgW="914400" imgH="3553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791200"/>
                        <a:ext cx="2332037" cy="9048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7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38" grpId="0" autoUpdateAnimBg="0"/>
      <p:bldP spid="475147" grpId="0" autoUpdateAnimBg="0"/>
      <p:bldP spid="47514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A04C27C-0CCC-BFE7-8647-ECD0958E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FE925-0069-423A-AD05-D93C06ACC3F4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26DE11CA-A171-4C4C-674E-29D75443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2308D-CBF8-4493-A7CC-85D5A4785C71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77186" name="Rectangle 2">
            <a:extLst>
              <a:ext uri="{FF2B5EF4-FFF2-40B4-BE49-F238E27FC236}">
                <a16:creationId xmlns:a16="http://schemas.microsoft.com/office/drawing/2014/main" id="{FE36C97D-EE72-BFFA-EAEF-2667BDC22CF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5.3  </a:t>
            </a:r>
            <a:r>
              <a:rPr lang="zh-CN" altLang="en-US" b="1">
                <a:solidFill>
                  <a:srgbClr val="CC0000"/>
                </a:solidFill>
              </a:rPr>
              <a:t>不可逆投资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AD8AC561-C7C5-3903-9679-BDD94AF7D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7188" name="Rectangle 4">
            <a:extLst>
              <a:ext uri="{FF2B5EF4-FFF2-40B4-BE49-F238E27FC236}">
                <a16:creationId xmlns:a16="http://schemas.microsoft.com/office/drawing/2014/main" id="{984EE715-D735-F946-F7BF-0E3068CE2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05200"/>
            <a:ext cx="419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effectLst/>
                <a:latin typeface="Times New Roman" panose="02020603050405020304" pitchFamily="18" charset="0"/>
              </a:rPr>
              <a:t>大家有没有听过“铁本”事件？</a:t>
            </a:r>
          </a:p>
        </p:txBody>
      </p:sp>
      <p:sp>
        <p:nvSpPr>
          <p:cNvPr id="477189" name="Rectangle 5">
            <a:extLst>
              <a:ext uri="{FF2B5EF4-FFF2-40B4-BE49-F238E27FC236}">
                <a16:creationId xmlns:a16="http://schemas.microsoft.com/office/drawing/2014/main" id="{D0AE3078-711C-D68D-EB5C-6E447115D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105400"/>
            <a:ext cx="90678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effectLst/>
                <a:latin typeface="Times New Roman" panose="02020603050405020304" pitchFamily="18" charset="0"/>
              </a:rPr>
              <a:t>资本易增不易减。许多投资都含有沉没成本，改变投资决策，将无法收获这部分成本，这就是投资的不可逆性。</a:t>
            </a:r>
            <a:endParaRPr kumimoji="1" lang="zh-CN" altLang="en-US" sz="280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477190" name="Picture 6">
            <a:extLst>
              <a:ext uri="{FF2B5EF4-FFF2-40B4-BE49-F238E27FC236}">
                <a16:creationId xmlns:a16="http://schemas.microsoft.com/office/drawing/2014/main" id="{4619E704-89E7-36DB-945A-EE563C107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84325"/>
            <a:ext cx="4800600" cy="352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7191" name="Rectangle 7">
            <a:extLst>
              <a:ext uri="{FF2B5EF4-FFF2-40B4-BE49-F238E27FC236}">
                <a16:creationId xmlns:a16="http://schemas.microsoft.com/office/drawing/2014/main" id="{44DAB736-D244-4BA7-B855-E7D69D55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3600"/>
            <a:ext cx="419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effectLst/>
                <a:latin typeface="Times New Roman" panose="02020603050405020304" pitchFamily="18" charset="0"/>
              </a:rPr>
              <a:t>大家有没有见过烂尾楼？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6" grpId="0" autoUpdateAnimBg="0"/>
      <p:bldP spid="477188" grpId="0" autoUpdateAnimBg="0"/>
      <p:bldP spid="477189" grpId="0" autoUpdateAnimBg="0"/>
      <p:bldP spid="47719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65ECC18-E1CC-98A6-055B-2428F65D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8F1C-3557-4D66-B9A3-865B51E967A1}" type="datetime1">
              <a:rPr lang="zh-CN" altLang="en-US"/>
              <a:pPr/>
              <a:t>2023/10/24</a:t>
            </a:fld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C061A491-B29C-91B8-CA65-1A47E1FC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FD39-23AC-4D99-9A9C-6EAFDEEE7941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79234" name="Rectangle 2">
            <a:extLst>
              <a:ext uri="{FF2B5EF4-FFF2-40B4-BE49-F238E27FC236}">
                <a16:creationId xmlns:a16="http://schemas.microsoft.com/office/drawing/2014/main" id="{ECD6C9B3-63BC-6805-AA02-5EBC39F778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小结</a:t>
            </a:r>
          </a:p>
        </p:txBody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734CCD8A-052A-AB85-4429-FC319240D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9237" name="Rectangle 5">
            <a:extLst>
              <a:ext uri="{FF2B5EF4-FFF2-40B4-BE49-F238E27FC236}">
                <a16:creationId xmlns:a16="http://schemas.microsoft.com/office/drawing/2014/main" id="{9F944E80-10D2-1B40-E502-605E8AF4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00"/>
            <a:ext cx="5638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>
                <a:effectLst/>
                <a:latin typeface="Times New Roman" panose="02020603050405020304" pitchFamily="18" charset="0"/>
              </a:rPr>
              <a:t>主要讲了三部分内容</a:t>
            </a:r>
          </a:p>
          <a:p>
            <a:pPr lvl="1"/>
            <a:r>
              <a:rPr kumimoji="1" lang="zh-CN" altLang="en-US" sz="2000">
                <a:effectLst/>
                <a:latin typeface="Times New Roman" panose="02020603050405020304" pitchFamily="18" charset="0"/>
              </a:rPr>
              <a:t>投资的基本概念</a:t>
            </a:r>
          </a:p>
          <a:p>
            <a:pPr lvl="1"/>
            <a:r>
              <a:rPr kumimoji="1" lang="zh-CN" altLang="en-US" sz="2000">
                <a:effectLst/>
                <a:latin typeface="Times New Roman" panose="02020603050405020304" pitchFamily="18" charset="0"/>
              </a:rPr>
              <a:t>投资的典型事实</a:t>
            </a:r>
          </a:p>
          <a:p>
            <a:pPr lvl="1"/>
            <a:r>
              <a:rPr kumimoji="1" lang="zh-CN" altLang="en-US" sz="2000">
                <a:effectLst/>
                <a:latin typeface="Times New Roman" panose="02020603050405020304" pitchFamily="18" charset="0"/>
              </a:rPr>
              <a:t>投资的基本理论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autoUpdateAnimBg="0"/>
      <p:bldP spid="479237" grpId="0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6389</TotalTime>
  <Words>902</Words>
  <Application>Microsoft Office PowerPoint</Application>
  <PresentationFormat>全屏显示(4:3)</PresentationFormat>
  <Paragraphs>184</Paragraphs>
  <Slides>24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Wingdings 2</vt:lpstr>
      <vt:lpstr>华文楷体</vt:lpstr>
      <vt:lpstr>Times New Roman</vt:lpstr>
      <vt:lpstr>Symbol</vt:lpstr>
      <vt:lpstr>吉祥如意</vt:lpstr>
      <vt:lpstr>MathType 5.0 Equation</vt:lpstr>
      <vt:lpstr>Microsoft Graph 2000 图表</vt:lpstr>
      <vt:lpstr>Microsoft 公式 3.0</vt:lpstr>
      <vt:lpstr>中级宏观经济学</vt:lpstr>
      <vt:lpstr>课程简介</vt:lpstr>
      <vt:lpstr>主要内容</vt:lpstr>
      <vt:lpstr>1.0 投资需求的基本</vt:lpstr>
      <vt:lpstr>1.0 投资需求的基本概念</vt:lpstr>
      <vt:lpstr>2.1 投资的典型实事 </vt:lpstr>
      <vt:lpstr>2.2 投资的典型实事 </vt:lpstr>
      <vt:lpstr>2.3 投资的典型实事 </vt:lpstr>
      <vt:lpstr>2.4 投资的典型实事 </vt:lpstr>
      <vt:lpstr>2.5 投资的典型实事 </vt:lpstr>
      <vt:lpstr>2.6 小结</vt:lpstr>
      <vt:lpstr>3.0 投资理论</vt:lpstr>
      <vt:lpstr>3.1 投资理论－古典</vt:lpstr>
      <vt:lpstr>3.2 投资理论－古典</vt:lpstr>
      <vt:lpstr>3.3 投资理论－古典</vt:lpstr>
      <vt:lpstr>3.3 投资理论－古典</vt:lpstr>
      <vt:lpstr>3.4 投资模型－古典</vt:lpstr>
      <vt:lpstr>3.4 投资模型－古典</vt:lpstr>
      <vt:lpstr>4.1 政府的税收和投资补贴</vt:lpstr>
      <vt:lpstr>5.1  新古典投资理论</vt:lpstr>
      <vt:lpstr>5.2  Q理论</vt:lpstr>
      <vt:lpstr>5.2  Q理论</vt:lpstr>
      <vt:lpstr>5.3  不可逆投资</vt:lpstr>
      <vt:lpstr>小结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614</cp:revision>
  <dcterms:created xsi:type="dcterms:W3CDTF">2004-10-12T17:05:21Z</dcterms:created>
  <dcterms:modified xsi:type="dcterms:W3CDTF">2023-10-24T11:38:56Z</dcterms:modified>
</cp:coreProperties>
</file>