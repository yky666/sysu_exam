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323" r:id="rId2"/>
    <p:sldId id="322" r:id="rId3"/>
    <p:sldId id="309" r:id="rId4"/>
    <p:sldId id="327" r:id="rId5"/>
    <p:sldId id="328" r:id="rId6"/>
    <p:sldId id="293" r:id="rId7"/>
    <p:sldId id="294" r:id="rId8"/>
    <p:sldId id="295" r:id="rId9"/>
    <p:sldId id="296" r:id="rId10"/>
    <p:sldId id="324" r:id="rId11"/>
    <p:sldId id="326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19" r:id="rId24"/>
    <p:sldId id="335" r:id="rId25"/>
    <p:sldId id="310" r:id="rId26"/>
    <p:sldId id="311" r:id="rId27"/>
    <p:sldId id="312" r:id="rId28"/>
    <p:sldId id="330" r:id="rId29"/>
    <p:sldId id="313" r:id="rId30"/>
    <p:sldId id="320" r:id="rId31"/>
    <p:sldId id="331" r:id="rId32"/>
    <p:sldId id="329" r:id="rId33"/>
    <p:sldId id="315" r:id="rId34"/>
    <p:sldId id="334" r:id="rId35"/>
    <p:sldId id="317" r:id="rId36"/>
    <p:sldId id="332" r:id="rId37"/>
    <p:sldId id="333" r:id="rId38"/>
    <p:sldId id="318" r:id="rId39"/>
    <p:sldId id="256" r:id="rId40"/>
    <p:sldId id="273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3" r:id="rId49"/>
    <p:sldId id="282" r:id="rId50"/>
    <p:sldId id="284" r:id="rId51"/>
    <p:sldId id="292" r:id="rId52"/>
    <p:sldId id="286" r:id="rId53"/>
    <p:sldId id="287" r:id="rId54"/>
    <p:sldId id="289" r:id="rId55"/>
    <p:sldId id="290" r:id="rId56"/>
    <p:sldId id="321" r:id="rId5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00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5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9.xml"/><Relationship Id="rId2" Type="http://schemas.openxmlformats.org/officeDocument/2006/relationships/slide" Target="slides/slide21.xml"/><Relationship Id="rId1" Type="http://schemas.openxmlformats.org/officeDocument/2006/relationships/slide" Target="slides/slide1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>
            <a:extLst>
              <a:ext uri="{FF2B5EF4-FFF2-40B4-BE49-F238E27FC236}">
                <a16:creationId xmlns:a16="http://schemas.microsoft.com/office/drawing/2014/main" id="{F2ADE109-3E72-E2D0-08BC-F8EEFD7AA0C8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3971" name="Rectangle 1027">
            <a:extLst>
              <a:ext uri="{FF2B5EF4-FFF2-40B4-BE49-F238E27FC236}">
                <a16:creationId xmlns:a16="http://schemas.microsoft.com/office/drawing/2014/main" id="{A70F0A50-5C5D-0BCD-C36A-915ABBFCCD92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  <a:solidFill>
            <a:srgbClr val="3366FF">
              <a:alpha val="50000"/>
            </a:srgbClr>
          </a:solidFill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83972" name="Rectangle 1028">
            <a:extLst>
              <a:ext uri="{FF2B5EF4-FFF2-40B4-BE49-F238E27FC236}">
                <a16:creationId xmlns:a16="http://schemas.microsoft.com/office/drawing/2014/main" id="{A6631B61-5F11-F69A-5C6A-EEC73D5AD824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3973" name="Rectangle 1029">
            <a:extLst>
              <a:ext uri="{FF2B5EF4-FFF2-40B4-BE49-F238E27FC236}">
                <a16:creationId xmlns:a16="http://schemas.microsoft.com/office/drawing/2014/main" id="{B015FA94-9789-6F99-E24B-DB3E907F353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3974" name="Rectangle 1030">
            <a:extLst>
              <a:ext uri="{FF2B5EF4-FFF2-40B4-BE49-F238E27FC236}">
                <a16:creationId xmlns:a16="http://schemas.microsoft.com/office/drawing/2014/main" id="{E36C74CF-B77A-851A-2F3C-9D318124CF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423F8AE-69F3-4021-A19B-DA22A821EE8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56FB8-588B-28DE-816F-5BF4134D9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DD3C93-CF96-1E26-346E-80E5483BB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E1090-06E3-D2F7-7A20-67311EC87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135AB-BD96-D228-9A4C-CC76965C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A0B932-D7E8-35B1-CA9E-A57D649C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9E1B4D-F784-40D5-AEDD-1BB1AFD56AC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491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DE1D3-E4B4-F1DE-6B14-DA3D2AF8D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BE24E9-2FA7-7CEB-DB3F-D27E1C916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9E1ED1-BD28-8B7A-5F04-F79851CA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9BB65A-DA9C-1A73-B330-6EA0F618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8C67A-EADD-E817-46E8-942A3FF55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1B4C09-CB35-4B03-9425-BDDB24E511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276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E3299-8C19-B829-D46A-3BF58D41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27DD92-BDCA-2B20-656A-CA4A37D63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B5B66D-FE4F-1AD0-1BD9-B6714126D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1300AF-B079-B3AB-8DAB-174256910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539924-17BA-E45D-B6D8-28190E820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B926C9-E94B-20AC-C657-B6C00AEE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2815A8-539C-4E1B-B7B7-AE4FF65FBF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7010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9E640-E0C6-0D42-8836-F91D1FED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401BD9-E6DF-58F0-71E9-BFE49C73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3CF037-654C-0074-9744-36D691625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B50CB9-8DD2-6B99-9BDD-6A228D7FE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2DE633C-4301-18E0-0ECD-23BB8F96A3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9F9C46-2243-7D70-F680-B18A4F60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A74CC5E-8466-D163-042B-FE40BD1A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20CC10-2B64-FE09-32B0-E5B840BC5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35E4A-FA02-4D8D-A79A-C7CE98E8FE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1743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F3CD1-C44D-717A-D25A-B78EFC14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13ADAD-9E6D-6280-7CAA-3688F5D9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7577E0-9E90-45B9-DE7C-10B7F797D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BD7403-0130-AB90-F618-8C8AB0A4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0A51B-3703-4D12-889D-D7ED0B04B7E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338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989C87-7325-226D-1FB5-27678FD9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B38E72-0EC5-4B20-9CA1-EDECD9A0B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8E5D87-6CC1-6F44-276A-38411F12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3BC8A8-A9B6-43F7-A062-CAC34A577D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36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CAE5F9-EBDA-4138-E643-BF3CCF18A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83CAF-3488-170B-64C3-3280975C9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823B7B-1777-A5A2-31CC-4221D736A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AB9BF7-76F6-925E-2ABF-A302AD559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FC2294-5F04-93CE-2314-BF35903B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18A6E1-FD91-10B4-AB02-46032D4D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0A1C0-ECA1-4D6E-A29E-8BF16B545D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23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CB4701-692B-30F4-97E7-2B21D039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D5089C-0680-4A11-3CE1-91C4EB63FA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2FA4C1-7FC5-EE9E-E09A-6C058BD5E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AAB2F8-0F15-5D5A-7F3E-68358F6E9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1F749F-371B-9FFD-55BB-17832A51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3CFF3D-802F-71BE-55FB-1379DC356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1C7CCC-2450-480A-829B-80D62F7CF0B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578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BCB6D0-F193-CF34-41AB-4E553D0FA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77DA87-7F41-D986-B5E4-7B1B9B193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5E1ADC-6301-3F46-33B1-26277D4D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B629F-736A-64A8-AE7B-DDC8B2D6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E3F8A-1C13-8A82-11B9-27571B27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C1FFC8-C880-4243-B3C0-3645FB6870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3149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2A1623-2CCA-7225-158A-7845CAAC2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AAECFA-59F0-9105-DE13-C48E6B7D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CC76A-ED81-4E98-EBAD-AA0B8659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582ADB-025F-EE03-306B-61EC2487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EC1432-19BD-8D07-260B-A1BA99B2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F0F856-081A-495D-867C-E5D549F7B8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1286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D918A-3195-D381-6F39-2147E2D03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68380-EFAC-0BAF-637D-18DF4265AA2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D7133C-907F-64FD-B5A8-20B8B38E6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05866F-A175-2048-B0EF-E45A110A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46EC9B-0D54-CCAC-A1D8-D1C477CD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5F962C-DFBD-5D0F-8D12-2B1E79E0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16675FC-E70D-4752-BFDD-0BDC68731F2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9307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B48C5D4-FD1C-5716-32D2-44D7828B6CA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974471-4703-8CC6-48F6-A490FA37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844129D-3620-FF2A-F9B3-66D37153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58EBFE-826B-D5A8-FB2E-ED12BB9BE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B10FBB7-8804-4D20-BBA9-607968DE1F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439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26">
            <a:extLst>
              <a:ext uri="{FF2B5EF4-FFF2-40B4-BE49-F238E27FC236}">
                <a16:creationId xmlns:a16="http://schemas.microsoft.com/office/drawing/2014/main" id="{78AF94FE-BA6B-BC1E-7C6F-E67571140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947" name="Rectangle 1027">
            <a:extLst>
              <a:ext uri="{FF2B5EF4-FFF2-40B4-BE49-F238E27FC236}">
                <a16:creationId xmlns:a16="http://schemas.microsoft.com/office/drawing/2014/main" id="{4F3F193E-5A44-9599-B8F9-622FEF37BF7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endParaRPr lang="en-US" altLang="zh-CN"/>
          </a:p>
        </p:txBody>
      </p:sp>
      <p:sp>
        <p:nvSpPr>
          <p:cNvPr id="82948" name="Rectangle 1028">
            <a:extLst>
              <a:ext uri="{FF2B5EF4-FFF2-40B4-BE49-F238E27FC236}">
                <a16:creationId xmlns:a16="http://schemas.microsoft.com/office/drawing/2014/main" id="{F891AD1E-9458-7ECB-7103-BA91614D32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endParaRPr lang="en-US" altLang="zh-CN"/>
          </a:p>
        </p:txBody>
      </p:sp>
      <p:sp>
        <p:nvSpPr>
          <p:cNvPr id="82949" name="Rectangle 1029">
            <a:extLst>
              <a:ext uri="{FF2B5EF4-FFF2-40B4-BE49-F238E27FC236}">
                <a16:creationId xmlns:a16="http://schemas.microsoft.com/office/drawing/2014/main" id="{4C5C4D52-1241-A4CE-5330-7A06DB4E00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DBBDD9C8-B4EB-45CF-AD00-DE906A0161A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2950" name="Rectangle 1030">
            <a:extLst>
              <a:ext uri="{FF2B5EF4-FFF2-40B4-BE49-F238E27FC236}">
                <a16:creationId xmlns:a16="http://schemas.microsoft.com/office/drawing/2014/main" id="{99FE6203-5840-1E09-317D-9161ADEC9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3.wmf"/><Relationship Id="rId7" Type="http://schemas.openxmlformats.org/officeDocument/2006/relationships/oleObject" Target="../embeddings/oleObject14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4.emf"/><Relationship Id="rId7" Type="http://schemas.openxmlformats.org/officeDocument/2006/relationships/image" Target="../media/image26.e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8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oleObject" Target="../embeddings/oleObject3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3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2.wmf"/><Relationship Id="rId2" Type="http://schemas.openxmlformats.org/officeDocument/2006/relationships/oleObject" Target="../embeddings/oleObject34.bin"/><Relationship Id="rId16" Type="http://schemas.openxmlformats.org/officeDocument/2006/relationships/oleObject" Target="../embeddings/oleObject4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9.wmf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0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image" Target="../media/image48.wmf"/><Relationship Id="rId3" Type="http://schemas.openxmlformats.org/officeDocument/2006/relationships/image" Target="../media/image44.wmf"/><Relationship Id="rId7" Type="http://schemas.openxmlformats.org/officeDocument/2006/relationships/oleObject" Target="../embeddings/oleObject46.bin"/><Relationship Id="rId12" Type="http://schemas.openxmlformats.org/officeDocument/2006/relationships/oleObject" Target="../embeddings/oleObject49.bin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7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7.bin"/><Relationship Id="rId14" Type="http://schemas.openxmlformats.org/officeDocument/2006/relationships/oleObject" Target="../embeddings/oleObject5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3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oleObject" Target="../embeddings/oleObject62.bin"/><Relationship Id="rId3" Type="http://schemas.openxmlformats.org/officeDocument/2006/relationships/image" Target="../media/image54.wmf"/><Relationship Id="rId7" Type="http://schemas.openxmlformats.org/officeDocument/2006/relationships/image" Target="../media/image45.wmf"/><Relationship Id="rId12" Type="http://schemas.openxmlformats.org/officeDocument/2006/relationships/image" Target="../media/image56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11" Type="http://schemas.openxmlformats.org/officeDocument/2006/relationships/oleObject" Target="../embeddings/oleObject61.bin"/><Relationship Id="rId5" Type="http://schemas.openxmlformats.org/officeDocument/2006/relationships/image" Target="../media/image44.wmf"/><Relationship Id="rId10" Type="http://schemas.openxmlformats.org/officeDocument/2006/relationships/image" Target="../media/image55.wmf"/><Relationship Id="rId4" Type="http://schemas.openxmlformats.org/officeDocument/2006/relationships/oleObject" Target="../embeddings/oleObject57.bin"/><Relationship Id="rId9" Type="http://schemas.openxmlformats.org/officeDocument/2006/relationships/oleObject" Target="../embeddings/oleObject60.bin"/><Relationship Id="rId14" Type="http://schemas.openxmlformats.org/officeDocument/2006/relationships/oleObject" Target="../embeddings/oleObject63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.bin"/><Relationship Id="rId3" Type="http://schemas.openxmlformats.org/officeDocument/2006/relationships/image" Target="../media/image57.emf"/><Relationship Id="rId7" Type="http://schemas.openxmlformats.org/officeDocument/2006/relationships/image" Target="../media/image59.e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6.bin"/><Relationship Id="rId5" Type="http://schemas.openxmlformats.org/officeDocument/2006/relationships/image" Target="../media/image58.emf"/><Relationship Id="rId4" Type="http://schemas.openxmlformats.org/officeDocument/2006/relationships/oleObject" Target="../embeddings/oleObject65.bin"/><Relationship Id="rId9" Type="http://schemas.openxmlformats.org/officeDocument/2006/relationships/image" Target="../media/image60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6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oleObject" Target="../embeddings/oleObject70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72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emf"/><Relationship Id="rId4" Type="http://schemas.openxmlformats.org/officeDocument/2006/relationships/oleObject" Target="../embeddings/oleObject7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3" Type="http://schemas.openxmlformats.org/officeDocument/2006/relationships/image" Target="../media/image69.emf"/><Relationship Id="rId7" Type="http://schemas.openxmlformats.org/officeDocument/2006/relationships/image" Target="../media/image71.emf"/><Relationship Id="rId2" Type="http://schemas.openxmlformats.org/officeDocument/2006/relationships/oleObject" Target="../embeddings/oleObject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73.emf"/><Relationship Id="rId5" Type="http://schemas.openxmlformats.org/officeDocument/2006/relationships/image" Target="../media/image70.emf"/><Relationship Id="rId10" Type="http://schemas.openxmlformats.org/officeDocument/2006/relationships/oleObject" Target="../embeddings/oleObject8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2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emf"/><Relationship Id="rId4" Type="http://schemas.openxmlformats.org/officeDocument/2006/relationships/oleObject" Target="../embeddings/oleObject8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image" Target="../media/image77.emf"/><Relationship Id="rId7" Type="http://schemas.openxmlformats.org/officeDocument/2006/relationships/image" Target="../media/image79.e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81.emf"/><Relationship Id="rId5" Type="http://schemas.openxmlformats.org/officeDocument/2006/relationships/image" Target="../media/image78.e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80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BEA95027-DEA8-109D-2BBD-D7C35FBF5C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600200"/>
            <a:ext cx="7772400" cy="1143000"/>
          </a:xfrm>
        </p:spPr>
        <p:txBody>
          <a:bodyPr/>
          <a:lstStyle/>
          <a:p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Medical Statistics </a:t>
            </a:r>
            <a:b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en-US" altLang="zh-CN" sz="4000" b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(full English class)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C94B505-DD0B-6203-15A3-CC279FCED1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24000" y="4038600"/>
            <a:ext cx="6400800" cy="1981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3366FF">
                    <a:alpha val="50000"/>
                  </a:srgbClr>
                </a:solidFill>
              </a14:hiddenFill>
            </a:ext>
          </a:extLst>
        </p:spPr>
        <p:txBody>
          <a:bodyPr/>
          <a:lstStyle/>
          <a:p>
            <a:endParaRPr lang="en-US" altLang="zh-CN"/>
          </a:p>
          <a:p>
            <a:r>
              <a:rPr lang="en-US" altLang="zh-CN" b="1"/>
              <a:t>Ji-Qian Fang</a:t>
            </a:r>
          </a:p>
          <a:p>
            <a:r>
              <a:rPr lang="en-US" altLang="zh-CN" b="1"/>
              <a:t>School of  Public Health </a:t>
            </a:r>
          </a:p>
          <a:p>
            <a:r>
              <a:rPr lang="en-US" altLang="zh-CN" b="1"/>
              <a:t>Sun Yat-Sen University</a:t>
            </a:r>
          </a:p>
          <a:p>
            <a:endParaRPr lang="en-US" altLang="zh-CN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3">
            <a:extLst>
              <a:ext uri="{FF2B5EF4-FFF2-40B4-BE49-F238E27FC236}">
                <a16:creationId xmlns:a16="http://schemas.microsoft.com/office/drawing/2014/main" id="{E4F2C1C1-4C34-C132-C813-C5FB549E6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8991600" cy="45307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FFCC00"/>
                </a:solidFill>
              </a:rPr>
              <a:t>Chapter 10 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zh-CN" sz="3600" b="1">
              <a:solidFill>
                <a:srgbClr val="FFCC00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FFCC00"/>
                </a:solidFill>
              </a:rPr>
              <a:t>Statistical Analysis of Enumeration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0FB9F3C2-B472-9370-9B5F-D9C894513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472EE7D-53E1-CA25-4395-D2749F9B2B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graphicFrame>
        <p:nvGraphicFramePr>
          <p:cNvPr id="94212" name="Object 4">
            <a:extLst>
              <a:ext uri="{FF2B5EF4-FFF2-40B4-BE49-F238E27FC236}">
                <a16:creationId xmlns:a16="http://schemas.microsoft.com/office/drawing/2014/main" id="{269F23AB-EDBA-AD75-6EBB-24327BAFA4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1350625" cy="684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10800" imgH="3265560" progId="Word.Document.8">
                  <p:embed/>
                </p:oleObj>
              </mc:Choice>
              <mc:Fallback>
                <p:oleObj name="Document" r:id="rId2" imgW="5410800" imgH="32655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1350625" cy="68421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CAB650FC-1D13-611F-268D-A92C5CFCA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C605AE7-1B0E-D9FC-0BB6-DF30487854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graphicFrame>
        <p:nvGraphicFramePr>
          <p:cNvPr id="95236" name="Object 4">
            <a:extLst>
              <a:ext uri="{FF2B5EF4-FFF2-40B4-BE49-F238E27FC236}">
                <a16:creationId xmlns:a16="http://schemas.microsoft.com/office/drawing/2014/main" id="{B419DC85-20E3-57DA-1071-6E18ABDD4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47625" y="0"/>
          <a:ext cx="135636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17640" imgH="2658240" progId="Word.Document.8">
                  <p:embed/>
                </p:oleObj>
              </mc:Choice>
              <mc:Fallback>
                <p:oleObj name="Document" r:id="rId2" imgW="5417640" imgH="265824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7625" y="0"/>
                        <a:ext cx="13563600" cy="685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86519C6-EB2B-87E4-2EC0-457A477904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CN" sz="4000" b="1">
                <a:solidFill>
                  <a:schemeClr val="folHlink"/>
                </a:solidFill>
              </a:rPr>
            </a:br>
            <a:r>
              <a:rPr lang="en-US" altLang="zh-CN" sz="3600" b="1">
                <a:solidFill>
                  <a:schemeClr val="folHlink"/>
                </a:solidFill>
              </a:rPr>
              <a:t>10.1 Statistical Description </a:t>
            </a:r>
            <a:br>
              <a:rPr lang="en-US" altLang="zh-CN" sz="3600" b="1">
                <a:solidFill>
                  <a:schemeClr val="folHlink"/>
                </a:solidFill>
              </a:rPr>
            </a:br>
            <a:r>
              <a:rPr lang="en-US" altLang="zh-CN" sz="3600" b="1">
                <a:solidFill>
                  <a:schemeClr val="folHlink"/>
                </a:solidFill>
              </a:rPr>
              <a:t>for</a:t>
            </a:r>
            <a:br>
              <a:rPr lang="en-US" altLang="zh-CN" sz="3600" b="1">
                <a:solidFill>
                  <a:schemeClr val="folHlink"/>
                </a:solidFill>
              </a:rPr>
            </a:br>
            <a:r>
              <a:rPr lang="en-US" altLang="zh-CN" sz="3600" b="1">
                <a:solidFill>
                  <a:schemeClr val="folHlink"/>
                </a:solidFill>
              </a:rPr>
              <a:t> enumeration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BD88534-C735-4013-7882-245D62049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0732BA2-95F8-7651-A425-2D064F4BF4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33375"/>
            <a:ext cx="9144000" cy="61912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      </a:t>
            </a:r>
          </a:p>
          <a:p>
            <a:pPr font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en-US" altLang="zh-CN" sz="4000" b="1" u="sng">
                <a:solidFill>
                  <a:srgbClr val="FFFF00"/>
                </a:solidFill>
                <a:latin typeface="Batang" pitchFamily="18" charset="-127"/>
                <a:ea typeface="Batang" pitchFamily="18" charset="-127"/>
              </a:rPr>
              <a:t>Absolute measure:</a:t>
            </a:r>
            <a:r>
              <a:rPr lang="en-US" altLang="zh-CN" b="1"/>
              <a:t> </a:t>
            </a:r>
          </a:p>
          <a:p>
            <a:pPr fontAlgn="ctr">
              <a:lnSpc>
                <a:spcPct val="80000"/>
              </a:lnSpc>
            </a:pPr>
            <a:r>
              <a:rPr lang="en-US" altLang="zh-CN" sz="4000" b="1">
                <a:solidFill>
                  <a:srgbClr val="99FF99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The numbers counted for each  category (frequencies)</a:t>
            </a:r>
          </a:p>
          <a:p>
            <a:pPr algn="just" fontAlgn="ctr">
              <a:lnSpc>
                <a:spcPct val="80000"/>
              </a:lnSpc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The  absolute measure can hardly be</a:t>
            </a:r>
          </a:p>
          <a:p>
            <a:pPr algn="just" font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  used for comparison between</a:t>
            </a:r>
          </a:p>
          <a:p>
            <a:pPr algn="just" fontAlgn="ctr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  different populations. </a:t>
            </a:r>
          </a:p>
          <a:p>
            <a:pPr algn="just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4000" b="1">
                <a:latin typeface="Gulim" pitchFamily="34" charset="-127"/>
                <a:ea typeface="Gulim" pitchFamily="34" charset="-127"/>
              </a:rPr>
              <a:t>     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AB98666-18E4-ADA8-7353-D9075B028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39825"/>
          </a:xfrm>
        </p:spPr>
        <p:txBody>
          <a:bodyPr/>
          <a:lstStyle/>
          <a:p>
            <a:r>
              <a:rPr lang="en-US" altLang="zh-CN" sz="4000" b="1">
                <a:solidFill>
                  <a:srgbClr val="FFFF00"/>
                </a:solidFill>
                <a:ea typeface="Batang" pitchFamily="18" charset="-127"/>
              </a:rPr>
              <a:t>1. Relative measure</a:t>
            </a:r>
            <a:br>
              <a:rPr lang="en-US" altLang="zh-CN" sz="4000" b="1">
                <a:ea typeface="Batang" pitchFamily="18" charset="-127"/>
              </a:rPr>
            </a:br>
            <a:endParaRPr lang="en-US" altLang="zh-CN" sz="4000" b="1">
              <a:ea typeface="Batang" pitchFamily="18" charset="-127"/>
            </a:endParaRP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979544CD-A565-9393-B986-457BC94E0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066800"/>
            <a:ext cx="8540750" cy="4916488"/>
          </a:xfrm>
        </p:spPr>
        <p:txBody>
          <a:bodyPr/>
          <a:lstStyle/>
          <a:p>
            <a:pPr fontAlgn="ctr"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rgbClr val="99FF99"/>
                </a:solidFill>
                <a:latin typeface="Batang" pitchFamily="18" charset="-127"/>
                <a:ea typeface="Batang" pitchFamily="18" charset="-127"/>
              </a:rPr>
              <a:t>   </a:t>
            </a:r>
          </a:p>
          <a:p>
            <a:pPr fontAlgn="ctr">
              <a:buFont typeface="Wingdings" panose="05000000000000000000" pitchFamily="2" charset="2"/>
              <a:buNone/>
            </a:pPr>
            <a:r>
              <a:rPr lang="en-US" altLang="zh-CN" sz="4000" b="1">
                <a:solidFill>
                  <a:srgbClr val="99FF99"/>
                </a:solidFill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Three kinds of relative measures: </a:t>
            </a:r>
          </a:p>
          <a:p>
            <a:pPr fontAlgn="ctr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FFFF00"/>
                </a:solidFill>
                <a:latin typeface="Batang" pitchFamily="18" charset="-127"/>
                <a:ea typeface="Batang" pitchFamily="18" charset="-127"/>
              </a:rPr>
              <a:t>    Frequency (Proportion)</a:t>
            </a:r>
          </a:p>
          <a:p>
            <a:pPr fontAlgn="ctr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FFFF00"/>
                </a:solidFill>
                <a:latin typeface="Batang" pitchFamily="18" charset="-127"/>
                <a:ea typeface="Batang" pitchFamily="18" charset="-127"/>
              </a:rPr>
              <a:t>    Intensity (Rate) </a:t>
            </a:r>
          </a:p>
          <a:p>
            <a:pPr fontAlgn="ctr"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FFFF00"/>
                </a:solidFill>
                <a:latin typeface="Batang" pitchFamily="18" charset="-127"/>
                <a:ea typeface="Batang" pitchFamily="18" charset="-127"/>
              </a:rPr>
              <a:t>    Ratio</a:t>
            </a:r>
            <a:endParaRPr lang="en-US" altLang="zh-CN" sz="4000" b="1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4000" b="1"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85E0E31-4BAF-82CA-4E97-F3F7BEC2B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r>
              <a:rPr lang="en-US" altLang="zh-CN" sz="3200" b="1">
                <a:solidFill>
                  <a:srgbClr val="FFCC00"/>
                </a:solidFill>
                <a:latin typeface="Times New Roman" panose="02020603050405020304" pitchFamily="18" charset="0"/>
              </a:rPr>
              <a:t>(1) Relative Frequency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0910BA1-BF25-ECA1-096E-47D50603E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565400"/>
            <a:ext cx="82089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80000"/>
              </a:lnSpc>
              <a:spcBef>
                <a:spcPct val="50000"/>
              </a:spcBef>
              <a:buClr>
                <a:schemeClr val="folHlink"/>
              </a:buClr>
              <a:buSzPct val="85000"/>
              <a:buFont typeface="Wingdings 2" pitchFamily="18" charset="2"/>
              <a:buNone/>
            </a:pPr>
            <a:endParaRPr kumimoji="0" lang="zh-CN" altLang="zh-CN" sz="4000">
              <a:latin typeface="Arial" panose="020B0604020202020204" pitchFamily="34" charset="0"/>
            </a:endParaRPr>
          </a:p>
        </p:txBody>
      </p:sp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0CE6E70A-A01D-31C6-6568-57474FA21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066800"/>
          <a:ext cx="91440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22480" imgH="634680" progId="Equation.3">
                  <p:embed/>
                </p:oleObj>
              </mc:Choice>
              <mc:Fallback>
                <p:oleObj name="Equation" r:id="rId2" imgW="3822480" imgH="634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066800"/>
                        <a:ext cx="9144000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8">
            <a:extLst>
              <a:ext uri="{FF2B5EF4-FFF2-40B4-BE49-F238E27FC236}">
                <a16:creationId xmlns:a16="http://schemas.microsoft.com/office/drawing/2014/main" id="{7BEBAD94-02BF-8E13-DA6A-A7B6DA6E8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52800"/>
            <a:ext cx="906145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4000"/>
              <a:t>Note: The Chinese text book is wrong!</a:t>
            </a:r>
          </a:p>
          <a:p>
            <a:r>
              <a:rPr lang="en-US" altLang="zh-CN" sz="4000"/>
              <a:t>It is not “rate”!</a:t>
            </a:r>
          </a:p>
          <a:p>
            <a:r>
              <a:rPr lang="en-US" altLang="zh-CN" sz="4000"/>
              <a:t>It is proportion or frequency!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Rectangle 5">
            <a:extLst>
              <a:ext uri="{FF2B5EF4-FFF2-40B4-BE49-F238E27FC236}">
                <a16:creationId xmlns:a16="http://schemas.microsoft.com/office/drawing/2014/main" id="{77168EDB-13E8-0B01-6439-47688A109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0"/>
            <a:ext cx="586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/>
              <a:t>Example 10-1(P.304, revised) </a:t>
            </a:r>
          </a:p>
        </p:txBody>
      </p:sp>
      <p:graphicFrame>
        <p:nvGraphicFramePr>
          <p:cNvPr id="91144" name="Object 8">
            <a:extLst>
              <a:ext uri="{FF2B5EF4-FFF2-40B4-BE49-F238E27FC236}">
                <a16:creationId xmlns:a16="http://schemas.microsoft.com/office/drawing/2014/main" id="{DC9599BD-FBB3-3AA7-2204-628159F84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038600"/>
          <a:ext cx="41910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240" imgH="253800" progId="Equation.3">
                  <p:embed/>
                </p:oleObj>
              </mc:Choice>
              <mc:Fallback>
                <p:oleObj name="Equation" r:id="rId2" imgW="2019240" imgH="253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038600"/>
                        <a:ext cx="4191000" cy="5254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5" name="Object 9">
            <a:extLst>
              <a:ext uri="{FF2B5EF4-FFF2-40B4-BE49-F238E27FC236}">
                <a16:creationId xmlns:a16="http://schemas.microsoft.com/office/drawing/2014/main" id="{4641A94C-52DD-F1C5-56FB-C9B021CB74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557713"/>
          <a:ext cx="419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253800" progId="Equation.3">
                  <p:embed/>
                </p:oleObj>
              </mc:Choice>
              <mc:Fallback>
                <p:oleObj name="Equation" r:id="rId4" imgW="2171520" imgH="253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557713"/>
                        <a:ext cx="4191000" cy="5334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6" name="Object 10">
            <a:extLst>
              <a:ext uri="{FF2B5EF4-FFF2-40B4-BE49-F238E27FC236}">
                <a16:creationId xmlns:a16="http://schemas.microsoft.com/office/drawing/2014/main" id="{41C4DDA6-3E2E-C520-0A21-128707D01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091113"/>
          <a:ext cx="41910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70000" imgH="253800" progId="Equation.3">
                  <p:embed/>
                </p:oleObj>
              </mc:Choice>
              <mc:Fallback>
                <p:oleObj name="Equation" r:id="rId6" imgW="2070000" imgH="253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091113"/>
                        <a:ext cx="4191000" cy="5143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>
            <a:extLst>
              <a:ext uri="{FF2B5EF4-FFF2-40B4-BE49-F238E27FC236}">
                <a16:creationId xmlns:a16="http://schemas.microsoft.com/office/drawing/2014/main" id="{85058772-80ED-1184-7E7F-E264823578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038600"/>
          <a:ext cx="41910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1840" imgH="253800" progId="Equation.3">
                  <p:embed/>
                </p:oleObj>
              </mc:Choice>
              <mc:Fallback>
                <p:oleObj name="Equation" r:id="rId8" imgW="2031840" imgH="25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038600"/>
                        <a:ext cx="4191000" cy="5238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Object 12">
            <a:extLst>
              <a:ext uri="{FF2B5EF4-FFF2-40B4-BE49-F238E27FC236}">
                <a16:creationId xmlns:a16="http://schemas.microsoft.com/office/drawing/2014/main" id="{034761A8-BC7C-D835-F6A9-ABCC9153E5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484688"/>
          <a:ext cx="4191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84120" imgH="253800" progId="Equation.3">
                  <p:embed/>
                </p:oleObj>
              </mc:Choice>
              <mc:Fallback>
                <p:oleObj name="Equation" r:id="rId10" imgW="2184120" imgH="253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484688"/>
                        <a:ext cx="4191000" cy="4968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9" name="Object 13">
            <a:extLst>
              <a:ext uri="{FF2B5EF4-FFF2-40B4-BE49-F238E27FC236}">
                <a16:creationId xmlns:a16="http://schemas.microsoft.com/office/drawing/2014/main" id="{C8FFD2E3-5159-1BB4-E812-CB676485C4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40300" y="4953000"/>
          <a:ext cx="4216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95200" imgH="253800" progId="Equation.3">
                  <p:embed/>
                </p:oleObj>
              </mc:Choice>
              <mc:Fallback>
                <p:oleObj name="Equation" r:id="rId12" imgW="2095200" imgH="2538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4953000"/>
                        <a:ext cx="4216400" cy="5111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7" name="Text Box 21">
            <a:extLst>
              <a:ext uri="{FF2B5EF4-FFF2-40B4-BE49-F238E27FC236}">
                <a16:creationId xmlns:a16="http://schemas.microsoft.com/office/drawing/2014/main" id="{F7661676-81C3-37B9-C19F-2A19A9318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15000"/>
            <a:ext cx="9144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Question: Which grade has the most serious condition of </a:t>
            </a:r>
          </a:p>
          <a:p>
            <a:r>
              <a:rPr lang="en-US" altLang="zh-CN" sz="2800" b="1"/>
              <a:t>                   myopias?</a:t>
            </a:r>
          </a:p>
        </p:txBody>
      </p:sp>
      <p:graphicFrame>
        <p:nvGraphicFramePr>
          <p:cNvPr id="91158" name="Object 22">
            <a:extLst>
              <a:ext uri="{FF2B5EF4-FFF2-40B4-BE49-F238E27FC236}">
                <a16:creationId xmlns:a16="http://schemas.microsoft.com/office/drawing/2014/main" id="{E5C72BCB-10FA-6475-35F6-78A174DAF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533400"/>
          <a:ext cx="9144000" cy="330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4" imgW="5420880" imgH="1808640" progId="Word.Document.8">
                  <p:embed/>
                </p:oleObj>
              </mc:Choice>
              <mc:Fallback>
                <p:oleObj name="Document" r:id="rId14" imgW="5420880" imgH="1808640" progId="Word.Document.8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533400"/>
                        <a:ext cx="9144000" cy="33035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>
            <a:extLst>
              <a:ext uri="{FF2B5EF4-FFF2-40B4-BE49-F238E27FC236}">
                <a16:creationId xmlns:a16="http://schemas.microsoft.com/office/drawing/2014/main" id="{E90106B3-C9BB-B71E-21E8-15B3FAB7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9600"/>
            <a:ext cx="9144000" cy="735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Prevalence rates describe :</a:t>
            </a:r>
          </a:p>
          <a:p>
            <a:r>
              <a:rPr lang="en-US" altLang="zh-CN" sz="2800" b="1"/>
              <a:t>     P(Myopia</a:t>
            </a:r>
            <a:r>
              <a:rPr lang="en-US" altLang="zh-CN" sz="2800" b="1">
                <a:cs typeface="Times New Roman" panose="02020603050405020304" pitchFamily="18" charset="0"/>
              </a:rPr>
              <a:t>|First grade) </a:t>
            </a:r>
          </a:p>
          <a:p>
            <a:r>
              <a:rPr lang="en-US" altLang="zh-CN" sz="2800" b="1">
                <a:cs typeface="Times New Roman" panose="02020603050405020304" pitchFamily="18" charset="0"/>
              </a:rPr>
              <a:t>     </a:t>
            </a:r>
            <a:r>
              <a:rPr lang="en-US" altLang="zh-CN" sz="2800" b="1"/>
              <a:t>P(Myopia</a:t>
            </a:r>
            <a:r>
              <a:rPr lang="en-US" altLang="zh-CN" sz="2800" b="1">
                <a:cs typeface="Times New Roman" panose="02020603050405020304" pitchFamily="18" charset="0"/>
              </a:rPr>
              <a:t>|Second grade)</a:t>
            </a:r>
          </a:p>
          <a:p>
            <a:r>
              <a:rPr lang="en-US" altLang="zh-CN" sz="2800" b="1">
                <a:cs typeface="Times New Roman" panose="02020603050405020304" pitchFamily="18" charset="0"/>
              </a:rPr>
              <a:t>     </a:t>
            </a:r>
            <a:r>
              <a:rPr lang="en-US" altLang="zh-CN" sz="2800" b="1"/>
              <a:t>P(Myopia</a:t>
            </a:r>
            <a:r>
              <a:rPr lang="en-US" altLang="zh-CN" sz="2800" b="1">
                <a:cs typeface="Times New Roman" panose="02020603050405020304" pitchFamily="18" charset="0"/>
              </a:rPr>
              <a:t>|Third grade)</a:t>
            </a:r>
            <a:endParaRPr lang="en-US" altLang="zh-CN" sz="2800" b="1"/>
          </a:p>
          <a:p>
            <a:r>
              <a:rPr lang="en-US" altLang="zh-CN" sz="2800" b="1"/>
              <a:t>Constitute among myopias describe:</a:t>
            </a:r>
          </a:p>
          <a:p>
            <a:r>
              <a:rPr lang="en-US" altLang="zh-CN" sz="2800" b="1"/>
              <a:t>     P(</a:t>
            </a:r>
            <a:r>
              <a:rPr lang="en-US" altLang="zh-CN" sz="2800" b="1">
                <a:cs typeface="Times New Roman" panose="02020603050405020304" pitchFamily="18" charset="0"/>
              </a:rPr>
              <a:t>First grade</a:t>
            </a:r>
            <a:r>
              <a:rPr lang="en-US" altLang="zh-CN" sz="2800" b="1"/>
              <a:t> </a:t>
            </a:r>
            <a:r>
              <a:rPr lang="en-US" altLang="zh-CN" sz="2800" b="1">
                <a:cs typeface="Times New Roman" panose="02020603050405020304" pitchFamily="18" charset="0"/>
              </a:rPr>
              <a:t>| </a:t>
            </a:r>
            <a:r>
              <a:rPr lang="en-US" altLang="zh-CN" sz="2800" b="1"/>
              <a:t>Myopia</a:t>
            </a:r>
            <a:r>
              <a:rPr lang="en-US" altLang="zh-CN" sz="2800" b="1"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800" b="1">
                <a:cs typeface="Times New Roman" panose="02020603050405020304" pitchFamily="18" charset="0"/>
              </a:rPr>
              <a:t>     </a:t>
            </a:r>
            <a:r>
              <a:rPr lang="en-US" altLang="zh-CN" sz="2800" b="1"/>
              <a:t>P(</a:t>
            </a:r>
            <a:r>
              <a:rPr lang="en-US" altLang="zh-CN" sz="2800" b="1">
                <a:cs typeface="Times New Roman" panose="02020603050405020304" pitchFamily="18" charset="0"/>
              </a:rPr>
              <a:t>Second grade</a:t>
            </a:r>
            <a:r>
              <a:rPr lang="en-US" altLang="zh-CN" sz="2800" b="1"/>
              <a:t> </a:t>
            </a:r>
            <a:r>
              <a:rPr lang="en-US" altLang="zh-CN" sz="2800" b="1">
                <a:cs typeface="Times New Roman" panose="02020603050405020304" pitchFamily="18" charset="0"/>
              </a:rPr>
              <a:t>| </a:t>
            </a:r>
            <a:r>
              <a:rPr lang="en-US" altLang="zh-CN" sz="2800" b="1"/>
              <a:t>Myopia</a:t>
            </a:r>
            <a:r>
              <a:rPr lang="en-US" altLang="zh-CN" sz="2800" b="1">
                <a:cs typeface="Times New Roman" panose="02020603050405020304" pitchFamily="18" charset="0"/>
              </a:rPr>
              <a:t>)</a:t>
            </a:r>
            <a:endParaRPr lang="en-US" altLang="zh-CN" sz="2800" b="1"/>
          </a:p>
          <a:p>
            <a:r>
              <a:rPr lang="en-US" altLang="zh-CN" sz="2800" b="1"/>
              <a:t>     P(</a:t>
            </a:r>
            <a:r>
              <a:rPr lang="en-US" altLang="zh-CN" sz="2800" b="1">
                <a:cs typeface="Times New Roman" panose="02020603050405020304" pitchFamily="18" charset="0"/>
              </a:rPr>
              <a:t>Third grade</a:t>
            </a:r>
            <a:r>
              <a:rPr lang="en-US" altLang="zh-CN" sz="2800" b="1"/>
              <a:t> </a:t>
            </a:r>
            <a:r>
              <a:rPr lang="en-US" altLang="zh-CN" sz="2800" b="1">
                <a:cs typeface="Times New Roman" panose="02020603050405020304" pitchFamily="18" charset="0"/>
              </a:rPr>
              <a:t>| </a:t>
            </a:r>
            <a:r>
              <a:rPr lang="en-US" altLang="zh-CN" sz="2800" b="1"/>
              <a:t>Myopia</a:t>
            </a:r>
            <a:r>
              <a:rPr lang="en-US" altLang="zh-CN" sz="2800" b="1"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2800" b="1">
                <a:solidFill>
                  <a:schemeClr val="folHlink"/>
                </a:solidFill>
              </a:rPr>
              <a:t>Which grade has the most serious condition of myopias?</a:t>
            </a:r>
          </a:p>
          <a:p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Answer:       </a:t>
            </a:r>
            <a:r>
              <a:rPr lang="en-US" altLang="zh-CN" sz="2800" b="1">
                <a:solidFill>
                  <a:schemeClr val="folHlink"/>
                </a:solidFill>
              </a:rPr>
              <a:t>P(Myopia</a:t>
            </a:r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|Third grade) = Maximum </a:t>
            </a:r>
            <a:endParaRPr lang="en-US" altLang="zh-CN" sz="2800" b="1">
              <a:solidFill>
                <a:schemeClr val="folHlink"/>
              </a:solidFill>
            </a:endParaRPr>
          </a:p>
          <a:p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--The third grade </a:t>
            </a:r>
            <a:r>
              <a:rPr lang="en-US" altLang="zh-CN" sz="2800" b="1">
                <a:solidFill>
                  <a:schemeClr val="folHlink"/>
                </a:solidFill>
              </a:rPr>
              <a:t>has the highest prevalence of myopias</a:t>
            </a:r>
          </a:p>
          <a:p>
            <a:r>
              <a:rPr lang="en-US" altLang="zh-CN" sz="2800" b="1">
                <a:solidFill>
                  <a:schemeClr val="folHlink"/>
                </a:solidFill>
              </a:rPr>
              <a:t>                     P(</a:t>
            </a:r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Second grade</a:t>
            </a:r>
            <a:r>
              <a:rPr lang="en-US" altLang="zh-CN" sz="2800" b="1">
                <a:solidFill>
                  <a:schemeClr val="folHlink"/>
                </a:solidFill>
              </a:rPr>
              <a:t> </a:t>
            </a:r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| </a:t>
            </a:r>
            <a:r>
              <a:rPr lang="en-US" altLang="zh-CN" sz="2800" b="1">
                <a:solidFill>
                  <a:schemeClr val="folHlink"/>
                </a:solidFill>
              </a:rPr>
              <a:t>Myopia</a:t>
            </a:r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)= Maximum </a:t>
            </a:r>
          </a:p>
          <a:p>
            <a:r>
              <a:rPr lang="en-US" altLang="zh-CN" sz="2800" b="1">
                <a:solidFill>
                  <a:schemeClr val="folHlink"/>
                </a:solidFill>
                <a:cs typeface="Times New Roman" panose="02020603050405020304" pitchFamily="18" charset="0"/>
              </a:rPr>
              <a:t>-- Among the myopias, the absolute number of Second grade</a:t>
            </a:r>
            <a:r>
              <a:rPr lang="en-US" altLang="zh-CN" sz="2800" b="1">
                <a:solidFill>
                  <a:schemeClr val="folHlink"/>
                </a:solidFill>
              </a:rPr>
              <a:t> students is the highest.</a:t>
            </a:r>
          </a:p>
          <a:p>
            <a:endParaRPr lang="en-US" altLang="zh-CN" sz="2800" b="1">
              <a:solidFill>
                <a:schemeClr val="folHlink"/>
              </a:solidFill>
            </a:endParaRPr>
          </a:p>
          <a:p>
            <a:endParaRPr lang="en-US" altLang="zh-CN" sz="2800" b="1"/>
          </a:p>
          <a:p>
            <a:r>
              <a:rPr lang="en-US" altLang="zh-CN" sz="2800" b="1"/>
              <a:t>       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>
            <a:extLst>
              <a:ext uri="{FF2B5EF4-FFF2-40B4-BE49-F238E27FC236}">
                <a16:creationId xmlns:a16="http://schemas.microsoft.com/office/drawing/2014/main" id="{D8C5265A-ABEB-370B-A7C8-B8847027F4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422650"/>
          <a:ext cx="1143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102" imgH="126780" progId="Equation.3">
                  <p:embed/>
                </p:oleObj>
              </mc:Choice>
              <mc:Fallback>
                <p:oleObj r:id="rId2" imgW="114102" imgH="1267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22650"/>
                        <a:ext cx="114300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3">
            <a:extLst>
              <a:ext uri="{FF2B5EF4-FFF2-40B4-BE49-F238E27FC236}">
                <a16:creationId xmlns:a16="http://schemas.microsoft.com/office/drawing/2014/main" id="{1D5F1708-9E9B-805F-7F2A-D238DBE12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422650"/>
          <a:ext cx="1143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4102" imgH="126780" progId="Equation.3">
                  <p:embed/>
                </p:oleObj>
              </mc:Choice>
              <mc:Fallback>
                <p:oleObj r:id="rId4" imgW="114102" imgH="1267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22650"/>
                        <a:ext cx="114300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>
            <a:extLst>
              <a:ext uri="{FF2B5EF4-FFF2-40B4-BE49-F238E27FC236}">
                <a16:creationId xmlns:a16="http://schemas.microsoft.com/office/drawing/2014/main" id="{20EDAE37-5CDF-2CBA-E4F7-54C0853E51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422650"/>
          <a:ext cx="1143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4102" imgH="126780" progId="Equation.3">
                  <p:embed/>
                </p:oleObj>
              </mc:Choice>
              <mc:Fallback>
                <p:oleObj r:id="rId6" imgW="114102" imgH="1267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422650"/>
                        <a:ext cx="114300" cy="123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Rectangle 5">
            <a:extLst>
              <a:ext uri="{FF2B5EF4-FFF2-40B4-BE49-F238E27FC236}">
                <a16:creationId xmlns:a16="http://schemas.microsoft.com/office/drawing/2014/main" id="{4F8CCC5B-8EBA-9FEB-472A-296E8C9D6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0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en-US" altLang="zh-CN" sz="36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(2) Intensity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F9CB8280-909D-145A-1FDC-79CA33A88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44550"/>
            <a:ext cx="9144000" cy="601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Example   A smoking population had followed up for 562833 person-years, 346 lung cancer cases were found.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kumimoji="0" lang="en-US" altLang="zh-CN" sz="2800" b="1"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kumimoji="0" lang="en-US" altLang="zh-CN" sz="2800" b="1"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The incidence rate of lung cancer in the smoking population is :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                Incidence rate =346/562833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              =61.47 per 100,000 person-year</a:t>
            </a:r>
          </a:p>
        </p:txBody>
      </p:sp>
      <p:graphicFrame>
        <p:nvGraphicFramePr>
          <p:cNvPr id="58375" name="Object 7">
            <a:extLst>
              <a:ext uri="{FF2B5EF4-FFF2-40B4-BE49-F238E27FC236}">
                <a16:creationId xmlns:a16="http://schemas.microsoft.com/office/drawing/2014/main" id="{146328EF-62B1-1C77-FF12-BD561C256F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438400"/>
          <a:ext cx="8839200" cy="1493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59120" imgH="634680" progId="Equation.3">
                  <p:embed/>
                </p:oleObj>
              </mc:Choice>
              <mc:Fallback>
                <p:oleObj name="Equation" r:id="rId7" imgW="3759120" imgH="6346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438400"/>
                        <a:ext cx="8839200" cy="1493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1808D70-A215-D450-DDE7-E8EC6331F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68413"/>
            <a:ext cx="9144000" cy="51133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      </a:t>
            </a:r>
            <a:endParaRPr lang="en-US" altLang="zh-CN" sz="3600" b="1">
              <a:solidFill>
                <a:srgbClr val="99FF99"/>
              </a:solidFill>
              <a:ea typeface="Batang" pitchFamily="18" charset="-127"/>
            </a:endParaRPr>
          </a:p>
        </p:txBody>
      </p:sp>
      <p:graphicFrame>
        <p:nvGraphicFramePr>
          <p:cNvPr id="59395" name="Object 3">
            <a:extLst>
              <a:ext uri="{FF2B5EF4-FFF2-40B4-BE49-F238E27FC236}">
                <a16:creationId xmlns:a16="http://schemas.microsoft.com/office/drawing/2014/main" id="{55B3B7C9-DAF7-E3CB-80E0-440264D87F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2667000"/>
          <a:ext cx="861060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634680" progId="Equation.3">
                  <p:embed/>
                </p:oleObj>
              </mc:Choice>
              <mc:Fallback>
                <p:oleObj name="Equation" r:id="rId2" imgW="3657600" imgH="6346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8610600" cy="1495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6" name="Rectangle 4">
            <a:extLst>
              <a:ext uri="{FF2B5EF4-FFF2-40B4-BE49-F238E27FC236}">
                <a16:creationId xmlns:a16="http://schemas.microsoft.com/office/drawing/2014/main" id="{FACBE45A-0A6A-709D-0D79-B499EC08D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95400"/>
            <a:ext cx="8686800" cy="87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60000"/>
            </a:pPr>
            <a:r>
              <a:rPr kumimoji="0" lang="en-US" altLang="zh-CN" sz="3200" b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Example  The mortality rate of liver cancer in Guangzhou is 32 per 100,000 per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18" name="Object 2">
            <a:extLst>
              <a:ext uri="{FF2B5EF4-FFF2-40B4-BE49-F238E27FC236}">
                <a16:creationId xmlns:a16="http://schemas.microsoft.com/office/drawing/2014/main" id="{EE3E26A3-B0E1-72AF-04C3-E2E274F0C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1600200"/>
          <a:ext cx="6553200" cy="149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634680" progId="Equation.3">
                  <p:embed/>
                </p:oleObj>
              </mc:Choice>
              <mc:Fallback>
                <p:oleObj name="Equation" r:id="rId2" imgW="2781000" imgH="6346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600200"/>
                        <a:ext cx="6553200" cy="149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9" name="Text Box 3">
            <a:extLst>
              <a:ext uri="{FF2B5EF4-FFF2-40B4-BE49-F238E27FC236}">
                <a16:creationId xmlns:a16="http://schemas.microsoft.com/office/drawing/2014/main" id="{F5DCEC24-4A23-B2B4-1A5A-90689F65264F}"/>
              </a:ext>
            </a:extLst>
          </p:cNvPr>
          <p:cNvSpPr txBox="1">
            <a:spLocks noChangeArrowheads="1"/>
          </p:cNvSpPr>
          <p:nvPr>
            <p:ph type="body" idx="1"/>
          </p:nvPr>
        </p:nvSpPr>
        <p:spPr>
          <a:xfrm>
            <a:off x="76200" y="879475"/>
            <a:ext cx="8839200" cy="4530725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In general, 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Denominator: Sum of the person-years observed in the period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Numerator:  Total number of the event appearing in the period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Unit: person/person year, or 1/Year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Nature: the relative frequency per unit of time.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AF5FB2D-1A0B-D4AD-DB38-CBFD1AB29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229600" cy="838200"/>
          </a:xfrm>
        </p:spPr>
        <p:txBody>
          <a:bodyPr/>
          <a:lstStyle/>
          <a:p>
            <a:r>
              <a:rPr lang="en-US" altLang="zh-CN" sz="3200" b="1">
                <a:solidFill>
                  <a:srgbClr val="FFCC00"/>
                </a:solidFill>
                <a:latin typeface="Times New Roman" panose="02020603050405020304" pitchFamily="18" charset="0"/>
              </a:rPr>
              <a:t>(3) Ratio</a:t>
            </a:r>
            <a:r>
              <a:rPr lang="en-US" altLang="zh-CN"/>
              <a:t>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DC891A6-1E57-F5E5-B256-75E040D40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530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u="sng">
                <a:solidFill>
                  <a:srgbClr val="FFFF00"/>
                </a:solidFill>
                <a:ea typeface="Batang" pitchFamily="18" charset="-127"/>
              </a:rPr>
              <a:t>Ratio</a:t>
            </a:r>
            <a:r>
              <a:rPr lang="en-US" altLang="zh-CN" sz="2800" b="1">
                <a:solidFill>
                  <a:srgbClr val="FFFF00"/>
                </a:solidFill>
                <a:ea typeface="Batang" pitchFamily="18" charset="-127"/>
              </a:rPr>
              <a:t>   </a:t>
            </a:r>
            <a:r>
              <a:rPr lang="en-US" altLang="zh-CN" sz="2800" b="1">
                <a:ea typeface="Batang" pitchFamily="18" charset="-127"/>
              </a:rPr>
              <a:t>is a number divided by another related number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Examples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Sex ratio of students in this class: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         No. of males : No. of females = 52%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 Coefficient of variation: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                    CV=SD/mean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 Ratio of time spent per clinic visit: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       Large hospital : Community health station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Batang" pitchFamily="18" charset="-127"/>
              </a:rPr>
              <a:t>        =  81.9 min. : 18.6 min. = 4.40</a:t>
            </a:r>
            <a:endParaRPr lang="en-US" altLang="zh-CN" sz="2800" b="1">
              <a:solidFill>
                <a:srgbClr val="99FF99"/>
              </a:solidFill>
              <a:ea typeface="Batang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8A8AECA-3000-3354-0A0A-380235B16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8964612" cy="1417638"/>
          </a:xfrm>
        </p:spPr>
        <p:txBody>
          <a:bodyPr/>
          <a:lstStyle/>
          <a:p>
            <a:r>
              <a:rPr lang="en-US" altLang="zh-CN" sz="4000" b="1">
                <a:solidFill>
                  <a:srgbClr val="FFCC00"/>
                </a:solidFill>
              </a:rPr>
              <a:t>2. Caution </a:t>
            </a:r>
            <a:br>
              <a:rPr lang="en-US" altLang="zh-CN" sz="4000" b="1">
                <a:solidFill>
                  <a:srgbClr val="FFCC00"/>
                </a:solidFill>
              </a:rPr>
            </a:br>
            <a:r>
              <a:rPr lang="en-US" altLang="zh-CN" sz="4000" b="1">
                <a:solidFill>
                  <a:srgbClr val="FFCC00"/>
                </a:solidFill>
              </a:rPr>
              <a:t>in use of relative measures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0773B32A-2B58-F1F7-5FF3-479E661D3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4530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a.	The denominator should be big enough! Otherwise the absolute measure should be used.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Example: Out of 5 cases, 3 were cured– 60% 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b.	 Attention to the population where the relative measure comes from.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Mistake in the textbook (P.305) 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“Distinguish between constitutes and proportion” !?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We should say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“Distinguish between Prevalence rate and Constitute among patients”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Prevalence rate:  Population is the students in the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same grade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  Constitutes: Population is all the patients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>
            <a:extLst>
              <a:ext uri="{FF2B5EF4-FFF2-40B4-BE49-F238E27FC236}">
                <a16:creationId xmlns:a16="http://schemas.microsoft.com/office/drawing/2014/main" id="{8F3DF97C-F13E-2090-F3D1-CE36E6520C07}"/>
              </a:ext>
            </a:extLst>
          </p:cNvPr>
          <p:cNvGraphicFramePr>
            <a:graphicFrameLocks noChangeAspect="1"/>
          </p:cNvGraphicFramePr>
          <p:nvPr>
            <p:ph type="body" idx="1"/>
          </p:nvPr>
        </p:nvGraphicFramePr>
        <p:xfrm>
          <a:off x="76200" y="76200"/>
          <a:ext cx="89154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211120" progId="Word.Document.8">
                  <p:embed/>
                </p:oleObj>
              </mc:Choice>
              <mc:Fallback>
                <p:oleObj name="Document" r:id="rId2" imgW="5420880" imgH="22111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76200"/>
                        <a:ext cx="8915400" cy="35814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1" name="Text Box 3">
            <a:extLst>
              <a:ext uri="{FF2B5EF4-FFF2-40B4-BE49-F238E27FC236}">
                <a16:creationId xmlns:a16="http://schemas.microsoft.com/office/drawing/2014/main" id="{B8264060-6065-9306-0F28-ED8EC12B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91000"/>
            <a:ext cx="9144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0" lang="zh-CN" altLang="zh-CN" sz="1800">
              <a:latin typeface="Verdana" panose="020B0604030504040204" pitchFamily="34" charset="0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E8B33D0A-58F1-2CF0-7360-DFAA56617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886200"/>
            <a:ext cx="9144000" cy="301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sz="2000" b="1">
                <a:ea typeface="Arial Unicode MS" pitchFamily="34" charset="-122"/>
              </a:rPr>
              <a:t> </a:t>
            </a:r>
            <a:r>
              <a:rPr kumimoji="0" lang="en-US" altLang="zh-CN" sz="3200" b="1">
                <a:ea typeface="Arial Unicode MS" pitchFamily="34" charset="-122"/>
              </a:rPr>
              <a:t>The above two frequency distributions reflect two </a:t>
            </a:r>
            <a:r>
              <a:rPr kumimoji="0" lang="en-US" altLang="zh-CN" sz="3200" b="1" u="sng">
                <a:ea typeface="Arial Unicode MS" pitchFamily="34" charset="-122"/>
              </a:rPr>
              <a:t>populations of all patients</a:t>
            </a:r>
            <a:r>
              <a:rPr kumimoji="0" lang="en-US" altLang="zh-CN" sz="3200" b="1">
                <a:ea typeface="Arial Unicode MS" pitchFamily="34" charset="-122"/>
              </a:rPr>
              <a:t>;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sz="3200" b="1">
                <a:ea typeface="Arial Unicode MS" pitchFamily="34" charset="-122"/>
              </a:rPr>
              <a:t> To describe the prevalence rate, one has to look at the </a:t>
            </a:r>
            <a:r>
              <a:rPr kumimoji="0" lang="en-US" altLang="zh-CN" sz="3200" b="1" u="sng">
                <a:ea typeface="Arial Unicode MS" pitchFamily="34" charset="-122"/>
              </a:rPr>
              <a:t>general population</a:t>
            </a:r>
            <a:r>
              <a:rPr kumimoji="0" lang="en-US" altLang="zh-CN" sz="3200" b="1">
                <a:ea typeface="Arial Unicode MS" pitchFamily="34" charset="-122"/>
              </a:rPr>
              <a:t>;</a:t>
            </a:r>
          </a:p>
          <a:p>
            <a:pPr>
              <a:spcBef>
                <a:spcPct val="50000"/>
              </a:spcBef>
              <a:buFontTx/>
              <a:buChar char="•"/>
            </a:pPr>
            <a:endParaRPr kumimoji="0" lang="en-US" altLang="zh-CN" sz="3200"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>
            <a:extLst>
              <a:ext uri="{FF2B5EF4-FFF2-40B4-BE49-F238E27FC236}">
                <a16:creationId xmlns:a16="http://schemas.microsoft.com/office/drawing/2014/main" id="{91D4FCBF-E6F5-C4B2-EBAC-A708C4363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57200"/>
            <a:ext cx="9144000" cy="60198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c. Pooled estimate of the frequency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          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Pooled estimate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     = </a:t>
            </a:r>
            <a:r>
              <a:rPr lang="en-US" altLang="zh-CN" sz="28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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numerators /  </a:t>
            </a:r>
            <a:r>
              <a:rPr lang="en-US" altLang="zh-CN" sz="28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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denominators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Example: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The prevalence of myopia among 3 grades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≠ (15.16+15.89+18.37)/3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The prevalence of myopia among 3 grades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= (67+68+56)/(442+428+305)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= 192/1175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= 16.34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d. Comparability between frequencies or between frequency distributions – Notice the balance of other conditions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1F0B1232-7EDD-C4FE-0A46-4E1C38A37A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28600"/>
            <a:ext cx="9144000" cy="6019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e. If the distributions of other variables are different, to improve the comparability,  “Standardization” is needed.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f. To compare two samples, hypothesis test is needed. (See Chi square test)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buFont typeface="Wingdings" panose="05000000000000000000" pitchFamily="2" charset="2"/>
              <a:buNone/>
            </a:pPr>
            <a:endParaRPr lang="en-US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The following will emphasize the above two points: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            Standardization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                    Hypothesis 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C3E7075-F4F5-51FD-B1AA-3DB549532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5575"/>
            <a:ext cx="9144000" cy="1139825"/>
          </a:xfrm>
        </p:spPr>
        <p:txBody>
          <a:bodyPr/>
          <a:lstStyle/>
          <a:p>
            <a:pPr algn="l"/>
            <a:r>
              <a:rPr lang="en-US" altLang="zh-CN" sz="4000" b="1">
                <a:solidFill>
                  <a:srgbClr val="FF0000"/>
                </a:solidFill>
              </a:rPr>
              <a:t>          </a:t>
            </a:r>
            <a:r>
              <a:rPr lang="en-US" altLang="zh-CN" sz="4000" b="1">
                <a:solidFill>
                  <a:srgbClr val="FFCC00"/>
                </a:solidFill>
              </a:rPr>
              <a:t>3. Standardization for </a:t>
            </a:r>
            <a:br>
              <a:rPr lang="en-US" altLang="zh-CN" sz="4000" b="1">
                <a:solidFill>
                  <a:srgbClr val="FFCC00"/>
                </a:solidFill>
              </a:rPr>
            </a:br>
            <a:r>
              <a:rPr lang="en-US" altLang="zh-CN" sz="4000" b="1">
                <a:solidFill>
                  <a:srgbClr val="FFCC00"/>
                </a:solidFill>
              </a:rPr>
              <a:t>crude frequency or crude intensity</a:t>
            </a:r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63D66FC9-8BF4-A93B-B0EA-29AE23844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257800"/>
            <a:ext cx="91440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0" lang="en-US" altLang="zh-CN">
                <a:latin typeface="Verdana" panose="020B0604030504040204" pitchFamily="34" charset="0"/>
              </a:rPr>
              <a:t>Crude incidence rate of city A=28.96; </a:t>
            </a:r>
          </a:p>
          <a:p>
            <a:r>
              <a:rPr kumimoji="0" lang="en-US" altLang="zh-CN">
                <a:latin typeface="Verdana" panose="020B0604030504040204" pitchFamily="34" charset="0"/>
              </a:rPr>
              <a:t>Crude incidence rate of city B=35.03</a:t>
            </a:r>
            <a:r>
              <a:rPr kumimoji="0" lang="en-US" altLang="zh-CN" sz="1800">
                <a:latin typeface="Verdana" panose="020B0604030504040204" pitchFamily="34" charset="0"/>
              </a:rPr>
              <a:t>   </a:t>
            </a:r>
            <a:r>
              <a:rPr kumimoji="0" lang="en-US" altLang="zh-CN">
                <a:latin typeface="Verdana" panose="020B0604030504040204" pitchFamily="34" charset="0"/>
              </a:rPr>
              <a:t>-- Strange!?</a:t>
            </a:r>
            <a:r>
              <a:rPr kumimoji="0" lang="en-US" altLang="zh-CN" sz="1800">
                <a:latin typeface="Verdana" panose="020B0604030504040204" pitchFamily="34" charset="0"/>
              </a:rPr>
              <a:t>   </a:t>
            </a:r>
          </a:p>
          <a:p>
            <a:r>
              <a:rPr kumimoji="0" lang="en-US" altLang="zh-CN" b="1">
                <a:latin typeface="Verdana" panose="020B0604030504040204" pitchFamily="34" charset="0"/>
              </a:rPr>
              <a:t>They are not comparable ! </a:t>
            </a:r>
          </a:p>
          <a:p>
            <a:r>
              <a:rPr kumimoji="0" lang="en-US" altLang="zh-CN" b="1">
                <a:latin typeface="Verdana" panose="020B0604030504040204" pitchFamily="34" charset="0"/>
              </a:rPr>
              <a:t>    -- Because the constitute are quite different</a:t>
            </a:r>
            <a:r>
              <a:rPr kumimoji="0" lang="en-US" altLang="zh-CN" sz="1800">
                <a:latin typeface="Verdana" panose="020B0604030504040204" pitchFamily="34" charset="0"/>
              </a:rPr>
              <a:t>    </a:t>
            </a:r>
          </a:p>
        </p:txBody>
      </p:sp>
      <p:graphicFrame>
        <p:nvGraphicFramePr>
          <p:cNvPr id="66564" name="Object 4">
            <a:extLst>
              <a:ext uri="{FF2B5EF4-FFF2-40B4-BE49-F238E27FC236}">
                <a16:creationId xmlns:a16="http://schemas.microsoft.com/office/drawing/2014/main" id="{A02D6FF4-1867-11EF-65DE-4273D7DA6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1752600"/>
          <a:ext cx="9144000" cy="344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793120" imgH="1616760" progId="Word.Document.8">
                  <p:embed/>
                </p:oleObj>
              </mc:Choice>
              <mc:Fallback>
                <p:oleObj name="Document" r:id="rId2" imgW="5793120" imgH="16167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52600"/>
                        <a:ext cx="9144000" cy="34417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Text Box 5">
            <a:extLst>
              <a:ext uri="{FF2B5EF4-FFF2-40B4-BE49-F238E27FC236}">
                <a16:creationId xmlns:a16="http://schemas.microsoft.com/office/drawing/2014/main" id="{13133FD0-3D54-5485-E4F9-4736181A7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6200" y="1371600"/>
            <a:ext cx="937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2000">
                <a:latin typeface="Verdana" panose="020B0604030504040204" pitchFamily="34" charset="0"/>
              </a:rPr>
              <a:t>Table 10-3  Incidence rates of infectious diseases, children of two cities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42CDDE63-C117-E2BD-A25D-AC8ED673B80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0" y="3962400"/>
            <a:ext cx="9144000" cy="2209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400"/>
              <a:t>Standardized incidence rate of city A = 793/24767 = 32.02 </a:t>
            </a:r>
            <a:r>
              <a:rPr lang="en-US" altLang="zh-CN" sz="2400">
                <a:cs typeface="Times New Roman" panose="02020603050405020304" pitchFamily="18" charset="0"/>
              </a:rPr>
              <a:t>‰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/>
              <a:t>Standardized incidence rate of city B = 3523/24767 = 21.12 </a:t>
            </a:r>
            <a:r>
              <a:rPr lang="en-US" altLang="zh-CN" sz="2400">
                <a:cs typeface="Times New Roman" panose="02020603050405020304" pitchFamily="18" charset="0"/>
              </a:rPr>
              <a:t>‰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>
                <a:cs typeface="Times New Roman" panose="02020603050405020304" pitchFamily="18" charset="0"/>
              </a:rPr>
              <a:t>Two steps:</a:t>
            </a:r>
          </a:p>
          <a:p>
            <a:r>
              <a:rPr lang="en-US" altLang="zh-CN" sz="2400">
                <a:cs typeface="Times New Roman" panose="02020603050405020304" pitchFamily="18" charset="0"/>
              </a:rPr>
              <a:t>Select a standard population– taking as “weight”</a:t>
            </a:r>
          </a:p>
          <a:p>
            <a:r>
              <a:rPr lang="en-US" altLang="zh-CN" sz="2400">
                <a:cs typeface="Times New Roman" panose="02020603050405020304" pitchFamily="18" charset="0"/>
              </a:rPr>
              <a:t>Weighted average of the actual incidence rates–direct standardization rate</a:t>
            </a:r>
          </a:p>
        </p:txBody>
      </p:sp>
      <p:graphicFrame>
        <p:nvGraphicFramePr>
          <p:cNvPr id="67587" name="Object 3">
            <a:extLst>
              <a:ext uri="{FF2B5EF4-FFF2-40B4-BE49-F238E27FC236}">
                <a16:creationId xmlns:a16="http://schemas.microsoft.com/office/drawing/2014/main" id="{C45BAFF8-9BB4-58F9-FF7A-7BB67144EB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6012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409120" progId="Word.Document.8">
                  <p:embed/>
                </p:oleObj>
              </mc:Choice>
              <mc:Fallback>
                <p:oleObj name="Document" r:id="rId2" imgW="5420880" imgH="24091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601200" cy="4038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extLst>
              <a:ext uri="{FF2B5EF4-FFF2-40B4-BE49-F238E27FC236}">
                <a16:creationId xmlns:a16="http://schemas.microsoft.com/office/drawing/2014/main" id="{4FB91CDB-5D75-56CB-A269-687F73706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19600"/>
            <a:ext cx="9448800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sz="1600" b="1">
                <a:solidFill>
                  <a:schemeClr val="folHlink"/>
                </a:solidFill>
                <a:latin typeface="Verdana" panose="020B0604030504040204" pitchFamily="34" charset="0"/>
              </a:rPr>
              <a:t>Known: Age specific populations </a:t>
            </a:r>
            <a:r>
              <a:rPr kumimoji="0" lang="en-US" altLang="zh-CN" sz="1600" b="1" i="1">
                <a:solidFill>
                  <a:schemeClr val="folHlink"/>
                </a:solidFill>
                <a:latin typeface="Verdana" panose="020B0604030504040204" pitchFamily="34" charset="0"/>
              </a:rPr>
              <a:t>N</a:t>
            </a:r>
            <a:r>
              <a:rPr kumimoji="0" lang="en-US" altLang="zh-CN" sz="1600" b="1" i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1, </a:t>
            </a:r>
            <a:r>
              <a:rPr kumimoji="0" lang="en-US" altLang="zh-CN" sz="1600" b="1" i="1">
                <a:solidFill>
                  <a:schemeClr val="folHlink"/>
                </a:solidFill>
                <a:latin typeface="Verdana" panose="020B0604030504040204" pitchFamily="34" charset="0"/>
              </a:rPr>
              <a:t>N</a:t>
            </a:r>
            <a:r>
              <a:rPr kumimoji="0" lang="en-US" altLang="zh-CN" sz="1600" b="1" i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2</a:t>
            </a:r>
            <a:r>
              <a:rPr kumimoji="0" lang="en-US" altLang="zh-CN" sz="1600" b="1">
                <a:solidFill>
                  <a:schemeClr val="folHlink"/>
                </a:solidFill>
                <a:latin typeface="Verdana" panose="020B0604030504040204" pitchFamily="34" charset="0"/>
              </a:rPr>
              <a:t>; Total no.of deaths </a:t>
            </a:r>
            <a:r>
              <a:rPr kumimoji="0" lang="en-US" altLang="zh-CN" sz="1600" b="1" i="1">
                <a:solidFill>
                  <a:schemeClr val="folHlink"/>
                </a:solidFill>
                <a:latin typeface="Verdana" panose="020B0604030504040204" pitchFamily="34" charset="0"/>
              </a:rPr>
              <a:t>D</a:t>
            </a:r>
            <a:r>
              <a:rPr kumimoji="0" lang="en-US" altLang="zh-CN" sz="1600" b="1" i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1</a:t>
            </a:r>
            <a:r>
              <a:rPr kumimoji="0" lang="en-US" altLang="zh-CN" sz="1600" b="1">
                <a:solidFill>
                  <a:schemeClr val="folHlink"/>
                </a:solidFill>
                <a:latin typeface="Verdana" panose="020B0604030504040204" pitchFamily="34" charset="0"/>
              </a:rPr>
              <a:t>=432</a:t>
            </a:r>
            <a:r>
              <a:rPr kumimoji="0" lang="en-US" altLang="zh-CN" sz="1600" b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, </a:t>
            </a:r>
            <a:r>
              <a:rPr kumimoji="0" lang="en-US" altLang="zh-CN" sz="1600" b="1" i="1">
                <a:solidFill>
                  <a:schemeClr val="folHlink"/>
                </a:solidFill>
                <a:latin typeface="Verdana" panose="020B0604030504040204" pitchFamily="34" charset="0"/>
              </a:rPr>
              <a:t>D</a:t>
            </a:r>
            <a:r>
              <a:rPr kumimoji="0" lang="en-US" altLang="zh-CN" sz="1600" b="1" i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solidFill>
                  <a:schemeClr val="folHlink"/>
                </a:solidFill>
                <a:latin typeface="Verdana" panose="020B0604030504040204" pitchFamily="34" charset="0"/>
              </a:rPr>
              <a:t>2</a:t>
            </a:r>
            <a:r>
              <a:rPr kumimoji="0" lang="en-US" altLang="zh-CN" sz="1600" b="1">
                <a:solidFill>
                  <a:schemeClr val="folHlink"/>
                </a:solidFill>
                <a:latin typeface="Verdana" panose="020B0604030504040204" pitchFamily="34" charset="0"/>
              </a:rPr>
              <a:t> =210</a:t>
            </a:r>
            <a:r>
              <a:rPr kumimoji="0" lang="en-US" altLang="zh-CN" sz="1600" b="1">
                <a:latin typeface="Verdana" panose="020B0604030504040204" pitchFamily="34" charset="0"/>
              </a:rPr>
              <a:t> 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sz="1600" b="1">
                <a:latin typeface="Verdana" panose="020B0604030504040204" pitchFamily="34" charset="0"/>
              </a:rPr>
              <a:t>  Select a set of standard</a:t>
            </a:r>
            <a:r>
              <a:rPr kumimoji="0" lang="en-US" altLang="zh-CN" sz="1600" b="1"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kumimoji="0" lang="en-US" altLang="zh-CN" sz="1600" b="1">
                <a:latin typeface="Verdana" panose="020B0604030504040204" pitchFamily="34" charset="0"/>
              </a:rPr>
              <a:t>mortality rates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sz="1600" b="1">
                <a:latin typeface="Verdana" panose="020B0604030504040204" pitchFamily="34" charset="0"/>
              </a:rPr>
              <a:t> Standard mortality ratio:  SMR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1</a:t>
            </a:r>
            <a:r>
              <a:rPr kumimoji="0" lang="en-US" altLang="zh-CN" sz="1600" b="1">
                <a:latin typeface="Verdana" panose="020B0604030504040204" pitchFamily="34" charset="0"/>
              </a:rPr>
              <a:t> = </a:t>
            </a:r>
            <a:r>
              <a:rPr kumimoji="0" lang="en-US" altLang="zh-CN" sz="1600" b="1" i="1">
                <a:latin typeface="Verdana" panose="020B0604030504040204" pitchFamily="34" charset="0"/>
              </a:rPr>
              <a:t>D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1</a:t>
            </a:r>
            <a:r>
              <a:rPr kumimoji="0" lang="en-US" altLang="zh-CN" sz="1600" b="1">
                <a:latin typeface="Verdana" panose="020B0604030504040204" pitchFamily="34" charset="0"/>
              </a:rPr>
              <a:t>/ </a:t>
            </a:r>
            <a:r>
              <a:rPr kumimoji="0" lang="en-US" altLang="zh-CN" sz="1600" b="1" i="1">
                <a:latin typeface="Verdana" panose="020B0604030504040204" pitchFamily="34" charset="0"/>
              </a:rPr>
              <a:t>N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1</a:t>
            </a:r>
            <a:r>
              <a:rPr kumimoji="0" lang="en-US" altLang="zh-CN" sz="1600" b="1" i="1">
                <a:latin typeface="Verdana" panose="020B0604030504040204" pitchFamily="34" charset="0"/>
              </a:rPr>
              <a:t>P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i</a:t>
            </a:r>
            <a:r>
              <a:rPr kumimoji="0" lang="en-US" altLang="zh-CN" sz="1600" b="1" i="1">
                <a:latin typeface="Verdana" panose="020B0604030504040204" pitchFamily="34" charset="0"/>
              </a:rPr>
              <a:t> = </a:t>
            </a:r>
            <a:r>
              <a:rPr kumimoji="0" lang="en-US" altLang="zh-CN" sz="1600" b="1">
                <a:latin typeface="Verdana" panose="020B0604030504040204" pitchFamily="34" charset="0"/>
              </a:rPr>
              <a:t>432/100.67 = 4.2912 (smoker)</a:t>
            </a:r>
          </a:p>
          <a:p>
            <a:pPr>
              <a:spcBef>
                <a:spcPct val="50000"/>
              </a:spcBef>
            </a:pPr>
            <a:r>
              <a:rPr kumimoji="0" lang="en-US" altLang="zh-CN" sz="1600" b="1" i="1" baseline="-25000">
                <a:latin typeface="Verdana" panose="020B0604030504040204" pitchFamily="34" charset="0"/>
              </a:rPr>
              <a:t>                                  </a:t>
            </a:r>
            <a:r>
              <a:rPr kumimoji="0" lang="en-US" altLang="zh-CN" sz="1600" b="1">
                <a:latin typeface="Verdana" panose="020B0604030504040204" pitchFamily="34" charset="0"/>
              </a:rPr>
              <a:t>SMR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2</a:t>
            </a:r>
            <a:r>
              <a:rPr kumimoji="0" lang="en-US" altLang="zh-CN" sz="1600" b="1">
                <a:latin typeface="Verdana" panose="020B0604030504040204" pitchFamily="34" charset="0"/>
              </a:rPr>
              <a:t> = </a:t>
            </a:r>
            <a:r>
              <a:rPr kumimoji="0" lang="en-US" altLang="zh-CN" sz="1600" b="1" i="1">
                <a:latin typeface="Verdana" panose="020B0604030504040204" pitchFamily="34" charset="0"/>
              </a:rPr>
              <a:t>D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2</a:t>
            </a:r>
            <a:r>
              <a:rPr kumimoji="0" lang="en-US" altLang="zh-CN" sz="1600" b="1">
                <a:latin typeface="Verdana" panose="020B0604030504040204" pitchFamily="34" charset="0"/>
              </a:rPr>
              <a:t>/ </a:t>
            </a:r>
            <a:r>
              <a:rPr kumimoji="0" lang="en-US" altLang="zh-CN" sz="1600" b="1" i="1">
                <a:latin typeface="Verdana" panose="020B0604030504040204" pitchFamily="34" charset="0"/>
              </a:rPr>
              <a:t>N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i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2</a:t>
            </a:r>
            <a:r>
              <a:rPr kumimoji="0" lang="en-US" altLang="zh-CN" sz="1600" b="1" i="1">
                <a:latin typeface="Verdana" panose="020B0604030504040204" pitchFamily="34" charset="0"/>
              </a:rPr>
              <a:t>P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i </a:t>
            </a:r>
            <a:r>
              <a:rPr kumimoji="0" lang="en-US" altLang="zh-CN" sz="1600" b="1" i="1">
                <a:latin typeface="Verdana" panose="020B0604030504040204" pitchFamily="34" charset="0"/>
              </a:rPr>
              <a:t>=</a:t>
            </a:r>
            <a:r>
              <a:rPr kumimoji="0" lang="en-US" altLang="zh-CN" sz="1600" b="1" i="1" baseline="-25000">
                <a:latin typeface="Verdana" panose="020B0604030504040204" pitchFamily="34" charset="0"/>
              </a:rPr>
              <a:t> </a:t>
            </a:r>
            <a:r>
              <a:rPr kumimoji="0" lang="en-US" altLang="zh-CN" sz="1600" b="1">
                <a:latin typeface="Verdana" panose="020B0604030504040204" pitchFamily="34" charset="0"/>
              </a:rPr>
              <a:t>210/100.67 = 0.8620 (non-smoker)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kumimoji="0" lang="en-US" altLang="zh-CN" sz="1600" b="1">
                <a:latin typeface="Verdana" panose="020B0604030504040204" pitchFamily="34" charset="0"/>
              </a:rPr>
              <a:t> Standardized mortality rate  P</a:t>
            </a:r>
            <a:r>
              <a:rPr kumimoji="0" lang="en-US" altLang="zh-CN" sz="1600" b="1" baseline="30000">
                <a:latin typeface="Arial" panose="020B0604020202020204" pitchFamily="34" charset="0"/>
              </a:rPr>
              <a:t>’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1</a:t>
            </a:r>
            <a:r>
              <a:rPr kumimoji="0" lang="en-US" altLang="zh-CN" sz="1600" b="1">
                <a:latin typeface="Verdana" panose="020B0604030504040204" pitchFamily="34" charset="0"/>
              </a:rPr>
              <a:t>=34.60</a:t>
            </a:r>
            <a:r>
              <a:rPr kumimoji="0" lang="en-US" altLang="zh-CN" sz="1600" b="1">
                <a:latin typeface="Verdana" panose="020B0604030504040204" pitchFamily="34" charset="0"/>
                <a:sym typeface="Symbol" panose="05050102010706020507" pitchFamily="18" charset="2"/>
              </a:rPr>
              <a:t></a:t>
            </a:r>
            <a:r>
              <a:rPr kumimoji="0" lang="en-US" altLang="zh-CN" sz="1600" b="1">
                <a:latin typeface="Verdana" panose="020B0604030504040204" pitchFamily="34" charset="0"/>
              </a:rPr>
              <a:t> SMR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1</a:t>
            </a:r>
            <a:r>
              <a:rPr kumimoji="0" lang="en-US" altLang="zh-CN" sz="1600" b="1">
                <a:latin typeface="Verdana" panose="020B0604030504040204" pitchFamily="34" charset="0"/>
              </a:rPr>
              <a:t>=148.48 (1/10</a:t>
            </a:r>
            <a:r>
              <a:rPr kumimoji="0" lang="en-US" altLang="zh-CN" sz="1600" b="1" baseline="30000">
                <a:latin typeface="Verdana" panose="020B0604030504040204" pitchFamily="34" charset="0"/>
              </a:rPr>
              <a:t>5</a:t>
            </a:r>
            <a:r>
              <a:rPr kumimoji="0" lang="en-US" altLang="zh-CN" sz="1600" b="1">
                <a:latin typeface="Verdana" panose="020B0604030504040204" pitchFamily="34" charset="0"/>
              </a:rPr>
              <a:t>),</a:t>
            </a:r>
          </a:p>
          <a:p>
            <a:pPr>
              <a:spcBef>
                <a:spcPct val="50000"/>
              </a:spcBef>
            </a:pPr>
            <a:r>
              <a:rPr kumimoji="0" lang="en-US" altLang="zh-CN" sz="1600" b="1">
                <a:latin typeface="Verdana" panose="020B0604030504040204" pitchFamily="34" charset="0"/>
              </a:rPr>
              <a:t>                                            P</a:t>
            </a:r>
            <a:r>
              <a:rPr kumimoji="0" lang="en-US" altLang="zh-CN" sz="1600" b="1" baseline="30000">
                <a:latin typeface="Arial" panose="020B0604020202020204" pitchFamily="34" charset="0"/>
              </a:rPr>
              <a:t>’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2</a:t>
            </a:r>
            <a:r>
              <a:rPr kumimoji="0" lang="en-US" altLang="zh-CN" sz="1600" b="1">
                <a:latin typeface="Verdana" panose="020B0604030504040204" pitchFamily="34" charset="0"/>
              </a:rPr>
              <a:t>=34.60</a:t>
            </a:r>
            <a:r>
              <a:rPr kumimoji="0" lang="en-US" altLang="zh-CN" sz="1600" b="1">
                <a:latin typeface="Verdana" panose="020B0604030504040204" pitchFamily="34" charset="0"/>
                <a:sym typeface="Symbol" panose="05050102010706020507" pitchFamily="18" charset="2"/>
              </a:rPr>
              <a:t></a:t>
            </a:r>
            <a:r>
              <a:rPr kumimoji="0" lang="en-US" altLang="zh-CN" sz="1600" b="1">
                <a:latin typeface="Verdana" panose="020B0604030504040204" pitchFamily="34" charset="0"/>
              </a:rPr>
              <a:t> SMR</a:t>
            </a:r>
            <a:r>
              <a:rPr kumimoji="0" lang="en-US" altLang="zh-CN" sz="1600" b="1" baseline="-25000">
                <a:latin typeface="Verdana" panose="020B0604030504040204" pitchFamily="34" charset="0"/>
              </a:rPr>
              <a:t>2</a:t>
            </a:r>
            <a:r>
              <a:rPr kumimoji="0" lang="en-US" altLang="zh-CN" sz="1600" b="1">
                <a:latin typeface="Verdana" panose="020B0604030504040204" pitchFamily="34" charset="0"/>
              </a:rPr>
              <a:t>=29.83 (1/10</a:t>
            </a:r>
            <a:r>
              <a:rPr kumimoji="0" lang="en-US" altLang="zh-CN" sz="1600" b="1" baseline="30000">
                <a:latin typeface="Verdana" panose="020B0604030504040204" pitchFamily="34" charset="0"/>
              </a:rPr>
              <a:t>5</a:t>
            </a:r>
            <a:r>
              <a:rPr kumimoji="0" lang="en-US" altLang="zh-CN" sz="1600" b="1">
                <a:latin typeface="Verdana" panose="020B0604030504040204" pitchFamily="34" charset="0"/>
              </a:rPr>
              <a:t>)</a:t>
            </a:r>
            <a:endParaRPr kumimoji="0" lang="en-US" altLang="zh-CN" sz="1600" b="1" baseline="-25000">
              <a:latin typeface="Verdana" panose="020B0604030504040204" pitchFamily="34" charset="0"/>
            </a:endParaRPr>
          </a:p>
        </p:txBody>
      </p:sp>
      <p:graphicFrame>
        <p:nvGraphicFramePr>
          <p:cNvPr id="68611" name="Object 3">
            <a:extLst>
              <a:ext uri="{FF2B5EF4-FFF2-40B4-BE49-F238E27FC236}">
                <a16:creationId xmlns:a16="http://schemas.microsoft.com/office/drawing/2014/main" id="{0ACDDBDB-ACE5-AAB3-471A-451AE048D7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76200"/>
          <a:ext cx="89154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2607120" progId="Word.Document.8">
                  <p:embed/>
                </p:oleObj>
              </mc:Choice>
              <mc:Fallback>
                <p:oleObj name="Document" r:id="rId2" imgW="5420880" imgH="26071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76200"/>
                        <a:ext cx="8915400" cy="4191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B731954-D428-971A-A642-3E5A8D0979BC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0" y="277813"/>
            <a:ext cx="9144000" cy="58531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4400" b="1">
                <a:solidFill>
                  <a:schemeClr val="folHlink"/>
                </a:solidFill>
                <a:latin typeface="Arial" panose="020B0604020202020204" pitchFamily="34" charset="0"/>
              </a:rPr>
              <a:t>10.2  Statistical Inference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4400" b="1">
                <a:solidFill>
                  <a:schemeClr val="folHlink"/>
                </a:solidFill>
                <a:latin typeface="Arial" panose="020B0604020202020204" pitchFamily="34" charset="0"/>
              </a:rPr>
              <a:t>for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4400" b="1">
                <a:solidFill>
                  <a:schemeClr val="folHlink"/>
                </a:solidFill>
                <a:latin typeface="Arial" panose="020B0604020202020204" pitchFamily="34" charset="0"/>
              </a:rPr>
              <a:t>Enumeration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07" name="Object 7">
            <a:extLst>
              <a:ext uri="{FF2B5EF4-FFF2-40B4-BE49-F238E27FC236}">
                <a16:creationId xmlns:a16="http://schemas.microsoft.com/office/drawing/2014/main" id="{1C38138E-F051-F6C0-B951-7108735DB9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0475913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3258720" progId="Word.Document.8">
                  <p:embed/>
                </p:oleObj>
              </mc:Choice>
              <mc:Fallback>
                <p:oleObj name="Document" r:id="rId2" imgW="5420880" imgH="325872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0475913" cy="6858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CD205E8-76D0-BDC9-58AF-0B2EFF50E7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/>
              <a:t>1. Sampling error of frequency</a:t>
            </a:r>
            <a:r>
              <a:rPr lang="en-US" altLang="zh-CN"/>
              <a:t> 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F628B1A-BA0D-C8C9-0C9A-BC88D96CB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44000" cy="4114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Example  Suppose the death rate is 0.2, if the rats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are fed with a kind of poison..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What will happen when we do the experiment on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 i="1"/>
              <a:t>n</a:t>
            </a:r>
            <a:r>
              <a:rPr lang="en-US" altLang="zh-CN" b="1"/>
              <a:t>=1, 2, 3 or 4 rat(s)?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>
            <a:extLst>
              <a:ext uri="{FF2B5EF4-FFF2-40B4-BE49-F238E27FC236}">
                <a16:creationId xmlns:a16="http://schemas.microsoft.com/office/drawing/2014/main" id="{7FF7F20C-92A5-3BDC-1B8B-C4FBD39CAFD6}"/>
              </a:ext>
            </a:extLst>
          </p:cNvPr>
          <p:cNvGraphicFramePr>
            <a:graphicFrameLocks noChangeAspect="1"/>
          </p:cNvGraphicFramePr>
          <p:nvPr>
            <p:ph type="body" idx="1"/>
          </p:nvPr>
        </p:nvGraphicFramePr>
        <p:xfrm>
          <a:off x="0" y="0"/>
          <a:ext cx="9144000" cy="695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85440" imgH="4703040" progId="Word.Document.8">
                  <p:embed/>
                </p:oleObj>
              </mc:Choice>
              <mc:Fallback>
                <p:oleObj name="Document" r:id="rId2" imgW="6085440" imgH="47030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9500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ACD9906-BB80-1CFF-98D3-05B74C18F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8991600" cy="6858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In general,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Supposed the population proportion is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/>
              <a:t>, sample size =</a:t>
            </a:r>
            <a:r>
              <a:rPr lang="en-US" altLang="zh-CN" b="1" i="1"/>
              <a:t>n</a:t>
            </a:r>
            <a:r>
              <a:rPr lang="en-US" altLang="zh-CN" b="1"/>
              <a:t>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/>
            <a:r>
              <a:rPr lang="en-US" altLang="zh-CN" b="1"/>
              <a:t>    The frequency                   is a random variable</a:t>
            </a:r>
          </a:p>
          <a:p>
            <a:pPr algn="just"/>
            <a:endParaRPr lang="en-US" altLang="zh-CN" b="1"/>
          </a:p>
          <a:p>
            <a:pPr algn="just"/>
            <a:endParaRPr lang="en-US" altLang="zh-CN" b="1"/>
          </a:p>
          <a:p>
            <a:pPr algn="just"/>
            <a:endParaRPr lang="en-US" altLang="zh-CN" b="1"/>
          </a:p>
          <a:p>
            <a:pPr algn="just"/>
            <a:r>
              <a:rPr lang="en-US" altLang="zh-CN" b="1"/>
              <a:t>When </a:t>
            </a:r>
            <a:r>
              <a:rPr lang="en-US" altLang="zh-CN" b="1" i="1">
                <a:sym typeface="Symbol" panose="05050102010706020507" pitchFamily="18" charset="2"/>
              </a:rPr>
              <a:t> </a:t>
            </a:r>
            <a:r>
              <a:rPr lang="en-US" altLang="zh-CN" b="1">
                <a:sym typeface="Symbol" panose="05050102010706020507" pitchFamily="18" charset="2"/>
              </a:rPr>
              <a:t>is unknown and </a:t>
            </a:r>
            <a:r>
              <a:rPr lang="en-US" altLang="zh-CN" b="1" i="1">
                <a:sym typeface="Symbol" panose="05050102010706020507" pitchFamily="18" charset="2"/>
              </a:rPr>
              <a:t>n</a:t>
            </a:r>
            <a:r>
              <a:rPr lang="en-US" altLang="zh-CN" b="1">
                <a:sym typeface="Symbol" panose="05050102010706020507" pitchFamily="18" charset="2"/>
              </a:rPr>
              <a:t> is big enough,      is approximately equal to</a:t>
            </a:r>
          </a:p>
        </p:txBody>
      </p:sp>
      <p:graphicFrame>
        <p:nvGraphicFramePr>
          <p:cNvPr id="73732" name="Object 4">
            <a:extLst>
              <a:ext uri="{FF2B5EF4-FFF2-40B4-BE49-F238E27FC236}">
                <a16:creationId xmlns:a16="http://schemas.microsoft.com/office/drawing/2014/main" id="{0BD4FBA7-48F9-4388-3417-B7FE2C8AA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3124200"/>
          <a:ext cx="2514600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02960" imgH="660240" progId="Equation.3">
                  <p:embed/>
                </p:oleObj>
              </mc:Choice>
              <mc:Fallback>
                <p:oleObj name="Equation" r:id="rId2" imgW="1002960" imgH="660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124200"/>
                        <a:ext cx="2514600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>
            <a:extLst>
              <a:ext uri="{FF2B5EF4-FFF2-40B4-BE49-F238E27FC236}">
                <a16:creationId xmlns:a16="http://schemas.microsoft.com/office/drawing/2014/main" id="{C134BAB6-8EC5-9B8C-FA70-90C9E94A4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2057400"/>
          <a:ext cx="12192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393480" progId="Equation.3">
                  <p:embed/>
                </p:oleObj>
              </mc:Choice>
              <mc:Fallback>
                <p:oleObj name="Equation" r:id="rId4" imgW="45720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057400"/>
                        <a:ext cx="12192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4" name="Object 6">
            <a:extLst>
              <a:ext uri="{FF2B5EF4-FFF2-40B4-BE49-F238E27FC236}">
                <a16:creationId xmlns:a16="http://schemas.microsoft.com/office/drawing/2014/main" id="{8DA92655-2509-0442-9C6B-317DEF9E71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5116513"/>
          <a:ext cx="241935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160" imgH="660240" progId="Equation.3">
                  <p:embed/>
                </p:oleObj>
              </mc:Choice>
              <mc:Fallback>
                <p:oleObj name="Equation" r:id="rId6" imgW="965160" imgH="660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116513"/>
                        <a:ext cx="241935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7">
            <a:extLst>
              <a:ext uri="{FF2B5EF4-FFF2-40B4-BE49-F238E27FC236}">
                <a16:creationId xmlns:a16="http://schemas.microsoft.com/office/drawing/2014/main" id="{F981E7B9-D4C8-FD15-2938-057DED032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8600" y="4572000"/>
          <a:ext cx="5746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15640" progId="Equation.3">
                  <p:embed/>
                </p:oleObj>
              </mc:Choice>
              <mc:Fallback>
                <p:oleObj name="Equation" r:id="rId8" imgW="20304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4572000"/>
                        <a:ext cx="574675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3483F620-67AE-6F26-A3F7-F1EF14CC4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1143000"/>
          </a:xfrm>
        </p:spPr>
        <p:txBody>
          <a:bodyPr/>
          <a:lstStyle/>
          <a:p>
            <a:pPr algn="l"/>
            <a:r>
              <a:rPr lang="en-US" altLang="zh-CN" sz="3200" b="1"/>
              <a:t>  Example 10-5   HBV Surface antigen. </a:t>
            </a:r>
            <a:br>
              <a:rPr lang="en-US" altLang="zh-CN" sz="3200" b="1"/>
            </a:br>
            <a:r>
              <a:rPr lang="en-US" altLang="zh-CN" sz="3200" b="1"/>
              <a:t>  200 people were tested, 7 positive.</a:t>
            </a:r>
          </a:p>
        </p:txBody>
      </p:sp>
      <p:graphicFrame>
        <p:nvGraphicFramePr>
          <p:cNvPr id="97284" name="Object 4">
            <a:extLst>
              <a:ext uri="{FF2B5EF4-FFF2-40B4-BE49-F238E27FC236}">
                <a16:creationId xmlns:a16="http://schemas.microsoft.com/office/drawing/2014/main" id="{8A2B2757-60BA-854E-4ECD-D16B244BA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9600" y="2438400"/>
          <a:ext cx="3556000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93480" progId="Equation.3">
                  <p:embed/>
                </p:oleObj>
              </mc:Choice>
              <mc:Fallback>
                <p:oleObj name="Equation" r:id="rId2" imgW="133344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2438400"/>
                        <a:ext cx="3556000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5" name="Object 5">
            <a:extLst>
              <a:ext uri="{FF2B5EF4-FFF2-40B4-BE49-F238E27FC236}">
                <a16:creationId xmlns:a16="http://schemas.microsoft.com/office/drawing/2014/main" id="{E03C1B3E-8CC0-AB47-6F17-DF05C558FE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505200"/>
          <a:ext cx="5570538" cy="216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863280" progId="Equation.3">
                  <p:embed/>
                </p:oleObj>
              </mc:Choice>
              <mc:Fallback>
                <p:oleObj name="Equation" r:id="rId4" imgW="2222280" imgH="863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505200"/>
                        <a:ext cx="5570538" cy="216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539AD28-0FB8-3B6F-90F1-B4305E28A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28600"/>
            <a:ext cx="9144000" cy="58674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If the sample size </a:t>
            </a:r>
            <a:r>
              <a:rPr lang="en-US" altLang="zh-CN" b="1" i="1"/>
              <a:t>n</a:t>
            </a:r>
            <a:r>
              <a:rPr lang="en-US" altLang="zh-CN" b="1"/>
              <a:t> is big enough, and observed frequency is  </a:t>
            </a:r>
            <a:r>
              <a:rPr lang="en-US" altLang="zh-CN" b="1" i="1"/>
              <a:t>p</a:t>
            </a:r>
            <a:r>
              <a:rPr lang="en-US" altLang="zh-CN" b="1"/>
              <a:t> ,    then we have approximately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endParaRPr lang="en-US" altLang="zh-CN"/>
          </a:p>
        </p:txBody>
      </p:sp>
      <p:graphicFrame>
        <p:nvGraphicFramePr>
          <p:cNvPr id="74757" name="Object 5">
            <a:extLst>
              <a:ext uri="{FF2B5EF4-FFF2-40B4-BE49-F238E27FC236}">
                <a16:creationId xmlns:a16="http://schemas.microsoft.com/office/drawing/2014/main" id="{3C106AF8-921D-080D-23BC-6A44480BD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2209800"/>
          <a:ext cx="35052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480" imgH="444240" progId="Equation.3">
                  <p:embed/>
                </p:oleObj>
              </mc:Choice>
              <mc:Fallback>
                <p:oleObj name="Equation" r:id="rId2" imgW="132048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5052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6898340-22E6-F049-08BE-E99DF2182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77813"/>
            <a:ext cx="8915400" cy="1139825"/>
          </a:xfrm>
        </p:spPr>
        <p:txBody>
          <a:bodyPr/>
          <a:lstStyle/>
          <a:p>
            <a:r>
              <a:rPr lang="en-US" altLang="zh-CN" sz="4000" b="1"/>
              <a:t>2. Confidence Interval of Probability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132A5CB-50A8-5BED-B955-AF4E9522F9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       If the sample size n is big enough,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and observed frequency is </a:t>
            </a:r>
            <a:r>
              <a:rPr lang="en-US" altLang="zh-CN" b="1" i="1"/>
              <a:t>p</a:t>
            </a:r>
            <a:r>
              <a:rPr lang="en-US" altLang="zh-CN" b="1"/>
              <a:t> , then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95% Confidence interval </a:t>
            </a:r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b="1"/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b="1"/>
              <a:t>99% Confidence interval</a:t>
            </a:r>
          </a:p>
          <a:p>
            <a:endParaRPr lang="en-US" altLang="zh-CN"/>
          </a:p>
        </p:txBody>
      </p:sp>
      <p:graphicFrame>
        <p:nvGraphicFramePr>
          <p:cNvPr id="81924" name="Object 4">
            <a:extLst>
              <a:ext uri="{FF2B5EF4-FFF2-40B4-BE49-F238E27FC236}">
                <a16:creationId xmlns:a16="http://schemas.microsoft.com/office/drawing/2014/main" id="{CCD2D6D6-B662-3C65-3B43-7F20AC1717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3505200"/>
          <a:ext cx="4500563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444240" progId="Equation.3">
                  <p:embed/>
                </p:oleObj>
              </mc:Choice>
              <mc:Fallback>
                <p:oleObj name="Equation" r:id="rId2" imgW="156204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05200"/>
                        <a:ext cx="4500563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5" name="Object 5">
            <a:extLst>
              <a:ext uri="{FF2B5EF4-FFF2-40B4-BE49-F238E27FC236}">
                <a16:creationId xmlns:a16="http://schemas.microsoft.com/office/drawing/2014/main" id="{76D0AF9A-8A53-74EA-8C7D-C416980F62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5138" y="5181600"/>
          <a:ext cx="4537075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74640" imgH="444240" progId="Equation.3">
                  <p:embed/>
                </p:oleObj>
              </mc:Choice>
              <mc:Fallback>
                <p:oleObj name="Equation" r:id="rId4" imgW="1574640" imgH="444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5181600"/>
                        <a:ext cx="4537075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8" name="Rectangle 4">
            <a:extLst>
              <a:ext uri="{FF2B5EF4-FFF2-40B4-BE49-F238E27FC236}">
                <a16:creationId xmlns:a16="http://schemas.microsoft.com/office/drawing/2014/main" id="{0AA035DC-60FD-765B-AA7D-3B6C0C0411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305800" cy="1143000"/>
          </a:xfrm>
          <a:noFill/>
          <a:ln/>
        </p:spPr>
        <p:txBody>
          <a:bodyPr/>
          <a:lstStyle/>
          <a:p>
            <a:pPr algn="l"/>
            <a:r>
              <a:rPr lang="en-US" altLang="zh-CN" sz="3200" b="1"/>
              <a:t>  Example 10-5   HBV Surface antigen. </a:t>
            </a:r>
            <a:br>
              <a:rPr lang="en-US" altLang="zh-CN" sz="3200" b="1"/>
            </a:br>
            <a:r>
              <a:rPr lang="en-US" altLang="zh-CN" sz="3200" b="1"/>
              <a:t>    200 people were tested, 7 positive.</a:t>
            </a:r>
          </a:p>
        </p:txBody>
      </p:sp>
      <p:graphicFrame>
        <p:nvGraphicFramePr>
          <p:cNvPr id="98310" name="Object 6">
            <a:extLst>
              <a:ext uri="{FF2B5EF4-FFF2-40B4-BE49-F238E27FC236}">
                <a16:creationId xmlns:a16="http://schemas.microsoft.com/office/drawing/2014/main" id="{FC687BDF-FDAA-FD48-4B3E-DA373D92A7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038350"/>
          <a:ext cx="6553200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660240" progId="Equation.3">
                  <p:embed/>
                </p:oleObj>
              </mc:Choice>
              <mc:Fallback>
                <p:oleObj name="Equation" r:id="rId2" imgW="2819160" imgH="660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038350"/>
                        <a:ext cx="6553200" cy="15351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12" name="Object 8">
            <a:extLst>
              <a:ext uri="{FF2B5EF4-FFF2-40B4-BE49-F238E27FC236}">
                <a16:creationId xmlns:a16="http://schemas.microsoft.com/office/drawing/2014/main" id="{A0FCFC30-8D59-4F60-1BA5-AA89601F56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291013"/>
          <a:ext cx="6629400" cy="154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31760" imgH="660240" progId="Equation.3">
                  <p:embed/>
                </p:oleObj>
              </mc:Choice>
              <mc:Fallback>
                <p:oleObj name="Equation" r:id="rId4" imgW="2831760" imgH="660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291013"/>
                        <a:ext cx="6629400" cy="15446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00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61" name="Object 1029">
            <a:extLst>
              <a:ext uri="{FF2B5EF4-FFF2-40B4-BE49-F238E27FC236}">
                <a16:creationId xmlns:a16="http://schemas.microsoft.com/office/drawing/2014/main" id="{3C601365-7400-1739-DE92-4238EEBBE7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990600"/>
          <a:ext cx="6048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190440" progId="Equation.3">
                  <p:embed/>
                </p:oleObj>
              </mc:Choice>
              <mc:Fallback>
                <p:oleObj name="Equation" r:id="rId2" imgW="177480" imgH="19044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990600"/>
                        <a:ext cx="604838" cy="6477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2" name="Object 1030">
            <a:extLst>
              <a:ext uri="{FF2B5EF4-FFF2-40B4-BE49-F238E27FC236}">
                <a16:creationId xmlns:a16="http://schemas.microsoft.com/office/drawing/2014/main" id="{8234D16C-4415-059C-6B4F-E70E7CAE8C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666750"/>
          <a:ext cx="77946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6080" imgH="393480" progId="Equation.3">
                  <p:embed/>
                </p:oleObj>
              </mc:Choice>
              <mc:Fallback>
                <p:oleObj name="Equation" r:id="rId4" imgW="406080" imgH="39348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666750"/>
                        <a:ext cx="779463" cy="10398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8" name="Object 1036">
            <a:extLst>
              <a:ext uri="{FF2B5EF4-FFF2-40B4-BE49-F238E27FC236}">
                <a16:creationId xmlns:a16="http://schemas.microsoft.com/office/drawing/2014/main" id="{AD908D22-00FD-EFC3-AF0E-2D0F2158F877}"/>
              </a:ext>
            </a:extLst>
          </p:cNvPr>
          <p:cNvGraphicFramePr>
            <a:graphicFrameLocks noChangeAspect="1"/>
          </p:cNvGraphicFramePr>
          <p:nvPr>
            <p:ph/>
          </p:nvPr>
        </p:nvGraphicFramePr>
        <p:xfrm>
          <a:off x="762000" y="1647825"/>
          <a:ext cx="1905000" cy="130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419040" progId="Equation.3">
                  <p:embed/>
                </p:oleObj>
              </mc:Choice>
              <mc:Fallback>
                <p:oleObj name="Equation" r:id="rId6" imgW="609480" imgH="41904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647825"/>
                        <a:ext cx="1905000" cy="13096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69" name="Object 1037">
            <a:extLst>
              <a:ext uri="{FF2B5EF4-FFF2-40B4-BE49-F238E27FC236}">
                <a16:creationId xmlns:a16="http://schemas.microsoft.com/office/drawing/2014/main" id="{BB649EF9-8B79-5E04-20D0-50399D4BB3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1719263"/>
          <a:ext cx="2743200" cy="124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960" imgH="457200" progId="Equation.3">
                  <p:embed/>
                </p:oleObj>
              </mc:Choice>
              <mc:Fallback>
                <p:oleObj name="Equation" r:id="rId8" imgW="1002960" imgH="45720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719263"/>
                        <a:ext cx="2743200" cy="124936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0" name="Object 1038">
            <a:extLst>
              <a:ext uri="{FF2B5EF4-FFF2-40B4-BE49-F238E27FC236}">
                <a16:creationId xmlns:a16="http://schemas.microsoft.com/office/drawing/2014/main" id="{8FBB7988-B7BD-3463-83F1-3684777C10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957513"/>
          <a:ext cx="1905000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71320" imgH="419040" progId="Equation.3">
                  <p:embed/>
                </p:oleObj>
              </mc:Choice>
              <mc:Fallback>
                <p:oleObj name="Equation" r:id="rId10" imgW="571320" imgH="41904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957513"/>
                        <a:ext cx="1905000" cy="13398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3" name="Object 1041">
            <a:extLst>
              <a:ext uri="{FF2B5EF4-FFF2-40B4-BE49-F238E27FC236}">
                <a16:creationId xmlns:a16="http://schemas.microsoft.com/office/drawing/2014/main" id="{285F202B-245D-A98B-6341-0EFDF911CB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2981325"/>
          <a:ext cx="27432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160" imgH="457200" progId="Equation.3">
                  <p:embed/>
                </p:oleObj>
              </mc:Choice>
              <mc:Fallback>
                <p:oleObj name="Equation" r:id="rId12" imgW="965160" imgH="45720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2981325"/>
                        <a:ext cx="2743200" cy="12493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4" name="Object 1042">
            <a:extLst>
              <a:ext uri="{FF2B5EF4-FFF2-40B4-BE49-F238E27FC236}">
                <a16:creationId xmlns:a16="http://schemas.microsoft.com/office/drawing/2014/main" id="{2AC45853-1AB6-9D53-F905-5B64BB42B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88" y="4314825"/>
          <a:ext cx="403860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28520" imgH="228600" progId="Equation.3">
                  <p:embed/>
                </p:oleObj>
              </mc:Choice>
              <mc:Fallback>
                <p:oleObj name="Equation" r:id="rId14" imgW="1028520" imgH="22860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8" y="4314825"/>
                        <a:ext cx="4038600" cy="7477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275" name="Object 1043">
            <a:extLst>
              <a:ext uri="{FF2B5EF4-FFF2-40B4-BE49-F238E27FC236}">
                <a16:creationId xmlns:a16="http://schemas.microsoft.com/office/drawing/2014/main" id="{2B417364-047F-D87C-EED3-EED9793B9E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6313" y="4243388"/>
          <a:ext cx="3429000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241200" progId="Equation.3">
                  <p:embed/>
                </p:oleObj>
              </mc:Choice>
              <mc:Fallback>
                <p:oleObj name="Equation" r:id="rId16" imgW="1054080" imgH="24120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4243388"/>
                        <a:ext cx="3429000" cy="7858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F8482281-4515-D23D-DD3F-AD6DDFB8F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zh-CN" sz="4000" b="1"/>
              <a:t>3. The hypothesis testing of proportion  (u test)</a:t>
            </a:r>
            <a:r>
              <a:rPr lang="en-US" altLang="zh-CN" sz="4000"/>
              <a:t>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BFF6692-C256-4B3D-7A0E-EF4EDC2AD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876800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1. Comparison of sample proportion and population proportion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Example 10.6  Cerebral infarction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              Cases                Cure rate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New Method      98                         50%    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Routine                                           30%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          </a:t>
            </a:r>
          </a:p>
        </p:txBody>
      </p:sp>
      <p:graphicFrame>
        <p:nvGraphicFramePr>
          <p:cNvPr id="76804" name="Object 4">
            <a:extLst>
              <a:ext uri="{FF2B5EF4-FFF2-40B4-BE49-F238E27FC236}">
                <a16:creationId xmlns:a16="http://schemas.microsoft.com/office/drawing/2014/main" id="{0032089F-3AC0-FF0C-DF6C-D60664A647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953000"/>
          <a:ext cx="43434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92160" imgH="228600" progId="Equation.3">
                  <p:embed/>
                </p:oleObj>
              </mc:Choice>
              <mc:Fallback>
                <p:oleObj name="Equation" r:id="rId2" imgW="189216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953000"/>
                        <a:ext cx="4343400" cy="5254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4DD85401-73DE-468C-FC0C-15572AD35C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04800"/>
            <a:ext cx="9144000" cy="6324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/>
              <a:t>Statistic </a:t>
            </a:r>
            <a:r>
              <a:rPr lang="en-US" altLang="zh-CN" sz="2800" b="1" i="1"/>
              <a:t>u</a:t>
            </a:r>
          </a:p>
          <a:p>
            <a:pPr>
              <a:lnSpc>
                <a:spcPct val="90000"/>
              </a:lnSpc>
            </a:pPr>
            <a:endParaRPr lang="en-US" altLang="zh-CN" sz="2800" b="1" i="1"/>
          </a:p>
          <a:p>
            <a:pPr>
              <a:lnSpc>
                <a:spcPct val="90000"/>
              </a:lnSpc>
            </a:pPr>
            <a:endParaRPr lang="en-US" altLang="zh-CN" sz="2800" b="1" i="1"/>
          </a:p>
          <a:p>
            <a:pPr>
              <a:lnSpc>
                <a:spcPct val="90000"/>
              </a:lnSpc>
            </a:pPr>
            <a:r>
              <a:rPr lang="en-US" altLang="zh-CN" sz="2800" b="1"/>
              <a:t>Decision rule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If                   , then reject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Otherwise, no reason to reject          (accept         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       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Since                     , reject </a:t>
            </a:r>
          </a:p>
        </p:txBody>
      </p:sp>
      <p:graphicFrame>
        <p:nvGraphicFramePr>
          <p:cNvPr id="101380" name="Object 4">
            <a:extLst>
              <a:ext uri="{FF2B5EF4-FFF2-40B4-BE49-F238E27FC236}">
                <a16:creationId xmlns:a16="http://schemas.microsoft.com/office/drawing/2014/main" id="{5E7007F0-3DDC-BC14-0717-A3B43026D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2105025"/>
          <a:ext cx="12192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7200" imgH="253800" progId="Equation.3">
                  <p:embed/>
                </p:oleObj>
              </mc:Choice>
              <mc:Fallback>
                <p:oleObj name="Equation" r:id="rId2" imgW="45720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105025"/>
                        <a:ext cx="1219200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1" name="Object 5">
            <a:extLst>
              <a:ext uri="{FF2B5EF4-FFF2-40B4-BE49-F238E27FC236}">
                <a16:creationId xmlns:a16="http://schemas.microsoft.com/office/drawing/2014/main" id="{9FD9D2CC-4D9D-F57D-A947-D53CE5CF9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0574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28600" progId="Equation.3">
                  <p:embed/>
                </p:oleObj>
              </mc:Choice>
              <mc:Fallback>
                <p:oleObj name="Equation" r:id="rId4" imgW="21564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057400"/>
                        <a:ext cx="576263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2" name="Object 6">
            <a:extLst>
              <a:ext uri="{FF2B5EF4-FFF2-40B4-BE49-F238E27FC236}">
                <a16:creationId xmlns:a16="http://schemas.microsoft.com/office/drawing/2014/main" id="{0A6841DA-B5ED-62B0-FE0B-A262EE6E55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6670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28600" progId="Equation.3">
                  <p:embed/>
                </p:oleObj>
              </mc:Choice>
              <mc:Fallback>
                <p:oleObj name="Equation" r:id="rId6" imgW="2156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667000"/>
                        <a:ext cx="576263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5" name="Object 9">
            <a:extLst>
              <a:ext uri="{FF2B5EF4-FFF2-40B4-BE49-F238E27FC236}">
                <a16:creationId xmlns:a16="http://schemas.microsoft.com/office/drawing/2014/main" id="{20B42B8C-4663-6F00-D55F-BCF8D70D20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943600"/>
          <a:ext cx="15240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253800" progId="Equation.3">
                  <p:embed/>
                </p:oleObj>
              </mc:Choice>
              <mc:Fallback>
                <p:oleObj name="Equation" r:id="rId7" imgW="571320" imgH="2538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943600"/>
                        <a:ext cx="1524000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6" name="Object 10">
            <a:extLst>
              <a:ext uri="{FF2B5EF4-FFF2-40B4-BE49-F238E27FC236}">
                <a16:creationId xmlns:a16="http://schemas.microsoft.com/office/drawing/2014/main" id="{39362F34-9AFE-F51E-10E9-2FB692B593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60198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5640" imgH="228600" progId="Equation.3">
                  <p:embed/>
                </p:oleObj>
              </mc:Choice>
              <mc:Fallback>
                <p:oleObj name="Equation" r:id="rId9" imgW="21564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6019800"/>
                        <a:ext cx="576263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7" name="Object 11">
            <a:extLst>
              <a:ext uri="{FF2B5EF4-FFF2-40B4-BE49-F238E27FC236}">
                <a16:creationId xmlns:a16="http://schemas.microsoft.com/office/drawing/2014/main" id="{3C5D8E64-1C23-B378-A5EC-A8D258215A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9400" y="96838"/>
          <a:ext cx="3429000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41120" imgH="863280" progId="Equation.3">
                  <p:embed/>
                </p:oleObj>
              </mc:Choice>
              <mc:Fallback>
                <p:oleObj name="Equation" r:id="rId10" imgW="1041120" imgH="86328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6838"/>
                        <a:ext cx="3429000" cy="168433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8" name="Object 12">
            <a:extLst>
              <a:ext uri="{FF2B5EF4-FFF2-40B4-BE49-F238E27FC236}">
                <a16:creationId xmlns:a16="http://schemas.microsoft.com/office/drawing/2014/main" id="{F4A5FFC2-B559-7DB2-7DDC-1C8891B91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352800"/>
          <a:ext cx="3733800" cy="226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09400" imgH="1269720" progId="Equation.3">
                  <p:embed/>
                </p:oleObj>
              </mc:Choice>
              <mc:Fallback>
                <p:oleObj name="Equation" r:id="rId12" imgW="1409400" imgH="12697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352800"/>
                        <a:ext cx="3733800" cy="22653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2" name="Object 16">
            <a:extLst>
              <a:ext uri="{FF2B5EF4-FFF2-40B4-BE49-F238E27FC236}">
                <a16:creationId xmlns:a16="http://schemas.microsoft.com/office/drawing/2014/main" id="{D4B6BDF2-263C-2076-7E9B-801D04AD9A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2636838"/>
          <a:ext cx="5762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228600" progId="Equation.3">
                  <p:embed/>
                </p:oleObj>
              </mc:Choice>
              <mc:Fallback>
                <p:oleObj name="Equation" r:id="rId14" imgW="21564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636838"/>
                        <a:ext cx="576262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ED43A404-05D3-8B5F-5A74-C8F624E25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04800"/>
            <a:ext cx="9144000" cy="5364163"/>
          </a:xfrm>
        </p:spPr>
        <p:txBody>
          <a:bodyPr/>
          <a:lstStyle/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2. Comparison of two sample proportions</a:t>
            </a:r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b="1"/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CC00"/>
                </a:solidFill>
              </a:rPr>
              <a:t>Example 10.7</a:t>
            </a:r>
            <a:r>
              <a:rPr lang="en-US" altLang="zh-CN" b="1"/>
              <a:t> Carrier rate of Hepatitis B 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City:  522people were tested, 24 carriers, 4.06% (population carrier rate: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sym typeface="Symbol" panose="05050102010706020507" pitchFamily="18" charset="2"/>
              </a:rPr>
              <a:t>1</a:t>
            </a:r>
            <a:r>
              <a:rPr lang="en-US" altLang="zh-CN" b="1">
                <a:sym typeface="Symbol" panose="05050102010706020507" pitchFamily="18" charset="2"/>
              </a:rPr>
              <a:t>)</a:t>
            </a:r>
            <a:endParaRPr lang="en-US" altLang="zh-CN" b="1"/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b="1"/>
              <a:t> Countryside: 478people were tested, 33 carriers, 6.90% (population carrier rate: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sym typeface="Symbol" panose="05050102010706020507" pitchFamily="18" charset="2"/>
              </a:rPr>
              <a:t>2</a:t>
            </a:r>
            <a:r>
              <a:rPr lang="en-US" altLang="zh-CN" b="1">
                <a:sym typeface="Symbol" panose="05050102010706020507" pitchFamily="18" charset="2"/>
              </a:rPr>
              <a:t>)</a:t>
            </a:r>
            <a:endParaRPr lang="en-US" altLang="zh-CN" b="1"/>
          </a:p>
          <a:p>
            <a:pPr marL="609600" indent="-609600">
              <a:buFont typeface="Wingdings" panose="05000000000000000000" pitchFamily="2" charset="2"/>
              <a:buNone/>
            </a:pPr>
            <a:endParaRPr lang="en-US" altLang="zh-CN" b="1"/>
          </a:p>
        </p:txBody>
      </p:sp>
      <p:graphicFrame>
        <p:nvGraphicFramePr>
          <p:cNvPr id="78854" name="Object 6">
            <a:extLst>
              <a:ext uri="{FF2B5EF4-FFF2-40B4-BE49-F238E27FC236}">
                <a16:creationId xmlns:a16="http://schemas.microsoft.com/office/drawing/2014/main" id="{D01DF0B9-91E9-AFB6-AFF2-90AFA27977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1600" y="4572000"/>
          <a:ext cx="56388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228600" progId="Equation.3">
                  <p:embed/>
                </p:oleObj>
              </mc:Choice>
              <mc:Fallback>
                <p:oleObj name="Equation" r:id="rId2" imgW="190476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572000"/>
                        <a:ext cx="5638800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>
            <a:extLst>
              <a:ext uri="{FF2B5EF4-FFF2-40B4-BE49-F238E27FC236}">
                <a16:creationId xmlns:a16="http://schemas.microsoft.com/office/drawing/2014/main" id="{2A89928B-895C-7CD8-53E6-CBFD26337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228600"/>
            <a:ext cx="9144000" cy="6400800"/>
          </a:xfrm>
        </p:spPr>
        <p:txBody>
          <a:bodyPr/>
          <a:lstStyle/>
          <a:p>
            <a:r>
              <a:rPr lang="en-US" altLang="zh-CN" b="1"/>
              <a:t>Pooled estimate</a:t>
            </a:r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Standard error of </a:t>
            </a:r>
            <a:r>
              <a:rPr lang="en-US" altLang="zh-CN" b="1" i="1"/>
              <a:t>P</a:t>
            </a:r>
            <a:r>
              <a:rPr lang="en-US" altLang="zh-CN" b="1" baseline="-25000"/>
              <a:t>1</a:t>
            </a:r>
            <a:r>
              <a:rPr lang="en-US" altLang="zh-CN" b="1"/>
              <a:t>-</a:t>
            </a:r>
            <a:r>
              <a:rPr lang="en-US" altLang="zh-CN" b="1" i="1"/>
              <a:t>P</a:t>
            </a:r>
            <a:r>
              <a:rPr lang="en-US" altLang="zh-CN" b="1" baseline="-25000"/>
              <a:t>2</a:t>
            </a:r>
            <a:endParaRPr lang="en-US" altLang="zh-CN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</a:p>
        </p:txBody>
      </p:sp>
      <p:graphicFrame>
        <p:nvGraphicFramePr>
          <p:cNvPr id="99332" name="Object 4">
            <a:extLst>
              <a:ext uri="{FF2B5EF4-FFF2-40B4-BE49-F238E27FC236}">
                <a16:creationId xmlns:a16="http://schemas.microsoft.com/office/drawing/2014/main" id="{FF606DED-42CA-A56B-5EA4-CCE1B5A232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914400"/>
          <a:ext cx="2032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431640" progId="Equation.3">
                  <p:embed/>
                </p:oleObj>
              </mc:Choice>
              <mc:Fallback>
                <p:oleObj name="Equation" r:id="rId2" imgW="8632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914400"/>
                        <a:ext cx="2032000" cy="10160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5">
            <a:extLst>
              <a:ext uri="{FF2B5EF4-FFF2-40B4-BE49-F238E27FC236}">
                <a16:creationId xmlns:a16="http://schemas.microsoft.com/office/drawing/2014/main" id="{C151D6A1-7116-FDB3-40B8-B457C5DD2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133600"/>
          <a:ext cx="34353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393480" progId="Equation.3">
                  <p:embed/>
                </p:oleObj>
              </mc:Choice>
              <mc:Fallback>
                <p:oleObj name="Equation" r:id="rId4" imgW="1460160" imgH="393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33600"/>
                        <a:ext cx="3435350" cy="9255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0FBC2865-AD2A-7E2A-F10B-40728BE45E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3711575"/>
          <a:ext cx="4495800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482400" progId="Equation.3">
                  <p:embed/>
                </p:oleObj>
              </mc:Choice>
              <mc:Fallback>
                <p:oleObj name="Equation" r:id="rId6" imgW="179064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711575"/>
                        <a:ext cx="4495800" cy="12128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7">
            <a:extLst>
              <a:ext uri="{FF2B5EF4-FFF2-40B4-BE49-F238E27FC236}">
                <a16:creationId xmlns:a16="http://schemas.microsoft.com/office/drawing/2014/main" id="{46BE8E4D-F4B7-0EB6-ACE3-111322CE9E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5181600"/>
          <a:ext cx="73660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33640" imgH="444240" progId="Equation.3">
                  <p:embed/>
                </p:oleObj>
              </mc:Choice>
              <mc:Fallback>
                <p:oleObj name="Equation" r:id="rId8" imgW="293364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181600"/>
                        <a:ext cx="7366000" cy="1117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:a16="http://schemas.microsoft.com/office/drawing/2014/main" id="{3EC84EC6-C8F2-0787-B941-48E4F9D91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04800"/>
            <a:ext cx="9144000" cy="6324600"/>
          </a:xfrm>
        </p:spPr>
        <p:txBody>
          <a:bodyPr/>
          <a:lstStyle/>
          <a:p>
            <a:r>
              <a:rPr lang="en-US" altLang="zh-CN" sz="2800" b="1"/>
              <a:t>Statistic </a:t>
            </a:r>
            <a:r>
              <a:rPr lang="en-US" altLang="zh-CN" sz="2800" b="1" i="1"/>
              <a:t>u</a:t>
            </a:r>
          </a:p>
          <a:p>
            <a:endParaRPr lang="en-US" altLang="zh-CN" sz="2800" b="1" i="1"/>
          </a:p>
          <a:p>
            <a:endParaRPr lang="en-US" altLang="zh-CN" sz="2800" b="1" i="1"/>
          </a:p>
          <a:p>
            <a:r>
              <a:rPr lang="en-US" altLang="zh-CN" sz="2800" b="1"/>
              <a:t>Decision rule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    If                   , then reject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    Otherwise, no reason to reject          (accept         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          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buFont typeface="Wingdings" panose="05000000000000000000" pitchFamily="2" charset="2"/>
              <a:buNone/>
            </a:pPr>
            <a:endParaRPr lang="en-US" altLang="zh-CN" sz="2800" b="1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/>
              <a:t>Since                           , not reject </a:t>
            </a:r>
          </a:p>
        </p:txBody>
      </p:sp>
      <p:graphicFrame>
        <p:nvGraphicFramePr>
          <p:cNvPr id="100356" name="Object 4">
            <a:extLst>
              <a:ext uri="{FF2B5EF4-FFF2-40B4-BE49-F238E27FC236}">
                <a16:creationId xmlns:a16="http://schemas.microsoft.com/office/drawing/2014/main" id="{9D2896B4-9D17-9FF3-3980-B3624316F3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304800"/>
          <a:ext cx="2133600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457200" progId="Equation.3">
                  <p:embed/>
                </p:oleObj>
              </mc:Choice>
              <mc:Fallback>
                <p:oleObj name="Equation" r:id="rId2" imgW="73656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04800"/>
                        <a:ext cx="2133600" cy="13239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7" name="Object 5">
            <a:extLst>
              <a:ext uri="{FF2B5EF4-FFF2-40B4-BE49-F238E27FC236}">
                <a16:creationId xmlns:a16="http://schemas.microsoft.com/office/drawing/2014/main" id="{22E8E68A-31BF-AEAB-F582-626731B450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276475"/>
          <a:ext cx="12192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53800" progId="Equation.3">
                  <p:embed/>
                </p:oleObj>
              </mc:Choice>
              <mc:Fallback>
                <p:oleObj name="Equation" r:id="rId4" imgW="457200" imgH="253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76475"/>
                        <a:ext cx="1219200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8" name="Object 6">
            <a:extLst>
              <a:ext uri="{FF2B5EF4-FFF2-40B4-BE49-F238E27FC236}">
                <a16:creationId xmlns:a16="http://schemas.microsoft.com/office/drawing/2014/main" id="{C89760EB-9550-C683-681A-4538DA95A8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3622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228600" progId="Equation.3">
                  <p:embed/>
                </p:oleObj>
              </mc:Choice>
              <mc:Fallback>
                <p:oleObj name="Equation" r:id="rId6" imgW="21564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362200"/>
                        <a:ext cx="576263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59" name="Object 7">
            <a:extLst>
              <a:ext uri="{FF2B5EF4-FFF2-40B4-BE49-F238E27FC236}">
                <a16:creationId xmlns:a16="http://schemas.microsoft.com/office/drawing/2014/main" id="{D0B2560F-82B5-00C8-BBEF-263F989BC3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28956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228600" progId="Equation.3">
                  <p:embed/>
                </p:oleObj>
              </mc:Choice>
              <mc:Fallback>
                <p:oleObj name="Equation" r:id="rId8" imgW="21564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895600"/>
                        <a:ext cx="576263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1" name="Object 9">
            <a:extLst>
              <a:ext uri="{FF2B5EF4-FFF2-40B4-BE49-F238E27FC236}">
                <a16:creationId xmlns:a16="http://schemas.microsoft.com/office/drawing/2014/main" id="{75BD813E-C915-A878-02AC-96AAA632FB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4114800"/>
          <a:ext cx="56388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11200" imgH="457200" progId="Equation.3">
                  <p:embed/>
                </p:oleObj>
              </mc:Choice>
              <mc:Fallback>
                <p:oleObj name="Equation" r:id="rId9" imgW="2311200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14800"/>
                        <a:ext cx="5638800" cy="11144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2" name="Object 10">
            <a:extLst>
              <a:ext uri="{FF2B5EF4-FFF2-40B4-BE49-F238E27FC236}">
                <a16:creationId xmlns:a16="http://schemas.microsoft.com/office/drawing/2014/main" id="{72057B03-2394-4631-F736-0C2584D17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5943600"/>
          <a:ext cx="15240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320" imgH="253800" progId="Equation.3">
                  <p:embed/>
                </p:oleObj>
              </mc:Choice>
              <mc:Fallback>
                <p:oleObj name="Equation" r:id="rId11" imgW="571320" imgH="253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943600"/>
                        <a:ext cx="1524000" cy="6762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3" name="Object 11">
            <a:extLst>
              <a:ext uri="{FF2B5EF4-FFF2-40B4-BE49-F238E27FC236}">
                <a16:creationId xmlns:a16="http://schemas.microsoft.com/office/drawing/2014/main" id="{5173E445-A949-C647-5641-FA4587DA3D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5943600"/>
          <a:ext cx="5762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228600" progId="Equation.3">
                  <p:embed/>
                </p:oleObj>
              </mc:Choice>
              <mc:Fallback>
                <p:oleObj name="Equation" r:id="rId13" imgW="21564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943600"/>
                        <a:ext cx="576263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0" name="Object 18">
            <a:extLst>
              <a:ext uri="{FF2B5EF4-FFF2-40B4-BE49-F238E27FC236}">
                <a16:creationId xmlns:a16="http://schemas.microsoft.com/office/drawing/2014/main" id="{A8C29C7B-D9AB-90E8-F3FA-9E5F0E0392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2924175"/>
          <a:ext cx="576262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228600" progId="Equation.3">
                  <p:embed/>
                </p:oleObj>
              </mc:Choice>
              <mc:Fallback>
                <p:oleObj name="Equation" r:id="rId14" imgW="21564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2924175"/>
                        <a:ext cx="576262" cy="6096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1E755913-EDEB-1B2D-FC17-F2AB90E6A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1700" y="304800"/>
            <a:ext cx="7340600" cy="382588"/>
          </a:xfrm>
        </p:spPr>
        <p:txBody>
          <a:bodyPr/>
          <a:lstStyle/>
          <a:p>
            <a:r>
              <a:rPr lang="en-US" altLang="zh-CN" sz="3200" b="1"/>
              <a:t>Summary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B2919EBE-ED9B-D438-D238-5B9FFFBB2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8915400" cy="6019800"/>
          </a:xfrm>
        </p:spPr>
        <p:txBody>
          <a:bodyPr/>
          <a:lstStyle/>
          <a:p>
            <a:r>
              <a:rPr lang="en-US" altLang="zh-CN" b="1"/>
              <a:t>The parameter estimation and hypothesis testing of proportion are based on the normal approximation (when sample size is big enough)</a:t>
            </a:r>
          </a:p>
          <a:p>
            <a:r>
              <a:rPr lang="en-US" altLang="zh-CN" b="1"/>
              <a:t>How big is enough?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By experience,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</a:t>
            </a:r>
            <a:r>
              <a:rPr lang="en-US" altLang="zh-CN" b="1" i="1"/>
              <a:t>n</a:t>
            </a:r>
            <a:r>
              <a:rPr lang="en-US" altLang="zh-CN" b="1" i="1">
                <a:sym typeface="Symbol" panose="05050102010706020507" pitchFamily="18" charset="2"/>
              </a:rPr>
              <a:t> </a:t>
            </a:r>
            <a:r>
              <a:rPr lang="en-US" altLang="zh-CN" b="1"/>
              <a:t>&gt; 5 and </a:t>
            </a:r>
            <a:r>
              <a:rPr lang="en-US" altLang="zh-CN" b="1" i="1"/>
              <a:t>n</a:t>
            </a:r>
            <a:r>
              <a:rPr lang="en-US" altLang="zh-CN" b="1"/>
              <a:t>(</a:t>
            </a:r>
            <a:r>
              <a:rPr lang="en-US" altLang="zh-CN" b="1" i="1"/>
              <a:t>1-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/>
              <a:t>)</a:t>
            </a:r>
            <a:r>
              <a:rPr lang="en-US" altLang="zh-CN" b="1" i="1"/>
              <a:t> </a:t>
            </a:r>
            <a:r>
              <a:rPr lang="en-US" altLang="zh-CN" b="1"/>
              <a:t>&gt;5</a:t>
            </a:r>
          </a:p>
          <a:p>
            <a:r>
              <a:rPr lang="en-US" altLang="zh-CN" b="1"/>
              <a:t>   If the sample</a:t>
            </a:r>
            <a:r>
              <a:rPr lang="en-US" altLang="zh-CN"/>
              <a:t> </a:t>
            </a:r>
            <a:r>
              <a:rPr lang="en-US" altLang="zh-CN" b="1"/>
              <a:t>size is not big, </a:t>
            </a:r>
            <a:r>
              <a:rPr lang="en-US" altLang="zh-CN" b="1" i="1"/>
              <a:t>u</a:t>
            </a:r>
            <a:r>
              <a:rPr lang="en-US" altLang="zh-CN" b="1"/>
              <a:t> test can’t be used and there is no </a:t>
            </a:r>
            <a:r>
              <a:rPr lang="en-US" altLang="zh-CN" b="1" i="1"/>
              <a:t>t</a:t>
            </a:r>
            <a:r>
              <a:rPr lang="en-US" altLang="zh-CN" b="1"/>
              <a:t>-test for proportion. (see more detailed text book)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87C6A1E-6AE4-1F63-4202-201A5E483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752600"/>
            <a:ext cx="7772400" cy="1143000"/>
          </a:xfrm>
        </p:spPr>
        <p:txBody>
          <a:bodyPr/>
          <a:lstStyle/>
          <a:p>
            <a:r>
              <a:rPr lang="en-US" altLang="zh-CN" sz="3600" b="1">
                <a:solidFill>
                  <a:srgbClr val="FFCC00"/>
                </a:solidFill>
              </a:rPr>
              <a:t>10.3 Chi-square test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33D7CA47-B6EE-80D1-0708-206A9F6938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5064125"/>
          </a:xfrm>
          <a:ln>
            <a:solidFill>
              <a:schemeClr val="folHlink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/>
              <a:t>      </a:t>
            </a: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The</a:t>
            </a:r>
            <a:r>
              <a:rPr lang="en-US" altLang="zh-CN" b="1">
                <a:solidFill>
                  <a:schemeClr val="folHlink"/>
                </a:solidFill>
              </a:rPr>
              <a:t> </a:t>
            </a:r>
            <a:r>
              <a:rPr lang="en-US" altLang="zh-CN" sz="3600" b="1" i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u</a:t>
            </a: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test</a:t>
            </a:r>
            <a:r>
              <a:rPr lang="en-US" altLang="zh-CN" sz="36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can only be used for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comparing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with a given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sym typeface="Symbol" panose="05050102010706020507" pitchFamily="18" charset="2"/>
              </a:rPr>
              <a:t>0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(one sample)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or comparing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sym typeface="Symbol" panose="05050102010706020507" pitchFamily="18" charset="2"/>
              </a:rPr>
              <a:t>1</a:t>
            </a:r>
            <a:r>
              <a:rPr lang="en-US" altLang="zh-CN" b="1" i="1" baseline="-25000">
                <a:sym typeface="Symbol" panose="05050102010706020507" pitchFamily="18" charset="2"/>
              </a:rPr>
              <a:t> </a:t>
            </a:r>
            <a:r>
              <a:rPr lang="en-US" altLang="zh-CN" b="1">
                <a:sym typeface="Symbol" panose="05050102010706020507" pitchFamily="18" charset="2"/>
              </a:rPr>
              <a:t>with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sym typeface="Symbol" panose="05050102010706020507" pitchFamily="18" charset="2"/>
              </a:rPr>
              <a:t>2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(two samples).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    If we need to compare more than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two samples,</a:t>
            </a:r>
            <a:r>
              <a:rPr lang="en-US" altLang="zh-CN" sz="36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36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Chi-square test</a:t>
            </a:r>
            <a:r>
              <a:rPr lang="en-US" altLang="zh-CN" sz="36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is widely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used.</a:t>
            </a:r>
            <a:r>
              <a:rPr lang="en-US" altLang="zh-CN"/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7BB331D-A91C-3F9A-CD80-E71AFD7C0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r>
              <a:rPr lang="en-US" altLang="zh-CN" sz="4000" b="1"/>
              <a:t>1. Basic idea of </a:t>
            </a:r>
            <a:r>
              <a:rPr lang="en-US" altLang="zh-CN" sz="4000" b="1">
                <a:sym typeface="Symbol" panose="05050102010706020507" pitchFamily="18" charset="2"/>
              </a:rPr>
              <a:t></a:t>
            </a:r>
            <a:r>
              <a:rPr lang="en-US" altLang="zh-CN" sz="4000" b="1" baseline="30000"/>
              <a:t>2</a:t>
            </a:r>
            <a:r>
              <a:rPr lang="en-US" altLang="zh-CN" sz="4000" b="1"/>
              <a:t> test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81BCB04-3DA4-6C39-439E-CCBA2D4D0CD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066800"/>
            <a:ext cx="9144000" cy="5589588"/>
          </a:xfrm>
        </p:spPr>
        <p:txBody>
          <a:bodyPr/>
          <a:lstStyle/>
          <a:p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Given a set of observed frequency distribution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                     A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A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A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3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…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to test whether the data follow certain theory.</a:t>
            </a:r>
          </a:p>
          <a:p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If the theory is true, then we will have a set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of theoretical frequency distribution: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                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3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…</a:t>
            </a:r>
          </a:p>
          <a:p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Comparing  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A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A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A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3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…  and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3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…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  If they are quite different, then the theory might not be true;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  Otherwise, the theory is acceptable.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8F332EC9-CB3C-B53B-3224-5930648CF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6096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Example10-8  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Acute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lower respiratory infection</a:t>
            </a:r>
            <a:r>
              <a:rPr lang="en-US" altLang="zh-CN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  </a:t>
            </a: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7161891-0DFF-0B62-030F-225A7E158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28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7724" name="Group 76">
            <a:extLst>
              <a:ext uri="{FF2B5EF4-FFF2-40B4-BE49-F238E27FC236}">
                <a16:creationId xmlns:a16="http://schemas.microsoft.com/office/drawing/2014/main" id="{960EDCEB-357D-67DE-F41E-7C8F8EB568DE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0" y="1219200"/>
          <a:ext cx="9144000" cy="2438400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1894772431"/>
                    </a:ext>
                  </a:extLst>
                </a:gridCol>
                <a:gridCol w="1798638">
                  <a:extLst>
                    <a:ext uri="{9D8B030D-6E8A-4147-A177-3AD203B41FA5}">
                      <a16:colId xmlns:a16="http://schemas.microsoft.com/office/drawing/2014/main" val="1571487222"/>
                    </a:ext>
                  </a:extLst>
                </a:gridCol>
                <a:gridCol w="1808162">
                  <a:extLst>
                    <a:ext uri="{9D8B030D-6E8A-4147-A177-3AD203B41FA5}">
                      <a16:colId xmlns:a16="http://schemas.microsoft.com/office/drawing/2014/main" val="3625049271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512946776"/>
                    </a:ext>
                  </a:extLst>
                </a:gridCol>
                <a:gridCol w="1946275">
                  <a:extLst>
                    <a:ext uri="{9D8B030D-6E8A-4147-A177-3AD203B41FA5}">
                      <a16:colId xmlns:a16="http://schemas.microsoft.com/office/drawing/2014/main" val="3305504129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Treatment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Effect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Non-effect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Effect rate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389025"/>
                  </a:ext>
                </a:extLst>
              </a:tr>
              <a:tr h="7032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Drug 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68(64.82)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a</a:t>
                      </a:r>
                      <a:endParaRPr kumimoji="1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6(9.18)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1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 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91.89 %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695185"/>
                  </a:ext>
                </a:extLst>
              </a:tr>
              <a:tr h="6508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Drug B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52(55.18)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endParaRPr kumimoji="1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11(7.82)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1" lang="en-US" altLang="zh-CN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82.54 %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50981"/>
                  </a:ext>
                </a:extLst>
              </a:tr>
              <a:tr h="5508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 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 (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137</a:t>
                      </a:r>
                      <a:endParaRPr kumimoji="1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53.59 %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360263"/>
                  </a:ext>
                </a:extLst>
              </a:tr>
            </a:tbl>
          </a:graphicData>
        </a:graphic>
      </p:graphicFrame>
      <p:sp>
        <p:nvSpPr>
          <p:cNvPr id="27719" name="Rectangle 71">
            <a:extLst>
              <a:ext uri="{FF2B5EF4-FFF2-40B4-BE49-F238E27FC236}">
                <a16:creationId xmlns:a16="http://schemas.microsoft.com/office/drawing/2014/main" id="{DC93BD2F-4220-33E0-E0FA-2EE645B51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  <a:noFill/>
          <a:ln/>
        </p:spPr>
        <p:txBody>
          <a:bodyPr anchorCtr="1"/>
          <a:lstStyle/>
          <a:p>
            <a:r>
              <a:rPr lang="en-US" altLang="zh-CN" sz="4000" b="1"/>
              <a:t>(2) Chi-square test for 2</a:t>
            </a:r>
            <a:r>
              <a:rPr lang="en-US" altLang="zh-CN" sz="4000" b="1">
                <a:sym typeface="Symbol" panose="05050102010706020507" pitchFamily="18" charset="2"/>
              </a:rPr>
              <a:t>2</a:t>
            </a:r>
            <a:r>
              <a:rPr lang="en-US" altLang="zh-CN" sz="4000" b="1"/>
              <a:t> table</a:t>
            </a:r>
          </a:p>
        </p:txBody>
      </p:sp>
      <p:sp>
        <p:nvSpPr>
          <p:cNvPr id="27720" name="Rectangle 72">
            <a:extLst>
              <a:ext uri="{FF2B5EF4-FFF2-40B4-BE49-F238E27FC236}">
                <a16:creationId xmlns:a16="http://schemas.microsoft.com/office/drawing/2014/main" id="{6B72DF86-7D31-8383-C17B-4DB3A4B58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6576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                H</a:t>
            </a:r>
            <a:r>
              <a:rPr kumimoji="0" lang="en-US" altLang="zh-CN" b="1" baseline="-25000">
                <a:latin typeface="Batang" pitchFamily="18" charset="-127"/>
                <a:ea typeface="Batang" pitchFamily="18" charset="-127"/>
              </a:rPr>
              <a:t>0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: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1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=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2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,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H</a:t>
            </a:r>
            <a:r>
              <a:rPr kumimoji="0" lang="en-US" altLang="zh-CN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: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1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≠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2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,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α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=0.05    </a:t>
            </a:r>
            <a:endParaRPr kumimoji="0" lang="en-US" altLang="zh-CN" sz="2800" b="1"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</p:txBody>
      </p:sp>
      <p:sp>
        <p:nvSpPr>
          <p:cNvPr id="27728" name="Rectangle 80">
            <a:extLst>
              <a:ext uri="{FF2B5EF4-FFF2-40B4-BE49-F238E27FC236}">
                <a16:creationId xmlns:a16="http://schemas.microsoft.com/office/drawing/2014/main" id="{4986770F-DEA3-522C-190B-AB1D0E096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67200"/>
            <a:ext cx="9144000" cy="2316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b="1">
                <a:latin typeface="Batang" pitchFamily="18" charset="-127"/>
                <a:ea typeface="Batang" pitchFamily="18" charset="-127"/>
              </a:rPr>
              <a:t> To calculate the theoretical frequencies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If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H</a:t>
            </a:r>
            <a:r>
              <a:rPr kumimoji="0" lang="en-US" altLang="zh-CN" b="1" baseline="-25000">
                <a:latin typeface="Batang" pitchFamily="18" charset="-127"/>
                <a:ea typeface="Batang" pitchFamily="18" charset="-127"/>
              </a:rPr>
              <a:t>0  </a:t>
            </a:r>
            <a:r>
              <a:rPr kumimoji="0" lang="en-US" altLang="zh-CN" b="1">
                <a:latin typeface="Batang" pitchFamily="18" charset="-127"/>
                <a:ea typeface="Batang" pitchFamily="18" charset="-127"/>
              </a:rPr>
              <a:t>is true,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1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=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2 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120/137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T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11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=74120/137 =64.82,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T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21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=63120/137=55.18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T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12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=7417/137 =9.18, </a:t>
            </a:r>
            <a:r>
              <a:rPr kumimoji="0" lang="en-US" altLang="zh-CN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T</a:t>
            </a:r>
            <a:r>
              <a:rPr kumimoji="0" lang="en-US" altLang="zh-CN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22</a:t>
            </a:r>
            <a:r>
              <a:rPr kumimoji="0" lang="en-US" altLang="zh-CN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=6317/137=7.82</a:t>
            </a: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>
            <a:extLst>
              <a:ext uri="{FF2B5EF4-FFF2-40B4-BE49-F238E27FC236}">
                <a16:creationId xmlns:a16="http://schemas.microsoft.com/office/drawing/2014/main" id="{980E56E6-563B-1FEF-1676-1F421E855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52400"/>
            <a:ext cx="9144000" cy="59785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To compare A and T by a statistic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   If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b="1" baseline="-25000">
                <a:latin typeface="Batang" pitchFamily="18" charset="-127"/>
                <a:ea typeface="Batang" pitchFamily="18" charset="-127"/>
              </a:rPr>
              <a:t>0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is true,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follows a chi-square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distribution.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            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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=(row-1)(column-1)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   If the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value is big enough, we doubt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about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b="1" baseline="-25000">
                <a:latin typeface="Batang" pitchFamily="18" charset="-127"/>
                <a:ea typeface="Batang" pitchFamily="18" charset="-127"/>
              </a:rPr>
              <a:t>0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, then reject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b="1" baseline="-25000">
                <a:latin typeface="Batang" pitchFamily="18" charset="-127"/>
                <a:ea typeface="Batang" pitchFamily="18" charset="-127"/>
              </a:rPr>
              <a:t>0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!</a:t>
            </a:r>
          </a:p>
        </p:txBody>
      </p:sp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FEA76FC1-FD33-A6E3-9605-241722FD17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2209800"/>
          <a:ext cx="51816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36760" imgH="457200" progId="Equation.3">
                  <p:embed/>
                </p:oleObj>
              </mc:Choice>
              <mc:Fallback>
                <p:oleObj name="Equation" r:id="rId2" imgW="233676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09800"/>
                        <a:ext cx="51816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3B7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766C1871-DE2F-84E4-24EE-7D7A86BAA4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28600"/>
          <a:ext cx="18288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393480" progId="Equation.3">
                  <p:embed/>
                </p:oleObj>
              </mc:Choice>
              <mc:Fallback>
                <p:oleObj name="Equation" r:id="rId4" imgW="736560" imgH="393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"/>
                        <a:ext cx="182880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>
            <a:extLst>
              <a:ext uri="{FF2B5EF4-FFF2-40B4-BE49-F238E27FC236}">
                <a16:creationId xmlns:a16="http://schemas.microsoft.com/office/drawing/2014/main" id="{A4F2F9AD-66A2-C684-2235-20EBAF57A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533400"/>
          <a:ext cx="22098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8840" imgH="215640" progId="Equation.3">
                  <p:embed/>
                </p:oleObj>
              </mc:Choice>
              <mc:Fallback>
                <p:oleObj name="Equation" r:id="rId6" imgW="888840" imgH="2156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33400"/>
                        <a:ext cx="22098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>
            <a:extLst>
              <a:ext uri="{FF2B5EF4-FFF2-40B4-BE49-F238E27FC236}">
                <a16:creationId xmlns:a16="http://schemas.microsoft.com/office/drawing/2014/main" id="{A06DDE33-1004-8CED-8F30-9FA38946BF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533400"/>
          <a:ext cx="25146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280" imgH="228600" progId="Equation.3">
                  <p:embed/>
                </p:oleObj>
              </mc:Choice>
              <mc:Fallback>
                <p:oleObj name="Equation" r:id="rId8" imgW="107928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533400"/>
                        <a:ext cx="25146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F960D33D-7B45-9A2B-E8E5-4A7D213D18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333375"/>
            <a:ext cx="9144000" cy="65246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To Example10-8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,</a:t>
            </a:r>
            <a:r>
              <a:rPr lang="en-US" altLang="zh-CN"/>
              <a:t> </a:t>
            </a:r>
            <a:endParaRPr lang="en-US" altLang="zh-CN" sz="3600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600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600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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=(row-1)(column-1)=(2-1)(2-1)=1,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</a:t>
            </a:r>
            <a:r>
              <a:rPr lang="en-US" altLang="zh-CN" sz="3600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3600" b="1" baseline="-25000">
                <a:latin typeface="Batang" pitchFamily="18" charset="-127"/>
                <a:ea typeface="Batang" pitchFamily="18" charset="-127"/>
              </a:rPr>
              <a:t>0.05(1)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=3.84, </a:t>
            </a:r>
            <a:endParaRPr lang="en-US" altLang="zh-CN" sz="36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Now, </a:t>
            </a:r>
            <a:r>
              <a:rPr lang="en-US" altLang="zh-CN" sz="36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sz="3600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=2.734&lt;3.84, </a:t>
            </a:r>
            <a:r>
              <a:rPr lang="en-US" altLang="zh-CN" sz="3600" b="1" i="1">
                <a:latin typeface="Batang" pitchFamily="18" charset="-127"/>
                <a:ea typeface="Batang" pitchFamily="18" charset="-127"/>
              </a:rPr>
              <a:t>P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&gt;0.05,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 i="1">
                <a:latin typeface="Batang" pitchFamily="18" charset="-127"/>
                <a:ea typeface="Batang" pitchFamily="18" charset="-127"/>
              </a:rPr>
              <a:t>        H</a:t>
            </a:r>
            <a:r>
              <a:rPr lang="en-US" altLang="zh-CN" sz="3600" b="1" baseline="-25000">
                <a:latin typeface="Batang" pitchFamily="18" charset="-127"/>
                <a:ea typeface="Batang" pitchFamily="18" charset="-127"/>
              </a:rPr>
              <a:t>0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is not rejected.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We have no reason to say the effects of two treatments are different.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F69152F9-372E-EB4C-F3C7-AC94B1388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4AEF1965-4467-CADC-FED7-949C466B3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9704" name="Object 8">
            <a:extLst>
              <a:ext uri="{FF2B5EF4-FFF2-40B4-BE49-F238E27FC236}">
                <a16:creationId xmlns:a16="http://schemas.microsoft.com/office/drawing/2014/main" id="{63266367-0269-1C2A-7383-1FCA46116F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1143000"/>
          <a:ext cx="8610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92280" imgH="419040" progId="Equation.3">
                  <p:embed/>
                </p:oleObj>
              </mc:Choice>
              <mc:Fallback>
                <p:oleObj name="Equation" r:id="rId2" imgW="4292280" imgH="4190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143000"/>
                        <a:ext cx="8610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>
            <a:extLst>
              <a:ext uri="{FF2B5EF4-FFF2-40B4-BE49-F238E27FC236}">
                <a16:creationId xmlns:a16="http://schemas.microsoft.com/office/drawing/2014/main" id="{157C4349-822A-A446-79C2-CF7062348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33400"/>
            <a:ext cx="9144000" cy="57261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For </a:t>
            </a:r>
            <a:r>
              <a:rPr lang="en-US" altLang="zh-CN" sz="36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36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2</a:t>
            </a:r>
            <a:r>
              <a:rPr lang="en-US" altLang="zh-CN" sz="36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 table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, there is a specific formula of chi-square calculation: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600" b="1"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8D1E6C56-42B3-C5E9-7BE3-A71C9EFE6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DA13BAEE-CF6D-3ACB-1C29-A3654B0F75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905000"/>
          <a:ext cx="6264275" cy="135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5500" imgH="444500" progId="Equation.3">
                  <p:embed/>
                </p:oleObj>
              </mc:Choice>
              <mc:Fallback>
                <p:oleObj name="公式" r:id="rId2" imgW="20955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94000" contrast="-7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905000"/>
                        <a:ext cx="6264275" cy="1355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7">
            <a:extLst>
              <a:ext uri="{FF2B5EF4-FFF2-40B4-BE49-F238E27FC236}">
                <a16:creationId xmlns:a16="http://schemas.microsoft.com/office/drawing/2014/main" id="{A9DE28F2-9338-6145-45ED-10AA095C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6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0729" name="Object 9">
            <a:extLst>
              <a:ext uri="{FF2B5EF4-FFF2-40B4-BE49-F238E27FC236}">
                <a16:creationId xmlns:a16="http://schemas.microsoft.com/office/drawing/2014/main" id="{F41B9E75-D279-C012-EF88-320FCD12AF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4419600"/>
          <a:ext cx="62484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419040" progId="Equation.3">
                  <p:embed/>
                </p:oleObj>
              </mc:Choice>
              <mc:Fallback>
                <p:oleObj name="Equation" r:id="rId4" imgW="2145960" imgH="419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419600"/>
                        <a:ext cx="624840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10">
            <a:extLst>
              <a:ext uri="{FF2B5EF4-FFF2-40B4-BE49-F238E27FC236}">
                <a16:creationId xmlns:a16="http://schemas.microsoft.com/office/drawing/2014/main" id="{B59972D3-EBC1-141A-70F9-FA5ECBE8F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429000"/>
            <a:ext cx="4206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To Example10-8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,</a:t>
            </a:r>
            <a:r>
              <a:rPr lang="en-US" altLang="zh-CN" sz="3200"/>
              <a:t>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>
            <a:extLst>
              <a:ext uri="{FF2B5EF4-FFF2-40B4-BE49-F238E27FC236}">
                <a16:creationId xmlns:a16="http://schemas.microsoft.com/office/drawing/2014/main" id="{A0578F30-CC93-5602-B0F1-CBDCCA025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3188" y="304800"/>
            <a:ext cx="8964612" cy="6400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        </a:t>
            </a: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Large sample is required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(1)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N </a:t>
            </a: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40,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b="1" i="1" baseline="-25000">
                <a:latin typeface="Batang" pitchFamily="18" charset="-127"/>
                <a:ea typeface="Batang" pitchFamily="18" charset="-127"/>
              </a:rPr>
              <a:t>i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5,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N </a:t>
            </a: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40</a:t>
            </a:r>
            <a:endParaRPr lang="en-US" altLang="zh-CN" b="1" i="1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(2)If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n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&lt; 40 or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b="1" i="1" baseline="-25000">
                <a:latin typeface="Batang" pitchFamily="18" charset="-127"/>
                <a:ea typeface="Batang" pitchFamily="18" charset="-127"/>
              </a:rPr>
              <a:t>i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&lt; 1,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test is not applicable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</a:rPr>
              <a:t>(3)If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N </a:t>
            </a: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40,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1</a:t>
            </a: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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T</a:t>
            </a:r>
            <a:r>
              <a:rPr lang="en-US" altLang="zh-CN" b="1" i="1" baseline="-25000">
                <a:latin typeface="Batang" pitchFamily="18" charset="-127"/>
                <a:ea typeface="Batang" pitchFamily="18" charset="-127"/>
              </a:rPr>
              <a:t>i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&lt; 5 , needs adjustment:</a:t>
            </a:r>
          </a:p>
        </p:txBody>
      </p:sp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D7138891-2301-B18E-C931-C7B699E4A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868863"/>
          <a:ext cx="5113338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44700" imgH="444500" progId="Equation.3">
                  <p:embed/>
                </p:oleObj>
              </mc:Choice>
              <mc:Fallback>
                <p:oleObj name="公式" r:id="rId2" imgW="2044700" imgH="444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0000" contrast="-70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868863"/>
                        <a:ext cx="5113338" cy="144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2" name="Object 8">
            <a:extLst>
              <a:ext uri="{FF2B5EF4-FFF2-40B4-BE49-F238E27FC236}">
                <a16:creationId xmlns:a16="http://schemas.microsoft.com/office/drawing/2014/main" id="{CEEA4C19-AC80-2547-C8D4-464582C47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3581400"/>
          <a:ext cx="80772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06560" imgH="469800" progId="Equation.3">
                  <p:embed/>
                </p:oleObj>
              </mc:Choice>
              <mc:Fallback>
                <p:oleObj name="Equation" r:id="rId4" imgW="280656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581400"/>
                        <a:ext cx="80772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3B7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1" name="Rectangle 133">
            <a:extLst>
              <a:ext uri="{FF2B5EF4-FFF2-40B4-BE49-F238E27FC236}">
                <a16:creationId xmlns:a16="http://schemas.microsoft.com/office/drawing/2014/main" id="{32366F11-4C40-13A0-3EAD-A2D046A4F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/>
          <a:lstStyle/>
          <a:p>
            <a:pPr algn="l"/>
            <a:r>
              <a:rPr lang="en-US" altLang="zh-CN" sz="3600">
                <a:solidFill>
                  <a:srgbClr val="FFCC00"/>
                </a:solidFill>
                <a:effectLst/>
                <a:latin typeface="Times New Roman" panose="02020603050405020304" pitchFamily="18" charset="0"/>
              </a:rPr>
              <a:t>Example</a:t>
            </a:r>
            <a:r>
              <a:rPr lang="en-US" altLang="zh-CN" sz="3600">
                <a:solidFill>
                  <a:srgbClr val="FFCC00"/>
                </a:solidFill>
                <a:effectLst/>
              </a:rPr>
              <a:t> </a:t>
            </a:r>
            <a:r>
              <a:rPr lang="en-US" altLang="zh-CN" sz="3200">
                <a:effectLst/>
              </a:rPr>
              <a:t>10-9</a:t>
            </a:r>
            <a:r>
              <a:rPr lang="en-US" altLang="zh-CN" sz="3600">
                <a:effectLst/>
              </a:rPr>
              <a:t> Hematosepsis</a:t>
            </a:r>
          </a:p>
        </p:txBody>
      </p:sp>
      <p:graphicFrame>
        <p:nvGraphicFramePr>
          <p:cNvPr id="32971" name="Group 203">
            <a:extLst>
              <a:ext uri="{FF2B5EF4-FFF2-40B4-BE49-F238E27FC236}">
                <a16:creationId xmlns:a16="http://schemas.microsoft.com/office/drawing/2014/main" id="{51B57BDD-E31B-18B8-9A95-665AE14C37B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0" y="914400"/>
          <a:ext cx="9144000" cy="2374900"/>
        </p:xfrm>
        <a:graphic>
          <a:graphicData uri="http://schemas.openxmlformats.org/drawingml/2006/table">
            <a:tbl>
              <a:tblPr/>
              <a:tblGrid>
                <a:gridCol w="1925638">
                  <a:extLst>
                    <a:ext uri="{9D8B030D-6E8A-4147-A177-3AD203B41FA5}">
                      <a16:colId xmlns:a16="http://schemas.microsoft.com/office/drawing/2014/main" val="4122291617"/>
                    </a:ext>
                  </a:extLst>
                </a:gridCol>
                <a:gridCol w="1735137">
                  <a:extLst>
                    <a:ext uri="{9D8B030D-6E8A-4147-A177-3AD203B41FA5}">
                      <a16:colId xmlns:a16="http://schemas.microsoft.com/office/drawing/2014/main" val="1850306143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495918426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1358940483"/>
                    </a:ext>
                  </a:extLst>
                </a:gridCol>
                <a:gridCol w="2005012">
                  <a:extLst>
                    <a:ext uri="{9D8B030D-6E8A-4147-A177-3AD203B41FA5}">
                      <a16:colId xmlns:a16="http://schemas.microsoft.com/office/drawing/2014/main" val="3123843784"/>
                    </a:ext>
                  </a:extLst>
                </a:gridCol>
              </a:tblGrid>
              <a:tr h="7921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Treatment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Effective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No effect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Effective rate (%)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296122"/>
                  </a:ext>
                </a:extLst>
              </a:tr>
              <a:tr h="5746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Drug 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 (26.09)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 (3.91)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93.33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22767"/>
                  </a:ext>
                </a:extLst>
              </a:tr>
              <a:tr h="5762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Drug 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 (13.91)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 (2.09)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75.00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8690"/>
                  </a:ext>
                </a:extLst>
              </a:tr>
              <a:tr h="1809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86.96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64168"/>
                  </a:ext>
                </a:extLst>
              </a:tr>
            </a:tbl>
          </a:graphicData>
        </a:graphic>
      </p:graphicFrame>
      <p:sp>
        <p:nvSpPr>
          <p:cNvPr id="32973" name="Rectangle 205">
            <a:extLst>
              <a:ext uri="{FF2B5EF4-FFF2-40B4-BE49-F238E27FC236}">
                <a16:creationId xmlns:a16="http://schemas.microsoft.com/office/drawing/2014/main" id="{5D8050DA-7B13-46D3-3E32-FC29636C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6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2976" name="Object 208">
            <a:extLst>
              <a:ext uri="{FF2B5EF4-FFF2-40B4-BE49-F238E27FC236}">
                <a16:creationId xmlns:a16="http://schemas.microsoft.com/office/drawing/2014/main" id="{702C0311-1951-B570-1128-649CAE7A75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3228975"/>
          <a:ext cx="7086600" cy="369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040" imgH="1536480" progId="Equation.3">
                  <p:embed/>
                </p:oleObj>
              </mc:Choice>
              <mc:Fallback>
                <p:oleObj name="Equation" r:id="rId2" imgW="2489040" imgH="1536480" progId="Equation.3">
                  <p:embed/>
                  <p:pic>
                    <p:nvPicPr>
                      <p:cNvPr id="0" name="Object 2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28975"/>
                        <a:ext cx="7086600" cy="369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3B7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DC7597B-63C6-BA4B-C86E-E88AA66AF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609600"/>
          </a:xfrm>
        </p:spPr>
        <p:txBody>
          <a:bodyPr/>
          <a:lstStyle/>
          <a:p>
            <a:pPr algn="l"/>
            <a:br>
              <a:rPr lang="en-US" altLang="zh-CN" sz="36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</a:br>
            <a:r>
              <a:rPr lang="en-US" altLang="zh-CN" sz="4000" b="1"/>
              <a:t>(3) </a:t>
            </a:r>
            <a:r>
              <a:rPr lang="en-US" altLang="zh-CN" sz="4000" b="1">
                <a:sym typeface="Symbol" panose="05050102010706020507" pitchFamily="18" charset="2"/>
              </a:rPr>
              <a:t></a:t>
            </a:r>
            <a:r>
              <a:rPr lang="en-US" altLang="zh-CN" sz="4000" b="1" baseline="30000"/>
              <a:t>2</a:t>
            </a:r>
            <a:r>
              <a:rPr lang="en-US" altLang="zh-CN" sz="4000" b="1"/>
              <a:t> test for paired 2</a:t>
            </a:r>
            <a:r>
              <a:rPr lang="en-US" altLang="zh-CN" sz="4000" b="1">
                <a:sym typeface="Symbol" panose="05050102010706020507" pitchFamily="18" charset="2"/>
              </a:rPr>
              <a:t></a:t>
            </a:r>
            <a:r>
              <a:rPr lang="en-US" altLang="zh-CN" sz="4000" b="1"/>
              <a:t>2   table</a:t>
            </a:r>
            <a:br>
              <a:rPr lang="en-US" altLang="zh-CN" sz="4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</a:br>
            <a:endParaRPr lang="en-US" altLang="zh-CN" sz="4800" b="1">
              <a:solidFill>
                <a:srgbClr val="FFCC00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6E91FA7-5294-074C-5544-CB90A9C9B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838200"/>
            <a:ext cx="9144000" cy="5797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 </a:t>
            </a:r>
            <a:r>
              <a:rPr kumimoji="0"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Example 10-10  Two diagnosis methods are used respectively for 53 cases of lung cancer.</a:t>
            </a:r>
            <a:r>
              <a:rPr lang="en-US" altLang="zh-CN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  </a:t>
            </a:r>
            <a:r>
              <a:rPr kumimoji="0" lang="en-US" altLang="zh-CN" sz="28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Question: Are the two positive rates equal?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solidFill>
                <a:schemeClr val="folHlink"/>
              </a:solidFill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600" b="1">
                <a:latin typeface="Batang" pitchFamily="18" charset="-127"/>
                <a:ea typeface="Batang" pitchFamily="18" charset="-127"/>
              </a:rPr>
              <a:t>  </a:t>
            </a:r>
          </a:p>
        </p:txBody>
      </p:sp>
      <p:graphicFrame>
        <p:nvGraphicFramePr>
          <p:cNvPr id="35844" name="Group 4">
            <a:extLst>
              <a:ext uri="{FF2B5EF4-FFF2-40B4-BE49-F238E27FC236}">
                <a16:creationId xmlns:a16="http://schemas.microsoft.com/office/drawing/2014/main" id="{BB69A029-D43B-9227-6369-8EE6137CE330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2590800"/>
          <a:ext cx="8839200" cy="2724150"/>
        </p:xfrm>
        <a:graphic>
          <a:graphicData uri="http://schemas.openxmlformats.org/drawingml/2006/table">
            <a:tbl>
              <a:tblPr/>
              <a:tblGrid>
                <a:gridCol w="2074863">
                  <a:extLst>
                    <a:ext uri="{9D8B030D-6E8A-4147-A177-3AD203B41FA5}">
                      <a16:colId xmlns:a16="http://schemas.microsoft.com/office/drawing/2014/main" val="369593929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31212415"/>
                    </a:ext>
                  </a:extLst>
                </a:gridCol>
                <a:gridCol w="2074862">
                  <a:extLst>
                    <a:ext uri="{9D8B030D-6E8A-4147-A177-3AD203B41FA5}">
                      <a16:colId xmlns:a16="http://schemas.microsoft.com/office/drawing/2014/main" val="2936653399"/>
                    </a:ext>
                  </a:extLst>
                </a:gridCol>
                <a:gridCol w="2613025">
                  <a:extLst>
                    <a:ext uri="{9D8B030D-6E8A-4147-A177-3AD203B41FA5}">
                      <a16:colId xmlns:a16="http://schemas.microsoft.com/office/drawing/2014/main" val="2136414133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 A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 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46553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315223"/>
                  </a:ext>
                </a:extLst>
              </a:tr>
              <a:tr h="428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25(a)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2(b)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7213"/>
                  </a:ext>
                </a:extLst>
              </a:tr>
              <a:tr h="638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11(c)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15(d)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488529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38151"/>
                  </a:ext>
                </a:extLst>
              </a:tr>
            </a:tbl>
          </a:graphicData>
        </a:graphic>
      </p:graphicFrame>
      <p:sp>
        <p:nvSpPr>
          <p:cNvPr id="35878" name="Rectangle 38">
            <a:extLst>
              <a:ext uri="{FF2B5EF4-FFF2-40B4-BE49-F238E27FC236}">
                <a16:creationId xmlns:a16="http://schemas.microsoft.com/office/drawing/2014/main" id="{3016B683-6EDF-C483-D140-B5677A9B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10200"/>
            <a:ext cx="8991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3600">
                <a:effectLst>
                  <a:outerShdw blurRad="38100" dist="38100" dir="2700000" algn="tl">
                    <a:srgbClr val="000000"/>
                  </a:outerShdw>
                </a:effectLst>
              </a:rPr>
              <a:t>Note:The two samples are not independent</a:t>
            </a:r>
            <a:br>
              <a:rPr kumimoji="0" lang="en-US" altLang="zh-CN" sz="360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kumimoji="0" lang="en-US" altLang="zh-CN" sz="3600">
                <a:effectLst>
                  <a:outerShdw blurRad="38100" dist="38100" dir="2700000" algn="tl">
                    <a:srgbClr val="000000"/>
                  </a:outerShdw>
                </a:effectLst>
              </a:rPr>
              <a:t>    --The above </a:t>
            </a:r>
            <a:r>
              <a:rPr kumimoji="0" lang="en-US" altLang="zh-CN" sz="3600">
                <a:effectLst>
                  <a:outerShdw blurRad="38100" dist="38100" dir="2700000" algn="tl">
                    <a:srgbClr val="000000"/>
                  </a:outerShdw>
                </a:effectLst>
                <a:sym typeface="Symbol" panose="05050102010706020507" pitchFamily="18" charset="2"/>
              </a:rPr>
              <a:t></a:t>
            </a:r>
            <a:r>
              <a:rPr kumimoji="0" lang="en-US" altLang="zh-CN" sz="3600" baseline="300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kumimoji="0" lang="en-US" altLang="zh-CN" sz="3600">
                <a:effectLst>
                  <a:outerShdw blurRad="38100" dist="38100" dir="2700000" algn="tl">
                    <a:srgbClr val="000000"/>
                  </a:outerShdw>
                </a:effectLst>
              </a:rPr>
              <a:t> test does not work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02" name="Group 186">
            <a:extLst>
              <a:ext uri="{FF2B5EF4-FFF2-40B4-BE49-F238E27FC236}">
                <a16:creationId xmlns:a16="http://schemas.microsoft.com/office/drawing/2014/main" id="{9D535A0A-76F7-723D-E2B6-D2425645E66D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143000"/>
          <a:ext cx="8458200" cy="2724150"/>
        </p:xfrm>
        <a:graphic>
          <a:graphicData uri="http://schemas.openxmlformats.org/drawingml/2006/table">
            <a:tbl>
              <a:tblPr/>
              <a:tblGrid>
                <a:gridCol w="1985963">
                  <a:extLst>
                    <a:ext uri="{9D8B030D-6E8A-4147-A177-3AD203B41FA5}">
                      <a16:colId xmlns:a16="http://schemas.microsoft.com/office/drawing/2014/main" val="2618448123"/>
                    </a:ext>
                  </a:extLst>
                </a:gridCol>
                <a:gridCol w="1985962">
                  <a:extLst>
                    <a:ext uri="{9D8B030D-6E8A-4147-A177-3AD203B41FA5}">
                      <a16:colId xmlns:a16="http://schemas.microsoft.com/office/drawing/2014/main" val="1875502510"/>
                    </a:ext>
                  </a:extLst>
                </a:gridCol>
                <a:gridCol w="1985963">
                  <a:extLst>
                    <a:ext uri="{9D8B030D-6E8A-4147-A177-3AD203B41FA5}">
                      <a16:colId xmlns:a16="http://schemas.microsoft.com/office/drawing/2014/main" val="3054572467"/>
                    </a:ext>
                  </a:extLst>
                </a:gridCol>
                <a:gridCol w="2500312">
                  <a:extLst>
                    <a:ext uri="{9D8B030D-6E8A-4147-A177-3AD203B41FA5}">
                      <a16:colId xmlns:a16="http://schemas.microsoft.com/office/drawing/2014/main" val="1910934269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 A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Method B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376189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389811"/>
                  </a:ext>
                </a:extLst>
              </a:tr>
              <a:tr h="4286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25(a)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2(b)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197085"/>
                  </a:ext>
                </a:extLst>
              </a:tr>
              <a:tr h="6381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11(c)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15(d)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088475"/>
                  </a:ext>
                </a:extLst>
              </a:tr>
              <a:tr h="1809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Total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36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</a:t>
                      </a:r>
                      <a:endParaRPr kumimoji="1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665998"/>
                  </a:ext>
                </a:extLst>
              </a:tr>
            </a:tbl>
          </a:graphicData>
        </a:graphic>
      </p:graphicFrame>
      <p:sp>
        <p:nvSpPr>
          <p:cNvPr id="34995" name="Rectangle 179">
            <a:extLst>
              <a:ext uri="{FF2B5EF4-FFF2-40B4-BE49-F238E27FC236}">
                <a16:creationId xmlns:a16="http://schemas.microsoft.com/office/drawing/2014/main" id="{70ECD653-70F6-B6E5-1844-F7F2E6E86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6200"/>
            <a:ext cx="9144000" cy="284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sz="2800" b="1">
                <a:latin typeface="Batang" pitchFamily="18" charset="-127"/>
                <a:ea typeface="Batang" pitchFamily="18" charset="-127"/>
              </a:rPr>
              <a:t>Question: Are the two positive rates equal?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Basic idea:</a:t>
            </a:r>
            <a:r>
              <a:rPr kumimoji="0"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</a:t>
            </a: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Comparing</a:t>
            </a:r>
            <a:r>
              <a:rPr kumimoji="0" lang="en-US" altLang="zh-CN" sz="28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        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and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Equivalent to</a:t>
            </a:r>
            <a:r>
              <a:rPr kumimoji="0" lang="en-US" altLang="zh-CN" sz="28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                Comparing</a:t>
            </a:r>
            <a:r>
              <a:rPr kumimoji="0" lang="en-US" altLang="zh-CN" sz="28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“2” </a:t>
            </a:r>
            <a:r>
              <a:rPr kumimoji="0" lang="en-US" altLang="zh-CN" sz="28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    </a:t>
            </a: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and     “11”</a:t>
            </a:r>
          </a:p>
          <a:p>
            <a:r>
              <a:rPr kumimoji="0"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Given 13 patients, do they fall in the two cells with equal chance? </a:t>
            </a:r>
          </a:p>
        </p:txBody>
      </p:sp>
      <p:sp>
        <p:nvSpPr>
          <p:cNvPr id="34996" name="Rectangle 180">
            <a:extLst>
              <a:ext uri="{FF2B5EF4-FFF2-40B4-BE49-F238E27FC236}">
                <a16:creationId xmlns:a16="http://schemas.microsoft.com/office/drawing/2014/main" id="{293E8FF9-CB22-878E-6033-85E28F4C3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chemeClr val="folHlink"/>
                </a:solidFill>
                <a:latin typeface="Batang" pitchFamily="18" charset="-127"/>
                <a:ea typeface="Batang" pitchFamily="18" charset="-127"/>
              </a:rPr>
              <a:t>Example 10-10  Two diagnosis methods are used respectively for 53 cases of lung cancer.</a:t>
            </a:r>
            <a:endParaRPr lang="en-US" altLang="zh-CN" sz="3200" b="1">
              <a:latin typeface="Batang" pitchFamily="18" charset="-127"/>
              <a:ea typeface="Batang" pitchFamily="18" charset="-127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None/>
            </a:pPr>
            <a:endParaRPr kumimoji="0" lang="en-US" altLang="zh-CN" sz="3200" b="1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</a:endParaRPr>
          </a:p>
        </p:txBody>
      </p:sp>
      <p:graphicFrame>
        <p:nvGraphicFramePr>
          <p:cNvPr id="35004" name="Object 188">
            <a:extLst>
              <a:ext uri="{FF2B5EF4-FFF2-40B4-BE49-F238E27FC236}">
                <a16:creationId xmlns:a16="http://schemas.microsoft.com/office/drawing/2014/main" id="{F7CA2E3E-05F4-A3F7-8898-07FD0A9204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343400"/>
          <a:ext cx="16002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760" imgH="393480" progId="Equation.3">
                  <p:embed/>
                </p:oleObj>
              </mc:Choice>
              <mc:Fallback>
                <p:oleObj name="Equation" r:id="rId2" imgW="761760" imgH="393480" progId="Equation.3">
                  <p:embed/>
                  <p:pic>
                    <p:nvPicPr>
                      <p:cNvPr id="0" name="Object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343400"/>
                        <a:ext cx="16002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05" name="Object 189">
            <a:extLst>
              <a:ext uri="{FF2B5EF4-FFF2-40B4-BE49-F238E27FC236}">
                <a16:creationId xmlns:a16="http://schemas.microsoft.com/office/drawing/2014/main" id="{67E477C3-C4F1-7B4A-EC19-7D801F647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4267200"/>
          <a:ext cx="17526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520" imgH="393480" progId="Equation.3">
                  <p:embed/>
                </p:oleObj>
              </mc:Choice>
              <mc:Fallback>
                <p:oleObj name="Equation" r:id="rId4" imgW="812520" imgH="393480" progId="Equation.3">
                  <p:embed/>
                  <p:pic>
                    <p:nvPicPr>
                      <p:cNvPr id="0" name="Object 1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267200"/>
                        <a:ext cx="17526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>
            <a:extLst>
              <a:ext uri="{FF2B5EF4-FFF2-40B4-BE49-F238E27FC236}">
                <a16:creationId xmlns:a16="http://schemas.microsoft.com/office/drawing/2014/main" id="{5D24738F-446F-9B04-9EFE-9BF783785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629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0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: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=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: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1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≠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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,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α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=0.05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When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b="1" baseline="-25000">
                <a:latin typeface="Batang" pitchFamily="18" charset="-127"/>
                <a:ea typeface="Batang" pitchFamily="18" charset="-127"/>
              </a:rPr>
              <a:t>0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is true,</a:t>
            </a:r>
            <a:r>
              <a:rPr lang="en-US" altLang="zh-CN" sz="28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  For large sample (b+c&gt;40)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Otherwise, needs adjustment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If 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the </a:t>
            </a:r>
            <a:r>
              <a:rPr lang="en-US" altLang="zh-CN" b="1" i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b="1" baseline="30000"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b="1">
                <a:latin typeface="Batang" pitchFamily="18" charset="-127"/>
                <a:ea typeface="Batang" pitchFamily="18" charset="-127"/>
              </a:rPr>
              <a:t> value is</a:t>
            </a:r>
            <a:r>
              <a:rPr lang="en-US" altLang="zh-CN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too big, then reject </a:t>
            </a:r>
            <a:r>
              <a:rPr lang="en-US" altLang="zh-CN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b="1" baseline="-25000">
                <a:latin typeface="Batang" pitchFamily="18" charset="-127"/>
                <a:ea typeface="Batang" pitchFamily="18" charset="-127"/>
              </a:rPr>
              <a:t>0</a:t>
            </a:r>
            <a:r>
              <a:rPr lang="en-US" altLang="zh-CN" sz="2800" b="1"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 </a:t>
            </a:r>
          </a:p>
        </p:txBody>
      </p:sp>
      <p:graphicFrame>
        <p:nvGraphicFramePr>
          <p:cNvPr id="36872" name="Object 8">
            <a:extLst>
              <a:ext uri="{FF2B5EF4-FFF2-40B4-BE49-F238E27FC236}">
                <a16:creationId xmlns:a16="http://schemas.microsoft.com/office/drawing/2014/main" id="{A937682B-9BD4-7190-305F-E15450760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533400"/>
          <a:ext cx="12954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215640" progId="Equation.3">
                  <p:embed/>
                </p:oleObj>
              </mc:Choice>
              <mc:Fallback>
                <p:oleObj name="Equation" r:id="rId2" imgW="41904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"/>
                        <a:ext cx="12954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85EF1F3C-8565-8BAD-4207-3FDEC28868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533400"/>
          <a:ext cx="1219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215640" progId="Equation.3">
                  <p:embed/>
                </p:oleObj>
              </mc:Choice>
              <mc:Fallback>
                <p:oleObj name="Equation" r:id="rId4" imgW="431640" imgH="215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33400"/>
                        <a:ext cx="1219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1FD0C566-635C-9E18-5B3F-7D331DB2B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990600"/>
          <a:ext cx="22860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1440" imgH="393480" progId="Equation.3">
                  <p:embed/>
                </p:oleObj>
              </mc:Choice>
              <mc:Fallback>
                <p:oleObj name="Equation" r:id="rId6" imgW="90144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990600"/>
                        <a:ext cx="22860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5" name="Object 11">
            <a:extLst>
              <a:ext uri="{FF2B5EF4-FFF2-40B4-BE49-F238E27FC236}">
                <a16:creationId xmlns:a16="http://schemas.microsoft.com/office/drawing/2014/main" id="{84B48E9F-A2C3-BE92-2FDF-5DFF8544C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393950"/>
          <a:ext cx="6477000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52400" imgH="761760" progId="Equation.3">
                  <p:embed/>
                </p:oleObj>
              </mc:Choice>
              <mc:Fallback>
                <p:oleObj name="Equation" r:id="rId8" imgW="2552400" imgH="7617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393950"/>
                        <a:ext cx="6477000" cy="19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6" name="Object 12">
            <a:extLst>
              <a:ext uri="{FF2B5EF4-FFF2-40B4-BE49-F238E27FC236}">
                <a16:creationId xmlns:a16="http://schemas.microsoft.com/office/drawing/2014/main" id="{2822B46E-C0F0-C5C6-3AA1-8896865E6D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876800"/>
          <a:ext cx="28194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431640" progId="Equation.3">
                  <p:embed/>
                </p:oleObj>
              </mc:Choice>
              <mc:Fallback>
                <p:oleObj name="Equation" r:id="rId10" imgW="1066680" imgH="43164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76800"/>
                        <a:ext cx="28194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E5A6BC9-6D6D-E0B2-0952-4CBA3B84C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b="1">
                <a:solidFill>
                  <a:srgbClr val="FFCC00"/>
                </a:solidFill>
                <a:effectLst/>
                <a:latin typeface="Batang" pitchFamily="18" charset="-127"/>
                <a:ea typeface="Batang" pitchFamily="18" charset="-127"/>
              </a:rPr>
              <a:t>Example10-10</a:t>
            </a:r>
            <a:r>
              <a:rPr lang="en-US" altLang="zh-CN" sz="3600" b="1">
                <a:solidFill>
                  <a:srgbClr val="00FF00"/>
                </a:solidFill>
                <a:effectLst/>
                <a:latin typeface="Batang" pitchFamily="18" charset="-127"/>
                <a:ea typeface="Batang" pitchFamily="18" charset="-127"/>
              </a:rPr>
              <a:t>: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8E696B3D-89AA-0997-30F9-AFAB49C23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00200"/>
            <a:ext cx="9144000" cy="472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kumimoji="0" lang="en-US" altLang="zh-CN" sz="3600" b="1"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kumimoji="0" lang="en-US" altLang="zh-CN" sz="3600" b="1">
              <a:solidFill>
                <a:srgbClr val="00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6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</a:t>
            </a: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=1, </a:t>
            </a: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4.92&gt;</a:t>
            </a: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3.84, </a:t>
            </a:r>
            <a:r>
              <a:rPr kumimoji="0" lang="en-US" altLang="zh-CN" sz="36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P</a:t>
            </a: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&lt;0.05, </a:t>
            </a:r>
            <a:r>
              <a:rPr kumimoji="0" lang="en-US" altLang="zh-CN" sz="36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H</a:t>
            </a:r>
            <a:r>
              <a:rPr kumimoji="0" lang="en-US" altLang="zh-CN" sz="3600" b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0</a:t>
            </a:r>
            <a:r>
              <a:rPr kumimoji="0" lang="en-US" altLang="zh-CN" sz="36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is rejected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Conclusion: There is significant difference in positive rates between the two diagnosis methods. </a:t>
            </a:r>
          </a:p>
          <a:p>
            <a:pPr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kumimoji="0"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    Since </a:t>
            </a:r>
            <a:r>
              <a:rPr kumimoji="0" lang="en-US" altLang="zh-CN" sz="32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P</a:t>
            </a:r>
            <a:r>
              <a:rPr kumimoji="0" lang="en-US" altLang="zh-CN" sz="3200" b="1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A</a:t>
            </a:r>
            <a:r>
              <a:rPr kumimoji="0"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&lt; </a:t>
            </a:r>
            <a:r>
              <a:rPr kumimoji="0" lang="en-US" altLang="zh-CN" sz="3200" b="1" i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P</a:t>
            </a:r>
            <a:r>
              <a:rPr kumimoji="0" lang="en-US" altLang="zh-CN" sz="3200" b="1" i="1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B</a:t>
            </a:r>
            <a:r>
              <a:rPr kumimoji="0" lang="en-US" altLang="zh-CN" sz="3200" b="1">
                <a:effectLst>
                  <a:outerShdw blurRad="38100" dist="38100" dir="2700000" algn="tl">
                    <a:srgbClr val="000000"/>
                  </a:outerShdw>
                </a:effectLst>
                <a:latin typeface="Batang" pitchFamily="18" charset="-127"/>
                <a:ea typeface="Batang" pitchFamily="18" charset="-127"/>
              </a:rPr>
              <a:t> , method B is better.</a:t>
            </a:r>
          </a:p>
        </p:txBody>
      </p:sp>
      <p:graphicFrame>
        <p:nvGraphicFramePr>
          <p:cNvPr id="51205" name="Object 5">
            <a:extLst>
              <a:ext uri="{FF2B5EF4-FFF2-40B4-BE49-F238E27FC236}">
                <a16:creationId xmlns:a16="http://schemas.microsoft.com/office/drawing/2014/main" id="{924E4FB9-A9E2-FDCC-83FB-618A032372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1755775"/>
          <a:ext cx="36576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431640" progId="Equation.3">
                  <p:embed/>
                </p:oleObj>
              </mc:Choice>
              <mc:Fallback>
                <p:oleObj name="Equation" r:id="rId2" imgW="1549080" imgH="4316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755775"/>
                        <a:ext cx="36576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68" name="Rectangle 156">
            <a:extLst>
              <a:ext uri="{FF2B5EF4-FFF2-40B4-BE49-F238E27FC236}">
                <a16:creationId xmlns:a16="http://schemas.microsoft.com/office/drawing/2014/main" id="{D140380F-8005-C39F-F619-4373804AF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762000"/>
          </a:xfrm>
        </p:spPr>
        <p:txBody>
          <a:bodyPr/>
          <a:lstStyle/>
          <a:p>
            <a:r>
              <a:rPr lang="en-US" altLang="zh-CN" sz="4000" b="1"/>
              <a:t>(4)Chi-square test for R</a:t>
            </a:r>
            <a:r>
              <a:rPr lang="en-US" altLang="zh-CN" sz="4000" b="1">
                <a:sym typeface="Symbol" panose="05050102010706020507" pitchFamily="18" charset="2"/>
              </a:rPr>
              <a:t></a:t>
            </a:r>
            <a:r>
              <a:rPr lang="en-US" altLang="zh-CN" sz="4000" b="1"/>
              <a:t>C table</a:t>
            </a:r>
          </a:p>
        </p:txBody>
      </p:sp>
      <p:graphicFrame>
        <p:nvGraphicFramePr>
          <p:cNvPr id="39132" name="Object 220">
            <a:extLst>
              <a:ext uri="{FF2B5EF4-FFF2-40B4-BE49-F238E27FC236}">
                <a16:creationId xmlns:a16="http://schemas.microsoft.com/office/drawing/2014/main" id="{5527C7F9-DE7B-2274-61D7-A32FC12FE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685800"/>
          <a:ext cx="9220200" cy="373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20880" imgH="1814760" progId="Word.Document.8">
                  <p:embed/>
                </p:oleObj>
              </mc:Choice>
              <mc:Fallback>
                <p:oleObj name="Document" r:id="rId2" imgW="5420880" imgH="1814760" progId="Word.Document.8">
                  <p:embed/>
                  <p:pic>
                    <p:nvPicPr>
                      <p:cNvPr id="0" name="Object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85800"/>
                        <a:ext cx="9220200" cy="3733800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33" name="Object 221">
            <a:extLst>
              <a:ext uri="{FF2B5EF4-FFF2-40B4-BE49-F238E27FC236}">
                <a16:creationId xmlns:a16="http://schemas.microsoft.com/office/drawing/2014/main" id="{FD7FB529-0E53-9D38-96B6-49C60FDB54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4651375"/>
          <a:ext cx="914400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267160" imgH="1189080" progId="Word.Document.8">
                  <p:embed/>
                </p:oleObj>
              </mc:Choice>
              <mc:Fallback>
                <p:oleObj name="Document" r:id="rId4" imgW="5267160" imgH="1189080" progId="Word.Document.8">
                  <p:embed/>
                  <p:pic>
                    <p:nvPicPr>
                      <p:cNvPr id="0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51375"/>
                        <a:ext cx="9144000" cy="206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5" name="Rectangle 5">
            <a:extLst>
              <a:ext uri="{FF2B5EF4-FFF2-40B4-BE49-F238E27FC236}">
                <a16:creationId xmlns:a16="http://schemas.microsoft.com/office/drawing/2014/main" id="{3CB534FD-26D1-C52D-B7CF-73A936B91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71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B0048D53-4BB1-C7FF-45C4-5E5F9758F1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81000"/>
          <a:ext cx="17526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6560" imgH="393480" progId="Equation.3">
                  <p:embed/>
                </p:oleObj>
              </mc:Choice>
              <mc:Fallback>
                <p:oleObj name="Equation" r:id="rId2" imgW="73656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"/>
                        <a:ext cx="17526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>
            <a:extLst>
              <a:ext uri="{FF2B5EF4-FFF2-40B4-BE49-F238E27FC236}">
                <a16:creationId xmlns:a16="http://schemas.microsoft.com/office/drawing/2014/main" id="{477BD9D2-8E6B-65A9-6262-92F2544252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1200" y="1676400"/>
          <a:ext cx="54864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36760" imgH="457200" progId="Equation.3">
                  <p:embed/>
                </p:oleObj>
              </mc:Choice>
              <mc:Fallback>
                <p:oleObj name="Equation" r:id="rId4" imgW="2336760" imgH="457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76400"/>
                        <a:ext cx="54864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33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3B7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1" name="Rectangle 11">
            <a:extLst>
              <a:ext uri="{FF2B5EF4-FFF2-40B4-BE49-F238E27FC236}">
                <a16:creationId xmlns:a16="http://schemas.microsoft.com/office/drawing/2014/main" id="{F3EB439A-6FE3-0F98-C768-464E7E2F8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0"/>
            <a:ext cx="8153400" cy="312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To calculate theoretical frequencies</a:t>
            </a:r>
            <a:endParaRPr kumimoji="0" lang="en-US" altLang="zh-CN" sz="2800" b="1"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en-US" altLang="zh-CN" sz="2800" b="1">
              <a:effectLst>
                <a:outerShdw blurRad="38100" dist="38100" dir="2700000" algn="tl">
                  <a:srgbClr val="000000"/>
                </a:outerShdw>
              </a:effectLst>
              <a:ea typeface="Batang" pitchFamily="18" charset="-127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To compare A and T by statistic </a:t>
            </a: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kumimoji="0" lang="en-US" altLang="zh-CN" sz="2800" b="1" baseline="30000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2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en-US" altLang="zh-CN" sz="2800" b="1" baseline="30000">
              <a:effectLst>
                <a:outerShdw blurRad="38100" dist="38100" dir="2700000" algn="tl">
                  <a:srgbClr val="000000"/>
                </a:outerShdw>
              </a:effectLst>
              <a:ea typeface="Batang" pitchFamily="18" charset="-127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endParaRPr kumimoji="0" lang="en-US" altLang="zh-CN" sz="3200" b="1" baseline="30000">
              <a:effectLst>
                <a:outerShdw blurRad="38100" dist="38100" dir="2700000" algn="tl">
                  <a:srgbClr val="000000"/>
                </a:outerShdw>
              </a:effectLst>
              <a:latin typeface="Batang" pitchFamily="18" charset="-127"/>
              <a:ea typeface="Batang" pitchFamily="18" charset="-127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0" lang="en-US" altLang="zh-CN" sz="2800" b="1">
                <a:effectLst>
                  <a:outerShdw blurRad="38100" dist="38100" dir="2700000" algn="tl">
                    <a:srgbClr val="000000"/>
                  </a:outerShdw>
                </a:effectLst>
                <a:ea typeface="Batang" pitchFamily="18" charset="-127"/>
              </a:rPr>
              <a:t> Specific formula</a:t>
            </a:r>
          </a:p>
        </p:txBody>
      </p:sp>
      <p:graphicFrame>
        <p:nvGraphicFramePr>
          <p:cNvPr id="40972" name="Object 12">
            <a:extLst>
              <a:ext uri="{FF2B5EF4-FFF2-40B4-BE49-F238E27FC236}">
                <a16:creationId xmlns:a16="http://schemas.microsoft.com/office/drawing/2014/main" id="{05E066EC-90B9-72D5-1FD4-9F5B56BFED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819400"/>
          <a:ext cx="3352800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2680" imgH="482400" progId="Equation.3">
                  <p:embed/>
                </p:oleObj>
              </mc:Choice>
              <mc:Fallback>
                <p:oleObj name="Equation" r:id="rId6" imgW="1282680" imgH="4824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819400"/>
                        <a:ext cx="3352800" cy="1262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Object 13">
            <a:extLst>
              <a:ext uri="{FF2B5EF4-FFF2-40B4-BE49-F238E27FC236}">
                <a16:creationId xmlns:a16="http://schemas.microsoft.com/office/drawing/2014/main" id="{64B68B12-F973-9052-0E9F-245BE7DEC6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4114800"/>
          <a:ext cx="8991600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81280" imgH="507960" progId="Equation.3">
                  <p:embed/>
                </p:oleObj>
              </mc:Choice>
              <mc:Fallback>
                <p:oleObj name="Equation" r:id="rId8" imgW="3581280" imgH="50796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114800"/>
                        <a:ext cx="8991600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4" name="Object 14">
            <a:extLst>
              <a:ext uri="{FF2B5EF4-FFF2-40B4-BE49-F238E27FC236}">
                <a16:creationId xmlns:a16="http://schemas.microsoft.com/office/drawing/2014/main" id="{CA3CFD36-A75D-3C20-89EE-17CB449405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228600" y="5105400"/>
          <a:ext cx="105918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5274360" imgH="594360" progId="Word.Document.8">
                  <p:embed/>
                </p:oleObj>
              </mc:Choice>
              <mc:Fallback>
                <p:oleObj name="Document" r:id="rId10" imgW="5274360" imgH="594360" progId="Word.Document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28600" y="5105400"/>
                        <a:ext cx="105918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EE152ACF-E9BC-B064-4661-135761254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Caution: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   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(1) Either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2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2  table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or </a:t>
            </a:r>
            <a:r>
              <a:rPr lang="en-US" altLang="zh-CN" sz="2800" b="1" i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R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</a:t>
            </a:r>
            <a:r>
              <a:rPr lang="en-US" altLang="zh-CN" sz="2800" b="1" i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C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 table are all called contingency table. 2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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2  table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is a special case of</a:t>
            </a: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</a:t>
            </a:r>
            <a:r>
              <a:rPr lang="en-US" altLang="zh-CN" sz="2800" b="1" i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R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  <a:sym typeface="Symbol" panose="05050102010706020507" pitchFamily="18" charset="2"/>
              </a:rPr>
              <a:t></a:t>
            </a:r>
            <a:r>
              <a:rPr lang="en-US" altLang="zh-CN" sz="2800" b="1" i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C</a:t>
            </a:r>
            <a:r>
              <a:rPr lang="en-US" altLang="zh-CN" sz="2800" b="1">
                <a:solidFill>
                  <a:srgbClr val="FFCC00"/>
                </a:solidFill>
                <a:latin typeface="Batang" pitchFamily="18" charset="-127"/>
                <a:ea typeface="Batang" pitchFamily="18" charset="-127"/>
              </a:rPr>
              <a:t> table </a:t>
            </a:r>
            <a:endParaRPr lang="en-US" altLang="zh-CN" sz="2800" b="1">
              <a:solidFill>
                <a:srgbClr val="00FF00"/>
              </a:solidFill>
              <a:latin typeface="Batang" pitchFamily="18" charset="-127"/>
              <a:ea typeface="Batang" pitchFamily="18" charset="-127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   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(2) When 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R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&gt;2, “</a:t>
            </a:r>
            <a:r>
              <a:rPr lang="en-US" altLang="zh-CN" sz="2800" b="1" i="1">
                <a:latin typeface="Batang" pitchFamily="18" charset="-127"/>
                <a:ea typeface="Batang" pitchFamily="18" charset="-127"/>
              </a:rPr>
              <a:t>H</a:t>
            </a:r>
            <a:r>
              <a:rPr lang="en-US" altLang="zh-CN" sz="2800" b="1" baseline="-25000">
                <a:latin typeface="Batang" pitchFamily="18" charset="-127"/>
                <a:ea typeface="Batang" pitchFamily="18" charset="-127"/>
              </a:rPr>
              <a:t>0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is rejected”only means there is difference among some groups. Does not necessary mean that all the groups are different.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     (3) </a:t>
            </a: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The</a:t>
            </a:r>
            <a:r>
              <a:rPr lang="en-US" altLang="zh-CN" sz="2800" b="1">
                <a:solidFill>
                  <a:srgbClr val="00FF00"/>
                </a:solidFill>
                <a:ea typeface="Batang" pitchFamily="18" charset="-127"/>
              </a:rPr>
              <a:t> </a:t>
            </a: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  <a:sym typeface="Symbol" panose="05050102010706020507" pitchFamily="18" charset="2"/>
              </a:rPr>
              <a:t></a:t>
            </a:r>
            <a:r>
              <a:rPr lang="en-US" altLang="zh-CN" sz="2800" b="1" baseline="30000">
                <a:solidFill>
                  <a:schemeClr val="folHlink"/>
                </a:solidFill>
                <a:ea typeface="Batang" pitchFamily="18" charset="-127"/>
              </a:rPr>
              <a:t>2 </a:t>
            </a: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test requires large sample 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    By experience, </a:t>
            </a:r>
          </a:p>
          <a:p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The theoretical frequencies should be greater than 5 in more than 4/5  cells;</a:t>
            </a:r>
          </a:p>
          <a:p>
            <a:r>
              <a:rPr lang="en-US" altLang="zh-CN" sz="2800" b="1">
                <a:solidFill>
                  <a:schemeClr val="folHlink"/>
                </a:solidFill>
                <a:ea typeface="Batang" pitchFamily="18" charset="-127"/>
              </a:rPr>
              <a:t>The theoretical frequency in any cell should be greater than 1.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FF00"/>
                </a:solidFill>
                <a:latin typeface="Batang" pitchFamily="18" charset="-127"/>
                <a:ea typeface="Batang" pitchFamily="18" charset="-127"/>
              </a:rPr>
              <a:t>   </a:t>
            </a:r>
            <a:r>
              <a:rPr lang="en-US" altLang="zh-CN" sz="2800" b="1">
                <a:latin typeface="Batang" pitchFamily="18" charset="-127"/>
                <a:ea typeface="Batang" pitchFamily="18" charset="-127"/>
              </a:rPr>
              <a:t>Otherwise, we can not use chi-square test directly.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6BAE050-E50B-DE86-F230-F30E56559B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3810000"/>
          </a:xfrm>
        </p:spPr>
        <p:txBody>
          <a:bodyPr/>
          <a:lstStyle/>
          <a:p>
            <a:pPr algn="l"/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If the above requirements are violated, 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what should we do?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(1) Increase the sample size.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(2) Re-organize the categories, 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          Pool some categories,  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or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</a:rPr>
              <a:t>          Cancel some categories</a:t>
            </a:r>
          </a:p>
        </p:txBody>
      </p:sp>
      <p:sp>
        <p:nvSpPr>
          <p:cNvPr id="44037" name="Text Box 5">
            <a:extLst>
              <a:ext uri="{FF2B5EF4-FFF2-40B4-BE49-F238E27FC236}">
                <a16:creationId xmlns:a16="http://schemas.microsoft.com/office/drawing/2014/main" id="{1AE1F592-AC0B-E92F-13BD-8949D1781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73225"/>
            <a:ext cx="7848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kumimoji="0" lang="zh-CN" altLang="zh-CN" sz="2000">
              <a:latin typeface="Verdana" panose="020B0604030504040204" pitchFamily="34" charset="0"/>
            </a:endParaRPr>
          </a:p>
        </p:txBody>
      </p:sp>
      <p:sp>
        <p:nvSpPr>
          <p:cNvPr id="44038" name="Text Box 6">
            <a:extLst>
              <a:ext uri="{FF2B5EF4-FFF2-40B4-BE49-F238E27FC236}">
                <a16:creationId xmlns:a16="http://schemas.microsoft.com/office/drawing/2014/main" id="{8C0DD6E3-5697-375D-EEC3-216C22472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19600"/>
            <a:ext cx="9144000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3600" b="1"/>
              <a:t>  Think:  In fact, it is not appropriate to use a Chi-square test for Example 10-10 in the textbook. Why?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>
            <a:extLst>
              <a:ext uri="{FF2B5EF4-FFF2-40B4-BE49-F238E27FC236}">
                <a16:creationId xmlns:a16="http://schemas.microsoft.com/office/drawing/2014/main" id="{A4B19749-6765-5E9F-917A-94C1BCA9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2743200"/>
            <a:ext cx="5492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endParaRPr lang="zh-CN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校门">
  <a:themeElements>
    <a:clrScheme name="校门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校门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校门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校门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校门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Settings\jeff\Application Data\Microsoft\Templates\校门.pot</Template>
  <TotalTime>1388</TotalTime>
  <Words>2249</Words>
  <Application>Microsoft Office PowerPoint</Application>
  <PresentationFormat>全屏显示(4:3)</PresentationFormat>
  <Paragraphs>383</Paragraphs>
  <Slides>56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69" baseType="lpstr">
      <vt:lpstr>Arial</vt:lpstr>
      <vt:lpstr>宋体</vt:lpstr>
      <vt:lpstr>Times New Roman</vt:lpstr>
      <vt:lpstr>Wingdings</vt:lpstr>
      <vt:lpstr>Batang</vt:lpstr>
      <vt:lpstr>Gulim</vt:lpstr>
      <vt:lpstr>Wingdings 2</vt:lpstr>
      <vt:lpstr>Verdana</vt:lpstr>
      <vt:lpstr>Arial Unicode MS</vt:lpstr>
      <vt:lpstr>Symbol</vt:lpstr>
      <vt:lpstr>校门</vt:lpstr>
      <vt:lpstr>Microsoft Word 文档</vt:lpstr>
      <vt:lpstr>Microsoft 公式 3.0</vt:lpstr>
      <vt:lpstr>PowerPoint 演示文稿</vt:lpstr>
      <vt:lpstr>Medical Statistics  (full English class)</vt:lpstr>
      <vt:lpstr>PowerPoint 演示文稿</vt:lpstr>
      <vt:lpstr>PowerPoint 演示文稿</vt:lpstr>
      <vt:lpstr>PowerPoint 演示文稿</vt:lpstr>
      <vt:lpstr> 10.1 Statistical Description  for  enumeration data</vt:lpstr>
      <vt:lpstr> </vt:lpstr>
      <vt:lpstr>1. Relative measure </vt:lpstr>
      <vt:lpstr>(1) Relative Frequency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(3) Ratio </vt:lpstr>
      <vt:lpstr>2. Caution  in use of relative measures</vt:lpstr>
      <vt:lpstr>PowerPoint 演示文稿</vt:lpstr>
      <vt:lpstr>PowerPoint 演示文稿</vt:lpstr>
      <vt:lpstr>PowerPoint 演示文稿</vt:lpstr>
      <vt:lpstr>          3. Standardization for  crude frequency or crude intensity</vt:lpstr>
      <vt:lpstr>PowerPoint 演示文稿</vt:lpstr>
      <vt:lpstr>PowerPoint 演示文稿</vt:lpstr>
      <vt:lpstr>PowerPoint 演示文稿</vt:lpstr>
      <vt:lpstr>PowerPoint 演示文稿</vt:lpstr>
      <vt:lpstr>1. Sampling error of frequency </vt:lpstr>
      <vt:lpstr>PowerPoint 演示文稿</vt:lpstr>
      <vt:lpstr>PowerPoint 演示文稿</vt:lpstr>
      <vt:lpstr>  Example 10-5   HBV Surface antigen.    200 people were tested, 7 positive.</vt:lpstr>
      <vt:lpstr>PowerPoint 演示文稿</vt:lpstr>
      <vt:lpstr>2. Confidence Interval of Probability</vt:lpstr>
      <vt:lpstr>  Example 10-5   HBV Surface antigen.      200 people were tested, 7 positive.</vt:lpstr>
      <vt:lpstr>PowerPoint 演示文稿</vt:lpstr>
      <vt:lpstr>3. The hypothesis testing of proportion  (u test) </vt:lpstr>
      <vt:lpstr>PowerPoint 演示文稿</vt:lpstr>
      <vt:lpstr>PowerPoint 演示文稿</vt:lpstr>
      <vt:lpstr>PowerPoint 演示文稿</vt:lpstr>
      <vt:lpstr>PowerPoint 演示文稿</vt:lpstr>
      <vt:lpstr>Summary</vt:lpstr>
      <vt:lpstr>10.3 Chi-square test</vt:lpstr>
      <vt:lpstr>PowerPoint 演示文稿</vt:lpstr>
      <vt:lpstr>1. Basic idea of 2 test</vt:lpstr>
      <vt:lpstr>(2) Chi-square test for 22 table</vt:lpstr>
      <vt:lpstr>PowerPoint 演示文稿</vt:lpstr>
      <vt:lpstr>PowerPoint 演示文稿</vt:lpstr>
      <vt:lpstr>PowerPoint 演示文稿</vt:lpstr>
      <vt:lpstr>PowerPoint 演示文稿</vt:lpstr>
      <vt:lpstr>Example 10-9 Hematosepsis</vt:lpstr>
      <vt:lpstr> (3) 2 test for paired 22   table </vt:lpstr>
      <vt:lpstr>PowerPoint 演示文稿</vt:lpstr>
      <vt:lpstr>PowerPoint 演示文稿</vt:lpstr>
      <vt:lpstr>Example10-10:</vt:lpstr>
      <vt:lpstr>(4)Chi-square test for RC table</vt:lpstr>
      <vt:lpstr>PowerPoint 演示文稿</vt:lpstr>
      <vt:lpstr>PowerPoint 演示文稿</vt:lpstr>
      <vt:lpstr> If the above requirements are violated,  what should we do? (1) Increase the sample size. (2) Re-organize the categories,            Pool some categories,   or           Cancel some categories</vt:lpstr>
      <vt:lpstr>PowerPoint 演示文稿</vt:lpstr>
    </vt:vector>
  </TitlesOfParts>
  <Company>jiang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statistical inference of enumeration data</dc:title>
  <dc:creator>jiang</dc:creator>
  <cp:lastModifiedBy>超然网络服务店 超然网络服务店</cp:lastModifiedBy>
  <cp:revision>49</cp:revision>
  <dcterms:created xsi:type="dcterms:W3CDTF">2002-09-25T03:09:19Z</dcterms:created>
  <dcterms:modified xsi:type="dcterms:W3CDTF">2023-10-24T11:41:04Z</dcterms:modified>
</cp:coreProperties>
</file>