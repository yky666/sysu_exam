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246888" y="280416"/>
            <a:ext cx="1060704" cy="1054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511808" y="594364"/>
            <a:ext cx="3840455" cy="4693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362455" y="1100329"/>
            <a:ext cx="4142220" cy="192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15823" y="112776"/>
            <a:ext cx="8891270" cy="6598920"/>
          </a:xfrm>
          <a:custGeom>
            <a:avLst/>
            <a:gdLst/>
            <a:ahLst/>
            <a:cxnLst/>
            <a:rect l="l" t="t" r="r" b="b"/>
            <a:pathLst>
              <a:path w="8891270" h="6598920">
                <a:moveTo>
                  <a:pt x="0" y="0"/>
                </a:moveTo>
                <a:lnTo>
                  <a:pt x="0" y="6598919"/>
                </a:lnTo>
                <a:lnTo>
                  <a:pt x="8891015" y="6598919"/>
                </a:lnTo>
                <a:lnTo>
                  <a:pt x="8891015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679704" y="36438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679704" y="36469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679704" y="36499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679704" y="36530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679704" y="36560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679704" y="36591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679704" y="36621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679704" y="36652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679704" y="36682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679704" y="36713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679704" y="36743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679704" y="36774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679704" y="36804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679704" y="36835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679704" y="36865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679704" y="36896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679704" y="36926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679704" y="36957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679704" y="36987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679704" y="37017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679704" y="37048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679704" y="37078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679704" y="371094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679704" y="371398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679704" y="371703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679704" y="37200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679704" y="37231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679704" y="37261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679704" y="37292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679704" y="37322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679704" y="37353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679704" y="37383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679704" y="37414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679704" y="37444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679704" y="37475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679704" y="37505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679704" y="37536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679704" y="37566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679704" y="37597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679704" y="37627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679704" y="37658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679704" y="37688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679704" y="37719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679704" y="37749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679704" y="37779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bk object 66"/>
          <p:cNvSpPr/>
          <p:nvPr/>
        </p:nvSpPr>
        <p:spPr>
          <a:xfrm>
            <a:off x="679704" y="37810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bk object 67"/>
          <p:cNvSpPr/>
          <p:nvPr/>
        </p:nvSpPr>
        <p:spPr>
          <a:xfrm>
            <a:off x="679704" y="37840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3528" y="42672"/>
            <a:ext cx="2157984" cy="4328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40207" y="185928"/>
            <a:ext cx="8857615" cy="6553200"/>
          </a:xfrm>
          <a:custGeom>
            <a:avLst/>
            <a:gdLst/>
            <a:ahLst/>
            <a:cxnLst/>
            <a:rect l="l" t="t" r="r" b="b"/>
            <a:pathLst>
              <a:path w="8857615" h="6553200">
                <a:moveTo>
                  <a:pt x="0" y="0"/>
                </a:moveTo>
                <a:lnTo>
                  <a:pt x="0" y="6553199"/>
                </a:lnTo>
                <a:lnTo>
                  <a:pt x="8857487" y="6553199"/>
                </a:lnTo>
                <a:lnTo>
                  <a:pt x="8857487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21920" y="14127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21920" y="14157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21920" y="14188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21920" y="14218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21920" y="14249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121920" y="14279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121920" y="14310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121920" y="14340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121920" y="14371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121920" y="14401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121920" y="14432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121920" y="14462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121920" y="14493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121920" y="14523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121920" y="14554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121920" y="14584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121920" y="14615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121920" y="14645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121920" y="14676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121920" y="14706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121920" y="14737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121920" y="14767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121920" y="147980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121920" y="148285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121920" y="148590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121920" y="14889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121920" y="14919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121920" y="14950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121920" y="14980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121920" y="15011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121920" y="15041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121920" y="15072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121920" y="15102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121920" y="15133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121920" y="15163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121920" y="15194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121920" y="15224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121920" y="15255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121920" y="15285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121920" y="15316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121920" y="15346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121920" y="15377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121920" y="15407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121920" y="15438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121920" y="15468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121920" y="15499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121920" y="15529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52623" y="569468"/>
            <a:ext cx="3238753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808" y="1555155"/>
            <a:ext cx="8152383" cy="1779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0651" y="2760980"/>
            <a:ext cx="58166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45665" algn="l"/>
              </a:tabLst>
            </a:pPr>
            <a:r>
              <a:rPr dirty="0" sz="4800"/>
              <a:t>第七章</a:t>
            </a:r>
            <a:r>
              <a:rPr dirty="0" sz="4800"/>
              <a:t>	</a:t>
            </a:r>
            <a:r>
              <a:rPr dirty="0" sz="4800"/>
              <a:t>营运资本管理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639572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49372" y="2172716"/>
            <a:ext cx="3216910" cy="28860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营运资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本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管理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概</a:t>
            </a:r>
            <a:r>
              <a:rPr dirty="0" sz="2800" spc="-245" b="1">
                <a:solidFill>
                  <a:srgbClr val="FFFFFF"/>
                </a:solidFill>
                <a:latin typeface="Microsoft JhengHei"/>
                <a:cs typeface="Microsoft JhengHei"/>
              </a:rPr>
              <a:t>述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现金管理</a:t>
            </a:r>
            <a:endParaRPr sz="2800">
              <a:latin typeface="Microsoft JhengHei"/>
              <a:cs typeface="Microsoft JhengHei"/>
            </a:endParaRPr>
          </a:p>
          <a:p>
            <a:pPr marL="12700" marR="715010">
              <a:lnSpc>
                <a:spcPct val="190000"/>
              </a:lnSpc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应收账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款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管</a:t>
            </a:r>
            <a:r>
              <a:rPr dirty="0" sz="2800" spc="-335" b="1">
                <a:solidFill>
                  <a:srgbClr val="FFFFFF"/>
                </a:solidFill>
                <a:latin typeface="Microsoft JhengHei"/>
                <a:cs typeface="Microsoft JhengHei"/>
              </a:rPr>
              <a:t>理 </a:t>
            </a: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存货管理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8444" y="2123948"/>
            <a:ext cx="7792084" cy="2414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营运资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（working capital）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念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指在企业生产经营活动中占用在流动资产上的资金。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狭义：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又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称净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运资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指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流动资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减流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负债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余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额。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6600"/>
              </a:buClr>
              <a:buFont typeface=""/>
              <a:buChar char="•"/>
            </a:pPr>
            <a:endParaRPr sz="185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广义：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又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称毛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运资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指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一个企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流动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产的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总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额。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20188" y="526796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营运资</a:t>
            </a:r>
            <a:r>
              <a:rPr dirty="0" spc="-20"/>
              <a:t>本</a:t>
            </a:r>
            <a:r>
              <a:rPr dirty="0" spc="5"/>
              <a:t>管</a:t>
            </a:r>
            <a:r>
              <a:rPr dirty="0" spc="-20"/>
              <a:t>理</a:t>
            </a:r>
            <a:r>
              <a:rPr dirty="0" spc="5"/>
              <a:t>概述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1155" y="1852676"/>
            <a:ext cx="3524885" cy="356107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666115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营运资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的特</a:t>
            </a:r>
            <a:r>
              <a:rPr dirty="0" sz="2800" spc="-235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endParaRPr sz="2800">
              <a:latin typeface="宋体"/>
              <a:cs typeface="宋体"/>
            </a:endParaRPr>
          </a:p>
          <a:p>
            <a:pPr algn="r" marR="614680">
              <a:lnSpc>
                <a:spcPct val="100000"/>
              </a:lnSpc>
              <a:spcBef>
                <a:spcPts val="206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周转具有短期性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1989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实物形态具有易变性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2014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数量具有波动性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1989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实物形态具有变动性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202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来源具有灵活多样性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20188" y="526796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营运资</a:t>
            </a:r>
            <a:r>
              <a:rPr dirty="0" spc="-20"/>
              <a:t>本</a:t>
            </a:r>
            <a:r>
              <a:rPr dirty="0" spc="5"/>
              <a:t>管</a:t>
            </a:r>
            <a:r>
              <a:rPr dirty="0" spc="-20"/>
              <a:t>理</a:t>
            </a:r>
            <a:r>
              <a:rPr dirty="0" spc="5"/>
              <a:t>概述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8675" y="1785620"/>
            <a:ext cx="8401685" cy="3308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营运资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理原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endParaRPr sz="28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177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认真分析生产经营状况、合理确定营运资金的需要数量。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172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在保证生产经营需要的前提下，节约使用资金。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170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加速营运资金的周转，提高资金的利用效率。</a:t>
            </a:r>
            <a:endParaRPr sz="2400">
              <a:latin typeface="宋体"/>
              <a:cs typeface="宋体"/>
            </a:endParaRPr>
          </a:p>
          <a:p>
            <a:pPr marL="756285" marR="5080" indent="-287020">
              <a:lnSpc>
                <a:spcPct val="140000"/>
              </a:lnSpc>
              <a:spcBef>
                <a:spcPts val="57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合理安排流动资产与流动负债的比例关系，保障企业有</a:t>
            </a:r>
            <a:r>
              <a:rPr dirty="0" sz="2400" spc="-65">
                <a:solidFill>
                  <a:srgbClr val="FFFFFF"/>
                </a:solidFill>
                <a:latin typeface="宋体"/>
                <a:cs typeface="宋体"/>
              </a:rPr>
              <a:t>足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够的短期偿债能力。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20188" y="526796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营运资</a:t>
            </a:r>
            <a:r>
              <a:rPr dirty="0" spc="-20"/>
              <a:t>本</a:t>
            </a:r>
            <a:r>
              <a:rPr dirty="0" spc="5"/>
              <a:t>管</a:t>
            </a:r>
            <a:r>
              <a:rPr dirty="0" spc="-20"/>
              <a:t>理</a:t>
            </a:r>
            <a:r>
              <a:rPr dirty="0" spc="5"/>
              <a:t>概述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1491" y="1889252"/>
            <a:ext cx="7487284" cy="2322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组合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232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指企业资金总额中短期资金和长期资金各占的比例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2120"/>
              </a:spcBef>
              <a:buClr>
                <a:srgbClr val="FF6600"/>
              </a:buClr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短期资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：企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的流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动负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债。</a:t>
            </a:r>
            <a:endParaRPr sz="22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2115"/>
              </a:spcBef>
              <a:buClr>
                <a:srgbClr val="FF6600"/>
              </a:buClr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长期资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：企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的长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期负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债和所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者权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20188" y="526796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营运资</a:t>
            </a:r>
            <a:r>
              <a:rPr dirty="0" spc="-20"/>
              <a:t>本</a:t>
            </a:r>
            <a:r>
              <a:rPr dirty="0" spc="5"/>
              <a:t>管</a:t>
            </a:r>
            <a:r>
              <a:rPr dirty="0" spc="-20"/>
              <a:t>理</a:t>
            </a:r>
            <a:r>
              <a:rPr dirty="0" spc="5"/>
              <a:t>概述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8003" y="1779524"/>
            <a:ext cx="7182484" cy="3963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组合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略</a:t>
            </a:r>
            <a:endParaRPr sz="2800">
              <a:latin typeface="宋体"/>
              <a:cs typeface="宋体"/>
            </a:endParaRPr>
          </a:p>
          <a:p>
            <a:pPr marL="756285" marR="5080" indent="-287020">
              <a:lnSpc>
                <a:spcPct val="150000"/>
              </a:lnSpc>
              <a:spcBef>
                <a:spcPts val="62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正常的筹资组合：短期资产由短期资金来融通</a:t>
            </a:r>
            <a:r>
              <a:rPr dirty="0" sz="2400" spc="-65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长期资产由长期资金来融通。</a:t>
            </a:r>
            <a:endParaRPr sz="2400">
              <a:latin typeface="宋体"/>
              <a:cs typeface="宋体"/>
            </a:endParaRPr>
          </a:p>
          <a:p>
            <a:pPr marL="756285" marR="5080" indent="-287020">
              <a:lnSpc>
                <a:spcPct val="150000"/>
              </a:lnSpc>
              <a:spcBef>
                <a:spcPts val="55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冒险的筹资组合：短期资产由短期资金来融通</a:t>
            </a:r>
            <a:r>
              <a:rPr dirty="0" sz="2400" spc="-65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部分的长期资产由短期资金来融通。</a:t>
            </a:r>
            <a:endParaRPr sz="2400">
              <a:latin typeface="宋体"/>
              <a:cs typeface="宋体"/>
            </a:endParaRPr>
          </a:p>
          <a:p>
            <a:pPr marL="756285" marR="309880" indent="-287020">
              <a:lnSpc>
                <a:spcPct val="149200"/>
              </a:lnSpc>
              <a:spcBef>
                <a:spcPts val="60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保守的筹资组合：部分的短期资产由长期资</a:t>
            </a:r>
            <a:r>
              <a:rPr dirty="0" sz="2400" spc="-65">
                <a:solidFill>
                  <a:srgbClr val="FFFFFF"/>
                </a:solidFill>
                <a:latin typeface="宋体"/>
                <a:cs typeface="宋体"/>
              </a:rPr>
              <a:t>金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来融通。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20188" y="526796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营运资</a:t>
            </a:r>
            <a:r>
              <a:rPr dirty="0" spc="-20"/>
              <a:t>本</a:t>
            </a:r>
            <a:r>
              <a:rPr dirty="0" spc="5"/>
              <a:t>管</a:t>
            </a:r>
            <a:r>
              <a:rPr dirty="0" spc="-20"/>
              <a:t>理</a:t>
            </a:r>
            <a:r>
              <a:rPr dirty="0" spc="5"/>
              <a:t>概述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5187" y="1636268"/>
            <a:ext cx="7792084" cy="50577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组合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略</a:t>
            </a:r>
            <a:endParaRPr sz="2800">
              <a:latin typeface="宋体"/>
              <a:cs typeface="宋体"/>
            </a:endParaRPr>
          </a:p>
          <a:p>
            <a:pPr marL="756285" marR="5080" indent="-287020">
              <a:lnSpc>
                <a:spcPct val="149200"/>
              </a:lnSpc>
              <a:spcBef>
                <a:spcPts val="64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适中的资产组合：在安排流动资产数量时，保证正</a:t>
            </a:r>
            <a:r>
              <a:rPr dirty="0" sz="2400" spc="-65">
                <a:solidFill>
                  <a:srgbClr val="FFFFFF"/>
                </a:solidFill>
                <a:latin typeface="宋体"/>
                <a:cs typeface="宋体"/>
              </a:rPr>
              <a:t>常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的需要的情况下，再适当的留有一定的保险储备；</a:t>
            </a:r>
            <a:endParaRPr sz="2400">
              <a:latin typeface="宋体"/>
              <a:cs typeface="宋体"/>
            </a:endParaRPr>
          </a:p>
          <a:p>
            <a:pPr algn="just" marL="756285" marR="5080" indent="-287020">
              <a:lnSpc>
                <a:spcPct val="149600"/>
              </a:lnSpc>
              <a:spcBef>
                <a:spcPts val="59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保守的资产组合：在安排流动资产数量时，保证正</a:t>
            </a:r>
            <a:r>
              <a:rPr dirty="0" sz="2400" spc="-65">
                <a:solidFill>
                  <a:srgbClr val="FFFFFF"/>
                </a:solidFill>
                <a:latin typeface="宋体"/>
                <a:cs typeface="宋体"/>
              </a:rPr>
              <a:t>常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的需要的情况下和正常保险储备的基础上，再加上一 部分额外储备量，以降低风险；</a:t>
            </a:r>
            <a:endParaRPr sz="2400">
              <a:latin typeface="宋体"/>
              <a:cs typeface="宋体"/>
            </a:endParaRPr>
          </a:p>
          <a:p>
            <a:pPr algn="just" marL="756285" marR="5080" indent="-287020">
              <a:lnSpc>
                <a:spcPct val="149600"/>
              </a:lnSpc>
              <a:spcBef>
                <a:spcPts val="58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冒险的资产组合：在安排流动资产数量时，只安排</a:t>
            </a:r>
            <a:r>
              <a:rPr dirty="0" sz="2400" spc="-65">
                <a:solidFill>
                  <a:srgbClr val="FFFFFF"/>
                </a:solidFill>
                <a:latin typeface="宋体"/>
                <a:cs typeface="宋体"/>
              </a:rPr>
              <a:t>正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常生产经营需要量而不安排或安排很少的保险储备， 以提高资产报酬率。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20188" y="526796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营运资</a:t>
            </a:r>
            <a:r>
              <a:rPr dirty="0" spc="-20"/>
              <a:t>本</a:t>
            </a:r>
            <a:r>
              <a:rPr dirty="0" spc="5"/>
              <a:t>管</a:t>
            </a:r>
            <a:r>
              <a:rPr dirty="0" spc="-20"/>
              <a:t>理</a:t>
            </a:r>
            <a:r>
              <a:rPr dirty="0" spc="5"/>
              <a:t>概述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5003" y="615188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现金管理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5524" y="1624740"/>
            <a:ext cx="8276590" cy="441325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algn="ctr" marR="4341495">
              <a:lnSpc>
                <a:spcPct val="100000"/>
              </a:lnSpc>
              <a:spcBef>
                <a:spcPts val="79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现金管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内</a:t>
            </a:r>
            <a:r>
              <a:rPr dirty="0" sz="2800" spc="-135">
                <a:solidFill>
                  <a:srgbClr val="FFFFFF"/>
                </a:solidFill>
                <a:latin typeface="宋体"/>
                <a:cs typeface="宋体"/>
              </a:rPr>
              <a:t>容</a:t>
            </a:r>
            <a:endParaRPr sz="2800">
              <a:latin typeface="宋体"/>
              <a:cs typeface="宋体"/>
            </a:endParaRPr>
          </a:p>
          <a:p>
            <a:pPr algn="ctr" marR="4286885">
              <a:lnSpc>
                <a:spcPct val="100000"/>
              </a:lnSpc>
              <a:spcBef>
                <a:spcPts val="59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企业持有现金的动机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470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交易性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求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——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为了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满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足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常业务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需要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预防性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求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——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为了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防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意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外紧急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事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455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投机性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求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——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为了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寻常的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买机会</a:t>
            </a:r>
            <a:endParaRPr sz="20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58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现金管理的目的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475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保证生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经营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需，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节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约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使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用资金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并从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闲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置资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获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取利息。</a:t>
            </a:r>
            <a:endParaRPr sz="20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现金管理的内容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475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编制现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收支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划，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便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理的估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未来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求；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455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对日常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金收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支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进行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力求加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速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收款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延缓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付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款；</a:t>
            </a:r>
            <a:endParaRPr sz="20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用特定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法求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最佳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余额。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5187" y="1555733"/>
            <a:ext cx="7758430" cy="3792854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554990" algn="l"/>
              </a:tabLst>
            </a:pPr>
            <a:r>
              <a:rPr dirty="0" sz="2800" spc="5">
                <a:solidFill>
                  <a:srgbClr val="FF6600"/>
                </a:solidFill>
                <a:latin typeface="Wingdings"/>
                <a:cs typeface="Wingdings"/>
              </a:rPr>
              <a:t></a:t>
            </a:r>
            <a:r>
              <a:rPr dirty="0" sz="2800" spc="5">
                <a:solidFill>
                  <a:srgbClr val="FF6600"/>
                </a:solidFill>
                <a:latin typeface="Times New Roman"/>
                <a:cs typeface="Times New Roman"/>
              </a:rPr>
              <a:t>	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支计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划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endParaRPr sz="28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40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现金收入：营业现金收入；其他现金收入。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28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现金支出：营业现金支出；其他现金支出。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14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净现金流量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=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350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现金流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－现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支出</a:t>
            </a:r>
            <a:endParaRPr sz="20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145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营业现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收入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入－</a:t>
            </a:r>
            <a:r>
              <a:rPr dirty="0" sz="2000" spc="-49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支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出－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他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金支出</a:t>
            </a:r>
            <a:endParaRPr sz="20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25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现金余缺额</a:t>
            </a:r>
            <a:r>
              <a:rPr dirty="0" sz="2400" spc="-54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=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254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期末现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余额</a:t>
            </a:r>
            <a:r>
              <a:rPr dirty="0" sz="2000" spc="-45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最佳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余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额</a:t>
            </a:r>
            <a:endParaRPr sz="2000">
              <a:latin typeface="宋体"/>
              <a:cs typeface="宋体"/>
            </a:endParaRPr>
          </a:p>
          <a:p>
            <a:pPr marL="927100" marR="949960">
              <a:lnSpc>
                <a:spcPct val="110000"/>
              </a:lnSpc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期初现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余额</a:t>
            </a:r>
            <a:r>
              <a:rPr dirty="0" sz="2000" spc="-48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现金支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－最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佳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余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额 期初现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余额</a:t>
            </a:r>
            <a:r>
              <a:rPr dirty="0" sz="2000" spc="-45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净现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流量</a:t>
            </a:r>
            <a:r>
              <a:rPr dirty="0" sz="2000" spc="-43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sz="2000" spc="-45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最佳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金余额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15003" y="615188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现金管理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1491" y="1426193"/>
            <a:ext cx="3683000" cy="2818765"/>
          </a:xfrm>
          <a:prstGeom prst="rect">
            <a:avLst/>
          </a:prstGeom>
        </p:spPr>
        <p:txBody>
          <a:bodyPr wrap="square" lIns="0" tIns="25082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975"/>
              </a:spcBef>
              <a:buClr>
                <a:srgbClr val="FF6600"/>
              </a:buClr>
              <a:buFont typeface="Wingdings"/>
              <a:buChar char=""/>
              <a:tabLst>
                <a:tab pos="469265" algn="l"/>
                <a:tab pos="46990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最佳现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余额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endParaRPr sz="2800">
              <a:latin typeface="宋体"/>
              <a:cs typeface="宋体"/>
            </a:endParaRPr>
          </a:p>
          <a:p>
            <a:pPr lvl="1" marL="850900" indent="-381635">
              <a:lnSpc>
                <a:spcPct val="100000"/>
              </a:lnSpc>
              <a:spcBef>
                <a:spcPts val="1600"/>
              </a:spcBef>
              <a:buClr>
                <a:srgbClr val="FF6600"/>
              </a:buClr>
              <a:buFont typeface="Wingdings"/>
              <a:buChar char=""/>
              <a:tabLst>
                <a:tab pos="8509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成本分析模式</a:t>
            </a:r>
            <a:endParaRPr sz="2400">
              <a:latin typeface="宋体"/>
              <a:cs typeface="宋体"/>
            </a:endParaRPr>
          </a:p>
          <a:p>
            <a:pPr lvl="2" marL="1271270" indent="-344805">
              <a:lnSpc>
                <a:spcPct val="100000"/>
              </a:lnSpc>
              <a:spcBef>
                <a:spcPts val="1475"/>
              </a:spcBef>
              <a:buClr>
                <a:srgbClr val="FF6600"/>
              </a:buClr>
              <a:buChar char="•"/>
              <a:tabLst>
                <a:tab pos="1271905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资本成本</a:t>
            </a:r>
            <a:endParaRPr sz="2200">
              <a:latin typeface="宋体"/>
              <a:cs typeface="宋体"/>
            </a:endParaRPr>
          </a:p>
          <a:p>
            <a:pPr lvl="2" marL="1271270" indent="-344805">
              <a:lnSpc>
                <a:spcPct val="100000"/>
              </a:lnSpc>
              <a:spcBef>
                <a:spcPts val="1440"/>
              </a:spcBef>
              <a:buClr>
                <a:srgbClr val="FF6600"/>
              </a:buClr>
              <a:buChar char="•"/>
              <a:tabLst>
                <a:tab pos="1271905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管理成本</a:t>
            </a:r>
            <a:endParaRPr sz="2200">
              <a:latin typeface="宋体"/>
              <a:cs typeface="宋体"/>
            </a:endParaRPr>
          </a:p>
          <a:p>
            <a:pPr lvl="2" marL="1271270" indent="-344805">
              <a:lnSpc>
                <a:spcPct val="100000"/>
              </a:lnSpc>
              <a:spcBef>
                <a:spcPts val="1440"/>
              </a:spcBef>
              <a:buClr>
                <a:srgbClr val="FF6600"/>
              </a:buClr>
              <a:buChar char="•"/>
              <a:tabLst>
                <a:tab pos="1271905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短缺成本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15003" y="615188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现金管理</a:t>
            </a:r>
          </a:p>
        </p:txBody>
      </p:sp>
      <p:sp>
        <p:nvSpPr>
          <p:cNvPr id="4" name="object 4"/>
          <p:cNvSpPr/>
          <p:nvPr/>
        </p:nvSpPr>
        <p:spPr>
          <a:xfrm>
            <a:off x="3910584" y="2514606"/>
            <a:ext cx="4623812" cy="24963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233671" y="5260848"/>
            <a:ext cx="3355841" cy="1920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1427571"/>
            <a:ext cx="7886700" cy="3719829"/>
          </a:xfrm>
          <a:prstGeom prst="rect">
            <a:avLst/>
          </a:prstGeom>
        </p:spPr>
        <p:txBody>
          <a:bodyPr wrap="square" lIns="0" tIns="21844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720"/>
              </a:spcBef>
              <a:buClr>
                <a:srgbClr val="FF6600"/>
              </a:buClr>
              <a:buFont typeface="Wingdings"/>
              <a:buChar char=""/>
              <a:tabLst>
                <a:tab pos="469265" algn="l"/>
                <a:tab pos="4699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最佳现金余额的确定</a:t>
            </a:r>
            <a:endParaRPr sz="2400">
              <a:latin typeface="宋体"/>
              <a:cs typeface="宋体"/>
            </a:endParaRPr>
          </a:p>
          <a:p>
            <a:pPr algn="just" lvl="1" marL="850900" indent="-381000">
              <a:lnSpc>
                <a:spcPct val="100000"/>
              </a:lnSpc>
              <a:spcBef>
                <a:spcPts val="1335"/>
              </a:spcBef>
              <a:buClr>
                <a:srgbClr val="FF6600"/>
              </a:buClr>
              <a:buFont typeface="Wingdings"/>
              <a:buChar char=""/>
              <a:tabLst>
                <a:tab pos="8509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存货模式</a:t>
            </a:r>
            <a:endParaRPr sz="2000">
              <a:latin typeface="宋体"/>
              <a:cs typeface="宋体"/>
            </a:endParaRPr>
          </a:p>
          <a:p>
            <a:pPr algn="just" lvl="2" marL="1271270" marR="5080" indent="-344805">
              <a:lnSpc>
                <a:spcPct val="135000"/>
              </a:lnSpc>
              <a:spcBef>
                <a:spcPts val="455"/>
              </a:spcBef>
              <a:buClr>
                <a:srgbClr val="FF6600"/>
              </a:buClr>
              <a:buChar char="•"/>
              <a:tabLst>
                <a:tab pos="1271905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将企业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金持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量和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券联系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起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来，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将现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有成 本同转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换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有价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券的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行权衡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以求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两者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相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加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总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成本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最低时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余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额从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目标现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持有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algn="just" lvl="2" marL="1271270" indent="-344805">
              <a:lnSpc>
                <a:spcPct val="100000"/>
              </a:lnSpc>
              <a:spcBef>
                <a:spcPts val="1320"/>
              </a:spcBef>
              <a:buClr>
                <a:srgbClr val="FF6600"/>
              </a:buClr>
              <a:buChar char="•"/>
              <a:tabLst>
                <a:tab pos="1271905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现金的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有成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（机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algn="just" lvl="2" marL="1271270" marR="5080" indent="-344805">
              <a:lnSpc>
                <a:spcPct val="135000"/>
              </a:lnSpc>
              <a:spcBef>
                <a:spcPts val="480"/>
              </a:spcBef>
              <a:buClr>
                <a:srgbClr val="FF6600"/>
              </a:buClr>
              <a:buChar char="•"/>
              <a:tabLst>
                <a:tab pos="1271905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转换有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证券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成本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交易成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）存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模式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是求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出总成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最小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余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额。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15003" y="615188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现金管理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7635" y="612140"/>
            <a:ext cx="2259965" cy="6953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400" spc="10"/>
              <a:t>现</a:t>
            </a:r>
            <a:r>
              <a:rPr dirty="0" sz="4400" spc="-10"/>
              <a:t>金管理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98779" y="1589201"/>
            <a:ext cx="7950200" cy="264858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存货模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设条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件</a:t>
            </a:r>
            <a:endParaRPr sz="2800">
              <a:latin typeface="宋体"/>
              <a:cs typeface="宋体"/>
            </a:endParaRPr>
          </a:p>
          <a:p>
            <a:pPr marL="927100" indent="-457834">
              <a:lnSpc>
                <a:spcPct val="100000"/>
              </a:lnSpc>
              <a:spcBef>
                <a:spcPts val="545"/>
              </a:spcBef>
              <a:buClr>
                <a:srgbClr val="FF6600"/>
              </a:buClr>
              <a:buChar char="•"/>
              <a:tabLst>
                <a:tab pos="926465" algn="l"/>
                <a:tab pos="9271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公司能够确定其未来的现金需求;</a:t>
            </a:r>
            <a:endParaRPr sz="2400">
              <a:latin typeface="宋体"/>
              <a:cs typeface="宋体"/>
            </a:endParaRPr>
          </a:p>
          <a:p>
            <a:pPr marL="927100" indent="-457834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Char char="•"/>
              <a:tabLst>
                <a:tab pos="926465" algn="l"/>
                <a:tab pos="9271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现金支付在整个期间内平均分布的;</a:t>
            </a:r>
            <a:endParaRPr sz="2400">
              <a:latin typeface="宋体"/>
              <a:cs typeface="宋体"/>
            </a:endParaRPr>
          </a:p>
          <a:p>
            <a:pPr marL="927100" indent="-457834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Char char="•"/>
              <a:tabLst>
                <a:tab pos="926465" algn="l"/>
                <a:tab pos="9271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利率(持有现金的机会成本)是固定不变的;</a:t>
            </a:r>
            <a:endParaRPr sz="2400">
              <a:latin typeface="宋体"/>
              <a:cs typeface="宋体"/>
            </a:endParaRPr>
          </a:p>
          <a:p>
            <a:pPr marL="927100" marR="5080" indent="-457200">
              <a:lnSpc>
                <a:spcPts val="2860"/>
              </a:lnSpc>
              <a:spcBef>
                <a:spcPts val="690"/>
              </a:spcBef>
              <a:buClr>
                <a:srgbClr val="FF6600"/>
              </a:buClr>
              <a:buChar char="•"/>
              <a:tabLst>
                <a:tab pos="926465" algn="l"/>
                <a:tab pos="9271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每一次公司把有价证券转化为现金所支付的交易成本 固定。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528" y="42672"/>
            <a:ext cx="2157984" cy="4328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0207" y="185928"/>
            <a:ext cx="8857615" cy="6553200"/>
          </a:xfrm>
          <a:custGeom>
            <a:avLst/>
            <a:gdLst/>
            <a:ahLst/>
            <a:cxnLst/>
            <a:rect l="l" t="t" r="r" b="b"/>
            <a:pathLst>
              <a:path w="8857615" h="6553200">
                <a:moveTo>
                  <a:pt x="0" y="0"/>
                </a:moveTo>
                <a:lnTo>
                  <a:pt x="0" y="6553199"/>
                </a:lnTo>
                <a:lnTo>
                  <a:pt x="8857487" y="6553199"/>
                </a:lnTo>
                <a:lnTo>
                  <a:pt x="8857487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1920" y="14127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1920" y="14157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1920" y="14188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1920" y="14218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1920" y="14249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1920" y="14279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1920" y="14310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1920" y="14340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1920" y="14371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1920" y="14401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21920" y="14432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1920" y="14462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1920" y="14493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1920" y="14523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21920" y="14554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1920" y="14584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21920" y="14615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21920" y="14645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21920" y="14676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21920" y="14706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21920" y="14737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21920" y="14767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21920" y="147980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928616" y="1482852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21920" y="1482852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928616" y="1485900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21920" y="1485900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928616" y="1488948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1920" y="1488948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928616" y="1491996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1920" y="1491996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928616" y="1495044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1920" y="1495044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928616" y="1498092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1920" y="1498092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928616" y="1501140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1920" y="1501140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928616" y="1504188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1920" y="1504188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928616" y="1507236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1920" y="1507236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928616" y="1510284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21920" y="1510284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928616" y="1513332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21920" y="1513332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928616" y="1516380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21920" y="1516380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928616" y="1519428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21920" y="1519428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928616" y="1522476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21920" y="1522476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928616" y="1525524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21920" y="1525524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928616" y="1528572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21920" y="1528572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928616" y="1531620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21920" y="1531620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928616" y="1534668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21920" y="1534668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928616" y="1537716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21920" y="1537716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928616" y="1540764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21920" y="1540764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928616" y="1543812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21920" y="1543812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928616" y="1546860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21920" y="1546860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928616" y="1549908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21920" y="1549908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928616" y="1552956"/>
            <a:ext cx="4048125" cy="0"/>
          </a:xfrm>
          <a:custGeom>
            <a:avLst/>
            <a:gdLst/>
            <a:ahLst/>
            <a:cxnLst/>
            <a:rect l="l" t="t" r="r" b="b"/>
            <a:pathLst>
              <a:path w="4048125" h="0">
                <a:moveTo>
                  <a:pt x="0" y="0"/>
                </a:moveTo>
                <a:lnTo>
                  <a:pt x="4047744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21920" y="1552956"/>
            <a:ext cx="2719070" cy="0"/>
          </a:xfrm>
          <a:custGeom>
            <a:avLst/>
            <a:gdLst/>
            <a:ahLst/>
            <a:cxnLst/>
            <a:rect l="l" t="t" r="r" b="b"/>
            <a:pathLst>
              <a:path w="2719070" h="0">
                <a:moveTo>
                  <a:pt x="0" y="0"/>
                </a:moveTo>
                <a:lnTo>
                  <a:pt x="2718816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>
            <a:spLocks noGrp="1"/>
          </p:cNvSpPr>
          <p:nvPr>
            <p:ph type="title"/>
          </p:nvPr>
        </p:nvSpPr>
        <p:spPr>
          <a:xfrm>
            <a:off x="3437635" y="612140"/>
            <a:ext cx="2259965" cy="6953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400" spc="10"/>
              <a:t>现</a:t>
            </a:r>
            <a:r>
              <a:rPr dirty="0" sz="4400" spc="-10"/>
              <a:t>金管理</a:t>
            </a:r>
            <a:endParaRPr sz="4400"/>
          </a:p>
        </p:txBody>
      </p:sp>
      <p:sp>
        <p:nvSpPr>
          <p:cNvPr id="77" name="object 77"/>
          <p:cNvSpPr/>
          <p:nvPr/>
        </p:nvSpPr>
        <p:spPr>
          <a:xfrm>
            <a:off x="4062984" y="3066291"/>
            <a:ext cx="4242813" cy="29352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355335" y="6092952"/>
            <a:ext cx="1502661" cy="210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398779" y="1523492"/>
            <a:ext cx="216217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现金持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成本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98779" y="1948383"/>
            <a:ext cx="6783070" cy="1056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700"/>
              </a:lnSpc>
              <a:spcBef>
                <a:spcPts val="9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使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T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C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有量即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目标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持有量</a:t>
            </a:r>
            <a:r>
              <a:rPr dirty="0" sz="2800" spc="-2835">
                <a:solidFill>
                  <a:srgbClr val="FFFFFF"/>
                </a:solidFill>
                <a:latin typeface="宋体"/>
                <a:cs typeface="宋体"/>
              </a:rPr>
              <a:t>当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标持有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时，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总成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本最低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2840736" y="1481328"/>
            <a:ext cx="2087880" cy="576580"/>
          </a:xfrm>
          <a:custGeom>
            <a:avLst/>
            <a:gdLst/>
            <a:ahLst/>
            <a:cxnLst/>
            <a:rect l="l" t="t" r="r" b="b"/>
            <a:pathLst>
              <a:path w="2087879" h="576580">
                <a:moveTo>
                  <a:pt x="0" y="0"/>
                </a:moveTo>
                <a:lnTo>
                  <a:pt x="0" y="576072"/>
                </a:lnTo>
                <a:lnTo>
                  <a:pt x="2087880" y="576072"/>
                </a:lnTo>
                <a:lnTo>
                  <a:pt x="208788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2836672" y="1599692"/>
            <a:ext cx="2037714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1750" i="1">
                <a:latin typeface="Times New Roman"/>
                <a:cs typeface="Times New Roman"/>
              </a:rPr>
              <a:t>TC </a:t>
            </a:r>
            <a:r>
              <a:rPr dirty="0" sz="1750">
                <a:latin typeface="Symbol"/>
                <a:cs typeface="Symbol"/>
              </a:rPr>
              <a:t></a:t>
            </a:r>
            <a:r>
              <a:rPr dirty="0" sz="1750">
                <a:latin typeface="Times New Roman"/>
                <a:cs typeface="Times New Roman"/>
              </a:rPr>
              <a:t> </a:t>
            </a:r>
            <a:r>
              <a:rPr dirty="0" u="sng" baseline="34920" sz="262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dirty="0" baseline="34920" sz="2625" i="1">
                <a:latin typeface="Times New Roman"/>
                <a:cs typeface="Times New Roman"/>
              </a:rPr>
              <a:t> </a:t>
            </a:r>
            <a:r>
              <a:rPr dirty="0" sz="1750" spc="-170">
                <a:latin typeface="Symbol"/>
                <a:cs typeface="Symbol"/>
              </a:rPr>
              <a:t></a:t>
            </a:r>
            <a:r>
              <a:rPr dirty="0" sz="1750" spc="-170">
                <a:latin typeface="Times New Roman"/>
                <a:cs typeface="Times New Roman"/>
              </a:rPr>
              <a:t> </a:t>
            </a:r>
            <a:r>
              <a:rPr dirty="0" sz="1750" i="1">
                <a:latin typeface="Times New Roman"/>
                <a:cs typeface="Times New Roman"/>
              </a:rPr>
              <a:t>K </a:t>
            </a:r>
            <a:r>
              <a:rPr dirty="0" sz="1750">
                <a:latin typeface="Symbol"/>
                <a:cs typeface="Symbol"/>
              </a:rPr>
              <a:t></a:t>
            </a:r>
            <a:r>
              <a:rPr dirty="0" sz="1750">
                <a:latin typeface="Times New Roman"/>
                <a:cs typeface="Times New Roman"/>
              </a:rPr>
              <a:t> </a:t>
            </a:r>
            <a:r>
              <a:rPr dirty="0" u="sng" baseline="34920" sz="262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baseline="34920" sz="2625" i="1">
                <a:latin typeface="Times New Roman"/>
                <a:cs typeface="Times New Roman"/>
              </a:rPr>
              <a:t> </a:t>
            </a:r>
            <a:r>
              <a:rPr dirty="0" sz="1750" spc="-170">
                <a:latin typeface="Symbol"/>
                <a:cs typeface="Symbol"/>
              </a:rPr>
              <a:t></a:t>
            </a:r>
            <a:r>
              <a:rPr dirty="0" sz="1750" spc="-280">
                <a:latin typeface="Times New Roman"/>
                <a:cs typeface="Times New Roman"/>
              </a:rPr>
              <a:t> </a:t>
            </a:r>
            <a:r>
              <a:rPr dirty="0" sz="1750" i="1">
                <a:latin typeface="Times New Roman"/>
                <a:cs typeface="Times New Roman"/>
              </a:rPr>
              <a:t>F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483864" y="1773428"/>
            <a:ext cx="96901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807085" algn="l"/>
              </a:tabLst>
            </a:pPr>
            <a:r>
              <a:rPr dirty="0" sz="1750">
                <a:latin typeface="Times New Roman"/>
                <a:cs typeface="Times New Roman"/>
              </a:rPr>
              <a:t>2</a:t>
            </a:r>
            <a:r>
              <a:rPr dirty="0" sz="1750">
                <a:latin typeface="Times New Roman"/>
                <a:cs typeface="Times New Roman"/>
              </a:rPr>
              <a:t>	</a:t>
            </a:r>
            <a:r>
              <a:rPr dirty="0" sz="1750" i="1">
                <a:latin typeface="Times New Roman"/>
                <a:cs typeface="Times New Roman"/>
              </a:rPr>
              <a:t>C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7522464" y="1914144"/>
            <a:ext cx="1222375" cy="576580"/>
          </a:xfrm>
          <a:custGeom>
            <a:avLst/>
            <a:gdLst/>
            <a:ahLst/>
            <a:cxnLst/>
            <a:rect l="l" t="t" r="r" b="b"/>
            <a:pathLst>
              <a:path w="1222375" h="576580">
                <a:moveTo>
                  <a:pt x="0" y="0"/>
                </a:moveTo>
                <a:lnTo>
                  <a:pt x="0" y="576072"/>
                </a:lnTo>
                <a:lnTo>
                  <a:pt x="1222248" y="576072"/>
                </a:lnTo>
                <a:lnTo>
                  <a:pt x="1222248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8068055" y="2258568"/>
            <a:ext cx="30480" cy="15240"/>
          </a:xfrm>
          <a:custGeom>
            <a:avLst/>
            <a:gdLst/>
            <a:ahLst/>
            <a:cxnLst/>
            <a:rect l="l" t="t" r="r" b="b"/>
            <a:pathLst>
              <a:path w="30479" h="15239">
                <a:moveTo>
                  <a:pt x="0" y="15239"/>
                </a:moveTo>
                <a:lnTo>
                  <a:pt x="3047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8098535" y="2261616"/>
            <a:ext cx="45720" cy="177165"/>
          </a:xfrm>
          <a:custGeom>
            <a:avLst/>
            <a:gdLst/>
            <a:ahLst/>
            <a:cxnLst/>
            <a:rect l="l" t="t" r="r" b="b"/>
            <a:pathLst>
              <a:path w="45720" h="177164">
                <a:moveTo>
                  <a:pt x="0" y="0"/>
                </a:moveTo>
                <a:lnTo>
                  <a:pt x="45719" y="176783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8147303" y="1962912"/>
            <a:ext cx="60960" cy="475615"/>
          </a:xfrm>
          <a:custGeom>
            <a:avLst/>
            <a:gdLst/>
            <a:ahLst/>
            <a:cxnLst/>
            <a:rect l="l" t="t" r="r" b="b"/>
            <a:pathLst>
              <a:path w="60959" h="475614">
                <a:moveTo>
                  <a:pt x="0" y="475487"/>
                </a:moveTo>
                <a:lnTo>
                  <a:pt x="6095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8208264" y="1962912"/>
            <a:ext cx="481965" cy="0"/>
          </a:xfrm>
          <a:custGeom>
            <a:avLst/>
            <a:gdLst/>
            <a:ahLst/>
            <a:cxnLst/>
            <a:rect l="l" t="t" r="r" b="b"/>
            <a:pathLst>
              <a:path w="481965" h="0">
                <a:moveTo>
                  <a:pt x="0" y="0"/>
                </a:moveTo>
                <a:lnTo>
                  <a:pt x="481583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8241792" y="1900834"/>
            <a:ext cx="351790" cy="5803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18745" marR="5080" indent="-119380">
              <a:lnSpc>
                <a:spcPct val="121300"/>
              </a:lnSpc>
              <a:spcBef>
                <a:spcPts val="90"/>
              </a:spcBef>
            </a:pPr>
            <a:r>
              <a:rPr dirty="0" u="sng" sz="15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1500" spc="2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u="sng" sz="1500" spc="1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 </a:t>
            </a:r>
            <a:r>
              <a:rPr dirty="0" sz="1500" spc="5" i="1">
                <a:latin typeface="Times New Roman"/>
                <a:cs typeface="Times New Roman"/>
              </a:rPr>
              <a:t> </a:t>
            </a:r>
            <a:r>
              <a:rPr dirty="0" sz="1500" spc="20" i="1">
                <a:latin typeface="Times New Roman"/>
                <a:cs typeface="Times New Roman"/>
              </a:rPr>
              <a:t>K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7524495" y="2069084"/>
            <a:ext cx="494030" cy="2597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dirty="0" sz="1500" spc="20" i="1">
                <a:latin typeface="Times New Roman"/>
                <a:cs typeface="Times New Roman"/>
              </a:rPr>
              <a:t>C </a:t>
            </a:r>
            <a:r>
              <a:rPr dirty="0" baseline="45751" sz="1275" spc="22">
                <a:latin typeface="Times New Roman"/>
                <a:cs typeface="Times New Roman"/>
              </a:rPr>
              <a:t>*</a:t>
            </a:r>
            <a:r>
              <a:rPr dirty="0" baseline="45751" sz="1275" spc="247">
                <a:latin typeface="Times New Roman"/>
                <a:cs typeface="Times New Roman"/>
              </a:rPr>
              <a:t> </a:t>
            </a:r>
            <a:r>
              <a:rPr dirty="0" sz="1500" spc="15">
                <a:latin typeface="Symbol"/>
                <a:cs typeface="Symbol"/>
              </a:rPr>
              <a:t>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466344" y="3209544"/>
            <a:ext cx="2517775" cy="502920"/>
          </a:xfrm>
          <a:custGeom>
            <a:avLst/>
            <a:gdLst/>
            <a:ahLst/>
            <a:cxnLst/>
            <a:rect l="l" t="t" r="r" b="b"/>
            <a:pathLst>
              <a:path w="2517775" h="502920">
                <a:moveTo>
                  <a:pt x="0" y="0"/>
                </a:moveTo>
                <a:lnTo>
                  <a:pt x="0" y="502920"/>
                </a:lnTo>
                <a:lnTo>
                  <a:pt x="2517648" y="502920"/>
                </a:lnTo>
                <a:lnTo>
                  <a:pt x="2517648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880616" y="3480816"/>
            <a:ext cx="43180" cy="24765"/>
          </a:xfrm>
          <a:custGeom>
            <a:avLst/>
            <a:gdLst/>
            <a:ahLst/>
            <a:cxnLst/>
            <a:rect l="l" t="t" r="r" b="b"/>
            <a:pathLst>
              <a:path w="43180" h="24764">
                <a:moveTo>
                  <a:pt x="0" y="24383"/>
                </a:moveTo>
                <a:lnTo>
                  <a:pt x="42671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1923288" y="3486912"/>
            <a:ext cx="60960" cy="106680"/>
          </a:xfrm>
          <a:custGeom>
            <a:avLst/>
            <a:gdLst/>
            <a:ahLst/>
            <a:cxnLst/>
            <a:rect l="l" t="t" r="r" b="b"/>
            <a:pathLst>
              <a:path w="60960" h="106679">
                <a:moveTo>
                  <a:pt x="0" y="0"/>
                </a:moveTo>
                <a:lnTo>
                  <a:pt x="60959" y="106679"/>
                </a:lnTo>
              </a:path>
            </a:pathLst>
          </a:custGeom>
          <a:ln w="274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1990344" y="3276600"/>
            <a:ext cx="82550" cy="317500"/>
          </a:xfrm>
          <a:custGeom>
            <a:avLst/>
            <a:gdLst/>
            <a:ahLst/>
            <a:cxnLst/>
            <a:rect l="l" t="t" r="r" b="b"/>
            <a:pathLst>
              <a:path w="82550" h="317500">
                <a:moveTo>
                  <a:pt x="0" y="316991"/>
                </a:moveTo>
                <a:lnTo>
                  <a:pt x="82295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072639" y="3276600"/>
            <a:ext cx="841375" cy="0"/>
          </a:xfrm>
          <a:custGeom>
            <a:avLst/>
            <a:gdLst/>
            <a:ahLst/>
            <a:cxnLst/>
            <a:rect l="l" t="t" r="r" b="b"/>
            <a:pathLst>
              <a:path w="841375" h="0">
                <a:moveTo>
                  <a:pt x="0" y="0"/>
                </a:moveTo>
                <a:lnTo>
                  <a:pt x="841247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/>
          <p:nvPr/>
        </p:nvSpPr>
        <p:spPr>
          <a:xfrm>
            <a:off x="440944" y="3251708"/>
            <a:ext cx="256857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95"/>
              </a:spcBef>
              <a:tabLst>
                <a:tab pos="1652905" algn="l"/>
              </a:tabLst>
            </a:pPr>
            <a:r>
              <a:rPr dirty="0" sz="2500" spc="-5" i="1">
                <a:latin typeface="Times New Roman"/>
                <a:cs typeface="Times New Roman"/>
              </a:rPr>
              <a:t>TC</a:t>
            </a:r>
            <a:r>
              <a:rPr dirty="0" sz="2500" spc="-250" i="1">
                <a:latin typeface="Times New Roman"/>
                <a:cs typeface="Times New Roman"/>
              </a:rPr>
              <a:t> </a:t>
            </a:r>
            <a:r>
              <a:rPr dirty="0" sz="2500" spc="10">
                <a:latin typeface="Times New Roman"/>
                <a:cs typeface="Times New Roman"/>
              </a:rPr>
              <a:t>(</a:t>
            </a:r>
            <a:r>
              <a:rPr dirty="0" sz="2500" spc="10" i="1">
                <a:latin typeface="Times New Roman"/>
                <a:cs typeface="Times New Roman"/>
              </a:rPr>
              <a:t>C</a:t>
            </a:r>
            <a:r>
              <a:rPr dirty="0" sz="2500" spc="-350" i="1">
                <a:latin typeface="Times New Roman"/>
                <a:cs typeface="Times New Roman"/>
              </a:rPr>
              <a:t> </a:t>
            </a:r>
            <a:r>
              <a:rPr dirty="0" baseline="45634" sz="2100" spc="30">
                <a:latin typeface="Times New Roman"/>
                <a:cs typeface="Times New Roman"/>
              </a:rPr>
              <a:t>*</a:t>
            </a:r>
            <a:r>
              <a:rPr dirty="0" baseline="45634" sz="2100" spc="-97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Times New Roman"/>
                <a:cs typeface="Times New Roman"/>
              </a:rPr>
              <a:t>)</a:t>
            </a:r>
            <a:r>
              <a:rPr dirty="0" sz="2500" spc="10">
                <a:latin typeface="Times New Roman"/>
                <a:cs typeface="Times New Roman"/>
              </a:rPr>
              <a:t> </a:t>
            </a:r>
            <a:r>
              <a:rPr dirty="0" sz="2500" spc="-5">
                <a:latin typeface="Symbol"/>
                <a:cs typeface="Symbol"/>
              </a:rPr>
              <a:t></a:t>
            </a:r>
            <a:r>
              <a:rPr dirty="0" sz="2500" spc="-5">
                <a:latin typeface="Times New Roman"/>
                <a:cs typeface="Times New Roman"/>
              </a:rPr>
              <a:t>	</a:t>
            </a:r>
            <a:r>
              <a:rPr dirty="0" sz="2500" spc="-15">
                <a:latin typeface="Times New Roman"/>
                <a:cs typeface="Times New Roman"/>
              </a:rPr>
              <a:t>2</a:t>
            </a:r>
            <a:r>
              <a:rPr dirty="0" sz="2500" spc="-15" i="1">
                <a:latin typeface="Times New Roman"/>
                <a:cs typeface="Times New Roman"/>
              </a:rPr>
              <a:t>TFK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79" y="1439367"/>
            <a:ext cx="8102600" cy="1853564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-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最佳现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余额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670"/>
              </a:spcBef>
            </a:pPr>
            <a:r>
              <a:rPr dirty="0" sz="2800" spc="-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现金周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模式</a:t>
            </a:r>
            <a:endParaRPr sz="2800">
              <a:latin typeface="宋体"/>
              <a:cs typeface="宋体"/>
            </a:endParaRPr>
          </a:p>
          <a:p>
            <a:pPr marL="469265" marR="5080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现金周转期：是指从购买存货支付现金到从应收帐款上收 回现金这一期间的长度。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35171" y="639572"/>
            <a:ext cx="20650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现</a:t>
            </a:r>
            <a:r>
              <a:rPr dirty="0" spc="25"/>
              <a:t>金</a:t>
            </a:r>
            <a:r>
              <a:rPr dirty="0" spc="5"/>
              <a:t>管理</a:t>
            </a:r>
          </a:p>
        </p:txBody>
      </p:sp>
      <p:sp>
        <p:nvSpPr>
          <p:cNvPr id="4" name="object 4"/>
          <p:cNvSpPr/>
          <p:nvPr/>
        </p:nvSpPr>
        <p:spPr>
          <a:xfrm>
            <a:off x="969263" y="3569225"/>
            <a:ext cx="7324307" cy="28833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5171" y="639572"/>
            <a:ext cx="20650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现</a:t>
            </a:r>
            <a:r>
              <a:rPr dirty="0" spc="25"/>
              <a:t>金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/>
          <p:nvPr/>
        </p:nvSpPr>
        <p:spPr>
          <a:xfrm>
            <a:off x="1185672" y="3496055"/>
            <a:ext cx="6047740" cy="2091055"/>
          </a:xfrm>
          <a:custGeom>
            <a:avLst/>
            <a:gdLst/>
            <a:ahLst/>
            <a:cxnLst/>
            <a:rect l="l" t="t" r="r" b="b"/>
            <a:pathLst>
              <a:path w="6047740" h="2091054">
                <a:moveTo>
                  <a:pt x="0" y="0"/>
                </a:moveTo>
                <a:lnTo>
                  <a:pt x="0" y="2090928"/>
                </a:lnTo>
                <a:lnTo>
                  <a:pt x="6047232" y="2090928"/>
                </a:lnTo>
                <a:lnTo>
                  <a:pt x="6047232" y="0"/>
                </a:lnTo>
                <a:lnTo>
                  <a:pt x="0" y="0"/>
                </a:lnTo>
                <a:close/>
              </a:path>
            </a:pathLst>
          </a:custGeom>
          <a:solidFill>
            <a:srgbClr val="33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88664" y="4014216"/>
            <a:ext cx="2822575" cy="0"/>
          </a:xfrm>
          <a:custGeom>
            <a:avLst/>
            <a:gdLst/>
            <a:ahLst/>
            <a:cxnLst/>
            <a:rect l="l" t="t" r="r" b="b"/>
            <a:pathLst>
              <a:path w="2822575" h="0">
                <a:moveTo>
                  <a:pt x="0" y="0"/>
                </a:moveTo>
                <a:lnTo>
                  <a:pt x="2822447" y="0"/>
                </a:lnTo>
              </a:path>
            </a:pathLst>
          </a:custGeom>
          <a:ln w="15239">
            <a:solidFill>
              <a:srgbClr val="4B4B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59807" y="5090160"/>
            <a:ext cx="2575560" cy="0"/>
          </a:xfrm>
          <a:custGeom>
            <a:avLst/>
            <a:gdLst/>
            <a:ahLst/>
            <a:cxnLst/>
            <a:rect l="l" t="t" r="r" b="b"/>
            <a:pathLst>
              <a:path w="2575559" h="0">
                <a:moveTo>
                  <a:pt x="0" y="0"/>
                </a:moveTo>
                <a:lnTo>
                  <a:pt x="2575559" y="0"/>
                </a:lnTo>
              </a:path>
            </a:pathLst>
          </a:custGeom>
          <a:ln w="15239">
            <a:solidFill>
              <a:srgbClr val="4B4B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58239" y="4793996"/>
            <a:ext cx="2677160" cy="479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2950" spc="45">
                <a:solidFill>
                  <a:srgbClr val="4B4B4B"/>
                </a:solidFill>
                <a:latin typeface="宋体"/>
                <a:cs typeface="宋体"/>
              </a:rPr>
              <a:t>目标</a:t>
            </a:r>
            <a:r>
              <a:rPr dirty="0" sz="2950" spc="25">
                <a:solidFill>
                  <a:srgbClr val="4B4B4B"/>
                </a:solidFill>
                <a:latin typeface="宋体"/>
                <a:cs typeface="宋体"/>
              </a:rPr>
              <a:t>现</a:t>
            </a:r>
            <a:r>
              <a:rPr dirty="0" sz="2950" spc="70">
                <a:solidFill>
                  <a:srgbClr val="4B4B4B"/>
                </a:solidFill>
                <a:latin typeface="宋体"/>
                <a:cs typeface="宋体"/>
              </a:rPr>
              <a:t>金</a:t>
            </a:r>
            <a:r>
              <a:rPr dirty="0" sz="2950" spc="45">
                <a:solidFill>
                  <a:srgbClr val="4B4B4B"/>
                </a:solidFill>
                <a:latin typeface="宋体"/>
                <a:cs typeface="宋体"/>
              </a:rPr>
              <a:t>持有</a:t>
            </a:r>
            <a:r>
              <a:rPr dirty="0" sz="2950" spc="25">
                <a:solidFill>
                  <a:srgbClr val="4B4B4B"/>
                </a:solidFill>
                <a:latin typeface="宋体"/>
                <a:cs typeface="宋体"/>
              </a:rPr>
              <a:t>量</a:t>
            </a:r>
            <a:endParaRPr sz="295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7488" y="3718052"/>
            <a:ext cx="1915160" cy="479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2950" spc="45">
                <a:solidFill>
                  <a:srgbClr val="4B4B4B"/>
                </a:solidFill>
                <a:latin typeface="宋体"/>
                <a:cs typeface="宋体"/>
              </a:rPr>
              <a:t>现金周转</a:t>
            </a:r>
            <a:r>
              <a:rPr dirty="0" sz="2950" spc="25">
                <a:solidFill>
                  <a:srgbClr val="4B4B4B"/>
                </a:solidFill>
                <a:latin typeface="宋体"/>
                <a:cs typeface="宋体"/>
              </a:rPr>
              <a:t>率</a:t>
            </a:r>
            <a:endParaRPr sz="295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96079" y="4473346"/>
            <a:ext cx="2700020" cy="1098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89280" marR="30480" indent="-563880">
              <a:lnSpc>
                <a:spcPct val="119300"/>
              </a:lnSpc>
              <a:spcBef>
                <a:spcPts val="95"/>
              </a:spcBef>
              <a:tabLst>
                <a:tab pos="378460" algn="l"/>
              </a:tabLst>
            </a:pPr>
            <a:r>
              <a:rPr dirty="0" baseline="-34839" sz="4425" spc="15">
                <a:solidFill>
                  <a:srgbClr val="4B4B4B"/>
                </a:solidFill>
                <a:latin typeface="Symbol"/>
                <a:cs typeface="Symbol"/>
              </a:rPr>
              <a:t></a:t>
            </a:r>
            <a:r>
              <a:rPr dirty="0" baseline="-34839" sz="4425" spc="15">
                <a:solidFill>
                  <a:srgbClr val="4B4B4B"/>
                </a:solidFill>
                <a:latin typeface="Times New Roman"/>
                <a:cs typeface="Times New Roman"/>
              </a:rPr>
              <a:t>	</a:t>
            </a:r>
            <a:r>
              <a:rPr dirty="0" sz="2950" spc="45">
                <a:solidFill>
                  <a:srgbClr val="4B4B4B"/>
                </a:solidFill>
                <a:latin typeface="宋体"/>
                <a:cs typeface="宋体"/>
              </a:rPr>
              <a:t>年现金需求</a:t>
            </a:r>
            <a:r>
              <a:rPr dirty="0" sz="2950" spc="15">
                <a:solidFill>
                  <a:srgbClr val="4B4B4B"/>
                </a:solidFill>
                <a:latin typeface="宋体"/>
                <a:cs typeface="宋体"/>
              </a:rPr>
              <a:t>额 </a:t>
            </a:r>
            <a:r>
              <a:rPr dirty="0" sz="2950" spc="45">
                <a:solidFill>
                  <a:srgbClr val="4B4B4B"/>
                </a:solidFill>
                <a:latin typeface="宋体"/>
                <a:cs typeface="宋体"/>
              </a:rPr>
              <a:t>现金周转</a:t>
            </a:r>
            <a:r>
              <a:rPr dirty="0" sz="2950" spc="25">
                <a:solidFill>
                  <a:srgbClr val="4B4B4B"/>
                </a:solidFill>
                <a:latin typeface="宋体"/>
                <a:cs typeface="宋体"/>
              </a:rPr>
              <a:t>率</a:t>
            </a:r>
            <a:endParaRPr sz="295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24935" y="3394354"/>
            <a:ext cx="3383279" cy="1098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16915" marR="30480" indent="-692150">
              <a:lnSpc>
                <a:spcPct val="119300"/>
              </a:lnSpc>
              <a:spcBef>
                <a:spcPts val="95"/>
              </a:spcBef>
            </a:pPr>
            <a:r>
              <a:rPr dirty="0" baseline="-35781" sz="4425" spc="15">
                <a:solidFill>
                  <a:srgbClr val="4B4B4B"/>
                </a:solidFill>
                <a:latin typeface="Symbol"/>
                <a:cs typeface="Symbol"/>
              </a:rPr>
              <a:t></a:t>
            </a:r>
            <a:r>
              <a:rPr dirty="0" baseline="-35781" sz="4425" spc="-187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2950" spc="45">
                <a:solidFill>
                  <a:srgbClr val="4B4B4B"/>
                </a:solidFill>
                <a:latin typeface="宋体"/>
                <a:cs typeface="宋体"/>
              </a:rPr>
              <a:t>日历</a:t>
            </a:r>
            <a:r>
              <a:rPr dirty="0" sz="2950" spc="25">
                <a:solidFill>
                  <a:srgbClr val="4B4B4B"/>
                </a:solidFill>
                <a:latin typeface="宋体"/>
                <a:cs typeface="宋体"/>
              </a:rPr>
              <a:t>天</a:t>
            </a:r>
            <a:r>
              <a:rPr dirty="0" sz="2950" spc="70">
                <a:solidFill>
                  <a:srgbClr val="4B4B4B"/>
                </a:solidFill>
                <a:latin typeface="宋体"/>
                <a:cs typeface="宋体"/>
              </a:rPr>
              <a:t>数</a:t>
            </a:r>
            <a:r>
              <a:rPr dirty="0" sz="2950" spc="25">
                <a:solidFill>
                  <a:srgbClr val="4B4B4B"/>
                </a:solidFill>
                <a:latin typeface="宋体"/>
                <a:cs typeface="宋体"/>
              </a:rPr>
              <a:t>（</a:t>
            </a:r>
            <a:r>
              <a:rPr dirty="0" sz="2950" spc="-240">
                <a:solidFill>
                  <a:srgbClr val="4B4B4B"/>
                </a:solidFill>
                <a:latin typeface="宋体"/>
                <a:cs typeface="宋体"/>
              </a:rPr>
              <a:t> </a:t>
            </a:r>
            <a:r>
              <a:rPr dirty="0" sz="2950" spc="50">
                <a:solidFill>
                  <a:srgbClr val="4B4B4B"/>
                </a:solidFill>
                <a:latin typeface="Times New Roman"/>
                <a:cs typeface="Times New Roman"/>
              </a:rPr>
              <a:t>360</a:t>
            </a:r>
            <a:r>
              <a:rPr dirty="0" sz="2950" spc="50">
                <a:solidFill>
                  <a:srgbClr val="4B4B4B"/>
                </a:solidFill>
                <a:latin typeface="宋体"/>
                <a:cs typeface="宋体"/>
              </a:rPr>
              <a:t>）  </a:t>
            </a:r>
            <a:r>
              <a:rPr dirty="0" sz="2950" spc="45">
                <a:solidFill>
                  <a:srgbClr val="4B4B4B"/>
                </a:solidFill>
                <a:latin typeface="宋体"/>
                <a:cs typeface="宋体"/>
              </a:rPr>
              <a:t>现金周转</a:t>
            </a:r>
            <a:r>
              <a:rPr dirty="0" sz="2950" spc="25">
                <a:solidFill>
                  <a:srgbClr val="4B4B4B"/>
                </a:solidFill>
                <a:latin typeface="宋体"/>
                <a:cs typeface="宋体"/>
              </a:rPr>
              <a:t>期</a:t>
            </a:r>
            <a:endParaRPr sz="295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12520" y="1914144"/>
            <a:ext cx="7202805" cy="1079500"/>
          </a:xfrm>
          <a:custGeom>
            <a:avLst/>
            <a:gdLst/>
            <a:ahLst/>
            <a:cxnLst/>
            <a:rect l="l" t="t" r="r" b="b"/>
            <a:pathLst>
              <a:path w="7202805" h="1079500">
                <a:moveTo>
                  <a:pt x="0" y="0"/>
                </a:moveTo>
                <a:lnTo>
                  <a:pt x="0" y="1078992"/>
                </a:lnTo>
                <a:lnTo>
                  <a:pt x="7202424" y="1078992"/>
                </a:lnTo>
                <a:lnTo>
                  <a:pt x="7202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33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86255" y="2075688"/>
            <a:ext cx="6690352" cy="716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5171" y="639572"/>
            <a:ext cx="20650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现</a:t>
            </a:r>
            <a:r>
              <a:rPr dirty="0" spc="25"/>
              <a:t>金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555155"/>
            <a:ext cx="7846695" cy="183007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最佳现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余额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56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随机模型</a:t>
            </a:r>
            <a:endParaRPr sz="2400">
              <a:latin typeface="宋体"/>
              <a:cs typeface="宋体"/>
            </a:endParaRPr>
          </a:p>
          <a:p>
            <a:pPr marL="756285" marR="5080" indent="642620">
              <a:lnSpc>
                <a:spcPct val="101899"/>
              </a:lnSpc>
              <a:spcBef>
                <a:spcPts val="38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随机模型有两</a:t>
            </a:r>
            <a:r>
              <a:rPr dirty="0" sz="2400" spc="-25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控制界限（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Limits</a:t>
            </a: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），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即 上限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、下限</a:t>
            </a:r>
            <a:r>
              <a:rPr dirty="0" sz="2400" spc="5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和一个回归点</a:t>
            </a: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Return Point</a:t>
            </a: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6292" y="4347768"/>
            <a:ext cx="5831205" cy="148272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5"/>
              </a:spcBef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Q——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最佳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金持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endParaRPr sz="2000">
              <a:latin typeface="宋体"/>
              <a:cs typeface="宋体"/>
            </a:endParaRPr>
          </a:p>
          <a:p>
            <a:pPr marL="38100" marR="804545">
              <a:lnSpc>
                <a:spcPts val="2880"/>
              </a:lnSpc>
              <a:spcBef>
                <a:spcPts val="155"/>
              </a:spcBef>
            </a:pP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F—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次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筹集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金的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应付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利息，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相关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本 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σ</a:t>
            </a:r>
            <a:r>
              <a:rPr dirty="0" baseline="25641" sz="1950" spc="-15">
                <a:solidFill>
                  <a:srgbClr val="FFFFFF"/>
                </a:solidFill>
                <a:latin typeface="Arial"/>
                <a:cs typeface="Arial"/>
              </a:rPr>
              <a:t>2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——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每日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差</a:t>
            </a:r>
            <a:endParaRPr sz="20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300"/>
              </a:spcBef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K——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拆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借、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短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期投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或转换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价证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54224" y="3496055"/>
            <a:ext cx="1945005" cy="805180"/>
          </a:xfrm>
          <a:custGeom>
            <a:avLst/>
            <a:gdLst/>
            <a:ahLst/>
            <a:cxnLst/>
            <a:rect l="l" t="t" r="r" b="b"/>
            <a:pathLst>
              <a:path w="1945004" h="805179">
                <a:moveTo>
                  <a:pt x="0" y="0"/>
                </a:moveTo>
                <a:lnTo>
                  <a:pt x="0" y="804672"/>
                </a:lnTo>
                <a:lnTo>
                  <a:pt x="1944624" y="804672"/>
                </a:lnTo>
                <a:lnTo>
                  <a:pt x="1944624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61359" y="3974592"/>
            <a:ext cx="45720" cy="21590"/>
          </a:xfrm>
          <a:custGeom>
            <a:avLst/>
            <a:gdLst/>
            <a:ahLst/>
            <a:cxnLst/>
            <a:rect l="l" t="t" r="r" b="b"/>
            <a:pathLst>
              <a:path w="45720" h="21589">
                <a:moveTo>
                  <a:pt x="0" y="21335"/>
                </a:moveTo>
                <a:lnTo>
                  <a:pt x="45719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07079" y="3980688"/>
            <a:ext cx="70485" cy="253365"/>
          </a:xfrm>
          <a:custGeom>
            <a:avLst/>
            <a:gdLst/>
            <a:ahLst/>
            <a:cxnLst/>
            <a:rect l="l" t="t" r="r" b="b"/>
            <a:pathLst>
              <a:path w="70485" h="253364">
                <a:moveTo>
                  <a:pt x="0" y="0"/>
                </a:moveTo>
                <a:lnTo>
                  <a:pt x="70103" y="252983"/>
                </a:lnTo>
              </a:path>
            </a:pathLst>
          </a:custGeom>
          <a:ln w="304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83279" y="3550920"/>
            <a:ext cx="91440" cy="683260"/>
          </a:xfrm>
          <a:custGeom>
            <a:avLst/>
            <a:gdLst/>
            <a:ahLst/>
            <a:cxnLst/>
            <a:rect l="l" t="t" r="r" b="b"/>
            <a:pathLst>
              <a:path w="91439" h="683260">
                <a:moveTo>
                  <a:pt x="0" y="682751"/>
                </a:moveTo>
                <a:lnTo>
                  <a:pt x="91439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74720" y="3550920"/>
            <a:ext cx="951230" cy="0"/>
          </a:xfrm>
          <a:custGeom>
            <a:avLst/>
            <a:gdLst/>
            <a:ahLst/>
            <a:cxnLst/>
            <a:rect l="l" t="t" r="r" b="b"/>
            <a:pathLst>
              <a:path w="951229" h="0">
                <a:moveTo>
                  <a:pt x="0" y="0"/>
                </a:moveTo>
                <a:lnTo>
                  <a:pt x="950975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230623" y="3553460"/>
            <a:ext cx="90805" cy="212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200" spc="1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43072" y="3782060"/>
            <a:ext cx="1203325" cy="5060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ts val="1340"/>
              </a:lnSpc>
              <a:spcBef>
                <a:spcPts val="125"/>
              </a:spcBef>
              <a:tabLst>
                <a:tab pos="258445" algn="l"/>
                <a:tab pos="1189990" algn="l"/>
              </a:tabLst>
            </a:pPr>
            <a:r>
              <a:rPr dirty="0" sz="1200" spc="10">
                <a:latin typeface="Times New Roman"/>
                <a:cs typeface="Times New Roman"/>
              </a:rPr>
              <a:t>3	</a:t>
            </a:r>
            <a:r>
              <a:rPr dirty="0" u="heavy" sz="12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2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  <a:p>
            <a:pPr marL="466090">
              <a:lnSpc>
                <a:spcPts val="2420"/>
              </a:lnSpc>
            </a:pPr>
            <a:r>
              <a:rPr dirty="0" sz="2100" spc="5">
                <a:latin typeface="Times New Roman"/>
                <a:cs typeface="Times New Roman"/>
              </a:rPr>
              <a:t>4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 spc="5" i="1">
                <a:latin typeface="Times New Roman"/>
                <a:cs typeface="Times New Roman"/>
              </a:rPr>
              <a:t>K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17391" y="3547151"/>
            <a:ext cx="592455" cy="3663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100" spc="5">
                <a:latin typeface="Times New Roman"/>
                <a:cs typeface="Times New Roman"/>
              </a:rPr>
              <a:t>3 </a:t>
            </a:r>
            <a:r>
              <a:rPr dirty="0" sz="2100" spc="5" i="1">
                <a:latin typeface="Times New Roman"/>
                <a:cs typeface="Times New Roman"/>
              </a:rPr>
              <a:t>F</a:t>
            </a:r>
            <a:r>
              <a:rPr dirty="0" sz="2100" spc="-204" i="1">
                <a:latin typeface="Times New Roman"/>
                <a:cs typeface="Times New Roman"/>
              </a:rPr>
              <a:t> </a:t>
            </a:r>
            <a:r>
              <a:rPr dirty="0" sz="2200" spc="-114">
                <a:latin typeface="Symbol"/>
                <a:cs typeface="Symbol"/>
              </a:rPr>
              <a:t>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99944" y="3730244"/>
            <a:ext cx="51689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356235" algn="l"/>
              </a:tabLst>
            </a:pPr>
            <a:r>
              <a:rPr dirty="0" sz="2100" spc="5" i="1">
                <a:latin typeface="Times New Roman"/>
                <a:cs typeface="Times New Roman"/>
              </a:rPr>
              <a:t>Q</a:t>
            </a:r>
            <a:r>
              <a:rPr dirty="0" sz="2100" spc="5" i="1">
                <a:latin typeface="Times New Roman"/>
                <a:cs typeface="Times New Roman"/>
              </a:rPr>
              <a:t>	</a:t>
            </a:r>
            <a:r>
              <a:rPr dirty="0" sz="2100" spc="5">
                <a:latin typeface="Symbol"/>
                <a:cs typeface="Symbol"/>
              </a:rPr>
              <a:t></a:t>
            </a:r>
            <a:endParaRPr sz="21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779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770"/>
              </a:spcBef>
            </a:pPr>
            <a:r>
              <a:rPr dirty="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pc="5"/>
              <a:t>最佳现</a:t>
            </a:r>
            <a:r>
              <a:rPr dirty="0" spc="-20"/>
              <a:t>金</a:t>
            </a:r>
            <a:r>
              <a:rPr dirty="0" spc="5"/>
              <a:t>余额</a:t>
            </a:r>
            <a:r>
              <a:rPr dirty="0" spc="-20"/>
              <a:t>的确</a:t>
            </a:r>
            <a:r>
              <a:rPr dirty="0" spc="5"/>
              <a:t>定</a:t>
            </a:r>
          </a:p>
          <a:p>
            <a:pPr marL="506095">
              <a:lnSpc>
                <a:spcPct val="100000"/>
              </a:lnSpc>
              <a:spcBef>
                <a:spcPts val="56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/>
              <a:t>因数分析模型</a:t>
            </a:r>
            <a:endParaRPr sz="2400">
              <a:latin typeface="Wingdings"/>
              <a:cs typeface="Wingdings"/>
            </a:endParaRPr>
          </a:p>
          <a:p>
            <a:pPr marL="793115" marR="5080" indent="642620">
              <a:lnSpc>
                <a:spcPct val="105000"/>
              </a:lnSpc>
              <a:spcBef>
                <a:spcPts val="290"/>
              </a:spcBef>
            </a:pPr>
            <a:r>
              <a:rPr dirty="0" sz="2400"/>
              <a:t>因素分析模型</a:t>
            </a:r>
            <a:r>
              <a:rPr dirty="0" sz="2400" spc="-25"/>
              <a:t>是</a:t>
            </a:r>
            <a:r>
              <a:rPr dirty="0" sz="2400"/>
              <a:t>根据上年现金占用额和有关因素的 变动情况，来确定最佳现金余额的方法。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8528304" y="3624072"/>
            <a:ext cx="165100" cy="1005840"/>
          </a:xfrm>
          <a:custGeom>
            <a:avLst/>
            <a:gdLst/>
            <a:ahLst/>
            <a:cxnLst/>
            <a:rect l="l" t="t" r="r" b="b"/>
            <a:pathLst>
              <a:path w="165100" h="1005839">
                <a:moveTo>
                  <a:pt x="164592" y="0"/>
                </a:moveTo>
                <a:lnTo>
                  <a:pt x="0" y="161544"/>
                </a:lnTo>
                <a:lnTo>
                  <a:pt x="0" y="1005840"/>
                </a:lnTo>
                <a:lnTo>
                  <a:pt x="164592" y="844296"/>
                </a:lnTo>
                <a:lnTo>
                  <a:pt x="164592" y="0"/>
                </a:lnTo>
                <a:close/>
              </a:path>
            </a:pathLst>
          </a:custGeom>
          <a:solidFill>
            <a:srgbClr val="A5C4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85672" y="3624072"/>
            <a:ext cx="7507605" cy="161925"/>
          </a:xfrm>
          <a:custGeom>
            <a:avLst/>
            <a:gdLst/>
            <a:ahLst/>
            <a:cxnLst/>
            <a:rect l="l" t="t" r="r" b="b"/>
            <a:pathLst>
              <a:path w="7507605" h="161925">
                <a:moveTo>
                  <a:pt x="7507224" y="0"/>
                </a:moveTo>
                <a:lnTo>
                  <a:pt x="161544" y="0"/>
                </a:lnTo>
                <a:lnTo>
                  <a:pt x="0" y="161544"/>
                </a:lnTo>
                <a:lnTo>
                  <a:pt x="7342632" y="161544"/>
                </a:lnTo>
                <a:lnTo>
                  <a:pt x="7507224" y="0"/>
                </a:lnTo>
                <a:close/>
              </a:path>
            </a:pathLst>
          </a:custGeom>
          <a:solidFill>
            <a:srgbClr val="6F858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85672" y="3785616"/>
            <a:ext cx="7343140" cy="844550"/>
          </a:xfrm>
          <a:custGeom>
            <a:avLst/>
            <a:gdLst/>
            <a:ahLst/>
            <a:cxnLst/>
            <a:rect l="l" t="t" r="r" b="b"/>
            <a:pathLst>
              <a:path w="7343140" h="844550">
                <a:moveTo>
                  <a:pt x="0" y="0"/>
                </a:moveTo>
                <a:lnTo>
                  <a:pt x="0" y="844296"/>
                </a:lnTo>
                <a:lnTo>
                  <a:pt x="7342632" y="844296"/>
                </a:lnTo>
                <a:lnTo>
                  <a:pt x="7342632" y="0"/>
                </a:lnTo>
                <a:lnTo>
                  <a:pt x="0" y="0"/>
                </a:lnTo>
                <a:close/>
              </a:path>
            </a:pathLst>
          </a:custGeom>
          <a:solidFill>
            <a:srgbClr val="8FAB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85672" y="3785616"/>
            <a:ext cx="0" cy="844550"/>
          </a:xfrm>
          <a:custGeom>
            <a:avLst/>
            <a:gdLst/>
            <a:ahLst/>
            <a:cxnLst/>
            <a:rect l="l" t="t" r="r" b="b"/>
            <a:pathLst>
              <a:path w="0" h="844550">
                <a:moveTo>
                  <a:pt x="0" y="0"/>
                </a:moveTo>
                <a:lnTo>
                  <a:pt x="0" y="844295"/>
                </a:lnTo>
              </a:path>
            </a:pathLst>
          </a:custGeom>
          <a:ln w="12191">
            <a:solidFill>
              <a:srgbClr val="9DBC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85672" y="4629912"/>
            <a:ext cx="67310" cy="0"/>
          </a:xfrm>
          <a:custGeom>
            <a:avLst/>
            <a:gdLst/>
            <a:ahLst/>
            <a:cxnLst/>
            <a:rect l="l" t="t" r="r" b="b"/>
            <a:pathLst>
              <a:path w="67309" h="0">
                <a:moveTo>
                  <a:pt x="0" y="0"/>
                </a:moveTo>
                <a:lnTo>
                  <a:pt x="67056" y="0"/>
                </a:lnTo>
              </a:path>
            </a:pathLst>
          </a:custGeom>
          <a:ln w="12191">
            <a:solidFill>
              <a:srgbClr val="86A0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528303" y="3785616"/>
            <a:ext cx="0" cy="844550"/>
          </a:xfrm>
          <a:custGeom>
            <a:avLst/>
            <a:gdLst/>
            <a:ahLst/>
            <a:cxnLst/>
            <a:rect l="l" t="t" r="r" b="b"/>
            <a:pathLst>
              <a:path w="0" h="844550">
                <a:moveTo>
                  <a:pt x="0" y="844295"/>
                </a:moveTo>
                <a:lnTo>
                  <a:pt x="0" y="0"/>
                </a:lnTo>
              </a:path>
            </a:pathLst>
          </a:custGeom>
          <a:ln w="12191">
            <a:solidFill>
              <a:srgbClr val="ABCD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85672" y="3779520"/>
            <a:ext cx="7343140" cy="12700"/>
          </a:xfrm>
          <a:custGeom>
            <a:avLst/>
            <a:gdLst/>
            <a:ahLst/>
            <a:cxnLst/>
            <a:rect l="l" t="t" r="r" b="b"/>
            <a:pathLst>
              <a:path w="7343140" h="12700">
                <a:moveTo>
                  <a:pt x="0" y="12192"/>
                </a:moveTo>
                <a:lnTo>
                  <a:pt x="7342631" y="12192"/>
                </a:lnTo>
                <a:lnTo>
                  <a:pt x="7342631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86A0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52727" y="3971544"/>
            <a:ext cx="7275830" cy="822960"/>
          </a:xfrm>
          <a:custGeom>
            <a:avLst/>
            <a:gdLst/>
            <a:ahLst/>
            <a:cxnLst/>
            <a:rect l="l" t="t" r="r" b="b"/>
            <a:pathLst>
              <a:path w="7275830" h="822960">
                <a:moveTo>
                  <a:pt x="0" y="0"/>
                </a:moveTo>
                <a:lnTo>
                  <a:pt x="0" y="822960"/>
                </a:lnTo>
                <a:lnTo>
                  <a:pt x="7275576" y="822960"/>
                </a:lnTo>
                <a:lnTo>
                  <a:pt x="7275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70508" y="3858260"/>
            <a:ext cx="7359015" cy="922019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919"/>
              </a:spcBef>
            </a:pPr>
            <a:r>
              <a:rPr dirty="0" sz="2250" spc="5">
                <a:latin typeface="宋体"/>
                <a:cs typeface="宋体"/>
              </a:rPr>
              <a:t>最</a:t>
            </a:r>
            <a:r>
              <a:rPr dirty="0" sz="2250" spc="50">
                <a:latin typeface="宋体"/>
                <a:cs typeface="宋体"/>
              </a:rPr>
              <a:t>佳</a:t>
            </a:r>
            <a:r>
              <a:rPr dirty="0" sz="2250" spc="30">
                <a:latin typeface="宋体"/>
                <a:cs typeface="宋体"/>
              </a:rPr>
              <a:t>现金余</a:t>
            </a:r>
            <a:r>
              <a:rPr dirty="0" sz="2250" spc="5">
                <a:latin typeface="宋体"/>
                <a:cs typeface="宋体"/>
              </a:rPr>
              <a:t>额</a:t>
            </a:r>
            <a:r>
              <a:rPr dirty="0" sz="2250" spc="30">
                <a:latin typeface="宋体"/>
                <a:cs typeface="宋体"/>
              </a:rPr>
              <a:t>＝</a:t>
            </a:r>
            <a:r>
              <a:rPr dirty="0" sz="2250" spc="50">
                <a:latin typeface="宋体"/>
                <a:cs typeface="宋体"/>
              </a:rPr>
              <a:t>（</a:t>
            </a:r>
            <a:r>
              <a:rPr dirty="0" sz="2250" spc="5">
                <a:latin typeface="宋体"/>
                <a:cs typeface="宋体"/>
              </a:rPr>
              <a:t>上</a:t>
            </a:r>
            <a:r>
              <a:rPr dirty="0" sz="2250" spc="390">
                <a:latin typeface="宋体"/>
                <a:cs typeface="宋体"/>
              </a:rPr>
              <a:t>年</a:t>
            </a:r>
            <a:r>
              <a:rPr dirty="0" sz="2250" spc="5">
                <a:latin typeface="宋体"/>
                <a:cs typeface="宋体"/>
              </a:rPr>
              <a:t>现</a:t>
            </a:r>
            <a:r>
              <a:rPr dirty="0" sz="2250" spc="50">
                <a:latin typeface="宋体"/>
                <a:cs typeface="宋体"/>
              </a:rPr>
              <a:t>金</a:t>
            </a:r>
            <a:r>
              <a:rPr dirty="0" sz="2250" spc="30">
                <a:latin typeface="宋体"/>
                <a:cs typeface="宋体"/>
              </a:rPr>
              <a:t>平均占</a:t>
            </a:r>
            <a:r>
              <a:rPr dirty="0" sz="2250" spc="5">
                <a:latin typeface="宋体"/>
                <a:cs typeface="宋体"/>
              </a:rPr>
              <a:t>用</a:t>
            </a:r>
            <a:r>
              <a:rPr dirty="0" sz="2250" spc="50">
                <a:latin typeface="宋体"/>
                <a:cs typeface="宋体"/>
              </a:rPr>
              <a:t>额</a:t>
            </a:r>
            <a:r>
              <a:rPr dirty="0" sz="2250" spc="30">
                <a:latin typeface="宋体"/>
                <a:cs typeface="宋体"/>
              </a:rPr>
              <a:t>－</a:t>
            </a:r>
            <a:r>
              <a:rPr dirty="0" sz="2250" spc="5">
                <a:latin typeface="宋体"/>
                <a:cs typeface="宋体"/>
              </a:rPr>
              <a:t>不</a:t>
            </a:r>
            <a:r>
              <a:rPr dirty="0" sz="2250" spc="390">
                <a:latin typeface="宋体"/>
                <a:cs typeface="宋体"/>
              </a:rPr>
              <a:t>合</a:t>
            </a:r>
            <a:r>
              <a:rPr dirty="0" sz="2250" spc="30">
                <a:latin typeface="宋体"/>
                <a:cs typeface="宋体"/>
              </a:rPr>
              <a:t>理占用额）</a:t>
            </a:r>
            <a:endParaRPr sz="22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2250" spc="-530">
                <a:latin typeface="Symbol"/>
                <a:cs typeface="Symbol"/>
              </a:rPr>
              <a:t></a:t>
            </a:r>
            <a:r>
              <a:rPr dirty="0" sz="2250" spc="-530">
                <a:latin typeface="宋体"/>
                <a:cs typeface="宋体"/>
              </a:rPr>
              <a:t>（</a:t>
            </a:r>
            <a:r>
              <a:rPr dirty="0" sz="2250" spc="-530">
                <a:latin typeface="Times New Roman"/>
                <a:cs typeface="Times New Roman"/>
              </a:rPr>
              <a:t>1</a:t>
            </a:r>
            <a:r>
              <a:rPr dirty="0" sz="2250" spc="-525">
                <a:latin typeface="Times New Roman"/>
                <a:cs typeface="Times New Roman"/>
              </a:rPr>
              <a:t> </a:t>
            </a:r>
            <a:r>
              <a:rPr dirty="0" sz="2250" spc="215">
                <a:latin typeface="Symbol"/>
                <a:cs typeface="Symbol"/>
              </a:rPr>
              <a:t>巨</a:t>
            </a:r>
            <a:r>
              <a:rPr dirty="0" sz="2250" spc="30">
                <a:latin typeface="宋体"/>
                <a:cs typeface="宋体"/>
              </a:rPr>
              <a:t>预计销售收入变化的</a:t>
            </a:r>
            <a:r>
              <a:rPr dirty="0" sz="2250" spc="365">
                <a:latin typeface="宋体"/>
                <a:cs typeface="宋体"/>
              </a:rPr>
              <a:t>百</a:t>
            </a:r>
            <a:r>
              <a:rPr dirty="0" sz="2250" spc="30">
                <a:latin typeface="宋体"/>
                <a:cs typeface="宋体"/>
              </a:rPr>
              <a:t>分</a:t>
            </a:r>
            <a:r>
              <a:rPr dirty="0" sz="2250" spc="5">
                <a:latin typeface="宋体"/>
                <a:cs typeface="宋体"/>
              </a:rPr>
              <a:t>比</a:t>
            </a:r>
            <a:r>
              <a:rPr dirty="0" sz="2250" spc="30">
                <a:latin typeface="宋体"/>
                <a:cs typeface="宋体"/>
              </a:rPr>
              <a:t>）</a:t>
            </a:r>
            <a:endParaRPr sz="225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535171" y="639572"/>
            <a:ext cx="20650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现</a:t>
            </a:r>
            <a:r>
              <a:rPr dirty="0" spc="25"/>
              <a:t>金</a:t>
            </a:r>
            <a:r>
              <a:rPr dirty="0" spc="5"/>
              <a:t>管理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1439330"/>
            <a:ext cx="7865109" cy="51390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现金的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常控制</a:t>
            </a:r>
            <a:endParaRPr sz="2800">
              <a:latin typeface="宋体"/>
              <a:cs typeface="宋体"/>
            </a:endParaRPr>
          </a:p>
          <a:p>
            <a:pPr algn="just" marL="756285" marR="5080" indent="-287020">
              <a:lnSpc>
                <a:spcPct val="98100"/>
              </a:lnSpc>
              <a:spcBef>
                <a:spcPts val="62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加速收款：支票邮寄时间和停留时间与客户、公司、 分行之间的距离有关，而且与收款的效率有关</a:t>
            </a:r>
            <a:r>
              <a:rPr dirty="0" sz="2400" spc="5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可以采 取一定策略缩短；银行办理支票的结算时间一般来说 与公司自身努力关系不大。</a:t>
            </a:r>
            <a:endParaRPr sz="2400">
              <a:latin typeface="宋体"/>
              <a:cs typeface="宋体"/>
            </a:endParaRPr>
          </a:p>
          <a:p>
            <a:pPr algn="just" marL="756285" marR="78105" indent="-287020">
              <a:lnSpc>
                <a:spcPct val="99700"/>
              </a:lnSpc>
              <a:spcBef>
                <a:spcPts val="73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集中银行：企业建立多个收款中心来加速现金流转</a:t>
            </a:r>
            <a:r>
              <a:rPr dirty="0" sz="2400" spc="-65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优点是缩短客户邮寄支票时间和支票托收时间，缩短 了现金从客户到公司的中间周转时间。缺点是需要在 多处设立收账中心，从而增加了相应的费用支出。</a:t>
            </a:r>
            <a:endParaRPr sz="2400">
              <a:latin typeface="宋体"/>
              <a:cs typeface="宋体"/>
            </a:endParaRPr>
          </a:p>
          <a:p>
            <a:pPr algn="just" marL="756285" marR="78105" indent="-287020">
              <a:lnSpc>
                <a:spcPct val="100000"/>
              </a:lnSpc>
              <a:spcBef>
                <a:spcPts val="57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锁箱系统：通过承租多个邮政信箱，以缩短从收到</a:t>
            </a:r>
            <a:r>
              <a:rPr dirty="0" sz="2400" spc="-65">
                <a:solidFill>
                  <a:srgbClr val="FFFFFF"/>
                </a:solidFill>
                <a:latin typeface="宋体"/>
                <a:cs typeface="宋体"/>
              </a:rPr>
              <a:t>顾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客付款到存入当地银行所需时间。优点是大大缩短了 公司办理收款、存储手续的时间，缺点是需要支付额 外的费用。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35171" y="639572"/>
            <a:ext cx="20650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现</a:t>
            </a:r>
            <a:r>
              <a:rPr dirty="0" spc="25"/>
              <a:t>金</a:t>
            </a:r>
            <a:r>
              <a:rPr dirty="0" spc="5"/>
              <a:t>管理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79" y="1806956"/>
            <a:ext cx="8605520" cy="33267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-10">
                <a:solidFill>
                  <a:srgbClr val="FF6600"/>
                </a:solidFill>
                <a:latin typeface="Wingdings"/>
                <a:cs typeface="Wingdings"/>
              </a:rPr>
              <a:t></a:t>
            </a:r>
            <a:r>
              <a:rPr dirty="0" sz="3200" spc="9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控制支出</a:t>
            </a:r>
            <a:endParaRPr sz="2800">
              <a:latin typeface="宋体"/>
              <a:cs typeface="宋体"/>
            </a:endParaRPr>
          </a:p>
          <a:p>
            <a:pPr marL="756285" marR="5080" indent="-287020">
              <a:lnSpc>
                <a:spcPct val="140000"/>
              </a:lnSpc>
              <a:spcBef>
                <a:spcPts val="65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使用现金浮游量：所谓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浮游量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是指企业账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户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上的存款余</a:t>
            </a:r>
            <a:r>
              <a:rPr dirty="0" sz="2400" spc="-55">
                <a:solidFill>
                  <a:srgbClr val="FFFFFF"/>
                </a:solidFill>
                <a:latin typeface="宋体"/>
                <a:cs typeface="宋体"/>
              </a:rPr>
              <a:t>额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与银行账户上所示的存款余额之间的差额</a:t>
            </a:r>
            <a:r>
              <a:rPr dirty="0" sz="2400" spc="-53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56285" marR="208915" indent="-287020">
              <a:lnSpc>
                <a:spcPct val="140000"/>
              </a:lnSpc>
              <a:spcBef>
                <a:spcPts val="77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控制支出时间：指最大限度地利用资金，合理控制现金</a:t>
            </a:r>
            <a:r>
              <a:rPr dirty="0" sz="2400" spc="-60">
                <a:solidFill>
                  <a:srgbClr val="FFFFFF"/>
                </a:solidFill>
                <a:latin typeface="宋体"/>
                <a:cs typeface="宋体"/>
              </a:rPr>
              <a:t>支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出时间；</a:t>
            </a:r>
            <a:endParaRPr sz="24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72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工资支出模式：为支付工资而设立一个存款账户。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7467" y="569468"/>
            <a:ext cx="20650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现</a:t>
            </a:r>
            <a:r>
              <a:rPr dirty="0" spc="25"/>
              <a:t>金</a:t>
            </a:r>
            <a:r>
              <a:rPr dirty="0" spc="5"/>
              <a:t>管理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9176" y="2694432"/>
            <a:ext cx="6406875" cy="3160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88340" y="1666748"/>
            <a:ext cx="328993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6600"/>
                </a:solidFill>
                <a:latin typeface="Wingdings"/>
                <a:cs typeface="Wingdings"/>
              </a:rPr>
              <a:t></a:t>
            </a:r>
            <a:r>
              <a:rPr dirty="0" sz="2800" spc="15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闲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资管理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5171" y="639572"/>
            <a:ext cx="20650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现</a:t>
            </a:r>
            <a:r>
              <a:rPr dirty="0" spc="25"/>
              <a:t>金</a:t>
            </a:r>
            <a:r>
              <a:rPr dirty="0" spc="5"/>
              <a:t>管理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1776476"/>
            <a:ext cx="5963285" cy="28632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现金收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合控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endParaRPr sz="28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13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力争现金流入与流出同步；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409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实行内部牵制制度；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14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及时进行现金清理；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28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遵守国家规定的库存现金的使用范围；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29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做好银行存款的管理；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43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适当进行投资。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7467" y="569468"/>
            <a:ext cx="20650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现</a:t>
            </a:r>
            <a:r>
              <a:rPr dirty="0" spc="25"/>
              <a:t>金</a:t>
            </a:r>
            <a:r>
              <a:rPr dirty="0" spc="5"/>
              <a:t>管理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589201"/>
            <a:ext cx="7886700" cy="449707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40"/>
              </a:spcBef>
              <a:buClr>
                <a:srgbClr val="FF6600"/>
              </a:buClr>
              <a:buFont typeface="Wingdings"/>
              <a:buChar char=""/>
              <a:tabLst>
                <a:tab pos="469265" algn="l"/>
                <a:tab pos="46990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应收账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能与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成本</a:t>
            </a:r>
            <a:endParaRPr sz="2800">
              <a:latin typeface="宋体"/>
              <a:cs typeface="宋体"/>
            </a:endParaRPr>
          </a:p>
          <a:p>
            <a:pPr lvl="1" marL="850900" indent="-381000">
              <a:lnSpc>
                <a:spcPct val="100000"/>
              </a:lnSpc>
              <a:spcBef>
                <a:spcPts val="545"/>
              </a:spcBef>
              <a:buClr>
                <a:srgbClr val="FF6600"/>
              </a:buClr>
              <a:buFont typeface="Wingdings"/>
              <a:buChar char=""/>
              <a:tabLst>
                <a:tab pos="8509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应收账款的功能：</a:t>
            </a:r>
            <a:endParaRPr sz="2400">
              <a:latin typeface="宋体"/>
              <a:cs typeface="宋体"/>
            </a:endParaRPr>
          </a:p>
          <a:p>
            <a:pPr lvl="2" marL="1271270" indent="-344805">
              <a:lnSpc>
                <a:spcPct val="100000"/>
              </a:lnSpc>
              <a:spcBef>
                <a:spcPts val="470"/>
              </a:spcBef>
              <a:buClr>
                <a:srgbClr val="FF6600"/>
              </a:buClr>
              <a:buFont typeface="Arial"/>
              <a:buChar char="•"/>
              <a:tabLst>
                <a:tab pos="1271270" algn="l"/>
                <a:tab pos="1271905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增加销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售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的功能</a:t>
            </a:r>
            <a:endParaRPr sz="2000">
              <a:latin typeface="宋体"/>
              <a:cs typeface="宋体"/>
            </a:endParaRPr>
          </a:p>
          <a:p>
            <a:pPr lvl="2" marL="1271270" indent="-344805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Arial"/>
              <a:buChar char="•"/>
              <a:tabLst>
                <a:tab pos="1271270" algn="l"/>
                <a:tab pos="1271905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减少存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能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lvl="1" marL="850900" indent="-381000">
              <a:lnSpc>
                <a:spcPct val="100000"/>
              </a:lnSpc>
              <a:spcBef>
                <a:spcPts val="585"/>
              </a:spcBef>
              <a:buClr>
                <a:srgbClr val="FF6600"/>
              </a:buClr>
              <a:buFont typeface="Wingdings"/>
              <a:buChar char=""/>
              <a:tabLst>
                <a:tab pos="8509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应收账款的成本</a:t>
            </a:r>
            <a:endParaRPr sz="2400">
              <a:latin typeface="宋体"/>
              <a:cs typeface="宋体"/>
            </a:endParaRPr>
          </a:p>
          <a:p>
            <a:pPr algn="just" lvl="2" marL="1271270" marR="5080" indent="-344805">
              <a:lnSpc>
                <a:spcPts val="2280"/>
              </a:lnSpc>
              <a:spcBef>
                <a:spcPts val="625"/>
              </a:spcBef>
              <a:buClr>
                <a:srgbClr val="FF6600"/>
              </a:buClr>
              <a:buFont typeface="Arial"/>
              <a:buChar char="•"/>
              <a:tabLst>
                <a:tab pos="1271905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机会成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；投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放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在应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账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款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上的资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而丧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失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他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，如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投资于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价证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券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便会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收入。</a:t>
            </a:r>
            <a:endParaRPr sz="2000">
              <a:latin typeface="宋体"/>
              <a:cs typeface="宋体"/>
            </a:endParaRPr>
          </a:p>
          <a:p>
            <a:pPr algn="just" lvl="2" marL="1271270" marR="5080" indent="-344805">
              <a:lnSpc>
                <a:spcPct val="97500"/>
              </a:lnSpc>
              <a:spcBef>
                <a:spcPts val="605"/>
              </a:spcBef>
              <a:buClr>
                <a:srgbClr val="FF6600"/>
              </a:buClr>
              <a:buFont typeface="Arial"/>
              <a:buChar char="•"/>
              <a:tabLst>
                <a:tab pos="1271905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管理成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；企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对应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账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款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进行管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所耗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费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种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费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，主 要包括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调查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客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户信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情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况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的费用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搜集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种信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费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用；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账簿的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录费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；收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账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费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；其他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相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关费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algn="just" lvl="2" marL="1271270" indent="-344805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Arial"/>
              <a:buChar char="•"/>
              <a:tabLst>
                <a:tab pos="1271905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坏账成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；应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账款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因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故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能收回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发生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损失</a:t>
            </a:r>
            <a:endParaRPr sz="2000">
              <a:latin typeface="宋体"/>
              <a:cs typeface="宋体"/>
            </a:endParaRPr>
          </a:p>
          <a:p>
            <a:pPr algn="just" lvl="2" marL="1271270" indent="-344805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Arial"/>
              <a:buChar char="•"/>
              <a:tabLst>
                <a:tab pos="1271905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应收账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款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的成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机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管理成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账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成本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应</a:t>
            </a:r>
            <a:r>
              <a:rPr dirty="0" spc="25"/>
              <a:t>收</a:t>
            </a:r>
            <a:r>
              <a:rPr dirty="0" spc="5"/>
              <a:t>账款管理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2116" y="1803908"/>
            <a:ext cx="3570604" cy="28727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应收账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政策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的制</a:t>
            </a:r>
            <a:r>
              <a:rPr dirty="0" sz="2800" spc="-245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914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信用标准</a:t>
            </a:r>
            <a:endParaRPr sz="24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87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信用条件</a:t>
            </a:r>
            <a:endParaRPr sz="24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87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收账政策</a:t>
            </a:r>
            <a:endParaRPr sz="24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87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综合信用政策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应</a:t>
            </a:r>
            <a:r>
              <a:rPr dirty="0" spc="25"/>
              <a:t>收</a:t>
            </a:r>
            <a:r>
              <a:rPr dirty="0" spc="5"/>
              <a:t>账款管理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9132" y="1575307"/>
            <a:ext cx="7721600" cy="3281045"/>
          </a:xfrm>
          <a:prstGeom prst="rect">
            <a:avLst/>
          </a:prstGeom>
        </p:spPr>
        <p:txBody>
          <a:bodyPr wrap="square" lIns="0" tIns="213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信用标准</a:t>
            </a:r>
            <a:endParaRPr sz="2400">
              <a:latin typeface="宋体"/>
              <a:cs typeface="宋体"/>
            </a:endParaRPr>
          </a:p>
          <a:p>
            <a:pPr marL="698500" indent="-228600">
              <a:lnSpc>
                <a:spcPct val="100000"/>
              </a:lnSpc>
              <a:spcBef>
                <a:spcPts val="1580"/>
              </a:spcBef>
              <a:buClr>
                <a:srgbClr val="FF6600"/>
              </a:buClr>
              <a:buFont typeface="Arial"/>
              <a:buChar char="•"/>
              <a:tabLst>
                <a:tab pos="6985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客户获得企业的交易信用所应具备的条件</a:t>
            </a:r>
            <a:endParaRPr sz="2400">
              <a:latin typeface="宋体"/>
              <a:cs typeface="宋体"/>
            </a:endParaRPr>
          </a:p>
          <a:p>
            <a:pPr marL="698500" marR="5080" indent="-228600">
              <a:lnSpc>
                <a:spcPct val="135000"/>
              </a:lnSpc>
              <a:spcBef>
                <a:spcPts val="580"/>
              </a:spcBef>
              <a:buClr>
                <a:srgbClr val="FF6600"/>
              </a:buClr>
              <a:buFont typeface="Arial"/>
              <a:buChar char="•"/>
              <a:tabLst>
                <a:tab pos="6985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信用标准严格，则会减少坏账损失，减少应收账款的 机会成本，但销售量较少；</a:t>
            </a:r>
            <a:endParaRPr sz="2400">
              <a:latin typeface="宋体"/>
              <a:cs typeface="宋体"/>
            </a:endParaRPr>
          </a:p>
          <a:p>
            <a:pPr marL="698500" marR="5080" indent="-228600">
              <a:lnSpc>
                <a:spcPct val="135000"/>
              </a:lnSpc>
              <a:spcBef>
                <a:spcPts val="575"/>
              </a:spcBef>
              <a:buClr>
                <a:srgbClr val="FF6600"/>
              </a:buClr>
              <a:buFont typeface="Arial"/>
              <a:buChar char="•"/>
              <a:tabLst>
                <a:tab pos="6985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信用标准宽松，虽然会增加销量，但会相应增加坏账 损失和应收账款的机会成本。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应</a:t>
            </a:r>
            <a:r>
              <a:rPr dirty="0" spc="25"/>
              <a:t>收</a:t>
            </a:r>
            <a:r>
              <a:rPr dirty="0" spc="5"/>
              <a:t>账款管理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5876" y="1450046"/>
            <a:ext cx="7566659" cy="466661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信用条件：公司要求客户支付赊销款的条件</a:t>
            </a:r>
            <a:endParaRPr sz="2400">
              <a:latin typeface="宋体"/>
              <a:cs typeface="宋体"/>
            </a:endParaRPr>
          </a:p>
          <a:p>
            <a:pPr marL="698500" indent="-228600">
              <a:lnSpc>
                <a:spcPct val="100000"/>
              </a:lnSpc>
              <a:spcBef>
                <a:spcPts val="475"/>
              </a:spcBef>
              <a:buClr>
                <a:srgbClr val="FF6600"/>
              </a:buClr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一般包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信用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限、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折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扣和折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扣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期限。</a:t>
            </a:r>
            <a:endParaRPr sz="2000">
              <a:latin typeface="宋体"/>
              <a:cs typeface="宋体"/>
            </a:endParaRPr>
          </a:p>
          <a:p>
            <a:pPr marL="698500" marR="370840" indent="-228600">
              <a:lnSpc>
                <a:spcPct val="100000"/>
              </a:lnSpc>
              <a:spcBef>
                <a:spcPts val="335"/>
              </a:spcBef>
              <a:buClr>
                <a:srgbClr val="FF6600"/>
              </a:buClr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比如：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笔价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款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100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000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元的交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易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，信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条件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2/10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N/30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algn="just" marL="698500" marR="508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•"/>
              <a:tabLst>
                <a:tab pos="6985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信用期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限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的确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：通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常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长信用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限，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以在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度上增 大销售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增加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但不适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地延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长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信用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限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就会给 公司带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不良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果：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使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平均收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账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期延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长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，占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应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收账款 上的资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相应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增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加，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引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起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机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会成本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增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加；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是引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起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账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损失的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增加。</a:t>
            </a:r>
            <a:endParaRPr sz="2000">
              <a:latin typeface="宋体"/>
              <a:cs typeface="宋体"/>
            </a:endParaRPr>
          </a:p>
          <a:p>
            <a:pPr algn="just" marL="698500" marR="5080" indent="-22860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Arial"/>
              <a:buChar char="•"/>
              <a:tabLst>
                <a:tab pos="6985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现金折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扣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与折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扣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期限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确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：如果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实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行现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折扣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政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策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引发的 加速收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款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的效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果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能够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绰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余地补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偿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折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扣成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业就可 以采取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金折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扣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或进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改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变当前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折扣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针；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果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实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行现金 折扣政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策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所带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的效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果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能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补偿现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折扣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本，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不宜采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取现金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折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扣方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针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应</a:t>
            </a:r>
            <a:r>
              <a:rPr dirty="0" spc="25"/>
              <a:t>收</a:t>
            </a:r>
            <a:r>
              <a:rPr dirty="0" spc="5"/>
              <a:t>账款管理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9132" y="1523492"/>
            <a:ext cx="7334884" cy="11201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299085" marR="5080" indent="-287020">
              <a:lnSpc>
                <a:spcPct val="99600"/>
              </a:lnSpc>
              <a:spcBef>
                <a:spcPts val="11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收账政策：指信用条件被违反时，企业采取的收账</a:t>
            </a:r>
            <a:r>
              <a:rPr dirty="0" sz="2400" spc="-65">
                <a:solidFill>
                  <a:srgbClr val="FFFFFF"/>
                </a:solidFill>
                <a:latin typeface="宋体"/>
                <a:cs typeface="宋体"/>
              </a:rPr>
              <a:t>策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略。一般而言，收账费用支出越多，坏账损失越小， 但两者并不一定存在线形关系。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应</a:t>
            </a:r>
            <a:r>
              <a:rPr dirty="0" spc="25"/>
              <a:t>收</a:t>
            </a:r>
            <a:r>
              <a:rPr dirty="0" spc="5"/>
              <a:t>账款管理</a:t>
            </a:r>
          </a:p>
        </p:txBody>
      </p:sp>
      <p:sp>
        <p:nvSpPr>
          <p:cNvPr id="4" name="object 4"/>
          <p:cNvSpPr/>
          <p:nvPr/>
        </p:nvSpPr>
        <p:spPr>
          <a:xfrm>
            <a:off x="3054095" y="3032768"/>
            <a:ext cx="3950201" cy="31424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9132" y="1718563"/>
            <a:ext cx="7627620" cy="221424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99085" marR="5080" indent="-287020">
              <a:lnSpc>
                <a:spcPct val="149700"/>
              </a:lnSpc>
              <a:spcBef>
                <a:spcPts val="8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综合信用政策：指要制定最优的信用政策，应把信用 标准、信用条件、收账政策结合起来，考虑信用标准、 信用条件、收账政策的综合变化对销售额、应收账款 机会成本、坏账成本和收账成本的影响。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应</a:t>
            </a:r>
            <a:r>
              <a:rPr dirty="0" spc="25"/>
              <a:t>收</a:t>
            </a:r>
            <a:r>
              <a:rPr dirty="0" spc="5"/>
              <a:t>账款管理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1491" y="1529588"/>
            <a:ext cx="7520940" cy="4707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应</a:t>
            </a:r>
            <a:r>
              <a:rPr dirty="0" sz="2800" spc="25" b="1">
                <a:solidFill>
                  <a:srgbClr val="FFFFFF"/>
                </a:solidFill>
                <a:latin typeface="Microsoft JhengHei"/>
                <a:cs typeface="Microsoft JhengHei"/>
              </a:rPr>
              <a:t>收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账款的日</a:t>
            </a:r>
            <a:r>
              <a:rPr dirty="0" sz="2800" spc="25" b="1">
                <a:solidFill>
                  <a:srgbClr val="FFFFFF"/>
                </a:solidFill>
                <a:latin typeface="Microsoft JhengHei"/>
                <a:cs typeface="Microsoft JhengHei"/>
              </a:rPr>
              <a:t>常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控制</a:t>
            </a:r>
            <a:endParaRPr sz="2800">
              <a:latin typeface="Microsoft JhengHei"/>
              <a:cs typeface="Microsoft JhengHei"/>
            </a:endParaRPr>
          </a:p>
          <a:p>
            <a:pPr marL="469265">
              <a:lnSpc>
                <a:spcPct val="100000"/>
              </a:lnSpc>
              <a:spcBef>
                <a:spcPts val="174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加强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对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客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户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偿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还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能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力与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信用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状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况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的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调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查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与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分析</a:t>
            </a:r>
            <a:endParaRPr sz="2400">
              <a:latin typeface="Microsoft JhengHei"/>
              <a:cs typeface="Microsoft JhengHei"/>
            </a:endParaRPr>
          </a:p>
          <a:p>
            <a:pPr marL="1155700" marR="334010" indent="-228600">
              <a:lnSpc>
                <a:spcPct val="140000"/>
              </a:lnSpc>
              <a:spcBef>
                <a:spcPts val="305"/>
              </a:spcBef>
              <a:buClr>
                <a:srgbClr val="FF6600"/>
              </a:buClr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5C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评估法：品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德</a:t>
            </a:r>
            <a:r>
              <a:rPr dirty="0" sz="2000" spc="65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5" b="1">
                <a:solidFill>
                  <a:srgbClr val="FFFFFF"/>
                </a:solidFill>
                <a:latin typeface="Arial"/>
                <a:cs typeface="Arial"/>
              </a:rPr>
              <a:t>(character)</a:t>
            </a:r>
            <a:r>
              <a:rPr dirty="0" sz="2000" spc="-5" b="1">
                <a:solidFill>
                  <a:srgbClr val="FFFFFF"/>
                </a:solidFill>
                <a:latin typeface="Microsoft JhengHei"/>
                <a:cs typeface="Microsoft JhengHei"/>
              </a:rPr>
              <a:t>，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能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力</a:t>
            </a:r>
            <a:r>
              <a:rPr dirty="0" sz="2000" spc="65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(capacity)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，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资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本 </a:t>
            </a:r>
            <a:r>
              <a:rPr dirty="0" sz="2000" spc="-5" b="1">
                <a:solidFill>
                  <a:srgbClr val="FFFFFF"/>
                </a:solidFill>
                <a:latin typeface="Arial"/>
                <a:cs typeface="Arial"/>
              </a:rPr>
              <a:t>(capital)</a:t>
            </a:r>
            <a:r>
              <a:rPr dirty="0" sz="2000" spc="-5" b="1">
                <a:solidFill>
                  <a:srgbClr val="FFFFFF"/>
                </a:solidFill>
                <a:latin typeface="Microsoft JhengHei"/>
                <a:cs typeface="Microsoft JhengHei"/>
              </a:rPr>
              <a:t>，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抵押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品</a:t>
            </a:r>
            <a:r>
              <a:rPr dirty="0" sz="2000" spc="75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(collateral)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，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情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况</a:t>
            </a:r>
            <a:r>
              <a:rPr dirty="0" sz="2000" spc="75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5" b="1">
                <a:solidFill>
                  <a:srgbClr val="FFFFFF"/>
                </a:solidFill>
                <a:latin typeface="Arial"/>
                <a:cs typeface="Arial"/>
              </a:rPr>
              <a:t>(conditions)</a:t>
            </a:r>
            <a:endParaRPr sz="2000">
              <a:latin typeface="Arial"/>
              <a:cs typeface="Arial"/>
            </a:endParaRPr>
          </a:p>
          <a:p>
            <a:pPr marL="1155700" indent="-228600">
              <a:lnSpc>
                <a:spcPct val="100000"/>
              </a:lnSpc>
              <a:spcBef>
                <a:spcPts val="1610"/>
              </a:spcBef>
              <a:buClr>
                <a:srgbClr val="FF6600"/>
              </a:buClr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信用评分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法</a:t>
            </a:r>
            <a:endParaRPr sz="2000">
              <a:latin typeface="Microsoft JhengHei"/>
              <a:cs typeface="Microsoft JhengHei"/>
            </a:endParaRPr>
          </a:p>
          <a:p>
            <a:pPr marL="469265">
              <a:lnSpc>
                <a:spcPct val="100000"/>
              </a:lnSpc>
              <a:spcBef>
                <a:spcPts val="173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做好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日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常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的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核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工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作，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进行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账龄分析</a:t>
            </a:r>
            <a:endParaRPr sz="24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70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全面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了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解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和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掌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握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有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关信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用资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料</a:t>
            </a:r>
            <a:endParaRPr sz="2400">
              <a:latin typeface="Microsoft JhengHei"/>
              <a:cs typeface="Microsoft JhengHei"/>
            </a:endParaRPr>
          </a:p>
          <a:p>
            <a:pPr marL="756285" marR="5080" indent="-287020">
              <a:lnSpc>
                <a:spcPct val="140000"/>
              </a:lnSpc>
              <a:spcBef>
                <a:spcPts val="57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定期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与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客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户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对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账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，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抓紧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催收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货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款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，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确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定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合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理的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收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账 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程序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和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讨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债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方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法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应</a:t>
            </a:r>
            <a:r>
              <a:rPr dirty="0" spc="25"/>
              <a:t>收</a:t>
            </a:r>
            <a:r>
              <a:rPr dirty="0" spc="5"/>
              <a:t>账款管理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7364" y="599948"/>
            <a:ext cx="20650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存</a:t>
            </a:r>
            <a:r>
              <a:rPr dirty="0" spc="25"/>
              <a:t>货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/>
          <p:nvPr/>
        </p:nvSpPr>
        <p:spPr>
          <a:xfrm>
            <a:off x="2264664" y="5370576"/>
            <a:ext cx="4754880" cy="1009015"/>
          </a:xfrm>
          <a:custGeom>
            <a:avLst/>
            <a:gdLst/>
            <a:ahLst/>
            <a:cxnLst/>
            <a:rect l="l" t="t" r="r" b="b"/>
            <a:pathLst>
              <a:path w="4754880" h="1009014">
                <a:moveTo>
                  <a:pt x="0" y="0"/>
                </a:moveTo>
                <a:lnTo>
                  <a:pt x="0" y="1008888"/>
                </a:lnTo>
                <a:lnTo>
                  <a:pt x="4754880" y="1008888"/>
                </a:lnTo>
                <a:lnTo>
                  <a:pt x="475488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47288" y="6035040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92951" y="603504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22859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912864" y="6004052"/>
            <a:ext cx="673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latin typeface="Times New Roman"/>
                <a:cs typeface="Times New Roman"/>
              </a:rPr>
              <a:t>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46064" y="6004052"/>
            <a:ext cx="7493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latin typeface="Times New Roman"/>
                <a:cs typeface="Times New Roman"/>
              </a:rPr>
              <a:t>c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5187" y="1655738"/>
            <a:ext cx="7874000" cy="3986529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70"/>
              </a:spcBef>
              <a:buClr>
                <a:srgbClr val="FF6600"/>
              </a:buClr>
              <a:buFont typeface="Wingdings"/>
              <a:buChar char=""/>
              <a:tabLst>
                <a:tab pos="469265" algn="l"/>
                <a:tab pos="46990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存货管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的目的</a:t>
            </a:r>
            <a:endParaRPr sz="2800">
              <a:latin typeface="宋体"/>
              <a:cs typeface="宋体"/>
            </a:endParaRPr>
          </a:p>
          <a:p>
            <a:pPr lvl="1" marL="850900" marR="5080" indent="-381000">
              <a:lnSpc>
                <a:spcPct val="100000"/>
              </a:lnSpc>
              <a:spcBef>
                <a:spcPts val="565"/>
              </a:spcBef>
              <a:buClr>
                <a:srgbClr val="FF6600"/>
              </a:buClr>
              <a:buFont typeface="Wingdings"/>
              <a:buChar char=""/>
              <a:tabLst>
                <a:tab pos="8509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控制存货水平，在充分发挥存货功能的基础上，降低 存货成本</a:t>
            </a:r>
            <a:endParaRPr sz="24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680"/>
              </a:spcBef>
              <a:buClr>
                <a:srgbClr val="FF6600"/>
              </a:buClr>
              <a:buFont typeface="Wingdings"/>
              <a:buChar char=""/>
              <a:tabLst>
                <a:tab pos="469265" algn="l"/>
                <a:tab pos="46990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存货的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能</a:t>
            </a:r>
            <a:endParaRPr sz="2800">
              <a:latin typeface="宋体"/>
              <a:cs typeface="宋体"/>
            </a:endParaRPr>
          </a:p>
          <a:p>
            <a:pPr lvl="1" marL="850900" indent="-381000">
              <a:lnSpc>
                <a:spcPct val="100000"/>
              </a:lnSpc>
              <a:spcBef>
                <a:spcPts val="570"/>
              </a:spcBef>
              <a:buClr>
                <a:srgbClr val="FF6600"/>
              </a:buClr>
              <a:buFont typeface="Wingdings"/>
              <a:buChar char=""/>
              <a:tabLst>
                <a:tab pos="8509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存货的功能</a:t>
            </a:r>
            <a:endParaRPr sz="2400">
              <a:latin typeface="宋体"/>
              <a:cs typeface="宋体"/>
            </a:endParaRPr>
          </a:p>
          <a:p>
            <a:pPr lvl="2" marL="1271270" indent="-344805">
              <a:lnSpc>
                <a:spcPct val="100000"/>
              </a:lnSpc>
              <a:spcBef>
                <a:spcPts val="450"/>
              </a:spcBef>
              <a:buClr>
                <a:srgbClr val="FF6600"/>
              </a:buClr>
              <a:buFont typeface="Arial"/>
              <a:buChar char="•"/>
              <a:tabLst>
                <a:tab pos="1271270" algn="l"/>
                <a:tab pos="1271905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保证生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和销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售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的正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常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需要</a:t>
            </a:r>
            <a:endParaRPr sz="2000">
              <a:latin typeface="宋体"/>
              <a:cs typeface="宋体"/>
            </a:endParaRPr>
          </a:p>
          <a:p>
            <a:pPr lvl="2" marL="1271270" indent="-344805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Arial"/>
              <a:buChar char="•"/>
              <a:tabLst>
                <a:tab pos="1271270" algn="l"/>
                <a:tab pos="1271905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追求较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的存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购买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格</a:t>
            </a:r>
            <a:endParaRPr sz="2000">
              <a:latin typeface="宋体"/>
              <a:cs typeface="宋体"/>
            </a:endParaRPr>
          </a:p>
          <a:p>
            <a:pPr lvl="1" marL="850900" indent="-381000">
              <a:lnSpc>
                <a:spcPct val="100000"/>
              </a:lnSpc>
              <a:spcBef>
                <a:spcPts val="580"/>
              </a:spcBef>
              <a:buClr>
                <a:srgbClr val="FF6600"/>
              </a:buClr>
              <a:buFont typeface="Wingdings"/>
              <a:buChar char=""/>
              <a:tabLst>
                <a:tab pos="8509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存货的成本</a:t>
            </a:r>
            <a:endParaRPr sz="2400">
              <a:latin typeface="宋体"/>
              <a:cs typeface="宋体"/>
            </a:endParaRPr>
          </a:p>
          <a:p>
            <a:pPr marL="1673225">
              <a:lnSpc>
                <a:spcPct val="100000"/>
              </a:lnSpc>
              <a:spcBef>
                <a:spcPts val="1870"/>
              </a:spcBef>
            </a:pPr>
            <a:r>
              <a:rPr dirty="0" sz="1900" spc="-5" i="1">
                <a:latin typeface="Times New Roman"/>
                <a:cs typeface="Times New Roman"/>
              </a:rPr>
              <a:t>TC </a:t>
            </a:r>
            <a:r>
              <a:rPr dirty="0" sz="1900" spc="-5">
                <a:latin typeface="Symbol"/>
                <a:cs typeface="Symbol"/>
              </a:rPr>
              <a:t></a:t>
            </a:r>
            <a:r>
              <a:rPr dirty="0" sz="1900" spc="-5">
                <a:latin typeface="Times New Roman"/>
                <a:cs typeface="Times New Roman"/>
              </a:rPr>
              <a:t> </a:t>
            </a:r>
            <a:r>
              <a:rPr dirty="0" sz="1900" spc="-5" i="1">
                <a:latin typeface="Times New Roman"/>
                <a:cs typeface="Times New Roman"/>
              </a:rPr>
              <a:t>TC </a:t>
            </a:r>
            <a:r>
              <a:rPr dirty="0" sz="1100" i="1">
                <a:latin typeface="Times New Roman"/>
                <a:cs typeface="Times New Roman"/>
              </a:rPr>
              <a:t>a </a:t>
            </a:r>
            <a:r>
              <a:rPr dirty="0" sz="1900" spc="-5">
                <a:latin typeface="Symbol"/>
                <a:cs typeface="Symbol"/>
              </a:rPr>
              <a:t></a:t>
            </a:r>
            <a:r>
              <a:rPr dirty="0" sz="1900" spc="-5">
                <a:latin typeface="Times New Roman"/>
                <a:cs typeface="Times New Roman"/>
              </a:rPr>
              <a:t> </a:t>
            </a:r>
            <a:r>
              <a:rPr dirty="0" sz="1900" spc="-5" i="1">
                <a:latin typeface="Times New Roman"/>
                <a:cs typeface="Times New Roman"/>
              </a:rPr>
              <a:t>TC </a:t>
            </a:r>
            <a:r>
              <a:rPr dirty="0" sz="1100" i="1">
                <a:latin typeface="Times New Roman"/>
                <a:cs typeface="Times New Roman"/>
              </a:rPr>
              <a:t>c </a:t>
            </a:r>
            <a:r>
              <a:rPr dirty="0" sz="1900" spc="-5">
                <a:latin typeface="Symbol"/>
                <a:cs typeface="Symbol"/>
              </a:rPr>
              <a:t></a:t>
            </a:r>
            <a:r>
              <a:rPr dirty="0" sz="1900" spc="-5">
                <a:latin typeface="Times New Roman"/>
                <a:cs typeface="Times New Roman"/>
              </a:rPr>
              <a:t> </a:t>
            </a:r>
            <a:r>
              <a:rPr dirty="0" sz="1900" spc="-5" i="1">
                <a:latin typeface="Times New Roman"/>
                <a:cs typeface="Times New Roman"/>
              </a:rPr>
              <a:t>TC</a:t>
            </a:r>
            <a:r>
              <a:rPr dirty="0" sz="1900" spc="-17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41720" y="6031484"/>
            <a:ext cx="13335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900" spc="-5"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79135" y="6004052"/>
            <a:ext cx="8318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71572" y="5842508"/>
            <a:ext cx="4236085" cy="503555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793750" marR="43180" indent="-756285">
              <a:lnSpc>
                <a:spcPct val="65300"/>
              </a:lnSpc>
              <a:spcBef>
                <a:spcPts val="885"/>
              </a:spcBef>
              <a:tabLst>
                <a:tab pos="2762885" algn="l"/>
                <a:tab pos="3311525" algn="l"/>
              </a:tabLst>
            </a:pPr>
            <a:r>
              <a:rPr dirty="0" sz="1900" spc="-5">
                <a:latin typeface="Symbol"/>
                <a:cs typeface="Symbol"/>
              </a:rPr>
              <a:t></a:t>
            </a:r>
            <a:r>
              <a:rPr dirty="0" sz="1900" spc="-5">
                <a:latin typeface="Times New Roman"/>
                <a:cs typeface="Times New Roman"/>
              </a:rPr>
              <a:t>  </a:t>
            </a:r>
            <a:r>
              <a:rPr dirty="0" sz="1900" spc="-5" i="1">
                <a:latin typeface="Times New Roman"/>
                <a:cs typeface="Times New Roman"/>
              </a:rPr>
              <a:t>F </a:t>
            </a:r>
            <a:r>
              <a:rPr dirty="0" sz="1100">
                <a:latin typeface="Times New Roman"/>
                <a:cs typeface="Times New Roman"/>
              </a:rPr>
              <a:t>1 </a:t>
            </a:r>
            <a:r>
              <a:rPr dirty="0" sz="1900" spc="-5">
                <a:latin typeface="Symbol"/>
                <a:cs typeface="Symbol"/>
              </a:rPr>
              <a:t></a:t>
            </a:r>
            <a:r>
              <a:rPr dirty="0" sz="1900" spc="465">
                <a:latin typeface="Times New Roman"/>
                <a:cs typeface="Times New Roman"/>
              </a:rPr>
              <a:t> </a:t>
            </a:r>
            <a:r>
              <a:rPr dirty="0" baseline="35087" sz="2850" spc="-7" i="1">
                <a:latin typeface="Times New Roman"/>
                <a:cs typeface="Times New Roman"/>
              </a:rPr>
              <a:t>D </a:t>
            </a:r>
            <a:r>
              <a:rPr dirty="0" sz="1900" spc="-400">
                <a:latin typeface="Symbol"/>
                <a:cs typeface="Symbol"/>
              </a:rPr>
              <a:t></a:t>
            </a:r>
            <a:r>
              <a:rPr dirty="0" sz="1900" spc="-400">
                <a:latin typeface="Times New Roman"/>
                <a:cs typeface="Times New Roman"/>
              </a:rPr>
              <a:t>    </a:t>
            </a:r>
            <a:r>
              <a:rPr dirty="0" sz="1900" spc="-325">
                <a:latin typeface="Times New Roman"/>
                <a:cs typeface="Times New Roman"/>
              </a:rPr>
              <a:t> </a:t>
            </a:r>
            <a:r>
              <a:rPr dirty="0" sz="1900" spc="-5" i="1">
                <a:latin typeface="Times New Roman"/>
                <a:cs typeface="Times New Roman"/>
              </a:rPr>
              <a:t>K</a:t>
            </a:r>
            <a:r>
              <a:rPr dirty="0" sz="1900" spc="465" i="1">
                <a:latin typeface="Times New Roman"/>
                <a:cs typeface="Times New Roman"/>
              </a:rPr>
              <a:t> </a:t>
            </a:r>
            <a:r>
              <a:rPr dirty="0" sz="1900" spc="-5">
                <a:latin typeface="Symbol"/>
                <a:cs typeface="Symbol"/>
              </a:rPr>
              <a:t></a:t>
            </a:r>
            <a:r>
              <a:rPr dirty="0" sz="1900" spc="-5">
                <a:latin typeface="Times New Roman"/>
                <a:cs typeface="Times New Roman"/>
              </a:rPr>
              <a:t> </a:t>
            </a:r>
            <a:r>
              <a:rPr dirty="0" sz="1900" spc="-5" i="1">
                <a:latin typeface="Times New Roman"/>
                <a:cs typeface="Times New Roman"/>
              </a:rPr>
              <a:t>D </a:t>
            </a:r>
            <a:r>
              <a:rPr dirty="0" sz="1900" spc="-400">
                <a:latin typeface="Symbol"/>
                <a:cs typeface="Symbol"/>
              </a:rPr>
              <a:t></a:t>
            </a:r>
            <a:r>
              <a:rPr dirty="0" sz="1900" spc="-325">
                <a:latin typeface="Times New Roman"/>
                <a:cs typeface="Times New Roman"/>
              </a:rPr>
              <a:t> </a:t>
            </a:r>
            <a:r>
              <a:rPr dirty="0" sz="1900" spc="-5" i="1">
                <a:latin typeface="Times New Roman"/>
                <a:cs typeface="Times New Roman"/>
              </a:rPr>
              <a:t>U</a:t>
            </a:r>
            <a:r>
              <a:rPr dirty="0" sz="1900" spc="170" i="1">
                <a:latin typeface="Times New Roman"/>
                <a:cs typeface="Times New Roman"/>
              </a:rPr>
              <a:t> </a:t>
            </a:r>
            <a:r>
              <a:rPr dirty="0" sz="1900" spc="-5">
                <a:latin typeface="Symbol"/>
                <a:cs typeface="Symbol"/>
              </a:rPr>
              <a:t></a:t>
            </a:r>
            <a:r>
              <a:rPr dirty="0" sz="1900" spc="165">
                <a:latin typeface="Times New Roman"/>
                <a:cs typeface="Times New Roman"/>
              </a:rPr>
              <a:t> </a:t>
            </a:r>
            <a:r>
              <a:rPr dirty="0" sz="1900" spc="-5" i="1">
                <a:latin typeface="Times New Roman"/>
                <a:cs typeface="Times New Roman"/>
              </a:rPr>
              <a:t>F	</a:t>
            </a:r>
            <a:r>
              <a:rPr dirty="0" sz="1900" spc="-5">
                <a:latin typeface="Symbol"/>
                <a:cs typeface="Symbol"/>
              </a:rPr>
              <a:t></a:t>
            </a:r>
            <a:r>
              <a:rPr dirty="0" sz="1900" spc="160">
                <a:latin typeface="Times New Roman"/>
                <a:cs typeface="Times New Roman"/>
              </a:rPr>
              <a:t> </a:t>
            </a:r>
            <a:r>
              <a:rPr dirty="0" sz="1900" spc="-5" i="1">
                <a:latin typeface="Times New Roman"/>
                <a:cs typeface="Times New Roman"/>
              </a:rPr>
              <a:t>K	</a:t>
            </a:r>
            <a:r>
              <a:rPr dirty="0" sz="1900" spc="-400">
                <a:latin typeface="Symbol"/>
                <a:cs typeface="Symbol"/>
              </a:rPr>
              <a:t></a:t>
            </a:r>
            <a:r>
              <a:rPr dirty="0" sz="1900" spc="-400">
                <a:latin typeface="Times New Roman"/>
                <a:cs typeface="Times New Roman"/>
              </a:rPr>
              <a:t> </a:t>
            </a:r>
            <a:r>
              <a:rPr dirty="0" baseline="35087" sz="2850" spc="-7" i="1">
                <a:latin typeface="Times New Roman"/>
                <a:cs typeface="Times New Roman"/>
              </a:rPr>
              <a:t>Q </a:t>
            </a:r>
            <a:r>
              <a:rPr dirty="0" sz="1900" spc="-5">
                <a:latin typeface="Symbol"/>
                <a:cs typeface="Symbol"/>
              </a:rPr>
              <a:t></a:t>
            </a:r>
            <a:r>
              <a:rPr dirty="0" sz="1900" spc="-5">
                <a:latin typeface="Times New Roman"/>
                <a:cs typeface="Times New Roman"/>
              </a:rPr>
              <a:t> </a:t>
            </a:r>
            <a:r>
              <a:rPr dirty="0" sz="1900" spc="-10" i="1">
                <a:latin typeface="Times New Roman"/>
                <a:cs typeface="Times New Roman"/>
              </a:rPr>
              <a:t>TC  </a:t>
            </a:r>
            <a:r>
              <a:rPr dirty="0" sz="1900" spc="-5" i="1">
                <a:latin typeface="Times New Roman"/>
                <a:cs typeface="Times New Roman"/>
              </a:rPr>
              <a:t>Q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4588" y="612140"/>
            <a:ext cx="2265680" cy="6953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400" spc="10"/>
              <a:t>存货管</a:t>
            </a:r>
            <a:r>
              <a:rPr dirty="0" sz="4400" spc="-10"/>
              <a:t>理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2891" y="1639316"/>
            <a:ext cx="215011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存货的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800" spc="-245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56579" y="3017012"/>
            <a:ext cx="233489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10" b="1">
                <a:solidFill>
                  <a:srgbClr val="FF9933"/>
                </a:solidFill>
                <a:latin typeface="Microsoft JhengHei"/>
                <a:cs typeface="Microsoft JhengHei"/>
              </a:rPr>
              <a:t>订货变动成</a:t>
            </a:r>
            <a:r>
              <a:rPr dirty="0" sz="2000" spc="35" b="1">
                <a:solidFill>
                  <a:srgbClr val="FF9933"/>
                </a:solidFill>
                <a:latin typeface="Microsoft JhengHei"/>
                <a:cs typeface="Microsoft JhengHei"/>
              </a:rPr>
              <a:t>本</a:t>
            </a:r>
            <a:r>
              <a:rPr dirty="0" sz="2000" spc="-15" b="1">
                <a:solidFill>
                  <a:srgbClr val="FF9933"/>
                </a:solidFill>
                <a:latin typeface="Times New Roman"/>
                <a:cs typeface="Times New Roman"/>
              </a:rPr>
              <a:t>D/Q*K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4163" y="4330700"/>
            <a:ext cx="1046480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2330"/>
              </a:lnSpc>
              <a:spcBef>
                <a:spcPts val="90"/>
              </a:spcBef>
            </a:pPr>
            <a:r>
              <a:rPr dirty="0" sz="2000" spc="10" b="1">
                <a:solidFill>
                  <a:srgbClr val="FF9933"/>
                </a:solidFill>
                <a:latin typeface="Microsoft JhengHei"/>
                <a:cs typeface="Microsoft JhengHei"/>
              </a:rPr>
              <a:t>存货成</a:t>
            </a:r>
            <a:r>
              <a:rPr dirty="0" sz="2000" spc="-10" b="1">
                <a:solidFill>
                  <a:srgbClr val="FF9933"/>
                </a:solidFill>
                <a:latin typeface="Microsoft JhengHei"/>
                <a:cs typeface="Microsoft JhengHei"/>
              </a:rPr>
              <a:t>本</a:t>
            </a:r>
            <a:endParaRPr sz="2000">
              <a:latin typeface="Microsoft JhengHei"/>
              <a:cs typeface="Microsoft JhengHei"/>
            </a:endParaRPr>
          </a:p>
          <a:p>
            <a:pPr algn="ctr">
              <a:lnSpc>
                <a:spcPts val="2330"/>
              </a:lnSpc>
            </a:pPr>
            <a:r>
              <a:rPr dirty="0" sz="2000" spc="-15" b="1">
                <a:solidFill>
                  <a:srgbClr val="FF9933"/>
                </a:solidFill>
                <a:latin typeface="Times New Roman"/>
                <a:cs typeface="Times New Roman"/>
              </a:rPr>
              <a:t>TC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9123" y="4260596"/>
            <a:ext cx="1046480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2330"/>
              </a:lnSpc>
              <a:spcBef>
                <a:spcPts val="90"/>
              </a:spcBef>
            </a:pPr>
            <a:r>
              <a:rPr dirty="0" sz="2000" spc="10" b="1">
                <a:solidFill>
                  <a:srgbClr val="FF9933"/>
                </a:solidFill>
                <a:latin typeface="Microsoft JhengHei"/>
                <a:cs typeface="Microsoft JhengHei"/>
              </a:rPr>
              <a:t>存储成</a:t>
            </a:r>
            <a:r>
              <a:rPr dirty="0" sz="2000" spc="-10" b="1">
                <a:solidFill>
                  <a:srgbClr val="FF9933"/>
                </a:solidFill>
                <a:latin typeface="Microsoft JhengHei"/>
                <a:cs typeface="Microsoft JhengHei"/>
              </a:rPr>
              <a:t>本</a:t>
            </a:r>
            <a:endParaRPr sz="2000">
              <a:latin typeface="Microsoft JhengHei"/>
              <a:cs typeface="Microsoft JhengHei"/>
            </a:endParaRPr>
          </a:p>
          <a:p>
            <a:pPr algn="ctr" marL="1905">
              <a:lnSpc>
                <a:spcPts val="2330"/>
              </a:lnSpc>
            </a:pPr>
            <a:r>
              <a:rPr dirty="0" sz="2000" spc="-15" b="1">
                <a:solidFill>
                  <a:srgbClr val="FF9933"/>
                </a:solidFill>
                <a:latin typeface="Times New Roman"/>
                <a:cs typeface="Times New Roman"/>
              </a:rPr>
              <a:t>TCc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05000" y="3209544"/>
            <a:ext cx="429895" cy="2520950"/>
          </a:xfrm>
          <a:custGeom>
            <a:avLst/>
            <a:gdLst/>
            <a:ahLst/>
            <a:cxnLst/>
            <a:rect l="l" t="t" r="r" b="b"/>
            <a:pathLst>
              <a:path w="429894" h="2520950">
                <a:moveTo>
                  <a:pt x="429767" y="0"/>
                </a:moveTo>
                <a:lnTo>
                  <a:pt x="380351" y="5571"/>
                </a:lnTo>
                <a:lnTo>
                  <a:pt x="334880" y="21433"/>
                </a:lnTo>
                <a:lnTo>
                  <a:pt x="294687" y="46306"/>
                </a:lnTo>
                <a:lnTo>
                  <a:pt x="261106" y="78910"/>
                </a:lnTo>
                <a:lnTo>
                  <a:pt x="235469" y="117965"/>
                </a:lnTo>
                <a:lnTo>
                  <a:pt x="219109" y="162192"/>
                </a:lnTo>
                <a:lnTo>
                  <a:pt x="213359" y="210311"/>
                </a:lnTo>
                <a:lnTo>
                  <a:pt x="213359" y="1118615"/>
                </a:lnTo>
                <a:lnTo>
                  <a:pt x="207779" y="1166566"/>
                </a:lnTo>
                <a:lnTo>
                  <a:pt x="191855" y="1210358"/>
                </a:lnTo>
                <a:lnTo>
                  <a:pt x="166813" y="1248818"/>
                </a:lnTo>
                <a:lnTo>
                  <a:pt x="133880" y="1280773"/>
                </a:lnTo>
                <a:lnTo>
                  <a:pt x="94283" y="1305050"/>
                </a:lnTo>
                <a:lnTo>
                  <a:pt x="49247" y="1320477"/>
                </a:lnTo>
                <a:lnTo>
                  <a:pt x="0" y="1325879"/>
                </a:lnTo>
                <a:lnTo>
                  <a:pt x="49247" y="1331451"/>
                </a:lnTo>
                <a:lnTo>
                  <a:pt x="94283" y="1347313"/>
                </a:lnTo>
                <a:lnTo>
                  <a:pt x="133880" y="1372186"/>
                </a:lnTo>
                <a:lnTo>
                  <a:pt x="166813" y="1404790"/>
                </a:lnTo>
                <a:lnTo>
                  <a:pt x="191855" y="1443845"/>
                </a:lnTo>
                <a:lnTo>
                  <a:pt x="207779" y="1488072"/>
                </a:lnTo>
                <a:lnTo>
                  <a:pt x="213359" y="1536191"/>
                </a:lnTo>
                <a:lnTo>
                  <a:pt x="213359" y="2310383"/>
                </a:lnTo>
                <a:lnTo>
                  <a:pt x="219109" y="2358503"/>
                </a:lnTo>
                <a:lnTo>
                  <a:pt x="235469" y="2402730"/>
                </a:lnTo>
                <a:lnTo>
                  <a:pt x="261106" y="2441785"/>
                </a:lnTo>
                <a:lnTo>
                  <a:pt x="294687" y="2474389"/>
                </a:lnTo>
                <a:lnTo>
                  <a:pt x="334880" y="2499262"/>
                </a:lnTo>
                <a:lnTo>
                  <a:pt x="380351" y="2515124"/>
                </a:lnTo>
                <a:lnTo>
                  <a:pt x="429767" y="2520695"/>
                </a:lnTo>
              </a:path>
            </a:pathLst>
          </a:custGeom>
          <a:ln w="2743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319020" y="5485892"/>
            <a:ext cx="1046480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2330"/>
              </a:lnSpc>
              <a:spcBef>
                <a:spcPts val="90"/>
              </a:spcBef>
            </a:pPr>
            <a:r>
              <a:rPr dirty="0" sz="2000" spc="10" b="1">
                <a:solidFill>
                  <a:srgbClr val="FF9933"/>
                </a:solidFill>
                <a:latin typeface="Microsoft JhengHei"/>
                <a:cs typeface="Microsoft JhengHei"/>
              </a:rPr>
              <a:t>缺货成</a:t>
            </a:r>
            <a:r>
              <a:rPr dirty="0" sz="2000" spc="-10" b="1">
                <a:solidFill>
                  <a:srgbClr val="FF9933"/>
                </a:solidFill>
                <a:latin typeface="Microsoft JhengHei"/>
                <a:cs typeface="Microsoft JhengHei"/>
              </a:rPr>
              <a:t>本</a:t>
            </a:r>
            <a:endParaRPr sz="2000">
              <a:latin typeface="Microsoft JhengHei"/>
              <a:cs typeface="Microsoft JhengHei"/>
            </a:endParaRPr>
          </a:p>
          <a:p>
            <a:pPr algn="ctr">
              <a:lnSpc>
                <a:spcPts val="2330"/>
              </a:lnSpc>
            </a:pPr>
            <a:r>
              <a:rPr dirty="0" sz="2000" spc="-15" b="1">
                <a:solidFill>
                  <a:srgbClr val="FF9933"/>
                </a:solidFill>
                <a:latin typeface="Times New Roman"/>
                <a:cs typeface="Times New Roman"/>
              </a:rPr>
              <a:t>TCs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74084" y="4818380"/>
            <a:ext cx="1758950" cy="634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63880" marR="5080" indent="-551815">
              <a:lnSpc>
                <a:spcPct val="100000"/>
              </a:lnSpc>
              <a:spcBef>
                <a:spcPts val="90"/>
              </a:spcBef>
            </a:pPr>
            <a:r>
              <a:rPr dirty="0" sz="2000" spc="10" b="1">
                <a:solidFill>
                  <a:srgbClr val="FF9933"/>
                </a:solidFill>
                <a:latin typeface="Microsoft JhengHei"/>
                <a:cs typeface="Microsoft JhengHei"/>
              </a:rPr>
              <a:t>储存变动成本</a:t>
            </a:r>
            <a:r>
              <a:rPr dirty="0" sz="2000" spc="-5" b="1">
                <a:solidFill>
                  <a:srgbClr val="FF9933"/>
                </a:solidFill>
                <a:latin typeface="Times New Roman"/>
                <a:cs typeface="Times New Roman"/>
              </a:rPr>
              <a:t>K  </a:t>
            </a:r>
            <a:r>
              <a:rPr dirty="0" sz="2000" spc="-5" b="1">
                <a:solidFill>
                  <a:srgbClr val="FF9933"/>
                </a:solidFill>
                <a:latin typeface="Times New Roman"/>
                <a:cs typeface="Times New Roman"/>
              </a:rPr>
              <a:t>c*Q/2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71620" y="2006905"/>
            <a:ext cx="3498215" cy="927735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1667510">
              <a:lnSpc>
                <a:spcPct val="100000"/>
              </a:lnSpc>
              <a:spcBef>
                <a:spcPts val="1250"/>
              </a:spcBef>
            </a:pPr>
            <a:r>
              <a:rPr dirty="0" sz="2000" spc="10" b="1">
                <a:solidFill>
                  <a:srgbClr val="FF9933"/>
                </a:solidFill>
                <a:latin typeface="Microsoft JhengHei"/>
                <a:cs typeface="Microsoft JhengHei"/>
              </a:rPr>
              <a:t>订货固定成本</a:t>
            </a:r>
            <a:r>
              <a:rPr dirty="0" sz="2000" spc="-5" b="1">
                <a:solidFill>
                  <a:srgbClr val="FF9933"/>
                </a:solidFill>
                <a:latin typeface="Times New Roman"/>
                <a:cs typeface="Times New Roman"/>
              </a:rPr>
              <a:t>F1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2000" spc="10" b="1">
                <a:solidFill>
                  <a:srgbClr val="FF9933"/>
                </a:solidFill>
                <a:latin typeface="Microsoft JhengHei"/>
                <a:cs typeface="Microsoft JhengHei"/>
              </a:rPr>
              <a:t>订货成</a:t>
            </a:r>
            <a:r>
              <a:rPr dirty="0" sz="2000" spc="-10" b="1">
                <a:solidFill>
                  <a:srgbClr val="FF9933"/>
                </a:solidFill>
                <a:latin typeface="Microsoft JhengHei"/>
                <a:cs typeface="Microsoft JhengHei"/>
              </a:rPr>
              <a:t>本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31411" y="3320593"/>
            <a:ext cx="1842770" cy="891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76530">
              <a:lnSpc>
                <a:spcPct val="142000"/>
              </a:lnSpc>
              <a:spcBef>
                <a:spcPts val="100"/>
              </a:spcBef>
            </a:pPr>
            <a:r>
              <a:rPr dirty="0" sz="2000" spc="10" b="1">
                <a:solidFill>
                  <a:srgbClr val="FF9933"/>
                </a:solidFill>
                <a:latin typeface="Microsoft JhengHei"/>
                <a:cs typeface="Microsoft JhengHei"/>
              </a:rPr>
              <a:t>购置成</a:t>
            </a:r>
            <a:r>
              <a:rPr dirty="0" sz="2000" spc="35" b="1">
                <a:solidFill>
                  <a:srgbClr val="FF9933"/>
                </a:solidFill>
                <a:latin typeface="Microsoft JhengHei"/>
                <a:cs typeface="Microsoft JhengHei"/>
              </a:rPr>
              <a:t>本</a:t>
            </a:r>
            <a:r>
              <a:rPr dirty="0" sz="2000" spc="-15" b="1">
                <a:solidFill>
                  <a:srgbClr val="FF9933"/>
                </a:solidFill>
                <a:latin typeface="Times New Roman"/>
                <a:cs typeface="Times New Roman"/>
              </a:rPr>
              <a:t>DU  </a:t>
            </a:r>
            <a:r>
              <a:rPr dirty="0" sz="2000" spc="10" b="1">
                <a:solidFill>
                  <a:srgbClr val="FF9933"/>
                </a:solidFill>
                <a:latin typeface="Microsoft JhengHei"/>
                <a:cs typeface="Microsoft JhengHei"/>
              </a:rPr>
              <a:t>储存固定成本</a:t>
            </a:r>
            <a:r>
              <a:rPr dirty="0" sz="2000" spc="-5" b="1">
                <a:solidFill>
                  <a:srgbClr val="FF9933"/>
                </a:solidFill>
                <a:latin typeface="Times New Roman"/>
                <a:cs typeface="Times New Roman"/>
              </a:rPr>
              <a:t>F2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22651" y="3035300"/>
            <a:ext cx="1046480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2330"/>
              </a:lnSpc>
              <a:spcBef>
                <a:spcPts val="90"/>
              </a:spcBef>
            </a:pPr>
            <a:r>
              <a:rPr dirty="0" sz="2000" spc="10" b="1">
                <a:solidFill>
                  <a:srgbClr val="FF9933"/>
                </a:solidFill>
                <a:latin typeface="Microsoft JhengHei"/>
                <a:cs typeface="Microsoft JhengHei"/>
              </a:rPr>
              <a:t>取得成</a:t>
            </a:r>
            <a:r>
              <a:rPr dirty="0" sz="2000" spc="-10" b="1">
                <a:solidFill>
                  <a:srgbClr val="FF9933"/>
                </a:solidFill>
                <a:latin typeface="Microsoft JhengHei"/>
                <a:cs typeface="Microsoft JhengHei"/>
              </a:rPr>
              <a:t>本</a:t>
            </a:r>
            <a:endParaRPr sz="2000">
              <a:latin typeface="Microsoft JhengHei"/>
              <a:cs typeface="Microsoft JhengHei"/>
            </a:endParaRPr>
          </a:p>
          <a:p>
            <a:pPr algn="ctr">
              <a:lnSpc>
                <a:spcPts val="2330"/>
              </a:lnSpc>
            </a:pPr>
            <a:r>
              <a:rPr dirty="0" sz="2000" spc="-15" b="1">
                <a:solidFill>
                  <a:srgbClr val="FF9933"/>
                </a:solidFill>
                <a:latin typeface="Times New Roman"/>
                <a:cs typeface="Times New Roman"/>
              </a:rPr>
              <a:t>TCa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86911" y="2706624"/>
            <a:ext cx="502920" cy="996950"/>
          </a:xfrm>
          <a:custGeom>
            <a:avLst/>
            <a:gdLst/>
            <a:ahLst/>
            <a:cxnLst/>
            <a:rect l="l" t="t" r="r" b="b"/>
            <a:pathLst>
              <a:path w="502920" h="996950">
                <a:moveTo>
                  <a:pt x="502919" y="0"/>
                </a:moveTo>
                <a:lnTo>
                  <a:pt x="436781" y="2920"/>
                </a:lnTo>
                <a:lnTo>
                  <a:pt x="377161" y="11175"/>
                </a:lnTo>
                <a:lnTo>
                  <a:pt x="326516" y="24002"/>
                </a:lnTo>
                <a:lnTo>
                  <a:pt x="287302" y="40639"/>
                </a:lnTo>
                <a:lnTo>
                  <a:pt x="252983" y="82295"/>
                </a:lnTo>
                <a:lnTo>
                  <a:pt x="252983" y="441959"/>
                </a:lnTo>
                <a:lnTo>
                  <a:pt x="243981" y="463930"/>
                </a:lnTo>
                <a:lnTo>
                  <a:pt x="179069" y="500252"/>
                </a:lnTo>
                <a:lnTo>
                  <a:pt x="127903" y="513079"/>
                </a:lnTo>
                <a:lnTo>
                  <a:pt x="67422" y="521334"/>
                </a:lnTo>
                <a:lnTo>
                  <a:pt x="0" y="524255"/>
                </a:lnTo>
                <a:lnTo>
                  <a:pt x="67422" y="527176"/>
                </a:lnTo>
                <a:lnTo>
                  <a:pt x="127903" y="535431"/>
                </a:lnTo>
                <a:lnTo>
                  <a:pt x="179069" y="548258"/>
                </a:lnTo>
                <a:lnTo>
                  <a:pt x="218552" y="564895"/>
                </a:lnTo>
                <a:lnTo>
                  <a:pt x="252983" y="606551"/>
                </a:lnTo>
                <a:lnTo>
                  <a:pt x="252983" y="911351"/>
                </a:lnTo>
                <a:lnTo>
                  <a:pt x="261972" y="933548"/>
                </a:lnTo>
                <a:lnTo>
                  <a:pt x="287302" y="953798"/>
                </a:lnTo>
                <a:lnTo>
                  <a:pt x="326516" y="971168"/>
                </a:lnTo>
                <a:lnTo>
                  <a:pt x="377161" y="984729"/>
                </a:lnTo>
                <a:lnTo>
                  <a:pt x="436781" y="993549"/>
                </a:lnTo>
                <a:lnTo>
                  <a:pt x="502919" y="996695"/>
                </a:lnTo>
              </a:path>
            </a:pathLst>
          </a:custGeom>
          <a:ln w="2743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45023" y="2273808"/>
            <a:ext cx="429895" cy="923925"/>
          </a:xfrm>
          <a:custGeom>
            <a:avLst/>
            <a:gdLst/>
            <a:ahLst/>
            <a:cxnLst/>
            <a:rect l="l" t="t" r="r" b="b"/>
            <a:pathLst>
              <a:path w="429895" h="923925">
                <a:moveTo>
                  <a:pt x="429767" y="0"/>
                </a:moveTo>
                <a:lnTo>
                  <a:pt x="361614" y="3828"/>
                </a:lnTo>
                <a:lnTo>
                  <a:pt x="302239" y="14532"/>
                </a:lnTo>
                <a:lnTo>
                  <a:pt x="255300" y="30943"/>
                </a:lnTo>
                <a:lnTo>
                  <a:pt x="213359" y="76199"/>
                </a:lnTo>
                <a:lnTo>
                  <a:pt x="213359" y="408431"/>
                </a:lnTo>
                <a:lnTo>
                  <a:pt x="202582" y="433059"/>
                </a:lnTo>
                <a:lnTo>
                  <a:pt x="172492" y="454761"/>
                </a:lnTo>
                <a:lnTo>
                  <a:pt x="126455" y="472074"/>
                </a:lnTo>
                <a:lnTo>
                  <a:pt x="67836" y="483534"/>
                </a:lnTo>
                <a:lnTo>
                  <a:pt x="0" y="487679"/>
                </a:lnTo>
                <a:lnTo>
                  <a:pt x="67836" y="491508"/>
                </a:lnTo>
                <a:lnTo>
                  <a:pt x="126455" y="502212"/>
                </a:lnTo>
                <a:lnTo>
                  <a:pt x="172492" y="518623"/>
                </a:lnTo>
                <a:lnTo>
                  <a:pt x="202582" y="539569"/>
                </a:lnTo>
                <a:lnTo>
                  <a:pt x="213359" y="563879"/>
                </a:lnTo>
                <a:lnTo>
                  <a:pt x="213359" y="847343"/>
                </a:lnTo>
                <a:lnTo>
                  <a:pt x="224454" y="871654"/>
                </a:lnTo>
                <a:lnTo>
                  <a:pt x="255300" y="892600"/>
                </a:lnTo>
                <a:lnTo>
                  <a:pt x="302239" y="909011"/>
                </a:lnTo>
                <a:lnTo>
                  <a:pt x="361614" y="919715"/>
                </a:lnTo>
                <a:lnTo>
                  <a:pt x="429767" y="923543"/>
                </a:lnTo>
              </a:path>
            </a:pathLst>
          </a:custGeom>
          <a:ln w="2743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486911" y="4002024"/>
            <a:ext cx="433070" cy="996950"/>
          </a:xfrm>
          <a:custGeom>
            <a:avLst/>
            <a:gdLst/>
            <a:ahLst/>
            <a:cxnLst/>
            <a:rect l="l" t="t" r="r" b="b"/>
            <a:pathLst>
              <a:path w="433070" h="996950">
                <a:moveTo>
                  <a:pt x="432815" y="0"/>
                </a:moveTo>
                <a:lnTo>
                  <a:pt x="364662" y="4169"/>
                </a:lnTo>
                <a:lnTo>
                  <a:pt x="305287" y="15800"/>
                </a:lnTo>
                <a:lnTo>
                  <a:pt x="258348" y="33576"/>
                </a:lnTo>
                <a:lnTo>
                  <a:pt x="227502" y="56180"/>
                </a:lnTo>
                <a:lnTo>
                  <a:pt x="216407" y="82295"/>
                </a:lnTo>
                <a:lnTo>
                  <a:pt x="216407" y="441959"/>
                </a:lnTo>
                <a:lnTo>
                  <a:pt x="205313" y="468075"/>
                </a:lnTo>
                <a:lnTo>
                  <a:pt x="174467" y="490679"/>
                </a:lnTo>
                <a:lnTo>
                  <a:pt x="127528" y="508455"/>
                </a:lnTo>
                <a:lnTo>
                  <a:pt x="68153" y="520086"/>
                </a:lnTo>
                <a:lnTo>
                  <a:pt x="0" y="524255"/>
                </a:lnTo>
                <a:lnTo>
                  <a:pt x="68153" y="528425"/>
                </a:lnTo>
                <a:lnTo>
                  <a:pt x="127528" y="540056"/>
                </a:lnTo>
                <a:lnTo>
                  <a:pt x="174467" y="557832"/>
                </a:lnTo>
                <a:lnTo>
                  <a:pt x="205313" y="580436"/>
                </a:lnTo>
                <a:lnTo>
                  <a:pt x="216407" y="606551"/>
                </a:lnTo>
                <a:lnTo>
                  <a:pt x="216407" y="911351"/>
                </a:lnTo>
                <a:lnTo>
                  <a:pt x="227502" y="937784"/>
                </a:lnTo>
                <a:lnTo>
                  <a:pt x="258348" y="961144"/>
                </a:lnTo>
                <a:lnTo>
                  <a:pt x="305287" y="979822"/>
                </a:lnTo>
                <a:lnTo>
                  <a:pt x="364662" y="992209"/>
                </a:lnTo>
                <a:lnTo>
                  <a:pt x="432815" y="996695"/>
                </a:lnTo>
              </a:path>
            </a:pathLst>
          </a:custGeom>
          <a:ln w="2743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962404"/>
            <a:ext cx="7316470" cy="2922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存货控制</a:t>
            </a:r>
            <a:endParaRPr sz="28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232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分级归口控制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2100"/>
              </a:spcBef>
              <a:buClr>
                <a:srgbClr val="FF6600"/>
              </a:buClr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厂长经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领导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，财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务部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门对存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资金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一管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2110"/>
              </a:spcBef>
              <a:buClr>
                <a:srgbClr val="FF6600"/>
              </a:buClr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实行资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的归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口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管理。</a:t>
            </a:r>
            <a:endParaRPr sz="22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2110"/>
              </a:spcBef>
              <a:buClr>
                <a:srgbClr val="FF6600"/>
              </a:buClr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实行资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的分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管理。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35171" y="639572"/>
            <a:ext cx="20650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存</a:t>
            </a:r>
            <a:r>
              <a:rPr dirty="0" spc="25"/>
              <a:t>货</a:t>
            </a:r>
            <a:r>
              <a:rPr dirty="0" spc="5"/>
              <a:t>管理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79" y="1369226"/>
            <a:ext cx="7200900" cy="1777364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存货控制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56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经济批量控制</a:t>
            </a:r>
            <a:endParaRPr sz="2400">
              <a:latin typeface="宋体"/>
              <a:cs typeface="宋体"/>
            </a:endParaRPr>
          </a:p>
          <a:p>
            <a:pPr marL="756285" marR="5080" indent="642620">
              <a:lnSpc>
                <a:spcPct val="105000"/>
              </a:lnSpc>
              <a:spcBef>
                <a:spcPts val="26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经济批量：指</a:t>
            </a:r>
            <a:r>
              <a:rPr dirty="0" sz="2400" spc="-25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定时期内储存成本和订货成 本总和最低的采购批量。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35171" y="639572"/>
            <a:ext cx="20650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存</a:t>
            </a:r>
            <a:r>
              <a:rPr dirty="0" spc="25"/>
              <a:t>货</a:t>
            </a:r>
            <a:r>
              <a:rPr dirty="0" spc="5"/>
              <a:t>管理</a:t>
            </a:r>
          </a:p>
        </p:txBody>
      </p:sp>
      <p:sp>
        <p:nvSpPr>
          <p:cNvPr id="4" name="object 4"/>
          <p:cNvSpPr/>
          <p:nvPr/>
        </p:nvSpPr>
        <p:spPr>
          <a:xfrm>
            <a:off x="1545336" y="3282713"/>
            <a:ext cx="5797272" cy="3026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83279" y="6458712"/>
            <a:ext cx="2359140" cy="207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5171" y="639572"/>
            <a:ext cx="20650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存</a:t>
            </a:r>
            <a:r>
              <a:rPr dirty="0" spc="25"/>
              <a:t>货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083" y="1669796"/>
            <a:ext cx="393954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经济批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下的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存货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总成本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5083" y="4345940"/>
            <a:ext cx="216217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最佳订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次数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37816" y="2346960"/>
            <a:ext cx="4895215" cy="1658620"/>
          </a:xfrm>
          <a:custGeom>
            <a:avLst/>
            <a:gdLst/>
            <a:ahLst/>
            <a:cxnLst/>
            <a:rect l="l" t="t" r="r" b="b"/>
            <a:pathLst>
              <a:path w="4895215" h="1658620">
                <a:moveTo>
                  <a:pt x="0" y="0"/>
                </a:moveTo>
                <a:lnTo>
                  <a:pt x="0" y="1658112"/>
                </a:lnTo>
                <a:lnTo>
                  <a:pt x="4895088" y="1658112"/>
                </a:lnTo>
                <a:lnTo>
                  <a:pt x="48950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57600" y="3581400"/>
            <a:ext cx="551815" cy="0"/>
          </a:xfrm>
          <a:custGeom>
            <a:avLst/>
            <a:gdLst/>
            <a:ahLst/>
            <a:cxnLst/>
            <a:rect l="l" t="t" r="r" b="b"/>
            <a:pathLst>
              <a:path w="551814" h="0">
                <a:moveTo>
                  <a:pt x="0" y="0"/>
                </a:moveTo>
                <a:lnTo>
                  <a:pt x="5516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83864" y="3666744"/>
            <a:ext cx="33655" cy="21590"/>
          </a:xfrm>
          <a:custGeom>
            <a:avLst/>
            <a:gdLst/>
            <a:ahLst/>
            <a:cxnLst/>
            <a:rect l="l" t="t" r="r" b="b"/>
            <a:pathLst>
              <a:path w="33654" h="21589">
                <a:moveTo>
                  <a:pt x="0" y="21335"/>
                </a:moveTo>
                <a:lnTo>
                  <a:pt x="3352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517391" y="3672840"/>
            <a:ext cx="48895" cy="271780"/>
          </a:xfrm>
          <a:custGeom>
            <a:avLst/>
            <a:gdLst/>
            <a:ahLst/>
            <a:cxnLst/>
            <a:rect l="l" t="t" r="r" b="b"/>
            <a:pathLst>
              <a:path w="48895" h="271779">
                <a:moveTo>
                  <a:pt x="0" y="0"/>
                </a:moveTo>
                <a:lnTo>
                  <a:pt x="48767" y="271271"/>
                </a:lnTo>
              </a:path>
            </a:pathLst>
          </a:custGeom>
          <a:ln w="2133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72255" y="3215640"/>
            <a:ext cx="64135" cy="728980"/>
          </a:xfrm>
          <a:custGeom>
            <a:avLst/>
            <a:gdLst/>
            <a:ahLst/>
            <a:cxnLst/>
            <a:rect l="l" t="t" r="r" b="b"/>
            <a:pathLst>
              <a:path w="64135" h="728979">
                <a:moveTo>
                  <a:pt x="0" y="728471"/>
                </a:moveTo>
                <a:lnTo>
                  <a:pt x="6400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36264" y="3215640"/>
            <a:ext cx="594360" cy="0"/>
          </a:xfrm>
          <a:custGeom>
            <a:avLst/>
            <a:gdLst/>
            <a:ahLst/>
            <a:cxnLst/>
            <a:rect l="l" t="t" r="r" b="b"/>
            <a:pathLst>
              <a:path w="594360" h="0">
                <a:moveTo>
                  <a:pt x="0" y="0"/>
                </a:moveTo>
                <a:lnTo>
                  <a:pt x="59435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56432" y="3176016"/>
            <a:ext cx="795655" cy="0"/>
          </a:xfrm>
          <a:custGeom>
            <a:avLst/>
            <a:gdLst/>
            <a:ahLst/>
            <a:cxnLst/>
            <a:rect l="l" t="t" r="r" b="b"/>
            <a:pathLst>
              <a:path w="795654" h="0">
                <a:moveTo>
                  <a:pt x="0" y="0"/>
                </a:moveTo>
                <a:lnTo>
                  <a:pt x="79552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09159" y="2767584"/>
            <a:ext cx="548640" cy="0"/>
          </a:xfrm>
          <a:custGeom>
            <a:avLst/>
            <a:gdLst/>
            <a:ahLst/>
            <a:cxnLst/>
            <a:rect l="l" t="t" r="r" b="b"/>
            <a:pathLst>
              <a:path w="548639" h="0">
                <a:moveTo>
                  <a:pt x="0" y="0"/>
                </a:moveTo>
                <a:lnTo>
                  <a:pt x="54863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32376" y="2852928"/>
            <a:ext cx="33655" cy="21590"/>
          </a:xfrm>
          <a:custGeom>
            <a:avLst/>
            <a:gdLst/>
            <a:ahLst/>
            <a:cxnLst/>
            <a:rect l="l" t="t" r="r" b="b"/>
            <a:pathLst>
              <a:path w="33654" h="21589">
                <a:moveTo>
                  <a:pt x="0" y="21335"/>
                </a:moveTo>
                <a:lnTo>
                  <a:pt x="3352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65903" y="2859024"/>
            <a:ext cx="52069" cy="271780"/>
          </a:xfrm>
          <a:custGeom>
            <a:avLst/>
            <a:gdLst/>
            <a:ahLst/>
            <a:cxnLst/>
            <a:rect l="l" t="t" r="r" b="b"/>
            <a:pathLst>
              <a:path w="52070" h="271780">
                <a:moveTo>
                  <a:pt x="0" y="0"/>
                </a:moveTo>
                <a:lnTo>
                  <a:pt x="51815" y="271271"/>
                </a:lnTo>
              </a:path>
            </a:pathLst>
          </a:custGeom>
          <a:ln w="2133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620767" y="2401824"/>
            <a:ext cx="67310" cy="728980"/>
          </a:xfrm>
          <a:custGeom>
            <a:avLst/>
            <a:gdLst/>
            <a:ahLst/>
            <a:cxnLst/>
            <a:rect l="l" t="t" r="r" b="b"/>
            <a:pathLst>
              <a:path w="67310" h="728980">
                <a:moveTo>
                  <a:pt x="0" y="728471"/>
                </a:moveTo>
                <a:lnTo>
                  <a:pt x="6705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687823" y="2401824"/>
            <a:ext cx="594360" cy="0"/>
          </a:xfrm>
          <a:custGeom>
            <a:avLst/>
            <a:gdLst/>
            <a:ahLst/>
            <a:cxnLst/>
            <a:rect l="l" t="t" r="r" b="b"/>
            <a:pathLst>
              <a:path w="594360" h="0">
                <a:moveTo>
                  <a:pt x="0" y="0"/>
                </a:moveTo>
                <a:lnTo>
                  <a:pt x="59435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504944" y="3176016"/>
            <a:ext cx="798830" cy="0"/>
          </a:xfrm>
          <a:custGeom>
            <a:avLst/>
            <a:gdLst/>
            <a:ahLst/>
            <a:cxnLst/>
            <a:rect l="l" t="t" r="r" b="b"/>
            <a:pathLst>
              <a:path w="798829" h="0">
                <a:moveTo>
                  <a:pt x="0" y="0"/>
                </a:moveTo>
                <a:lnTo>
                  <a:pt x="79857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141719" y="3203448"/>
            <a:ext cx="33655" cy="18415"/>
          </a:xfrm>
          <a:custGeom>
            <a:avLst/>
            <a:gdLst/>
            <a:ahLst/>
            <a:cxnLst/>
            <a:rect l="l" t="t" r="r" b="b"/>
            <a:pathLst>
              <a:path w="33654" h="18414">
                <a:moveTo>
                  <a:pt x="0" y="18287"/>
                </a:moveTo>
                <a:lnTo>
                  <a:pt x="3352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175247" y="3206496"/>
            <a:ext cx="48895" cy="121920"/>
          </a:xfrm>
          <a:custGeom>
            <a:avLst/>
            <a:gdLst/>
            <a:ahLst/>
            <a:cxnLst/>
            <a:rect l="l" t="t" r="r" b="b"/>
            <a:pathLst>
              <a:path w="48895" h="121920">
                <a:moveTo>
                  <a:pt x="0" y="0"/>
                </a:moveTo>
                <a:lnTo>
                  <a:pt x="48767" y="121919"/>
                </a:lnTo>
              </a:path>
            </a:pathLst>
          </a:custGeom>
          <a:ln w="2133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230111" y="2980944"/>
            <a:ext cx="64135" cy="347980"/>
          </a:xfrm>
          <a:custGeom>
            <a:avLst/>
            <a:gdLst/>
            <a:ahLst/>
            <a:cxnLst/>
            <a:rect l="l" t="t" r="r" b="b"/>
            <a:pathLst>
              <a:path w="64135" h="347979">
                <a:moveTo>
                  <a:pt x="0" y="347471"/>
                </a:moveTo>
                <a:lnTo>
                  <a:pt x="6400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294119" y="2980944"/>
            <a:ext cx="878205" cy="0"/>
          </a:xfrm>
          <a:custGeom>
            <a:avLst/>
            <a:gdLst/>
            <a:ahLst/>
            <a:cxnLst/>
            <a:rect l="l" t="t" r="r" b="b"/>
            <a:pathLst>
              <a:path w="878204" h="0">
                <a:moveTo>
                  <a:pt x="0" y="0"/>
                </a:moveTo>
                <a:lnTo>
                  <a:pt x="877823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016495" y="3141980"/>
            <a:ext cx="11874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250" spc="-5" i="1">
                <a:latin typeface="Times New Roman"/>
                <a:cs typeface="Times New Roman"/>
              </a:rPr>
              <a:t>C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21096" y="3141980"/>
            <a:ext cx="11874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250" spc="-5" i="1">
                <a:latin typeface="Times New Roman"/>
                <a:cs typeface="Times New Roman"/>
              </a:rPr>
              <a:t>C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02047" y="2328164"/>
            <a:ext cx="591185" cy="12020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2555" marR="30480" indent="-97790">
              <a:lnSpc>
                <a:spcPct val="116300"/>
              </a:lnSpc>
              <a:spcBef>
                <a:spcPts val="95"/>
              </a:spcBef>
            </a:pPr>
            <a:r>
              <a:rPr dirty="0" sz="2150" spc="50">
                <a:latin typeface="Times New Roman"/>
                <a:cs typeface="Times New Roman"/>
              </a:rPr>
              <a:t>2</a:t>
            </a:r>
            <a:r>
              <a:rPr dirty="0" sz="2150" spc="25" i="1">
                <a:latin typeface="Times New Roman"/>
                <a:cs typeface="Times New Roman"/>
              </a:rPr>
              <a:t>K</a:t>
            </a:r>
            <a:r>
              <a:rPr dirty="0" sz="2150" i="1">
                <a:latin typeface="Times New Roman"/>
                <a:cs typeface="Times New Roman"/>
              </a:rPr>
              <a:t>D </a:t>
            </a:r>
            <a:r>
              <a:rPr dirty="0" sz="2150" i="1">
                <a:latin typeface="Times New Roman"/>
                <a:cs typeface="Times New Roman"/>
              </a:rPr>
              <a:t> </a:t>
            </a:r>
            <a:r>
              <a:rPr dirty="0" sz="2150" spc="25" i="1">
                <a:latin typeface="Times New Roman"/>
                <a:cs typeface="Times New Roman"/>
              </a:rPr>
              <a:t>K</a:t>
            </a:r>
            <a:r>
              <a:rPr dirty="0" baseline="-24444" sz="1875" spc="37" i="1">
                <a:latin typeface="Times New Roman"/>
                <a:cs typeface="Times New Roman"/>
              </a:rPr>
              <a:t>C</a:t>
            </a:r>
            <a:endParaRPr baseline="-24444" sz="1875">
              <a:latin typeface="Times New Roman"/>
              <a:cs typeface="Times New Roman"/>
            </a:endParaRPr>
          </a:p>
          <a:p>
            <a:pPr marL="140970">
              <a:lnSpc>
                <a:spcPct val="100000"/>
              </a:lnSpc>
              <a:spcBef>
                <a:spcPts val="685"/>
              </a:spcBef>
            </a:pPr>
            <a:r>
              <a:rPr dirty="0" sz="2150" spc="5">
                <a:latin typeface="Times New Roman"/>
                <a:cs typeface="Times New Roman"/>
              </a:rPr>
              <a:t>2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47440" y="2706116"/>
            <a:ext cx="594360" cy="122364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algn="ctr" marL="25400" marR="30480" indent="-146685">
              <a:lnSpc>
                <a:spcPct val="120500"/>
              </a:lnSpc>
              <a:spcBef>
                <a:spcPts val="204"/>
              </a:spcBef>
            </a:pPr>
            <a:r>
              <a:rPr dirty="0" sz="2150" spc="15" i="1">
                <a:latin typeface="Times New Roman"/>
                <a:cs typeface="Times New Roman"/>
              </a:rPr>
              <a:t>KD  </a:t>
            </a:r>
            <a:r>
              <a:rPr dirty="0" sz="2150" spc="50">
                <a:latin typeface="Times New Roman"/>
                <a:cs typeface="Times New Roman"/>
              </a:rPr>
              <a:t>2</a:t>
            </a:r>
            <a:r>
              <a:rPr dirty="0" sz="2150" spc="25" i="1">
                <a:latin typeface="Times New Roman"/>
                <a:cs typeface="Times New Roman"/>
              </a:rPr>
              <a:t>K</a:t>
            </a:r>
            <a:r>
              <a:rPr dirty="0" sz="2150" i="1">
                <a:latin typeface="Times New Roman"/>
                <a:cs typeface="Times New Roman"/>
              </a:rPr>
              <a:t>D </a:t>
            </a:r>
            <a:r>
              <a:rPr dirty="0" sz="2150" i="1">
                <a:latin typeface="Times New Roman"/>
                <a:cs typeface="Times New Roman"/>
              </a:rPr>
              <a:t> </a:t>
            </a:r>
            <a:r>
              <a:rPr dirty="0" sz="2150" spc="35" i="1">
                <a:latin typeface="Times New Roman"/>
                <a:cs typeface="Times New Roman"/>
              </a:rPr>
              <a:t>K</a:t>
            </a:r>
            <a:r>
              <a:rPr dirty="0" baseline="-24444" sz="1875" spc="52" i="1">
                <a:latin typeface="Times New Roman"/>
                <a:cs typeface="Times New Roman"/>
              </a:rPr>
              <a:t>C</a:t>
            </a:r>
            <a:endParaRPr baseline="-24444" sz="1875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25311" y="2959100"/>
            <a:ext cx="111315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386715" algn="l"/>
              </a:tabLst>
            </a:pPr>
            <a:r>
              <a:rPr dirty="0" sz="2150" spc="5">
                <a:latin typeface="Symbol"/>
                <a:cs typeface="Symbol"/>
              </a:rPr>
              <a:t></a:t>
            </a:r>
            <a:r>
              <a:rPr dirty="0" sz="2150" spc="5">
                <a:latin typeface="Times New Roman"/>
                <a:cs typeface="Times New Roman"/>
              </a:rPr>
              <a:t>	</a:t>
            </a:r>
            <a:r>
              <a:rPr dirty="0" sz="2150" spc="50">
                <a:latin typeface="Times New Roman"/>
                <a:cs typeface="Times New Roman"/>
              </a:rPr>
              <a:t>2</a:t>
            </a:r>
            <a:r>
              <a:rPr dirty="0" sz="2150" spc="25" i="1">
                <a:latin typeface="Times New Roman"/>
                <a:cs typeface="Times New Roman"/>
              </a:rPr>
              <a:t>KD</a:t>
            </a:r>
            <a:r>
              <a:rPr dirty="0" sz="2150" spc="5" i="1">
                <a:latin typeface="Times New Roman"/>
                <a:cs typeface="Times New Roman"/>
              </a:rPr>
              <a:t>K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40096" y="2959100"/>
            <a:ext cx="38798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150" spc="-204">
                <a:latin typeface="Symbol"/>
                <a:cs typeface="Symbol"/>
              </a:rPr>
              <a:t></a:t>
            </a:r>
            <a:r>
              <a:rPr dirty="0" sz="2150" spc="-290">
                <a:latin typeface="Times New Roman"/>
                <a:cs typeface="Times New Roman"/>
              </a:rPr>
              <a:t> </a:t>
            </a:r>
            <a:r>
              <a:rPr dirty="0" sz="2150" spc="5" i="1">
                <a:latin typeface="Times New Roman"/>
                <a:cs typeface="Times New Roman"/>
              </a:rPr>
              <a:t>K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06823" y="2959100"/>
            <a:ext cx="163830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150" spc="5">
                <a:latin typeface="Symbol"/>
                <a:cs typeface="Symbol"/>
              </a:rPr>
              <a:t>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36800" y="2959100"/>
            <a:ext cx="109537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dirty="0" sz="2150" spc="10" i="1">
                <a:latin typeface="Times New Roman"/>
                <a:cs typeface="Times New Roman"/>
              </a:rPr>
              <a:t>TC</a:t>
            </a:r>
            <a:r>
              <a:rPr dirty="0" sz="2150" spc="10">
                <a:latin typeface="Times New Roman"/>
                <a:cs typeface="Times New Roman"/>
              </a:rPr>
              <a:t>(</a:t>
            </a:r>
            <a:r>
              <a:rPr dirty="0" sz="2150" spc="10" i="1">
                <a:latin typeface="Times New Roman"/>
                <a:cs typeface="Times New Roman"/>
              </a:rPr>
              <a:t>Q</a:t>
            </a:r>
            <a:r>
              <a:rPr dirty="0" baseline="44444" sz="1875" spc="15">
                <a:latin typeface="Times New Roman"/>
                <a:cs typeface="Times New Roman"/>
              </a:rPr>
              <a:t>* </a:t>
            </a:r>
            <a:r>
              <a:rPr dirty="0" sz="2150">
                <a:latin typeface="Times New Roman"/>
                <a:cs typeface="Times New Roman"/>
              </a:rPr>
              <a:t>)</a:t>
            </a:r>
            <a:r>
              <a:rPr dirty="0" sz="2150" spc="-300">
                <a:latin typeface="Times New Roman"/>
                <a:cs typeface="Times New Roman"/>
              </a:rPr>
              <a:t> </a:t>
            </a:r>
            <a:r>
              <a:rPr dirty="0" sz="2150" spc="5">
                <a:latin typeface="Symbol"/>
                <a:cs typeface="Symbol"/>
              </a:rPr>
              <a:t>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489960" y="4721352"/>
            <a:ext cx="3023870" cy="1438910"/>
          </a:xfrm>
          <a:custGeom>
            <a:avLst/>
            <a:gdLst/>
            <a:ahLst/>
            <a:cxnLst/>
            <a:rect l="l" t="t" r="r" b="b"/>
            <a:pathLst>
              <a:path w="3023870" h="1438910">
                <a:moveTo>
                  <a:pt x="0" y="0"/>
                </a:moveTo>
                <a:lnTo>
                  <a:pt x="0" y="1438656"/>
                </a:lnTo>
                <a:lnTo>
                  <a:pt x="3023616" y="1438656"/>
                </a:lnTo>
                <a:lnTo>
                  <a:pt x="3023616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687823" y="5724144"/>
            <a:ext cx="637540" cy="0"/>
          </a:xfrm>
          <a:custGeom>
            <a:avLst/>
            <a:gdLst/>
            <a:ahLst/>
            <a:cxnLst/>
            <a:rect l="l" t="t" r="r" b="b"/>
            <a:pathLst>
              <a:path w="637539" h="0">
                <a:moveTo>
                  <a:pt x="0" y="0"/>
                </a:moveTo>
                <a:lnTo>
                  <a:pt x="6370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532376" y="5815584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79" h="18414">
                <a:moveTo>
                  <a:pt x="0" y="18287"/>
                </a:moveTo>
                <a:lnTo>
                  <a:pt x="3047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562855" y="5821680"/>
            <a:ext cx="43180" cy="274320"/>
          </a:xfrm>
          <a:custGeom>
            <a:avLst/>
            <a:gdLst/>
            <a:ahLst/>
            <a:cxnLst/>
            <a:rect l="l" t="t" r="r" b="b"/>
            <a:pathLst>
              <a:path w="43179" h="274320">
                <a:moveTo>
                  <a:pt x="0" y="0"/>
                </a:moveTo>
                <a:lnTo>
                  <a:pt x="42671" y="274319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611623" y="5352288"/>
            <a:ext cx="58419" cy="744220"/>
          </a:xfrm>
          <a:custGeom>
            <a:avLst/>
            <a:gdLst/>
            <a:ahLst/>
            <a:cxnLst/>
            <a:rect l="l" t="t" r="r" b="b"/>
            <a:pathLst>
              <a:path w="58420" h="744220">
                <a:moveTo>
                  <a:pt x="0" y="743711"/>
                </a:moveTo>
                <a:lnTo>
                  <a:pt x="57911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669535" y="5352288"/>
            <a:ext cx="673735" cy="0"/>
          </a:xfrm>
          <a:custGeom>
            <a:avLst/>
            <a:gdLst/>
            <a:ahLst/>
            <a:cxnLst/>
            <a:rect l="l" t="t" r="r" b="b"/>
            <a:pathLst>
              <a:path w="673735" h="0">
                <a:moveTo>
                  <a:pt x="0" y="0"/>
                </a:moveTo>
                <a:lnTo>
                  <a:pt x="67360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772911" y="5309616"/>
            <a:ext cx="680085" cy="0"/>
          </a:xfrm>
          <a:custGeom>
            <a:avLst/>
            <a:gdLst/>
            <a:ahLst/>
            <a:cxnLst/>
            <a:rect l="l" t="t" r="r" b="b"/>
            <a:pathLst>
              <a:path w="680085" h="0">
                <a:moveTo>
                  <a:pt x="0" y="0"/>
                </a:moveTo>
                <a:lnTo>
                  <a:pt x="679703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617463" y="5300472"/>
            <a:ext cx="30480" cy="21590"/>
          </a:xfrm>
          <a:custGeom>
            <a:avLst/>
            <a:gdLst/>
            <a:ahLst/>
            <a:cxnLst/>
            <a:rect l="l" t="t" r="r" b="b"/>
            <a:pathLst>
              <a:path w="30479" h="21589">
                <a:moveTo>
                  <a:pt x="0" y="21335"/>
                </a:moveTo>
                <a:lnTo>
                  <a:pt x="3047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647944" y="5306568"/>
            <a:ext cx="43180" cy="307975"/>
          </a:xfrm>
          <a:custGeom>
            <a:avLst/>
            <a:gdLst/>
            <a:ahLst/>
            <a:cxnLst/>
            <a:rect l="l" t="t" r="r" b="b"/>
            <a:pathLst>
              <a:path w="43179" h="307975">
                <a:moveTo>
                  <a:pt x="0" y="0"/>
                </a:moveTo>
                <a:lnTo>
                  <a:pt x="42671" y="307847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696711" y="4794504"/>
            <a:ext cx="58419" cy="820419"/>
          </a:xfrm>
          <a:custGeom>
            <a:avLst/>
            <a:gdLst/>
            <a:ahLst/>
            <a:cxnLst/>
            <a:rect l="l" t="t" r="r" b="b"/>
            <a:pathLst>
              <a:path w="58420" h="820420">
                <a:moveTo>
                  <a:pt x="0" y="819911"/>
                </a:moveTo>
                <a:lnTo>
                  <a:pt x="57911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754623" y="4794504"/>
            <a:ext cx="719455" cy="0"/>
          </a:xfrm>
          <a:custGeom>
            <a:avLst/>
            <a:gdLst/>
            <a:ahLst/>
            <a:cxnLst/>
            <a:rect l="l" t="t" r="r" b="b"/>
            <a:pathLst>
              <a:path w="719454" h="0">
                <a:moveTo>
                  <a:pt x="0" y="0"/>
                </a:moveTo>
                <a:lnTo>
                  <a:pt x="71932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4066032" y="5309108"/>
            <a:ext cx="215265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200" spc="5" i="1">
                <a:latin typeface="Times New Roman"/>
                <a:cs typeface="Times New Roman"/>
              </a:rPr>
              <a:t>Q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771896" y="4682439"/>
            <a:ext cx="603250" cy="988694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0"/>
              </a:spcBef>
            </a:pPr>
            <a:r>
              <a:rPr dirty="0" sz="2200" spc="-235" i="1">
                <a:latin typeface="Times New Roman"/>
                <a:cs typeface="Times New Roman"/>
              </a:rPr>
              <a:t>D</a:t>
            </a:r>
            <a:r>
              <a:rPr dirty="0" sz="2200" spc="-235">
                <a:latin typeface="Symbol"/>
                <a:cs typeface="Symbol"/>
              </a:rPr>
              <a:t></a:t>
            </a:r>
            <a:r>
              <a:rPr dirty="0" sz="2200" spc="-459">
                <a:latin typeface="Times New Roman"/>
                <a:cs typeface="Times New Roman"/>
              </a:rPr>
              <a:t> </a:t>
            </a:r>
            <a:r>
              <a:rPr dirty="0" sz="2200" spc="-65" i="1">
                <a:latin typeface="Times New Roman"/>
                <a:cs typeface="Times New Roman"/>
              </a:rPr>
              <a:t>K</a:t>
            </a:r>
            <a:r>
              <a:rPr dirty="0" baseline="-23504" sz="1950" spc="-97" i="1">
                <a:latin typeface="Times New Roman"/>
                <a:cs typeface="Times New Roman"/>
              </a:rPr>
              <a:t>c</a:t>
            </a:r>
            <a:endParaRPr baseline="-23504" sz="1950">
              <a:latin typeface="Times New Roman"/>
              <a:cs typeface="Times New Roman"/>
            </a:endParaRPr>
          </a:p>
          <a:p>
            <a:pPr marL="186690">
              <a:lnSpc>
                <a:spcPct val="100000"/>
              </a:lnSpc>
              <a:spcBef>
                <a:spcPts val="1150"/>
              </a:spcBef>
            </a:pPr>
            <a:r>
              <a:rPr dirty="0" sz="2200" spc="-35">
                <a:latin typeface="Times New Roman"/>
                <a:cs typeface="Times New Roman"/>
              </a:rPr>
              <a:t>2</a:t>
            </a:r>
            <a:r>
              <a:rPr dirty="0" sz="2200" spc="-35" i="1">
                <a:latin typeface="Times New Roman"/>
                <a:cs typeface="Times New Roman"/>
              </a:rPr>
              <a:t>K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677664" y="5276799"/>
            <a:ext cx="702310" cy="80581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530"/>
              </a:spcBef>
            </a:pPr>
            <a:r>
              <a:rPr dirty="0" sz="2200" spc="-50">
                <a:latin typeface="Times New Roman"/>
                <a:cs typeface="Times New Roman"/>
              </a:rPr>
              <a:t>2</a:t>
            </a:r>
            <a:r>
              <a:rPr dirty="0" sz="2200" spc="-50" i="1">
                <a:latin typeface="Times New Roman"/>
                <a:cs typeface="Times New Roman"/>
              </a:rPr>
              <a:t>K</a:t>
            </a:r>
            <a:r>
              <a:rPr dirty="0" sz="2200" spc="-395" i="1">
                <a:latin typeface="Times New Roman"/>
                <a:cs typeface="Times New Roman"/>
              </a:rPr>
              <a:t> </a:t>
            </a:r>
            <a:r>
              <a:rPr dirty="0" sz="2200" spc="-459">
                <a:latin typeface="Symbol"/>
                <a:cs typeface="Symbol"/>
              </a:rPr>
              <a:t></a:t>
            </a:r>
            <a:r>
              <a:rPr dirty="0" sz="2200" spc="-459">
                <a:latin typeface="Times New Roman"/>
                <a:cs typeface="Times New Roman"/>
              </a:rPr>
              <a:t> </a:t>
            </a:r>
            <a:r>
              <a:rPr dirty="0" sz="2200" spc="5" i="1">
                <a:latin typeface="Times New Roman"/>
                <a:cs typeface="Times New Roman"/>
              </a:rPr>
              <a:t>D</a:t>
            </a:r>
            <a:endParaRPr sz="2200">
              <a:latin typeface="Times New Roman"/>
              <a:cs typeface="Times New Roman"/>
            </a:endParaRPr>
          </a:p>
          <a:p>
            <a:pPr algn="ctr" marR="40005">
              <a:lnSpc>
                <a:spcPct val="100000"/>
              </a:lnSpc>
              <a:spcBef>
                <a:spcPts val="430"/>
              </a:spcBef>
            </a:pPr>
            <a:r>
              <a:rPr dirty="0" sz="2200" spc="-65" i="1">
                <a:latin typeface="Times New Roman"/>
                <a:cs typeface="Times New Roman"/>
              </a:rPr>
              <a:t>K</a:t>
            </a:r>
            <a:r>
              <a:rPr dirty="0" baseline="-23504" sz="1950" spc="-97" i="1">
                <a:latin typeface="Times New Roman"/>
                <a:cs typeface="Times New Roman"/>
              </a:rPr>
              <a:t>c</a:t>
            </a:r>
            <a:endParaRPr baseline="-23504" sz="19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10279" y="5089652"/>
            <a:ext cx="2107565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1344930" algn="l"/>
                <a:tab pos="1851025" algn="l"/>
              </a:tabLst>
            </a:pPr>
            <a:r>
              <a:rPr dirty="0" sz="2200" spc="-5" i="1">
                <a:latin typeface="Times New Roman"/>
                <a:cs typeface="Times New Roman"/>
              </a:rPr>
              <a:t>N</a:t>
            </a:r>
            <a:r>
              <a:rPr dirty="0" baseline="42735" sz="1950" spc="-7">
                <a:latin typeface="Times New Roman"/>
                <a:cs typeface="Times New Roman"/>
              </a:rPr>
              <a:t>*  </a:t>
            </a:r>
            <a:r>
              <a:rPr dirty="0" sz="2200">
                <a:latin typeface="Symbol"/>
                <a:cs typeface="Symbol"/>
              </a:rPr>
              <a:t></a:t>
            </a:r>
            <a:r>
              <a:rPr dirty="0" sz="2200" spc="-295">
                <a:latin typeface="Times New Roman"/>
                <a:cs typeface="Times New Roman"/>
              </a:rPr>
              <a:t> </a:t>
            </a:r>
            <a:r>
              <a:rPr dirty="0" u="sng" baseline="35353" sz="3300" spc="7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dirty="0" baseline="35353" sz="3300" spc="-262" i="1">
                <a:latin typeface="Times New Roman"/>
                <a:cs typeface="Times New Roman"/>
              </a:rPr>
              <a:t> </a:t>
            </a:r>
            <a:r>
              <a:rPr dirty="0" sz="2200">
                <a:latin typeface="Symbol"/>
                <a:cs typeface="Symbol"/>
              </a:rPr>
              <a:t></a:t>
            </a:r>
            <a:r>
              <a:rPr dirty="0" u="sng" baseline="35353" sz="330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</a:t>
            </a:r>
            <a:r>
              <a:rPr dirty="0" u="sng" baseline="35353" sz="3300" spc="7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	</a:t>
            </a:r>
            <a:r>
              <a:rPr dirty="0" sz="2200">
                <a:latin typeface="Symbol"/>
                <a:cs typeface="Symbol"/>
              </a:rPr>
              <a:t></a:t>
            </a:r>
            <a:endParaRPr sz="22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5171" y="639572"/>
            <a:ext cx="20650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存</a:t>
            </a:r>
            <a:r>
              <a:rPr dirty="0" spc="25"/>
              <a:t>货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669796"/>
            <a:ext cx="216217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最佳订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周期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5187" y="3721100"/>
            <a:ext cx="322580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经济批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占用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43655" y="2057400"/>
            <a:ext cx="1874520" cy="862965"/>
          </a:xfrm>
          <a:custGeom>
            <a:avLst/>
            <a:gdLst/>
            <a:ahLst/>
            <a:cxnLst/>
            <a:rect l="l" t="t" r="r" b="b"/>
            <a:pathLst>
              <a:path w="1874520" h="862964">
                <a:moveTo>
                  <a:pt x="0" y="0"/>
                </a:moveTo>
                <a:lnTo>
                  <a:pt x="0" y="862584"/>
                </a:lnTo>
                <a:lnTo>
                  <a:pt x="1874520" y="862584"/>
                </a:lnTo>
                <a:lnTo>
                  <a:pt x="18745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46447" y="2514600"/>
            <a:ext cx="753110" cy="0"/>
          </a:xfrm>
          <a:custGeom>
            <a:avLst/>
            <a:gdLst/>
            <a:ahLst/>
            <a:cxnLst/>
            <a:rect l="l" t="t" r="r" b="b"/>
            <a:pathLst>
              <a:path w="753110" h="0">
                <a:moveTo>
                  <a:pt x="0" y="0"/>
                </a:moveTo>
                <a:lnTo>
                  <a:pt x="752855" y="0"/>
                </a:lnTo>
              </a:path>
            </a:pathLst>
          </a:custGeom>
          <a:ln w="2133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52415" y="2504948"/>
            <a:ext cx="10604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450" spc="5">
                <a:latin typeface="Symbol"/>
                <a:cs typeface="Symbol"/>
              </a:rPr>
              <a:t>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9728" y="2261108"/>
            <a:ext cx="190500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550" spc="-5">
                <a:latin typeface="Symbol"/>
                <a:cs typeface="Symbol"/>
              </a:rPr>
              <a:t></a:t>
            </a:r>
            <a:endParaRPr sz="25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28744" y="2514092"/>
            <a:ext cx="228600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550" spc="-5" i="1">
                <a:latin typeface="Times New Roman"/>
                <a:cs typeface="Times New Roman"/>
              </a:rPr>
              <a:t>N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82264" y="2114804"/>
            <a:ext cx="345440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dirty="0" baseline="-25054" sz="3825" spc="-7" i="1">
                <a:latin typeface="Times New Roman"/>
                <a:cs typeface="Times New Roman"/>
              </a:rPr>
              <a:t>t</a:t>
            </a:r>
            <a:r>
              <a:rPr dirty="0" baseline="-25054" sz="3825" spc="104" i="1">
                <a:latin typeface="Times New Roman"/>
                <a:cs typeface="Times New Roman"/>
              </a:rPr>
              <a:t> </a:t>
            </a:r>
            <a:r>
              <a:rPr dirty="0" sz="1450" spc="5">
                <a:latin typeface="Symbol"/>
                <a:cs typeface="Symbol"/>
              </a:rPr>
              <a:t>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25111" y="2056892"/>
            <a:ext cx="555625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550" spc="-5">
                <a:latin typeface="Times New Roman"/>
                <a:cs typeface="Times New Roman"/>
              </a:rPr>
              <a:t>1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 spc="-10">
                <a:latin typeface="宋体"/>
                <a:cs typeface="宋体"/>
              </a:rPr>
              <a:t>年</a:t>
            </a:r>
            <a:endParaRPr sz="255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16808" y="4504944"/>
            <a:ext cx="4322445" cy="1295400"/>
          </a:xfrm>
          <a:custGeom>
            <a:avLst/>
            <a:gdLst/>
            <a:ahLst/>
            <a:cxnLst/>
            <a:rect l="l" t="t" r="r" b="b"/>
            <a:pathLst>
              <a:path w="4322445" h="1295400">
                <a:moveTo>
                  <a:pt x="0" y="0"/>
                </a:moveTo>
                <a:lnTo>
                  <a:pt x="0" y="1295400"/>
                </a:lnTo>
                <a:lnTo>
                  <a:pt x="4322064" y="1295400"/>
                </a:lnTo>
                <a:lnTo>
                  <a:pt x="4322064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959351" y="5352288"/>
            <a:ext cx="323215" cy="0"/>
          </a:xfrm>
          <a:custGeom>
            <a:avLst/>
            <a:gdLst/>
            <a:ahLst/>
            <a:cxnLst/>
            <a:rect l="l" t="t" r="r" b="b"/>
            <a:pathLst>
              <a:path w="323214" h="0">
                <a:moveTo>
                  <a:pt x="0" y="0"/>
                </a:moveTo>
                <a:lnTo>
                  <a:pt x="32308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81600" y="4934712"/>
            <a:ext cx="847725" cy="0"/>
          </a:xfrm>
          <a:custGeom>
            <a:avLst/>
            <a:gdLst/>
            <a:ahLst/>
            <a:cxnLst/>
            <a:rect l="l" t="t" r="r" b="b"/>
            <a:pathLst>
              <a:path w="847725" h="0">
                <a:moveTo>
                  <a:pt x="0" y="0"/>
                </a:moveTo>
                <a:lnTo>
                  <a:pt x="84734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007863" y="5023104"/>
            <a:ext cx="33655" cy="21590"/>
          </a:xfrm>
          <a:custGeom>
            <a:avLst/>
            <a:gdLst/>
            <a:ahLst/>
            <a:cxnLst/>
            <a:rect l="l" t="t" r="r" b="b"/>
            <a:pathLst>
              <a:path w="33654" h="21589">
                <a:moveTo>
                  <a:pt x="0" y="21335"/>
                </a:moveTo>
                <a:lnTo>
                  <a:pt x="3352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041391" y="5029200"/>
            <a:ext cx="48895" cy="277495"/>
          </a:xfrm>
          <a:custGeom>
            <a:avLst/>
            <a:gdLst/>
            <a:ahLst/>
            <a:cxnLst/>
            <a:rect l="l" t="t" r="r" b="b"/>
            <a:pathLst>
              <a:path w="48895" h="277495">
                <a:moveTo>
                  <a:pt x="0" y="0"/>
                </a:moveTo>
                <a:lnTo>
                  <a:pt x="48767" y="277367"/>
                </a:lnTo>
              </a:path>
            </a:pathLst>
          </a:custGeom>
          <a:ln w="2133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096255" y="4562856"/>
            <a:ext cx="64135" cy="744220"/>
          </a:xfrm>
          <a:custGeom>
            <a:avLst/>
            <a:gdLst/>
            <a:ahLst/>
            <a:cxnLst/>
            <a:rect l="l" t="t" r="r" b="b"/>
            <a:pathLst>
              <a:path w="64135" h="744220">
                <a:moveTo>
                  <a:pt x="0" y="743711"/>
                </a:moveTo>
                <a:lnTo>
                  <a:pt x="6400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160263" y="4562856"/>
            <a:ext cx="890269" cy="0"/>
          </a:xfrm>
          <a:custGeom>
            <a:avLst/>
            <a:gdLst/>
            <a:ahLst/>
            <a:cxnLst/>
            <a:rect l="l" t="t" r="r" b="b"/>
            <a:pathLst>
              <a:path w="890270" h="0">
                <a:moveTo>
                  <a:pt x="0" y="0"/>
                </a:moveTo>
                <a:lnTo>
                  <a:pt x="89001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980432" y="5352288"/>
            <a:ext cx="1094740" cy="0"/>
          </a:xfrm>
          <a:custGeom>
            <a:avLst/>
            <a:gdLst/>
            <a:ahLst/>
            <a:cxnLst/>
            <a:rect l="l" t="t" r="r" b="b"/>
            <a:pathLst>
              <a:path w="1094739" h="0">
                <a:moveTo>
                  <a:pt x="0" y="0"/>
                </a:moveTo>
                <a:lnTo>
                  <a:pt x="1094231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159752" y="5352288"/>
            <a:ext cx="512445" cy="0"/>
          </a:xfrm>
          <a:custGeom>
            <a:avLst/>
            <a:gdLst/>
            <a:ahLst/>
            <a:cxnLst/>
            <a:rect l="l" t="t" r="r" b="b"/>
            <a:pathLst>
              <a:path w="512445" h="0">
                <a:moveTo>
                  <a:pt x="0" y="0"/>
                </a:moveTo>
                <a:lnTo>
                  <a:pt x="512063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986016" y="5443728"/>
            <a:ext cx="33655" cy="18415"/>
          </a:xfrm>
          <a:custGeom>
            <a:avLst/>
            <a:gdLst/>
            <a:ahLst/>
            <a:cxnLst/>
            <a:rect l="l" t="t" r="r" b="b"/>
            <a:pathLst>
              <a:path w="33654" h="18414">
                <a:moveTo>
                  <a:pt x="0" y="18287"/>
                </a:moveTo>
                <a:lnTo>
                  <a:pt x="3352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019543" y="5449824"/>
            <a:ext cx="48895" cy="280670"/>
          </a:xfrm>
          <a:custGeom>
            <a:avLst/>
            <a:gdLst/>
            <a:ahLst/>
            <a:cxnLst/>
            <a:rect l="l" t="t" r="r" b="b"/>
            <a:pathLst>
              <a:path w="48895" h="280670">
                <a:moveTo>
                  <a:pt x="0" y="0"/>
                </a:moveTo>
                <a:lnTo>
                  <a:pt x="48767" y="280415"/>
                </a:lnTo>
              </a:path>
            </a:pathLst>
          </a:custGeom>
          <a:ln w="2133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074407" y="4977384"/>
            <a:ext cx="67310" cy="753110"/>
          </a:xfrm>
          <a:custGeom>
            <a:avLst/>
            <a:gdLst/>
            <a:ahLst/>
            <a:cxnLst/>
            <a:rect l="l" t="t" r="r" b="b"/>
            <a:pathLst>
              <a:path w="67309" h="753110">
                <a:moveTo>
                  <a:pt x="0" y="752855"/>
                </a:moveTo>
                <a:lnTo>
                  <a:pt x="6705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141464" y="4977384"/>
            <a:ext cx="551815" cy="0"/>
          </a:xfrm>
          <a:custGeom>
            <a:avLst/>
            <a:gdLst/>
            <a:ahLst/>
            <a:cxnLst/>
            <a:rect l="l" t="t" r="r" b="b"/>
            <a:pathLst>
              <a:path w="551815" h="0">
                <a:moveTo>
                  <a:pt x="0" y="0"/>
                </a:moveTo>
                <a:lnTo>
                  <a:pt x="55168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152640" y="4889703"/>
            <a:ext cx="511809" cy="82423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80010">
              <a:lnSpc>
                <a:spcPct val="100000"/>
              </a:lnSpc>
              <a:spcBef>
                <a:spcPts val="600"/>
              </a:spcBef>
            </a:pPr>
            <a:r>
              <a:rPr dirty="0" sz="2200" spc="10" i="1">
                <a:latin typeface="Times New Roman"/>
                <a:cs typeface="Times New Roman"/>
              </a:rPr>
              <a:t>KD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505"/>
              </a:spcBef>
            </a:pPr>
            <a:r>
              <a:rPr dirty="0" sz="2200" spc="25">
                <a:latin typeface="Times New Roman"/>
                <a:cs typeface="Times New Roman"/>
              </a:rPr>
              <a:t>2</a:t>
            </a:r>
            <a:r>
              <a:rPr dirty="0" sz="2200" spc="25" i="1">
                <a:latin typeface="Times New Roman"/>
                <a:cs typeface="Times New Roman"/>
              </a:rPr>
              <a:t>K</a:t>
            </a:r>
            <a:r>
              <a:rPr dirty="0" baseline="-23504" sz="1950" spc="37" i="1">
                <a:latin typeface="Times New Roman"/>
                <a:cs typeface="Times New Roman"/>
              </a:rPr>
              <a:t>C</a:t>
            </a:r>
            <a:endParaRPr baseline="-23504" sz="19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87496" y="5120132"/>
            <a:ext cx="9525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Times New Roman"/>
                <a:cs typeface="Times New Roman"/>
              </a:rPr>
              <a:t>*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11240" y="5129276"/>
            <a:ext cx="846455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200" spc="-85">
                <a:latin typeface="Symbol"/>
                <a:cs typeface="Symbol"/>
              </a:rPr>
              <a:t></a:t>
            </a:r>
            <a:r>
              <a:rPr dirty="0" sz="2200" spc="-85" i="1">
                <a:latin typeface="Times New Roman"/>
                <a:cs typeface="Times New Roman"/>
              </a:rPr>
              <a:t>U </a:t>
            </a:r>
            <a:r>
              <a:rPr dirty="0" sz="2200">
                <a:latin typeface="Symbol"/>
                <a:cs typeface="Symbol"/>
              </a:rPr>
              <a:t></a:t>
            </a:r>
            <a:r>
              <a:rPr dirty="0" sz="2200" spc="-190">
                <a:latin typeface="Times New Roman"/>
                <a:cs typeface="Times New Roman"/>
              </a:rPr>
              <a:t> </a:t>
            </a:r>
            <a:r>
              <a:rPr dirty="0" sz="2200" spc="5" i="1">
                <a:latin typeface="Times New Roman"/>
                <a:cs typeface="Times New Roman"/>
              </a:rPr>
              <a:t>U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74488" y="4484319"/>
            <a:ext cx="885190" cy="1229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0195" marR="30480" indent="-265430">
              <a:lnSpc>
                <a:spcPct val="116399"/>
              </a:lnSpc>
              <a:spcBef>
                <a:spcPts val="95"/>
              </a:spcBef>
            </a:pPr>
            <a:r>
              <a:rPr dirty="0" sz="2200">
                <a:latin typeface="Times New Roman"/>
                <a:cs typeface="Times New Roman"/>
              </a:rPr>
              <a:t>2</a:t>
            </a:r>
            <a:r>
              <a:rPr dirty="0" sz="2200" spc="-470">
                <a:latin typeface="Times New Roman"/>
                <a:cs typeface="Times New Roman"/>
              </a:rPr>
              <a:t> </a:t>
            </a:r>
            <a:r>
              <a:rPr dirty="0" sz="2200" spc="-459">
                <a:latin typeface="Symbol"/>
                <a:cs typeface="Symbol"/>
              </a:rPr>
              <a:t></a:t>
            </a:r>
            <a:r>
              <a:rPr dirty="0" sz="2200" spc="-459">
                <a:latin typeface="Times New Roman"/>
                <a:cs typeface="Times New Roman"/>
              </a:rPr>
              <a:t> </a:t>
            </a:r>
            <a:r>
              <a:rPr dirty="0" sz="2200" spc="5" i="1">
                <a:latin typeface="Times New Roman"/>
                <a:cs typeface="Times New Roman"/>
              </a:rPr>
              <a:t>K </a:t>
            </a:r>
            <a:r>
              <a:rPr dirty="0" sz="2200" spc="-459">
                <a:latin typeface="Symbol"/>
                <a:cs typeface="Symbol"/>
              </a:rPr>
              <a:t></a:t>
            </a:r>
            <a:r>
              <a:rPr dirty="0" sz="2200" spc="-459">
                <a:latin typeface="Times New Roman"/>
                <a:cs typeface="Times New Roman"/>
              </a:rPr>
              <a:t> </a:t>
            </a:r>
            <a:r>
              <a:rPr dirty="0" sz="2200" spc="5" i="1">
                <a:latin typeface="Times New Roman"/>
                <a:cs typeface="Times New Roman"/>
              </a:rPr>
              <a:t>D  </a:t>
            </a:r>
            <a:r>
              <a:rPr dirty="0" sz="2200" spc="30" i="1">
                <a:latin typeface="Times New Roman"/>
                <a:cs typeface="Times New Roman"/>
              </a:rPr>
              <a:t>K</a:t>
            </a:r>
            <a:r>
              <a:rPr dirty="0" baseline="-23504" sz="1950" spc="44" i="1">
                <a:latin typeface="Times New Roman"/>
                <a:cs typeface="Times New Roman"/>
              </a:rPr>
              <a:t>c</a:t>
            </a:r>
            <a:endParaRPr baseline="-23504" sz="1950">
              <a:latin typeface="Times New Roman"/>
              <a:cs typeface="Times New Roman"/>
            </a:endParaRPr>
          </a:p>
          <a:p>
            <a:pPr marL="290195">
              <a:lnSpc>
                <a:spcPct val="100000"/>
              </a:lnSpc>
              <a:spcBef>
                <a:spcPts val="695"/>
              </a:spcBef>
            </a:pPr>
            <a:r>
              <a:rPr dirty="0" sz="2200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440176" y="4940300"/>
            <a:ext cx="1531620" cy="773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9525">
              <a:lnSpc>
                <a:spcPts val="1530"/>
              </a:lnSpc>
              <a:spcBef>
                <a:spcPts val="95"/>
              </a:spcBef>
            </a:pPr>
            <a:r>
              <a:rPr dirty="0" sz="1300" spc="-5">
                <a:latin typeface="Times New Roman"/>
                <a:cs typeface="Times New Roman"/>
              </a:rPr>
              <a:t>*</a:t>
            </a:r>
            <a:endParaRPr sz="1300">
              <a:latin typeface="Times New Roman"/>
              <a:cs typeface="Times New Roman"/>
            </a:endParaRPr>
          </a:p>
          <a:p>
            <a:pPr algn="ctr" marR="17780">
              <a:lnSpc>
                <a:spcPts val="2165"/>
              </a:lnSpc>
              <a:tabLst>
                <a:tab pos="280035" algn="l"/>
                <a:tab pos="852805" algn="l"/>
              </a:tabLst>
            </a:pPr>
            <a:r>
              <a:rPr dirty="0" sz="2200" i="1">
                <a:latin typeface="Times New Roman"/>
                <a:cs typeface="Times New Roman"/>
              </a:rPr>
              <a:t>I	</a:t>
            </a:r>
            <a:r>
              <a:rPr dirty="0" sz="2200">
                <a:latin typeface="Symbol"/>
                <a:cs typeface="Symbol"/>
              </a:rPr>
              <a:t>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baseline="35353" sz="3300" spc="7" i="1">
                <a:latin typeface="Times New Roman"/>
                <a:cs typeface="Times New Roman"/>
              </a:rPr>
              <a:t>Q	</a:t>
            </a:r>
            <a:r>
              <a:rPr dirty="0" sz="2200" spc="-85">
                <a:latin typeface="Symbol"/>
                <a:cs typeface="Symbol"/>
              </a:rPr>
              <a:t></a:t>
            </a:r>
            <a:r>
              <a:rPr dirty="0" sz="2200" spc="-85" i="1">
                <a:latin typeface="Times New Roman"/>
                <a:cs typeface="Times New Roman"/>
              </a:rPr>
              <a:t>U</a:t>
            </a:r>
            <a:r>
              <a:rPr dirty="0" sz="2200" spc="65" i="1">
                <a:latin typeface="Times New Roman"/>
                <a:cs typeface="Times New Roman"/>
              </a:rPr>
              <a:t> </a:t>
            </a:r>
            <a:r>
              <a:rPr dirty="0" sz="2200">
                <a:latin typeface="Symbol"/>
                <a:cs typeface="Symbol"/>
              </a:rPr>
              <a:t></a:t>
            </a:r>
            <a:endParaRPr sz="2200">
              <a:latin typeface="Symbol"/>
              <a:cs typeface="Symbol"/>
            </a:endParaRPr>
          </a:p>
          <a:p>
            <a:pPr algn="ctr" marR="149860">
              <a:lnSpc>
                <a:spcPts val="2195"/>
              </a:lnSpc>
            </a:pPr>
            <a:r>
              <a:rPr dirty="0" sz="2200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904492"/>
            <a:ext cx="4945380" cy="4425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存货控制</a:t>
            </a:r>
            <a:endParaRPr sz="28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1914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订货点控制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187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确定订货点应考虑的因素：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1689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平均每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天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的正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常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耗用量</a:t>
            </a:r>
            <a:endParaRPr sz="22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1705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预计每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天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耗用量</a:t>
            </a:r>
            <a:endParaRPr sz="22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1725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提前时间</a:t>
            </a:r>
            <a:endParaRPr sz="22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1705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预计最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长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提前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间，用</a:t>
            </a:r>
            <a:r>
              <a:rPr dirty="0" sz="2200" spc="-25">
                <a:solidFill>
                  <a:srgbClr val="FFFFFF"/>
                </a:solidFill>
                <a:latin typeface="宋体"/>
                <a:cs typeface="宋体"/>
              </a:rPr>
              <a:t>r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来表示</a:t>
            </a:r>
            <a:endParaRPr sz="22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1705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保险储备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35171" y="639572"/>
            <a:ext cx="20650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存</a:t>
            </a:r>
            <a:r>
              <a:rPr dirty="0" spc="25"/>
              <a:t>货</a:t>
            </a:r>
            <a:r>
              <a:rPr dirty="0" spc="5"/>
              <a:t>管理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2036" y="1443640"/>
            <a:ext cx="7736840" cy="508508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存货控制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505"/>
              </a:spcBef>
            </a:pPr>
            <a:r>
              <a:rPr dirty="0" sz="2200" spc="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200" spc="20">
                <a:solidFill>
                  <a:srgbClr val="FFFFFF"/>
                </a:solidFill>
                <a:latin typeface="宋体"/>
                <a:cs typeface="宋体"/>
              </a:rPr>
              <a:t>ABC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控制</a:t>
            </a:r>
            <a:endParaRPr sz="2200">
              <a:latin typeface="宋体"/>
              <a:cs typeface="宋体"/>
            </a:endParaRPr>
          </a:p>
          <a:p>
            <a:pPr algn="just" marL="1155700" marR="5080" indent="-228600">
              <a:lnSpc>
                <a:spcPct val="100000"/>
              </a:lnSpc>
              <a:spcBef>
                <a:spcPts val="525"/>
              </a:spcBef>
              <a:buClr>
                <a:srgbClr val="FF6600"/>
              </a:buClr>
              <a:buSzPct val="95454"/>
              <a:buFont typeface="Wingdings"/>
              <a:buChar char="►"/>
              <a:tabLst>
                <a:tab pos="115570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是根据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存货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重要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程度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把存货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A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200" spc="-25">
                <a:solidFill>
                  <a:srgbClr val="FFFFFF"/>
                </a:solidFill>
                <a:latin typeface="宋体"/>
                <a:cs typeface="宋体"/>
              </a:rPr>
              <a:t>B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C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三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200" spc="-1785">
                <a:solidFill>
                  <a:srgbClr val="FFFFFF"/>
                </a:solidFill>
                <a:latin typeface="宋体"/>
                <a:cs typeface="宋体"/>
              </a:rPr>
              <a:t>以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便采取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同的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法进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行管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理。最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重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要的是</a:t>
            </a:r>
            <a:r>
              <a:rPr dirty="0" sz="2200" spc="-25">
                <a:solidFill>
                  <a:srgbClr val="FFFFFF"/>
                </a:solidFill>
                <a:latin typeface="宋体"/>
                <a:cs typeface="宋体"/>
              </a:rPr>
              <a:t>A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类，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最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不重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要的是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C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505"/>
              </a:spcBef>
              <a:buClr>
                <a:srgbClr val="FF6600"/>
              </a:buClr>
              <a:buSzPct val="95454"/>
              <a:buFont typeface="Wingdings"/>
              <a:buChar char="►"/>
              <a:tabLst>
                <a:tab pos="115570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步骤：</a:t>
            </a:r>
            <a:endParaRPr sz="2200">
              <a:latin typeface="宋体"/>
              <a:cs typeface="宋体"/>
            </a:endParaRPr>
          </a:p>
          <a:p>
            <a:pPr lvl="1" marL="1612900" indent="-228600">
              <a:lnSpc>
                <a:spcPct val="100000"/>
              </a:lnSpc>
              <a:spcBef>
                <a:spcPts val="490"/>
              </a:spcBef>
              <a:buClr>
                <a:srgbClr val="FF6600"/>
              </a:buClr>
              <a:buChar char="•"/>
              <a:tabLst>
                <a:tab pos="16129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计算每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种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存货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一定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内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的资金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占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用额</a:t>
            </a:r>
            <a:endParaRPr sz="2000">
              <a:latin typeface="宋体"/>
              <a:cs typeface="宋体"/>
            </a:endParaRPr>
          </a:p>
          <a:p>
            <a:pPr lvl="1" marL="1612900" marR="22860" indent="-22860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Char char="•"/>
              <a:tabLst>
                <a:tab pos="16129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计算每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种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存货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金占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额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占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全部资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占用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额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的百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比，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并按大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小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顺序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排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列，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编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格</a:t>
            </a:r>
            <a:endParaRPr sz="2000">
              <a:latin typeface="宋体"/>
              <a:cs typeface="宋体"/>
            </a:endParaRPr>
          </a:p>
          <a:p>
            <a:pPr lvl="1" marL="1612900" marR="151130" indent="-22860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Char char="•"/>
              <a:tabLst>
                <a:tab pos="16129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根据事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先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测定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好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的标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准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把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最重要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存货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划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A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类，一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般存货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划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B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类，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重要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划为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C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类，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画图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示</a:t>
            </a:r>
            <a:endParaRPr sz="2000">
              <a:latin typeface="宋体"/>
              <a:cs typeface="宋体"/>
            </a:endParaRPr>
          </a:p>
          <a:p>
            <a:pPr lvl="1" marL="1612900" marR="22860" indent="-228600">
              <a:lnSpc>
                <a:spcPct val="100000"/>
              </a:lnSpc>
              <a:spcBef>
                <a:spcPts val="455"/>
              </a:spcBef>
              <a:buClr>
                <a:srgbClr val="FF6600"/>
              </a:buClr>
              <a:buChar char="•"/>
              <a:tabLst>
                <a:tab pos="1612900" algn="l"/>
              </a:tabLst>
            </a:pP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A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类：集中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要精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，认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真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规划经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批量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实施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格控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制；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B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类：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根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据实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际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情况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采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取灵活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措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施；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C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凭经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确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定进货量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35171" y="639572"/>
            <a:ext cx="20650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存</a:t>
            </a:r>
            <a:r>
              <a:rPr dirty="0" spc="25"/>
              <a:t>货</a:t>
            </a:r>
            <a:r>
              <a:rPr dirty="0" spc="5"/>
              <a:t>管理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2023-10-22T13:37:42Z</dcterms:created>
  <dcterms:modified xsi:type="dcterms:W3CDTF">2023-10-22T13:37:42Z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2006-06-02T00:00:00Z</vt:filetime>
  </property>
  <property fmtid="{D5CDD505-2E9C-101B-9397-08002B2CF9AE}" pid="3" name="LastSaved">
    <vt:filetime>2006-06-02T00:00:00Z</vt:filetime>
  </property>
</Properties>
</file>