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56" r:id="rId2"/>
    <p:sldId id="361" r:id="rId3"/>
    <p:sldId id="278" r:id="rId4"/>
    <p:sldId id="319" r:id="rId5"/>
    <p:sldId id="320" r:id="rId6"/>
    <p:sldId id="344" r:id="rId7"/>
    <p:sldId id="345" r:id="rId8"/>
    <p:sldId id="346" r:id="rId9"/>
    <p:sldId id="353" r:id="rId10"/>
    <p:sldId id="356" r:id="rId11"/>
    <p:sldId id="355" r:id="rId12"/>
    <p:sldId id="359" r:id="rId13"/>
    <p:sldId id="360" r:id="rId14"/>
    <p:sldId id="357" r:id="rId15"/>
    <p:sldId id="347" r:id="rId16"/>
    <p:sldId id="362" r:id="rId17"/>
    <p:sldId id="348" r:id="rId18"/>
    <p:sldId id="350" r:id="rId19"/>
    <p:sldId id="349" r:id="rId20"/>
    <p:sldId id="351" r:id="rId21"/>
    <p:sldId id="352" r:id="rId22"/>
    <p:sldId id="363" r:id="rId23"/>
    <p:sldId id="343" r:id="rId24"/>
    <p:sldId id="364" r:id="rId25"/>
    <p:sldId id="365" r:id="rId26"/>
    <p:sldId id="338" r:id="rId27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0066"/>
    <a:srgbClr val="D35211"/>
    <a:srgbClr val="DD3F07"/>
    <a:srgbClr val="DA0AB7"/>
    <a:srgbClr val="33CC33"/>
    <a:srgbClr val="00FF00"/>
    <a:srgbClr val="E5D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709" autoAdjust="0"/>
  </p:normalViewPr>
  <p:slideViewPr>
    <p:cSldViewPr>
      <p:cViewPr varScale="1">
        <p:scale>
          <a:sx n="107" d="100"/>
          <a:sy n="107" d="100"/>
        </p:scale>
        <p:origin x="167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Freeform 2">
            <a:extLst>
              <a:ext uri="{FF2B5EF4-FFF2-40B4-BE49-F238E27FC236}">
                <a16:creationId xmlns:a16="http://schemas.microsoft.com/office/drawing/2014/main" id="{B79988DB-CF72-FD73-95DB-ADF3CC432452}"/>
              </a:ext>
            </a:extLst>
          </p:cNvPr>
          <p:cNvSpPr>
            <a:spLocks/>
          </p:cNvSpPr>
          <p:nvPr/>
        </p:nvSpPr>
        <p:spPr bwMode="auto">
          <a:xfrm>
            <a:off x="4760913" y="20638"/>
            <a:ext cx="4438650" cy="4038600"/>
          </a:xfrm>
          <a:custGeom>
            <a:avLst/>
            <a:gdLst>
              <a:gd name="T0" fmla="*/ 23 w 546"/>
              <a:gd name="T1" fmla="*/ 4 h 497"/>
              <a:gd name="T2" fmla="*/ 11 w 546"/>
              <a:gd name="T3" fmla="*/ 71 h 497"/>
              <a:gd name="T4" fmla="*/ 25 w 546"/>
              <a:gd name="T5" fmla="*/ 393 h 497"/>
              <a:gd name="T6" fmla="*/ 54 w 546"/>
              <a:gd name="T7" fmla="*/ 457 h 497"/>
              <a:gd name="T8" fmla="*/ 158 w 546"/>
              <a:gd name="T9" fmla="*/ 482 h 497"/>
              <a:gd name="T10" fmla="*/ 204 w 546"/>
              <a:gd name="T11" fmla="*/ 495 h 497"/>
              <a:gd name="T12" fmla="*/ 520 w 546"/>
              <a:gd name="T13" fmla="*/ 475 h 497"/>
              <a:gd name="T14" fmla="*/ 533 w 546"/>
              <a:gd name="T15" fmla="*/ 167 h 497"/>
              <a:gd name="T16" fmla="*/ 369 w 546"/>
              <a:gd name="T17" fmla="*/ 16 h 497"/>
              <a:gd name="T18" fmla="*/ 249 w 546"/>
              <a:gd name="T19" fmla="*/ 29 h 497"/>
              <a:gd name="T20" fmla="*/ 198 w 546"/>
              <a:gd name="T21" fmla="*/ 11 h 497"/>
              <a:gd name="T22" fmla="*/ 151 w 546"/>
              <a:gd name="T23" fmla="*/ 2 h 497"/>
              <a:gd name="T24" fmla="*/ 23 w 546"/>
              <a:gd name="T25" fmla="*/ 4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6131" name="Group 3">
            <a:extLst>
              <a:ext uri="{FF2B5EF4-FFF2-40B4-BE49-F238E27FC236}">
                <a16:creationId xmlns:a16="http://schemas.microsoft.com/office/drawing/2014/main" id="{9178B6E8-06CB-097E-817A-EEA30838E7D2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8575"/>
            <a:ext cx="4756150" cy="4338638"/>
            <a:chOff x="2918" y="18"/>
            <a:chExt cx="2958" cy="2699"/>
          </a:xfrm>
        </p:grpSpPr>
        <p:sp>
          <p:nvSpPr>
            <p:cNvPr id="176132" name="Freeform 4">
              <a:extLst>
                <a:ext uri="{FF2B5EF4-FFF2-40B4-BE49-F238E27FC236}">
                  <a16:creationId xmlns:a16="http://schemas.microsoft.com/office/drawing/2014/main" id="{C5F85831-CA5D-AC39-84D7-AF68FF4B7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>
                <a:gd name="T0" fmla="*/ 71 w 97"/>
                <a:gd name="T1" fmla="*/ 25 h 37"/>
                <a:gd name="T2" fmla="*/ 91 w 97"/>
                <a:gd name="T3" fmla="*/ 20 h 37"/>
                <a:gd name="T4" fmla="*/ 92 w 97"/>
                <a:gd name="T5" fmla="*/ 17 h 37"/>
                <a:gd name="T6" fmla="*/ 88 w 97"/>
                <a:gd name="T7" fmla="*/ 0 h 37"/>
                <a:gd name="T8" fmla="*/ 25 w 97"/>
                <a:gd name="T9" fmla="*/ 0 h 37"/>
                <a:gd name="T10" fmla="*/ 10 w 97"/>
                <a:gd name="T11" fmla="*/ 22 h 37"/>
                <a:gd name="T12" fmla="*/ 71 w 97"/>
                <a:gd name="T1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3" name="Freeform 5">
              <a:extLst>
                <a:ext uri="{FF2B5EF4-FFF2-40B4-BE49-F238E27FC236}">
                  <a16:creationId xmlns:a16="http://schemas.microsoft.com/office/drawing/2014/main" id="{D7C73D29-26D1-D608-731A-7557C65D07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>
                <a:gd name="T0" fmla="*/ 504 w 585"/>
                <a:gd name="T1" fmla="*/ 1 h 534"/>
                <a:gd name="T2" fmla="*/ 157 w 585"/>
                <a:gd name="T3" fmla="*/ 0 h 534"/>
                <a:gd name="T4" fmla="*/ 225 w 585"/>
                <a:gd name="T5" fmla="*/ 21 h 534"/>
                <a:gd name="T6" fmla="*/ 174 w 585"/>
                <a:gd name="T7" fmla="*/ 39 h 534"/>
                <a:gd name="T8" fmla="*/ 207 w 585"/>
                <a:gd name="T9" fmla="*/ 71 h 534"/>
                <a:gd name="T10" fmla="*/ 74 w 585"/>
                <a:gd name="T11" fmla="*/ 60 h 534"/>
                <a:gd name="T12" fmla="*/ 26 w 585"/>
                <a:gd name="T13" fmla="*/ 63 h 534"/>
                <a:gd name="T14" fmla="*/ 199 w 585"/>
                <a:gd name="T15" fmla="*/ 487 h 534"/>
                <a:gd name="T16" fmla="*/ 144 w 585"/>
                <a:gd name="T17" fmla="*/ 341 h 534"/>
                <a:gd name="T18" fmla="*/ 105 w 585"/>
                <a:gd name="T19" fmla="*/ 376 h 534"/>
                <a:gd name="T20" fmla="*/ 94 w 585"/>
                <a:gd name="T21" fmla="*/ 435 h 534"/>
                <a:gd name="T22" fmla="*/ 124 w 585"/>
                <a:gd name="T23" fmla="*/ 265 h 534"/>
                <a:gd name="T24" fmla="*/ 153 w 585"/>
                <a:gd name="T25" fmla="*/ 228 h 534"/>
                <a:gd name="T26" fmla="*/ 209 w 585"/>
                <a:gd name="T27" fmla="*/ 237 h 534"/>
                <a:gd name="T28" fmla="*/ 188 w 585"/>
                <a:gd name="T29" fmla="*/ 306 h 534"/>
                <a:gd name="T30" fmla="*/ 192 w 585"/>
                <a:gd name="T31" fmla="*/ 395 h 534"/>
                <a:gd name="T32" fmla="*/ 515 w 585"/>
                <a:gd name="T33" fmla="*/ 483 h 534"/>
                <a:gd name="T34" fmla="*/ 454 w 585"/>
                <a:gd name="T35" fmla="*/ 427 h 534"/>
                <a:gd name="T36" fmla="*/ 425 w 585"/>
                <a:gd name="T37" fmla="*/ 345 h 534"/>
                <a:gd name="T38" fmla="*/ 396 w 585"/>
                <a:gd name="T39" fmla="*/ 270 h 534"/>
                <a:gd name="T40" fmla="*/ 460 w 585"/>
                <a:gd name="T41" fmla="*/ 256 h 534"/>
                <a:gd name="T42" fmla="*/ 407 w 585"/>
                <a:gd name="T43" fmla="*/ 223 h 534"/>
                <a:gd name="T44" fmla="*/ 439 w 585"/>
                <a:gd name="T45" fmla="*/ 226 h 534"/>
                <a:gd name="T46" fmla="*/ 438 w 585"/>
                <a:gd name="T47" fmla="*/ 209 h 534"/>
                <a:gd name="T48" fmla="*/ 376 w 585"/>
                <a:gd name="T49" fmla="*/ 211 h 534"/>
                <a:gd name="T50" fmla="*/ 357 w 585"/>
                <a:gd name="T51" fmla="*/ 343 h 534"/>
                <a:gd name="T52" fmla="*/ 347 w 585"/>
                <a:gd name="T53" fmla="*/ 230 h 534"/>
                <a:gd name="T54" fmla="*/ 331 w 585"/>
                <a:gd name="T55" fmla="*/ 182 h 534"/>
                <a:gd name="T56" fmla="*/ 347 w 585"/>
                <a:gd name="T57" fmla="*/ 136 h 534"/>
                <a:gd name="T58" fmla="*/ 339 w 585"/>
                <a:gd name="T59" fmla="*/ 99 h 534"/>
                <a:gd name="T60" fmla="*/ 331 w 585"/>
                <a:gd name="T61" fmla="*/ 62 h 534"/>
                <a:gd name="T62" fmla="*/ 369 w 585"/>
                <a:gd name="T63" fmla="*/ 103 h 534"/>
                <a:gd name="T64" fmla="*/ 415 w 585"/>
                <a:gd name="T65" fmla="*/ 47 h 534"/>
                <a:gd name="T66" fmla="*/ 409 w 585"/>
                <a:gd name="T67" fmla="*/ 95 h 534"/>
                <a:gd name="T68" fmla="*/ 401 w 585"/>
                <a:gd name="T69" fmla="*/ 130 h 534"/>
                <a:gd name="T70" fmla="*/ 401 w 585"/>
                <a:gd name="T71" fmla="*/ 181 h 534"/>
                <a:gd name="T72" fmla="*/ 558 w 585"/>
                <a:gd name="T73" fmla="*/ 181 h 534"/>
                <a:gd name="T74" fmla="*/ 554 w 585"/>
                <a:gd name="T75" fmla="*/ 76 h 534"/>
                <a:gd name="T76" fmla="*/ 249 w 585"/>
                <a:gd name="T77" fmla="*/ 69 h 534"/>
                <a:gd name="T78" fmla="*/ 293 w 585"/>
                <a:gd name="T79" fmla="*/ 93 h 534"/>
                <a:gd name="T80" fmla="*/ 171 w 585"/>
                <a:gd name="T81" fmla="*/ 195 h 534"/>
                <a:gd name="T82" fmla="*/ 69 w 585"/>
                <a:gd name="T83" fmla="*/ 98 h 534"/>
                <a:gd name="T84" fmla="*/ 191 w 585"/>
                <a:gd name="T85" fmla="*/ 106 h 534"/>
                <a:gd name="T86" fmla="*/ 220 w 585"/>
                <a:gd name="T87" fmla="*/ 105 h 534"/>
                <a:gd name="T88" fmla="*/ 302 w 585"/>
                <a:gd name="T89" fmla="*/ 121 h 534"/>
                <a:gd name="T90" fmla="*/ 276 w 585"/>
                <a:gd name="T91" fmla="*/ 256 h 534"/>
                <a:gd name="T92" fmla="*/ 260 w 585"/>
                <a:gd name="T93" fmla="*/ 137 h 534"/>
                <a:gd name="T94" fmla="*/ 171 w 585"/>
                <a:gd name="T95" fmla="*/ 195 h 534"/>
                <a:gd name="T96" fmla="*/ 223 w 585"/>
                <a:gd name="T97" fmla="*/ 225 h 534"/>
                <a:gd name="T98" fmla="*/ 247 w 585"/>
                <a:gd name="T99" fmla="*/ 158 h 534"/>
                <a:gd name="T100" fmla="*/ 326 w 585"/>
                <a:gd name="T101" fmla="*/ 292 h 534"/>
                <a:gd name="T102" fmla="*/ 215 w 585"/>
                <a:gd name="T103" fmla="*/ 321 h 534"/>
                <a:gd name="T104" fmla="*/ 309 w 585"/>
                <a:gd name="T105" fmla="*/ 277 h 534"/>
                <a:gd name="T106" fmla="*/ 318 w 585"/>
                <a:gd name="T107" fmla="*/ 133 h 534"/>
                <a:gd name="T108" fmla="*/ 313 w 585"/>
                <a:gd name="T109" fmla="*/ 213 h 534"/>
                <a:gd name="T110" fmla="*/ 299 w 585"/>
                <a:gd name="T111" fmla="*/ 144 h 534"/>
                <a:gd name="T112" fmla="*/ 507 w 585"/>
                <a:gd name="T113" fmla="*/ 179 h 534"/>
                <a:gd name="T114" fmla="*/ 461 w 585"/>
                <a:gd name="T115" fmla="*/ 162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4" name="Freeform 6">
              <a:extLst>
                <a:ext uri="{FF2B5EF4-FFF2-40B4-BE49-F238E27FC236}">
                  <a16:creationId xmlns:a16="http://schemas.microsoft.com/office/drawing/2014/main" id="{DD2E1AEC-18E5-93B1-EC58-E053548EA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>
                <a:gd name="T0" fmla="*/ 40 w 47"/>
                <a:gd name="T1" fmla="*/ 15 h 56"/>
                <a:gd name="T2" fmla="*/ 27 w 47"/>
                <a:gd name="T3" fmla="*/ 56 h 56"/>
                <a:gd name="T4" fmla="*/ 40 w 47"/>
                <a:gd name="T5" fmla="*/ 1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5" name="Freeform 7">
              <a:extLst>
                <a:ext uri="{FF2B5EF4-FFF2-40B4-BE49-F238E27FC236}">
                  <a16:creationId xmlns:a16="http://schemas.microsoft.com/office/drawing/2014/main" id="{AA2E5E0B-1772-98F6-88C4-6512CE889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>
                <a:gd name="T0" fmla="*/ 19 w 41"/>
                <a:gd name="T1" fmla="*/ 27 h 75"/>
                <a:gd name="T2" fmla="*/ 12 w 41"/>
                <a:gd name="T3" fmla="*/ 69 h 75"/>
                <a:gd name="T4" fmla="*/ 40 w 41"/>
                <a:gd name="T5" fmla="*/ 45 h 75"/>
                <a:gd name="T6" fmla="*/ 37 w 41"/>
                <a:gd name="T7" fmla="*/ 24 h 75"/>
                <a:gd name="T8" fmla="*/ 19 w 41"/>
                <a:gd name="T9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6" name="Freeform 8">
              <a:extLst>
                <a:ext uri="{FF2B5EF4-FFF2-40B4-BE49-F238E27FC236}">
                  <a16:creationId xmlns:a16="http://schemas.microsoft.com/office/drawing/2014/main" id="{04D18300-267A-06DA-A126-8FB46F11A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>
                <a:gd name="T0" fmla="*/ 112 w 135"/>
                <a:gd name="T1" fmla="*/ 4 h 63"/>
                <a:gd name="T2" fmla="*/ 24 w 135"/>
                <a:gd name="T3" fmla="*/ 4 h 63"/>
                <a:gd name="T4" fmla="*/ 2 w 135"/>
                <a:gd name="T5" fmla="*/ 25 h 63"/>
                <a:gd name="T6" fmla="*/ 60 w 135"/>
                <a:gd name="T7" fmla="*/ 58 h 63"/>
                <a:gd name="T8" fmla="*/ 96 w 135"/>
                <a:gd name="T9" fmla="*/ 54 h 63"/>
                <a:gd name="T10" fmla="*/ 113 w 135"/>
                <a:gd name="T11" fmla="*/ 53 h 63"/>
                <a:gd name="T12" fmla="*/ 112 w 135"/>
                <a:gd name="T13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7" name="Freeform 9">
              <a:extLst>
                <a:ext uri="{FF2B5EF4-FFF2-40B4-BE49-F238E27FC236}">
                  <a16:creationId xmlns:a16="http://schemas.microsoft.com/office/drawing/2014/main" id="{5BE82E70-317A-630C-4B82-E58005607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>
                <a:gd name="T0" fmla="*/ 67 w 97"/>
                <a:gd name="T1" fmla="*/ 5 h 102"/>
                <a:gd name="T2" fmla="*/ 31 w 97"/>
                <a:gd name="T3" fmla="*/ 5 h 102"/>
                <a:gd name="T4" fmla="*/ 12 w 97"/>
                <a:gd name="T5" fmla="*/ 57 h 102"/>
                <a:gd name="T6" fmla="*/ 79 w 97"/>
                <a:gd name="T7" fmla="*/ 62 h 102"/>
                <a:gd name="T8" fmla="*/ 67 w 97"/>
                <a:gd name="T9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8" name="Freeform 10">
              <a:extLst>
                <a:ext uri="{FF2B5EF4-FFF2-40B4-BE49-F238E27FC236}">
                  <a16:creationId xmlns:a16="http://schemas.microsoft.com/office/drawing/2014/main" id="{21C86ABB-2508-D2EE-F83A-66A32EFC5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>
                <a:gd name="T0" fmla="*/ 15 w 99"/>
                <a:gd name="T1" fmla="*/ 0 h 19"/>
                <a:gd name="T2" fmla="*/ 40 w 99"/>
                <a:gd name="T3" fmla="*/ 15 h 19"/>
                <a:gd name="T4" fmla="*/ 15 w 99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9" name="Freeform 11">
              <a:extLst>
                <a:ext uri="{FF2B5EF4-FFF2-40B4-BE49-F238E27FC236}">
                  <a16:creationId xmlns:a16="http://schemas.microsoft.com/office/drawing/2014/main" id="{B6B3150A-209D-EA51-F10C-97360FCE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>
                <a:gd name="T0" fmla="*/ 21 w 76"/>
                <a:gd name="T1" fmla="*/ 37 h 47"/>
                <a:gd name="T2" fmla="*/ 70 w 76"/>
                <a:gd name="T3" fmla="*/ 17 h 47"/>
                <a:gd name="T4" fmla="*/ 48 w 76"/>
                <a:gd name="T5" fmla="*/ 3 h 47"/>
                <a:gd name="T6" fmla="*/ 19 w 76"/>
                <a:gd name="T7" fmla="*/ 32 h 47"/>
                <a:gd name="T8" fmla="*/ 21 w 76"/>
                <a:gd name="T9" fmla="*/ 3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0" name="Freeform 12">
              <a:extLst>
                <a:ext uri="{FF2B5EF4-FFF2-40B4-BE49-F238E27FC236}">
                  <a16:creationId xmlns:a16="http://schemas.microsoft.com/office/drawing/2014/main" id="{59FDB6B6-2DEC-2027-4E7C-ADC8DC070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>
                <a:gd name="T0" fmla="*/ 72 w 82"/>
                <a:gd name="T1" fmla="*/ 6 h 37"/>
                <a:gd name="T2" fmla="*/ 24 w 82"/>
                <a:gd name="T3" fmla="*/ 17 h 37"/>
                <a:gd name="T4" fmla="*/ 17 w 82"/>
                <a:gd name="T5" fmla="*/ 26 h 37"/>
                <a:gd name="T6" fmla="*/ 76 w 82"/>
                <a:gd name="T7" fmla="*/ 23 h 37"/>
                <a:gd name="T8" fmla="*/ 82 w 82"/>
                <a:gd name="T9" fmla="*/ 20 h 37"/>
                <a:gd name="T10" fmla="*/ 82 w 82"/>
                <a:gd name="T11" fmla="*/ 0 h 37"/>
                <a:gd name="T12" fmla="*/ 72 w 82"/>
                <a:gd name="T13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1" name="Freeform 13">
              <a:extLst>
                <a:ext uri="{FF2B5EF4-FFF2-40B4-BE49-F238E27FC236}">
                  <a16:creationId xmlns:a16="http://schemas.microsoft.com/office/drawing/2014/main" id="{E724420E-15B1-6D49-B236-0025F6F97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>
                <a:gd name="T0" fmla="*/ 21 w 138"/>
                <a:gd name="T1" fmla="*/ 1 h 33"/>
                <a:gd name="T2" fmla="*/ 8 w 138"/>
                <a:gd name="T3" fmla="*/ 14 h 33"/>
                <a:gd name="T4" fmla="*/ 57 w 138"/>
                <a:gd name="T5" fmla="*/ 22 h 33"/>
                <a:gd name="T6" fmla="*/ 117 w 138"/>
                <a:gd name="T7" fmla="*/ 23 h 33"/>
                <a:gd name="T8" fmla="*/ 114 w 138"/>
                <a:gd name="T9" fmla="*/ 8 h 33"/>
                <a:gd name="T10" fmla="*/ 82 w 138"/>
                <a:gd name="T11" fmla="*/ 3 h 33"/>
                <a:gd name="T12" fmla="*/ 21 w 138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2" name="Freeform 14">
              <a:extLst>
                <a:ext uri="{FF2B5EF4-FFF2-40B4-BE49-F238E27FC236}">
                  <a16:creationId xmlns:a16="http://schemas.microsoft.com/office/drawing/2014/main" id="{9E4AB19A-CF8B-F037-04B3-B674B6FDC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>
                <a:gd name="T0" fmla="*/ 98 w 112"/>
                <a:gd name="T1" fmla="*/ 19 h 29"/>
                <a:gd name="T2" fmla="*/ 103 w 112"/>
                <a:gd name="T3" fmla="*/ 4 h 29"/>
                <a:gd name="T4" fmla="*/ 74 w 112"/>
                <a:gd name="T5" fmla="*/ 10 h 29"/>
                <a:gd name="T6" fmla="*/ 36 w 112"/>
                <a:gd name="T7" fmla="*/ 6 h 29"/>
                <a:gd name="T8" fmla="*/ 2 w 112"/>
                <a:gd name="T9" fmla="*/ 4 h 29"/>
                <a:gd name="T10" fmla="*/ 98 w 112"/>
                <a:gd name="T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3" name="Freeform 15">
              <a:extLst>
                <a:ext uri="{FF2B5EF4-FFF2-40B4-BE49-F238E27FC236}">
                  <a16:creationId xmlns:a16="http://schemas.microsoft.com/office/drawing/2014/main" id="{3CD0A9C0-FA31-2B83-37B4-306262DB4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>
                <a:gd name="T0" fmla="*/ 3 w 115"/>
                <a:gd name="T1" fmla="*/ 53 h 95"/>
                <a:gd name="T2" fmla="*/ 26 w 115"/>
                <a:gd name="T3" fmla="*/ 54 h 95"/>
                <a:gd name="T4" fmla="*/ 50 w 115"/>
                <a:gd name="T5" fmla="*/ 77 h 95"/>
                <a:gd name="T6" fmla="*/ 59 w 115"/>
                <a:gd name="T7" fmla="*/ 84 h 95"/>
                <a:gd name="T8" fmla="*/ 81 w 115"/>
                <a:gd name="T9" fmla="*/ 52 h 95"/>
                <a:gd name="T10" fmla="*/ 111 w 115"/>
                <a:gd name="T11" fmla="*/ 52 h 95"/>
                <a:gd name="T12" fmla="*/ 79 w 115"/>
                <a:gd name="T13" fmla="*/ 27 h 95"/>
                <a:gd name="T14" fmla="*/ 37 w 115"/>
                <a:gd name="T15" fmla="*/ 16 h 95"/>
                <a:gd name="T16" fmla="*/ 12 w 115"/>
                <a:gd name="T17" fmla="*/ 41 h 95"/>
                <a:gd name="T18" fmla="*/ 3 w 115"/>
                <a:gd name="T19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4" name="Freeform 16">
              <a:extLst>
                <a:ext uri="{FF2B5EF4-FFF2-40B4-BE49-F238E27FC236}">
                  <a16:creationId xmlns:a16="http://schemas.microsoft.com/office/drawing/2014/main" id="{15D19592-C6EF-4FF1-F0EE-B352E5B02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>
                <a:gd name="T0" fmla="*/ 51 w 65"/>
                <a:gd name="T1" fmla="*/ 40 h 169"/>
                <a:gd name="T2" fmla="*/ 22 w 65"/>
                <a:gd name="T3" fmla="*/ 49 h 169"/>
                <a:gd name="T4" fmla="*/ 22 w 65"/>
                <a:gd name="T5" fmla="*/ 59 h 169"/>
                <a:gd name="T6" fmla="*/ 50 w 65"/>
                <a:gd name="T7" fmla="*/ 90 h 169"/>
                <a:gd name="T8" fmla="*/ 34 w 65"/>
                <a:gd name="T9" fmla="*/ 118 h 169"/>
                <a:gd name="T10" fmla="*/ 0 w 65"/>
                <a:gd name="T11" fmla="*/ 148 h 169"/>
                <a:gd name="T12" fmla="*/ 17 w 65"/>
                <a:gd name="T13" fmla="*/ 155 h 169"/>
                <a:gd name="T14" fmla="*/ 47 w 65"/>
                <a:gd name="T15" fmla="*/ 166 h 169"/>
                <a:gd name="T16" fmla="*/ 63 w 65"/>
                <a:gd name="T17" fmla="*/ 162 h 169"/>
                <a:gd name="T18" fmla="*/ 65 w 65"/>
                <a:gd name="T19" fmla="*/ 0 h 169"/>
                <a:gd name="T20" fmla="*/ 51 w 65"/>
                <a:gd name="T21" fmla="*/ 4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6145" name="Group 17">
            <a:extLst>
              <a:ext uri="{FF2B5EF4-FFF2-40B4-BE49-F238E27FC236}">
                <a16:creationId xmlns:a16="http://schemas.microsoft.com/office/drawing/2014/main" id="{539F9645-B5EB-A1F7-3A47-C608D07E37A7}"/>
              </a:ext>
            </a:extLst>
          </p:cNvPr>
          <p:cNvGrpSpPr>
            <a:grpSpLocks/>
          </p:cNvGrpSpPr>
          <p:nvPr/>
        </p:nvGrpSpPr>
        <p:grpSpPr bwMode="auto">
          <a:xfrm>
            <a:off x="554038" y="36513"/>
            <a:ext cx="7891462" cy="6821487"/>
            <a:chOff x="349" y="23"/>
            <a:chExt cx="4971" cy="4297"/>
          </a:xfrm>
        </p:grpSpPr>
        <p:sp>
          <p:nvSpPr>
            <p:cNvPr id="176146" name="Rectangle 18">
              <a:extLst>
                <a:ext uri="{FF2B5EF4-FFF2-40B4-BE49-F238E27FC236}">
                  <a16:creationId xmlns:a16="http://schemas.microsoft.com/office/drawing/2014/main" id="{BCEB6CD3-3A0B-40B8-827E-677AEFA4C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7" name="Freeform 19">
              <a:extLst>
                <a:ext uri="{FF2B5EF4-FFF2-40B4-BE49-F238E27FC236}">
                  <a16:creationId xmlns:a16="http://schemas.microsoft.com/office/drawing/2014/main" id="{948096A3-4CDF-F46F-E004-4F1A1E5EBD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8" name="Freeform 20">
              <a:extLst>
                <a:ext uri="{FF2B5EF4-FFF2-40B4-BE49-F238E27FC236}">
                  <a16:creationId xmlns:a16="http://schemas.microsoft.com/office/drawing/2014/main" id="{991A7A11-32B7-1105-08A4-30270627D3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9" name="Freeform 21">
              <a:extLst>
                <a:ext uri="{FF2B5EF4-FFF2-40B4-BE49-F238E27FC236}">
                  <a16:creationId xmlns:a16="http://schemas.microsoft.com/office/drawing/2014/main" id="{16610FFD-A5E0-F50F-B160-4216E6DCE7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0" name="Freeform 22">
              <a:extLst>
                <a:ext uri="{FF2B5EF4-FFF2-40B4-BE49-F238E27FC236}">
                  <a16:creationId xmlns:a16="http://schemas.microsoft.com/office/drawing/2014/main" id="{B862D498-EBD1-49F7-1CDB-B487A7033D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1" name="Freeform 23">
              <a:extLst>
                <a:ext uri="{FF2B5EF4-FFF2-40B4-BE49-F238E27FC236}">
                  <a16:creationId xmlns:a16="http://schemas.microsoft.com/office/drawing/2014/main" id="{D4FFC533-C2AD-CB86-7470-25B35C4BCD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2" name="Freeform 24">
              <a:extLst>
                <a:ext uri="{FF2B5EF4-FFF2-40B4-BE49-F238E27FC236}">
                  <a16:creationId xmlns:a16="http://schemas.microsoft.com/office/drawing/2014/main" id="{47E44101-C7A1-21B7-4568-833EDDB4D4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3" name="Freeform 25">
              <a:extLst>
                <a:ext uri="{FF2B5EF4-FFF2-40B4-BE49-F238E27FC236}">
                  <a16:creationId xmlns:a16="http://schemas.microsoft.com/office/drawing/2014/main" id="{9E5397D0-07FA-B5A9-C106-EDAD890786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4" name="Freeform 26">
              <a:extLst>
                <a:ext uri="{FF2B5EF4-FFF2-40B4-BE49-F238E27FC236}">
                  <a16:creationId xmlns:a16="http://schemas.microsoft.com/office/drawing/2014/main" id="{C8D5BA90-63B4-0AF7-F746-BE388FC92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5" name="Freeform 27">
              <a:extLst>
                <a:ext uri="{FF2B5EF4-FFF2-40B4-BE49-F238E27FC236}">
                  <a16:creationId xmlns:a16="http://schemas.microsoft.com/office/drawing/2014/main" id="{7F636A27-19E3-514C-2DB1-16B7C5B126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6" name="Freeform 28">
              <a:extLst>
                <a:ext uri="{FF2B5EF4-FFF2-40B4-BE49-F238E27FC236}">
                  <a16:creationId xmlns:a16="http://schemas.microsoft.com/office/drawing/2014/main" id="{E2929F07-7BC4-1C01-40F4-159886630F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7" name="Rectangle 29">
              <a:extLst>
                <a:ext uri="{FF2B5EF4-FFF2-40B4-BE49-F238E27FC236}">
                  <a16:creationId xmlns:a16="http://schemas.microsoft.com/office/drawing/2014/main" id="{A90138E1-0AA6-FDCF-8C56-8A27B3827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8" name="Rectangle 30">
              <a:extLst>
                <a:ext uri="{FF2B5EF4-FFF2-40B4-BE49-F238E27FC236}">
                  <a16:creationId xmlns:a16="http://schemas.microsoft.com/office/drawing/2014/main" id="{38BE8899-C975-9382-E1CF-F06D31418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9" name="Freeform 31">
              <a:extLst>
                <a:ext uri="{FF2B5EF4-FFF2-40B4-BE49-F238E27FC236}">
                  <a16:creationId xmlns:a16="http://schemas.microsoft.com/office/drawing/2014/main" id="{9623F9F4-DCF4-F246-72DE-BFB5665B05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0" name="Freeform 32">
              <a:extLst>
                <a:ext uri="{FF2B5EF4-FFF2-40B4-BE49-F238E27FC236}">
                  <a16:creationId xmlns:a16="http://schemas.microsoft.com/office/drawing/2014/main" id="{0761E5B5-273F-2FC4-F1A3-6AB205130C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1" name="Freeform 33">
              <a:extLst>
                <a:ext uri="{FF2B5EF4-FFF2-40B4-BE49-F238E27FC236}">
                  <a16:creationId xmlns:a16="http://schemas.microsoft.com/office/drawing/2014/main" id="{D793DA42-C105-A0EB-9305-85A8ED1AEE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2" name="Freeform 34">
              <a:extLst>
                <a:ext uri="{FF2B5EF4-FFF2-40B4-BE49-F238E27FC236}">
                  <a16:creationId xmlns:a16="http://schemas.microsoft.com/office/drawing/2014/main" id="{6F09360B-BAD1-0A00-058B-85CEC1686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3" name="Freeform 35">
              <a:extLst>
                <a:ext uri="{FF2B5EF4-FFF2-40B4-BE49-F238E27FC236}">
                  <a16:creationId xmlns:a16="http://schemas.microsoft.com/office/drawing/2014/main" id="{7A4F396A-A988-B317-0BD7-905A94BF1F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4" name="Freeform 36">
              <a:extLst>
                <a:ext uri="{FF2B5EF4-FFF2-40B4-BE49-F238E27FC236}">
                  <a16:creationId xmlns:a16="http://schemas.microsoft.com/office/drawing/2014/main" id="{074FE346-C863-D07C-C3CA-C4D45851B9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5" name="Freeform 37">
              <a:extLst>
                <a:ext uri="{FF2B5EF4-FFF2-40B4-BE49-F238E27FC236}">
                  <a16:creationId xmlns:a16="http://schemas.microsoft.com/office/drawing/2014/main" id="{76D6312D-EC81-CF03-BD8B-09EF9112A7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6" name="Freeform 38">
              <a:extLst>
                <a:ext uri="{FF2B5EF4-FFF2-40B4-BE49-F238E27FC236}">
                  <a16:creationId xmlns:a16="http://schemas.microsoft.com/office/drawing/2014/main" id="{4E23A9AC-4726-C916-1915-E2F7F534C5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7" name="Freeform 39">
              <a:extLst>
                <a:ext uri="{FF2B5EF4-FFF2-40B4-BE49-F238E27FC236}">
                  <a16:creationId xmlns:a16="http://schemas.microsoft.com/office/drawing/2014/main" id="{2945A461-E539-FFA8-5646-C0B02AB889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8" name="Freeform 40">
              <a:extLst>
                <a:ext uri="{FF2B5EF4-FFF2-40B4-BE49-F238E27FC236}">
                  <a16:creationId xmlns:a16="http://schemas.microsoft.com/office/drawing/2014/main" id="{285F896C-C394-71CD-FC97-ABDA4D93CF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9" name="Rectangle 41">
              <a:extLst>
                <a:ext uri="{FF2B5EF4-FFF2-40B4-BE49-F238E27FC236}">
                  <a16:creationId xmlns:a16="http://schemas.microsoft.com/office/drawing/2014/main" id="{423974A5-55BE-4FC2-2354-F1A79388E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0" name="Rectangle 42">
              <a:extLst>
                <a:ext uri="{FF2B5EF4-FFF2-40B4-BE49-F238E27FC236}">
                  <a16:creationId xmlns:a16="http://schemas.microsoft.com/office/drawing/2014/main" id="{23F462D1-923C-996C-B5EF-0A5A37009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1" name="Freeform 43">
              <a:extLst>
                <a:ext uri="{FF2B5EF4-FFF2-40B4-BE49-F238E27FC236}">
                  <a16:creationId xmlns:a16="http://schemas.microsoft.com/office/drawing/2014/main" id="{AA598BE6-23F3-8FBA-93FB-CCFFCC557D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2" name="Freeform 44">
              <a:extLst>
                <a:ext uri="{FF2B5EF4-FFF2-40B4-BE49-F238E27FC236}">
                  <a16:creationId xmlns:a16="http://schemas.microsoft.com/office/drawing/2014/main" id="{CD425A79-F345-26FD-DAFF-96EBAF7A23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3" name="Freeform 45">
              <a:extLst>
                <a:ext uri="{FF2B5EF4-FFF2-40B4-BE49-F238E27FC236}">
                  <a16:creationId xmlns:a16="http://schemas.microsoft.com/office/drawing/2014/main" id="{A52558CD-9564-BC83-AF92-287F2A2C16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4" name="Freeform 46">
              <a:extLst>
                <a:ext uri="{FF2B5EF4-FFF2-40B4-BE49-F238E27FC236}">
                  <a16:creationId xmlns:a16="http://schemas.microsoft.com/office/drawing/2014/main" id="{A46E2CD6-709E-6A87-4A27-596BD38172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5" name="Freeform 47">
              <a:extLst>
                <a:ext uri="{FF2B5EF4-FFF2-40B4-BE49-F238E27FC236}">
                  <a16:creationId xmlns:a16="http://schemas.microsoft.com/office/drawing/2014/main" id="{BE85212C-008A-FC46-FBEB-7180103266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6" name="Freeform 48">
              <a:extLst>
                <a:ext uri="{FF2B5EF4-FFF2-40B4-BE49-F238E27FC236}">
                  <a16:creationId xmlns:a16="http://schemas.microsoft.com/office/drawing/2014/main" id="{5F5BFFED-97A8-0D6C-B2A3-3A2DD06285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7" name="Freeform 49">
              <a:extLst>
                <a:ext uri="{FF2B5EF4-FFF2-40B4-BE49-F238E27FC236}">
                  <a16:creationId xmlns:a16="http://schemas.microsoft.com/office/drawing/2014/main" id="{C9B989E5-4543-7137-8D86-BB3B1B5B07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8" name="Freeform 50">
              <a:extLst>
                <a:ext uri="{FF2B5EF4-FFF2-40B4-BE49-F238E27FC236}">
                  <a16:creationId xmlns:a16="http://schemas.microsoft.com/office/drawing/2014/main" id="{6D9F0E8F-1EA2-FC98-200B-563F5139F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9" name="Freeform 51">
              <a:extLst>
                <a:ext uri="{FF2B5EF4-FFF2-40B4-BE49-F238E27FC236}">
                  <a16:creationId xmlns:a16="http://schemas.microsoft.com/office/drawing/2014/main" id="{C91E4E1A-F462-3F30-5E6D-5D6A06E98B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0" name="Freeform 52">
              <a:extLst>
                <a:ext uri="{FF2B5EF4-FFF2-40B4-BE49-F238E27FC236}">
                  <a16:creationId xmlns:a16="http://schemas.microsoft.com/office/drawing/2014/main" id="{36590E39-C118-D51D-77C5-C4BB2E1A51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1" name="Rectangle 53">
              <a:extLst>
                <a:ext uri="{FF2B5EF4-FFF2-40B4-BE49-F238E27FC236}">
                  <a16:creationId xmlns:a16="http://schemas.microsoft.com/office/drawing/2014/main" id="{0FD340F7-C8D3-D12A-2F86-BF8AF76B3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2" name="Rectangle 54">
              <a:extLst>
                <a:ext uri="{FF2B5EF4-FFF2-40B4-BE49-F238E27FC236}">
                  <a16:creationId xmlns:a16="http://schemas.microsoft.com/office/drawing/2014/main" id="{A964AFA8-37CC-1DF9-C8EC-914B34EF9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3" name="Freeform 55">
              <a:extLst>
                <a:ext uri="{FF2B5EF4-FFF2-40B4-BE49-F238E27FC236}">
                  <a16:creationId xmlns:a16="http://schemas.microsoft.com/office/drawing/2014/main" id="{7235BD50-D8EF-52A9-10DB-3168DBEF4A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4" name="Freeform 56">
              <a:extLst>
                <a:ext uri="{FF2B5EF4-FFF2-40B4-BE49-F238E27FC236}">
                  <a16:creationId xmlns:a16="http://schemas.microsoft.com/office/drawing/2014/main" id="{B81E72BB-34F1-6733-B343-43F3F01BDF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5" name="Freeform 57">
              <a:extLst>
                <a:ext uri="{FF2B5EF4-FFF2-40B4-BE49-F238E27FC236}">
                  <a16:creationId xmlns:a16="http://schemas.microsoft.com/office/drawing/2014/main" id="{A5A85D7F-7271-9540-FBCB-4B3FF5F185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6" name="Freeform 58">
              <a:extLst>
                <a:ext uri="{FF2B5EF4-FFF2-40B4-BE49-F238E27FC236}">
                  <a16:creationId xmlns:a16="http://schemas.microsoft.com/office/drawing/2014/main" id="{98DCDD08-F6D1-1FA1-8F9D-BB5A3F66EC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7" name="Freeform 59">
              <a:extLst>
                <a:ext uri="{FF2B5EF4-FFF2-40B4-BE49-F238E27FC236}">
                  <a16:creationId xmlns:a16="http://schemas.microsoft.com/office/drawing/2014/main" id="{9FE558CF-96AD-1533-2A78-6825CF1AAA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8" name="Freeform 60">
              <a:extLst>
                <a:ext uri="{FF2B5EF4-FFF2-40B4-BE49-F238E27FC236}">
                  <a16:creationId xmlns:a16="http://schemas.microsoft.com/office/drawing/2014/main" id="{D6CBA6CB-29C9-850A-B352-06C10F3725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9" name="Freeform 61">
              <a:extLst>
                <a:ext uri="{FF2B5EF4-FFF2-40B4-BE49-F238E27FC236}">
                  <a16:creationId xmlns:a16="http://schemas.microsoft.com/office/drawing/2014/main" id="{D8698B5F-02CA-C05C-B520-E2FC3CF705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0" name="Freeform 62">
              <a:extLst>
                <a:ext uri="{FF2B5EF4-FFF2-40B4-BE49-F238E27FC236}">
                  <a16:creationId xmlns:a16="http://schemas.microsoft.com/office/drawing/2014/main" id="{5AD9D539-2070-C0D3-DEAC-B345B029C2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1" name="Freeform 63">
              <a:extLst>
                <a:ext uri="{FF2B5EF4-FFF2-40B4-BE49-F238E27FC236}">
                  <a16:creationId xmlns:a16="http://schemas.microsoft.com/office/drawing/2014/main" id="{692E4D11-4F08-13C1-AEC9-064AC7CE32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2" name="Freeform 64">
              <a:extLst>
                <a:ext uri="{FF2B5EF4-FFF2-40B4-BE49-F238E27FC236}">
                  <a16:creationId xmlns:a16="http://schemas.microsoft.com/office/drawing/2014/main" id="{8308656A-179E-9031-1E90-F71FF96343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3" name="Rectangle 65">
              <a:extLst>
                <a:ext uri="{FF2B5EF4-FFF2-40B4-BE49-F238E27FC236}">
                  <a16:creationId xmlns:a16="http://schemas.microsoft.com/office/drawing/2014/main" id="{E90D7CF7-0AE8-3F76-ED60-F17D5F073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4" name="Rectangle 66">
              <a:extLst>
                <a:ext uri="{FF2B5EF4-FFF2-40B4-BE49-F238E27FC236}">
                  <a16:creationId xmlns:a16="http://schemas.microsoft.com/office/drawing/2014/main" id="{2310476C-9F53-F837-A056-F6738F709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5" name="Freeform 67">
              <a:extLst>
                <a:ext uri="{FF2B5EF4-FFF2-40B4-BE49-F238E27FC236}">
                  <a16:creationId xmlns:a16="http://schemas.microsoft.com/office/drawing/2014/main" id="{4E495F85-2F86-809C-FF04-5393DF4B39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6" name="Freeform 68">
              <a:extLst>
                <a:ext uri="{FF2B5EF4-FFF2-40B4-BE49-F238E27FC236}">
                  <a16:creationId xmlns:a16="http://schemas.microsoft.com/office/drawing/2014/main" id="{1E26AB18-A126-918D-DABF-00543D32A8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7" name="Freeform 69">
              <a:extLst>
                <a:ext uri="{FF2B5EF4-FFF2-40B4-BE49-F238E27FC236}">
                  <a16:creationId xmlns:a16="http://schemas.microsoft.com/office/drawing/2014/main" id="{08CC7000-6B2D-68FC-4BF9-51C269E0FA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8" name="Freeform 70">
              <a:extLst>
                <a:ext uri="{FF2B5EF4-FFF2-40B4-BE49-F238E27FC236}">
                  <a16:creationId xmlns:a16="http://schemas.microsoft.com/office/drawing/2014/main" id="{3DF3A7BB-BFD7-B528-EE1E-CEF8CAD80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9" name="Freeform 71">
              <a:extLst>
                <a:ext uri="{FF2B5EF4-FFF2-40B4-BE49-F238E27FC236}">
                  <a16:creationId xmlns:a16="http://schemas.microsoft.com/office/drawing/2014/main" id="{A7FBFA06-6E74-9A3F-9369-983418B025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0" name="Freeform 72">
              <a:extLst>
                <a:ext uri="{FF2B5EF4-FFF2-40B4-BE49-F238E27FC236}">
                  <a16:creationId xmlns:a16="http://schemas.microsoft.com/office/drawing/2014/main" id="{80A34AFE-32AB-A9F9-7538-EBB725B55A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1" name="Freeform 73">
              <a:extLst>
                <a:ext uri="{FF2B5EF4-FFF2-40B4-BE49-F238E27FC236}">
                  <a16:creationId xmlns:a16="http://schemas.microsoft.com/office/drawing/2014/main" id="{ECDDE448-ADC5-98E6-5200-E9E519ABC4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2" name="Freeform 74">
              <a:extLst>
                <a:ext uri="{FF2B5EF4-FFF2-40B4-BE49-F238E27FC236}">
                  <a16:creationId xmlns:a16="http://schemas.microsoft.com/office/drawing/2014/main" id="{E0BCEB0A-849A-8C14-B609-C3FA6219C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3" name="Freeform 75">
              <a:extLst>
                <a:ext uri="{FF2B5EF4-FFF2-40B4-BE49-F238E27FC236}">
                  <a16:creationId xmlns:a16="http://schemas.microsoft.com/office/drawing/2014/main" id="{DD64DB8C-F37E-6F8D-6D52-2A8350C5C1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4" name="Freeform 76">
              <a:extLst>
                <a:ext uri="{FF2B5EF4-FFF2-40B4-BE49-F238E27FC236}">
                  <a16:creationId xmlns:a16="http://schemas.microsoft.com/office/drawing/2014/main" id="{E145D451-48F8-F8CB-6F3F-E6D1363E83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5" name="Rectangle 77">
              <a:extLst>
                <a:ext uri="{FF2B5EF4-FFF2-40B4-BE49-F238E27FC236}">
                  <a16:creationId xmlns:a16="http://schemas.microsoft.com/office/drawing/2014/main" id="{B91666D0-474C-22AA-DAAF-33E333FD7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6" name="Rectangle 78">
              <a:extLst>
                <a:ext uri="{FF2B5EF4-FFF2-40B4-BE49-F238E27FC236}">
                  <a16:creationId xmlns:a16="http://schemas.microsoft.com/office/drawing/2014/main" id="{BF231058-B0FC-1627-C2E8-677D6B634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7" name="Freeform 79">
              <a:extLst>
                <a:ext uri="{FF2B5EF4-FFF2-40B4-BE49-F238E27FC236}">
                  <a16:creationId xmlns:a16="http://schemas.microsoft.com/office/drawing/2014/main" id="{5BD86CB4-4490-6CC2-A1FC-197BFBFE5F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8" name="Freeform 80">
              <a:extLst>
                <a:ext uri="{FF2B5EF4-FFF2-40B4-BE49-F238E27FC236}">
                  <a16:creationId xmlns:a16="http://schemas.microsoft.com/office/drawing/2014/main" id="{597DB4ED-32DA-EAC3-55C7-9C3605E691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9" name="Freeform 81">
              <a:extLst>
                <a:ext uri="{FF2B5EF4-FFF2-40B4-BE49-F238E27FC236}">
                  <a16:creationId xmlns:a16="http://schemas.microsoft.com/office/drawing/2014/main" id="{98F8746F-A061-A521-854E-4CBA73875B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0" name="Freeform 82">
              <a:extLst>
                <a:ext uri="{FF2B5EF4-FFF2-40B4-BE49-F238E27FC236}">
                  <a16:creationId xmlns:a16="http://schemas.microsoft.com/office/drawing/2014/main" id="{E6A0A79F-2D79-B5FF-A760-BB5149DB3C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1" name="Freeform 83">
              <a:extLst>
                <a:ext uri="{FF2B5EF4-FFF2-40B4-BE49-F238E27FC236}">
                  <a16:creationId xmlns:a16="http://schemas.microsoft.com/office/drawing/2014/main" id="{FD60D032-142B-701E-B8D2-8DF18F4A3C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2" name="Freeform 84">
              <a:extLst>
                <a:ext uri="{FF2B5EF4-FFF2-40B4-BE49-F238E27FC236}">
                  <a16:creationId xmlns:a16="http://schemas.microsoft.com/office/drawing/2014/main" id="{B0ACDD25-1EEE-74CE-0E34-4C8CFA9D24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3" name="Freeform 85">
              <a:extLst>
                <a:ext uri="{FF2B5EF4-FFF2-40B4-BE49-F238E27FC236}">
                  <a16:creationId xmlns:a16="http://schemas.microsoft.com/office/drawing/2014/main" id="{9152D5F8-5B55-6C84-7E0B-C48C58EF92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4" name="Freeform 86">
              <a:extLst>
                <a:ext uri="{FF2B5EF4-FFF2-40B4-BE49-F238E27FC236}">
                  <a16:creationId xmlns:a16="http://schemas.microsoft.com/office/drawing/2014/main" id="{358C6D2C-E370-1EBF-3C46-68F6D8F467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5" name="Freeform 87">
              <a:extLst>
                <a:ext uri="{FF2B5EF4-FFF2-40B4-BE49-F238E27FC236}">
                  <a16:creationId xmlns:a16="http://schemas.microsoft.com/office/drawing/2014/main" id="{3761111D-3E54-96C1-44F1-61EC218230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6" name="Freeform 88">
              <a:extLst>
                <a:ext uri="{FF2B5EF4-FFF2-40B4-BE49-F238E27FC236}">
                  <a16:creationId xmlns:a16="http://schemas.microsoft.com/office/drawing/2014/main" id="{2AA3D8B9-A713-2F6F-EBF2-CB365AAAAB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7" name="Rectangle 89">
              <a:extLst>
                <a:ext uri="{FF2B5EF4-FFF2-40B4-BE49-F238E27FC236}">
                  <a16:creationId xmlns:a16="http://schemas.microsoft.com/office/drawing/2014/main" id="{3C17C467-D052-F799-842C-D46D1F2D3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8" name="Rectangle 90">
              <a:extLst>
                <a:ext uri="{FF2B5EF4-FFF2-40B4-BE49-F238E27FC236}">
                  <a16:creationId xmlns:a16="http://schemas.microsoft.com/office/drawing/2014/main" id="{BA00EC5D-2315-5A39-C30F-092FB2976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9" name="Freeform 91">
              <a:extLst>
                <a:ext uri="{FF2B5EF4-FFF2-40B4-BE49-F238E27FC236}">
                  <a16:creationId xmlns:a16="http://schemas.microsoft.com/office/drawing/2014/main" id="{B396A7C2-4D37-8ED1-2B33-AB256357EB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0" name="Freeform 92">
              <a:extLst>
                <a:ext uri="{FF2B5EF4-FFF2-40B4-BE49-F238E27FC236}">
                  <a16:creationId xmlns:a16="http://schemas.microsoft.com/office/drawing/2014/main" id="{CF341720-C572-30EF-ABF0-DB62FE4DC2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1" name="Freeform 93">
              <a:extLst>
                <a:ext uri="{FF2B5EF4-FFF2-40B4-BE49-F238E27FC236}">
                  <a16:creationId xmlns:a16="http://schemas.microsoft.com/office/drawing/2014/main" id="{C2E86314-ACCA-E430-703E-A1E18ACBE1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2" name="Freeform 94">
              <a:extLst>
                <a:ext uri="{FF2B5EF4-FFF2-40B4-BE49-F238E27FC236}">
                  <a16:creationId xmlns:a16="http://schemas.microsoft.com/office/drawing/2014/main" id="{17461EFE-098A-DECF-0A63-9BA5B3840C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3" name="Freeform 95">
              <a:extLst>
                <a:ext uri="{FF2B5EF4-FFF2-40B4-BE49-F238E27FC236}">
                  <a16:creationId xmlns:a16="http://schemas.microsoft.com/office/drawing/2014/main" id="{74919281-2983-30F3-0290-FC8D893D51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4" name="Freeform 96">
              <a:extLst>
                <a:ext uri="{FF2B5EF4-FFF2-40B4-BE49-F238E27FC236}">
                  <a16:creationId xmlns:a16="http://schemas.microsoft.com/office/drawing/2014/main" id="{7F42728C-5E1E-2CBD-C3DE-7DC57DDC9D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5" name="Freeform 97">
              <a:extLst>
                <a:ext uri="{FF2B5EF4-FFF2-40B4-BE49-F238E27FC236}">
                  <a16:creationId xmlns:a16="http://schemas.microsoft.com/office/drawing/2014/main" id="{382E6A7F-11F6-367B-EF29-BA13F1D16A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6" name="Freeform 98">
              <a:extLst>
                <a:ext uri="{FF2B5EF4-FFF2-40B4-BE49-F238E27FC236}">
                  <a16:creationId xmlns:a16="http://schemas.microsoft.com/office/drawing/2014/main" id="{74AB5BE2-4711-1CD5-19EE-842E15CBAE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7" name="Freeform 99">
              <a:extLst>
                <a:ext uri="{FF2B5EF4-FFF2-40B4-BE49-F238E27FC236}">
                  <a16:creationId xmlns:a16="http://schemas.microsoft.com/office/drawing/2014/main" id="{3E44F6A7-AAAD-6E6E-D8D3-4B5129E1B5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8" name="Freeform 100">
              <a:extLst>
                <a:ext uri="{FF2B5EF4-FFF2-40B4-BE49-F238E27FC236}">
                  <a16:creationId xmlns:a16="http://schemas.microsoft.com/office/drawing/2014/main" id="{01E955E6-A26F-B1E8-5844-3BDEFF7832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9" name="Rectangle 101">
              <a:extLst>
                <a:ext uri="{FF2B5EF4-FFF2-40B4-BE49-F238E27FC236}">
                  <a16:creationId xmlns:a16="http://schemas.microsoft.com/office/drawing/2014/main" id="{BEB351D4-026E-8A51-3A2D-F1F1D4169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0" name="Rectangle 102">
              <a:extLst>
                <a:ext uri="{FF2B5EF4-FFF2-40B4-BE49-F238E27FC236}">
                  <a16:creationId xmlns:a16="http://schemas.microsoft.com/office/drawing/2014/main" id="{CD378214-E53E-A03D-18CB-8FAA1697C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1" name="Freeform 103">
              <a:extLst>
                <a:ext uri="{FF2B5EF4-FFF2-40B4-BE49-F238E27FC236}">
                  <a16:creationId xmlns:a16="http://schemas.microsoft.com/office/drawing/2014/main" id="{AFF0E131-6774-4BBF-4573-23007953F8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2" name="Freeform 104">
              <a:extLst>
                <a:ext uri="{FF2B5EF4-FFF2-40B4-BE49-F238E27FC236}">
                  <a16:creationId xmlns:a16="http://schemas.microsoft.com/office/drawing/2014/main" id="{550940A5-D7FF-F182-144C-082163B8B9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3" name="Freeform 105">
              <a:extLst>
                <a:ext uri="{FF2B5EF4-FFF2-40B4-BE49-F238E27FC236}">
                  <a16:creationId xmlns:a16="http://schemas.microsoft.com/office/drawing/2014/main" id="{12F52C0F-9A0D-7FE3-A7B0-A036C253BB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4" name="Freeform 106">
              <a:extLst>
                <a:ext uri="{FF2B5EF4-FFF2-40B4-BE49-F238E27FC236}">
                  <a16:creationId xmlns:a16="http://schemas.microsoft.com/office/drawing/2014/main" id="{3A1EB34E-7D0B-B8BC-DC0F-757EC47000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5" name="Freeform 107">
              <a:extLst>
                <a:ext uri="{FF2B5EF4-FFF2-40B4-BE49-F238E27FC236}">
                  <a16:creationId xmlns:a16="http://schemas.microsoft.com/office/drawing/2014/main" id="{2A91D7EA-B05B-237E-AA34-346001EA8A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6" name="Freeform 108">
              <a:extLst>
                <a:ext uri="{FF2B5EF4-FFF2-40B4-BE49-F238E27FC236}">
                  <a16:creationId xmlns:a16="http://schemas.microsoft.com/office/drawing/2014/main" id="{E6315C6B-C1A6-16D2-D19F-2B53E55040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7" name="Freeform 109">
              <a:extLst>
                <a:ext uri="{FF2B5EF4-FFF2-40B4-BE49-F238E27FC236}">
                  <a16:creationId xmlns:a16="http://schemas.microsoft.com/office/drawing/2014/main" id="{A56CD47B-E417-7F1D-0028-930E4EC035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8" name="Freeform 110">
              <a:extLst>
                <a:ext uri="{FF2B5EF4-FFF2-40B4-BE49-F238E27FC236}">
                  <a16:creationId xmlns:a16="http://schemas.microsoft.com/office/drawing/2014/main" id="{967CEAF7-9D36-75FC-01F6-02285E25E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9" name="Freeform 111">
              <a:extLst>
                <a:ext uri="{FF2B5EF4-FFF2-40B4-BE49-F238E27FC236}">
                  <a16:creationId xmlns:a16="http://schemas.microsoft.com/office/drawing/2014/main" id="{181A82AA-AFF0-1706-91E1-01FBB4636E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0" name="Freeform 112">
              <a:extLst>
                <a:ext uri="{FF2B5EF4-FFF2-40B4-BE49-F238E27FC236}">
                  <a16:creationId xmlns:a16="http://schemas.microsoft.com/office/drawing/2014/main" id="{964CFA22-2A21-3DF1-FE3E-E2A2688215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1" name="Rectangle 113">
              <a:extLst>
                <a:ext uri="{FF2B5EF4-FFF2-40B4-BE49-F238E27FC236}">
                  <a16:creationId xmlns:a16="http://schemas.microsoft.com/office/drawing/2014/main" id="{765586F0-D09C-C65B-CA81-74EEABDF8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2" name="Rectangle 114">
              <a:extLst>
                <a:ext uri="{FF2B5EF4-FFF2-40B4-BE49-F238E27FC236}">
                  <a16:creationId xmlns:a16="http://schemas.microsoft.com/office/drawing/2014/main" id="{FE19F816-E864-04D1-D76E-46D268E2C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3" name="Freeform 115">
              <a:extLst>
                <a:ext uri="{FF2B5EF4-FFF2-40B4-BE49-F238E27FC236}">
                  <a16:creationId xmlns:a16="http://schemas.microsoft.com/office/drawing/2014/main" id="{EAD506E4-44B7-8777-6560-A910DADD01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4" name="Freeform 116">
              <a:extLst>
                <a:ext uri="{FF2B5EF4-FFF2-40B4-BE49-F238E27FC236}">
                  <a16:creationId xmlns:a16="http://schemas.microsoft.com/office/drawing/2014/main" id="{2964E1F2-87C3-E215-D7EE-8023E383F7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5" name="Freeform 117">
              <a:extLst>
                <a:ext uri="{FF2B5EF4-FFF2-40B4-BE49-F238E27FC236}">
                  <a16:creationId xmlns:a16="http://schemas.microsoft.com/office/drawing/2014/main" id="{1BDCAD5D-FB79-0853-C954-7D8B31B9AC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6" name="Freeform 118">
              <a:extLst>
                <a:ext uri="{FF2B5EF4-FFF2-40B4-BE49-F238E27FC236}">
                  <a16:creationId xmlns:a16="http://schemas.microsoft.com/office/drawing/2014/main" id="{984D650E-9F57-1B1C-9E67-FEFE5A2A2E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7" name="Freeform 119">
              <a:extLst>
                <a:ext uri="{FF2B5EF4-FFF2-40B4-BE49-F238E27FC236}">
                  <a16:creationId xmlns:a16="http://schemas.microsoft.com/office/drawing/2014/main" id="{92D16157-458E-F156-9F5D-FCDC62AE0B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8" name="Freeform 120">
              <a:extLst>
                <a:ext uri="{FF2B5EF4-FFF2-40B4-BE49-F238E27FC236}">
                  <a16:creationId xmlns:a16="http://schemas.microsoft.com/office/drawing/2014/main" id="{A51F9FC7-F9B2-E0F3-FB1A-991EB1B902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9" name="Freeform 121">
              <a:extLst>
                <a:ext uri="{FF2B5EF4-FFF2-40B4-BE49-F238E27FC236}">
                  <a16:creationId xmlns:a16="http://schemas.microsoft.com/office/drawing/2014/main" id="{85D851DD-A8C0-94D1-40AD-018E4DB382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0" name="Freeform 122">
              <a:extLst>
                <a:ext uri="{FF2B5EF4-FFF2-40B4-BE49-F238E27FC236}">
                  <a16:creationId xmlns:a16="http://schemas.microsoft.com/office/drawing/2014/main" id="{DBD39402-CA42-286E-D8B0-856160306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1" name="Freeform 123">
              <a:extLst>
                <a:ext uri="{FF2B5EF4-FFF2-40B4-BE49-F238E27FC236}">
                  <a16:creationId xmlns:a16="http://schemas.microsoft.com/office/drawing/2014/main" id="{C1CE2091-D2D0-52D3-93E8-87F727F6A5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2" name="Freeform 124">
              <a:extLst>
                <a:ext uri="{FF2B5EF4-FFF2-40B4-BE49-F238E27FC236}">
                  <a16:creationId xmlns:a16="http://schemas.microsoft.com/office/drawing/2014/main" id="{12F769DE-6EE8-F965-51B0-3D79F36A48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3" name="Rectangle 125">
              <a:extLst>
                <a:ext uri="{FF2B5EF4-FFF2-40B4-BE49-F238E27FC236}">
                  <a16:creationId xmlns:a16="http://schemas.microsoft.com/office/drawing/2014/main" id="{0217B180-C0C1-A8D3-F64A-894462795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4" name="Rectangle 126">
              <a:extLst>
                <a:ext uri="{FF2B5EF4-FFF2-40B4-BE49-F238E27FC236}">
                  <a16:creationId xmlns:a16="http://schemas.microsoft.com/office/drawing/2014/main" id="{29248F0B-7AC6-C183-0B11-CD668CF47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5" name="Freeform 127">
              <a:extLst>
                <a:ext uri="{FF2B5EF4-FFF2-40B4-BE49-F238E27FC236}">
                  <a16:creationId xmlns:a16="http://schemas.microsoft.com/office/drawing/2014/main" id="{4645D477-0A11-4326-9DA9-AA9F9F65DF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6" name="Freeform 128">
              <a:extLst>
                <a:ext uri="{FF2B5EF4-FFF2-40B4-BE49-F238E27FC236}">
                  <a16:creationId xmlns:a16="http://schemas.microsoft.com/office/drawing/2014/main" id="{F4A070F6-04BB-74C6-26F0-52B8D74C3D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7" name="Freeform 129">
              <a:extLst>
                <a:ext uri="{FF2B5EF4-FFF2-40B4-BE49-F238E27FC236}">
                  <a16:creationId xmlns:a16="http://schemas.microsoft.com/office/drawing/2014/main" id="{2E0DE782-AAD5-D646-EF8F-53B508D5D6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8" name="Freeform 130">
              <a:extLst>
                <a:ext uri="{FF2B5EF4-FFF2-40B4-BE49-F238E27FC236}">
                  <a16:creationId xmlns:a16="http://schemas.microsoft.com/office/drawing/2014/main" id="{0DE695DD-3EB3-2854-E547-DF6715F7EA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9" name="Freeform 131">
              <a:extLst>
                <a:ext uri="{FF2B5EF4-FFF2-40B4-BE49-F238E27FC236}">
                  <a16:creationId xmlns:a16="http://schemas.microsoft.com/office/drawing/2014/main" id="{9FC360B7-EF29-B2B3-A798-6771711585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0" name="Freeform 132">
              <a:extLst>
                <a:ext uri="{FF2B5EF4-FFF2-40B4-BE49-F238E27FC236}">
                  <a16:creationId xmlns:a16="http://schemas.microsoft.com/office/drawing/2014/main" id="{982FF133-366D-B284-2614-39410A9D95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1" name="Freeform 133">
              <a:extLst>
                <a:ext uri="{FF2B5EF4-FFF2-40B4-BE49-F238E27FC236}">
                  <a16:creationId xmlns:a16="http://schemas.microsoft.com/office/drawing/2014/main" id="{43838C70-A8AC-62ED-24FD-A48D91D0A0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2" name="Freeform 134">
              <a:extLst>
                <a:ext uri="{FF2B5EF4-FFF2-40B4-BE49-F238E27FC236}">
                  <a16:creationId xmlns:a16="http://schemas.microsoft.com/office/drawing/2014/main" id="{51CFCFE5-B63C-981A-0E9A-C10CFDC49A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3" name="Freeform 135">
              <a:extLst>
                <a:ext uri="{FF2B5EF4-FFF2-40B4-BE49-F238E27FC236}">
                  <a16:creationId xmlns:a16="http://schemas.microsoft.com/office/drawing/2014/main" id="{37554CB5-2A27-6C85-F995-14C7F444DD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4" name="Freeform 136">
              <a:extLst>
                <a:ext uri="{FF2B5EF4-FFF2-40B4-BE49-F238E27FC236}">
                  <a16:creationId xmlns:a16="http://schemas.microsoft.com/office/drawing/2014/main" id="{C0C8773F-FB5B-605A-350E-697CE48A36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5" name="Rectangle 137">
              <a:extLst>
                <a:ext uri="{FF2B5EF4-FFF2-40B4-BE49-F238E27FC236}">
                  <a16:creationId xmlns:a16="http://schemas.microsoft.com/office/drawing/2014/main" id="{101A2B9F-331C-2025-3CEF-E6109A31F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6" name="Rectangle 138">
              <a:extLst>
                <a:ext uri="{FF2B5EF4-FFF2-40B4-BE49-F238E27FC236}">
                  <a16:creationId xmlns:a16="http://schemas.microsoft.com/office/drawing/2014/main" id="{176F5A1D-9CBE-0E51-EAD9-CAAA6B672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7" name="Freeform 139">
              <a:extLst>
                <a:ext uri="{FF2B5EF4-FFF2-40B4-BE49-F238E27FC236}">
                  <a16:creationId xmlns:a16="http://schemas.microsoft.com/office/drawing/2014/main" id="{D59A2F04-57EC-0BE7-220E-2251E4B2B6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8" name="Freeform 140">
              <a:extLst>
                <a:ext uri="{FF2B5EF4-FFF2-40B4-BE49-F238E27FC236}">
                  <a16:creationId xmlns:a16="http://schemas.microsoft.com/office/drawing/2014/main" id="{F40B1361-6D1E-5C5A-D3B2-3AC6A4D359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9" name="Freeform 141">
              <a:extLst>
                <a:ext uri="{FF2B5EF4-FFF2-40B4-BE49-F238E27FC236}">
                  <a16:creationId xmlns:a16="http://schemas.microsoft.com/office/drawing/2014/main" id="{6C8C248E-14FE-AA3D-C9F1-FFE134B285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0" name="Freeform 142">
              <a:extLst>
                <a:ext uri="{FF2B5EF4-FFF2-40B4-BE49-F238E27FC236}">
                  <a16:creationId xmlns:a16="http://schemas.microsoft.com/office/drawing/2014/main" id="{E98EB9F0-15CF-5A2D-6EB7-B6CB004A0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1" name="Freeform 143">
              <a:extLst>
                <a:ext uri="{FF2B5EF4-FFF2-40B4-BE49-F238E27FC236}">
                  <a16:creationId xmlns:a16="http://schemas.microsoft.com/office/drawing/2014/main" id="{4A8C3CB9-E4B3-6673-B45F-635236E1D3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2" name="Freeform 144">
              <a:extLst>
                <a:ext uri="{FF2B5EF4-FFF2-40B4-BE49-F238E27FC236}">
                  <a16:creationId xmlns:a16="http://schemas.microsoft.com/office/drawing/2014/main" id="{0A8CC365-D58D-2C03-4156-4E4E3DCEC8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3" name="Freeform 145">
              <a:extLst>
                <a:ext uri="{FF2B5EF4-FFF2-40B4-BE49-F238E27FC236}">
                  <a16:creationId xmlns:a16="http://schemas.microsoft.com/office/drawing/2014/main" id="{7CB53B9B-6E8A-5536-4CAE-9E8B3F6C45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4" name="Freeform 146">
              <a:extLst>
                <a:ext uri="{FF2B5EF4-FFF2-40B4-BE49-F238E27FC236}">
                  <a16:creationId xmlns:a16="http://schemas.microsoft.com/office/drawing/2014/main" id="{8974DC4F-77B2-082B-1A3B-CC9C19002A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5" name="Freeform 147">
              <a:extLst>
                <a:ext uri="{FF2B5EF4-FFF2-40B4-BE49-F238E27FC236}">
                  <a16:creationId xmlns:a16="http://schemas.microsoft.com/office/drawing/2014/main" id="{0EEA181A-7394-1BD6-5DEA-4F79CE9E88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6" name="Freeform 148">
              <a:extLst>
                <a:ext uri="{FF2B5EF4-FFF2-40B4-BE49-F238E27FC236}">
                  <a16:creationId xmlns:a16="http://schemas.microsoft.com/office/drawing/2014/main" id="{292427D7-0DC1-D297-D617-388951E990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7" name="Rectangle 149">
              <a:extLst>
                <a:ext uri="{FF2B5EF4-FFF2-40B4-BE49-F238E27FC236}">
                  <a16:creationId xmlns:a16="http://schemas.microsoft.com/office/drawing/2014/main" id="{CFC2AD61-C07D-D34F-2CFE-39E2B31D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8" name="Rectangle 150">
              <a:extLst>
                <a:ext uri="{FF2B5EF4-FFF2-40B4-BE49-F238E27FC236}">
                  <a16:creationId xmlns:a16="http://schemas.microsoft.com/office/drawing/2014/main" id="{3B2993D8-3574-38C1-C599-4083499B6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9" name="Freeform 151">
              <a:extLst>
                <a:ext uri="{FF2B5EF4-FFF2-40B4-BE49-F238E27FC236}">
                  <a16:creationId xmlns:a16="http://schemas.microsoft.com/office/drawing/2014/main" id="{F5C3F210-0915-1FCF-0CFE-6C5B030C81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0" name="Freeform 152">
              <a:extLst>
                <a:ext uri="{FF2B5EF4-FFF2-40B4-BE49-F238E27FC236}">
                  <a16:creationId xmlns:a16="http://schemas.microsoft.com/office/drawing/2014/main" id="{601A36AD-88AA-E949-AAFC-6A2C80299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1" name="Freeform 153">
              <a:extLst>
                <a:ext uri="{FF2B5EF4-FFF2-40B4-BE49-F238E27FC236}">
                  <a16:creationId xmlns:a16="http://schemas.microsoft.com/office/drawing/2014/main" id="{6877970F-55E8-03E7-67F7-32965F2960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2" name="Freeform 154">
              <a:extLst>
                <a:ext uri="{FF2B5EF4-FFF2-40B4-BE49-F238E27FC236}">
                  <a16:creationId xmlns:a16="http://schemas.microsoft.com/office/drawing/2014/main" id="{90A50C4E-26DB-2FB9-6AC9-B13B67AB09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3" name="Freeform 155">
              <a:extLst>
                <a:ext uri="{FF2B5EF4-FFF2-40B4-BE49-F238E27FC236}">
                  <a16:creationId xmlns:a16="http://schemas.microsoft.com/office/drawing/2014/main" id="{11D2A73C-795D-BB5A-8549-D0AF2EB198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4" name="Freeform 156">
              <a:extLst>
                <a:ext uri="{FF2B5EF4-FFF2-40B4-BE49-F238E27FC236}">
                  <a16:creationId xmlns:a16="http://schemas.microsoft.com/office/drawing/2014/main" id="{4D5C8697-A6D3-5B12-DF9E-4473F93405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5" name="Freeform 157">
              <a:extLst>
                <a:ext uri="{FF2B5EF4-FFF2-40B4-BE49-F238E27FC236}">
                  <a16:creationId xmlns:a16="http://schemas.microsoft.com/office/drawing/2014/main" id="{85D3714B-9DC2-3501-123E-CDB8536B42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6" name="Freeform 158">
              <a:extLst>
                <a:ext uri="{FF2B5EF4-FFF2-40B4-BE49-F238E27FC236}">
                  <a16:creationId xmlns:a16="http://schemas.microsoft.com/office/drawing/2014/main" id="{8342E1EC-4868-1594-F949-DBBB48A2F1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7" name="Freeform 159">
              <a:extLst>
                <a:ext uri="{FF2B5EF4-FFF2-40B4-BE49-F238E27FC236}">
                  <a16:creationId xmlns:a16="http://schemas.microsoft.com/office/drawing/2014/main" id="{8C6FEF4D-144B-E6E2-B488-F53A4D7274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8" name="Freeform 160">
              <a:extLst>
                <a:ext uri="{FF2B5EF4-FFF2-40B4-BE49-F238E27FC236}">
                  <a16:creationId xmlns:a16="http://schemas.microsoft.com/office/drawing/2014/main" id="{1BC1FFBF-434D-A5E8-E76F-F866F4D24D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9" name="Rectangle 161">
              <a:extLst>
                <a:ext uri="{FF2B5EF4-FFF2-40B4-BE49-F238E27FC236}">
                  <a16:creationId xmlns:a16="http://schemas.microsoft.com/office/drawing/2014/main" id="{2E90CEB4-9BF7-BBF9-438D-3FC8BFDA4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0" name="Freeform 162">
              <a:extLst>
                <a:ext uri="{FF2B5EF4-FFF2-40B4-BE49-F238E27FC236}">
                  <a16:creationId xmlns:a16="http://schemas.microsoft.com/office/drawing/2014/main" id="{30AED6EF-43EC-E466-2C09-7B2FC71D6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6291" name="Rectangle 163">
            <a:extLst>
              <a:ext uri="{FF2B5EF4-FFF2-40B4-BE49-F238E27FC236}">
                <a16:creationId xmlns:a16="http://schemas.microsoft.com/office/drawing/2014/main" id="{00547319-2B67-FF72-7470-C1E11C63C4D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6292" name="Rectangle 164">
            <a:extLst>
              <a:ext uri="{FF2B5EF4-FFF2-40B4-BE49-F238E27FC236}">
                <a16:creationId xmlns:a16="http://schemas.microsoft.com/office/drawing/2014/main" id="{D6608EB4-897F-430C-FA85-8713AADA99A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1625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6293" name="Rectangle 165">
            <a:extLst>
              <a:ext uri="{FF2B5EF4-FFF2-40B4-BE49-F238E27FC236}">
                <a16:creationId xmlns:a16="http://schemas.microsoft.com/office/drawing/2014/main" id="{BA91A792-36E8-16FA-0EA8-84CA98C7D8E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6294" name="Rectangle 166">
            <a:extLst>
              <a:ext uri="{FF2B5EF4-FFF2-40B4-BE49-F238E27FC236}">
                <a16:creationId xmlns:a16="http://schemas.microsoft.com/office/drawing/2014/main" id="{2C991FEF-7D4C-6A3A-C201-46B86A70EB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CA32DC82-6307-48FE-BB65-6C0673235D6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76295" name="Rectangle 167">
            <a:extLst>
              <a:ext uri="{FF2B5EF4-FFF2-40B4-BE49-F238E27FC236}">
                <a16:creationId xmlns:a16="http://schemas.microsoft.com/office/drawing/2014/main" id="{00A8C144-3805-5C4B-27D6-1631237E88D3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grpSp>
        <p:nvGrpSpPr>
          <p:cNvPr id="176296" name="Group 168">
            <a:extLst>
              <a:ext uri="{FF2B5EF4-FFF2-40B4-BE49-F238E27FC236}">
                <a16:creationId xmlns:a16="http://schemas.microsoft.com/office/drawing/2014/main" id="{1F9C3505-CE49-C9D9-98E6-0335D82142C7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724400"/>
            <a:ext cx="1685925" cy="1557338"/>
            <a:chOff x="96" y="2784"/>
            <a:chExt cx="1062" cy="981"/>
          </a:xfrm>
        </p:grpSpPr>
        <p:sp>
          <p:nvSpPr>
            <p:cNvPr id="176297" name="Freeform 169">
              <a:extLst>
                <a:ext uri="{FF2B5EF4-FFF2-40B4-BE49-F238E27FC236}">
                  <a16:creationId xmlns:a16="http://schemas.microsoft.com/office/drawing/2014/main" id="{4A16BDB1-1E7F-E45D-233D-C5EFE34ACB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8" name="Freeform 170">
              <a:extLst>
                <a:ext uri="{FF2B5EF4-FFF2-40B4-BE49-F238E27FC236}">
                  <a16:creationId xmlns:a16="http://schemas.microsoft.com/office/drawing/2014/main" id="{7B5B05DB-85B2-BD79-354B-CA94A71C1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9" name="Freeform 171">
              <a:extLst>
                <a:ext uri="{FF2B5EF4-FFF2-40B4-BE49-F238E27FC236}">
                  <a16:creationId xmlns:a16="http://schemas.microsoft.com/office/drawing/2014/main" id="{BFA77AB6-2FF8-37D7-0CE0-544E3DB887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0" name="Freeform 172">
              <a:extLst>
                <a:ext uri="{FF2B5EF4-FFF2-40B4-BE49-F238E27FC236}">
                  <a16:creationId xmlns:a16="http://schemas.microsoft.com/office/drawing/2014/main" id="{222A7132-7D8F-3056-8905-8771A504A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1" name="Freeform 173">
              <a:extLst>
                <a:ext uri="{FF2B5EF4-FFF2-40B4-BE49-F238E27FC236}">
                  <a16:creationId xmlns:a16="http://schemas.microsoft.com/office/drawing/2014/main" id="{107EDA07-77CC-E857-20AE-93E0EC9DE9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2" name="Freeform 174">
              <a:extLst>
                <a:ext uri="{FF2B5EF4-FFF2-40B4-BE49-F238E27FC236}">
                  <a16:creationId xmlns:a16="http://schemas.microsoft.com/office/drawing/2014/main" id="{242B7F43-96A5-AFD0-FE10-74BAC9269F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3" name="Freeform 175">
              <a:extLst>
                <a:ext uri="{FF2B5EF4-FFF2-40B4-BE49-F238E27FC236}">
                  <a16:creationId xmlns:a16="http://schemas.microsoft.com/office/drawing/2014/main" id="{A40A1B7F-A723-BDED-4D62-5E712694BB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4" name="Freeform 176">
              <a:extLst>
                <a:ext uri="{FF2B5EF4-FFF2-40B4-BE49-F238E27FC236}">
                  <a16:creationId xmlns:a16="http://schemas.microsoft.com/office/drawing/2014/main" id="{75511E6B-9E41-D34C-0E39-5C11849149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5" name="Freeform 177">
              <a:extLst>
                <a:ext uri="{FF2B5EF4-FFF2-40B4-BE49-F238E27FC236}">
                  <a16:creationId xmlns:a16="http://schemas.microsoft.com/office/drawing/2014/main" id="{0E90218D-AA00-99BC-B219-2DE7A6B1BF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6" name="Freeform 178">
              <a:extLst>
                <a:ext uri="{FF2B5EF4-FFF2-40B4-BE49-F238E27FC236}">
                  <a16:creationId xmlns:a16="http://schemas.microsoft.com/office/drawing/2014/main" id="{953A3114-FAE0-4AB8-597F-4BEDA65797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7" name="Freeform 179">
              <a:extLst>
                <a:ext uri="{FF2B5EF4-FFF2-40B4-BE49-F238E27FC236}">
                  <a16:creationId xmlns:a16="http://schemas.microsoft.com/office/drawing/2014/main" id="{FB319FD4-D36B-83A7-AF76-77372FC43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8" name="Freeform 180">
              <a:extLst>
                <a:ext uri="{FF2B5EF4-FFF2-40B4-BE49-F238E27FC236}">
                  <a16:creationId xmlns:a16="http://schemas.microsoft.com/office/drawing/2014/main" id="{32D5ECEE-6526-FBA1-AF9D-A68782004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9" name="Freeform 181">
              <a:extLst>
                <a:ext uri="{FF2B5EF4-FFF2-40B4-BE49-F238E27FC236}">
                  <a16:creationId xmlns:a16="http://schemas.microsoft.com/office/drawing/2014/main" id="{8F19877F-4D39-8944-6CDE-1369C44B50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5DF69-88B9-6415-C85C-2C1CE7589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B5932F-2076-B4B1-E0AA-18E08C70D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8E39F5-84EE-7D57-0CFA-C2B7D476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E41B7B-18FA-BC42-E493-4FC671520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4938D3-3D2C-ECE0-EC38-62890831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8D401-9386-477E-8826-551F2FF685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3805082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4B572-08D2-2A2F-E610-A3C7FDDD9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6E4618-A3B0-8434-30FA-06DBB5793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E25B3B-12DF-9925-1465-BB6F9EE4C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048EDC-CD0B-A308-78A9-959D6AFD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84DD0E-E501-6E7B-48FD-5CBF590A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4E8A4D-F1D0-44B9-B4E4-42FBE95A59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5403438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9049D7-3F71-31A7-F89C-842D23BF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B7B97-FC76-BF70-01C5-413087A4F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12FAE7-0D45-9612-7DDA-7B10CB7A6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19DD04-D945-138B-DC0E-C3630B8C6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7FCEAF-E16A-0BC5-9F5F-28744B04E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B1B1EB-8AFE-014A-B702-11C71522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E00A56-DB47-4A4B-975B-647DB1CCDF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1123000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A165C-7DBD-453D-CEA9-2F2BD6602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B57E93-1131-CC84-D4A8-BB6DE2212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640BE9-D850-956B-30EC-B26AC1FEF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656C427-98D9-3890-1A38-DDACC4F44C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05427B-5B0B-C1A6-C084-C3F087562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7819B53-0FA7-4FDC-79DD-16AC6F93D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EADD34A-D783-8372-E222-FD272749C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0BC419-0B02-9EAB-2107-1ED6FFA2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2A9B59-596B-48A0-8F65-2C18FE5759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721854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6EAD5-61DD-DED5-DEF4-96210DF8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1D35D5-6161-E8EE-55F1-20AED60E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E681BD-449E-CCD1-AEB7-FD3F7403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E0070C-3C52-23A0-2091-5451BA8A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4992ED-F095-4B4B-A86A-013CC01C4A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7945000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C628DD-1B47-24C0-D834-191114FF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7AED1F-B2A6-EF35-E1D4-F8439BAB0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D5286B-700C-832D-5366-80CDB5370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B94874-58F7-4305-B30E-C4127D6AA0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9666077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D7447-C73B-5107-32D7-DDF0F4DEB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706056-08B6-D73D-A76D-D0678489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A1E16F-5960-56C7-24E4-6AA6A2C9F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BA2A02-6914-9598-7BA0-33195A66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84C6BE-81C6-37C7-347B-D523A9D8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ADC952-2907-B87C-0121-158CBB67C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86BD6-B32B-468D-8DD7-EE15C98ABA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3890972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23A49-B531-E92A-BFE3-2FE6F1225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8C1189-6D09-101E-56D1-A0623B473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99B4E6-4F76-55C1-2DC0-BE55B0E0E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4CDC97-0ABC-3775-491D-7B192E47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75D2EA-8A7C-619A-9663-E1416F18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8E5CF9-FB47-9BD2-CD37-A563109C6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16C5C-0C09-4F7D-A408-3DA0179EA9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4374643"/>
      </p:ext>
    </p:extLst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A69F8-2C3F-126B-26E1-5AAAAF9EE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FAB6BB-391F-B90D-1CCF-721504735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9F8387-C3FF-8A93-2ED1-4CA37491A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1A3C63-31CE-0D19-6F2A-2ADC456DF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9274F4-09C6-50A7-6F2E-964B4213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EF55E3-1D18-4682-8A5E-1FAD822EF5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240514"/>
      </p:ext>
    </p:extLst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AF6FEE-EB5F-E398-045D-DF3870EA1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4013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84B638-94C5-0532-90BB-BD33C339E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8450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6D0A59-1257-4A0C-770E-975C2AC15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1E1AF8-C94A-3E58-A5AD-8B79DE70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850475-8696-8027-A4F4-A24BA6F3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1CFB60-C521-498D-B3FD-D07FAF713E0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8291262"/>
      </p:ext>
    </p:extLst>
  </p:cSld>
  <p:clrMapOvr>
    <a:masterClrMapping/>
  </p:clrMapOvr>
  <p:transition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44EDA-50DF-65F7-942D-BCAE81F1A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50" y="228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CF4719-81D2-F16B-3F33-E7D65646264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75776F-8A45-C2A9-CD2C-55DD9085601A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762500" y="1600200"/>
            <a:ext cx="4000500" cy="2173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A93D289-9EF8-2A13-8EC4-5823263360CD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762500" y="3925888"/>
            <a:ext cx="4000500" cy="2173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D03E87D5-88F6-CDDB-D250-D98BCF86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845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B53E355C-1CB7-068E-F29A-513F8E60A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1025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ED6907B-931F-56F7-2828-5AF12A2B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0025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80032FCD-67AF-4D1D-AF5D-CBD7E963E3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2412665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06" name="Group 2">
            <a:extLst>
              <a:ext uri="{FF2B5EF4-FFF2-40B4-BE49-F238E27FC236}">
                <a16:creationId xmlns:a16="http://schemas.microsoft.com/office/drawing/2014/main" id="{735140F2-482B-8342-1206-29A4AAAA6324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0"/>
            <a:ext cx="7891462" cy="6821488"/>
            <a:chOff x="349" y="23"/>
            <a:chExt cx="4971" cy="4297"/>
          </a:xfrm>
        </p:grpSpPr>
        <p:sp>
          <p:nvSpPr>
            <p:cNvPr id="175107" name="Rectangle 3">
              <a:extLst>
                <a:ext uri="{FF2B5EF4-FFF2-40B4-BE49-F238E27FC236}">
                  <a16:creationId xmlns:a16="http://schemas.microsoft.com/office/drawing/2014/main" id="{BAD1D214-0CC9-FE92-F25F-AD4047499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8" name="Freeform 4">
              <a:extLst>
                <a:ext uri="{FF2B5EF4-FFF2-40B4-BE49-F238E27FC236}">
                  <a16:creationId xmlns:a16="http://schemas.microsoft.com/office/drawing/2014/main" id="{DC250325-10BB-D607-739D-7CCFF7EB86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9" name="Freeform 5">
              <a:extLst>
                <a:ext uri="{FF2B5EF4-FFF2-40B4-BE49-F238E27FC236}">
                  <a16:creationId xmlns:a16="http://schemas.microsoft.com/office/drawing/2014/main" id="{8C8BF418-40BD-9E17-9B67-0E4B058C41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0" name="Freeform 6">
              <a:extLst>
                <a:ext uri="{FF2B5EF4-FFF2-40B4-BE49-F238E27FC236}">
                  <a16:creationId xmlns:a16="http://schemas.microsoft.com/office/drawing/2014/main" id="{2764B408-E2FF-6C66-B5A3-9DA92FC8DF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1" name="Freeform 7">
              <a:extLst>
                <a:ext uri="{FF2B5EF4-FFF2-40B4-BE49-F238E27FC236}">
                  <a16:creationId xmlns:a16="http://schemas.microsoft.com/office/drawing/2014/main" id="{BDB1A92A-F3E2-7CBC-8169-5919070724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2" name="Freeform 8">
              <a:extLst>
                <a:ext uri="{FF2B5EF4-FFF2-40B4-BE49-F238E27FC236}">
                  <a16:creationId xmlns:a16="http://schemas.microsoft.com/office/drawing/2014/main" id="{20389A2E-08C4-525D-E6B8-F6DC4BC637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3" name="Freeform 9">
              <a:extLst>
                <a:ext uri="{FF2B5EF4-FFF2-40B4-BE49-F238E27FC236}">
                  <a16:creationId xmlns:a16="http://schemas.microsoft.com/office/drawing/2014/main" id="{56D2977C-6AA2-BC3F-54CB-BCB3503355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4" name="Freeform 10">
              <a:extLst>
                <a:ext uri="{FF2B5EF4-FFF2-40B4-BE49-F238E27FC236}">
                  <a16:creationId xmlns:a16="http://schemas.microsoft.com/office/drawing/2014/main" id="{D81ED13A-62D8-D056-F4DF-B5072238EB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5" name="Freeform 11">
              <a:extLst>
                <a:ext uri="{FF2B5EF4-FFF2-40B4-BE49-F238E27FC236}">
                  <a16:creationId xmlns:a16="http://schemas.microsoft.com/office/drawing/2014/main" id="{708FBDF0-A1AF-7F1A-29E6-7F2033E540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6" name="Freeform 12">
              <a:extLst>
                <a:ext uri="{FF2B5EF4-FFF2-40B4-BE49-F238E27FC236}">
                  <a16:creationId xmlns:a16="http://schemas.microsoft.com/office/drawing/2014/main" id="{FC7044CD-E4AA-AEAC-3E5C-F65DFFECFD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7" name="Freeform 13">
              <a:extLst>
                <a:ext uri="{FF2B5EF4-FFF2-40B4-BE49-F238E27FC236}">
                  <a16:creationId xmlns:a16="http://schemas.microsoft.com/office/drawing/2014/main" id="{7118FF97-6228-C597-288A-C5D5DE5E5D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8" name="Rectangle 14">
              <a:extLst>
                <a:ext uri="{FF2B5EF4-FFF2-40B4-BE49-F238E27FC236}">
                  <a16:creationId xmlns:a16="http://schemas.microsoft.com/office/drawing/2014/main" id="{2DC1BD1F-D3A0-9F9D-AEDF-781C71618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9" name="Rectangle 15">
              <a:extLst>
                <a:ext uri="{FF2B5EF4-FFF2-40B4-BE49-F238E27FC236}">
                  <a16:creationId xmlns:a16="http://schemas.microsoft.com/office/drawing/2014/main" id="{2DC74661-C287-796A-93E9-FE5DE0DEF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0" name="Freeform 16">
              <a:extLst>
                <a:ext uri="{FF2B5EF4-FFF2-40B4-BE49-F238E27FC236}">
                  <a16:creationId xmlns:a16="http://schemas.microsoft.com/office/drawing/2014/main" id="{4C20A703-EF67-C75D-C540-BBA05C5C7A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1" name="Freeform 17">
              <a:extLst>
                <a:ext uri="{FF2B5EF4-FFF2-40B4-BE49-F238E27FC236}">
                  <a16:creationId xmlns:a16="http://schemas.microsoft.com/office/drawing/2014/main" id="{9F91CA2C-7A70-18BC-B99B-4369929C81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2" name="Freeform 18">
              <a:extLst>
                <a:ext uri="{FF2B5EF4-FFF2-40B4-BE49-F238E27FC236}">
                  <a16:creationId xmlns:a16="http://schemas.microsoft.com/office/drawing/2014/main" id="{149EB3D2-5321-5578-AEFB-7CEB7833A9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3" name="Freeform 19">
              <a:extLst>
                <a:ext uri="{FF2B5EF4-FFF2-40B4-BE49-F238E27FC236}">
                  <a16:creationId xmlns:a16="http://schemas.microsoft.com/office/drawing/2014/main" id="{D4096F4A-D2BE-B514-DCE1-6F76505DCF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4" name="Freeform 20">
              <a:extLst>
                <a:ext uri="{FF2B5EF4-FFF2-40B4-BE49-F238E27FC236}">
                  <a16:creationId xmlns:a16="http://schemas.microsoft.com/office/drawing/2014/main" id="{F94B46E3-DDEF-9991-C960-BFB5D45BE7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5" name="Freeform 21">
              <a:extLst>
                <a:ext uri="{FF2B5EF4-FFF2-40B4-BE49-F238E27FC236}">
                  <a16:creationId xmlns:a16="http://schemas.microsoft.com/office/drawing/2014/main" id="{6120B944-FB4F-D1AA-BB62-D4F65C51BB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6" name="Freeform 22">
              <a:extLst>
                <a:ext uri="{FF2B5EF4-FFF2-40B4-BE49-F238E27FC236}">
                  <a16:creationId xmlns:a16="http://schemas.microsoft.com/office/drawing/2014/main" id="{765D066B-0525-D440-CA07-31543F01E3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7" name="Freeform 23">
              <a:extLst>
                <a:ext uri="{FF2B5EF4-FFF2-40B4-BE49-F238E27FC236}">
                  <a16:creationId xmlns:a16="http://schemas.microsoft.com/office/drawing/2014/main" id="{71DB9298-83EC-6D8E-26A9-75846BE01F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8" name="Freeform 24">
              <a:extLst>
                <a:ext uri="{FF2B5EF4-FFF2-40B4-BE49-F238E27FC236}">
                  <a16:creationId xmlns:a16="http://schemas.microsoft.com/office/drawing/2014/main" id="{74025427-CCCA-F869-404B-56AC53F56A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9" name="Freeform 25">
              <a:extLst>
                <a:ext uri="{FF2B5EF4-FFF2-40B4-BE49-F238E27FC236}">
                  <a16:creationId xmlns:a16="http://schemas.microsoft.com/office/drawing/2014/main" id="{11384C6A-0658-22F1-CEFD-9CA6A2615E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0" name="Rectangle 26">
              <a:extLst>
                <a:ext uri="{FF2B5EF4-FFF2-40B4-BE49-F238E27FC236}">
                  <a16:creationId xmlns:a16="http://schemas.microsoft.com/office/drawing/2014/main" id="{CC7EF1CA-0BB5-6426-C42A-2AE39D11E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1" name="Rectangle 27">
              <a:extLst>
                <a:ext uri="{FF2B5EF4-FFF2-40B4-BE49-F238E27FC236}">
                  <a16:creationId xmlns:a16="http://schemas.microsoft.com/office/drawing/2014/main" id="{89815A41-36D7-81B7-897C-9FF61A950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2" name="Freeform 28">
              <a:extLst>
                <a:ext uri="{FF2B5EF4-FFF2-40B4-BE49-F238E27FC236}">
                  <a16:creationId xmlns:a16="http://schemas.microsoft.com/office/drawing/2014/main" id="{736E5E30-6B35-23E0-4816-5104EAACA0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3" name="Freeform 29">
              <a:extLst>
                <a:ext uri="{FF2B5EF4-FFF2-40B4-BE49-F238E27FC236}">
                  <a16:creationId xmlns:a16="http://schemas.microsoft.com/office/drawing/2014/main" id="{CDE6B917-9CA2-DC94-7DD6-416D811D0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4" name="Freeform 30">
              <a:extLst>
                <a:ext uri="{FF2B5EF4-FFF2-40B4-BE49-F238E27FC236}">
                  <a16:creationId xmlns:a16="http://schemas.microsoft.com/office/drawing/2014/main" id="{DFCFFBB8-9AE4-36FE-B1D5-A79B752D3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5" name="Freeform 31">
              <a:extLst>
                <a:ext uri="{FF2B5EF4-FFF2-40B4-BE49-F238E27FC236}">
                  <a16:creationId xmlns:a16="http://schemas.microsoft.com/office/drawing/2014/main" id="{C4ADD4C9-08ED-C346-B3F6-AF5BB2F8DC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6" name="Freeform 32">
              <a:extLst>
                <a:ext uri="{FF2B5EF4-FFF2-40B4-BE49-F238E27FC236}">
                  <a16:creationId xmlns:a16="http://schemas.microsoft.com/office/drawing/2014/main" id="{666DBF8E-AF46-EA0C-07D9-2A1D407F7D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7" name="Freeform 33">
              <a:extLst>
                <a:ext uri="{FF2B5EF4-FFF2-40B4-BE49-F238E27FC236}">
                  <a16:creationId xmlns:a16="http://schemas.microsoft.com/office/drawing/2014/main" id="{D78CF8C4-0722-C9AE-5497-01C13D133F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8" name="Freeform 34">
              <a:extLst>
                <a:ext uri="{FF2B5EF4-FFF2-40B4-BE49-F238E27FC236}">
                  <a16:creationId xmlns:a16="http://schemas.microsoft.com/office/drawing/2014/main" id="{49673842-6AD4-3A79-B670-F101C69E7F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9" name="Freeform 35">
              <a:extLst>
                <a:ext uri="{FF2B5EF4-FFF2-40B4-BE49-F238E27FC236}">
                  <a16:creationId xmlns:a16="http://schemas.microsoft.com/office/drawing/2014/main" id="{5D5378BC-57A3-C9F6-F13B-78753419B0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0" name="Freeform 36">
              <a:extLst>
                <a:ext uri="{FF2B5EF4-FFF2-40B4-BE49-F238E27FC236}">
                  <a16:creationId xmlns:a16="http://schemas.microsoft.com/office/drawing/2014/main" id="{CDCE1CC9-B8C8-44F6-F502-4BF0316ACB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1" name="Freeform 37">
              <a:extLst>
                <a:ext uri="{FF2B5EF4-FFF2-40B4-BE49-F238E27FC236}">
                  <a16:creationId xmlns:a16="http://schemas.microsoft.com/office/drawing/2014/main" id="{83C0B49E-540A-2E00-57EE-B6B812179F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2" name="Rectangle 38">
              <a:extLst>
                <a:ext uri="{FF2B5EF4-FFF2-40B4-BE49-F238E27FC236}">
                  <a16:creationId xmlns:a16="http://schemas.microsoft.com/office/drawing/2014/main" id="{995E3819-48D3-8283-05D2-46BFC7AD3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3" name="Rectangle 39">
              <a:extLst>
                <a:ext uri="{FF2B5EF4-FFF2-40B4-BE49-F238E27FC236}">
                  <a16:creationId xmlns:a16="http://schemas.microsoft.com/office/drawing/2014/main" id="{D79DD958-F4ED-DF34-3316-744F799E2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4" name="Freeform 40">
              <a:extLst>
                <a:ext uri="{FF2B5EF4-FFF2-40B4-BE49-F238E27FC236}">
                  <a16:creationId xmlns:a16="http://schemas.microsoft.com/office/drawing/2014/main" id="{92925B27-5C38-F40D-56F6-AE50B0943B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5" name="Freeform 41">
              <a:extLst>
                <a:ext uri="{FF2B5EF4-FFF2-40B4-BE49-F238E27FC236}">
                  <a16:creationId xmlns:a16="http://schemas.microsoft.com/office/drawing/2014/main" id="{FC2A29F9-CB7D-040F-E926-A9C6F60F57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6" name="Freeform 42">
              <a:extLst>
                <a:ext uri="{FF2B5EF4-FFF2-40B4-BE49-F238E27FC236}">
                  <a16:creationId xmlns:a16="http://schemas.microsoft.com/office/drawing/2014/main" id="{4F69471B-31A5-E4A7-A6F0-D3BC9695D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7" name="Freeform 43">
              <a:extLst>
                <a:ext uri="{FF2B5EF4-FFF2-40B4-BE49-F238E27FC236}">
                  <a16:creationId xmlns:a16="http://schemas.microsoft.com/office/drawing/2014/main" id="{DE531C7A-916E-1C48-DBDF-0104218238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8" name="Freeform 44">
              <a:extLst>
                <a:ext uri="{FF2B5EF4-FFF2-40B4-BE49-F238E27FC236}">
                  <a16:creationId xmlns:a16="http://schemas.microsoft.com/office/drawing/2014/main" id="{90ABFB10-C795-F8B3-5C7F-03B5D1A767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9" name="Freeform 45">
              <a:extLst>
                <a:ext uri="{FF2B5EF4-FFF2-40B4-BE49-F238E27FC236}">
                  <a16:creationId xmlns:a16="http://schemas.microsoft.com/office/drawing/2014/main" id="{5AEC5D8D-CF3C-D54D-C719-6A74265CF4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0" name="Freeform 46">
              <a:extLst>
                <a:ext uri="{FF2B5EF4-FFF2-40B4-BE49-F238E27FC236}">
                  <a16:creationId xmlns:a16="http://schemas.microsoft.com/office/drawing/2014/main" id="{19748957-6848-B857-1F44-DA4BC11335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1" name="Freeform 47">
              <a:extLst>
                <a:ext uri="{FF2B5EF4-FFF2-40B4-BE49-F238E27FC236}">
                  <a16:creationId xmlns:a16="http://schemas.microsoft.com/office/drawing/2014/main" id="{01A0BFE4-B1C9-E15A-6626-C83A439284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2" name="Freeform 48">
              <a:extLst>
                <a:ext uri="{FF2B5EF4-FFF2-40B4-BE49-F238E27FC236}">
                  <a16:creationId xmlns:a16="http://schemas.microsoft.com/office/drawing/2014/main" id="{26042C8A-AE7F-D68B-6CD0-07AC779F37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3" name="Freeform 49">
              <a:extLst>
                <a:ext uri="{FF2B5EF4-FFF2-40B4-BE49-F238E27FC236}">
                  <a16:creationId xmlns:a16="http://schemas.microsoft.com/office/drawing/2014/main" id="{C62908F7-CED5-1BAD-AB21-418B2619DF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4" name="Rectangle 50">
              <a:extLst>
                <a:ext uri="{FF2B5EF4-FFF2-40B4-BE49-F238E27FC236}">
                  <a16:creationId xmlns:a16="http://schemas.microsoft.com/office/drawing/2014/main" id="{FE5E7DD5-78D6-51FA-1BBE-91C715C42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5" name="Rectangle 51">
              <a:extLst>
                <a:ext uri="{FF2B5EF4-FFF2-40B4-BE49-F238E27FC236}">
                  <a16:creationId xmlns:a16="http://schemas.microsoft.com/office/drawing/2014/main" id="{A59F9B71-2B21-7CD3-03F3-974044EBF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6" name="Freeform 52">
              <a:extLst>
                <a:ext uri="{FF2B5EF4-FFF2-40B4-BE49-F238E27FC236}">
                  <a16:creationId xmlns:a16="http://schemas.microsoft.com/office/drawing/2014/main" id="{B78D201B-8AE0-4F62-8C4D-17E3694268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7" name="Freeform 53">
              <a:extLst>
                <a:ext uri="{FF2B5EF4-FFF2-40B4-BE49-F238E27FC236}">
                  <a16:creationId xmlns:a16="http://schemas.microsoft.com/office/drawing/2014/main" id="{B05AD119-6FE0-885F-208C-044DFAC329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8" name="Freeform 54">
              <a:extLst>
                <a:ext uri="{FF2B5EF4-FFF2-40B4-BE49-F238E27FC236}">
                  <a16:creationId xmlns:a16="http://schemas.microsoft.com/office/drawing/2014/main" id="{F1C1521C-8EC0-EC33-2CE1-2F83B358DA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9" name="Freeform 55">
              <a:extLst>
                <a:ext uri="{FF2B5EF4-FFF2-40B4-BE49-F238E27FC236}">
                  <a16:creationId xmlns:a16="http://schemas.microsoft.com/office/drawing/2014/main" id="{6DF36C9B-D378-1B9E-4136-12E319A79F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0" name="Freeform 56">
              <a:extLst>
                <a:ext uri="{FF2B5EF4-FFF2-40B4-BE49-F238E27FC236}">
                  <a16:creationId xmlns:a16="http://schemas.microsoft.com/office/drawing/2014/main" id="{642C5146-7704-9F57-8A83-30961BDAA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1" name="Freeform 57">
              <a:extLst>
                <a:ext uri="{FF2B5EF4-FFF2-40B4-BE49-F238E27FC236}">
                  <a16:creationId xmlns:a16="http://schemas.microsoft.com/office/drawing/2014/main" id="{97379913-B968-2C7B-DE7E-1A99C6F983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2" name="Freeform 58">
              <a:extLst>
                <a:ext uri="{FF2B5EF4-FFF2-40B4-BE49-F238E27FC236}">
                  <a16:creationId xmlns:a16="http://schemas.microsoft.com/office/drawing/2014/main" id="{85742D19-C150-7718-EDF9-D002886733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3" name="Freeform 59">
              <a:extLst>
                <a:ext uri="{FF2B5EF4-FFF2-40B4-BE49-F238E27FC236}">
                  <a16:creationId xmlns:a16="http://schemas.microsoft.com/office/drawing/2014/main" id="{41CD684B-8690-12D1-1CF9-31705374EF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4" name="Freeform 60">
              <a:extLst>
                <a:ext uri="{FF2B5EF4-FFF2-40B4-BE49-F238E27FC236}">
                  <a16:creationId xmlns:a16="http://schemas.microsoft.com/office/drawing/2014/main" id="{1C0266F7-7F57-32FC-157F-EF777B7421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5" name="Freeform 61">
              <a:extLst>
                <a:ext uri="{FF2B5EF4-FFF2-40B4-BE49-F238E27FC236}">
                  <a16:creationId xmlns:a16="http://schemas.microsoft.com/office/drawing/2014/main" id="{F5A00B87-4A0C-EF06-264B-C58EB4E8B8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6" name="Rectangle 62">
              <a:extLst>
                <a:ext uri="{FF2B5EF4-FFF2-40B4-BE49-F238E27FC236}">
                  <a16:creationId xmlns:a16="http://schemas.microsoft.com/office/drawing/2014/main" id="{4ABD942D-2CD9-E7E0-D967-D5F01EC31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7" name="Rectangle 63">
              <a:extLst>
                <a:ext uri="{FF2B5EF4-FFF2-40B4-BE49-F238E27FC236}">
                  <a16:creationId xmlns:a16="http://schemas.microsoft.com/office/drawing/2014/main" id="{BA39579C-56A8-2941-208A-6925089FF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8" name="Freeform 64">
              <a:extLst>
                <a:ext uri="{FF2B5EF4-FFF2-40B4-BE49-F238E27FC236}">
                  <a16:creationId xmlns:a16="http://schemas.microsoft.com/office/drawing/2014/main" id="{F3D1A581-1F23-8FCA-A02D-9B9F770674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9" name="Freeform 65">
              <a:extLst>
                <a:ext uri="{FF2B5EF4-FFF2-40B4-BE49-F238E27FC236}">
                  <a16:creationId xmlns:a16="http://schemas.microsoft.com/office/drawing/2014/main" id="{60D0613C-A0B6-0B22-DAF7-20D854D07C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0" name="Freeform 66">
              <a:extLst>
                <a:ext uri="{FF2B5EF4-FFF2-40B4-BE49-F238E27FC236}">
                  <a16:creationId xmlns:a16="http://schemas.microsoft.com/office/drawing/2014/main" id="{455E4360-24D5-0E29-CA1A-AA3176BD09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1" name="Freeform 67">
              <a:extLst>
                <a:ext uri="{FF2B5EF4-FFF2-40B4-BE49-F238E27FC236}">
                  <a16:creationId xmlns:a16="http://schemas.microsoft.com/office/drawing/2014/main" id="{FCBC1302-313E-3CCA-F633-14E6D4C271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2" name="Freeform 68">
              <a:extLst>
                <a:ext uri="{FF2B5EF4-FFF2-40B4-BE49-F238E27FC236}">
                  <a16:creationId xmlns:a16="http://schemas.microsoft.com/office/drawing/2014/main" id="{9824ADEC-204E-8603-9ABC-32C189D988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3" name="Freeform 69">
              <a:extLst>
                <a:ext uri="{FF2B5EF4-FFF2-40B4-BE49-F238E27FC236}">
                  <a16:creationId xmlns:a16="http://schemas.microsoft.com/office/drawing/2014/main" id="{C936820A-C940-5DB1-EC97-AA46A2DA50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4" name="Freeform 70">
              <a:extLst>
                <a:ext uri="{FF2B5EF4-FFF2-40B4-BE49-F238E27FC236}">
                  <a16:creationId xmlns:a16="http://schemas.microsoft.com/office/drawing/2014/main" id="{A538CA08-7C82-7C1F-C3B3-5393830412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5" name="Freeform 71">
              <a:extLst>
                <a:ext uri="{FF2B5EF4-FFF2-40B4-BE49-F238E27FC236}">
                  <a16:creationId xmlns:a16="http://schemas.microsoft.com/office/drawing/2014/main" id="{F3F4B85F-4125-8331-4C89-52532C33C0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6" name="Freeform 72">
              <a:extLst>
                <a:ext uri="{FF2B5EF4-FFF2-40B4-BE49-F238E27FC236}">
                  <a16:creationId xmlns:a16="http://schemas.microsoft.com/office/drawing/2014/main" id="{ECF88751-17A9-6AAB-5F79-2984B8B868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7" name="Freeform 73">
              <a:extLst>
                <a:ext uri="{FF2B5EF4-FFF2-40B4-BE49-F238E27FC236}">
                  <a16:creationId xmlns:a16="http://schemas.microsoft.com/office/drawing/2014/main" id="{6D98BF9E-E60E-2881-DBAE-3FC26348E0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8" name="Rectangle 74">
              <a:extLst>
                <a:ext uri="{FF2B5EF4-FFF2-40B4-BE49-F238E27FC236}">
                  <a16:creationId xmlns:a16="http://schemas.microsoft.com/office/drawing/2014/main" id="{FF5BFC9E-4428-0CFC-14F8-D9CF4B8B6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9" name="Rectangle 75">
              <a:extLst>
                <a:ext uri="{FF2B5EF4-FFF2-40B4-BE49-F238E27FC236}">
                  <a16:creationId xmlns:a16="http://schemas.microsoft.com/office/drawing/2014/main" id="{3E4E2E29-6DD8-F1DC-0BA9-85D885509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0" name="Freeform 76">
              <a:extLst>
                <a:ext uri="{FF2B5EF4-FFF2-40B4-BE49-F238E27FC236}">
                  <a16:creationId xmlns:a16="http://schemas.microsoft.com/office/drawing/2014/main" id="{19E57C0D-6682-835A-6889-612705D226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1" name="Freeform 77">
              <a:extLst>
                <a:ext uri="{FF2B5EF4-FFF2-40B4-BE49-F238E27FC236}">
                  <a16:creationId xmlns:a16="http://schemas.microsoft.com/office/drawing/2014/main" id="{B5A65925-097F-FA49-355E-2D66D914F8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2" name="Freeform 78">
              <a:extLst>
                <a:ext uri="{FF2B5EF4-FFF2-40B4-BE49-F238E27FC236}">
                  <a16:creationId xmlns:a16="http://schemas.microsoft.com/office/drawing/2014/main" id="{A13C910E-606A-1F3F-793D-D01EA3E200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3" name="Freeform 79">
              <a:extLst>
                <a:ext uri="{FF2B5EF4-FFF2-40B4-BE49-F238E27FC236}">
                  <a16:creationId xmlns:a16="http://schemas.microsoft.com/office/drawing/2014/main" id="{BA412CDD-1EBF-22E0-F19A-52086BAD75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4" name="Freeform 80">
              <a:extLst>
                <a:ext uri="{FF2B5EF4-FFF2-40B4-BE49-F238E27FC236}">
                  <a16:creationId xmlns:a16="http://schemas.microsoft.com/office/drawing/2014/main" id="{265BB1D6-A911-0576-5B10-A09D88F068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5" name="Freeform 81">
              <a:extLst>
                <a:ext uri="{FF2B5EF4-FFF2-40B4-BE49-F238E27FC236}">
                  <a16:creationId xmlns:a16="http://schemas.microsoft.com/office/drawing/2014/main" id="{FDDB7E9E-59E0-160C-6935-E6A750AD72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6" name="Freeform 82">
              <a:extLst>
                <a:ext uri="{FF2B5EF4-FFF2-40B4-BE49-F238E27FC236}">
                  <a16:creationId xmlns:a16="http://schemas.microsoft.com/office/drawing/2014/main" id="{C5F2367F-1684-8330-7DD4-93787D2740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7" name="Freeform 83">
              <a:extLst>
                <a:ext uri="{FF2B5EF4-FFF2-40B4-BE49-F238E27FC236}">
                  <a16:creationId xmlns:a16="http://schemas.microsoft.com/office/drawing/2014/main" id="{434E641E-627A-F7C8-E76E-BAAD89FE43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8" name="Freeform 84">
              <a:extLst>
                <a:ext uri="{FF2B5EF4-FFF2-40B4-BE49-F238E27FC236}">
                  <a16:creationId xmlns:a16="http://schemas.microsoft.com/office/drawing/2014/main" id="{7288C6F7-B8CA-E7B2-5179-5B73893FE2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9" name="Freeform 85">
              <a:extLst>
                <a:ext uri="{FF2B5EF4-FFF2-40B4-BE49-F238E27FC236}">
                  <a16:creationId xmlns:a16="http://schemas.microsoft.com/office/drawing/2014/main" id="{99BA8607-FD4D-A5D6-D836-2A2067676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0" name="Rectangle 86">
              <a:extLst>
                <a:ext uri="{FF2B5EF4-FFF2-40B4-BE49-F238E27FC236}">
                  <a16:creationId xmlns:a16="http://schemas.microsoft.com/office/drawing/2014/main" id="{998FC26E-16E3-16A2-7AF8-41FED8812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1" name="Rectangle 87">
              <a:extLst>
                <a:ext uri="{FF2B5EF4-FFF2-40B4-BE49-F238E27FC236}">
                  <a16:creationId xmlns:a16="http://schemas.microsoft.com/office/drawing/2014/main" id="{F47238A8-E1FF-4FAE-2EA3-3873C5D77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2" name="Freeform 88">
              <a:extLst>
                <a:ext uri="{FF2B5EF4-FFF2-40B4-BE49-F238E27FC236}">
                  <a16:creationId xmlns:a16="http://schemas.microsoft.com/office/drawing/2014/main" id="{054C168E-E60C-89EB-405F-5A5BF965F7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3" name="Freeform 89">
              <a:extLst>
                <a:ext uri="{FF2B5EF4-FFF2-40B4-BE49-F238E27FC236}">
                  <a16:creationId xmlns:a16="http://schemas.microsoft.com/office/drawing/2014/main" id="{5A53EFFC-C472-59B8-3E16-7EC0E4DE21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4" name="Freeform 90">
              <a:extLst>
                <a:ext uri="{FF2B5EF4-FFF2-40B4-BE49-F238E27FC236}">
                  <a16:creationId xmlns:a16="http://schemas.microsoft.com/office/drawing/2014/main" id="{75C05EA0-5E5F-BC2E-C332-2E11975F90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5" name="Freeform 91">
              <a:extLst>
                <a:ext uri="{FF2B5EF4-FFF2-40B4-BE49-F238E27FC236}">
                  <a16:creationId xmlns:a16="http://schemas.microsoft.com/office/drawing/2014/main" id="{95ED1EF4-8E19-8476-071E-F89DD1B4A4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6" name="Freeform 92">
              <a:extLst>
                <a:ext uri="{FF2B5EF4-FFF2-40B4-BE49-F238E27FC236}">
                  <a16:creationId xmlns:a16="http://schemas.microsoft.com/office/drawing/2014/main" id="{43D69F71-58C4-E151-564D-DE14BB482F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7" name="Freeform 93">
              <a:extLst>
                <a:ext uri="{FF2B5EF4-FFF2-40B4-BE49-F238E27FC236}">
                  <a16:creationId xmlns:a16="http://schemas.microsoft.com/office/drawing/2014/main" id="{BDC1A5C1-37F3-88A0-C9B8-344A5148DB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8" name="Freeform 94">
              <a:extLst>
                <a:ext uri="{FF2B5EF4-FFF2-40B4-BE49-F238E27FC236}">
                  <a16:creationId xmlns:a16="http://schemas.microsoft.com/office/drawing/2014/main" id="{2AA88DEC-E759-6FA8-9387-4BE2238528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9" name="Freeform 95">
              <a:extLst>
                <a:ext uri="{FF2B5EF4-FFF2-40B4-BE49-F238E27FC236}">
                  <a16:creationId xmlns:a16="http://schemas.microsoft.com/office/drawing/2014/main" id="{6B2800D1-7BAC-4B50-3335-4E43B1DB15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0" name="Freeform 96">
              <a:extLst>
                <a:ext uri="{FF2B5EF4-FFF2-40B4-BE49-F238E27FC236}">
                  <a16:creationId xmlns:a16="http://schemas.microsoft.com/office/drawing/2014/main" id="{0F74A5AC-0E56-6246-E12B-A52FE5EDD7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1" name="Freeform 97">
              <a:extLst>
                <a:ext uri="{FF2B5EF4-FFF2-40B4-BE49-F238E27FC236}">
                  <a16:creationId xmlns:a16="http://schemas.microsoft.com/office/drawing/2014/main" id="{4A212D85-F3DD-CDEE-918D-6978BC735B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2" name="Rectangle 98">
              <a:extLst>
                <a:ext uri="{FF2B5EF4-FFF2-40B4-BE49-F238E27FC236}">
                  <a16:creationId xmlns:a16="http://schemas.microsoft.com/office/drawing/2014/main" id="{410B0697-73C6-CF0F-BE42-C6D637515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3" name="Rectangle 99">
              <a:extLst>
                <a:ext uri="{FF2B5EF4-FFF2-40B4-BE49-F238E27FC236}">
                  <a16:creationId xmlns:a16="http://schemas.microsoft.com/office/drawing/2014/main" id="{C5D57362-6D66-1951-0A08-38F9DCA70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4" name="Freeform 100">
              <a:extLst>
                <a:ext uri="{FF2B5EF4-FFF2-40B4-BE49-F238E27FC236}">
                  <a16:creationId xmlns:a16="http://schemas.microsoft.com/office/drawing/2014/main" id="{BA40B79F-DEEF-93F9-F176-EDD78FA1E3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5" name="Freeform 101">
              <a:extLst>
                <a:ext uri="{FF2B5EF4-FFF2-40B4-BE49-F238E27FC236}">
                  <a16:creationId xmlns:a16="http://schemas.microsoft.com/office/drawing/2014/main" id="{C2D07602-D480-B6F8-9AFF-74EDD53705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6" name="Freeform 102">
              <a:extLst>
                <a:ext uri="{FF2B5EF4-FFF2-40B4-BE49-F238E27FC236}">
                  <a16:creationId xmlns:a16="http://schemas.microsoft.com/office/drawing/2014/main" id="{09F58E0A-D8E5-3F7D-CE50-525ED167B9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7" name="Freeform 103">
              <a:extLst>
                <a:ext uri="{FF2B5EF4-FFF2-40B4-BE49-F238E27FC236}">
                  <a16:creationId xmlns:a16="http://schemas.microsoft.com/office/drawing/2014/main" id="{7BDFA36F-9CAD-BB51-3FEE-B587F4C5FD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8" name="Freeform 104">
              <a:extLst>
                <a:ext uri="{FF2B5EF4-FFF2-40B4-BE49-F238E27FC236}">
                  <a16:creationId xmlns:a16="http://schemas.microsoft.com/office/drawing/2014/main" id="{9868EC7A-391C-4F8D-04A2-9C359DC8D0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9" name="Freeform 105">
              <a:extLst>
                <a:ext uri="{FF2B5EF4-FFF2-40B4-BE49-F238E27FC236}">
                  <a16:creationId xmlns:a16="http://schemas.microsoft.com/office/drawing/2014/main" id="{210F4429-9A96-1491-7328-353B9D666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0" name="Freeform 106">
              <a:extLst>
                <a:ext uri="{FF2B5EF4-FFF2-40B4-BE49-F238E27FC236}">
                  <a16:creationId xmlns:a16="http://schemas.microsoft.com/office/drawing/2014/main" id="{BBBDFB5D-BFB7-C1CB-9AA5-71CBFED907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1" name="Freeform 107">
              <a:extLst>
                <a:ext uri="{FF2B5EF4-FFF2-40B4-BE49-F238E27FC236}">
                  <a16:creationId xmlns:a16="http://schemas.microsoft.com/office/drawing/2014/main" id="{B214DC87-BDBC-44EB-94F5-C793E759F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2" name="Freeform 108">
              <a:extLst>
                <a:ext uri="{FF2B5EF4-FFF2-40B4-BE49-F238E27FC236}">
                  <a16:creationId xmlns:a16="http://schemas.microsoft.com/office/drawing/2014/main" id="{4CC105C5-3FB0-90A3-CB27-2882728D49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3" name="Freeform 109">
              <a:extLst>
                <a:ext uri="{FF2B5EF4-FFF2-40B4-BE49-F238E27FC236}">
                  <a16:creationId xmlns:a16="http://schemas.microsoft.com/office/drawing/2014/main" id="{D4C225AB-A826-E70E-B64D-4367B350AF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4" name="Rectangle 110">
              <a:extLst>
                <a:ext uri="{FF2B5EF4-FFF2-40B4-BE49-F238E27FC236}">
                  <a16:creationId xmlns:a16="http://schemas.microsoft.com/office/drawing/2014/main" id="{F9C8F5F0-3EB2-CBAF-FD45-80D4BC573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5" name="Rectangle 111">
              <a:extLst>
                <a:ext uri="{FF2B5EF4-FFF2-40B4-BE49-F238E27FC236}">
                  <a16:creationId xmlns:a16="http://schemas.microsoft.com/office/drawing/2014/main" id="{BA35078F-6773-E66E-E096-E6BED9AC2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6" name="Freeform 112">
              <a:extLst>
                <a:ext uri="{FF2B5EF4-FFF2-40B4-BE49-F238E27FC236}">
                  <a16:creationId xmlns:a16="http://schemas.microsoft.com/office/drawing/2014/main" id="{8C004C4C-B7CC-A50B-0B98-EF25B6A31F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7" name="Freeform 113">
              <a:extLst>
                <a:ext uri="{FF2B5EF4-FFF2-40B4-BE49-F238E27FC236}">
                  <a16:creationId xmlns:a16="http://schemas.microsoft.com/office/drawing/2014/main" id="{A6E4A412-8936-DBAE-01DD-FEC72B2FB4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8" name="Freeform 114">
              <a:extLst>
                <a:ext uri="{FF2B5EF4-FFF2-40B4-BE49-F238E27FC236}">
                  <a16:creationId xmlns:a16="http://schemas.microsoft.com/office/drawing/2014/main" id="{8F8706B3-800B-AF04-2208-A7AE29BCBD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9" name="Freeform 115">
              <a:extLst>
                <a:ext uri="{FF2B5EF4-FFF2-40B4-BE49-F238E27FC236}">
                  <a16:creationId xmlns:a16="http://schemas.microsoft.com/office/drawing/2014/main" id="{1A339226-3390-1AE2-8E11-0463EF03C9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0" name="Freeform 116">
              <a:extLst>
                <a:ext uri="{FF2B5EF4-FFF2-40B4-BE49-F238E27FC236}">
                  <a16:creationId xmlns:a16="http://schemas.microsoft.com/office/drawing/2014/main" id="{0665F89D-534F-E13D-B9AC-0E3EA8B8F7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1" name="Freeform 117">
              <a:extLst>
                <a:ext uri="{FF2B5EF4-FFF2-40B4-BE49-F238E27FC236}">
                  <a16:creationId xmlns:a16="http://schemas.microsoft.com/office/drawing/2014/main" id="{30FB011D-187B-90EC-B1C6-0A61F959E9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2" name="Freeform 118">
              <a:extLst>
                <a:ext uri="{FF2B5EF4-FFF2-40B4-BE49-F238E27FC236}">
                  <a16:creationId xmlns:a16="http://schemas.microsoft.com/office/drawing/2014/main" id="{E7441479-DBA1-E7AE-08AA-D5730C268F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3" name="Freeform 119">
              <a:extLst>
                <a:ext uri="{FF2B5EF4-FFF2-40B4-BE49-F238E27FC236}">
                  <a16:creationId xmlns:a16="http://schemas.microsoft.com/office/drawing/2014/main" id="{673241BA-0B74-DB0D-AEE7-3B3C2436BA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4" name="Freeform 120">
              <a:extLst>
                <a:ext uri="{FF2B5EF4-FFF2-40B4-BE49-F238E27FC236}">
                  <a16:creationId xmlns:a16="http://schemas.microsoft.com/office/drawing/2014/main" id="{139D0953-47FE-12CE-5A62-5E33E48AFC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5" name="Freeform 121">
              <a:extLst>
                <a:ext uri="{FF2B5EF4-FFF2-40B4-BE49-F238E27FC236}">
                  <a16:creationId xmlns:a16="http://schemas.microsoft.com/office/drawing/2014/main" id="{55E8F2F1-B970-3078-16A9-62DA9DF9B0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6" name="Rectangle 122">
              <a:extLst>
                <a:ext uri="{FF2B5EF4-FFF2-40B4-BE49-F238E27FC236}">
                  <a16:creationId xmlns:a16="http://schemas.microsoft.com/office/drawing/2014/main" id="{AA4E0BF7-E9A0-BB34-4B89-D4470EB5A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7" name="Rectangle 123">
              <a:extLst>
                <a:ext uri="{FF2B5EF4-FFF2-40B4-BE49-F238E27FC236}">
                  <a16:creationId xmlns:a16="http://schemas.microsoft.com/office/drawing/2014/main" id="{722229FA-8749-1FF5-D35A-1A66A3542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8" name="Freeform 124">
              <a:extLst>
                <a:ext uri="{FF2B5EF4-FFF2-40B4-BE49-F238E27FC236}">
                  <a16:creationId xmlns:a16="http://schemas.microsoft.com/office/drawing/2014/main" id="{86AF5ED2-F3F5-5EED-6AD9-1BFB28CA6C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9" name="Freeform 125">
              <a:extLst>
                <a:ext uri="{FF2B5EF4-FFF2-40B4-BE49-F238E27FC236}">
                  <a16:creationId xmlns:a16="http://schemas.microsoft.com/office/drawing/2014/main" id="{317D4746-5A62-73FD-866C-0508A780CC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0" name="Freeform 126">
              <a:extLst>
                <a:ext uri="{FF2B5EF4-FFF2-40B4-BE49-F238E27FC236}">
                  <a16:creationId xmlns:a16="http://schemas.microsoft.com/office/drawing/2014/main" id="{2FED5C5B-4CA6-B195-B9A4-28CD3E8AF5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1" name="Freeform 127">
              <a:extLst>
                <a:ext uri="{FF2B5EF4-FFF2-40B4-BE49-F238E27FC236}">
                  <a16:creationId xmlns:a16="http://schemas.microsoft.com/office/drawing/2014/main" id="{960977EB-8B49-0F13-FB39-E31982B58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2" name="Freeform 128">
              <a:extLst>
                <a:ext uri="{FF2B5EF4-FFF2-40B4-BE49-F238E27FC236}">
                  <a16:creationId xmlns:a16="http://schemas.microsoft.com/office/drawing/2014/main" id="{81F60FFB-C76D-BEBE-E2D5-DA4F89C925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3" name="Freeform 129">
              <a:extLst>
                <a:ext uri="{FF2B5EF4-FFF2-40B4-BE49-F238E27FC236}">
                  <a16:creationId xmlns:a16="http://schemas.microsoft.com/office/drawing/2014/main" id="{5EF34543-9852-A7D7-6879-CCD5479589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4" name="Freeform 130">
              <a:extLst>
                <a:ext uri="{FF2B5EF4-FFF2-40B4-BE49-F238E27FC236}">
                  <a16:creationId xmlns:a16="http://schemas.microsoft.com/office/drawing/2014/main" id="{F8F5922A-FE2E-AEEA-93C0-C275972D29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5" name="Freeform 131">
              <a:extLst>
                <a:ext uri="{FF2B5EF4-FFF2-40B4-BE49-F238E27FC236}">
                  <a16:creationId xmlns:a16="http://schemas.microsoft.com/office/drawing/2014/main" id="{2BDD7355-00CA-00E1-B6E5-B8676C47EE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6" name="Freeform 132">
              <a:extLst>
                <a:ext uri="{FF2B5EF4-FFF2-40B4-BE49-F238E27FC236}">
                  <a16:creationId xmlns:a16="http://schemas.microsoft.com/office/drawing/2014/main" id="{68A32978-8635-1997-6876-9C9A139082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7" name="Freeform 133">
              <a:extLst>
                <a:ext uri="{FF2B5EF4-FFF2-40B4-BE49-F238E27FC236}">
                  <a16:creationId xmlns:a16="http://schemas.microsoft.com/office/drawing/2014/main" id="{02ACB3BD-DFB1-6B8C-102F-121A941060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8" name="Rectangle 134">
              <a:extLst>
                <a:ext uri="{FF2B5EF4-FFF2-40B4-BE49-F238E27FC236}">
                  <a16:creationId xmlns:a16="http://schemas.microsoft.com/office/drawing/2014/main" id="{D5FA462D-E846-C5EF-8A8B-A18324E54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9" name="Rectangle 135">
              <a:extLst>
                <a:ext uri="{FF2B5EF4-FFF2-40B4-BE49-F238E27FC236}">
                  <a16:creationId xmlns:a16="http://schemas.microsoft.com/office/drawing/2014/main" id="{430EAB75-1DD6-FDBF-1206-69D5577FA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0" name="Freeform 136">
              <a:extLst>
                <a:ext uri="{FF2B5EF4-FFF2-40B4-BE49-F238E27FC236}">
                  <a16:creationId xmlns:a16="http://schemas.microsoft.com/office/drawing/2014/main" id="{D657C0CF-5B2F-46A1-6C34-F4BAA206C5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1" name="Freeform 137">
              <a:extLst>
                <a:ext uri="{FF2B5EF4-FFF2-40B4-BE49-F238E27FC236}">
                  <a16:creationId xmlns:a16="http://schemas.microsoft.com/office/drawing/2014/main" id="{06C68171-DDCB-2D70-F158-CD4CFD561F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2" name="Freeform 138">
              <a:extLst>
                <a:ext uri="{FF2B5EF4-FFF2-40B4-BE49-F238E27FC236}">
                  <a16:creationId xmlns:a16="http://schemas.microsoft.com/office/drawing/2014/main" id="{7E0728D6-E602-3BC1-FB20-9BD4374B45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3" name="Freeform 139">
              <a:extLst>
                <a:ext uri="{FF2B5EF4-FFF2-40B4-BE49-F238E27FC236}">
                  <a16:creationId xmlns:a16="http://schemas.microsoft.com/office/drawing/2014/main" id="{82FC771F-15A2-BA25-D8FD-058F3E6E0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4" name="Freeform 140">
              <a:extLst>
                <a:ext uri="{FF2B5EF4-FFF2-40B4-BE49-F238E27FC236}">
                  <a16:creationId xmlns:a16="http://schemas.microsoft.com/office/drawing/2014/main" id="{04B43AF8-C302-C5FF-4A51-BF1042A2D4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5" name="Freeform 141">
              <a:extLst>
                <a:ext uri="{FF2B5EF4-FFF2-40B4-BE49-F238E27FC236}">
                  <a16:creationId xmlns:a16="http://schemas.microsoft.com/office/drawing/2014/main" id="{55548D22-1F9D-471C-DE66-DD6821CF65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6" name="Freeform 142">
              <a:extLst>
                <a:ext uri="{FF2B5EF4-FFF2-40B4-BE49-F238E27FC236}">
                  <a16:creationId xmlns:a16="http://schemas.microsoft.com/office/drawing/2014/main" id="{ADCFB3F1-D2A2-65C3-3016-1CED0D08C2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7" name="Freeform 143">
              <a:extLst>
                <a:ext uri="{FF2B5EF4-FFF2-40B4-BE49-F238E27FC236}">
                  <a16:creationId xmlns:a16="http://schemas.microsoft.com/office/drawing/2014/main" id="{2283D76E-BB57-9158-8C4D-7371CBA3C7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8" name="Freeform 144">
              <a:extLst>
                <a:ext uri="{FF2B5EF4-FFF2-40B4-BE49-F238E27FC236}">
                  <a16:creationId xmlns:a16="http://schemas.microsoft.com/office/drawing/2014/main" id="{17DE45D8-6A9F-072F-7E9F-DB74D35207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9" name="Freeform 145">
              <a:extLst>
                <a:ext uri="{FF2B5EF4-FFF2-40B4-BE49-F238E27FC236}">
                  <a16:creationId xmlns:a16="http://schemas.microsoft.com/office/drawing/2014/main" id="{F72FEA13-B348-6CC1-B034-60F40ED85A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0" name="Rectangle 146">
              <a:extLst>
                <a:ext uri="{FF2B5EF4-FFF2-40B4-BE49-F238E27FC236}">
                  <a16:creationId xmlns:a16="http://schemas.microsoft.com/office/drawing/2014/main" id="{5DD77E25-2E32-6C62-543A-3337ED3E6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1" name="Freeform 147">
              <a:extLst>
                <a:ext uri="{FF2B5EF4-FFF2-40B4-BE49-F238E27FC236}">
                  <a16:creationId xmlns:a16="http://schemas.microsoft.com/office/drawing/2014/main" id="{BDDB8683-7195-93DC-DC34-B35B36A78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52" name="Group 148">
            <a:extLst>
              <a:ext uri="{FF2B5EF4-FFF2-40B4-BE49-F238E27FC236}">
                <a16:creationId xmlns:a16="http://schemas.microsoft.com/office/drawing/2014/main" id="{9B9841DE-A011-D42D-C7D5-7BDB744BB4CD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444875"/>
            <a:ext cx="533400" cy="492125"/>
            <a:chOff x="96" y="2784"/>
            <a:chExt cx="1062" cy="981"/>
          </a:xfrm>
        </p:grpSpPr>
        <p:sp>
          <p:nvSpPr>
            <p:cNvPr id="175253" name="Freeform 149">
              <a:extLst>
                <a:ext uri="{FF2B5EF4-FFF2-40B4-BE49-F238E27FC236}">
                  <a16:creationId xmlns:a16="http://schemas.microsoft.com/office/drawing/2014/main" id="{2D3E9FB9-404D-9B17-CB41-2674256C7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4" name="Freeform 150">
              <a:extLst>
                <a:ext uri="{FF2B5EF4-FFF2-40B4-BE49-F238E27FC236}">
                  <a16:creationId xmlns:a16="http://schemas.microsoft.com/office/drawing/2014/main" id="{6C3A77FB-1B67-58DC-95A6-A0CE8E0772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5" name="Freeform 151">
              <a:extLst>
                <a:ext uri="{FF2B5EF4-FFF2-40B4-BE49-F238E27FC236}">
                  <a16:creationId xmlns:a16="http://schemas.microsoft.com/office/drawing/2014/main" id="{CFBBB7F1-0739-4262-82A9-D86A99107F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6" name="Freeform 152">
              <a:extLst>
                <a:ext uri="{FF2B5EF4-FFF2-40B4-BE49-F238E27FC236}">
                  <a16:creationId xmlns:a16="http://schemas.microsoft.com/office/drawing/2014/main" id="{2DEE0BD3-9823-73F9-3E3A-C2700CABE2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7" name="Freeform 153">
              <a:extLst>
                <a:ext uri="{FF2B5EF4-FFF2-40B4-BE49-F238E27FC236}">
                  <a16:creationId xmlns:a16="http://schemas.microsoft.com/office/drawing/2014/main" id="{0C1EB72E-FE35-A971-7D57-8BCF6D3964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8" name="Freeform 154">
              <a:extLst>
                <a:ext uri="{FF2B5EF4-FFF2-40B4-BE49-F238E27FC236}">
                  <a16:creationId xmlns:a16="http://schemas.microsoft.com/office/drawing/2014/main" id="{4038EA29-C9AC-EB69-A0D3-7DB0A953E3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9" name="Freeform 155">
              <a:extLst>
                <a:ext uri="{FF2B5EF4-FFF2-40B4-BE49-F238E27FC236}">
                  <a16:creationId xmlns:a16="http://schemas.microsoft.com/office/drawing/2014/main" id="{2A242F37-F200-46A3-894D-50E16D9B09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0" name="Freeform 156">
              <a:extLst>
                <a:ext uri="{FF2B5EF4-FFF2-40B4-BE49-F238E27FC236}">
                  <a16:creationId xmlns:a16="http://schemas.microsoft.com/office/drawing/2014/main" id="{7D259A35-7C29-ABFE-840A-0CCDBA6D9C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1" name="Freeform 157">
              <a:extLst>
                <a:ext uri="{FF2B5EF4-FFF2-40B4-BE49-F238E27FC236}">
                  <a16:creationId xmlns:a16="http://schemas.microsoft.com/office/drawing/2014/main" id="{1D62B105-A3A1-2121-9BF2-42BE07088D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2" name="Freeform 158">
              <a:extLst>
                <a:ext uri="{FF2B5EF4-FFF2-40B4-BE49-F238E27FC236}">
                  <a16:creationId xmlns:a16="http://schemas.microsoft.com/office/drawing/2014/main" id="{3F722002-1045-C6C5-E3E4-4C36DF5719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3" name="Freeform 159">
              <a:extLst>
                <a:ext uri="{FF2B5EF4-FFF2-40B4-BE49-F238E27FC236}">
                  <a16:creationId xmlns:a16="http://schemas.microsoft.com/office/drawing/2014/main" id="{EFFB416E-950B-1F63-EE4C-1A38640469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4" name="Freeform 160">
              <a:extLst>
                <a:ext uri="{FF2B5EF4-FFF2-40B4-BE49-F238E27FC236}">
                  <a16:creationId xmlns:a16="http://schemas.microsoft.com/office/drawing/2014/main" id="{E2EA20F7-BECF-9BAB-57DB-8C0F5E31B1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5" name="Freeform 161">
              <a:extLst>
                <a:ext uri="{FF2B5EF4-FFF2-40B4-BE49-F238E27FC236}">
                  <a16:creationId xmlns:a16="http://schemas.microsoft.com/office/drawing/2014/main" id="{C2F3CC9B-869A-989D-81B9-DEC0BF720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66" name="Group 162">
            <a:extLst>
              <a:ext uri="{FF2B5EF4-FFF2-40B4-BE49-F238E27FC236}">
                <a16:creationId xmlns:a16="http://schemas.microsoft.com/office/drawing/2014/main" id="{59042275-7266-DA40-219A-C16897A979D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552950"/>
            <a:ext cx="533400" cy="492125"/>
            <a:chOff x="96" y="2784"/>
            <a:chExt cx="1062" cy="981"/>
          </a:xfrm>
        </p:grpSpPr>
        <p:sp>
          <p:nvSpPr>
            <p:cNvPr id="175267" name="Freeform 163">
              <a:extLst>
                <a:ext uri="{FF2B5EF4-FFF2-40B4-BE49-F238E27FC236}">
                  <a16:creationId xmlns:a16="http://schemas.microsoft.com/office/drawing/2014/main" id="{7AE07C9D-F12A-9C62-2A5B-0DC10382B0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8" name="Freeform 164">
              <a:extLst>
                <a:ext uri="{FF2B5EF4-FFF2-40B4-BE49-F238E27FC236}">
                  <a16:creationId xmlns:a16="http://schemas.microsoft.com/office/drawing/2014/main" id="{AA89B7B2-8E19-DA4D-0DF9-62C3465F04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9" name="Freeform 165">
              <a:extLst>
                <a:ext uri="{FF2B5EF4-FFF2-40B4-BE49-F238E27FC236}">
                  <a16:creationId xmlns:a16="http://schemas.microsoft.com/office/drawing/2014/main" id="{118EBCB2-BA6F-8AF8-B3C8-7CA5332D7E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0" name="Freeform 166">
              <a:extLst>
                <a:ext uri="{FF2B5EF4-FFF2-40B4-BE49-F238E27FC236}">
                  <a16:creationId xmlns:a16="http://schemas.microsoft.com/office/drawing/2014/main" id="{333905E7-76F0-F8E8-0831-B9B0EACE9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1" name="Freeform 167">
              <a:extLst>
                <a:ext uri="{FF2B5EF4-FFF2-40B4-BE49-F238E27FC236}">
                  <a16:creationId xmlns:a16="http://schemas.microsoft.com/office/drawing/2014/main" id="{4334E7A1-A040-DA29-D27C-3962A221B7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2" name="Freeform 168">
              <a:extLst>
                <a:ext uri="{FF2B5EF4-FFF2-40B4-BE49-F238E27FC236}">
                  <a16:creationId xmlns:a16="http://schemas.microsoft.com/office/drawing/2014/main" id="{FDC4F384-301A-CF19-0688-D0B4D831AE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3" name="Freeform 169">
              <a:extLst>
                <a:ext uri="{FF2B5EF4-FFF2-40B4-BE49-F238E27FC236}">
                  <a16:creationId xmlns:a16="http://schemas.microsoft.com/office/drawing/2014/main" id="{F5378B2B-E155-16F3-F14E-EC8F160F9F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4" name="Freeform 170">
              <a:extLst>
                <a:ext uri="{FF2B5EF4-FFF2-40B4-BE49-F238E27FC236}">
                  <a16:creationId xmlns:a16="http://schemas.microsoft.com/office/drawing/2014/main" id="{E681C8C8-9AC6-8E5D-3E15-CF5313332E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5" name="Freeform 171">
              <a:extLst>
                <a:ext uri="{FF2B5EF4-FFF2-40B4-BE49-F238E27FC236}">
                  <a16:creationId xmlns:a16="http://schemas.microsoft.com/office/drawing/2014/main" id="{CE102CFB-8488-5190-3197-45308FE24A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6" name="Freeform 172">
              <a:extLst>
                <a:ext uri="{FF2B5EF4-FFF2-40B4-BE49-F238E27FC236}">
                  <a16:creationId xmlns:a16="http://schemas.microsoft.com/office/drawing/2014/main" id="{A99F82C1-4DA0-71F2-57B4-DAC741C8AD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7" name="Freeform 173">
              <a:extLst>
                <a:ext uri="{FF2B5EF4-FFF2-40B4-BE49-F238E27FC236}">
                  <a16:creationId xmlns:a16="http://schemas.microsoft.com/office/drawing/2014/main" id="{27477E46-EC83-2A16-3C54-FCA94CC96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8" name="Freeform 174">
              <a:extLst>
                <a:ext uri="{FF2B5EF4-FFF2-40B4-BE49-F238E27FC236}">
                  <a16:creationId xmlns:a16="http://schemas.microsoft.com/office/drawing/2014/main" id="{C6B2D47F-48B7-5358-61C9-2E72D3613A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9" name="Freeform 175">
              <a:extLst>
                <a:ext uri="{FF2B5EF4-FFF2-40B4-BE49-F238E27FC236}">
                  <a16:creationId xmlns:a16="http://schemas.microsoft.com/office/drawing/2014/main" id="{3982FC9B-DB25-975D-402B-87717071DC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80" name="Group 176">
            <a:extLst>
              <a:ext uri="{FF2B5EF4-FFF2-40B4-BE49-F238E27FC236}">
                <a16:creationId xmlns:a16="http://schemas.microsoft.com/office/drawing/2014/main" id="{0F80184C-FA95-9866-A4B7-019908AD0FC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562600"/>
            <a:ext cx="533400" cy="492125"/>
            <a:chOff x="96" y="2784"/>
            <a:chExt cx="1062" cy="981"/>
          </a:xfrm>
        </p:grpSpPr>
        <p:sp>
          <p:nvSpPr>
            <p:cNvPr id="175281" name="Freeform 177">
              <a:extLst>
                <a:ext uri="{FF2B5EF4-FFF2-40B4-BE49-F238E27FC236}">
                  <a16:creationId xmlns:a16="http://schemas.microsoft.com/office/drawing/2014/main" id="{FFD9A41A-6029-299F-394C-7E914683C8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2" name="Freeform 178">
              <a:extLst>
                <a:ext uri="{FF2B5EF4-FFF2-40B4-BE49-F238E27FC236}">
                  <a16:creationId xmlns:a16="http://schemas.microsoft.com/office/drawing/2014/main" id="{2AE3A961-BAA2-638B-218D-047CCA75B7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3" name="Freeform 179">
              <a:extLst>
                <a:ext uri="{FF2B5EF4-FFF2-40B4-BE49-F238E27FC236}">
                  <a16:creationId xmlns:a16="http://schemas.microsoft.com/office/drawing/2014/main" id="{E6895385-C2C1-B9CA-AA12-47273886C3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4" name="Freeform 180">
              <a:extLst>
                <a:ext uri="{FF2B5EF4-FFF2-40B4-BE49-F238E27FC236}">
                  <a16:creationId xmlns:a16="http://schemas.microsoft.com/office/drawing/2014/main" id="{F5F4245F-E74F-D541-0723-C3519406F7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5" name="Freeform 181">
              <a:extLst>
                <a:ext uri="{FF2B5EF4-FFF2-40B4-BE49-F238E27FC236}">
                  <a16:creationId xmlns:a16="http://schemas.microsoft.com/office/drawing/2014/main" id="{9A35615A-5B5B-3183-A5F6-DF6C58482B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6" name="Freeform 182">
              <a:extLst>
                <a:ext uri="{FF2B5EF4-FFF2-40B4-BE49-F238E27FC236}">
                  <a16:creationId xmlns:a16="http://schemas.microsoft.com/office/drawing/2014/main" id="{7B0BB98E-72F4-3815-08B1-E3E2FEDE94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7" name="Freeform 183">
              <a:extLst>
                <a:ext uri="{FF2B5EF4-FFF2-40B4-BE49-F238E27FC236}">
                  <a16:creationId xmlns:a16="http://schemas.microsoft.com/office/drawing/2014/main" id="{E0AFB4FF-2840-036F-D984-D93903959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8" name="Freeform 184">
              <a:extLst>
                <a:ext uri="{FF2B5EF4-FFF2-40B4-BE49-F238E27FC236}">
                  <a16:creationId xmlns:a16="http://schemas.microsoft.com/office/drawing/2014/main" id="{51950C46-9EF3-5CEC-B7D6-7DF216726A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9" name="Freeform 185">
              <a:extLst>
                <a:ext uri="{FF2B5EF4-FFF2-40B4-BE49-F238E27FC236}">
                  <a16:creationId xmlns:a16="http://schemas.microsoft.com/office/drawing/2014/main" id="{DF87BE62-F616-1116-F50B-1F3409D64D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0" name="Freeform 186">
              <a:extLst>
                <a:ext uri="{FF2B5EF4-FFF2-40B4-BE49-F238E27FC236}">
                  <a16:creationId xmlns:a16="http://schemas.microsoft.com/office/drawing/2014/main" id="{91CCA9DE-68BD-2465-8B55-8DFBFF13FD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1" name="Freeform 187">
              <a:extLst>
                <a:ext uri="{FF2B5EF4-FFF2-40B4-BE49-F238E27FC236}">
                  <a16:creationId xmlns:a16="http://schemas.microsoft.com/office/drawing/2014/main" id="{C30E3CE5-6517-BC46-C644-EE5FA807D8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2" name="Freeform 188">
              <a:extLst>
                <a:ext uri="{FF2B5EF4-FFF2-40B4-BE49-F238E27FC236}">
                  <a16:creationId xmlns:a16="http://schemas.microsoft.com/office/drawing/2014/main" id="{7307CCD4-0586-6FDD-E3AC-D19CC3D83B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3" name="Freeform 189">
              <a:extLst>
                <a:ext uri="{FF2B5EF4-FFF2-40B4-BE49-F238E27FC236}">
                  <a16:creationId xmlns:a16="http://schemas.microsoft.com/office/drawing/2014/main" id="{318C03FB-F2CF-6725-FEE9-DBFF6634D4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94" name="Group 190">
            <a:extLst>
              <a:ext uri="{FF2B5EF4-FFF2-40B4-BE49-F238E27FC236}">
                <a16:creationId xmlns:a16="http://schemas.microsoft.com/office/drawing/2014/main" id="{8AB506DE-A468-2AC2-92E1-C085706E5467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962400"/>
            <a:ext cx="533400" cy="492125"/>
            <a:chOff x="96" y="2784"/>
            <a:chExt cx="1062" cy="981"/>
          </a:xfrm>
        </p:grpSpPr>
        <p:sp>
          <p:nvSpPr>
            <p:cNvPr id="175295" name="Freeform 191">
              <a:extLst>
                <a:ext uri="{FF2B5EF4-FFF2-40B4-BE49-F238E27FC236}">
                  <a16:creationId xmlns:a16="http://schemas.microsoft.com/office/drawing/2014/main" id="{CAED6C32-922E-3BDD-7F3C-65F1C088F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6" name="Freeform 192">
              <a:extLst>
                <a:ext uri="{FF2B5EF4-FFF2-40B4-BE49-F238E27FC236}">
                  <a16:creationId xmlns:a16="http://schemas.microsoft.com/office/drawing/2014/main" id="{7BE067F8-B33D-43E2-807E-B0477A6B40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7" name="Freeform 193">
              <a:extLst>
                <a:ext uri="{FF2B5EF4-FFF2-40B4-BE49-F238E27FC236}">
                  <a16:creationId xmlns:a16="http://schemas.microsoft.com/office/drawing/2014/main" id="{0185E5AD-9E91-D12D-6B7C-47CFF121D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8" name="Freeform 194">
              <a:extLst>
                <a:ext uri="{FF2B5EF4-FFF2-40B4-BE49-F238E27FC236}">
                  <a16:creationId xmlns:a16="http://schemas.microsoft.com/office/drawing/2014/main" id="{87CA5562-A705-9BB6-3F4D-6457FAEEF1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9" name="Freeform 195">
              <a:extLst>
                <a:ext uri="{FF2B5EF4-FFF2-40B4-BE49-F238E27FC236}">
                  <a16:creationId xmlns:a16="http://schemas.microsoft.com/office/drawing/2014/main" id="{1B6EB998-5437-C747-A93B-CA75C20B8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0" name="Freeform 196">
              <a:extLst>
                <a:ext uri="{FF2B5EF4-FFF2-40B4-BE49-F238E27FC236}">
                  <a16:creationId xmlns:a16="http://schemas.microsoft.com/office/drawing/2014/main" id="{62616EEE-5681-B42E-73C7-E97990C855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1" name="Freeform 197">
              <a:extLst>
                <a:ext uri="{FF2B5EF4-FFF2-40B4-BE49-F238E27FC236}">
                  <a16:creationId xmlns:a16="http://schemas.microsoft.com/office/drawing/2014/main" id="{2C6B7E12-FDB7-4D9E-27AA-913734C9B0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2" name="Freeform 198">
              <a:extLst>
                <a:ext uri="{FF2B5EF4-FFF2-40B4-BE49-F238E27FC236}">
                  <a16:creationId xmlns:a16="http://schemas.microsoft.com/office/drawing/2014/main" id="{B969FC02-DE66-9891-94EE-10E9C30D9A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3" name="Freeform 199">
              <a:extLst>
                <a:ext uri="{FF2B5EF4-FFF2-40B4-BE49-F238E27FC236}">
                  <a16:creationId xmlns:a16="http://schemas.microsoft.com/office/drawing/2014/main" id="{201A6BAB-0156-C43E-0C46-0720E95C69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4" name="Freeform 200">
              <a:extLst>
                <a:ext uri="{FF2B5EF4-FFF2-40B4-BE49-F238E27FC236}">
                  <a16:creationId xmlns:a16="http://schemas.microsoft.com/office/drawing/2014/main" id="{CDE90CBA-4732-1CC3-2904-56E28CB38B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5" name="Freeform 201">
              <a:extLst>
                <a:ext uri="{FF2B5EF4-FFF2-40B4-BE49-F238E27FC236}">
                  <a16:creationId xmlns:a16="http://schemas.microsoft.com/office/drawing/2014/main" id="{00179855-138C-1FAF-EBB3-F49359B810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6" name="Freeform 202">
              <a:extLst>
                <a:ext uri="{FF2B5EF4-FFF2-40B4-BE49-F238E27FC236}">
                  <a16:creationId xmlns:a16="http://schemas.microsoft.com/office/drawing/2014/main" id="{A870CE9D-BFD4-DC52-2F06-3AF624802F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7" name="Freeform 203">
              <a:extLst>
                <a:ext uri="{FF2B5EF4-FFF2-40B4-BE49-F238E27FC236}">
                  <a16:creationId xmlns:a16="http://schemas.microsoft.com/office/drawing/2014/main" id="{7C19DB1D-6877-D1B6-D331-9C83C29551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08" name="Group 204">
            <a:extLst>
              <a:ext uri="{FF2B5EF4-FFF2-40B4-BE49-F238E27FC236}">
                <a16:creationId xmlns:a16="http://schemas.microsoft.com/office/drawing/2014/main" id="{8993B7CD-C1C1-E3AE-7169-0291A605484C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070475"/>
            <a:ext cx="533400" cy="492125"/>
            <a:chOff x="96" y="2784"/>
            <a:chExt cx="1062" cy="981"/>
          </a:xfrm>
        </p:grpSpPr>
        <p:sp>
          <p:nvSpPr>
            <p:cNvPr id="175309" name="Freeform 205">
              <a:extLst>
                <a:ext uri="{FF2B5EF4-FFF2-40B4-BE49-F238E27FC236}">
                  <a16:creationId xmlns:a16="http://schemas.microsoft.com/office/drawing/2014/main" id="{AD54ADC7-65D2-F875-2E25-B497D8E29E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0" name="Freeform 206">
              <a:extLst>
                <a:ext uri="{FF2B5EF4-FFF2-40B4-BE49-F238E27FC236}">
                  <a16:creationId xmlns:a16="http://schemas.microsoft.com/office/drawing/2014/main" id="{D7520AC5-3E61-7B4C-90D9-88C891BD7A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1" name="Freeform 207">
              <a:extLst>
                <a:ext uri="{FF2B5EF4-FFF2-40B4-BE49-F238E27FC236}">
                  <a16:creationId xmlns:a16="http://schemas.microsoft.com/office/drawing/2014/main" id="{421E131D-4287-1ADE-CB7D-F85043EBD9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2" name="Freeform 208">
              <a:extLst>
                <a:ext uri="{FF2B5EF4-FFF2-40B4-BE49-F238E27FC236}">
                  <a16:creationId xmlns:a16="http://schemas.microsoft.com/office/drawing/2014/main" id="{A9B03260-1917-A389-D5A4-D4D20017FF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3" name="Freeform 209">
              <a:extLst>
                <a:ext uri="{FF2B5EF4-FFF2-40B4-BE49-F238E27FC236}">
                  <a16:creationId xmlns:a16="http://schemas.microsoft.com/office/drawing/2014/main" id="{910A0AE9-ECB6-B911-F0FC-AA02AEB739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4" name="Freeform 210">
              <a:extLst>
                <a:ext uri="{FF2B5EF4-FFF2-40B4-BE49-F238E27FC236}">
                  <a16:creationId xmlns:a16="http://schemas.microsoft.com/office/drawing/2014/main" id="{1474F8D0-09FC-9C92-01B6-84CDE161C3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5" name="Freeform 211">
              <a:extLst>
                <a:ext uri="{FF2B5EF4-FFF2-40B4-BE49-F238E27FC236}">
                  <a16:creationId xmlns:a16="http://schemas.microsoft.com/office/drawing/2014/main" id="{25517DBC-435F-1C46-B967-210F7ECA1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6" name="Freeform 212">
              <a:extLst>
                <a:ext uri="{FF2B5EF4-FFF2-40B4-BE49-F238E27FC236}">
                  <a16:creationId xmlns:a16="http://schemas.microsoft.com/office/drawing/2014/main" id="{D85F0E24-B5AB-36E3-B755-8932B53BC4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7" name="Freeform 213">
              <a:extLst>
                <a:ext uri="{FF2B5EF4-FFF2-40B4-BE49-F238E27FC236}">
                  <a16:creationId xmlns:a16="http://schemas.microsoft.com/office/drawing/2014/main" id="{6597424D-6276-4680-253A-7B8AE5247F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8" name="Freeform 214">
              <a:extLst>
                <a:ext uri="{FF2B5EF4-FFF2-40B4-BE49-F238E27FC236}">
                  <a16:creationId xmlns:a16="http://schemas.microsoft.com/office/drawing/2014/main" id="{19416780-6534-A111-C852-E229B455A5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9" name="Freeform 215">
              <a:extLst>
                <a:ext uri="{FF2B5EF4-FFF2-40B4-BE49-F238E27FC236}">
                  <a16:creationId xmlns:a16="http://schemas.microsoft.com/office/drawing/2014/main" id="{E03D810C-FB5C-844C-F399-D6E00FD75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0" name="Freeform 216">
              <a:extLst>
                <a:ext uri="{FF2B5EF4-FFF2-40B4-BE49-F238E27FC236}">
                  <a16:creationId xmlns:a16="http://schemas.microsoft.com/office/drawing/2014/main" id="{D5A66EF5-9BFC-E09B-2601-E526A2D2F5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1" name="Freeform 217">
              <a:extLst>
                <a:ext uri="{FF2B5EF4-FFF2-40B4-BE49-F238E27FC236}">
                  <a16:creationId xmlns:a16="http://schemas.microsoft.com/office/drawing/2014/main" id="{D59B273E-33C7-C5A5-C8B5-DCFAA21955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22" name="Group 218">
            <a:extLst>
              <a:ext uri="{FF2B5EF4-FFF2-40B4-BE49-F238E27FC236}">
                <a16:creationId xmlns:a16="http://schemas.microsoft.com/office/drawing/2014/main" id="{0FA9E8A6-FAA6-68FB-2DF8-A9F3D79AA4F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6121400"/>
            <a:ext cx="533400" cy="492125"/>
            <a:chOff x="96" y="2784"/>
            <a:chExt cx="1062" cy="981"/>
          </a:xfrm>
        </p:grpSpPr>
        <p:sp>
          <p:nvSpPr>
            <p:cNvPr id="175323" name="Freeform 219">
              <a:extLst>
                <a:ext uri="{FF2B5EF4-FFF2-40B4-BE49-F238E27FC236}">
                  <a16:creationId xmlns:a16="http://schemas.microsoft.com/office/drawing/2014/main" id="{9E4F1C4E-90D1-B98B-0E2F-30B67D09F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4" name="Freeform 220">
              <a:extLst>
                <a:ext uri="{FF2B5EF4-FFF2-40B4-BE49-F238E27FC236}">
                  <a16:creationId xmlns:a16="http://schemas.microsoft.com/office/drawing/2014/main" id="{461C3DE7-BEFD-96F0-F803-AB3D9511F1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5" name="Freeform 221">
              <a:extLst>
                <a:ext uri="{FF2B5EF4-FFF2-40B4-BE49-F238E27FC236}">
                  <a16:creationId xmlns:a16="http://schemas.microsoft.com/office/drawing/2014/main" id="{2780AD02-AD86-B82C-9133-822F36B8DF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6" name="Freeform 222">
              <a:extLst>
                <a:ext uri="{FF2B5EF4-FFF2-40B4-BE49-F238E27FC236}">
                  <a16:creationId xmlns:a16="http://schemas.microsoft.com/office/drawing/2014/main" id="{CCD54B62-C6A5-F231-02F0-E6140107D8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7" name="Freeform 223">
              <a:extLst>
                <a:ext uri="{FF2B5EF4-FFF2-40B4-BE49-F238E27FC236}">
                  <a16:creationId xmlns:a16="http://schemas.microsoft.com/office/drawing/2014/main" id="{9339A5E8-4C43-D623-CA6F-12A6F47CF6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8" name="Freeform 224">
              <a:extLst>
                <a:ext uri="{FF2B5EF4-FFF2-40B4-BE49-F238E27FC236}">
                  <a16:creationId xmlns:a16="http://schemas.microsoft.com/office/drawing/2014/main" id="{287E829F-DB98-3FF8-5876-3BE756F6DC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9" name="Freeform 225">
              <a:extLst>
                <a:ext uri="{FF2B5EF4-FFF2-40B4-BE49-F238E27FC236}">
                  <a16:creationId xmlns:a16="http://schemas.microsoft.com/office/drawing/2014/main" id="{50C5715F-0D1F-42A8-5BD9-B1950DEA5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0" name="Freeform 226">
              <a:extLst>
                <a:ext uri="{FF2B5EF4-FFF2-40B4-BE49-F238E27FC236}">
                  <a16:creationId xmlns:a16="http://schemas.microsoft.com/office/drawing/2014/main" id="{9050D4C5-6D61-E97F-410A-ADB993F850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1" name="Freeform 227">
              <a:extLst>
                <a:ext uri="{FF2B5EF4-FFF2-40B4-BE49-F238E27FC236}">
                  <a16:creationId xmlns:a16="http://schemas.microsoft.com/office/drawing/2014/main" id="{5C4A6479-F86C-8C00-218F-DE3255CC7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2" name="Freeform 228">
              <a:extLst>
                <a:ext uri="{FF2B5EF4-FFF2-40B4-BE49-F238E27FC236}">
                  <a16:creationId xmlns:a16="http://schemas.microsoft.com/office/drawing/2014/main" id="{C0BE9954-1114-6714-59BE-F89DF92A75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3" name="Freeform 229">
              <a:extLst>
                <a:ext uri="{FF2B5EF4-FFF2-40B4-BE49-F238E27FC236}">
                  <a16:creationId xmlns:a16="http://schemas.microsoft.com/office/drawing/2014/main" id="{B3813F22-64EA-6B95-4636-5033F7DC93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4" name="Freeform 230">
              <a:extLst>
                <a:ext uri="{FF2B5EF4-FFF2-40B4-BE49-F238E27FC236}">
                  <a16:creationId xmlns:a16="http://schemas.microsoft.com/office/drawing/2014/main" id="{A1FF9381-5B30-9ECE-5F9F-CC1A6E3047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5" name="Freeform 231">
              <a:extLst>
                <a:ext uri="{FF2B5EF4-FFF2-40B4-BE49-F238E27FC236}">
                  <a16:creationId xmlns:a16="http://schemas.microsoft.com/office/drawing/2014/main" id="{662F5DF9-2A1A-FFA7-6CC4-1DA67CB393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36" name="Group 232">
            <a:extLst>
              <a:ext uri="{FF2B5EF4-FFF2-40B4-BE49-F238E27FC236}">
                <a16:creationId xmlns:a16="http://schemas.microsoft.com/office/drawing/2014/main" id="{AE5C3BED-5D94-1EEF-E17B-5E89E1FED551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-7938"/>
            <a:ext cx="2317750" cy="2063751"/>
            <a:chOff x="4080" y="-5"/>
            <a:chExt cx="1748" cy="1556"/>
          </a:xfrm>
        </p:grpSpPr>
        <p:sp>
          <p:nvSpPr>
            <p:cNvPr id="175337" name="Freeform 233">
              <a:extLst>
                <a:ext uri="{FF2B5EF4-FFF2-40B4-BE49-F238E27FC236}">
                  <a16:creationId xmlns:a16="http://schemas.microsoft.com/office/drawing/2014/main" id="{23DC8ADA-7201-9267-8230-69F647F4B9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>
                <a:gd name="T0" fmla="*/ 23 w 546"/>
                <a:gd name="T1" fmla="*/ 4 h 497"/>
                <a:gd name="T2" fmla="*/ 11 w 546"/>
                <a:gd name="T3" fmla="*/ 71 h 497"/>
                <a:gd name="T4" fmla="*/ 25 w 546"/>
                <a:gd name="T5" fmla="*/ 393 h 497"/>
                <a:gd name="T6" fmla="*/ 54 w 546"/>
                <a:gd name="T7" fmla="*/ 457 h 497"/>
                <a:gd name="T8" fmla="*/ 158 w 546"/>
                <a:gd name="T9" fmla="*/ 482 h 497"/>
                <a:gd name="T10" fmla="*/ 204 w 546"/>
                <a:gd name="T11" fmla="*/ 495 h 497"/>
                <a:gd name="T12" fmla="*/ 520 w 546"/>
                <a:gd name="T13" fmla="*/ 475 h 497"/>
                <a:gd name="T14" fmla="*/ 533 w 546"/>
                <a:gd name="T15" fmla="*/ 167 h 497"/>
                <a:gd name="T16" fmla="*/ 369 w 546"/>
                <a:gd name="T17" fmla="*/ 16 h 497"/>
                <a:gd name="T18" fmla="*/ 249 w 546"/>
                <a:gd name="T19" fmla="*/ 29 h 497"/>
                <a:gd name="T20" fmla="*/ 198 w 546"/>
                <a:gd name="T21" fmla="*/ 11 h 497"/>
                <a:gd name="T22" fmla="*/ 151 w 546"/>
                <a:gd name="T23" fmla="*/ 2 h 497"/>
                <a:gd name="T24" fmla="*/ 23 w 546"/>
                <a:gd name="T25" fmla="*/ 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338" name="Group 234">
              <a:extLst>
                <a:ext uri="{FF2B5EF4-FFF2-40B4-BE49-F238E27FC236}">
                  <a16:creationId xmlns:a16="http://schemas.microsoft.com/office/drawing/2014/main" id="{AC708583-D1D3-BA8C-AD21-6074E7BF30B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175339" name="Freeform 235">
                <a:extLst>
                  <a:ext uri="{FF2B5EF4-FFF2-40B4-BE49-F238E27FC236}">
                    <a16:creationId xmlns:a16="http://schemas.microsoft.com/office/drawing/2014/main" id="{FB77A16B-0614-D97E-2F0D-4759F09AD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>
                  <a:gd name="T0" fmla="*/ 71 w 97"/>
                  <a:gd name="T1" fmla="*/ 25 h 37"/>
                  <a:gd name="T2" fmla="*/ 91 w 97"/>
                  <a:gd name="T3" fmla="*/ 20 h 37"/>
                  <a:gd name="T4" fmla="*/ 92 w 97"/>
                  <a:gd name="T5" fmla="*/ 17 h 37"/>
                  <a:gd name="T6" fmla="*/ 88 w 97"/>
                  <a:gd name="T7" fmla="*/ 0 h 37"/>
                  <a:gd name="T8" fmla="*/ 25 w 97"/>
                  <a:gd name="T9" fmla="*/ 0 h 37"/>
                  <a:gd name="T10" fmla="*/ 10 w 97"/>
                  <a:gd name="T11" fmla="*/ 22 h 37"/>
                  <a:gd name="T12" fmla="*/ 71 w 97"/>
                  <a:gd name="T13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0" name="Freeform 236">
                <a:extLst>
                  <a:ext uri="{FF2B5EF4-FFF2-40B4-BE49-F238E27FC236}">
                    <a16:creationId xmlns:a16="http://schemas.microsoft.com/office/drawing/2014/main" id="{E788D5E4-9A23-2A72-39AB-AF421E9CF14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>
                  <a:gd name="T0" fmla="*/ 504 w 585"/>
                  <a:gd name="T1" fmla="*/ 1 h 534"/>
                  <a:gd name="T2" fmla="*/ 157 w 585"/>
                  <a:gd name="T3" fmla="*/ 0 h 534"/>
                  <a:gd name="T4" fmla="*/ 225 w 585"/>
                  <a:gd name="T5" fmla="*/ 21 h 534"/>
                  <a:gd name="T6" fmla="*/ 174 w 585"/>
                  <a:gd name="T7" fmla="*/ 39 h 534"/>
                  <a:gd name="T8" fmla="*/ 207 w 585"/>
                  <a:gd name="T9" fmla="*/ 71 h 534"/>
                  <a:gd name="T10" fmla="*/ 74 w 585"/>
                  <a:gd name="T11" fmla="*/ 60 h 534"/>
                  <a:gd name="T12" fmla="*/ 26 w 585"/>
                  <a:gd name="T13" fmla="*/ 63 h 534"/>
                  <a:gd name="T14" fmla="*/ 199 w 585"/>
                  <a:gd name="T15" fmla="*/ 487 h 534"/>
                  <a:gd name="T16" fmla="*/ 144 w 585"/>
                  <a:gd name="T17" fmla="*/ 341 h 534"/>
                  <a:gd name="T18" fmla="*/ 105 w 585"/>
                  <a:gd name="T19" fmla="*/ 376 h 534"/>
                  <a:gd name="T20" fmla="*/ 94 w 585"/>
                  <a:gd name="T21" fmla="*/ 435 h 534"/>
                  <a:gd name="T22" fmla="*/ 124 w 585"/>
                  <a:gd name="T23" fmla="*/ 265 h 534"/>
                  <a:gd name="T24" fmla="*/ 153 w 585"/>
                  <a:gd name="T25" fmla="*/ 228 h 534"/>
                  <a:gd name="T26" fmla="*/ 209 w 585"/>
                  <a:gd name="T27" fmla="*/ 237 h 534"/>
                  <a:gd name="T28" fmla="*/ 188 w 585"/>
                  <a:gd name="T29" fmla="*/ 306 h 534"/>
                  <a:gd name="T30" fmla="*/ 192 w 585"/>
                  <a:gd name="T31" fmla="*/ 395 h 534"/>
                  <a:gd name="T32" fmla="*/ 515 w 585"/>
                  <a:gd name="T33" fmla="*/ 483 h 534"/>
                  <a:gd name="T34" fmla="*/ 454 w 585"/>
                  <a:gd name="T35" fmla="*/ 427 h 534"/>
                  <a:gd name="T36" fmla="*/ 425 w 585"/>
                  <a:gd name="T37" fmla="*/ 345 h 534"/>
                  <a:gd name="T38" fmla="*/ 396 w 585"/>
                  <a:gd name="T39" fmla="*/ 270 h 534"/>
                  <a:gd name="T40" fmla="*/ 460 w 585"/>
                  <a:gd name="T41" fmla="*/ 256 h 534"/>
                  <a:gd name="T42" fmla="*/ 407 w 585"/>
                  <a:gd name="T43" fmla="*/ 223 h 534"/>
                  <a:gd name="T44" fmla="*/ 439 w 585"/>
                  <a:gd name="T45" fmla="*/ 226 h 534"/>
                  <a:gd name="T46" fmla="*/ 438 w 585"/>
                  <a:gd name="T47" fmla="*/ 209 h 534"/>
                  <a:gd name="T48" fmla="*/ 376 w 585"/>
                  <a:gd name="T49" fmla="*/ 211 h 534"/>
                  <a:gd name="T50" fmla="*/ 357 w 585"/>
                  <a:gd name="T51" fmla="*/ 343 h 534"/>
                  <a:gd name="T52" fmla="*/ 347 w 585"/>
                  <a:gd name="T53" fmla="*/ 230 h 534"/>
                  <a:gd name="T54" fmla="*/ 331 w 585"/>
                  <a:gd name="T55" fmla="*/ 182 h 534"/>
                  <a:gd name="T56" fmla="*/ 347 w 585"/>
                  <a:gd name="T57" fmla="*/ 136 h 534"/>
                  <a:gd name="T58" fmla="*/ 339 w 585"/>
                  <a:gd name="T59" fmla="*/ 99 h 534"/>
                  <a:gd name="T60" fmla="*/ 331 w 585"/>
                  <a:gd name="T61" fmla="*/ 62 h 534"/>
                  <a:gd name="T62" fmla="*/ 369 w 585"/>
                  <a:gd name="T63" fmla="*/ 103 h 534"/>
                  <a:gd name="T64" fmla="*/ 415 w 585"/>
                  <a:gd name="T65" fmla="*/ 47 h 534"/>
                  <a:gd name="T66" fmla="*/ 409 w 585"/>
                  <a:gd name="T67" fmla="*/ 95 h 534"/>
                  <a:gd name="T68" fmla="*/ 401 w 585"/>
                  <a:gd name="T69" fmla="*/ 130 h 534"/>
                  <a:gd name="T70" fmla="*/ 401 w 585"/>
                  <a:gd name="T71" fmla="*/ 181 h 534"/>
                  <a:gd name="T72" fmla="*/ 558 w 585"/>
                  <a:gd name="T73" fmla="*/ 181 h 534"/>
                  <a:gd name="T74" fmla="*/ 554 w 585"/>
                  <a:gd name="T75" fmla="*/ 76 h 534"/>
                  <a:gd name="T76" fmla="*/ 249 w 585"/>
                  <a:gd name="T77" fmla="*/ 69 h 534"/>
                  <a:gd name="T78" fmla="*/ 293 w 585"/>
                  <a:gd name="T79" fmla="*/ 93 h 534"/>
                  <a:gd name="T80" fmla="*/ 171 w 585"/>
                  <a:gd name="T81" fmla="*/ 195 h 534"/>
                  <a:gd name="T82" fmla="*/ 69 w 585"/>
                  <a:gd name="T83" fmla="*/ 98 h 534"/>
                  <a:gd name="T84" fmla="*/ 191 w 585"/>
                  <a:gd name="T85" fmla="*/ 106 h 534"/>
                  <a:gd name="T86" fmla="*/ 220 w 585"/>
                  <a:gd name="T87" fmla="*/ 105 h 534"/>
                  <a:gd name="T88" fmla="*/ 302 w 585"/>
                  <a:gd name="T89" fmla="*/ 121 h 534"/>
                  <a:gd name="T90" fmla="*/ 276 w 585"/>
                  <a:gd name="T91" fmla="*/ 256 h 534"/>
                  <a:gd name="T92" fmla="*/ 260 w 585"/>
                  <a:gd name="T93" fmla="*/ 137 h 534"/>
                  <a:gd name="T94" fmla="*/ 171 w 585"/>
                  <a:gd name="T95" fmla="*/ 195 h 534"/>
                  <a:gd name="T96" fmla="*/ 223 w 585"/>
                  <a:gd name="T97" fmla="*/ 225 h 534"/>
                  <a:gd name="T98" fmla="*/ 247 w 585"/>
                  <a:gd name="T99" fmla="*/ 158 h 534"/>
                  <a:gd name="T100" fmla="*/ 326 w 585"/>
                  <a:gd name="T101" fmla="*/ 292 h 534"/>
                  <a:gd name="T102" fmla="*/ 215 w 585"/>
                  <a:gd name="T103" fmla="*/ 321 h 534"/>
                  <a:gd name="T104" fmla="*/ 309 w 585"/>
                  <a:gd name="T105" fmla="*/ 277 h 534"/>
                  <a:gd name="T106" fmla="*/ 318 w 585"/>
                  <a:gd name="T107" fmla="*/ 133 h 534"/>
                  <a:gd name="T108" fmla="*/ 313 w 585"/>
                  <a:gd name="T109" fmla="*/ 213 h 534"/>
                  <a:gd name="T110" fmla="*/ 299 w 585"/>
                  <a:gd name="T111" fmla="*/ 144 h 534"/>
                  <a:gd name="T112" fmla="*/ 507 w 585"/>
                  <a:gd name="T113" fmla="*/ 179 h 534"/>
                  <a:gd name="T114" fmla="*/ 461 w 585"/>
                  <a:gd name="T115" fmla="*/ 16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1" name="Freeform 237">
                <a:extLst>
                  <a:ext uri="{FF2B5EF4-FFF2-40B4-BE49-F238E27FC236}">
                    <a16:creationId xmlns:a16="http://schemas.microsoft.com/office/drawing/2014/main" id="{9527A731-69AB-B5B5-942F-FA1E1BD54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>
                  <a:gd name="T0" fmla="*/ 40 w 47"/>
                  <a:gd name="T1" fmla="*/ 15 h 56"/>
                  <a:gd name="T2" fmla="*/ 27 w 47"/>
                  <a:gd name="T3" fmla="*/ 56 h 56"/>
                  <a:gd name="T4" fmla="*/ 40 w 47"/>
                  <a:gd name="T5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2" name="Freeform 238">
                <a:extLst>
                  <a:ext uri="{FF2B5EF4-FFF2-40B4-BE49-F238E27FC236}">
                    <a16:creationId xmlns:a16="http://schemas.microsoft.com/office/drawing/2014/main" id="{75A53488-5470-6260-8900-220F423FED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>
                  <a:gd name="T0" fmla="*/ 19 w 41"/>
                  <a:gd name="T1" fmla="*/ 27 h 75"/>
                  <a:gd name="T2" fmla="*/ 12 w 41"/>
                  <a:gd name="T3" fmla="*/ 69 h 75"/>
                  <a:gd name="T4" fmla="*/ 40 w 41"/>
                  <a:gd name="T5" fmla="*/ 45 h 75"/>
                  <a:gd name="T6" fmla="*/ 37 w 41"/>
                  <a:gd name="T7" fmla="*/ 24 h 75"/>
                  <a:gd name="T8" fmla="*/ 19 w 41"/>
                  <a:gd name="T9" fmla="*/ 2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3" name="Freeform 239">
                <a:extLst>
                  <a:ext uri="{FF2B5EF4-FFF2-40B4-BE49-F238E27FC236}">
                    <a16:creationId xmlns:a16="http://schemas.microsoft.com/office/drawing/2014/main" id="{4762E96D-3A32-38FE-13C6-0E06F65079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>
                  <a:gd name="T0" fmla="*/ 112 w 135"/>
                  <a:gd name="T1" fmla="*/ 4 h 63"/>
                  <a:gd name="T2" fmla="*/ 24 w 135"/>
                  <a:gd name="T3" fmla="*/ 4 h 63"/>
                  <a:gd name="T4" fmla="*/ 2 w 135"/>
                  <a:gd name="T5" fmla="*/ 25 h 63"/>
                  <a:gd name="T6" fmla="*/ 60 w 135"/>
                  <a:gd name="T7" fmla="*/ 58 h 63"/>
                  <a:gd name="T8" fmla="*/ 96 w 135"/>
                  <a:gd name="T9" fmla="*/ 54 h 63"/>
                  <a:gd name="T10" fmla="*/ 113 w 135"/>
                  <a:gd name="T11" fmla="*/ 53 h 63"/>
                  <a:gd name="T12" fmla="*/ 112 w 135"/>
                  <a:gd name="T13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4" name="Freeform 240">
                <a:extLst>
                  <a:ext uri="{FF2B5EF4-FFF2-40B4-BE49-F238E27FC236}">
                    <a16:creationId xmlns:a16="http://schemas.microsoft.com/office/drawing/2014/main" id="{850B3C38-779A-DC99-2730-11E478BC8D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>
                  <a:gd name="T0" fmla="*/ 67 w 97"/>
                  <a:gd name="T1" fmla="*/ 5 h 102"/>
                  <a:gd name="T2" fmla="*/ 31 w 97"/>
                  <a:gd name="T3" fmla="*/ 5 h 102"/>
                  <a:gd name="T4" fmla="*/ 12 w 97"/>
                  <a:gd name="T5" fmla="*/ 57 h 102"/>
                  <a:gd name="T6" fmla="*/ 79 w 97"/>
                  <a:gd name="T7" fmla="*/ 62 h 102"/>
                  <a:gd name="T8" fmla="*/ 67 w 97"/>
                  <a:gd name="T9" fmla="*/ 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5" name="Freeform 241">
                <a:extLst>
                  <a:ext uri="{FF2B5EF4-FFF2-40B4-BE49-F238E27FC236}">
                    <a16:creationId xmlns:a16="http://schemas.microsoft.com/office/drawing/2014/main" id="{CF7DACC7-3657-529A-72C6-BA99BF94E4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>
                  <a:gd name="T0" fmla="*/ 15 w 99"/>
                  <a:gd name="T1" fmla="*/ 0 h 19"/>
                  <a:gd name="T2" fmla="*/ 40 w 99"/>
                  <a:gd name="T3" fmla="*/ 15 h 19"/>
                  <a:gd name="T4" fmla="*/ 15 w 99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6" name="Freeform 242">
                <a:extLst>
                  <a:ext uri="{FF2B5EF4-FFF2-40B4-BE49-F238E27FC236}">
                    <a16:creationId xmlns:a16="http://schemas.microsoft.com/office/drawing/2014/main" id="{F1419A5A-2737-B51D-A646-AD064B25F9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>
                  <a:gd name="T0" fmla="*/ 21 w 76"/>
                  <a:gd name="T1" fmla="*/ 37 h 47"/>
                  <a:gd name="T2" fmla="*/ 70 w 76"/>
                  <a:gd name="T3" fmla="*/ 17 h 47"/>
                  <a:gd name="T4" fmla="*/ 48 w 76"/>
                  <a:gd name="T5" fmla="*/ 3 h 47"/>
                  <a:gd name="T6" fmla="*/ 19 w 76"/>
                  <a:gd name="T7" fmla="*/ 32 h 47"/>
                  <a:gd name="T8" fmla="*/ 21 w 76"/>
                  <a:gd name="T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7" name="Freeform 243">
                <a:extLst>
                  <a:ext uri="{FF2B5EF4-FFF2-40B4-BE49-F238E27FC236}">
                    <a16:creationId xmlns:a16="http://schemas.microsoft.com/office/drawing/2014/main" id="{67A2F4B4-2794-5158-A89D-08986CD64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>
                  <a:gd name="T0" fmla="*/ 72 w 82"/>
                  <a:gd name="T1" fmla="*/ 6 h 37"/>
                  <a:gd name="T2" fmla="*/ 24 w 82"/>
                  <a:gd name="T3" fmla="*/ 17 h 37"/>
                  <a:gd name="T4" fmla="*/ 17 w 82"/>
                  <a:gd name="T5" fmla="*/ 26 h 37"/>
                  <a:gd name="T6" fmla="*/ 76 w 82"/>
                  <a:gd name="T7" fmla="*/ 23 h 37"/>
                  <a:gd name="T8" fmla="*/ 82 w 82"/>
                  <a:gd name="T9" fmla="*/ 20 h 37"/>
                  <a:gd name="T10" fmla="*/ 82 w 82"/>
                  <a:gd name="T11" fmla="*/ 0 h 37"/>
                  <a:gd name="T12" fmla="*/ 72 w 82"/>
                  <a:gd name="T13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8" name="Freeform 244">
                <a:extLst>
                  <a:ext uri="{FF2B5EF4-FFF2-40B4-BE49-F238E27FC236}">
                    <a16:creationId xmlns:a16="http://schemas.microsoft.com/office/drawing/2014/main" id="{96AA74BF-3A04-7E78-A68A-83F67ACEB1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>
                  <a:gd name="T0" fmla="*/ 21 w 138"/>
                  <a:gd name="T1" fmla="*/ 1 h 33"/>
                  <a:gd name="T2" fmla="*/ 8 w 138"/>
                  <a:gd name="T3" fmla="*/ 14 h 33"/>
                  <a:gd name="T4" fmla="*/ 57 w 138"/>
                  <a:gd name="T5" fmla="*/ 22 h 33"/>
                  <a:gd name="T6" fmla="*/ 117 w 138"/>
                  <a:gd name="T7" fmla="*/ 23 h 33"/>
                  <a:gd name="T8" fmla="*/ 114 w 138"/>
                  <a:gd name="T9" fmla="*/ 8 h 33"/>
                  <a:gd name="T10" fmla="*/ 82 w 138"/>
                  <a:gd name="T11" fmla="*/ 3 h 33"/>
                  <a:gd name="T12" fmla="*/ 21 w 138"/>
                  <a:gd name="T1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9" name="Freeform 245">
                <a:extLst>
                  <a:ext uri="{FF2B5EF4-FFF2-40B4-BE49-F238E27FC236}">
                    <a16:creationId xmlns:a16="http://schemas.microsoft.com/office/drawing/2014/main" id="{76AA634A-9C2A-1961-7953-AEAD3262CD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>
                  <a:gd name="T0" fmla="*/ 98 w 112"/>
                  <a:gd name="T1" fmla="*/ 19 h 29"/>
                  <a:gd name="T2" fmla="*/ 103 w 112"/>
                  <a:gd name="T3" fmla="*/ 4 h 29"/>
                  <a:gd name="T4" fmla="*/ 74 w 112"/>
                  <a:gd name="T5" fmla="*/ 10 h 29"/>
                  <a:gd name="T6" fmla="*/ 36 w 112"/>
                  <a:gd name="T7" fmla="*/ 6 h 29"/>
                  <a:gd name="T8" fmla="*/ 2 w 112"/>
                  <a:gd name="T9" fmla="*/ 4 h 29"/>
                  <a:gd name="T10" fmla="*/ 98 w 112"/>
                  <a:gd name="T11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0" name="Freeform 246">
                <a:extLst>
                  <a:ext uri="{FF2B5EF4-FFF2-40B4-BE49-F238E27FC236}">
                    <a16:creationId xmlns:a16="http://schemas.microsoft.com/office/drawing/2014/main" id="{58F036E3-008B-040E-85E3-61FC372F5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>
                  <a:gd name="T0" fmla="*/ 3 w 115"/>
                  <a:gd name="T1" fmla="*/ 53 h 95"/>
                  <a:gd name="T2" fmla="*/ 26 w 115"/>
                  <a:gd name="T3" fmla="*/ 54 h 95"/>
                  <a:gd name="T4" fmla="*/ 50 w 115"/>
                  <a:gd name="T5" fmla="*/ 77 h 95"/>
                  <a:gd name="T6" fmla="*/ 59 w 115"/>
                  <a:gd name="T7" fmla="*/ 84 h 95"/>
                  <a:gd name="T8" fmla="*/ 81 w 115"/>
                  <a:gd name="T9" fmla="*/ 52 h 95"/>
                  <a:gd name="T10" fmla="*/ 111 w 115"/>
                  <a:gd name="T11" fmla="*/ 52 h 95"/>
                  <a:gd name="T12" fmla="*/ 79 w 115"/>
                  <a:gd name="T13" fmla="*/ 27 h 95"/>
                  <a:gd name="T14" fmla="*/ 37 w 115"/>
                  <a:gd name="T15" fmla="*/ 16 h 95"/>
                  <a:gd name="T16" fmla="*/ 12 w 115"/>
                  <a:gd name="T17" fmla="*/ 41 h 95"/>
                  <a:gd name="T18" fmla="*/ 3 w 115"/>
                  <a:gd name="T19" fmla="*/ 5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1" name="Freeform 247">
                <a:extLst>
                  <a:ext uri="{FF2B5EF4-FFF2-40B4-BE49-F238E27FC236}">
                    <a16:creationId xmlns:a16="http://schemas.microsoft.com/office/drawing/2014/main" id="{B70CC7B0-E3D4-9066-721C-6EB097C02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>
                  <a:gd name="T0" fmla="*/ 51 w 65"/>
                  <a:gd name="T1" fmla="*/ 40 h 169"/>
                  <a:gd name="T2" fmla="*/ 22 w 65"/>
                  <a:gd name="T3" fmla="*/ 49 h 169"/>
                  <a:gd name="T4" fmla="*/ 22 w 65"/>
                  <a:gd name="T5" fmla="*/ 59 h 169"/>
                  <a:gd name="T6" fmla="*/ 50 w 65"/>
                  <a:gd name="T7" fmla="*/ 90 h 169"/>
                  <a:gd name="T8" fmla="*/ 34 w 65"/>
                  <a:gd name="T9" fmla="*/ 118 h 169"/>
                  <a:gd name="T10" fmla="*/ 0 w 65"/>
                  <a:gd name="T11" fmla="*/ 148 h 169"/>
                  <a:gd name="T12" fmla="*/ 17 w 65"/>
                  <a:gd name="T13" fmla="*/ 155 h 169"/>
                  <a:gd name="T14" fmla="*/ 47 w 65"/>
                  <a:gd name="T15" fmla="*/ 166 h 169"/>
                  <a:gd name="T16" fmla="*/ 63 w 65"/>
                  <a:gd name="T17" fmla="*/ 162 h 169"/>
                  <a:gd name="T18" fmla="*/ 65 w 65"/>
                  <a:gd name="T19" fmla="*/ 0 h 169"/>
                  <a:gd name="T20" fmla="*/ 51 w 65"/>
                  <a:gd name="T21" fmla="*/ 4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5352" name="Rectangle 248">
            <a:extLst>
              <a:ext uri="{FF2B5EF4-FFF2-40B4-BE49-F238E27FC236}">
                <a16:creationId xmlns:a16="http://schemas.microsoft.com/office/drawing/2014/main" id="{A7126845-F6C0-B33E-74AF-B91F6D23C24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98450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5353" name="Rectangle 249">
            <a:extLst>
              <a:ext uri="{FF2B5EF4-FFF2-40B4-BE49-F238E27FC236}">
                <a16:creationId xmlns:a16="http://schemas.microsoft.com/office/drawing/2014/main" id="{5D01383A-E0B6-E201-3AD8-94371B752D8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5354" name="Rectangle 250">
            <a:extLst>
              <a:ext uri="{FF2B5EF4-FFF2-40B4-BE49-F238E27FC236}">
                <a16:creationId xmlns:a16="http://schemas.microsoft.com/office/drawing/2014/main" id="{0F11DA70-20D0-9F68-1761-2CB1D03BAB9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845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zh-CN"/>
          </a:p>
        </p:txBody>
      </p:sp>
      <p:sp>
        <p:nvSpPr>
          <p:cNvPr id="175355" name="Rectangle 251">
            <a:extLst>
              <a:ext uri="{FF2B5EF4-FFF2-40B4-BE49-F238E27FC236}">
                <a16:creationId xmlns:a16="http://schemas.microsoft.com/office/drawing/2014/main" id="{5914AAFC-8FBA-6C2E-44E8-9D2096B3CB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1025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75356" name="Rectangle 252">
            <a:extLst>
              <a:ext uri="{FF2B5EF4-FFF2-40B4-BE49-F238E27FC236}">
                <a16:creationId xmlns:a16="http://schemas.microsoft.com/office/drawing/2014/main" id="{DEA245AE-96AD-54A5-408B-0B439AC5F3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00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B6F11F1-7BCD-4B07-B0CD-31EFAF675A4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</p:sldLayoutIdLst>
  <p:transition>
    <p:blinds dir="vert"/>
  </p:transition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nsxuxx@mail.sysu.edu.c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80BE0ED-1B11-8FBB-224E-7B4C667673E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533400"/>
            <a:ext cx="8540750" cy="1816100"/>
          </a:xfrm>
        </p:spPr>
        <p:txBody>
          <a:bodyPr/>
          <a:lstStyle/>
          <a:p>
            <a:r>
              <a:rPr lang="zh-CN" altLang="en-US" sz="4800" b="1">
                <a:solidFill>
                  <a:srgbClr val="CC0000"/>
                </a:solidFill>
              </a:rPr>
              <a:t>中级宏观经济学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D905099-A6C2-69E6-7348-84ACC59D8121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438400" y="3979863"/>
            <a:ext cx="5373688" cy="17351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徐现祥</a:t>
            </a:r>
          </a:p>
          <a:p>
            <a:pPr>
              <a:lnSpc>
                <a:spcPct val="80000"/>
              </a:lnSpc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  <a:hlinkClick r:id="rId2"/>
              </a:rPr>
              <a:t>Lnsxuxx@mail.sysu.edu.cn</a:t>
            </a: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84112173(O)</a:t>
            </a:r>
          </a:p>
          <a:p>
            <a:pPr>
              <a:lnSpc>
                <a:spcPct val="80000"/>
              </a:lnSpc>
            </a:pP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>
            <a:extLst>
              <a:ext uri="{FF2B5EF4-FFF2-40B4-BE49-F238E27FC236}">
                <a16:creationId xmlns:a16="http://schemas.microsoft.com/office/drawing/2014/main" id="{17CE48E1-F97D-8917-9A1A-730B8D0EF2F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课程简介</a:t>
            </a:r>
          </a:p>
        </p:txBody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BD5256EE-9F56-7B74-CC64-DF5252B4494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52450" y="1657350"/>
            <a:ext cx="7905750" cy="47323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3600" b="1"/>
              <a:t>序论：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宏观经济现象、国民经济核算和总供给总需求模型</a:t>
            </a:r>
          </a:p>
          <a:p>
            <a:pPr>
              <a:lnSpc>
                <a:spcPct val="90000"/>
              </a:lnSpc>
            </a:pPr>
            <a:r>
              <a:rPr lang="zh-CN" altLang="en-US" sz="3600" b="1"/>
              <a:t>总供给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经济增长、经济波动和总供给曲线的推导</a:t>
            </a:r>
          </a:p>
          <a:p>
            <a:pPr>
              <a:lnSpc>
                <a:spcPct val="90000"/>
              </a:lnSpc>
            </a:pPr>
            <a:r>
              <a:rPr lang="zh-CN" altLang="en-US" sz="3600" b="1"/>
              <a:t>总需求 </a:t>
            </a:r>
          </a:p>
          <a:p>
            <a:pPr lvl="1">
              <a:lnSpc>
                <a:spcPct val="90000"/>
              </a:lnSpc>
            </a:pPr>
            <a:r>
              <a:rPr lang="en-US" altLang="zh-CN" b="1"/>
              <a:t>IS-LM</a:t>
            </a:r>
            <a:r>
              <a:rPr lang="zh-CN" altLang="en-US" b="1"/>
              <a:t>模型、微观基础和总需求曲线的推导</a:t>
            </a:r>
          </a:p>
          <a:p>
            <a:pPr>
              <a:lnSpc>
                <a:spcPct val="90000"/>
              </a:lnSpc>
            </a:pPr>
            <a:r>
              <a:rPr lang="zh-CN" altLang="en-US" sz="3600" b="1"/>
              <a:t>宏观经济管理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目标、政策和绩效</a:t>
            </a:r>
          </a:p>
        </p:txBody>
      </p:sp>
      <p:sp>
        <p:nvSpPr>
          <p:cNvPr id="332804" name="Oval 4">
            <a:extLst>
              <a:ext uri="{FF2B5EF4-FFF2-40B4-BE49-F238E27FC236}">
                <a16:creationId xmlns:a16="http://schemas.microsoft.com/office/drawing/2014/main" id="{73F6AF67-F09E-68FA-E03B-AF760C640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644900"/>
            <a:ext cx="2232025" cy="576263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zh-CN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2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32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32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32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32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32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32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32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0" fill="hold"/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3" grpId="0" build="p" autoUpdateAnimBg="0"/>
      <p:bldP spid="332804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8BF1E88E-71A3-3F79-7F35-DA08D54FE22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主要内容</a:t>
            </a:r>
          </a:p>
        </p:txBody>
      </p:sp>
      <p:sp>
        <p:nvSpPr>
          <p:cNvPr id="221189" name="Rectangle 5">
            <a:extLst>
              <a:ext uri="{FF2B5EF4-FFF2-40B4-BE49-F238E27FC236}">
                <a16:creationId xmlns:a16="http://schemas.microsoft.com/office/drawing/2014/main" id="{EE227109-7475-2503-36F4-36590B238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1190" name="Rectangle 6">
            <a:extLst>
              <a:ext uri="{FF2B5EF4-FFF2-40B4-BE49-F238E27FC236}">
                <a16:creationId xmlns:a16="http://schemas.microsoft.com/office/drawing/2014/main" id="{6A391F61-6F62-A39B-DBF7-5A8B95446E7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0" y="2133600"/>
            <a:ext cx="54864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索罗增长模型简要回顾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索罗模型发展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内生增长理论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增长陷阱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趋同理论的重新考察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最优经济增长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21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autoUpdateAnimBg="0"/>
      <p:bldP spid="22119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C56C5E54-7AC0-0E9E-0E02-10DA22C76B4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1.1 </a:t>
            </a:r>
            <a:r>
              <a:rPr lang="zh-CN" altLang="en-US" b="1">
                <a:solidFill>
                  <a:srgbClr val="CC0000"/>
                </a:solidFill>
              </a:rPr>
              <a:t>索罗模型的简要回顾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69CA939C-60DB-0A32-C146-405B1093E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5702" name="Rectangle 6">
            <a:extLst>
              <a:ext uri="{FF2B5EF4-FFF2-40B4-BE49-F238E27FC236}">
                <a16:creationId xmlns:a16="http://schemas.microsoft.com/office/drawing/2014/main" id="{304CC263-21E4-E529-47EF-0DF4951362F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447800"/>
            <a:ext cx="70104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增长理论研究的核心问题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增长的引擎是什么？为什么有些经济体穷而有些经济体富？落后经济体能否赶超先进经济体？</a:t>
            </a:r>
          </a:p>
        </p:txBody>
      </p:sp>
      <p:sp>
        <p:nvSpPr>
          <p:cNvPr id="285703" name="Rectangle 7">
            <a:extLst>
              <a:ext uri="{FF2B5EF4-FFF2-40B4-BE49-F238E27FC236}">
                <a16:creationId xmlns:a16="http://schemas.microsoft.com/office/drawing/2014/main" id="{786EB218-B0C6-13A7-112B-9251D0C5D28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2819400"/>
            <a:ext cx="7162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索罗模型的基本假定</a:t>
            </a:r>
          </a:p>
        </p:txBody>
      </p:sp>
      <p:sp>
        <p:nvSpPr>
          <p:cNvPr id="285704" name="Rectangle 8">
            <a:extLst>
              <a:ext uri="{FF2B5EF4-FFF2-40B4-BE49-F238E27FC236}">
                <a16:creationId xmlns:a16="http://schemas.microsoft.com/office/drawing/2014/main" id="{CE16A3D7-B5A3-4D3D-0ABE-F53ED4B3F8F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143000" y="3581400"/>
            <a:ext cx="7315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索罗模型的基本结论</a:t>
            </a:r>
          </a:p>
        </p:txBody>
      </p:sp>
      <p:sp>
        <p:nvSpPr>
          <p:cNvPr id="285706" name="Rectangle 10">
            <a:extLst>
              <a:ext uri="{FF2B5EF4-FFF2-40B4-BE49-F238E27FC236}">
                <a16:creationId xmlns:a16="http://schemas.microsoft.com/office/drawing/2014/main" id="{3B83EC2C-CCD1-F64F-AC59-389C6516B93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14400" y="4267200"/>
            <a:ext cx="82296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稳定状态的增长速度等于技术进步率（经济增长的引擎是技术进步）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储蓄率等变动对收入水平有影响，对增长速度没有影响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落后经济体能够赶超富裕经济体。</a:t>
            </a:r>
          </a:p>
        </p:txBody>
      </p:sp>
      <p:sp>
        <p:nvSpPr>
          <p:cNvPr id="285708" name="Rectangle 12">
            <a:extLst>
              <a:ext uri="{FF2B5EF4-FFF2-40B4-BE49-F238E27FC236}">
                <a16:creationId xmlns:a16="http://schemas.microsoft.com/office/drawing/2014/main" id="{F969461B-4599-A79E-581A-87D077D84B6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90600" y="5715000"/>
            <a:ext cx="7315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索罗模型存在的问题</a:t>
            </a:r>
          </a:p>
        </p:txBody>
      </p:sp>
      <p:sp>
        <p:nvSpPr>
          <p:cNvPr id="285709" name="Line 13">
            <a:extLst>
              <a:ext uri="{FF2B5EF4-FFF2-40B4-BE49-F238E27FC236}">
                <a16:creationId xmlns:a16="http://schemas.microsoft.com/office/drawing/2014/main" id="{7AFC1B36-A1EB-BCC9-1ECD-7940AA943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648200"/>
            <a:ext cx="40386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5712" name="Line 16">
            <a:extLst>
              <a:ext uri="{FF2B5EF4-FFF2-40B4-BE49-F238E27FC236}">
                <a16:creationId xmlns:a16="http://schemas.microsoft.com/office/drawing/2014/main" id="{7DCE3601-8D46-D506-1891-945AA9B96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5334000"/>
            <a:ext cx="23622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857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85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2857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570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8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85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8" grpId="0" autoUpdateAnimBg="0"/>
      <p:bldP spid="285702" grpId="0" autoUpdateAnimBg="0"/>
      <p:bldP spid="285703" grpId="0" autoUpdateAnimBg="0"/>
      <p:bldP spid="285704" grpId="0" autoUpdateAnimBg="0"/>
      <p:bldP spid="285706" grpId="0" autoUpdateAnimBg="0"/>
      <p:bldP spid="28570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>
            <a:extLst>
              <a:ext uri="{FF2B5EF4-FFF2-40B4-BE49-F238E27FC236}">
                <a16:creationId xmlns:a16="http://schemas.microsoft.com/office/drawing/2014/main" id="{291324FA-67A8-2087-6BD5-7108A90FF82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2.1 </a:t>
            </a:r>
            <a:r>
              <a:rPr lang="zh-CN" altLang="en-US" b="1">
                <a:solidFill>
                  <a:srgbClr val="CC0000"/>
                </a:solidFill>
              </a:rPr>
              <a:t>内生增长理论</a:t>
            </a:r>
          </a:p>
        </p:txBody>
      </p:sp>
      <p:sp>
        <p:nvSpPr>
          <p:cNvPr id="286723" name="Rectangle 3">
            <a:extLst>
              <a:ext uri="{FF2B5EF4-FFF2-40B4-BE49-F238E27FC236}">
                <a16:creationId xmlns:a16="http://schemas.microsoft.com/office/drawing/2014/main" id="{29F2F3EF-54B7-8EE7-3EDA-B0DE85B25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724" name="Rectangle 4">
            <a:extLst>
              <a:ext uri="{FF2B5EF4-FFF2-40B4-BE49-F238E27FC236}">
                <a16:creationId xmlns:a16="http://schemas.microsoft.com/office/drawing/2014/main" id="{4D62B5CA-1B13-9EF3-477F-68D2E3829D3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447800"/>
            <a:ext cx="7010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无技术进步的索罗模型为什么不存在经济增长？</a:t>
            </a:r>
            <a:endParaRPr lang="zh-CN" altLang="en-US" sz="2400" b="1">
              <a:solidFill>
                <a:srgbClr val="FF0066"/>
              </a:solidFill>
            </a:endParaRPr>
          </a:p>
        </p:txBody>
      </p:sp>
      <p:sp>
        <p:nvSpPr>
          <p:cNvPr id="286725" name="Rectangle 5">
            <a:extLst>
              <a:ext uri="{FF2B5EF4-FFF2-40B4-BE49-F238E27FC236}">
                <a16:creationId xmlns:a16="http://schemas.microsoft.com/office/drawing/2014/main" id="{40F8B22C-6DA2-8D73-8DC1-31CF7BBE211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524000" y="3352800"/>
            <a:ext cx="2743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>
                <a:solidFill>
                  <a:schemeClr val="tx2"/>
                </a:solidFill>
              </a:rPr>
              <a:t>资本边际产出递减</a:t>
            </a:r>
          </a:p>
        </p:txBody>
      </p:sp>
      <p:grpSp>
        <p:nvGrpSpPr>
          <p:cNvPr id="286756" name="Group 36">
            <a:extLst>
              <a:ext uri="{FF2B5EF4-FFF2-40B4-BE49-F238E27FC236}">
                <a16:creationId xmlns:a16="http://schemas.microsoft.com/office/drawing/2014/main" id="{68088413-6142-8598-1F68-5853FD87A798}"/>
              </a:ext>
            </a:extLst>
          </p:cNvPr>
          <p:cNvGrpSpPr>
            <a:grpSpLocks/>
          </p:cNvGrpSpPr>
          <p:nvPr/>
        </p:nvGrpSpPr>
        <p:grpSpPr bwMode="auto">
          <a:xfrm>
            <a:off x="4710113" y="2133600"/>
            <a:ext cx="3748087" cy="3200400"/>
            <a:chOff x="2967" y="1200"/>
            <a:chExt cx="2361" cy="2016"/>
          </a:xfrm>
        </p:grpSpPr>
        <p:grpSp>
          <p:nvGrpSpPr>
            <p:cNvPr id="286732" name="Group 12">
              <a:extLst>
                <a:ext uri="{FF2B5EF4-FFF2-40B4-BE49-F238E27FC236}">
                  <a16:creationId xmlns:a16="http://schemas.microsoft.com/office/drawing/2014/main" id="{C4253619-9262-AA1F-CDE0-DAE2B48F0F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8" y="1200"/>
              <a:ext cx="2256" cy="1757"/>
              <a:chOff x="733" y="2539"/>
              <a:chExt cx="2095" cy="1666"/>
            </a:xfrm>
          </p:grpSpPr>
          <p:sp>
            <p:nvSpPr>
              <p:cNvPr id="286733" name="Text Box 13">
                <a:extLst>
                  <a:ext uri="{FF2B5EF4-FFF2-40B4-BE49-F238E27FC236}">
                    <a16:creationId xmlns:a16="http://schemas.microsoft.com/office/drawing/2014/main" id="{3AE39AB8-A154-AAD6-523D-133F2A2E09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6" y="2539"/>
                <a:ext cx="672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（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n+d</a:t>
                </a:r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）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286734" name="Freeform 14">
                <a:extLst>
                  <a:ext uri="{FF2B5EF4-FFF2-40B4-BE49-F238E27FC236}">
                    <a16:creationId xmlns:a16="http://schemas.microsoft.com/office/drawing/2014/main" id="{FE9BFE51-F9AB-CCF4-5E0B-3A45862D7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" y="2720"/>
                <a:ext cx="1781" cy="1485"/>
              </a:xfrm>
              <a:custGeom>
                <a:avLst/>
                <a:gdLst>
                  <a:gd name="T0" fmla="*/ 0 w 2385"/>
                  <a:gd name="T1" fmla="*/ 2325 h 2325"/>
                  <a:gd name="T2" fmla="*/ 2385 w 2385"/>
                  <a:gd name="T3" fmla="*/ 0 h 2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85" h="2325">
                    <a:moveTo>
                      <a:pt x="0" y="2325"/>
                    </a:moveTo>
                    <a:lnTo>
                      <a:pt x="2385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286736" name="Text Box 16">
              <a:extLst>
                <a:ext uri="{FF2B5EF4-FFF2-40B4-BE49-F238E27FC236}">
                  <a16:creationId xmlns:a16="http://schemas.microsoft.com/office/drawing/2014/main" id="{84A0C83E-37E7-0649-484C-A70CA97C0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" y="2976"/>
              <a:ext cx="29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k*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737" name="Line 17">
              <a:extLst>
                <a:ext uri="{FF2B5EF4-FFF2-40B4-BE49-F238E27FC236}">
                  <a16:creationId xmlns:a16="http://schemas.microsoft.com/office/drawing/2014/main" id="{C68D7A0D-4E66-28FF-2E21-FCAC0549F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4" y="1920"/>
              <a:ext cx="0" cy="10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286739" name="Text Box 19">
              <a:extLst>
                <a:ext uri="{FF2B5EF4-FFF2-40B4-BE49-F238E27FC236}">
                  <a16:creationId xmlns:a16="http://schemas.microsoft.com/office/drawing/2014/main" id="{704CB1C9-8F14-3106-A15E-02964F11D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2976"/>
              <a:ext cx="26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740" name="Freeform 20">
              <a:extLst>
                <a:ext uri="{FF2B5EF4-FFF2-40B4-BE49-F238E27FC236}">
                  <a16:creationId xmlns:a16="http://schemas.microsoft.com/office/drawing/2014/main" id="{AB47FC7E-5918-9F6B-9F0F-8091BB7FF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2258"/>
              <a:ext cx="0" cy="699"/>
            </a:xfrm>
            <a:custGeom>
              <a:avLst/>
              <a:gdLst>
                <a:gd name="T0" fmla="*/ 0 w 1"/>
                <a:gd name="T1" fmla="*/ 0 h 1095"/>
                <a:gd name="T2" fmla="*/ 0 w 1"/>
                <a:gd name="T3" fmla="*/ 1095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5">
                  <a:moveTo>
                    <a:pt x="0" y="0"/>
                  </a:moveTo>
                  <a:lnTo>
                    <a:pt x="0" y="109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grpSp>
          <p:nvGrpSpPr>
            <p:cNvPr id="286741" name="Group 21">
              <a:extLst>
                <a:ext uri="{FF2B5EF4-FFF2-40B4-BE49-F238E27FC236}">
                  <a16:creationId xmlns:a16="http://schemas.microsoft.com/office/drawing/2014/main" id="{79BF3129-4C94-49E9-820B-6F0015D371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7" y="1371"/>
              <a:ext cx="2043" cy="1596"/>
              <a:chOff x="722" y="2619"/>
              <a:chExt cx="2043" cy="1596"/>
            </a:xfrm>
          </p:grpSpPr>
          <p:sp>
            <p:nvSpPr>
              <p:cNvPr id="286742" name="Freeform 22">
                <a:extLst>
                  <a:ext uri="{FF2B5EF4-FFF2-40B4-BE49-F238E27FC236}">
                    <a16:creationId xmlns:a16="http://schemas.microsoft.com/office/drawing/2014/main" id="{69621ECB-F6A9-CD7E-34D2-52D43C57A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" y="2619"/>
                <a:ext cx="3" cy="1596"/>
              </a:xfrm>
              <a:custGeom>
                <a:avLst/>
                <a:gdLst>
                  <a:gd name="T0" fmla="*/ 0 w 5"/>
                  <a:gd name="T1" fmla="*/ 0 h 2499"/>
                  <a:gd name="T2" fmla="*/ 5 w 5"/>
                  <a:gd name="T3" fmla="*/ 2499 h 2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499">
                    <a:moveTo>
                      <a:pt x="0" y="0"/>
                    </a:moveTo>
                    <a:lnTo>
                      <a:pt x="5" y="2499"/>
                    </a:ln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  <p:sp>
            <p:nvSpPr>
              <p:cNvPr id="286743" name="Freeform 23">
                <a:extLst>
                  <a:ext uri="{FF2B5EF4-FFF2-40B4-BE49-F238E27FC236}">
                    <a16:creationId xmlns:a16="http://schemas.microsoft.com/office/drawing/2014/main" id="{3760A810-73AD-5635-D162-4049547FE06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51" y="4007"/>
                <a:ext cx="2014" cy="197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286744" name="Freeform 24">
              <a:extLst>
                <a:ext uri="{FF2B5EF4-FFF2-40B4-BE49-F238E27FC236}">
                  <a16:creationId xmlns:a16="http://schemas.microsoft.com/office/drawing/2014/main" id="{08D1FD6E-C291-2D77-07D6-9F16C41D541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87" y="2596"/>
              <a:ext cx="531" cy="100"/>
            </a:xfrm>
            <a:custGeom>
              <a:avLst/>
              <a:gdLst>
                <a:gd name="T0" fmla="*/ 0 w 2670"/>
                <a:gd name="T1" fmla="*/ 0 h 1"/>
                <a:gd name="T2" fmla="*/ 2670 w 267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70" h="1">
                  <a:moveTo>
                    <a:pt x="0" y="0"/>
                  </a:moveTo>
                  <a:lnTo>
                    <a:pt x="2670" y="0"/>
                  </a:lnTo>
                </a:path>
              </a:pathLst>
            </a:custGeom>
            <a:noFill/>
            <a:ln w="57150" cmpd="sng">
              <a:solidFill>
                <a:srgbClr val="24C03A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286745" name="Line 25">
              <a:extLst>
                <a:ext uri="{FF2B5EF4-FFF2-40B4-BE49-F238E27FC236}">
                  <a16:creationId xmlns:a16="http://schemas.microsoft.com/office/drawing/2014/main" id="{5EC6BF0A-1A53-C6FF-4726-24AB7CC442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697"/>
              <a:ext cx="383" cy="0"/>
            </a:xfrm>
            <a:prstGeom prst="line">
              <a:avLst/>
            </a:prstGeom>
            <a:noFill/>
            <a:ln w="57150">
              <a:solidFill>
                <a:srgbClr val="24C03A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286747" name="Text Box 27">
              <a:extLst>
                <a:ext uri="{FF2B5EF4-FFF2-40B4-BE49-F238E27FC236}">
                  <a16:creationId xmlns:a16="http://schemas.microsoft.com/office/drawing/2014/main" id="{61C03532-AA5D-0AC0-F541-C81B084C4B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4" y="2961"/>
              <a:ext cx="236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86748" name="Line 28">
              <a:extLst>
                <a:ext uri="{FF2B5EF4-FFF2-40B4-BE49-F238E27FC236}">
                  <a16:creationId xmlns:a16="http://schemas.microsoft.com/office/drawing/2014/main" id="{7FD9A24F-E93A-F47F-592A-7317F6DC21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" y="1513"/>
              <a:ext cx="0" cy="145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grpSp>
          <p:nvGrpSpPr>
            <p:cNvPr id="286749" name="Group 29">
              <a:extLst>
                <a:ext uri="{FF2B5EF4-FFF2-40B4-BE49-F238E27FC236}">
                  <a16:creationId xmlns:a16="http://schemas.microsoft.com/office/drawing/2014/main" id="{ADAAF1F1-6089-4B6D-DC43-3C927CB4FD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3" y="1671"/>
              <a:ext cx="2345" cy="1296"/>
              <a:chOff x="738" y="2919"/>
              <a:chExt cx="2345" cy="1296"/>
            </a:xfrm>
          </p:grpSpPr>
          <p:sp>
            <p:nvSpPr>
              <p:cNvPr id="286750" name="Text Box 30">
                <a:extLst>
                  <a:ext uri="{FF2B5EF4-FFF2-40B4-BE49-F238E27FC236}">
                    <a16:creationId xmlns:a16="http://schemas.microsoft.com/office/drawing/2014/main" id="{B9DCE842-5FE7-D721-C08E-587DC70049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5" y="2919"/>
                <a:ext cx="3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sy</a:t>
                </a:r>
              </a:p>
            </p:txBody>
          </p:sp>
          <p:sp>
            <p:nvSpPr>
              <p:cNvPr id="286751" name="Freeform 31">
                <a:extLst>
                  <a:ext uri="{FF2B5EF4-FFF2-40B4-BE49-F238E27FC236}">
                    <a16:creationId xmlns:a16="http://schemas.microsoft.com/office/drawing/2014/main" id="{25C9035B-9503-0AF3-A0B4-D65D0A515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" y="3054"/>
                <a:ext cx="2007" cy="1161"/>
              </a:xfrm>
              <a:custGeom>
                <a:avLst/>
                <a:gdLst>
                  <a:gd name="T0" fmla="*/ 0 w 2687"/>
                  <a:gd name="T1" fmla="*/ 1817 h 1817"/>
                  <a:gd name="T2" fmla="*/ 100 w 2687"/>
                  <a:gd name="T3" fmla="*/ 1426 h 1817"/>
                  <a:gd name="T4" fmla="*/ 153 w 2687"/>
                  <a:gd name="T5" fmla="*/ 1253 h 1817"/>
                  <a:gd name="T6" fmla="*/ 233 w 2687"/>
                  <a:gd name="T7" fmla="*/ 1093 h 1817"/>
                  <a:gd name="T8" fmla="*/ 367 w 2687"/>
                  <a:gd name="T9" fmla="*/ 893 h 1817"/>
                  <a:gd name="T10" fmla="*/ 567 w 2687"/>
                  <a:gd name="T11" fmla="*/ 706 h 1817"/>
                  <a:gd name="T12" fmla="*/ 727 w 2687"/>
                  <a:gd name="T13" fmla="*/ 586 h 1817"/>
                  <a:gd name="T14" fmla="*/ 900 w 2687"/>
                  <a:gd name="T15" fmla="*/ 466 h 1817"/>
                  <a:gd name="T16" fmla="*/ 1153 w 2687"/>
                  <a:gd name="T17" fmla="*/ 333 h 1817"/>
                  <a:gd name="T18" fmla="*/ 1380 w 2687"/>
                  <a:gd name="T19" fmla="*/ 226 h 1817"/>
                  <a:gd name="T20" fmla="*/ 1673 w 2687"/>
                  <a:gd name="T21" fmla="*/ 160 h 1817"/>
                  <a:gd name="T22" fmla="*/ 1887 w 2687"/>
                  <a:gd name="T23" fmla="*/ 106 h 1817"/>
                  <a:gd name="T24" fmla="*/ 2060 w 2687"/>
                  <a:gd name="T25" fmla="*/ 80 h 1817"/>
                  <a:gd name="T26" fmla="*/ 2687 w 2687"/>
                  <a:gd name="T27" fmla="*/ 0 h 1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87" h="1817">
                    <a:moveTo>
                      <a:pt x="0" y="1817"/>
                    </a:moveTo>
                    <a:lnTo>
                      <a:pt x="100" y="1426"/>
                    </a:lnTo>
                    <a:lnTo>
                      <a:pt x="153" y="1253"/>
                    </a:lnTo>
                    <a:lnTo>
                      <a:pt x="233" y="1093"/>
                    </a:lnTo>
                    <a:lnTo>
                      <a:pt x="367" y="893"/>
                    </a:lnTo>
                    <a:lnTo>
                      <a:pt x="567" y="706"/>
                    </a:lnTo>
                    <a:lnTo>
                      <a:pt x="727" y="586"/>
                    </a:lnTo>
                    <a:lnTo>
                      <a:pt x="900" y="466"/>
                    </a:lnTo>
                    <a:lnTo>
                      <a:pt x="1153" y="333"/>
                    </a:lnTo>
                    <a:lnTo>
                      <a:pt x="1380" y="226"/>
                    </a:lnTo>
                    <a:lnTo>
                      <a:pt x="1673" y="160"/>
                    </a:lnTo>
                    <a:lnTo>
                      <a:pt x="1887" y="106"/>
                    </a:lnTo>
                    <a:lnTo>
                      <a:pt x="2060" y="80"/>
                    </a:lnTo>
                    <a:lnTo>
                      <a:pt x="2687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86753" name="Oval 33">
            <a:extLst>
              <a:ext uri="{FF2B5EF4-FFF2-40B4-BE49-F238E27FC236}">
                <a16:creationId xmlns:a16="http://schemas.microsoft.com/office/drawing/2014/main" id="{D06D4D94-8E05-FEB8-AA44-232ABCF1A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048000"/>
            <a:ext cx="554038" cy="442913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57" name="Rectangle 37">
            <a:extLst>
              <a:ext uri="{FF2B5EF4-FFF2-40B4-BE49-F238E27FC236}">
                <a16:creationId xmlns:a16="http://schemas.microsoft.com/office/drawing/2014/main" id="{3E7EFB13-9DB7-8661-36F9-BCC9978004C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14400" y="5486400"/>
            <a:ext cx="7924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内生增长理论最初的工作就是放松资本边际产出递减的假定。</a:t>
            </a:r>
            <a:endParaRPr lang="zh-CN" altLang="en-US" sz="2400" b="1">
              <a:solidFill>
                <a:srgbClr val="FF0066"/>
              </a:solidFill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8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6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6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867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867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67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2" grpId="0" autoUpdateAnimBg="0"/>
      <p:bldP spid="286724" grpId="0" autoUpdateAnimBg="0"/>
      <p:bldP spid="286725" grpId="0" autoUpdateAnimBg="0"/>
      <p:bldP spid="28675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>
            <a:extLst>
              <a:ext uri="{FF2B5EF4-FFF2-40B4-BE49-F238E27FC236}">
                <a16:creationId xmlns:a16="http://schemas.microsoft.com/office/drawing/2014/main" id="{DC8DAB36-F138-B271-0194-48F0AF6FBD7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2.2 </a:t>
            </a:r>
            <a:r>
              <a:rPr lang="zh-CN" altLang="en-US" b="1">
                <a:solidFill>
                  <a:srgbClr val="CC0000"/>
                </a:solidFill>
              </a:rPr>
              <a:t>内生增长理论</a:t>
            </a:r>
            <a:r>
              <a:rPr lang="en-US" altLang="zh-CN" b="1">
                <a:solidFill>
                  <a:srgbClr val="CC0000"/>
                </a:solidFill>
              </a:rPr>
              <a:t>—</a:t>
            </a:r>
            <a:r>
              <a:rPr lang="zh-CN" altLang="en-US" b="1">
                <a:solidFill>
                  <a:srgbClr val="CC0000"/>
                </a:solidFill>
              </a:rPr>
              <a:t>模型</a:t>
            </a:r>
          </a:p>
        </p:txBody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B32EAEC9-0EB5-92F2-91D7-D7279D8F9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2324" name="Rectangle 4">
            <a:extLst>
              <a:ext uri="{FF2B5EF4-FFF2-40B4-BE49-F238E27FC236}">
                <a16:creationId xmlns:a16="http://schemas.microsoft.com/office/drawing/2014/main" id="{5501F3E4-284C-192D-789B-4F97B228179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447800"/>
            <a:ext cx="4343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资本边际产出非递减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>
                <a:solidFill>
                  <a:schemeClr val="tx2"/>
                </a:solidFill>
              </a:rPr>
              <a:t>不变</a:t>
            </a:r>
            <a:r>
              <a:rPr lang="zh-CN" altLang="en-US" sz="2400" b="1"/>
              <a:t>（递增）</a:t>
            </a:r>
          </a:p>
        </p:txBody>
      </p:sp>
      <p:sp>
        <p:nvSpPr>
          <p:cNvPr id="312325" name="Rectangle 5">
            <a:extLst>
              <a:ext uri="{FF2B5EF4-FFF2-40B4-BE49-F238E27FC236}">
                <a16:creationId xmlns:a16="http://schemas.microsoft.com/office/drawing/2014/main" id="{D92533A4-2618-5968-BAFB-098A68C3E10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90600" y="2590800"/>
            <a:ext cx="27432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>
                <a:solidFill>
                  <a:schemeClr val="tx2"/>
                </a:solidFill>
              </a:rPr>
              <a:t>假定资本是唯一的生产要素，其他假设同前。</a:t>
            </a:r>
          </a:p>
        </p:txBody>
      </p:sp>
      <p:grpSp>
        <p:nvGrpSpPr>
          <p:cNvPr id="312327" name="Group 7">
            <a:extLst>
              <a:ext uri="{FF2B5EF4-FFF2-40B4-BE49-F238E27FC236}">
                <a16:creationId xmlns:a16="http://schemas.microsoft.com/office/drawing/2014/main" id="{E026CC4F-4962-CAE3-C9D3-D83ECD80B069}"/>
              </a:ext>
            </a:extLst>
          </p:cNvPr>
          <p:cNvGrpSpPr>
            <a:grpSpLocks/>
          </p:cNvGrpSpPr>
          <p:nvPr/>
        </p:nvGrpSpPr>
        <p:grpSpPr bwMode="auto">
          <a:xfrm>
            <a:off x="4727575" y="2590800"/>
            <a:ext cx="4035425" cy="2332038"/>
            <a:chOff x="733" y="2539"/>
            <a:chExt cx="2095" cy="1666"/>
          </a:xfrm>
        </p:grpSpPr>
        <p:sp>
          <p:nvSpPr>
            <p:cNvPr id="312328" name="Text Box 8">
              <a:extLst>
                <a:ext uri="{FF2B5EF4-FFF2-40B4-BE49-F238E27FC236}">
                  <a16:creationId xmlns:a16="http://schemas.microsoft.com/office/drawing/2014/main" id="{8D1AD944-CEC9-968F-E719-E82B184F0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6" y="2539"/>
              <a:ext cx="672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（</a:t>
              </a:r>
              <a:r>
                <a:rPr lang="en-US" altLang="zh-CN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n+d</a:t>
              </a:r>
              <a:r>
                <a:rPr lang="zh-CN" altLang="en-US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）</a:t>
              </a:r>
              <a:r>
                <a:rPr lang="en-US" altLang="zh-CN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312329" name="Freeform 9">
              <a:extLst>
                <a:ext uri="{FF2B5EF4-FFF2-40B4-BE49-F238E27FC236}">
                  <a16:creationId xmlns:a16="http://schemas.microsoft.com/office/drawing/2014/main" id="{2660FD32-4B67-9260-9107-2E75412DD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" y="2720"/>
              <a:ext cx="1781" cy="1485"/>
            </a:xfrm>
            <a:custGeom>
              <a:avLst/>
              <a:gdLst>
                <a:gd name="T0" fmla="*/ 0 w 2385"/>
                <a:gd name="T1" fmla="*/ 2325 h 2325"/>
                <a:gd name="T2" fmla="*/ 2385 w 2385"/>
                <a:gd name="T3" fmla="*/ 0 h 2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85" h="2325">
                  <a:moveTo>
                    <a:pt x="0" y="2325"/>
                  </a:moveTo>
                  <a:lnTo>
                    <a:pt x="2385" y="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</p:grpSp>
      <p:grpSp>
        <p:nvGrpSpPr>
          <p:cNvPr id="312357" name="Group 37">
            <a:extLst>
              <a:ext uri="{FF2B5EF4-FFF2-40B4-BE49-F238E27FC236}">
                <a16:creationId xmlns:a16="http://schemas.microsoft.com/office/drawing/2014/main" id="{EFC72E42-044C-19F1-95B9-F424C78638ED}"/>
              </a:ext>
            </a:extLst>
          </p:cNvPr>
          <p:cNvGrpSpPr>
            <a:grpSpLocks/>
          </p:cNvGrpSpPr>
          <p:nvPr/>
        </p:nvGrpSpPr>
        <p:grpSpPr bwMode="auto">
          <a:xfrm>
            <a:off x="5403850" y="4191000"/>
            <a:ext cx="446088" cy="1079500"/>
            <a:chOff x="3404" y="2640"/>
            <a:chExt cx="281" cy="680"/>
          </a:xfrm>
        </p:grpSpPr>
        <p:sp>
          <p:nvSpPr>
            <p:cNvPr id="312332" name="Text Box 12">
              <a:extLst>
                <a:ext uri="{FF2B5EF4-FFF2-40B4-BE49-F238E27FC236}">
                  <a16:creationId xmlns:a16="http://schemas.microsoft.com/office/drawing/2014/main" id="{362C9EEA-061B-C918-3011-7C419C089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3120"/>
              <a:ext cx="26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2333" name="Freeform 13">
              <a:extLst>
                <a:ext uri="{FF2B5EF4-FFF2-40B4-BE49-F238E27FC236}">
                  <a16:creationId xmlns:a16="http://schemas.microsoft.com/office/drawing/2014/main" id="{9B73A89D-C760-7ECE-9F79-CF8CBACC1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2640"/>
              <a:ext cx="52" cy="461"/>
            </a:xfrm>
            <a:custGeom>
              <a:avLst/>
              <a:gdLst>
                <a:gd name="T0" fmla="*/ 0 w 1"/>
                <a:gd name="T1" fmla="*/ 0 h 1095"/>
                <a:gd name="T2" fmla="*/ 0 w 1"/>
                <a:gd name="T3" fmla="*/ 1095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5">
                  <a:moveTo>
                    <a:pt x="0" y="0"/>
                  </a:moveTo>
                  <a:lnTo>
                    <a:pt x="0" y="109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</p:grpSp>
      <p:sp>
        <p:nvSpPr>
          <p:cNvPr id="312337" name="Freeform 17">
            <a:extLst>
              <a:ext uri="{FF2B5EF4-FFF2-40B4-BE49-F238E27FC236}">
                <a16:creationId xmlns:a16="http://schemas.microsoft.com/office/drawing/2014/main" id="{B249114F-8032-7F92-5ABF-D47F9CB876FB}"/>
              </a:ext>
            </a:extLst>
          </p:cNvPr>
          <p:cNvSpPr>
            <a:spLocks/>
          </p:cNvSpPr>
          <p:nvPr/>
        </p:nvSpPr>
        <p:spPr bwMode="auto">
          <a:xfrm flipV="1">
            <a:off x="5486400" y="4565650"/>
            <a:ext cx="842963" cy="158750"/>
          </a:xfrm>
          <a:custGeom>
            <a:avLst/>
            <a:gdLst>
              <a:gd name="T0" fmla="*/ 0 w 2670"/>
              <a:gd name="T1" fmla="*/ 0 h 1"/>
              <a:gd name="T2" fmla="*/ 2670 w 2670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670" h="1">
                <a:moveTo>
                  <a:pt x="0" y="0"/>
                </a:moveTo>
                <a:lnTo>
                  <a:pt x="2670" y="0"/>
                </a:lnTo>
              </a:path>
            </a:pathLst>
          </a:custGeom>
          <a:noFill/>
          <a:ln w="57150" cmpd="sng">
            <a:solidFill>
              <a:srgbClr val="24C03A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bIns="0"/>
          <a:lstStyle/>
          <a:p>
            <a:endParaRPr lang="zh-CN" altLang="en-US"/>
          </a:p>
        </p:txBody>
      </p:sp>
      <p:sp>
        <p:nvSpPr>
          <p:cNvPr id="312345" name="Rectangle 25">
            <a:extLst>
              <a:ext uri="{FF2B5EF4-FFF2-40B4-BE49-F238E27FC236}">
                <a16:creationId xmlns:a16="http://schemas.microsoft.com/office/drawing/2014/main" id="{2E132F22-6CEC-90E5-57D0-4BBC3484B94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14400" y="5486400"/>
            <a:ext cx="3886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结论：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b="1"/>
              <a:t>经济增长速度</a:t>
            </a:r>
            <a:r>
              <a:rPr lang="en-US" altLang="zh-CN" b="1"/>
              <a:t>= s</a:t>
            </a:r>
            <a:r>
              <a:rPr lang="en-US" altLang="zh-CN" b="1">
                <a:sym typeface="Symbol" panose="05050102010706020507" pitchFamily="18" charset="2"/>
              </a:rPr>
              <a:t>A -</a:t>
            </a:r>
            <a:r>
              <a:rPr lang="zh-CN" altLang="en-US" b="1">
                <a:sym typeface="Symbol" panose="05050102010706020507" pitchFamily="18" charset="2"/>
              </a:rPr>
              <a:t>（</a:t>
            </a:r>
            <a:r>
              <a:rPr lang="en-US" altLang="zh-CN" b="1">
                <a:sym typeface="Symbol" panose="05050102010706020507" pitchFamily="18" charset="2"/>
              </a:rPr>
              <a:t>n+d</a:t>
            </a:r>
            <a:r>
              <a:rPr lang="zh-CN" altLang="en-US" b="1">
                <a:sym typeface="Symbol" panose="05050102010706020507" pitchFamily="18" charset="2"/>
              </a:rPr>
              <a:t>）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b="1"/>
              <a:t>不存在趋同</a:t>
            </a:r>
          </a:p>
        </p:txBody>
      </p:sp>
      <p:grpSp>
        <p:nvGrpSpPr>
          <p:cNvPr id="312353" name="Group 33">
            <a:extLst>
              <a:ext uri="{FF2B5EF4-FFF2-40B4-BE49-F238E27FC236}">
                <a16:creationId xmlns:a16="http://schemas.microsoft.com/office/drawing/2014/main" id="{15613830-6D58-F330-9D37-8B4753742B44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057400"/>
            <a:ext cx="2319338" cy="2819400"/>
            <a:chOff x="2976" y="1296"/>
            <a:chExt cx="1461" cy="1776"/>
          </a:xfrm>
        </p:grpSpPr>
        <p:sp>
          <p:nvSpPr>
            <p:cNvPr id="312348" name="Text Box 28">
              <a:extLst>
                <a:ext uri="{FF2B5EF4-FFF2-40B4-BE49-F238E27FC236}">
                  <a16:creationId xmlns:a16="http://schemas.microsoft.com/office/drawing/2014/main" id="{38B37D4E-9567-F9B3-0AA2-B5FCB44E9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296"/>
              <a:ext cx="693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24C03A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b="1">
                  <a:solidFill>
                    <a:srgbClr val="24C03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y=</a:t>
              </a:r>
              <a:r>
                <a:rPr lang="en-US" altLang="zh-CN" b="1">
                  <a:solidFill>
                    <a:srgbClr val="24C03A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sym typeface="Symbol" panose="05050102010706020507" pitchFamily="18" charset="2"/>
                </a:rPr>
                <a:t>Ak</a:t>
              </a:r>
              <a:endParaRPr lang="en-US" altLang="zh-CN" b="1">
                <a:solidFill>
                  <a:srgbClr val="24C03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12349" name="Freeform 29">
              <a:extLst>
                <a:ext uri="{FF2B5EF4-FFF2-40B4-BE49-F238E27FC236}">
                  <a16:creationId xmlns:a16="http://schemas.microsoft.com/office/drawing/2014/main" id="{6A9280D5-E913-3088-6CCD-B2874E1FF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488"/>
              <a:ext cx="1008" cy="1584"/>
            </a:xfrm>
            <a:custGeom>
              <a:avLst/>
              <a:gdLst>
                <a:gd name="T0" fmla="*/ 0 w 2385"/>
                <a:gd name="T1" fmla="*/ 2325 h 2325"/>
                <a:gd name="T2" fmla="*/ 2385 w 2385"/>
                <a:gd name="T3" fmla="*/ 0 h 2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85" h="2325">
                  <a:moveTo>
                    <a:pt x="0" y="2325"/>
                  </a:moveTo>
                  <a:lnTo>
                    <a:pt x="2385" y="0"/>
                  </a:lnTo>
                </a:path>
              </a:pathLst>
            </a:custGeom>
            <a:noFill/>
            <a:ln w="38100" cmpd="sng">
              <a:solidFill>
                <a:srgbClr val="24C03A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</p:grpSp>
      <p:grpSp>
        <p:nvGrpSpPr>
          <p:cNvPr id="312350" name="Group 30">
            <a:extLst>
              <a:ext uri="{FF2B5EF4-FFF2-40B4-BE49-F238E27FC236}">
                <a16:creationId xmlns:a16="http://schemas.microsoft.com/office/drawing/2014/main" id="{195BC16E-FD3D-A7C6-DFFE-88B4BC826DBE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2209800"/>
            <a:ext cx="2743200" cy="2713038"/>
            <a:chOff x="733" y="2539"/>
            <a:chExt cx="2095" cy="1666"/>
          </a:xfrm>
        </p:grpSpPr>
        <p:sp>
          <p:nvSpPr>
            <p:cNvPr id="312351" name="Text Box 31">
              <a:extLst>
                <a:ext uri="{FF2B5EF4-FFF2-40B4-BE49-F238E27FC236}">
                  <a16:creationId xmlns:a16="http://schemas.microsoft.com/office/drawing/2014/main" id="{67AC8989-E555-848B-FD7F-3F349C856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6" y="2539"/>
              <a:ext cx="672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/>
              <a:r>
                <a:rPr lang="en-US" altLang="zh-CN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sy</a:t>
              </a:r>
            </a:p>
          </p:txBody>
        </p:sp>
        <p:sp>
          <p:nvSpPr>
            <p:cNvPr id="312352" name="Freeform 32">
              <a:extLst>
                <a:ext uri="{FF2B5EF4-FFF2-40B4-BE49-F238E27FC236}">
                  <a16:creationId xmlns:a16="http://schemas.microsoft.com/office/drawing/2014/main" id="{09A144D1-1A1E-2120-A065-226B690C6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" y="2720"/>
              <a:ext cx="1781" cy="1485"/>
            </a:xfrm>
            <a:custGeom>
              <a:avLst/>
              <a:gdLst>
                <a:gd name="T0" fmla="*/ 0 w 2385"/>
                <a:gd name="T1" fmla="*/ 2325 h 2325"/>
                <a:gd name="T2" fmla="*/ 2385 w 2385"/>
                <a:gd name="T3" fmla="*/ 0 h 2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85" h="2325">
                  <a:moveTo>
                    <a:pt x="0" y="2325"/>
                  </a:moveTo>
                  <a:lnTo>
                    <a:pt x="2385" y="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</p:grpSp>
      <p:grpSp>
        <p:nvGrpSpPr>
          <p:cNvPr id="312356" name="Group 36">
            <a:extLst>
              <a:ext uri="{FF2B5EF4-FFF2-40B4-BE49-F238E27FC236}">
                <a16:creationId xmlns:a16="http://schemas.microsoft.com/office/drawing/2014/main" id="{16695D6E-C97A-3CA6-DEFA-2D95D2F220D9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2438400"/>
            <a:ext cx="3886200" cy="2895600"/>
            <a:chOff x="2640" y="1488"/>
            <a:chExt cx="2448" cy="1824"/>
          </a:xfrm>
        </p:grpSpPr>
        <p:grpSp>
          <p:nvGrpSpPr>
            <p:cNvPr id="312334" name="Group 14">
              <a:extLst>
                <a:ext uri="{FF2B5EF4-FFF2-40B4-BE49-F238E27FC236}">
                  <a16:creationId xmlns:a16="http://schemas.microsoft.com/office/drawing/2014/main" id="{5316851B-DAFB-2D1F-D2A8-D6A3FDE33B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1488"/>
              <a:ext cx="2043" cy="1596"/>
              <a:chOff x="722" y="2619"/>
              <a:chExt cx="2043" cy="1596"/>
            </a:xfrm>
          </p:grpSpPr>
          <p:sp>
            <p:nvSpPr>
              <p:cNvPr id="312335" name="Freeform 15">
                <a:extLst>
                  <a:ext uri="{FF2B5EF4-FFF2-40B4-BE49-F238E27FC236}">
                    <a16:creationId xmlns:a16="http://schemas.microsoft.com/office/drawing/2014/main" id="{8B5667E0-C406-3AFA-C8DD-034DECCC91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" y="2619"/>
                <a:ext cx="3" cy="1596"/>
              </a:xfrm>
              <a:custGeom>
                <a:avLst/>
                <a:gdLst>
                  <a:gd name="T0" fmla="*/ 0 w 5"/>
                  <a:gd name="T1" fmla="*/ 0 h 2499"/>
                  <a:gd name="T2" fmla="*/ 5 w 5"/>
                  <a:gd name="T3" fmla="*/ 2499 h 2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499">
                    <a:moveTo>
                      <a:pt x="0" y="0"/>
                    </a:moveTo>
                    <a:lnTo>
                      <a:pt x="5" y="2499"/>
                    </a:ln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  <p:sp>
            <p:nvSpPr>
              <p:cNvPr id="312336" name="Freeform 16">
                <a:extLst>
                  <a:ext uri="{FF2B5EF4-FFF2-40B4-BE49-F238E27FC236}">
                    <a16:creationId xmlns:a16="http://schemas.microsoft.com/office/drawing/2014/main" id="{33E92DDB-168B-3870-B8B0-B2687FCD7A5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51" y="4007"/>
                <a:ext cx="2014" cy="197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312354" name="Text Box 34">
              <a:extLst>
                <a:ext uri="{FF2B5EF4-FFF2-40B4-BE49-F238E27FC236}">
                  <a16:creationId xmlns:a16="http://schemas.microsoft.com/office/drawing/2014/main" id="{020D263F-7C7F-1FF2-77E5-13E2D5C8A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3081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/>
                <a:t>k</a:t>
              </a:r>
            </a:p>
          </p:txBody>
        </p:sp>
        <p:sp>
          <p:nvSpPr>
            <p:cNvPr id="312355" name="Text Box 35">
              <a:extLst>
                <a:ext uri="{FF2B5EF4-FFF2-40B4-BE49-F238E27FC236}">
                  <a16:creationId xmlns:a16="http://schemas.microsoft.com/office/drawing/2014/main" id="{25D0AC96-394C-A893-446D-01C6B13F1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48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/>
                <a:t>y</a:t>
              </a:r>
            </a:p>
          </p:txBody>
        </p:sp>
      </p:grpSp>
      <p:sp>
        <p:nvSpPr>
          <p:cNvPr id="312358" name="Rectangle 38">
            <a:extLst>
              <a:ext uri="{FF2B5EF4-FFF2-40B4-BE49-F238E27FC236}">
                <a16:creationId xmlns:a16="http://schemas.microsoft.com/office/drawing/2014/main" id="{47F1B022-CD14-CB6C-D6D5-708462E9065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105400" y="5562600"/>
            <a:ext cx="3886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储蓄率等变动会带来什么样的影响？</a:t>
            </a:r>
            <a:endParaRPr lang="zh-CN" altLang="en-US" b="1"/>
          </a:p>
        </p:txBody>
      </p:sp>
      <p:graphicFrame>
        <p:nvGraphicFramePr>
          <p:cNvPr id="312359" name="Object 39">
            <a:extLst>
              <a:ext uri="{FF2B5EF4-FFF2-40B4-BE49-F238E27FC236}">
                <a16:creationId xmlns:a16="http://schemas.microsoft.com/office/drawing/2014/main" id="{6FC54265-2324-ABDA-59CC-BC2A807D94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4652963"/>
          <a:ext cx="108585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240" imgH="139680" progId="Equation.DSMT4">
                  <p:embed/>
                </p:oleObj>
              </mc:Choice>
              <mc:Fallback>
                <p:oleObj name="Equation" r:id="rId2" imgW="444240" imgH="13968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652963"/>
                        <a:ext cx="108585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23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23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1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1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3123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23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31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3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31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31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3123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234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3123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23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2" grpId="0" autoUpdateAnimBg="0"/>
      <p:bldP spid="312324" grpId="0" autoUpdateAnimBg="0"/>
      <p:bldP spid="312325" grpId="0" autoUpdateAnimBg="0"/>
      <p:bldP spid="312345" grpId="0" autoUpdateAnimBg="0"/>
      <p:bldP spid="31235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>
            <a:extLst>
              <a:ext uri="{FF2B5EF4-FFF2-40B4-BE49-F238E27FC236}">
                <a16:creationId xmlns:a16="http://schemas.microsoft.com/office/drawing/2014/main" id="{2A29F20B-B172-9E0D-3884-FA86FB8387F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2.3 </a:t>
            </a:r>
            <a:r>
              <a:rPr lang="zh-CN" altLang="en-US" b="1">
                <a:solidFill>
                  <a:srgbClr val="CC0000"/>
                </a:solidFill>
              </a:rPr>
              <a:t>内生增长理论</a:t>
            </a:r>
            <a:r>
              <a:rPr lang="en-US" altLang="zh-CN" b="1">
                <a:solidFill>
                  <a:srgbClr val="CC0000"/>
                </a:solidFill>
              </a:rPr>
              <a:t>—</a:t>
            </a:r>
            <a:r>
              <a:rPr lang="zh-CN" altLang="en-US" b="1">
                <a:solidFill>
                  <a:srgbClr val="CC0000"/>
                </a:solidFill>
              </a:rPr>
              <a:t>微观基础</a:t>
            </a:r>
          </a:p>
        </p:txBody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F4E3EF98-1797-17CD-246E-35066BAF3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3348" name="Rectangle 4">
            <a:extLst>
              <a:ext uri="{FF2B5EF4-FFF2-40B4-BE49-F238E27FC236}">
                <a16:creationId xmlns:a16="http://schemas.microsoft.com/office/drawing/2014/main" id="{9B232A83-560E-273E-D7A7-5E2DA2D73A2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447800"/>
            <a:ext cx="8001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假定生产要素只有资产，而且资本边际产出非递减，厂商的最优产出是多少？</a:t>
            </a:r>
            <a:endParaRPr lang="zh-CN" altLang="en-US" sz="2400" b="1"/>
          </a:p>
        </p:txBody>
      </p:sp>
      <p:sp>
        <p:nvSpPr>
          <p:cNvPr id="313349" name="Rectangle 5">
            <a:extLst>
              <a:ext uri="{FF2B5EF4-FFF2-40B4-BE49-F238E27FC236}">
                <a16:creationId xmlns:a16="http://schemas.microsoft.com/office/drawing/2014/main" id="{8D8FE4A7-BC10-117A-9431-06A7304F669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827088" y="4076700"/>
            <a:ext cx="7239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该假设的微观基础是什么？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zh-CN" sz="2000" b="1"/>
              <a:t>P.Romer  </a:t>
            </a:r>
            <a:r>
              <a:rPr lang="zh-CN" altLang="en-US" sz="2000" b="1"/>
              <a:t>和</a:t>
            </a:r>
            <a:r>
              <a:rPr lang="en-US" altLang="zh-CN" sz="2000" b="1"/>
              <a:t>Lucas</a:t>
            </a:r>
            <a:r>
              <a:rPr lang="zh-CN" altLang="en-US" sz="2000" b="1"/>
              <a:t>等在上个世纪</a:t>
            </a:r>
            <a:r>
              <a:rPr lang="en-US" altLang="zh-CN" sz="2000" b="1"/>
              <a:t>80</a:t>
            </a:r>
            <a:r>
              <a:rPr lang="zh-CN" altLang="en-US" sz="2000" b="1"/>
              <a:t>年代做了探索</a:t>
            </a:r>
          </a:p>
        </p:txBody>
      </p:sp>
      <p:sp>
        <p:nvSpPr>
          <p:cNvPr id="313357" name="Rectangle 13">
            <a:extLst>
              <a:ext uri="{FF2B5EF4-FFF2-40B4-BE49-F238E27FC236}">
                <a16:creationId xmlns:a16="http://schemas.microsoft.com/office/drawing/2014/main" id="{B3F468FA-3390-FC3A-9599-6E71488B40E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827088" y="5029200"/>
            <a:ext cx="67056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外部性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b="1"/>
              <a:t>每个厂商的资本边际产出是递减的，但由于投资存在外部性，从而经济体的总资本边际产出是不变的。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b="1"/>
              <a:t>在人力资本上的投资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b="1"/>
              <a:t>在知识上的投资：研发</a:t>
            </a:r>
          </a:p>
        </p:txBody>
      </p:sp>
      <p:sp>
        <p:nvSpPr>
          <p:cNvPr id="313370" name="AutoShape 26">
            <a:extLst>
              <a:ext uri="{FF2B5EF4-FFF2-40B4-BE49-F238E27FC236}">
                <a16:creationId xmlns:a16="http://schemas.microsoft.com/office/drawing/2014/main" id="{D5F9B56C-589D-68C8-CC85-9BDFAAAEA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200" y="2781300"/>
            <a:ext cx="914400" cy="108902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FF"/>
          </a:solidFill>
          <a:ln>
            <a:noFill/>
          </a:ln>
          <a:effectLst/>
          <a:scene3d>
            <a:camera prst="legacyPerspectiveTop">
              <a:rot lat="21299999" lon="0" rev="0"/>
            </a:camera>
            <a:lightRig rig="legacyFlat3" dir="b"/>
          </a:scene3d>
          <a:sp3d extrusionH="6334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FFFF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tIns="100800">
            <a:flatTx/>
          </a:bodyPr>
          <a:lstStyle/>
          <a:p>
            <a:r>
              <a:rPr lang="zh-CN" altLang="en-US" sz="1200" b="1">
                <a:latin typeface="Times New Roman" panose="02020603050405020304" pitchFamily="18" charset="0"/>
              </a:rPr>
              <a:t>厂商资本边际产出不变</a:t>
            </a:r>
            <a:endParaRPr lang="zh-CN" altLang="en-US" sz="1200" b="1"/>
          </a:p>
        </p:txBody>
      </p:sp>
      <p:sp>
        <p:nvSpPr>
          <p:cNvPr id="313371" name="AutoShape 27">
            <a:extLst>
              <a:ext uri="{FF2B5EF4-FFF2-40B4-BE49-F238E27FC236}">
                <a16:creationId xmlns:a16="http://schemas.microsoft.com/office/drawing/2014/main" id="{18A9E0C8-C86F-F848-DD6C-3E59A0C8C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200" y="2781300"/>
            <a:ext cx="914400" cy="108902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FF"/>
          </a:solidFill>
          <a:ln>
            <a:noFill/>
          </a:ln>
          <a:effectLst/>
          <a:scene3d>
            <a:camera prst="legacyPerspectiveTop">
              <a:rot lat="21299999" lon="0" rev="0"/>
            </a:camera>
            <a:lightRig rig="legacyFlat3" dir="b"/>
          </a:scene3d>
          <a:sp3d extrusionH="6334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FFFF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tIns="100800">
            <a:flatTx/>
          </a:bodyPr>
          <a:lstStyle/>
          <a:p>
            <a:r>
              <a:rPr lang="zh-CN" altLang="en-US" sz="1200" b="1">
                <a:latin typeface="Times New Roman" panose="02020603050405020304" pitchFamily="18" charset="0"/>
              </a:rPr>
              <a:t>厂商规模报酬递增</a:t>
            </a:r>
            <a:endParaRPr lang="zh-CN" altLang="en-US" sz="1200" b="1"/>
          </a:p>
        </p:txBody>
      </p:sp>
      <p:sp>
        <p:nvSpPr>
          <p:cNvPr id="313372" name="AutoShape 28">
            <a:extLst>
              <a:ext uri="{FF2B5EF4-FFF2-40B4-BE49-F238E27FC236}">
                <a16:creationId xmlns:a16="http://schemas.microsoft.com/office/drawing/2014/main" id="{86E1D985-4E68-1FA8-5538-3CE8F29E9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781300"/>
            <a:ext cx="1028700" cy="108902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FF"/>
          </a:solidFill>
          <a:ln>
            <a:noFill/>
          </a:ln>
          <a:effectLst/>
          <a:scene3d>
            <a:camera prst="legacyPerspectiveTop">
              <a:rot lat="21299999" lon="0" rev="0"/>
            </a:camera>
            <a:lightRig rig="legacyFlat3" dir="b"/>
          </a:scene3d>
          <a:sp3d extrusionH="6334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FFFFF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tIns="100800">
            <a:flatTx/>
          </a:bodyPr>
          <a:lstStyle/>
          <a:p>
            <a:r>
              <a:rPr lang="zh-CN" altLang="en-US" sz="1200" b="1">
                <a:latin typeface="Times New Roman" panose="02020603050405020304" pitchFamily="18" charset="0"/>
              </a:rPr>
              <a:t>一个厂商主宰整个经济体</a:t>
            </a:r>
            <a:endParaRPr lang="zh-CN" altLang="en-US" sz="1200" b="1"/>
          </a:p>
        </p:txBody>
      </p:sp>
      <p:sp>
        <p:nvSpPr>
          <p:cNvPr id="313373" name="AutoShape 29">
            <a:extLst>
              <a:ext uri="{FF2B5EF4-FFF2-40B4-BE49-F238E27FC236}">
                <a16:creationId xmlns:a16="http://schemas.microsoft.com/office/drawing/2014/main" id="{4DE1A6EB-BE07-A506-A78F-874252CF4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2979738"/>
            <a:ext cx="830263" cy="693737"/>
          </a:xfrm>
          <a:prstGeom prst="hexagon">
            <a:avLst>
              <a:gd name="adj" fmla="val 29920"/>
              <a:gd name="vf" fmla="val 115470"/>
            </a:avLst>
          </a:prstGeom>
          <a:solidFill>
            <a:srgbClr val="FFFFFF"/>
          </a:solidFill>
          <a:ln w="9525">
            <a:miter lim="800000"/>
            <a:headEnd/>
            <a:tailEnd/>
          </a:ln>
          <a:effectLst/>
          <a:scene3d>
            <a:camera prst="legacyPerspectiveTop">
              <a:rot lat="21299999" lon="0" rev="0"/>
            </a:camera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flatTx/>
          </a:bodyPr>
          <a:lstStyle/>
          <a:p>
            <a:pPr algn="just"/>
            <a:r>
              <a:rPr lang="zh-CN" altLang="en-US" sz="1200" b="1">
                <a:latin typeface="Times New Roman" panose="02020603050405020304" pitchFamily="18" charset="0"/>
              </a:rPr>
              <a:t>与</a:t>
            </a:r>
          </a:p>
          <a:p>
            <a:pPr algn="just"/>
            <a:r>
              <a:rPr lang="zh-CN" altLang="en-US" sz="1200" b="1">
                <a:latin typeface="Times New Roman" panose="02020603050405020304" pitchFamily="18" charset="0"/>
              </a:rPr>
              <a:t>现实不符</a:t>
            </a:r>
            <a:endParaRPr lang="zh-CN" altLang="en-US" sz="120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1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1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133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133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33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6" grpId="0" autoUpdateAnimBg="0"/>
      <p:bldP spid="313348" grpId="0" autoUpdateAnimBg="0"/>
      <p:bldP spid="313349" grpId="0" autoUpdateAnimBg="0"/>
      <p:bldP spid="313357" grpId="0" autoUpdateAnimBg="0"/>
      <p:bldP spid="313370" grpId="0" animBg="1"/>
      <p:bldP spid="313371" grpId="0" animBg="1"/>
      <p:bldP spid="313372" grpId="0" animBg="1"/>
      <p:bldP spid="31337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>
            <a:extLst>
              <a:ext uri="{FF2B5EF4-FFF2-40B4-BE49-F238E27FC236}">
                <a16:creationId xmlns:a16="http://schemas.microsoft.com/office/drawing/2014/main" id="{2D09F0CE-866E-75E4-CC06-7EBD387B75E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2.4 </a:t>
            </a:r>
            <a:r>
              <a:rPr lang="zh-CN" altLang="en-US" b="1">
                <a:solidFill>
                  <a:srgbClr val="CC0000"/>
                </a:solidFill>
              </a:rPr>
              <a:t>内生增长理论</a:t>
            </a:r>
            <a:r>
              <a:rPr lang="en-US" altLang="zh-CN" b="1">
                <a:solidFill>
                  <a:srgbClr val="CC0000"/>
                </a:solidFill>
              </a:rPr>
              <a:t>—</a:t>
            </a:r>
            <a:r>
              <a:rPr lang="zh-CN" altLang="en-US" b="1">
                <a:solidFill>
                  <a:srgbClr val="CC0000"/>
                </a:solidFill>
              </a:rPr>
              <a:t>实证分析</a:t>
            </a:r>
          </a:p>
        </p:txBody>
      </p:sp>
      <p:sp>
        <p:nvSpPr>
          <p:cNvPr id="314371" name="Rectangle 3">
            <a:extLst>
              <a:ext uri="{FF2B5EF4-FFF2-40B4-BE49-F238E27FC236}">
                <a16:creationId xmlns:a16="http://schemas.microsoft.com/office/drawing/2014/main" id="{2F33FE9B-C569-E521-0A88-624898514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4372" name="Rectangle 4">
            <a:extLst>
              <a:ext uri="{FF2B5EF4-FFF2-40B4-BE49-F238E27FC236}">
                <a16:creationId xmlns:a16="http://schemas.microsoft.com/office/drawing/2014/main" id="{99A8C6C1-CF9B-C243-1223-FE5F4427018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447800"/>
            <a:ext cx="8001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内生增长理论与索罗模型的不同之处</a:t>
            </a:r>
            <a:endParaRPr lang="zh-CN" altLang="en-US" sz="2400" b="1"/>
          </a:p>
        </p:txBody>
      </p:sp>
      <p:sp>
        <p:nvSpPr>
          <p:cNvPr id="314374" name="Rectangle 6">
            <a:extLst>
              <a:ext uri="{FF2B5EF4-FFF2-40B4-BE49-F238E27FC236}">
                <a16:creationId xmlns:a16="http://schemas.microsoft.com/office/drawing/2014/main" id="{FBA12984-0264-71AA-F14D-D0866C7DEBD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5638800"/>
            <a:ext cx="6705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是否存在趋同就成为区分内生增长理论与索罗模型的分水岭。</a:t>
            </a:r>
            <a:endParaRPr lang="zh-CN" altLang="en-US" b="1"/>
          </a:p>
        </p:txBody>
      </p:sp>
      <p:grpSp>
        <p:nvGrpSpPr>
          <p:cNvPr id="314375" name="Group 7">
            <a:extLst>
              <a:ext uri="{FF2B5EF4-FFF2-40B4-BE49-F238E27FC236}">
                <a16:creationId xmlns:a16="http://schemas.microsoft.com/office/drawing/2014/main" id="{ABC95231-DC84-CFE8-1472-6E9699196F55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133600"/>
            <a:ext cx="3748088" cy="3200400"/>
            <a:chOff x="2967" y="1200"/>
            <a:chExt cx="2361" cy="2016"/>
          </a:xfrm>
        </p:grpSpPr>
        <p:grpSp>
          <p:nvGrpSpPr>
            <p:cNvPr id="314376" name="Group 8">
              <a:extLst>
                <a:ext uri="{FF2B5EF4-FFF2-40B4-BE49-F238E27FC236}">
                  <a16:creationId xmlns:a16="http://schemas.microsoft.com/office/drawing/2014/main" id="{97B74FAB-8742-26EA-CE5B-EA1C7431A5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8" y="1200"/>
              <a:ext cx="2256" cy="1757"/>
              <a:chOff x="733" y="2539"/>
              <a:chExt cx="2095" cy="1666"/>
            </a:xfrm>
          </p:grpSpPr>
          <p:sp>
            <p:nvSpPr>
              <p:cNvPr id="314377" name="Text Box 9">
                <a:extLst>
                  <a:ext uri="{FF2B5EF4-FFF2-40B4-BE49-F238E27FC236}">
                    <a16:creationId xmlns:a16="http://schemas.microsoft.com/office/drawing/2014/main" id="{9F48DF2A-52A2-C5B5-DBCF-3AEC579C22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6" y="2539"/>
                <a:ext cx="672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（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n+d</a:t>
                </a:r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）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314378" name="Freeform 10">
                <a:extLst>
                  <a:ext uri="{FF2B5EF4-FFF2-40B4-BE49-F238E27FC236}">
                    <a16:creationId xmlns:a16="http://schemas.microsoft.com/office/drawing/2014/main" id="{89D18912-612B-ABD0-08A4-C9CF9600E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" y="2720"/>
                <a:ext cx="1781" cy="1485"/>
              </a:xfrm>
              <a:custGeom>
                <a:avLst/>
                <a:gdLst>
                  <a:gd name="T0" fmla="*/ 0 w 2385"/>
                  <a:gd name="T1" fmla="*/ 2325 h 2325"/>
                  <a:gd name="T2" fmla="*/ 2385 w 2385"/>
                  <a:gd name="T3" fmla="*/ 0 h 2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85" h="2325">
                    <a:moveTo>
                      <a:pt x="0" y="2325"/>
                    </a:moveTo>
                    <a:lnTo>
                      <a:pt x="2385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314379" name="Text Box 11">
              <a:extLst>
                <a:ext uri="{FF2B5EF4-FFF2-40B4-BE49-F238E27FC236}">
                  <a16:creationId xmlns:a16="http://schemas.microsoft.com/office/drawing/2014/main" id="{FFDD98EE-8A6D-125B-54FB-3E72BF4AA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" y="2976"/>
              <a:ext cx="29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k*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4380" name="Line 12">
              <a:extLst>
                <a:ext uri="{FF2B5EF4-FFF2-40B4-BE49-F238E27FC236}">
                  <a16:creationId xmlns:a16="http://schemas.microsoft.com/office/drawing/2014/main" id="{5A45A5DE-4566-0EC4-DDA2-8EED528F66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4" y="1920"/>
              <a:ext cx="0" cy="10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14381" name="Text Box 13">
              <a:extLst>
                <a:ext uri="{FF2B5EF4-FFF2-40B4-BE49-F238E27FC236}">
                  <a16:creationId xmlns:a16="http://schemas.microsoft.com/office/drawing/2014/main" id="{117D3085-A490-0421-5155-79DB66CF6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2976"/>
              <a:ext cx="26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4382" name="Freeform 14">
              <a:extLst>
                <a:ext uri="{FF2B5EF4-FFF2-40B4-BE49-F238E27FC236}">
                  <a16:creationId xmlns:a16="http://schemas.microsoft.com/office/drawing/2014/main" id="{7AD695CD-3F31-2696-C55C-F3AAB0513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2258"/>
              <a:ext cx="0" cy="699"/>
            </a:xfrm>
            <a:custGeom>
              <a:avLst/>
              <a:gdLst>
                <a:gd name="T0" fmla="*/ 0 w 1"/>
                <a:gd name="T1" fmla="*/ 0 h 1095"/>
                <a:gd name="T2" fmla="*/ 0 w 1"/>
                <a:gd name="T3" fmla="*/ 1095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5">
                  <a:moveTo>
                    <a:pt x="0" y="0"/>
                  </a:moveTo>
                  <a:lnTo>
                    <a:pt x="0" y="109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grpSp>
          <p:nvGrpSpPr>
            <p:cNvPr id="314383" name="Group 15">
              <a:extLst>
                <a:ext uri="{FF2B5EF4-FFF2-40B4-BE49-F238E27FC236}">
                  <a16:creationId xmlns:a16="http://schemas.microsoft.com/office/drawing/2014/main" id="{D3B1888C-1701-D9F3-8AE9-4C2A93C3F7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7" y="1371"/>
              <a:ext cx="2043" cy="1596"/>
              <a:chOff x="722" y="2619"/>
              <a:chExt cx="2043" cy="1596"/>
            </a:xfrm>
          </p:grpSpPr>
          <p:sp>
            <p:nvSpPr>
              <p:cNvPr id="314384" name="Freeform 16">
                <a:extLst>
                  <a:ext uri="{FF2B5EF4-FFF2-40B4-BE49-F238E27FC236}">
                    <a16:creationId xmlns:a16="http://schemas.microsoft.com/office/drawing/2014/main" id="{B2EADABF-DAB8-B325-BEA4-5F494C634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" y="2619"/>
                <a:ext cx="3" cy="1596"/>
              </a:xfrm>
              <a:custGeom>
                <a:avLst/>
                <a:gdLst>
                  <a:gd name="T0" fmla="*/ 0 w 5"/>
                  <a:gd name="T1" fmla="*/ 0 h 2499"/>
                  <a:gd name="T2" fmla="*/ 5 w 5"/>
                  <a:gd name="T3" fmla="*/ 2499 h 2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499">
                    <a:moveTo>
                      <a:pt x="0" y="0"/>
                    </a:moveTo>
                    <a:lnTo>
                      <a:pt x="5" y="2499"/>
                    </a:ln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  <p:sp>
            <p:nvSpPr>
              <p:cNvPr id="314385" name="Freeform 17">
                <a:extLst>
                  <a:ext uri="{FF2B5EF4-FFF2-40B4-BE49-F238E27FC236}">
                    <a16:creationId xmlns:a16="http://schemas.microsoft.com/office/drawing/2014/main" id="{C486B841-FC6F-73A0-C6B7-FF3BF4114A9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51" y="4007"/>
                <a:ext cx="2014" cy="197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314386" name="Freeform 18">
              <a:extLst>
                <a:ext uri="{FF2B5EF4-FFF2-40B4-BE49-F238E27FC236}">
                  <a16:creationId xmlns:a16="http://schemas.microsoft.com/office/drawing/2014/main" id="{5E646035-C4E5-3F54-0780-14BFD5ADA2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87" y="2596"/>
              <a:ext cx="531" cy="100"/>
            </a:xfrm>
            <a:custGeom>
              <a:avLst/>
              <a:gdLst>
                <a:gd name="T0" fmla="*/ 0 w 2670"/>
                <a:gd name="T1" fmla="*/ 0 h 1"/>
                <a:gd name="T2" fmla="*/ 2670 w 267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70" h="1">
                  <a:moveTo>
                    <a:pt x="0" y="0"/>
                  </a:moveTo>
                  <a:lnTo>
                    <a:pt x="2670" y="0"/>
                  </a:lnTo>
                </a:path>
              </a:pathLst>
            </a:custGeom>
            <a:noFill/>
            <a:ln w="57150" cmpd="sng">
              <a:solidFill>
                <a:srgbClr val="24C03A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14387" name="Line 19">
              <a:extLst>
                <a:ext uri="{FF2B5EF4-FFF2-40B4-BE49-F238E27FC236}">
                  <a16:creationId xmlns:a16="http://schemas.microsoft.com/office/drawing/2014/main" id="{D9B75343-D980-EABF-1FB3-57524D3DA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697"/>
              <a:ext cx="383" cy="0"/>
            </a:xfrm>
            <a:prstGeom prst="line">
              <a:avLst/>
            </a:prstGeom>
            <a:noFill/>
            <a:ln w="57150">
              <a:solidFill>
                <a:srgbClr val="24C03A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14388" name="Text Box 20">
              <a:extLst>
                <a:ext uri="{FF2B5EF4-FFF2-40B4-BE49-F238E27FC236}">
                  <a16:creationId xmlns:a16="http://schemas.microsoft.com/office/drawing/2014/main" id="{D452796F-B612-141F-66BC-347A2BD8E1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4" y="2961"/>
              <a:ext cx="236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14389" name="Line 21">
              <a:extLst>
                <a:ext uri="{FF2B5EF4-FFF2-40B4-BE49-F238E27FC236}">
                  <a16:creationId xmlns:a16="http://schemas.microsoft.com/office/drawing/2014/main" id="{6A90C949-87C2-D454-532F-7F8B51A69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" y="1513"/>
              <a:ext cx="0" cy="145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grpSp>
          <p:nvGrpSpPr>
            <p:cNvPr id="314390" name="Group 22">
              <a:extLst>
                <a:ext uri="{FF2B5EF4-FFF2-40B4-BE49-F238E27FC236}">
                  <a16:creationId xmlns:a16="http://schemas.microsoft.com/office/drawing/2014/main" id="{612DCC7A-E4D9-8786-7F82-8F6E3A09F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3" y="1671"/>
              <a:ext cx="2345" cy="1296"/>
              <a:chOff x="738" y="2919"/>
              <a:chExt cx="2345" cy="1296"/>
            </a:xfrm>
          </p:grpSpPr>
          <p:sp>
            <p:nvSpPr>
              <p:cNvPr id="314391" name="Text Box 23">
                <a:extLst>
                  <a:ext uri="{FF2B5EF4-FFF2-40B4-BE49-F238E27FC236}">
                    <a16:creationId xmlns:a16="http://schemas.microsoft.com/office/drawing/2014/main" id="{50D19198-0C8C-015E-0A7C-C74173006D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5" y="2919"/>
                <a:ext cx="3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sy</a:t>
                </a:r>
              </a:p>
            </p:txBody>
          </p:sp>
          <p:sp>
            <p:nvSpPr>
              <p:cNvPr id="314392" name="Freeform 24">
                <a:extLst>
                  <a:ext uri="{FF2B5EF4-FFF2-40B4-BE49-F238E27FC236}">
                    <a16:creationId xmlns:a16="http://schemas.microsoft.com/office/drawing/2014/main" id="{648916CE-251D-CEF2-22A6-05BA0AB6D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" y="3054"/>
                <a:ext cx="2007" cy="1161"/>
              </a:xfrm>
              <a:custGeom>
                <a:avLst/>
                <a:gdLst>
                  <a:gd name="T0" fmla="*/ 0 w 2687"/>
                  <a:gd name="T1" fmla="*/ 1817 h 1817"/>
                  <a:gd name="T2" fmla="*/ 100 w 2687"/>
                  <a:gd name="T3" fmla="*/ 1426 h 1817"/>
                  <a:gd name="T4" fmla="*/ 153 w 2687"/>
                  <a:gd name="T5" fmla="*/ 1253 h 1817"/>
                  <a:gd name="T6" fmla="*/ 233 w 2687"/>
                  <a:gd name="T7" fmla="*/ 1093 h 1817"/>
                  <a:gd name="T8" fmla="*/ 367 w 2687"/>
                  <a:gd name="T9" fmla="*/ 893 h 1817"/>
                  <a:gd name="T10" fmla="*/ 567 w 2687"/>
                  <a:gd name="T11" fmla="*/ 706 h 1817"/>
                  <a:gd name="T12" fmla="*/ 727 w 2687"/>
                  <a:gd name="T13" fmla="*/ 586 h 1817"/>
                  <a:gd name="T14" fmla="*/ 900 w 2687"/>
                  <a:gd name="T15" fmla="*/ 466 h 1817"/>
                  <a:gd name="T16" fmla="*/ 1153 w 2687"/>
                  <a:gd name="T17" fmla="*/ 333 h 1817"/>
                  <a:gd name="T18" fmla="*/ 1380 w 2687"/>
                  <a:gd name="T19" fmla="*/ 226 h 1817"/>
                  <a:gd name="T20" fmla="*/ 1673 w 2687"/>
                  <a:gd name="T21" fmla="*/ 160 h 1817"/>
                  <a:gd name="T22" fmla="*/ 1887 w 2687"/>
                  <a:gd name="T23" fmla="*/ 106 h 1817"/>
                  <a:gd name="T24" fmla="*/ 2060 w 2687"/>
                  <a:gd name="T25" fmla="*/ 80 h 1817"/>
                  <a:gd name="T26" fmla="*/ 2687 w 2687"/>
                  <a:gd name="T27" fmla="*/ 0 h 1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87" h="1817">
                    <a:moveTo>
                      <a:pt x="0" y="1817"/>
                    </a:moveTo>
                    <a:lnTo>
                      <a:pt x="100" y="1426"/>
                    </a:lnTo>
                    <a:lnTo>
                      <a:pt x="153" y="1253"/>
                    </a:lnTo>
                    <a:lnTo>
                      <a:pt x="233" y="1093"/>
                    </a:lnTo>
                    <a:lnTo>
                      <a:pt x="367" y="893"/>
                    </a:lnTo>
                    <a:lnTo>
                      <a:pt x="567" y="706"/>
                    </a:lnTo>
                    <a:lnTo>
                      <a:pt x="727" y="586"/>
                    </a:lnTo>
                    <a:lnTo>
                      <a:pt x="900" y="466"/>
                    </a:lnTo>
                    <a:lnTo>
                      <a:pt x="1153" y="333"/>
                    </a:lnTo>
                    <a:lnTo>
                      <a:pt x="1380" y="226"/>
                    </a:lnTo>
                    <a:lnTo>
                      <a:pt x="1673" y="160"/>
                    </a:lnTo>
                    <a:lnTo>
                      <a:pt x="1887" y="106"/>
                    </a:lnTo>
                    <a:lnTo>
                      <a:pt x="2060" y="80"/>
                    </a:lnTo>
                    <a:lnTo>
                      <a:pt x="2687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14414" name="Group 46">
            <a:extLst>
              <a:ext uri="{FF2B5EF4-FFF2-40B4-BE49-F238E27FC236}">
                <a16:creationId xmlns:a16="http://schemas.microsoft.com/office/drawing/2014/main" id="{AC4E8F40-23ED-484B-5DB8-55C39BB7F613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2362200"/>
            <a:ext cx="4572000" cy="3124200"/>
            <a:chOff x="2928" y="1488"/>
            <a:chExt cx="2880" cy="1968"/>
          </a:xfrm>
        </p:grpSpPr>
        <p:grpSp>
          <p:nvGrpSpPr>
            <p:cNvPr id="314394" name="Group 26">
              <a:extLst>
                <a:ext uri="{FF2B5EF4-FFF2-40B4-BE49-F238E27FC236}">
                  <a16:creationId xmlns:a16="http://schemas.microsoft.com/office/drawing/2014/main" id="{0E236EA1-AA92-64F9-39CF-4B1CF9E747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6" y="1728"/>
              <a:ext cx="2542" cy="1469"/>
              <a:chOff x="733" y="2539"/>
              <a:chExt cx="2095" cy="1666"/>
            </a:xfrm>
          </p:grpSpPr>
          <p:sp>
            <p:nvSpPr>
              <p:cNvPr id="314395" name="Text Box 27">
                <a:extLst>
                  <a:ext uri="{FF2B5EF4-FFF2-40B4-BE49-F238E27FC236}">
                    <a16:creationId xmlns:a16="http://schemas.microsoft.com/office/drawing/2014/main" id="{EA72FA91-EDC7-6F01-786E-936C667CCF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6" y="2539"/>
                <a:ext cx="672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（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n+d</a:t>
                </a:r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）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314396" name="Freeform 28">
                <a:extLst>
                  <a:ext uri="{FF2B5EF4-FFF2-40B4-BE49-F238E27FC236}">
                    <a16:creationId xmlns:a16="http://schemas.microsoft.com/office/drawing/2014/main" id="{BED1174E-F5E3-B7EC-3E2C-64D09AD32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" y="2720"/>
                <a:ext cx="1781" cy="1485"/>
              </a:xfrm>
              <a:custGeom>
                <a:avLst/>
                <a:gdLst>
                  <a:gd name="T0" fmla="*/ 0 w 2385"/>
                  <a:gd name="T1" fmla="*/ 2325 h 2325"/>
                  <a:gd name="T2" fmla="*/ 2385 w 2385"/>
                  <a:gd name="T3" fmla="*/ 0 h 2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85" h="2325">
                    <a:moveTo>
                      <a:pt x="0" y="2325"/>
                    </a:moveTo>
                    <a:lnTo>
                      <a:pt x="2385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grpSp>
          <p:nvGrpSpPr>
            <p:cNvPr id="314413" name="Group 45">
              <a:extLst>
                <a:ext uri="{FF2B5EF4-FFF2-40B4-BE49-F238E27FC236}">
                  <a16:creationId xmlns:a16="http://schemas.microsoft.com/office/drawing/2014/main" id="{A334B221-0371-BF5F-1A8F-E22C0E22E6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1488"/>
              <a:ext cx="2448" cy="1968"/>
              <a:chOff x="2928" y="1488"/>
              <a:chExt cx="2448" cy="1968"/>
            </a:xfrm>
          </p:grpSpPr>
          <p:grpSp>
            <p:nvGrpSpPr>
              <p:cNvPr id="314397" name="Group 29">
                <a:extLst>
                  <a:ext uri="{FF2B5EF4-FFF2-40B4-BE49-F238E27FC236}">
                    <a16:creationId xmlns:a16="http://schemas.microsoft.com/office/drawing/2014/main" id="{9D83915B-3EE0-7B3A-5F19-068985105B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2" y="2736"/>
                <a:ext cx="281" cy="680"/>
                <a:chOff x="3404" y="2640"/>
                <a:chExt cx="281" cy="680"/>
              </a:xfrm>
            </p:grpSpPr>
            <p:sp>
              <p:nvSpPr>
                <p:cNvPr id="314398" name="Text Box 30">
                  <a:extLst>
                    <a:ext uri="{FF2B5EF4-FFF2-40B4-BE49-F238E27FC236}">
                      <a16:creationId xmlns:a16="http://schemas.microsoft.com/office/drawing/2014/main" id="{002F3DD6-522E-41D9-1E1C-A03644F328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16" y="3120"/>
                  <a:ext cx="269" cy="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FFFF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algn="just" eaLnBrk="0" hangingPunct="0"/>
                  <a:r>
                    <a:rPr lang="en-US" altLang="zh-CN" sz="2000" b="1" i="1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k</a:t>
                  </a:r>
                  <a:r>
                    <a:rPr lang="en-US" altLang="zh-CN" sz="2000" b="1" i="1" baseline="-2500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4399" name="Freeform 31">
                  <a:extLst>
                    <a:ext uri="{FF2B5EF4-FFF2-40B4-BE49-F238E27FC236}">
                      <a16:creationId xmlns:a16="http://schemas.microsoft.com/office/drawing/2014/main" id="{497B4D00-7A70-B7B1-A5B9-9B7B3B2496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2640"/>
                  <a:ext cx="52" cy="461"/>
                </a:xfrm>
                <a:custGeom>
                  <a:avLst/>
                  <a:gdLst>
                    <a:gd name="T0" fmla="*/ 0 w 1"/>
                    <a:gd name="T1" fmla="*/ 0 h 1095"/>
                    <a:gd name="T2" fmla="*/ 0 w 1"/>
                    <a:gd name="T3" fmla="*/ 1095 h 10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095">
                      <a:moveTo>
                        <a:pt x="0" y="0"/>
                      </a:moveTo>
                      <a:lnTo>
                        <a:pt x="0" y="109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bIns="0"/>
                <a:lstStyle/>
                <a:p>
                  <a:endParaRPr lang="zh-CN" altLang="en-US"/>
                </a:p>
              </p:txBody>
            </p:sp>
          </p:grpSp>
          <p:sp>
            <p:nvSpPr>
              <p:cNvPr id="314400" name="Freeform 32">
                <a:extLst>
                  <a:ext uri="{FF2B5EF4-FFF2-40B4-BE49-F238E27FC236}">
                    <a16:creationId xmlns:a16="http://schemas.microsoft.com/office/drawing/2014/main" id="{AFE20616-8923-3341-BEF2-71315A82811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744" y="2972"/>
                <a:ext cx="531" cy="100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mpd="sng">
                <a:solidFill>
                  <a:srgbClr val="24C03A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  <p:grpSp>
            <p:nvGrpSpPr>
              <p:cNvPr id="314404" name="Group 36">
                <a:extLst>
                  <a:ext uri="{FF2B5EF4-FFF2-40B4-BE49-F238E27FC236}">
                    <a16:creationId xmlns:a16="http://schemas.microsoft.com/office/drawing/2014/main" id="{50CAA1AD-4C35-BFA8-BFD9-DD5C6D3C4C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1488"/>
                <a:ext cx="1728" cy="1709"/>
                <a:chOff x="733" y="2539"/>
                <a:chExt cx="2095" cy="1666"/>
              </a:xfrm>
            </p:grpSpPr>
            <p:sp>
              <p:nvSpPr>
                <p:cNvPr id="314405" name="Text Box 37">
                  <a:extLst>
                    <a:ext uri="{FF2B5EF4-FFF2-40B4-BE49-F238E27FC236}">
                      <a16:creationId xmlns:a16="http://schemas.microsoft.com/office/drawing/2014/main" id="{3D768A35-BAFD-A61A-30E6-B0C439EAE3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6" y="2539"/>
                  <a:ext cx="672" cy="1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FFFF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eaLnBrk="0" hangingPunct="0"/>
                  <a:r>
                    <a:rPr lang="en-US" altLang="zh-CN" b="1">
                      <a:solidFill>
                        <a:srgbClr val="FF00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</a:rPr>
                    <a:t>sy</a:t>
                  </a:r>
                </a:p>
              </p:txBody>
            </p:sp>
            <p:sp>
              <p:nvSpPr>
                <p:cNvPr id="314406" name="Freeform 38">
                  <a:extLst>
                    <a:ext uri="{FF2B5EF4-FFF2-40B4-BE49-F238E27FC236}">
                      <a16:creationId xmlns:a16="http://schemas.microsoft.com/office/drawing/2014/main" id="{E238AE73-B49D-47F1-CF7E-622445A03C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3" y="2720"/>
                  <a:ext cx="1781" cy="1485"/>
                </a:xfrm>
                <a:custGeom>
                  <a:avLst/>
                  <a:gdLst>
                    <a:gd name="T0" fmla="*/ 0 w 2385"/>
                    <a:gd name="T1" fmla="*/ 2325 h 2325"/>
                    <a:gd name="T2" fmla="*/ 2385 w 2385"/>
                    <a:gd name="T3" fmla="*/ 0 h 2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385" h="2325">
                      <a:moveTo>
                        <a:pt x="0" y="2325"/>
                      </a:moveTo>
                      <a:lnTo>
                        <a:pt x="2385" y="0"/>
                      </a:lnTo>
                    </a:path>
                  </a:pathLst>
                </a:custGeom>
                <a:noFill/>
                <a:ln w="38100" cmpd="sng">
                  <a:solidFill>
                    <a:srgbClr val="FF0000"/>
                  </a:solidFill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bIns="0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4407" name="Group 39">
                <a:extLst>
                  <a:ext uri="{FF2B5EF4-FFF2-40B4-BE49-F238E27FC236}">
                    <a16:creationId xmlns:a16="http://schemas.microsoft.com/office/drawing/2014/main" id="{3C48FE87-4BF5-17FE-7F6C-8174DC7500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" y="1632"/>
                <a:ext cx="2448" cy="1824"/>
                <a:chOff x="2640" y="1488"/>
                <a:chExt cx="2448" cy="1824"/>
              </a:xfrm>
            </p:grpSpPr>
            <p:grpSp>
              <p:nvGrpSpPr>
                <p:cNvPr id="314408" name="Group 40">
                  <a:extLst>
                    <a:ext uri="{FF2B5EF4-FFF2-40B4-BE49-F238E27FC236}">
                      <a16:creationId xmlns:a16="http://schemas.microsoft.com/office/drawing/2014/main" id="{05224E58-B908-99D7-B505-7BBE58AD1D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28" y="1488"/>
                  <a:ext cx="2043" cy="1596"/>
                  <a:chOff x="722" y="2619"/>
                  <a:chExt cx="2043" cy="1596"/>
                </a:xfrm>
              </p:grpSpPr>
              <p:sp>
                <p:nvSpPr>
                  <p:cNvPr id="314409" name="Freeform 41">
                    <a:extLst>
                      <a:ext uri="{FF2B5EF4-FFF2-40B4-BE49-F238E27FC236}">
                        <a16:creationId xmlns:a16="http://schemas.microsoft.com/office/drawing/2014/main" id="{5BB4BB92-6E79-E7E4-3D4A-E2A66A43E2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22" y="2619"/>
                    <a:ext cx="3" cy="1596"/>
                  </a:xfrm>
                  <a:custGeom>
                    <a:avLst/>
                    <a:gdLst>
                      <a:gd name="T0" fmla="*/ 0 w 5"/>
                      <a:gd name="T1" fmla="*/ 0 h 2499"/>
                      <a:gd name="T2" fmla="*/ 5 w 5"/>
                      <a:gd name="T3" fmla="*/ 2499 h 24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2499">
                        <a:moveTo>
                          <a:pt x="0" y="0"/>
                        </a:moveTo>
                        <a:lnTo>
                          <a:pt x="5" y="2499"/>
                        </a:lnTo>
                      </a:path>
                    </a:pathLst>
                  </a:custGeom>
                  <a:noFill/>
                  <a:ln w="57150" cmpd="sng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tIns="0" bIns="0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4410" name="Freeform 42">
                    <a:extLst>
                      <a:ext uri="{FF2B5EF4-FFF2-40B4-BE49-F238E27FC236}">
                        <a16:creationId xmlns:a16="http://schemas.microsoft.com/office/drawing/2014/main" id="{76F55957-43D0-C019-CD03-6FF28ED5CA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751" y="4007"/>
                    <a:ext cx="2014" cy="197"/>
                  </a:xfrm>
                  <a:custGeom>
                    <a:avLst/>
                    <a:gdLst>
                      <a:gd name="T0" fmla="*/ 0 w 2670"/>
                      <a:gd name="T1" fmla="*/ 0 h 1"/>
                      <a:gd name="T2" fmla="*/ 2670 w 2670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670" h="1">
                        <a:moveTo>
                          <a:pt x="0" y="0"/>
                        </a:moveTo>
                        <a:lnTo>
                          <a:pt x="2670" y="0"/>
                        </a:lnTo>
                      </a:path>
                    </a:pathLst>
                  </a:custGeom>
                  <a:noFill/>
                  <a:ln w="571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tIns="0" bIns="0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4411" name="Text Box 43">
                  <a:extLst>
                    <a:ext uri="{FF2B5EF4-FFF2-40B4-BE49-F238E27FC236}">
                      <a16:creationId xmlns:a16="http://schemas.microsoft.com/office/drawing/2014/main" id="{D02EAD75-FEB7-7035-00C6-902FB34554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48" y="3081"/>
                  <a:ext cx="24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b="1"/>
                    <a:t>k</a:t>
                  </a:r>
                </a:p>
              </p:txBody>
            </p:sp>
            <p:sp>
              <p:nvSpPr>
                <p:cNvPr id="314412" name="Text Box 44">
                  <a:extLst>
                    <a:ext uri="{FF2B5EF4-FFF2-40B4-BE49-F238E27FC236}">
                      <a16:creationId xmlns:a16="http://schemas.microsoft.com/office/drawing/2014/main" id="{376D50A5-8E78-39DE-41B3-52E1A51A67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0" y="1488"/>
                  <a:ext cx="24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b="1"/>
                    <a:t>y</a:t>
                  </a:r>
                </a:p>
              </p:txBody>
            </p:sp>
          </p:grpSp>
        </p:grp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4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4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143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0" grpId="0" autoUpdateAnimBg="0"/>
      <p:bldP spid="314372" grpId="0" autoUpdateAnimBg="0"/>
      <p:bldP spid="31437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>
            <a:extLst>
              <a:ext uri="{FF2B5EF4-FFF2-40B4-BE49-F238E27FC236}">
                <a16:creationId xmlns:a16="http://schemas.microsoft.com/office/drawing/2014/main" id="{C2DA4A1A-449E-00B6-120F-5E0F98D5056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2.4 </a:t>
            </a:r>
            <a:r>
              <a:rPr lang="zh-CN" altLang="en-US" b="1">
                <a:solidFill>
                  <a:srgbClr val="CC0000"/>
                </a:solidFill>
              </a:rPr>
              <a:t>内生增长理论</a:t>
            </a:r>
            <a:r>
              <a:rPr lang="en-US" altLang="zh-CN" b="1">
                <a:solidFill>
                  <a:srgbClr val="CC0000"/>
                </a:solidFill>
              </a:rPr>
              <a:t>—</a:t>
            </a:r>
            <a:r>
              <a:rPr lang="zh-CN" altLang="en-US" b="1">
                <a:solidFill>
                  <a:srgbClr val="CC0000"/>
                </a:solidFill>
              </a:rPr>
              <a:t>实证分析</a:t>
            </a:r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B4B6992C-58CC-3375-63A0-8C406E46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072334C0-0043-2823-25C2-00BD62B7270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1447800"/>
            <a:ext cx="8001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趋同的机制：</a:t>
            </a:r>
            <a:r>
              <a:rPr lang="zh-CN" altLang="en-US" sz="2800" b="1"/>
              <a:t>资本边际产出递减（</a:t>
            </a:r>
            <a:r>
              <a:rPr lang="zh-CN" altLang="en-US" sz="2800" b="1">
                <a:solidFill>
                  <a:srgbClr val="00FF00"/>
                </a:solidFill>
              </a:rPr>
              <a:t>和技术转移</a:t>
            </a:r>
            <a:r>
              <a:rPr lang="zh-CN" altLang="en-US" sz="2800" b="1"/>
              <a:t>）</a:t>
            </a:r>
          </a:p>
        </p:txBody>
      </p:sp>
      <p:sp>
        <p:nvSpPr>
          <p:cNvPr id="321541" name="Rectangle 5">
            <a:extLst>
              <a:ext uri="{FF2B5EF4-FFF2-40B4-BE49-F238E27FC236}">
                <a16:creationId xmlns:a16="http://schemas.microsoft.com/office/drawing/2014/main" id="{FF2E7A53-9158-F5C9-12ED-2D46DBA4E94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5486400"/>
            <a:ext cx="8458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b="1"/>
              <a:t>绝对趋同，如果经济间具有相同的稳定状态，经济体间的收入水平趋于相等，增长速度趋于相等。</a:t>
            </a:r>
          </a:p>
        </p:txBody>
      </p:sp>
      <p:grpSp>
        <p:nvGrpSpPr>
          <p:cNvPr id="321542" name="Group 6">
            <a:extLst>
              <a:ext uri="{FF2B5EF4-FFF2-40B4-BE49-F238E27FC236}">
                <a16:creationId xmlns:a16="http://schemas.microsoft.com/office/drawing/2014/main" id="{87FE4E25-9514-B0CE-E16A-0E866ACE3E41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133600"/>
            <a:ext cx="3748088" cy="3200400"/>
            <a:chOff x="2967" y="1200"/>
            <a:chExt cx="2361" cy="2016"/>
          </a:xfrm>
        </p:grpSpPr>
        <p:grpSp>
          <p:nvGrpSpPr>
            <p:cNvPr id="321543" name="Group 7">
              <a:extLst>
                <a:ext uri="{FF2B5EF4-FFF2-40B4-BE49-F238E27FC236}">
                  <a16:creationId xmlns:a16="http://schemas.microsoft.com/office/drawing/2014/main" id="{C6278C9B-889C-CB68-EA47-104969FD83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8" y="1200"/>
              <a:ext cx="2256" cy="1757"/>
              <a:chOff x="733" y="2539"/>
              <a:chExt cx="2095" cy="1666"/>
            </a:xfrm>
          </p:grpSpPr>
          <p:sp>
            <p:nvSpPr>
              <p:cNvPr id="321544" name="Text Box 8">
                <a:extLst>
                  <a:ext uri="{FF2B5EF4-FFF2-40B4-BE49-F238E27FC236}">
                    <a16:creationId xmlns:a16="http://schemas.microsoft.com/office/drawing/2014/main" id="{DA485A3B-22E1-2327-B179-096F2BE55D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6" y="2539"/>
                <a:ext cx="672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（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n+d</a:t>
                </a:r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）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321545" name="Freeform 9">
                <a:extLst>
                  <a:ext uri="{FF2B5EF4-FFF2-40B4-BE49-F238E27FC236}">
                    <a16:creationId xmlns:a16="http://schemas.microsoft.com/office/drawing/2014/main" id="{C3D6725E-0A0A-71B6-3D4D-F7DB4B4DFE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" y="2720"/>
                <a:ext cx="1781" cy="1485"/>
              </a:xfrm>
              <a:custGeom>
                <a:avLst/>
                <a:gdLst>
                  <a:gd name="T0" fmla="*/ 0 w 2385"/>
                  <a:gd name="T1" fmla="*/ 2325 h 2325"/>
                  <a:gd name="T2" fmla="*/ 2385 w 2385"/>
                  <a:gd name="T3" fmla="*/ 0 h 2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85" h="2325">
                    <a:moveTo>
                      <a:pt x="0" y="2325"/>
                    </a:moveTo>
                    <a:lnTo>
                      <a:pt x="2385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321546" name="Text Box 10">
              <a:extLst>
                <a:ext uri="{FF2B5EF4-FFF2-40B4-BE49-F238E27FC236}">
                  <a16:creationId xmlns:a16="http://schemas.microsoft.com/office/drawing/2014/main" id="{394D2706-3195-38A1-F353-D6AF872BC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" y="2976"/>
              <a:ext cx="29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k*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1547" name="Line 11">
              <a:extLst>
                <a:ext uri="{FF2B5EF4-FFF2-40B4-BE49-F238E27FC236}">
                  <a16:creationId xmlns:a16="http://schemas.microsoft.com/office/drawing/2014/main" id="{92783C29-2854-B4BE-9684-C5F696449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4" y="1920"/>
              <a:ext cx="0" cy="10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21548" name="Text Box 12">
              <a:extLst>
                <a:ext uri="{FF2B5EF4-FFF2-40B4-BE49-F238E27FC236}">
                  <a16:creationId xmlns:a16="http://schemas.microsoft.com/office/drawing/2014/main" id="{E379B2EC-4707-A08C-EE08-26D74B899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2976"/>
              <a:ext cx="26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1549" name="Freeform 13">
              <a:extLst>
                <a:ext uri="{FF2B5EF4-FFF2-40B4-BE49-F238E27FC236}">
                  <a16:creationId xmlns:a16="http://schemas.microsoft.com/office/drawing/2014/main" id="{6ECC8E07-C98E-3919-FDB3-B2945BCBA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2258"/>
              <a:ext cx="0" cy="699"/>
            </a:xfrm>
            <a:custGeom>
              <a:avLst/>
              <a:gdLst>
                <a:gd name="T0" fmla="*/ 0 w 1"/>
                <a:gd name="T1" fmla="*/ 0 h 1095"/>
                <a:gd name="T2" fmla="*/ 0 w 1"/>
                <a:gd name="T3" fmla="*/ 1095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5">
                  <a:moveTo>
                    <a:pt x="0" y="0"/>
                  </a:moveTo>
                  <a:lnTo>
                    <a:pt x="0" y="109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grpSp>
          <p:nvGrpSpPr>
            <p:cNvPr id="321550" name="Group 14">
              <a:extLst>
                <a:ext uri="{FF2B5EF4-FFF2-40B4-BE49-F238E27FC236}">
                  <a16:creationId xmlns:a16="http://schemas.microsoft.com/office/drawing/2014/main" id="{1BFC8C40-F2D6-D91D-585D-F6D367A216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7" y="1371"/>
              <a:ext cx="2043" cy="1596"/>
              <a:chOff x="722" y="2619"/>
              <a:chExt cx="2043" cy="1596"/>
            </a:xfrm>
          </p:grpSpPr>
          <p:sp>
            <p:nvSpPr>
              <p:cNvPr id="321551" name="Freeform 15">
                <a:extLst>
                  <a:ext uri="{FF2B5EF4-FFF2-40B4-BE49-F238E27FC236}">
                    <a16:creationId xmlns:a16="http://schemas.microsoft.com/office/drawing/2014/main" id="{EA754E2B-78D5-6C1A-9E8D-2BF25F6BD6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" y="2619"/>
                <a:ext cx="3" cy="1596"/>
              </a:xfrm>
              <a:custGeom>
                <a:avLst/>
                <a:gdLst>
                  <a:gd name="T0" fmla="*/ 0 w 5"/>
                  <a:gd name="T1" fmla="*/ 0 h 2499"/>
                  <a:gd name="T2" fmla="*/ 5 w 5"/>
                  <a:gd name="T3" fmla="*/ 2499 h 2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499">
                    <a:moveTo>
                      <a:pt x="0" y="0"/>
                    </a:moveTo>
                    <a:lnTo>
                      <a:pt x="5" y="2499"/>
                    </a:ln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  <p:sp>
            <p:nvSpPr>
              <p:cNvPr id="321552" name="Freeform 16">
                <a:extLst>
                  <a:ext uri="{FF2B5EF4-FFF2-40B4-BE49-F238E27FC236}">
                    <a16:creationId xmlns:a16="http://schemas.microsoft.com/office/drawing/2014/main" id="{F38ED1C9-2C6C-F362-8159-136264B2E45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51" y="4007"/>
                <a:ext cx="2014" cy="197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321553" name="Freeform 17">
              <a:extLst>
                <a:ext uri="{FF2B5EF4-FFF2-40B4-BE49-F238E27FC236}">
                  <a16:creationId xmlns:a16="http://schemas.microsoft.com/office/drawing/2014/main" id="{EA544B50-9DD3-D466-2002-634A2C01408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87" y="2596"/>
              <a:ext cx="531" cy="100"/>
            </a:xfrm>
            <a:custGeom>
              <a:avLst/>
              <a:gdLst>
                <a:gd name="T0" fmla="*/ 0 w 2670"/>
                <a:gd name="T1" fmla="*/ 0 h 1"/>
                <a:gd name="T2" fmla="*/ 2670 w 267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70" h="1">
                  <a:moveTo>
                    <a:pt x="0" y="0"/>
                  </a:moveTo>
                  <a:lnTo>
                    <a:pt x="2670" y="0"/>
                  </a:lnTo>
                </a:path>
              </a:pathLst>
            </a:custGeom>
            <a:noFill/>
            <a:ln w="57150" cmpd="sng">
              <a:solidFill>
                <a:srgbClr val="24C03A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21554" name="Line 18">
              <a:extLst>
                <a:ext uri="{FF2B5EF4-FFF2-40B4-BE49-F238E27FC236}">
                  <a16:creationId xmlns:a16="http://schemas.microsoft.com/office/drawing/2014/main" id="{6B657753-1B91-CE90-B748-63A879525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697"/>
              <a:ext cx="383" cy="0"/>
            </a:xfrm>
            <a:prstGeom prst="line">
              <a:avLst/>
            </a:prstGeom>
            <a:noFill/>
            <a:ln w="57150">
              <a:solidFill>
                <a:srgbClr val="24C03A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21555" name="Text Box 19">
              <a:extLst>
                <a:ext uri="{FF2B5EF4-FFF2-40B4-BE49-F238E27FC236}">
                  <a16:creationId xmlns:a16="http://schemas.microsoft.com/office/drawing/2014/main" id="{C08BCB93-1602-C050-99CF-8E3C2EFE3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4" y="2961"/>
              <a:ext cx="236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21556" name="Line 20">
              <a:extLst>
                <a:ext uri="{FF2B5EF4-FFF2-40B4-BE49-F238E27FC236}">
                  <a16:creationId xmlns:a16="http://schemas.microsoft.com/office/drawing/2014/main" id="{9AA027A2-6D33-7385-1E61-8E6F3C788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" y="1513"/>
              <a:ext cx="0" cy="145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grpSp>
          <p:nvGrpSpPr>
            <p:cNvPr id="321557" name="Group 21">
              <a:extLst>
                <a:ext uri="{FF2B5EF4-FFF2-40B4-BE49-F238E27FC236}">
                  <a16:creationId xmlns:a16="http://schemas.microsoft.com/office/drawing/2014/main" id="{8F6EC62D-FA7F-A244-DC9B-0282AC8962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3" y="1671"/>
              <a:ext cx="2345" cy="1296"/>
              <a:chOff x="738" y="2919"/>
              <a:chExt cx="2345" cy="1296"/>
            </a:xfrm>
          </p:grpSpPr>
          <p:sp>
            <p:nvSpPr>
              <p:cNvPr id="321558" name="Text Box 22">
                <a:extLst>
                  <a:ext uri="{FF2B5EF4-FFF2-40B4-BE49-F238E27FC236}">
                    <a16:creationId xmlns:a16="http://schemas.microsoft.com/office/drawing/2014/main" id="{AEAE0DB8-2285-3671-6443-4895CE315E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5" y="2919"/>
                <a:ext cx="3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sy</a:t>
                </a:r>
              </a:p>
            </p:txBody>
          </p:sp>
          <p:sp>
            <p:nvSpPr>
              <p:cNvPr id="321559" name="Freeform 23">
                <a:extLst>
                  <a:ext uri="{FF2B5EF4-FFF2-40B4-BE49-F238E27FC236}">
                    <a16:creationId xmlns:a16="http://schemas.microsoft.com/office/drawing/2014/main" id="{13BFAC1B-506F-059E-11DE-4E75295B6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" y="3054"/>
                <a:ext cx="2007" cy="1161"/>
              </a:xfrm>
              <a:custGeom>
                <a:avLst/>
                <a:gdLst>
                  <a:gd name="T0" fmla="*/ 0 w 2687"/>
                  <a:gd name="T1" fmla="*/ 1817 h 1817"/>
                  <a:gd name="T2" fmla="*/ 100 w 2687"/>
                  <a:gd name="T3" fmla="*/ 1426 h 1817"/>
                  <a:gd name="T4" fmla="*/ 153 w 2687"/>
                  <a:gd name="T5" fmla="*/ 1253 h 1817"/>
                  <a:gd name="T6" fmla="*/ 233 w 2687"/>
                  <a:gd name="T7" fmla="*/ 1093 h 1817"/>
                  <a:gd name="T8" fmla="*/ 367 w 2687"/>
                  <a:gd name="T9" fmla="*/ 893 h 1817"/>
                  <a:gd name="T10" fmla="*/ 567 w 2687"/>
                  <a:gd name="T11" fmla="*/ 706 h 1817"/>
                  <a:gd name="T12" fmla="*/ 727 w 2687"/>
                  <a:gd name="T13" fmla="*/ 586 h 1817"/>
                  <a:gd name="T14" fmla="*/ 900 w 2687"/>
                  <a:gd name="T15" fmla="*/ 466 h 1817"/>
                  <a:gd name="T16" fmla="*/ 1153 w 2687"/>
                  <a:gd name="T17" fmla="*/ 333 h 1817"/>
                  <a:gd name="T18" fmla="*/ 1380 w 2687"/>
                  <a:gd name="T19" fmla="*/ 226 h 1817"/>
                  <a:gd name="T20" fmla="*/ 1673 w 2687"/>
                  <a:gd name="T21" fmla="*/ 160 h 1817"/>
                  <a:gd name="T22" fmla="*/ 1887 w 2687"/>
                  <a:gd name="T23" fmla="*/ 106 h 1817"/>
                  <a:gd name="T24" fmla="*/ 2060 w 2687"/>
                  <a:gd name="T25" fmla="*/ 80 h 1817"/>
                  <a:gd name="T26" fmla="*/ 2687 w 2687"/>
                  <a:gd name="T27" fmla="*/ 0 h 1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87" h="1817">
                    <a:moveTo>
                      <a:pt x="0" y="1817"/>
                    </a:moveTo>
                    <a:lnTo>
                      <a:pt x="100" y="1426"/>
                    </a:lnTo>
                    <a:lnTo>
                      <a:pt x="153" y="1253"/>
                    </a:lnTo>
                    <a:lnTo>
                      <a:pt x="233" y="1093"/>
                    </a:lnTo>
                    <a:lnTo>
                      <a:pt x="367" y="893"/>
                    </a:lnTo>
                    <a:lnTo>
                      <a:pt x="567" y="706"/>
                    </a:lnTo>
                    <a:lnTo>
                      <a:pt x="727" y="586"/>
                    </a:lnTo>
                    <a:lnTo>
                      <a:pt x="900" y="466"/>
                    </a:lnTo>
                    <a:lnTo>
                      <a:pt x="1153" y="333"/>
                    </a:lnTo>
                    <a:lnTo>
                      <a:pt x="1380" y="226"/>
                    </a:lnTo>
                    <a:lnTo>
                      <a:pt x="1673" y="160"/>
                    </a:lnTo>
                    <a:lnTo>
                      <a:pt x="1887" y="106"/>
                    </a:lnTo>
                    <a:lnTo>
                      <a:pt x="2060" y="80"/>
                    </a:lnTo>
                    <a:lnTo>
                      <a:pt x="2687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21578" name="Rectangle 42">
            <a:extLst>
              <a:ext uri="{FF2B5EF4-FFF2-40B4-BE49-F238E27FC236}">
                <a16:creationId xmlns:a16="http://schemas.microsoft.com/office/drawing/2014/main" id="{9D9D127C-0193-F377-7289-4077B71788B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6172200"/>
            <a:ext cx="8458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b="1"/>
              <a:t>条件趋同，如果经济间具有不同的稳定状态，经济体间的收入水平不趋于相等，但增长速度趋于相等。</a:t>
            </a:r>
          </a:p>
        </p:txBody>
      </p:sp>
      <p:grpSp>
        <p:nvGrpSpPr>
          <p:cNvPr id="321579" name="Group 43">
            <a:extLst>
              <a:ext uri="{FF2B5EF4-FFF2-40B4-BE49-F238E27FC236}">
                <a16:creationId xmlns:a16="http://schemas.microsoft.com/office/drawing/2014/main" id="{70A8AEF2-E54E-637E-E93A-4056511A17D6}"/>
              </a:ext>
            </a:extLst>
          </p:cNvPr>
          <p:cNvGrpSpPr>
            <a:grpSpLocks/>
          </p:cNvGrpSpPr>
          <p:nvPr/>
        </p:nvGrpSpPr>
        <p:grpSpPr bwMode="auto">
          <a:xfrm>
            <a:off x="4862513" y="2133600"/>
            <a:ext cx="3748087" cy="3200400"/>
            <a:chOff x="2967" y="1200"/>
            <a:chExt cx="2361" cy="2016"/>
          </a:xfrm>
        </p:grpSpPr>
        <p:grpSp>
          <p:nvGrpSpPr>
            <p:cNvPr id="321580" name="Group 44">
              <a:extLst>
                <a:ext uri="{FF2B5EF4-FFF2-40B4-BE49-F238E27FC236}">
                  <a16:creationId xmlns:a16="http://schemas.microsoft.com/office/drawing/2014/main" id="{637982D2-F891-9E3B-4462-883CBB8B0D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8" y="1200"/>
              <a:ext cx="2256" cy="1757"/>
              <a:chOff x="733" y="2539"/>
              <a:chExt cx="2095" cy="1666"/>
            </a:xfrm>
          </p:grpSpPr>
          <p:sp>
            <p:nvSpPr>
              <p:cNvPr id="321581" name="Text Box 45">
                <a:extLst>
                  <a:ext uri="{FF2B5EF4-FFF2-40B4-BE49-F238E27FC236}">
                    <a16:creationId xmlns:a16="http://schemas.microsoft.com/office/drawing/2014/main" id="{953E0292-3748-CEB9-E0A2-A175179E33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6" y="2539"/>
                <a:ext cx="672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（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n+d</a:t>
                </a:r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）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321582" name="Freeform 46">
                <a:extLst>
                  <a:ext uri="{FF2B5EF4-FFF2-40B4-BE49-F238E27FC236}">
                    <a16:creationId xmlns:a16="http://schemas.microsoft.com/office/drawing/2014/main" id="{338C53BF-FF2E-C8D8-7A0D-5CE9678EE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" y="2720"/>
                <a:ext cx="1781" cy="1485"/>
              </a:xfrm>
              <a:custGeom>
                <a:avLst/>
                <a:gdLst>
                  <a:gd name="T0" fmla="*/ 0 w 2385"/>
                  <a:gd name="T1" fmla="*/ 2325 h 2325"/>
                  <a:gd name="T2" fmla="*/ 2385 w 2385"/>
                  <a:gd name="T3" fmla="*/ 0 h 2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85" h="2325">
                    <a:moveTo>
                      <a:pt x="0" y="2325"/>
                    </a:moveTo>
                    <a:lnTo>
                      <a:pt x="2385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321583" name="Text Box 47">
              <a:extLst>
                <a:ext uri="{FF2B5EF4-FFF2-40B4-BE49-F238E27FC236}">
                  <a16:creationId xmlns:a16="http://schemas.microsoft.com/office/drawing/2014/main" id="{5DD5D172-07A7-69D8-A499-FF09F43DD2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" y="2976"/>
              <a:ext cx="29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k*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1584" name="Line 48">
              <a:extLst>
                <a:ext uri="{FF2B5EF4-FFF2-40B4-BE49-F238E27FC236}">
                  <a16:creationId xmlns:a16="http://schemas.microsoft.com/office/drawing/2014/main" id="{3024FEFF-FCD1-80CE-7EEF-53B0CC4B5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4" y="1920"/>
              <a:ext cx="0" cy="10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21585" name="Text Box 49">
              <a:extLst>
                <a:ext uri="{FF2B5EF4-FFF2-40B4-BE49-F238E27FC236}">
                  <a16:creationId xmlns:a16="http://schemas.microsoft.com/office/drawing/2014/main" id="{5917F7E1-E5EE-EAE4-BEE6-E2C13AD1F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2976"/>
              <a:ext cx="26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1586" name="Freeform 50">
              <a:extLst>
                <a:ext uri="{FF2B5EF4-FFF2-40B4-BE49-F238E27FC236}">
                  <a16:creationId xmlns:a16="http://schemas.microsoft.com/office/drawing/2014/main" id="{2EC6A535-AA1E-D15F-1AF2-FC412DCFD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2258"/>
              <a:ext cx="0" cy="699"/>
            </a:xfrm>
            <a:custGeom>
              <a:avLst/>
              <a:gdLst>
                <a:gd name="T0" fmla="*/ 0 w 1"/>
                <a:gd name="T1" fmla="*/ 0 h 1095"/>
                <a:gd name="T2" fmla="*/ 0 w 1"/>
                <a:gd name="T3" fmla="*/ 1095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5">
                  <a:moveTo>
                    <a:pt x="0" y="0"/>
                  </a:moveTo>
                  <a:lnTo>
                    <a:pt x="0" y="109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grpSp>
          <p:nvGrpSpPr>
            <p:cNvPr id="321587" name="Group 51">
              <a:extLst>
                <a:ext uri="{FF2B5EF4-FFF2-40B4-BE49-F238E27FC236}">
                  <a16:creationId xmlns:a16="http://schemas.microsoft.com/office/drawing/2014/main" id="{456E4F70-985B-EC9E-1948-D92D5F46FA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7" y="1371"/>
              <a:ext cx="2043" cy="1596"/>
              <a:chOff x="722" y="2619"/>
              <a:chExt cx="2043" cy="1596"/>
            </a:xfrm>
          </p:grpSpPr>
          <p:sp>
            <p:nvSpPr>
              <p:cNvPr id="321588" name="Freeform 52">
                <a:extLst>
                  <a:ext uri="{FF2B5EF4-FFF2-40B4-BE49-F238E27FC236}">
                    <a16:creationId xmlns:a16="http://schemas.microsoft.com/office/drawing/2014/main" id="{42AAF99A-C9B8-782E-7C24-F41A18E71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" y="2619"/>
                <a:ext cx="3" cy="1596"/>
              </a:xfrm>
              <a:custGeom>
                <a:avLst/>
                <a:gdLst>
                  <a:gd name="T0" fmla="*/ 0 w 5"/>
                  <a:gd name="T1" fmla="*/ 0 h 2499"/>
                  <a:gd name="T2" fmla="*/ 5 w 5"/>
                  <a:gd name="T3" fmla="*/ 2499 h 2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499">
                    <a:moveTo>
                      <a:pt x="0" y="0"/>
                    </a:moveTo>
                    <a:lnTo>
                      <a:pt x="5" y="2499"/>
                    </a:ln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  <p:sp>
            <p:nvSpPr>
              <p:cNvPr id="321589" name="Freeform 53">
                <a:extLst>
                  <a:ext uri="{FF2B5EF4-FFF2-40B4-BE49-F238E27FC236}">
                    <a16:creationId xmlns:a16="http://schemas.microsoft.com/office/drawing/2014/main" id="{5F3AF288-614B-8B8A-FE8A-6C1B58261E8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51" y="4007"/>
                <a:ext cx="2014" cy="197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321590" name="Freeform 54">
              <a:extLst>
                <a:ext uri="{FF2B5EF4-FFF2-40B4-BE49-F238E27FC236}">
                  <a16:creationId xmlns:a16="http://schemas.microsoft.com/office/drawing/2014/main" id="{D57E2BA7-4B65-6FE3-8804-207F6525A9F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87" y="2596"/>
              <a:ext cx="531" cy="100"/>
            </a:xfrm>
            <a:custGeom>
              <a:avLst/>
              <a:gdLst>
                <a:gd name="T0" fmla="*/ 0 w 2670"/>
                <a:gd name="T1" fmla="*/ 0 h 1"/>
                <a:gd name="T2" fmla="*/ 2670 w 267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70" h="1">
                  <a:moveTo>
                    <a:pt x="0" y="0"/>
                  </a:moveTo>
                  <a:lnTo>
                    <a:pt x="2670" y="0"/>
                  </a:lnTo>
                </a:path>
              </a:pathLst>
            </a:custGeom>
            <a:noFill/>
            <a:ln w="57150" cmpd="sng">
              <a:solidFill>
                <a:srgbClr val="24C03A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21591" name="Line 55">
              <a:extLst>
                <a:ext uri="{FF2B5EF4-FFF2-40B4-BE49-F238E27FC236}">
                  <a16:creationId xmlns:a16="http://schemas.microsoft.com/office/drawing/2014/main" id="{BB787AFF-B144-FA14-1BDF-01F2867F20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697"/>
              <a:ext cx="383" cy="0"/>
            </a:xfrm>
            <a:prstGeom prst="line">
              <a:avLst/>
            </a:prstGeom>
            <a:noFill/>
            <a:ln w="57150">
              <a:solidFill>
                <a:srgbClr val="24C03A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21592" name="Text Box 56">
              <a:extLst>
                <a:ext uri="{FF2B5EF4-FFF2-40B4-BE49-F238E27FC236}">
                  <a16:creationId xmlns:a16="http://schemas.microsoft.com/office/drawing/2014/main" id="{81EE71B1-7020-508F-AA17-F8C91AA12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4" y="2961"/>
              <a:ext cx="236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21593" name="Line 57">
              <a:extLst>
                <a:ext uri="{FF2B5EF4-FFF2-40B4-BE49-F238E27FC236}">
                  <a16:creationId xmlns:a16="http://schemas.microsoft.com/office/drawing/2014/main" id="{2CB6A272-2078-362C-AFB3-6C6E0AB3D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" y="1513"/>
              <a:ext cx="0" cy="145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grpSp>
          <p:nvGrpSpPr>
            <p:cNvPr id="321594" name="Group 58">
              <a:extLst>
                <a:ext uri="{FF2B5EF4-FFF2-40B4-BE49-F238E27FC236}">
                  <a16:creationId xmlns:a16="http://schemas.microsoft.com/office/drawing/2014/main" id="{1F244D16-BAF3-29F7-021F-440542206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3" y="1671"/>
              <a:ext cx="2345" cy="1296"/>
              <a:chOff x="738" y="2919"/>
              <a:chExt cx="2345" cy="1296"/>
            </a:xfrm>
          </p:grpSpPr>
          <p:sp>
            <p:nvSpPr>
              <p:cNvPr id="321595" name="Text Box 59">
                <a:extLst>
                  <a:ext uri="{FF2B5EF4-FFF2-40B4-BE49-F238E27FC236}">
                    <a16:creationId xmlns:a16="http://schemas.microsoft.com/office/drawing/2014/main" id="{3326A159-5FC7-DBF4-61A5-E1E11208B8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5" y="2919"/>
                <a:ext cx="3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 b="1" baseline="-25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321596" name="Freeform 60">
                <a:extLst>
                  <a:ext uri="{FF2B5EF4-FFF2-40B4-BE49-F238E27FC236}">
                    <a16:creationId xmlns:a16="http://schemas.microsoft.com/office/drawing/2014/main" id="{54398A3F-B3E6-B492-2BE8-80A14BD503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" y="3054"/>
                <a:ext cx="2007" cy="1161"/>
              </a:xfrm>
              <a:custGeom>
                <a:avLst/>
                <a:gdLst>
                  <a:gd name="T0" fmla="*/ 0 w 2687"/>
                  <a:gd name="T1" fmla="*/ 1817 h 1817"/>
                  <a:gd name="T2" fmla="*/ 100 w 2687"/>
                  <a:gd name="T3" fmla="*/ 1426 h 1817"/>
                  <a:gd name="T4" fmla="*/ 153 w 2687"/>
                  <a:gd name="T5" fmla="*/ 1253 h 1817"/>
                  <a:gd name="T6" fmla="*/ 233 w 2687"/>
                  <a:gd name="T7" fmla="*/ 1093 h 1817"/>
                  <a:gd name="T8" fmla="*/ 367 w 2687"/>
                  <a:gd name="T9" fmla="*/ 893 h 1817"/>
                  <a:gd name="T10" fmla="*/ 567 w 2687"/>
                  <a:gd name="T11" fmla="*/ 706 h 1817"/>
                  <a:gd name="T12" fmla="*/ 727 w 2687"/>
                  <a:gd name="T13" fmla="*/ 586 h 1817"/>
                  <a:gd name="T14" fmla="*/ 900 w 2687"/>
                  <a:gd name="T15" fmla="*/ 466 h 1817"/>
                  <a:gd name="T16" fmla="*/ 1153 w 2687"/>
                  <a:gd name="T17" fmla="*/ 333 h 1817"/>
                  <a:gd name="T18" fmla="*/ 1380 w 2687"/>
                  <a:gd name="T19" fmla="*/ 226 h 1817"/>
                  <a:gd name="T20" fmla="*/ 1673 w 2687"/>
                  <a:gd name="T21" fmla="*/ 160 h 1817"/>
                  <a:gd name="T22" fmla="*/ 1887 w 2687"/>
                  <a:gd name="T23" fmla="*/ 106 h 1817"/>
                  <a:gd name="T24" fmla="*/ 2060 w 2687"/>
                  <a:gd name="T25" fmla="*/ 80 h 1817"/>
                  <a:gd name="T26" fmla="*/ 2687 w 2687"/>
                  <a:gd name="T27" fmla="*/ 0 h 1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87" h="1817">
                    <a:moveTo>
                      <a:pt x="0" y="1817"/>
                    </a:moveTo>
                    <a:lnTo>
                      <a:pt x="100" y="1426"/>
                    </a:lnTo>
                    <a:lnTo>
                      <a:pt x="153" y="1253"/>
                    </a:lnTo>
                    <a:lnTo>
                      <a:pt x="233" y="1093"/>
                    </a:lnTo>
                    <a:lnTo>
                      <a:pt x="367" y="893"/>
                    </a:lnTo>
                    <a:lnTo>
                      <a:pt x="567" y="706"/>
                    </a:lnTo>
                    <a:lnTo>
                      <a:pt x="727" y="586"/>
                    </a:lnTo>
                    <a:lnTo>
                      <a:pt x="900" y="466"/>
                    </a:lnTo>
                    <a:lnTo>
                      <a:pt x="1153" y="333"/>
                    </a:lnTo>
                    <a:lnTo>
                      <a:pt x="1380" y="226"/>
                    </a:lnTo>
                    <a:lnTo>
                      <a:pt x="1673" y="160"/>
                    </a:lnTo>
                    <a:lnTo>
                      <a:pt x="1887" y="106"/>
                    </a:lnTo>
                    <a:lnTo>
                      <a:pt x="2060" y="80"/>
                    </a:lnTo>
                    <a:lnTo>
                      <a:pt x="2687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21600" name="Group 64">
            <a:extLst>
              <a:ext uri="{FF2B5EF4-FFF2-40B4-BE49-F238E27FC236}">
                <a16:creationId xmlns:a16="http://schemas.microsoft.com/office/drawing/2014/main" id="{B5EEC237-DBF6-FFAD-53B4-1EF4AB3E3E9D}"/>
              </a:ext>
            </a:extLst>
          </p:cNvPr>
          <p:cNvGrpSpPr>
            <a:grpSpLocks/>
          </p:cNvGrpSpPr>
          <p:nvPr/>
        </p:nvGrpSpPr>
        <p:grpSpPr bwMode="auto">
          <a:xfrm>
            <a:off x="4857750" y="3276600"/>
            <a:ext cx="3829050" cy="1709738"/>
            <a:chOff x="3012" y="2112"/>
            <a:chExt cx="2412" cy="1077"/>
          </a:xfrm>
        </p:grpSpPr>
        <p:sp>
          <p:nvSpPr>
            <p:cNvPr id="321598" name="Freeform 62">
              <a:extLst>
                <a:ext uri="{FF2B5EF4-FFF2-40B4-BE49-F238E27FC236}">
                  <a16:creationId xmlns:a16="http://schemas.microsoft.com/office/drawing/2014/main" id="{B91151C3-4DBD-4119-9071-DA7FE6CB9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2" y="2201"/>
              <a:ext cx="2146" cy="988"/>
            </a:xfrm>
            <a:custGeom>
              <a:avLst/>
              <a:gdLst>
                <a:gd name="T0" fmla="*/ 60 w 2146"/>
                <a:gd name="T1" fmla="*/ 871 h 988"/>
                <a:gd name="T2" fmla="*/ 60 w 2146"/>
                <a:gd name="T3" fmla="*/ 919 h 988"/>
                <a:gd name="T4" fmla="*/ 418 w 2146"/>
                <a:gd name="T5" fmla="*/ 455 h 988"/>
                <a:gd name="T6" fmla="*/ 1166 w 2146"/>
                <a:gd name="T7" fmla="*/ 77 h 988"/>
                <a:gd name="T8" fmla="*/ 2146 w 2146"/>
                <a:gd name="T9" fmla="*/ 0 h 9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6" h="988">
                  <a:moveTo>
                    <a:pt x="60" y="871"/>
                  </a:moveTo>
                  <a:cubicBezTo>
                    <a:pt x="52" y="923"/>
                    <a:pt x="0" y="988"/>
                    <a:pt x="60" y="919"/>
                  </a:cubicBezTo>
                  <a:cubicBezTo>
                    <a:pt x="120" y="850"/>
                    <a:pt x="234" y="595"/>
                    <a:pt x="418" y="455"/>
                  </a:cubicBezTo>
                  <a:cubicBezTo>
                    <a:pt x="602" y="315"/>
                    <a:pt x="878" y="153"/>
                    <a:pt x="1166" y="77"/>
                  </a:cubicBezTo>
                  <a:cubicBezTo>
                    <a:pt x="1454" y="1"/>
                    <a:pt x="1942" y="16"/>
                    <a:pt x="2146" y="0"/>
                  </a:cubicBezTo>
                </a:path>
              </a:pathLst>
            </a:custGeom>
            <a:noFill/>
            <a:ln w="38100" cap="flat" cmpd="sng">
              <a:solidFill>
                <a:srgbClr val="00FF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1599" name="Text Box 63">
              <a:extLst>
                <a:ext uri="{FF2B5EF4-FFF2-40B4-BE49-F238E27FC236}">
                  <a16:creationId xmlns:a16="http://schemas.microsoft.com/office/drawing/2014/main" id="{2D3A7C1B-71B6-C3EB-A61F-B0AF6440F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2112"/>
              <a:ext cx="24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FF00"/>
                  </a:solidFill>
                </a:rPr>
                <a:t>s</a:t>
              </a:r>
              <a:r>
                <a:rPr lang="en-US" altLang="zh-CN" b="1" baseline="-25000">
                  <a:solidFill>
                    <a:srgbClr val="00FF00"/>
                  </a:solidFill>
                </a:rPr>
                <a:t>2</a:t>
              </a:r>
              <a:r>
                <a:rPr lang="en-US" altLang="zh-CN" b="1">
                  <a:solidFill>
                    <a:srgbClr val="00FF00"/>
                  </a:solidFill>
                </a:rPr>
                <a:t>y</a:t>
              </a:r>
            </a:p>
          </p:txBody>
        </p:sp>
      </p:grpSp>
      <p:sp>
        <p:nvSpPr>
          <p:cNvPr id="321601" name="Oval 65">
            <a:extLst>
              <a:ext uri="{FF2B5EF4-FFF2-40B4-BE49-F238E27FC236}">
                <a16:creationId xmlns:a16="http://schemas.microsoft.com/office/drawing/2014/main" id="{21CEF765-4CAC-D5FD-5122-479E929AA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486150"/>
            <a:ext cx="457200" cy="400050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b="1"/>
              <a:t>低</a:t>
            </a:r>
          </a:p>
        </p:txBody>
      </p:sp>
      <p:sp>
        <p:nvSpPr>
          <p:cNvPr id="321602" name="Oval 66">
            <a:extLst>
              <a:ext uri="{FF2B5EF4-FFF2-40B4-BE49-F238E27FC236}">
                <a16:creationId xmlns:a16="http://schemas.microsoft.com/office/drawing/2014/main" id="{6C5BAD19-18F5-B130-607E-2A9F606C2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048000"/>
            <a:ext cx="457200" cy="4000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b="1"/>
              <a:t>高</a:t>
            </a:r>
          </a:p>
        </p:txBody>
      </p:sp>
      <p:sp>
        <p:nvSpPr>
          <p:cNvPr id="321603" name="Line 67">
            <a:extLst>
              <a:ext uri="{FF2B5EF4-FFF2-40B4-BE49-F238E27FC236}">
                <a16:creationId xmlns:a16="http://schemas.microsoft.com/office/drawing/2014/main" id="{D1C22E65-1873-F01A-BF05-90F7CA38B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5791200"/>
            <a:ext cx="1676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1604" name="Line 68">
            <a:extLst>
              <a:ext uri="{FF2B5EF4-FFF2-40B4-BE49-F238E27FC236}">
                <a16:creationId xmlns:a16="http://schemas.microsoft.com/office/drawing/2014/main" id="{AE22210D-7CCE-1B3E-6359-C1B701A46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6477000"/>
            <a:ext cx="1981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1605" name="Line 69">
            <a:extLst>
              <a:ext uri="{FF2B5EF4-FFF2-40B4-BE49-F238E27FC236}">
                <a16:creationId xmlns:a16="http://schemas.microsoft.com/office/drawing/2014/main" id="{10E7B101-33A6-1D98-631D-ABC957C0C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6096000"/>
            <a:ext cx="1905000" cy="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1606" name="Line 70">
            <a:extLst>
              <a:ext uri="{FF2B5EF4-FFF2-40B4-BE49-F238E27FC236}">
                <a16:creationId xmlns:a16="http://schemas.microsoft.com/office/drawing/2014/main" id="{C728D2DC-F6B4-C4A5-45C2-BC96DDFB9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6781800"/>
            <a:ext cx="1905000" cy="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2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2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2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2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2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2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2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1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1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8" dur="500"/>
                                        <p:tgtEl>
                                          <p:spTgt spid="32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8" grpId="0" autoUpdateAnimBg="0"/>
      <p:bldP spid="321540" grpId="0" autoUpdateAnimBg="0"/>
      <p:bldP spid="321541" grpId="0" autoUpdateAnimBg="0"/>
      <p:bldP spid="321578" grpId="0" autoUpdateAnimBg="0"/>
      <p:bldP spid="321601" grpId="0" animBg="1" autoUpdateAnimBg="0"/>
      <p:bldP spid="321602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id="{8CA05FDC-5213-CE0E-7ACD-5140467E3A1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685800" y="285750"/>
            <a:ext cx="8059738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2.4 </a:t>
            </a:r>
            <a:r>
              <a:rPr lang="zh-CN" altLang="en-US" b="1">
                <a:solidFill>
                  <a:srgbClr val="CC0000"/>
                </a:solidFill>
              </a:rPr>
              <a:t>内生增长理论</a:t>
            </a:r>
            <a:r>
              <a:rPr lang="en-US" altLang="zh-CN" b="1">
                <a:solidFill>
                  <a:srgbClr val="CC0000"/>
                </a:solidFill>
              </a:rPr>
              <a:t>—</a:t>
            </a:r>
            <a:r>
              <a:rPr lang="zh-CN" altLang="en-US" b="1">
                <a:solidFill>
                  <a:srgbClr val="CC0000"/>
                </a:solidFill>
              </a:rPr>
              <a:t>实证分析</a:t>
            </a:r>
          </a:p>
        </p:txBody>
      </p:sp>
      <p:graphicFrame>
        <p:nvGraphicFramePr>
          <p:cNvPr id="327683" name="Object 3">
            <a:extLst>
              <a:ext uri="{FF2B5EF4-FFF2-40B4-BE49-F238E27FC236}">
                <a16:creationId xmlns:a16="http://schemas.microsoft.com/office/drawing/2014/main" id="{3A5493E2-555E-71B0-4F62-80382B4A35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713" y="1574800"/>
          <a:ext cx="8353425" cy="524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10925556" imgH="6115507" progId="MSGraph.Chart.8">
                  <p:embed followColorScheme="full"/>
                </p:oleObj>
              </mc:Choice>
              <mc:Fallback>
                <p:oleObj name="Chart" r:id="rId2" imgW="10925556" imgH="6115507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3" y="1574800"/>
                        <a:ext cx="8353425" cy="524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27683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27683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27683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27683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oleChartEl type="series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27683">
                                            <p:oleChartEl type="series" lvl="4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oleChartEl type="series" lvl="5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327683">
                                            <p:oleChartEl type="series" lvl="5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oleChartEl type="series" lvl="6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327683">
                                            <p:oleChartEl type="series" lvl="6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oleChartEl type="series" lvl="7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327683">
                                            <p:oleChartEl type="series" lvl="7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oleChartEl type="series" lvl="8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327683">
                                            <p:oleChartEl type="series" lvl="8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oleChartEl type="series" lvl="9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327683">
                                            <p:oleChartEl type="series" lvl="9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oleChartEl type="series" lvl="10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327683">
                                            <p:oleChartEl type="series" lvl="10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27683" grpId="0" bld="series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3586" name="Object 2">
            <a:extLst>
              <a:ext uri="{FF2B5EF4-FFF2-40B4-BE49-F238E27FC236}">
                <a16:creationId xmlns:a16="http://schemas.microsoft.com/office/drawing/2014/main" id="{C4C4A3AB-B2B4-30A9-9C8D-2D30125F1B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057400"/>
          <a:ext cx="60960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057400"/>
                        <a:ext cx="60960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87" name="Rectangle 3">
            <a:extLst>
              <a:ext uri="{FF2B5EF4-FFF2-40B4-BE49-F238E27FC236}">
                <a16:creationId xmlns:a16="http://schemas.microsoft.com/office/drawing/2014/main" id="{6AACA3CB-F23C-EC68-637D-ACEB4F486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5" y="2865438"/>
            <a:ext cx="2790825" cy="2316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数据来源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Barro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等（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1995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）表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10.1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样本是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16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个发达国家，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1960-1985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存在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PS" pitchFamily="18" charset="2"/>
              </a:rPr>
              <a:t>趋同</a:t>
            </a:r>
            <a:endParaRPr lang="zh-CN" altLang="en-US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23588" name="Rectangle 4">
            <a:extLst>
              <a:ext uri="{FF2B5EF4-FFF2-40B4-BE49-F238E27FC236}">
                <a16:creationId xmlns:a16="http://schemas.microsoft.com/office/drawing/2014/main" id="{615BCE7A-804C-C2A7-F246-04CE1B03D2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8059738" cy="11430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 b="1">
                <a:solidFill>
                  <a:srgbClr val="CC0000"/>
                </a:solidFill>
              </a:rPr>
              <a:t>2.4 </a:t>
            </a:r>
            <a:r>
              <a:rPr lang="zh-CN" altLang="en-US" b="1">
                <a:solidFill>
                  <a:srgbClr val="CC0000"/>
                </a:solidFill>
              </a:rPr>
              <a:t>内生增长理论</a:t>
            </a:r>
            <a:r>
              <a:rPr lang="en-US" altLang="zh-CN" b="1">
                <a:solidFill>
                  <a:srgbClr val="CC0000"/>
                </a:solidFill>
              </a:rPr>
              <a:t>—</a:t>
            </a:r>
            <a:r>
              <a:rPr lang="zh-CN" altLang="en-US" b="1">
                <a:solidFill>
                  <a:srgbClr val="CC0000"/>
                </a:solidFill>
              </a:rPr>
              <a:t>实证分析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6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6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3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23586" grpId="0" bld="series"/>
      <p:bldP spid="32358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>
            <a:extLst>
              <a:ext uri="{FF2B5EF4-FFF2-40B4-BE49-F238E27FC236}">
                <a16:creationId xmlns:a16="http://schemas.microsoft.com/office/drawing/2014/main" id="{F2ECB12C-F4D6-F63E-D17F-73AEE246A8C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685800" y="285750"/>
            <a:ext cx="8059738" cy="1143000"/>
          </a:xfrm>
        </p:spPr>
        <p:txBody>
          <a:bodyPr/>
          <a:lstStyle/>
          <a:p>
            <a:r>
              <a:rPr lang="en-US" altLang="zh-CN"/>
              <a:t>2.4</a:t>
            </a:r>
            <a:r>
              <a:rPr lang="zh-CN" altLang="en-US"/>
              <a:t>、</a:t>
            </a:r>
            <a:r>
              <a:rPr lang="zh-CN" altLang="en-US" b="1"/>
              <a:t>条件</a:t>
            </a:r>
            <a:r>
              <a:rPr lang="zh-CN" altLang="en-US" b="1">
                <a:sym typeface="Symbol" panose="05050102010706020507" pitchFamily="18" charset="2"/>
              </a:rPr>
              <a:t>趋同</a:t>
            </a:r>
            <a:endParaRPr lang="zh-CN" altLang="en-US" b="1"/>
          </a:p>
        </p:txBody>
      </p:sp>
      <p:graphicFrame>
        <p:nvGraphicFramePr>
          <p:cNvPr id="330755" name="Object 3">
            <a:extLst>
              <a:ext uri="{FF2B5EF4-FFF2-40B4-BE49-F238E27FC236}">
                <a16:creationId xmlns:a16="http://schemas.microsoft.com/office/drawing/2014/main" id="{105D666F-E16F-D5B7-0E58-8E3B9FA1F9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288" y="1376363"/>
          <a:ext cx="60960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" y="1376363"/>
                        <a:ext cx="60960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56" name="Rectangle 4">
            <a:extLst>
              <a:ext uri="{FF2B5EF4-FFF2-40B4-BE49-F238E27FC236}">
                <a16:creationId xmlns:a16="http://schemas.microsoft.com/office/drawing/2014/main" id="{64C6CC85-E723-5B45-F8B4-B6B6D4B38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2335213"/>
            <a:ext cx="3057525" cy="236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数据来源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Barro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等（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1995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）表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10.1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样本是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118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个经济体，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1960-1985</a:t>
            </a:r>
          </a:p>
          <a:p>
            <a:pPr lvl="1" eaLnBrk="0" hangingPunct="0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全球范围内不存在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PS" pitchFamily="18" charset="2"/>
              </a:rPr>
              <a:t>趋同</a:t>
            </a:r>
            <a:endParaRPr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55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55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3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30755" grpId="0" bld="series"/>
      <p:bldP spid="33075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>
            <a:extLst>
              <a:ext uri="{FF2B5EF4-FFF2-40B4-BE49-F238E27FC236}">
                <a16:creationId xmlns:a16="http://schemas.microsoft.com/office/drawing/2014/main" id="{2CB97F46-94D1-7E35-1722-ABC6218CC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1568450"/>
            <a:ext cx="7902575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全球范围内存在条件趋同</a:t>
            </a:r>
          </a:p>
        </p:txBody>
      </p:sp>
      <p:graphicFrame>
        <p:nvGraphicFramePr>
          <p:cNvPr id="331779" name="Object 3">
            <a:extLst>
              <a:ext uri="{FF2B5EF4-FFF2-40B4-BE49-F238E27FC236}">
                <a16:creationId xmlns:a16="http://schemas.microsoft.com/office/drawing/2014/main" id="{213CCE6B-50EB-E7D4-EB19-15BA46AFF5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225" y="2584450"/>
          <a:ext cx="60960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2584450"/>
                        <a:ext cx="60960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0" name="Rectangle 4">
            <a:extLst>
              <a:ext uri="{FF2B5EF4-FFF2-40B4-BE49-F238E27FC236}">
                <a16:creationId xmlns:a16="http://schemas.microsoft.com/office/drawing/2014/main" id="{604DBB6F-8C10-317C-37F4-F14699727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0" y="3079750"/>
            <a:ext cx="2049463" cy="273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数据来源于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Jones(1998)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表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B2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数据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104</a:t>
            </a: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个经济体；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样本区间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1960-1990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FFFF00"/>
              </a:buClr>
              <a:buSzPct val="75000"/>
              <a:buFont typeface="Monotype Sorts" pitchFamily="2" charset="2"/>
              <a:buChar char="F"/>
            </a:pPr>
            <a:r>
              <a:rPr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控制了</a:t>
            </a: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</a:p>
        </p:txBody>
      </p:sp>
      <p:sp>
        <p:nvSpPr>
          <p:cNvPr id="331781" name="Rectangle 5">
            <a:extLst>
              <a:ext uri="{FF2B5EF4-FFF2-40B4-BE49-F238E27FC236}">
                <a16:creationId xmlns:a16="http://schemas.microsoft.com/office/drawing/2014/main" id="{B105F745-C0DD-82B7-0043-E34555B46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8059738" cy="11430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 b="1"/>
              <a:t>2.4</a:t>
            </a:r>
            <a:r>
              <a:rPr lang="zh-CN" altLang="en-US" b="1"/>
              <a:t>、条件</a:t>
            </a:r>
            <a:r>
              <a:rPr lang="zh-CN" altLang="en-US" b="1">
                <a:sym typeface="Symbol" panose="05050102010706020507" pitchFamily="18" charset="2"/>
              </a:rPr>
              <a:t>趋同</a:t>
            </a:r>
            <a:endParaRPr lang="zh-CN" altLang="en-US" b="1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300"/>
                                        <p:tgtEl>
                                          <p:spTgt spid="3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79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79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8" grpId="0" autoUpdateAnimBg="0"/>
      <p:bldOleChart spid="331779" grpId="0" bld="series"/>
      <p:bldP spid="33178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>
            <a:extLst>
              <a:ext uri="{FF2B5EF4-FFF2-40B4-BE49-F238E27FC236}">
                <a16:creationId xmlns:a16="http://schemas.microsoft.com/office/drawing/2014/main" id="{E7A29762-9FB8-3290-BC41-1AE512FB493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2.4 </a:t>
            </a:r>
            <a:r>
              <a:rPr lang="zh-CN" altLang="en-US" b="1">
                <a:solidFill>
                  <a:srgbClr val="CC0000"/>
                </a:solidFill>
              </a:rPr>
              <a:t>内生增长理论</a:t>
            </a:r>
            <a:r>
              <a:rPr lang="en-US" altLang="zh-CN" b="1">
                <a:solidFill>
                  <a:srgbClr val="CC0000"/>
                </a:solidFill>
              </a:rPr>
              <a:t>—</a:t>
            </a:r>
            <a:r>
              <a:rPr lang="zh-CN" altLang="en-US" b="1">
                <a:solidFill>
                  <a:srgbClr val="CC0000"/>
                </a:solidFill>
              </a:rPr>
              <a:t>实证分析</a:t>
            </a:r>
          </a:p>
        </p:txBody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0CEA6C0D-7947-E3CD-6167-840B3DE80530}"/>
              </a:ext>
            </a:extLst>
          </p:cNvPr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609600" y="1600200"/>
            <a:ext cx="3997325" cy="44989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000" b="1"/>
              <a:t>全球增长速度在加速</a:t>
            </a:r>
          </a:p>
        </p:txBody>
      </p:sp>
      <p:graphicFrame>
        <p:nvGraphicFramePr>
          <p:cNvPr id="328823" name="Group 119">
            <a:extLst>
              <a:ext uri="{FF2B5EF4-FFF2-40B4-BE49-F238E27FC236}">
                <a16:creationId xmlns:a16="http://schemas.microsoft.com/office/drawing/2014/main" id="{25DB636A-3A3A-1693-65FC-1E8CFC7D2ACC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4765675" y="1600200"/>
          <a:ext cx="3997325" cy="2103438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784972766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153867759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6129511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43602023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605939606"/>
                    </a:ext>
                  </a:extLst>
                </a:gridCol>
              </a:tblGrid>
              <a:tr h="273050">
                <a:tc gridSpan="5"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</a:t>
                      </a: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</a:t>
                      </a: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最发达国家的劳均产出增长率   单位</a:t>
                      </a: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%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574307"/>
                  </a:ext>
                </a:extLst>
              </a:tr>
              <a:tr h="273050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最发达的国家</a:t>
                      </a:r>
                      <a:endParaRPr kumimoji="0" lang="zh-CN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时期</a:t>
                      </a: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平均增长率</a:t>
                      </a: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时期</a:t>
                      </a: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平均增长率</a:t>
                      </a: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62228"/>
                  </a:ext>
                </a:extLst>
              </a:tr>
              <a:tr h="254000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荷兰</a:t>
                      </a: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1700-1785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-0.07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1800-1840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0.58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4866"/>
                  </a:ext>
                </a:extLst>
              </a:tr>
              <a:tr h="255588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英国</a:t>
                      </a: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1785-1820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0.5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1840-1880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1.44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777671"/>
                  </a:ext>
                </a:extLst>
              </a:tr>
              <a:tr h="255588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英国</a:t>
                      </a: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1820-1890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1.4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1880-1920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1.78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976342"/>
                  </a:ext>
                </a:extLst>
              </a:tr>
              <a:tr h="254000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美国</a:t>
                      </a: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1890-1979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1920-1960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1.68</a:t>
                      </a:r>
                      <a:endParaRPr kumimoji="0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104243"/>
                  </a:ext>
                </a:extLst>
              </a:tr>
              <a:tr h="415925">
                <a:tc gridSpan="5"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注：数据来源于罗默（</a:t>
                      </a: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1986</a:t>
                      </a: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），表</a:t>
                      </a: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和表</a:t>
                      </a: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；右边是美国</a:t>
                      </a: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1800-1978</a:t>
                      </a: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年间各阶段的平均增长速度</a:t>
                      </a: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013318"/>
                  </a:ext>
                </a:extLst>
              </a:tr>
            </a:tbl>
          </a:graphicData>
        </a:graphic>
      </p:graphicFrame>
      <p:sp>
        <p:nvSpPr>
          <p:cNvPr id="328750" name="Rectangle 46">
            <a:extLst>
              <a:ext uri="{FF2B5EF4-FFF2-40B4-BE49-F238E27FC236}">
                <a16:creationId xmlns:a16="http://schemas.microsoft.com/office/drawing/2014/main" id="{D6D8DAA8-9B54-D9C1-5ED9-03B87960D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2895600"/>
            <a:ext cx="3243263" cy="93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/>
              <a:t>近</a:t>
            </a:r>
            <a:r>
              <a:rPr lang="en-US" altLang="zh-CN" sz="2000" b="1"/>
              <a:t>100</a:t>
            </a:r>
            <a:r>
              <a:rPr lang="zh-CN" altLang="en-US" sz="2000" b="1"/>
              <a:t>年来发达国家的增长是平稳的，但储蓄率是上升的</a:t>
            </a:r>
          </a:p>
        </p:txBody>
      </p:sp>
      <p:graphicFrame>
        <p:nvGraphicFramePr>
          <p:cNvPr id="328751" name="Group 47">
            <a:extLst>
              <a:ext uri="{FF2B5EF4-FFF2-40B4-BE49-F238E27FC236}">
                <a16:creationId xmlns:a16="http://schemas.microsoft.com/office/drawing/2014/main" id="{7FC87BDA-AE9A-6108-F38B-325381C84390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514350" y="4168775"/>
          <a:ext cx="3692525" cy="2185988"/>
        </p:xfrm>
        <a:graphic>
          <a:graphicData uri="http://schemas.openxmlformats.org/drawingml/2006/table">
            <a:tbl>
              <a:tblPr/>
              <a:tblGrid>
                <a:gridCol w="942975">
                  <a:extLst>
                    <a:ext uri="{9D8B030D-6E8A-4147-A177-3AD203B41FA5}">
                      <a16:colId xmlns:a16="http://schemas.microsoft.com/office/drawing/2014/main" val="1110608631"/>
                    </a:ext>
                  </a:extLst>
                </a:gridCol>
                <a:gridCol w="573088">
                  <a:extLst>
                    <a:ext uri="{9D8B030D-6E8A-4147-A177-3AD203B41FA5}">
                      <a16:colId xmlns:a16="http://schemas.microsoft.com/office/drawing/2014/main" val="2167042112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396184943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1811938461"/>
                    </a:ext>
                  </a:extLst>
                </a:gridCol>
                <a:gridCol w="592138">
                  <a:extLst>
                    <a:ext uri="{9D8B030D-6E8A-4147-A177-3AD203B41FA5}">
                      <a16:colId xmlns:a16="http://schemas.microsoft.com/office/drawing/2014/main" val="940908441"/>
                    </a:ext>
                  </a:extLst>
                </a:gridCol>
                <a:gridCol w="573087">
                  <a:extLst>
                    <a:ext uri="{9D8B030D-6E8A-4147-A177-3AD203B41FA5}">
                      <a16:colId xmlns:a16="http://schemas.microsoft.com/office/drawing/2014/main" val="360887838"/>
                    </a:ext>
                  </a:extLst>
                </a:gridCol>
              </a:tblGrid>
              <a:tr h="22066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年份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法国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德国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日本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英国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美国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048638"/>
                  </a:ext>
                </a:extLst>
              </a:tr>
              <a:tr h="219075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1950-1954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18.4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26.1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16.1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12.1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16.5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634902"/>
                  </a:ext>
                </a:extLst>
              </a:tr>
              <a:tr h="22066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1955-1959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20.8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29.2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19.0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14.3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16.0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226745"/>
                  </a:ext>
                </a:extLst>
              </a:tr>
              <a:tr h="22066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1960-1964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24.0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30.3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26.8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16.7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15.7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122852"/>
                  </a:ext>
                </a:extLst>
              </a:tr>
              <a:tr h="219075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1965-1969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26.9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29.5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30.7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18.9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16.9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970974"/>
                  </a:ext>
                </a:extLst>
              </a:tr>
              <a:tr h="22066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1970-1974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29.5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28.7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36.5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19.6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17.2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289083"/>
                  </a:ext>
                </a:extLst>
              </a:tr>
              <a:tr h="22066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1975-1979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26.4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24.7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32.5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18.7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17.4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158736"/>
                  </a:ext>
                </a:extLst>
              </a:tr>
              <a:tr h="219075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1980-1984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24.2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23.9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29.4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16.2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17.3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710770"/>
                  </a:ext>
                </a:extLst>
              </a:tr>
              <a:tr h="22066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1985-1988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23.7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23.6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29.6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18.8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18.1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08929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8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7" grpId="0" build="p" autoUpdateAnimBg="0"/>
      <p:bldP spid="328750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>
            <a:extLst>
              <a:ext uri="{FF2B5EF4-FFF2-40B4-BE49-F238E27FC236}">
                <a16:creationId xmlns:a16="http://schemas.microsoft.com/office/drawing/2014/main" id="{3741FBDF-8B67-D468-F184-CE86E90E773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sz="4000" b="1">
                <a:solidFill>
                  <a:srgbClr val="CC0000"/>
                </a:solidFill>
              </a:rPr>
              <a:t>3.1 </a:t>
            </a:r>
            <a:r>
              <a:rPr lang="zh-CN" altLang="en-US" sz="4000" b="1">
                <a:solidFill>
                  <a:srgbClr val="CC0000"/>
                </a:solidFill>
              </a:rPr>
              <a:t>索罗模型与内生增长理论的结合</a:t>
            </a:r>
          </a:p>
        </p:txBody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7E94DB59-A6E1-120B-235F-C492DD7A9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5396" name="Rectangle 4">
            <a:extLst>
              <a:ext uri="{FF2B5EF4-FFF2-40B4-BE49-F238E27FC236}">
                <a16:creationId xmlns:a16="http://schemas.microsoft.com/office/drawing/2014/main" id="{419CA3B7-499C-F81B-7532-4E5798756CB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143000"/>
            <a:ext cx="8001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当今世界，有些经济体根本没有增长，而有些经济体却快速增长。如何解释？</a:t>
            </a:r>
            <a:endParaRPr lang="zh-CN" altLang="en-US" sz="2400" b="1"/>
          </a:p>
        </p:txBody>
      </p:sp>
      <p:sp>
        <p:nvSpPr>
          <p:cNvPr id="315397" name="Rectangle 5">
            <a:extLst>
              <a:ext uri="{FF2B5EF4-FFF2-40B4-BE49-F238E27FC236}">
                <a16:creationId xmlns:a16="http://schemas.microsoft.com/office/drawing/2014/main" id="{FD0B361D-B86A-2C21-C31F-17F83820C7F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2286000"/>
            <a:ext cx="73152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两部门模型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假定经济体 的生产有两个部门构成：一个部门资本边际产出递减；另一个部门资本边际产出不变。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000" b="1"/>
              <a:t>其他假设同前</a:t>
            </a:r>
          </a:p>
        </p:txBody>
      </p:sp>
      <p:grpSp>
        <p:nvGrpSpPr>
          <p:cNvPr id="315472" name="Group 80">
            <a:extLst>
              <a:ext uri="{FF2B5EF4-FFF2-40B4-BE49-F238E27FC236}">
                <a16:creationId xmlns:a16="http://schemas.microsoft.com/office/drawing/2014/main" id="{942C0479-C4D4-57CD-97F1-1F35B665D4CE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038600"/>
            <a:ext cx="3657600" cy="2438400"/>
            <a:chOff x="3408" y="2544"/>
            <a:chExt cx="2304" cy="1536"/>
          </a:xfrm>
        </p:grpSpPr>
        <p:sp>
          <p:nvSpPr>
            <p:cNvPr id="315416" name="Text Box 24">
              <a:extLst>
                <a:ext uri="{FF2B5EF4-FFF2-40B4-BE49-F238E27FC236}">
                  <a16:creationId xmlns:a16="http://schemas.microsoft.com/office/drawing/2014/main" id="{13743539-2C27-08CE-09D2-FC4F1D1FC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1" y="2544"/>
              <a:ext cx="631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（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n+d</a:t>
              </a:r>
              <a:r>
                <a:rPr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）</a:t>
              </a:r>
              <a:r>
                <a:rPr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315417" name="Freeform 25">
              <a:extLst>
                <a:ext uri="{FF2B5EF4-FFF2-40B4-BE49-F238E27FC236}">
                  <a16:creationId xmlns:a16="http://schemas.microsoft.com/office/drawing/2014/main" id="{C40CCB48-339A-E3EE-31E0-AC5529F42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688"/>
              <a:ext cx="1920" cy="1392"/>
            </a:xfrm>
            <a:custGeom>
              <a:avLst/>
              <a:gdLst>
                <a:gd name="T0" fmla="*/ 0 w 2385"/>
                <a:gd name="T1" fmla="*/ 2325 h 2325"/>
                <a:gd name="T2" fmla="*/ 2385 w 2385"/>
                <a:gd name="T3" fmla="*/ 0 h 2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85" h="2325">
                  <a:moveTo>
                    <a:pt x="0" y="2325"/>
                  </a:moveTo>
                  <a:lnTo>
                    <a:pt x="238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</p:grpSp>
      <p:grpSp>
        <p:nvGrpSpPr>
          <p:cNvPr id="315428" name="Group 36">
            <a:extLst>
              <a:ext uri="{FF2B5EF4-FFF2-40B4-BE49-F238E27FC236}">
                <a16:creationId xmlns:a16="http://schemas.microsoft.com/office/drawing/2014/main" id="{FF271391-5449-033D-8595-19259F029614}"/>
              </a:ext>
            </a:extLst>
          </p:cNvPr>
          <p:cNvGrpSpPr>
            <a:grpSpLocks/>
          </p:cNvGrpSpPr>
          <p:nvPr/>
        </p:nvGrpSpPr>
        <p:grpSpPr bwMode="auto">
          <a:xfrm>
            <a:off x="4911725" y="3962400"/>
            <a:ext cx="3886200" cy="2895600"/>
            <a:chOff x="2640" y="1488"/>
            <a:chExt cx="2448" cy="1824"/>
          </a:xfrm>
        </p:grpSpPr>
        <p:grpSp>
          <p:nvGrpSpPr>
            <p:cNvPr id="315429" name="Group 37">
              <a:extLst>
                <a:ext uri="{FF2B5EF4-FFF2-40B4-BE49-F238E27FC236}">
                  <a16:creationId xmlns:a16="http://schemas.microsoft.com/office/drawing/2014/main" id="{04577803-063C-3065-A48E-29180298F6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1488"/>
              <a:ext cx="2043" cy="1596"/>
              <a:chOff x="722" y="2619"/>
              <a:chExt cx="2043" cy="1596"/>
            </a:xfrm>
          </p:grpSpPr>
          <p:sp>
            <p:nvSpPr>
              <p:cNvPr id="315430" name="Freeform 38">
                <a:extLst>
                  <a:ext uri="{FF2B5EF4-FFF2-40B4-BE49-F238E27FC236}">
                    <a16:creationId xmlns:a16="http://schemas.microsoft.com/office/drawing/2014/main" id="{673B2F26-AD9E-67F9-22C4-A55F3C5F1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" y="2619"/>
                <a:ext cx="3" cy="1596"/>
              </a:xfrm>
              <a:custGeom>
                <a:avLst/>
                <a:gdLst>
                  <a:gd name="T0" fmla="*/ 0 w 5"/>
                  <a:gd name="T1" fmla="*/ 0 h 2499"/>
                  <a:gd name="T2" fmla="*/ 5 w 5"/>
                  <a:gd name="T3" fmla="*/ 2499 h 2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499">
                    <a:moveTo>
                      <a:pt x="0" y="0"/>
                    </a:moveTo>
                    <a:lnTo>
                      <a:pt x="5" y="2499"/>
                    </a:ln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  <p:sp>
            <p:nvSpPr>
              <p:cNvPr id="315431" name="Freeform 39">
                <a:extLst>
                  <a:ext uri="{FF2B5EF4-FFF2-40B4-BE49-F238E27FC236}">
                    <a16:creationId xmlns:a16="http://schemas.microsoft.com/office/drawing/2014/main" id="{EB96C0FA-0570-4716-1A12-140AFFA00A4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51" y="4007"/>
                <a:ext cx="2014" cy="197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315432" name="Text Box 40">
              <a:extLst>
                <a:ext uri="{FF2B5EF4-FFF2-40B4-BE49-F238E27FC236}">
                  <a16:creationId xmlns:a16="http://schemas.microsoft.com/office/drawing/2014/main" id="{EFAB1665-19FE-5EF4-8AA4-EABF0A797F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3081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/>
                <a:t>k</a:t>
              </a:r>
            </a:p>
          </p:txBody>
        </p:sp>
        <p:sp>
          <p:nvSpPr>
            <p:cNvPr id="315433" name="Text Box 41">
              <a:extLst>
                <a:ext uri="{FF2B5EF4-FFF2-40B4-BE49-F238E27FC236}">
                  <a16:creationId xmlns:a16="http://schemas.microsoft.com/office/drawing/2014/main" id="{33FD6E8F-E78F-04CB-7995-B37042894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48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/>
                <a:t>y</a:t>
              </a:r>
            </a:p>
          </p:txBody>
        </p:sp>
      </p:grpSp>
      <p:grpSp>
        <p:nvGrpSpPr>
          <p:cNvPr id="315473" name="Group 81">
            <a:extLst>
              <a:ext uri="{FF2B5EF4-FFF2-40B4-BE49-F238E27FC236}">
                <a16:creationId xmlns:a16="http://schemas.microsoft.com/office/drawing/2014/main" id="{5F233A19-9F31-5AD0-935F-FDD737112287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3810000"/>
            <a:ext cx="2895600" cy="2667000"/>
            <a:chOff x="3408" y="2400"/>
            <a:chExt cx="1824" cy="1680"/>
          </a:xfrm>
        </p:grpSpPr>
        <p:sp>
          <p:nvSpPr>
            <p:cNvPr id="315439" name="Text Box 47">
              <a:extLst>
                <a:ext uri="{FF2B5EF4-FFF2-40B4-BE49-F238E27FC236}">
                  <a16:creationId xmlns:a16="http://schemas.microsoft.com/office/drawing/2014/main" id="{3BE0E584-7C27-143D-5449-0F0F2807A2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0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sy</a:t>
              </a:r>
              <a:endParaRPr lang="en-US" altLang="zh-CN" b="1" baseline="30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15440" name="Freeform 48">
              <a:extLst>
                <a:ext uri="{FF2B5EF4-FFF2-40B4-BE49-F238E27FC236}">
                  <a16:creationId xmlns:a16="http://schemas.microsoft.com/office/drawing/2014/main" id="{B3F358B4-41BE-21D8-F775-9B1DAF4AA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3547"/>
              <a:ext cx="1064" cy="533"/>
            </a:xfrm>
            <a:custGeom>
              <a:avLst/>
              <a:gdLst>
                <a:gd name="T0" fmla="*/ 0 w 1039"/>
                <a:gd name="T1" fmla="*/ 636 h 636"/>
                <a:gd name="T2" fmla="*/ 128 w 1039"/>
                <a:gd name="T3" fmla="*/ 292 h 636"/>
                <a:gd name="T4" fmla="*/ 342 w 1039"/>
                <a:gd name="T5" fmla="*/ 94 h 636"/>
                <a:gd name="T6" fmla="*/ 1039 w 1039"/>
                <a:gd name="T7" fmla="*/ 0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9" h="636">
                  <a:moveTo>
                    <a:pt x="0" y="636"/>
                  </a:moveTo>
                  <a:cubicBezTo>
                    <a:pt x="21" y="579"/>
                    <a:pt x="71" y="382"/>
                    <a:pt x="128" y="292"/>
                  </a:cubicBezTo>
                  <a:cubicBezTo>
                    <a:pt x="185" y="202"/>
                    <a:pt x="190" y="143"/>
                    <a:pt x="342" y="94"/>
                  </a:cubicBezTo>
                  <a:cubicBezTo>
                    <a:pt x="494" y="45"/>
                    <a:pt x="894" y="20"/>
                    <a:pt x="1039" y="0"/>
                  </a:cubicBezTo>
                </a:path>
              </a:pathLst>
            </a:custGeom>
            <a:noFill/>
            <a:ln w="571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441" name="Freeform 49">
              <a:extLst>
                <a:ext uri="{FF2B5EF4-FFF2-40B4-BE49-F238E27FC236}">
                  <a16:creationId xmlns:a16="http://schemas.microsoft.com/office/drawing/2014/main" id="{033207D7-4087-38AC-8F6E-A34DBDC17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" y="2592"/>
              <a:ext cx="616" cy="940"/>
            </a:xfrm>
            <a:custGeom>
              <a:avLst/>
              <a:gdLst>
                <a:gd name="T0" fmla="*/ 0 w 929"/>
                <a:gd name="T1" fmla="*/ 835 h 835"/>
                <a:gd name="T2" fmla="*/ 929 w 929"/>
                <a:gd name="T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29" h="835">
                  <a:moveTo>
                    <a:pt x="0" y="835"/>
                  </a:moveTo>
                  <a:lnTo>
                    <a:pt x="929" y="0"/>
                  </a:lnTo>
                </a:path>
              </a:pathLst>
            </a:custGeom>
            <a:noFill/>
            <a:ln w="57150" cmpd="sng">
              <a:solidFill>
                <a:schemeClr val="tx2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</p:grpSp>
      <p:grpSp>
        <p:nvGrpSpPr>
          <p:cNvPr id="315446" name="Group 54">
            <a:extLst>
              <a:ext uri="{FF2B5EF4-FFF2-40B4-BE49-F238E27FC236}">
                <a16:creationId xmlns:a16="http://schemas.microsoft.com/office/drawing/2014/main" id="{0BDC6C77-89AE-A69A-74EF-1D74BDBFA703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968750"/>
            <a:ext cx="3886200" cy="2895600"/>
            <a:chOff x="2640" y="1488"/>
            <a:chExt cx="2448" cy="1824"/>
          </a:xfrm>
        </p:grpSpPr>
        <p:grpSp>
          <p:nvGrpSpPr>
            <p:cNvPr id="315447" name="Group 55">
              <a:extLst>
                <a:ext uri="{FF2B5EF4-FFF2-40B4-BE49-F238E27FC236}">
                  <a16:creationId xmlns:a16="http://schemas.microsoft.com/office/drawing/2014/main" id="{3C2A6431-9FB0-A5F0-FA2F-178A08DB5A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1488"/>
              <a:ext cx="2043" cy="1596"/>
              <a:chOff x="722" y="2619"/>
              <a:chExt cx="2043" cy="1596"/>
            </a:xfrm>
          </p:grpSpPr>
          <p:sp>
            <p:nvSpPr>
              <p:cNvPr id="315448" name="Freeform 56">
                <a:extLst>
                  <a:ext uri="{FF2B5EF4-FFF2-40B4-BE49-F238E27FC236}">
                    <a16:creationId xmlns:a16="http://schemas.microsoft.com/office/drawing/2014/main" id="{18746F3D-3373-3157-1B10-8A4EA13AC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" y="2619"/>
                <a:ext cx="3" cy="1596"/>
              </a:xfrm>
              <a:custGeom>
                <a:avLst/>
                <a:gdLst>
                  <a:gd name="T0" fmla="*/ 0 w 5"/>
                  <a:gd name="T1" fmla="*/ 0 h 2499"/>
                  <a:gd name="T2" fmla="*/ 5 w 5"/>
                  <a:gd name="T3" fmla="*/ 2499 h 2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499">
                    <a:moveTo>
                      <a:pt x="0" y="0"/>
                    </a:moveTo>
                    <a:lnTo>
                      <a:pt x="5" y="2499"/>
                    </a:ln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  <p:sp>
            <p:nvSpPr>
              <p:cNvPr id="315449" name="Freeform 57">
                <a:extLst>
                  <a:ext uri="{FF2B5EF4-FFF2-40B4-BE49-F238E27FC236}">
                    <a16:creationId xmlns:a16="http://schemas.microsoft.com/office/drawing/2014/main" id="{7FB993FC-F69E-8543-361A-6E43623F6B1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51" y="4007"/>
                <a:ext cx="2014" cy="197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315450" name="Text Box 58">
              <a:extLst>
                <a:ext uri="{FF2B5EF4-FFF2-40B4-BE49-F238E27FC236}">
                  <a16:creationId xmlns:a16="http://schemas.microsoft.com/office/drawing/2014/main" id="{45AD7068-F54B-8BD0-E551-17573E747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3081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/>
                <a:t>k</a:t>
              </a:r>
            </a:p>
          </p:txBody>
        </p:sp>
        <p:sp>
          <p:nvSpPr>
            <p:cNvPr id="315451" name="Text Box 59">
              <a:extLst>
                <a:ext uri="{FF2B5EF4-FFF2-40B4-BE49-F238E27FC236}">
                  <a16:creationId xmlns:a16="http://schemas.microsoft.com/office/drawing/2014/main" id="{DC4D5C31-C197-CA82-5E08-8F32D5E82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48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/>
                <a:t>y</a:t>
              </a:r>
            </a:p>
          </p:txBody>
        </p:sp>
      </p:grpSp>
      <p:grpSp>
        <p:nvGrpSpPr>
          <p:cNvPr id="315461" name="Group 69">
            <a:extLst>
              <a:ext uri="{FF2B5EF4-FFF2-40B4-BE49-F238E27FC236}">
                <a16:creationId xmlns:a16="http://schemas.microsoft.com/office/drawing/2014/main" id="{41EB2D2E-F2A4-CAA7-A5EE-6676822DC200}"/>
              </a:ext>
            </a:extLst>
          </p:cNvPr>
          <p:cNvGrpSpPr>
            <a:grpSpLocks/>
          </p:cNvGrpSpPr>
          <p:nvPr/>
        </p:nvGrpSpPr>
        <p:grpSpPr bwMode="auto">
          <a:xfrm>
            <a:off x="650875" y="3830638"/>
            <a:ext cx="4038600" cy="2652712"/>
            <a:chOff x="410" y="2413"/>
            <a:chExt cx="2544" cy="1671"/>
          </a:xfrm>
        </p:grpSpPr>
        <p:sp>
          <p:nvSpPr>
            <p:cNvPr id="315453" name="Text Box 61">
              <a:extLst>
                <a:ext uri="{FF2B5EF4-FFF2-40B4-BE49-F238E27FC236}">
                  <a16:creationId xmlns:a16="http://schemas.microsoft.com/office/drawing/2014/main" id="{A3E67936-CB9F-1813-F287-1ADEFE06FC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8" y="2413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y=y1+y2</a:t>
              </a:r>
              <a:endParaRPr lang="en-US" altLang="zh-CN" b="1" baseline="30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315454" name="Group 62">
              <a:extLst>
                <a:ext uri="{FF2B5EF4-FFF2-40B4-BE49-F238E27FC236}">
                  <a16:creationId xmlns:a16="http://schemas.microsoft.com/office/drawing/2014/main" id="{3697AFBB-8B9C-E55D-0A63-F84F2B3587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" y="2596"/>
              <a:ext cx="1968" cy="1488"/>
              <a:chOff x="2976" y="2544"/>
              <a:chExt cx="1968" cy="1488"/>
            </a:xfrm>
          </p:grpSpPr>
          <p:sp>
            <p:nvSpPr>
              <p:cNvPr id="315455" name="Freeform 63">
                <a:extLst>
                  <a:ext uri="{FF2B5EF4-FFF2-40B4-BE49-F238E27FC236}">
                    <a16:creationId xmlns:a16="http://schemas.microsoft.com/office/drawing/2014/main" id="{766B61C2-5427-2F6F-726C-F9BCFC1EC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6" y="3396"/>
                <a:ext cx="1039" cy="636"/>
              </a:xfrm>
              <a:custGeom>
                <a:avLst/>
                <a:gdLst>
                  <a:gd name="T0" fmla="*/ 0 w 1039"/>
                  <a:gd name="T1" fmla="*/ 636 h 636"/>
                  <a:gd name="T2" fmla="*/ 128 w 1039"/>
                  <a:gd name="T3" fmla="*/ 292 h 636"/>
                  <a:gd name="T4" fmla="*/ 342 w 1039"/>
                  <a:gd name="T5" fmla="*/ 94 h 636"/>
                  <a:gd name="T6" fmla="*/ 1039 w 1039"/>
                  <a:gd name="T7" fmla="*/ 0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9" h="636">
                    <a:moveTo>
                      <a:pt x="0" y="636"/>
                    </a:moveTo>
                    <a:cubicBezTo>
                      <a:pt x="21" y="579"/>
                      <a:pt x="71" y="382"/>
                      <a:pt x="128" y="292"/>
                    </a:cubicBezTo>
                    <a:cubicBezTo>
                      <a:pt x="185" y="202"/>
                      <a:pt x="190" y="143"/>
                      <a:pt x="342" y="94"/>
                    </a:cubicBezTo>
                    <a:cubicBezTo>
                      <a:pt x="494" y="45"/>
                      <a:pt x="894" y="20"/>
                      <a:pt x="1039" y="0"/>
                    </a:cubicBezTo>
                  </a:path>
                </a:pathLst>
              </a:custGeom>
              <a:noFill/>
              <a:ln w="57150" cmpd="sng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56" name="Freeform 64">
                <a:extLst>
                  <a:ext uri="{FF2B5EF4-FFF2-40B4-BE49-F238E27FC236}">
                    <a16:creationId xmlns:a16="http://schemas.microsoft.com/office/drawing/2014/main" id="{417B1004-D5D5-8A46-23E4-AD5D8A63F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5" y="2544"/>
                <a:ext cx="929" cy="835"/>
              </a:xfrm>
              <a:custGeom>
                <a:avLst/>
                <a:gdLst>
                  <a:gd name="T0" fmla="*/ 0 w 929"/>
                  <a:gd name="T1" fmla="*/ 835 h 835"/>
                  <a:gd name="T2" fmla="*/ 929 w 929"/>
                  <a:gd name="T3" fmla="*/ 0 h 8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29" h="835">
                    <a:moveTo>
                      <a:pt x="0" y="835"/>
                    </a:moveTo>
                    <a:lnTo>
                      <a:pt x="929" y="0"/>
                    </a:lnTo>
                  </a:path>
                </a:pathLst>
              </a:custGeom>
              <a:noFill/>
              <a:ln w="57150" cmpd="sng">
                <a:solidFill>
                  <a:schemeClr val="tx2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</p:grpSp>
      <p:grpSp>
        <p:nvGrpSpPr>
          <p:cNvPr id="315459" name="Group 67">
            <a:extLst>
              <a:ext uri="{FF2B5EF4-FFF2-40B4-BE49-F238E27FC236}">
                <a16:creationId xmlns:a16="http://schemas.microsoft.com/office/drawing/2014/main" id="{54F89FFD-3415-0E7D-4F83-E6A92925B74D}"/>
              </a:ext>
            </a:extLst>
          </p:cNvPr>
          <p:cNvGrpSpPr>
            <a:grpSpLocks/>
          </p:cNvGrpSpPr>
          <p:nvPr/>
        </p:nvGrpSpPr>
        <p:grpSpPr bwMode="auto">
          <a:xfrm>
            <a:off x="2327275" y="4883150"/>
            <a:ext cx="2057400" cy="1600200"/>
            <a:chOff x="1466" y="3076"/>
            <a:chExt cx="1296" cy="1008"/>
          </a:xfrm>
        </p:grpSpPr>
        <p:sp>
          <p:nvSpPr>
            <p:cNvPr id="315445" name="Freeform 53">
              <a:extLst>
                <a:ext uri="{FF2B5EF4-FFF2-40B4-BE49-F238E27FC236}">
                  <a16:creationId xmlns:a16="http://schemas.microsoft.com/office/drawing/2014/main" id="{9208B41D-25E8-0696-7002-B390609E9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" y="3268"/>
              <a:ext cx="960" cy="816"/>
            </a:xfrm>
            <a:custGeom>
              <a:avLst/>
              <a:gdLst>
                <a:gd name="T0" fmla="*/ 0 w 2385"/>
                <a:gd name="T1" fmla="*/ 2325 h 2325"/>
                <a:gd name="T2" fmla="*/ 2385 w 2385"/>
                <a:gd name="T3" fmla="*/ 0 h 2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85" h="2325">
                  <a:moveTo>
                    <a:pt x="0" y="2325"/>
                  </a:moveTo>
                  <a:lnTo>
                    <a:pt x="2385" y="0"/>
                  </a:lnTo>
                </a:path>
              </a:pathLst>
            </a:custGeom>
            <a:noFill/>
            <a:ln w="38100" cmpd="sng">
              <a:solidFill>
                <a:srgbClr val="24C03A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15457" name="Text Box 65">
              <a:extLst>
                <a:ext uri="{FF2B5EF4-FFF2-40B4-BE49-F238E27FC236}">
                  <a16:creationId xmlns:a16="http://schemas.microsoft.com/office/drawing/2014/main" id="{8366FC37-7E6F-89EE-8176-F8D3D3C37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8" y="3076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rgbClr val="33CC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y2</a:t>
              </a:r>
              <a:endParaRPr lang="en-US" altLang="zh-CN" b="1" baseline="30000">
                <a:solidFill>
                  <a:srgbClr val="33CC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5460" name="Group 68">
            <a:extLst>
              <a:ext uri="{FF2B5EF4-FFF2-40B4-BE49-F238E27FC236}">
                <a16:creationId xmlns:a16="http://schemas.microsoft.com/office/drawing/2014/main" id="{14DF4B5D-7B7F-A847-C704-28DBC2308BE1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257800"/>
            <a:ext cx="3733800" cy="1262063"/>
            <a:chOff x="384" y="3312"/>
            <a:chExt cx="2352" cy="795"/>
          </a:xfrm>
        </p:grpSpPr>
        <p:sp>
          <p:nvSpPr>
            <p:cNvPr id="315452" name="Freeform 60">
              <a:extLst>
                <a:ext uri="{FF2B5EF4-FFF2-40B4-BE49-F238E27FC236}">
                  <a16:creationId xmlns:a16="http://schemas.microsoft.com/office/drawing/2014/main" id="{EC7103A9-6CCF-EBEA-151D-16D9E681F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3415"/>
              <a:ext cx="2039" cy="692"/>
            </a:xfrm>
            <a:custGeom>
              <a:avLst/>
              <a:gdLst>
                <a:gd name="T0" fmla="*/ 0 w 2039"/>
                <a:gd name="T1" fmla="*/ 692 h 692"/>
                <a:gd name="T2" fmla="*/ 156 w 2039"/>
                <a:gd name="T3" fmla="*/ 334 h 692"/>
                <a:gd name="T4" fmla="*/ 537 w 2039"/>
                <a:gd name="T5" fmla="*/ 85 h 692"/>
                <a:gd name="T6" fmla="*/ 2039 w 2039"/>
                <a:gd name="T7" fmla="*/ 0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39" h="692">
                  <a:moveTo>
                    <a:pt x="0" y="692"/>
                  </a:moveTo>
                  <a:cubicBezTo>
                    <a:pt x="26" y="632"/>
                    <a:pt x="67" y="435"/>
                    <a:pt x="156" y="334"/>
                  </a:cubicBezTo>
                  <a:cubicBezTo>
                    <a:pt x="245" y="233"/>
                    <a:pt x="223" y="141"/>
                    <a:pt x="537" y="85"/>
                  </a:cubicBezTo>
                  <a:cubicBezTo>
                    <a:pt x="851" y="29"/>
                    <a:pt x="1726" y="18"/>
                    <a:pt x="2039" y="0"/>
                  </a:cubicBezTo>
                </a:path>
              </a:pathLst>
            </a:custGeom>
            <a:noFill/>
            <a:ln w="38100" cmpd="sng">
              <a:solidFill>
                <a:srgbClr val="24C03A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458" name="Text Box 66">
              <a:extLst>
                <a:ext uri="{FF2B5EF4-FFF2-40B4-BE49-F238E27FC236}">
                  <a16:creationId xmlns:a16="http://schemas.microsoft.com/office/drawing/2014/main" id="{4D87847D-DC3B-1F9E-8E25-74A7B9ACA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31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rgbClr val="33CC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y1</a:t>
              </a:r>
              <a:endParaRPr lang="en-US" altLang="zh-CN" b="1" baseline="30000">
                <a:solidFill>
                  <a:srgbClr val="33CC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5466" name="Group 74">
            <a:extLst>
              <a:ext uri="{FF2B5EF4-FFF2-40B4-BE49-F238E27FC236}">
                <a16:creationId xmlns:a16="http://schemas.microsoft.com/office/drawing/2014/main" id="{D7A527A8-50FE-7C63-47DB-66E22397D058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5715000"/>
            <a:ext cx="381000" cy="1036638"/>
            <a:chOff x="4032" y="3600"/>
            <a:chExt cx="240" cy="653"/>
          </a:xfrm>
        </p:grpSpPr>
        <p:sp>
          <p:nvSpPr>
            <p:cNvPr id="315462" name="Line 70">
              <a:extLst>
                <a:ext uri="{FF2B5EF4-FFF2-40B4-BE49-F238E27FC236}">
                  <a16:creationId xmlns:a16="http://schemas.microsoft.com/office/drawing/2014/main" id="{1C0E2206-5EB3-DB26-B39E-A4FB55461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60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464" name="Text Box 72">
              <a:extLst>
                <a:ext uri="{FF2B5EF4-FFF2-40B4-BE49-F238E27FC236}">
                  <a16:creationId xmlns:a16="http://schemas.microsoft.com/office/drawing/2014/main" id="{5E4F6173-3B13-A24C-96C8-7713A1BFF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4080"/>
              <a:ext cx="24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  <a:r>
                <a:rPr lang="en-US" altLang="zh-CN" b="1" baseline="-250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15467" name="Group 75">
            <a:extLst>
              <a:ext uri="{FF2B5EF4-FFF2-40B4-BE49-F238E27FC236}">
                <a16:creationId xmlns:a16="http://schemas.microsoft.com/office/drawing/2014/main" id="{D318F8A3-CEA6-E5C4-A3C1-9CC67F5945AB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4953000"/>
            <a:ext cx="381000" cy="1809750"/>
            <a:chOff x="4704" y="3120"/>
            <a:chExt cx="240" cy="1140"/>
          </a:xfrm>
        </p:grpSpPr>
        <p:sp>
          <p:nvSpPr>
            <p:cNvPr id="315463" name="Line 71">
              <a:extLst>
                <a:ext uri="{FF2B5EF4-FFF2-40B4-BE49-F238E27FC236}">
                  <a16:creationId xmlns:a16="http://schemas.microsoft.com/office/drawing/2014/main" id="{01572E17-D634-4153-F8DD-594404590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120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465" name="Text Box 73">
              <a:extLst>
                <a:ext uri="{FF2B5EF4-FFF2-40B4-BE49-F238E27FC236}">
                  <a16:creationId xmlns:a16="http://schemas.microsoft.com/office/drawing/2014/main" id="{BF74D112-33BC-2551-6447-6E31198FA9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4080"/>
              <a:ext cx="240" cy="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10800" rIns="1800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  <a:r>
                <a:rPr lang="en-US" altLang="zh-CN" b="1" baseline="-250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315468" name="AutoShape 76">
            <a:extLst>
              <a:ext uri="{FF2B5EF4-FFF2-40B4-BE49-F238E27FC236}">
                <a16:creationId xmlns:a16="http://schemas.microsoft.com/office/drawing/2014/main" id="{739A7D6C-D845-C314-18E9-66CF0635B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6324600"/>
            <a:ext cx="381000" cy="76200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00FF00"/>
          </a:solidFill>
          <a:ln w="9525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69" name="AutoShape 77">
            <a:extLst>
              <a:ext uri="{FF2B5EF4-FFF2-40B4-BE49-F238E27FC236}">
                <a16:creationId xmlns:a16="http://schemas.microsoft.com/office/drawing/2014/main" id="{0624B715-0E6A-D0BB-F786-09515B2EB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6324600"/>
            <a:ext cx="381000" cy="76200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00FF00"/>
          </a:solidFill>
          <a:ln w="9525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70" name="AutoShape 78">
            <a:extLst>
              <a:ext uri="{FF2B5EF4-FFF2-40B4-BE49-F238E27FC236}">
                <a16:creationId xmlns:a16="http://schemas.microsoft.com/office/drawing/2014/main" id="{8C3B1728-DCFC-AEFA-A7EC-C8A0596BA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6324600"/>
            <a:ext cx="381000" cy="76200"/>
          </a:xfrm>
          <a:prstGeom prst="leftArrow">
            <a:avLst>
              <a:gd name="adj1" fmla="val 50000"/>
              <a:gd name="adj2" fmla="val 125000"/>
            </a:avLst>
          </a:prstGeom>
          <a:solidFill>
            <a:srgbClr val="00FF00"/>
          </a:solidFill>
          <a:ln w="9525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1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15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46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154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4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1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31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1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15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31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2" dur="500"/>
                                        <p:tgtEl>
                                          <p:spTgt spid="31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1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15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1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4" grpId="0" autoUpdateAnimBg="0"/>
      <p:bldP spid="315396" grpId="0" autoUpdateAnimBg="0"/>
      <p:bldP spid="31539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AutoShape 2">
            <a:extLst>
              <a:ext uri="{FF2B5EF4-FFF2-40B4-BE49-F238E27FC236}">
                <a16:creationId xmlns:a16="http://schemas.microsoft.com/office/drawing/2014/main" id="{64510D64-6BDB-0BA2-9810-65A31E395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41960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solidFill>
            <a:srgbClr val="00FF00"/>
          </a:solidFill>
          <a:ln w="9525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600" b="1"/>
              <a:t>大推进</a:t>
            </a:r>
          </a:p>
        </p:txBody>
      </p:sp>
      <p:sp>
        <p:nvSpPr>
          <p:cNvPr id="333835" name="Rectangle 11">
            <a:extLst>
              <a:ext uri="{FF2B5EF4-FFF2-40B4-BE49-F238E27FC236}">
                <a16:creationId xmlns:a16="http://schemas.microsoft.com/office/drawing/2014/main" id="{5BE70677-5387-B9D4-752C-533CF57F15C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sz="4000" b="1">
                <a:solidFill>
                  <a:srgbClr val="CC0000"/>
                </a:solidFill>
              </a:rPr>
              <a:t>3.1 </a:t>
            </a:r>
            <a:r>
              <a:rPr lang="zh-CN" altLang="en-US" sz="4000" b="1">
                <a:solidFill>
                  <a:srgbClr val="CC0000"/>
                </a:solidFill>
              </a:rPr>
              <a:t>索罗模型与内生增长理论的结合</a:t>
            </a:r>
          </a:p>
        </p:txBody>
      </p:sp>
      <p:sp>
        <p:nvSpPr>
          <p:cNvPr id="333836" name="Rectangle 12">
            <a:extLst>
              <a:ext uri="{FF2B5EF4-FFF2-40B4-BE49-F238E27FC236}">
                <a16:creationId xmlns:a16="http://schemas.microsoft.com/office/drawing/2014/main" id="{3672AD19-3877-5973-DBDC-8A71F64FB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3837" name="Rectangle 13">
            <a:extLst>
              <a:ext uri="{FF2B5EF4-FFF2-40B4-BE49-F238E27FC236}">
                <a16:creationId xmlns:a16="http://schemas.microsoft.com/office/drawing/2014/main" id="{6BF65B44-0F38-36CB-7630-C72D84D3910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143000"/>
            <a:ext cx="5029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如何摆脱无增长的均衡？</a:t>
            </a:r>
            <a:endParaRPr lang="zh-CN" altLang="en-US" sz="2400" b="1"/>
          </a:p>
        </p:txBody>
      </p:sp>
      <p:sp>
        <p:nvSpPr>
          <p:cNvPr id="333838" name="Rectangle 14">
            <a:extLst>
              <a:ext uri="{FF2B5EF4-FFF2-40B4-BE49-F238E27FC236}">
                <a16:creationId xmlns:a16="http://schemas.microsoft.com/office/drawing/2014/main" id="{64D13B6D-AC5E-37FC-53C6-3B01B7225E1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258888" y="1773238"/>
            <a:ext cx="304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三种方案：</a:t>
            </a:r>
            <a:endParaRPr lang="zh-CN" altLang="en-US" sz="2000" b="1"/>
          </a:p>
        </p:txBody>
      </p:sp>
      <p:grpSp>
        <p:nvGrpSpPr>
          <p:cNvPr id="333839" name="Group 15">
            <a:extLst>
              <a:ext uri="{FF2B5EF4-FFF2-40B4-BE49-F238E27FC236}">
                <a16:creationId xmlns:a16="http://schemas.microsoft.com/office/drawing/2014/main" id="{268CCE1F-0C59-7ABB-C2D7-EE109B74ECA4}"/>
              </a:ext>
            </a:extLst>
          </p:cNvPr>
          <p:cNvGrpSpPr>
            <a:grpSpLocks/>
          </p:cNvGrpSpPr>
          <p:nvPr/>
        </p:nvGrpSpPr>
        <p:grpSpPr bwMode="auto">
          <a:xfrm>
            <a:off x="4911725" y="2209800"/>
            <a:ext cx="4156075" cy="3048000"/>
            <a:chOff x="3094" y="1392"/>
            <a:chExt cx="2618" cy="1920"/>
          </a:xfrm>
        </p:grpSpPr>
        <p:grpSp>
          <p:nvGrpSpPr>
            <p:cNvPr id="333840" name="Group 16">
              <a:extLst>
                <a:ext uri="{FF2B5EF4-FFF2-40B4-BE49-F238E27FC236}">
                  <a16:creationId xmlns:a16="http://schemas.microsoft.com/office/drawing/2014/main" id="{A7540D5E-485B-06EB-0463-08E2B74383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1536"/>
              <a:ext cx="2304" cy="1536"/>
              <a:chOff x="3408" y="2544"/>
              <a:chExt cx="2304" cy="1536"/>
            </a:xfrm>
          </p:grpSpPr>
          <p:sp>
            <p:nvSpPr>
              <p:cNvPr id="333841" name="Text Box 17">
                <a:extLst>
                  <a:ext uri="{FF2B5EF4-FFF2-40B4-BE49-F238E27FC236}">
                    <a16:creationId xmlns:a16="http://schemas.microsoft.com/office/drawing/2014/main" id="{4A2051CD-12B8-42F3-0537-A19F1FDDB5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1" y="2544"/>
                <a:ext cx="631" cy="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zh-CN" altLang="en-US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（</a:t>
                </a:r>
                <a:r>
                  <a:rPr lang="en-US" altLang="zh-CN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n+d</a:t>
                </a:r>
                <a:r>
                  <a:rPr lang="zh-CN" altLang="en-US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）</a:t>
                </a:r>
                <a:r>
                  <a:rPr lang="en-US" altLang="zh-CN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333842" name="Freeform 18">
                <a:extLst>
                  <a:ext uri="{FF2B5EF4-FFF2-40B4-BE49-F238E27FC236}">
                    <a16:creationId xmlns:a16="http://schemas.microsoft.com/office/drawing/2014/main" id="{FC213149-A9E5-10E3-7F0A-5DA697FB1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8" y="2688"/>
                <a:ext cx="1920" cy="1392"/>
              </a:xfrm>
              <a:custGeom>
                <a:avLst/>
                <a:gdLst>
                  <a:gd name="T0" fmla="*/ 0 w 2385"/>
                  <a:gd name="T1" fmla="*/ 2325 h 2325"/>
                  <a:gd name="T2" fmla="*/ 2385 w 2385"/>
                  <a:gd name="T3" fmla="*/ 0 h 2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85" h="2325">
                    <a:moveTo>
                      <a:pt x="0" y="2325"/>
                    </a:moveTo>
                    <a:lnTo>
                      <a:pt x="2385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grpSp>
          <p:nvGrpSpPr>
            <p:cNvPr id="333843" name="Group 19">
              <a:extLst>
                <a:ext uri="{FF2B5EF4-FFF2-40B4-BE49-F238E27FC236}">
                  <a16:creationId xmlns:a16="http://schemas.microsoft.com/office/drawing/2014/main" id="{854404B8-3916-9FDD-EFD8-3464919E29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4" y="1488"/>
              <a:ext cx="2448" cy="1824"/>
              <a:chOff x="2640" y="1488"/>
              <a:chExt cx="2448" cy="1824"/>
            </a:xfrm>
          </p:grpSpPr>
          <p:grpSp>
            <p:nvGrpSpPr>
              <p:cNvPr id="333844" name="Group 20">
                <a:extLst>
                  <a:ext uri="{FF2B5EF4-FFF2-40B4-BE49-F238E27FC236}">
                    <a16:creationId xmlns:a16="http://schemas.microsoft.com/office/drawing/2014/main" id="{632261A8-FE6E-66EC-2E4F-478C732ECE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" y="1488"/>
                <a:ext cx="2043" cy="1596"/>
                <a:chOff x="722" y="2619"/>
                <a:chExt cx="2043" cy="1596"/>
              </a:xfrm>
            </p:grpSpPr>
            <p:sp>
              <p:nvSpPr>
                <p:cNvPr id="333845" name="Freeform 21">
                  <a:extLst>
                    <a:ext uri="{FF2B5EF4-FFF2-40B4-BE49-F238E27FC236}">
                      <a16:creationId xmlns:a16="http://schemas.microsoft.com/office/drawing/2014/main" id="{58E04D80-5305-763B-284B-CCDF189C82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" y="2619"/>
                  <a:ext cx="3" cy="1596"/>
                </a:xfrm>
                <a:custGeom>
                  <a:avLst/>
                  <a:gdLst>
                    <a:gd name="T0" fmla="*/ 0 w 5"/>
                    <a:gd name="T1" fmla="*/ 0 h 2499"/>
                    <a:gd name="T2" fmla="*/ 5 w 5"/>
                    <a:gd name="T3" fmla="*/ 2499 h 24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499">
                      <a:moveTo>
                        <a:pt x="0" y="0"/>
                      </a:moveTo>
                      <a:lnTo>
                        <a:pt x="5" y="2499"/>
                      </a:lnTo>
                    </a:path>
                  </a:pathLst>
                </a:custGeom>
                <a:noFill/>
                <a:ln w="57150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bIns="0"/>
                <a:lstStyle/>
                <a:p>
                  <a:endParaRPr lang="zh-CN" altLang="en-US"/>
                </a:p>
              </p:txBody>
            </p:sp>
            <p:sp>
              <p:nvSpPr>
                <p:cNvPr id="333846" name="Freeform 22">
                  <a:extLst>
                    <a:ext uri="{FF2B5EF4-FFF2-40B4-BE49-F238E27FC236}">
                      <a16:creationId xmlns:a16="http://schemas.microsoft.com/office/drawing/2014/main" id="{82375A1F-E6EB-AE64-5C88-8DE6B7FB81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51" y="4007"/>
                  <a:ext cx="2014" cy="197"/>
                </a:xfrm>
                <a:custGeom>
                  <a:avLst/>
                  <a:gdLst>
                    <a:gd name="T0" fmla="*/ 0 w 2670"/>
                    <a:gd name="T1" fmla="*/ 0 h 1"/>
                    <a:gd name="T2" fmla="*/ 2670 w 2670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670" h="1">
                      <a:moveTo>
                        <a:pt x="0" y="0"/>
                      </a:moveTo>
                      <a:lnTo>
                        <a:pt x="2670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bIns="0"/>
                <a:lstStyle/>
                <a:p>
                  <a:endParaRPr lang="zh-CN" altLang="en-US"/>
                </a:p>
              </p:txBody>
            </p:sp>
          </p:grpSp>
          <p:sp>
            <p:nvSpPr>
              <p:cNvPr id="333847" name="Text Box 23">
                <a:extLst>
                  <a:ext uri="{FF2B5EF4-FFF2-40B4-BE49-F238E27FC236}">
                    <a16:creationId xmlns:a16="http://schemas.microsoft.com/office/drawing/2014/main" id="{6060718C-B0E8-A188-51E5-86724A52BB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3081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b="1"/>
                  <a:t>k</a:t>
                </a:r>
              </a:p>
            </p:txBody>
          </p:sp>
          <p:sp>
            <p:nvSpPr>
              <p:cNvPr id="333848" name="Text Box 24">
                <a:extLst>
                  <a:ext uri="{FF2B5EF4-FFF2-40B4-BE49-F238E27FC236}">
                    <a16:creationId xmlns:a16="http://schemas.microsoft.com/office/drawing/2014/main" id="{664C02AD-4B8B-D5E5-E472-0E076DEACB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488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b="1"/>
                  <a:t>y</a:t>
                </a:r>
              </a:p>
            </p:txBody>
          </p:sp>
        </p:grpSp>
        <p:grpSp>
          <p:nvGrpSpPr>
            <p:cNvPr id="333849" name="Group 25">
              <a:extLst>
                <a:ext uri="{FF2B5EF4-FFF2-40B4-BE49-F238E27FC236}">
                  <a16:creationId xmlns:a16="http://schemas.microsoft.com/office/drawing/2014/main" id="{FF02A118-3F75-C9D3-63C0-43DB213D5D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1392"/>
              <a:ext cx="1824" cy="1680"/>
              <a:chOff x="3408" y="2400"/>
              <a:chExt cx="1824" cy="1680"/>
            </a:xfrm>
          </p:grpSpPr>
          <p:sp>
            <p:nvSpPr>
              <p:cNvPr id="333850" name="Text Box 26">
                <a:extLst>
                  <a:ext uri="{FF2B5EF4-FFF2-40B4-BE49-F238E27FC236}">
                    <a16:creationId xmlns:a16="http://schemas.microsoft.com/office/drawing/2014/main" id="{3394248B-D26C-1985-818B-8723C73B81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400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sy</a:t>
                </a:r>
                <a:endParaRPr lang="en-US" altLang="zh-CN" b="1" baseline="300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3851" name="Freeform 27">
                <a:extLst>
                  <a:ext uri="{FF2B5EF4-FFF2-40B4-BE49-F238E27FC236}">
                    <a16:creationId xmlns:a16="http://schemas.microsoft.com/office/drawing/2014/main" id="{9124AE0F-3CA0-27AD-2B71-9956B0CD6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8" y="3547"/>
                <a:ext cx="1064" cy="533"/>
              </a:xfrm>
              <a:custGeom>
                <a:avLst/>
                <a:gdLst>
                  <a:gd name="T0" fmla="*/ 0 w 1039"/>
                  <a:gd name="T1" fmla="*/ 636 h 636"/>
                  <a:gd name="T2" fmla="*/ 128 w 1039"/>
                  <a:gd name="T3" fmla="*/ 292 h 636"/>
                  <a:gd name="T4" fmla="*/ 342 w 1039"/>
                  <a:gd name="T5" fmla="*/ 94 h 636"/>
                  <a:gd name="T6" fmla="*/ 1039 w 1039"/>
                  <a:gd name="T7" fmla="*/ 0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9" h="636">
                    <a:moveTo>
                      <a:pt x="0" y="636"/>
                    </a:moveTo>
                    <a:cubicBezTo>
                      <a:pt x="21" y="579"/>
                      <a:pt x="71" y="382"/>
                      <a:pt x="128" y="292"/>
                    </a:cubicBezTo>
                    <a:cubicBezTo>
                      <a:pt x="185" y="202"/>
                      <a:pt x="190" y="143"/>
                      <a:pt x="342" y="94"/>
                    </a:cubicBezTo>
                    <a:cubicBezTo>
                      <a:pt x="494" y="45"/>
                      <a:pt x="894" y="20"/>
                      <a:pt x="1039" y="0"/>
                    </a:cubicBezTo>
                  </a:path>
                </a:pathLst>
              </a:custGeom>
              <a:noFill/>
              <a:ln w="57150" cmpd="sng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3852" name="Freeform 28">
                <a:extLst>
                  <a:ext uri="{FF2B5EF4-FFF2-40B4-BE49-F238E27FC236}">
                    <a16:creationId xmlns:a16="http://schemas.microsoft.com/office/drawing/2014/main" id="{597E3EB3-56EF-AD35-3996-57E7719BD6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2" y="2592"/>
                <a:ext cx="616" cy="940"/>
              </a:xfrm>
              <a:custGeom>
                <a:avLst/>
                <a:gdLst>
                  <a:gd name="T0" fmla="*/ 0 w 929"/>
                  <a:gd name="T1" fmla="*/ 835 h 835"/>
                  <a:gd name="T2" fmla="*/ 929 w 929"/>
                  <a:gd name="T3" fmla="*/ 0 h 8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29" h="835">
                    <a:moveTo>
                      <a:pt x="0" y="835"/>
                    </a:moveTo>
                    <a:lnTo>
                      <a:pt x="929" y="0"/>
                    </a:lnTo>
                  </a:path>
                </a:pathLst>
              </a:custGeom>
              <a:noFill/>
              <a:ln w="57150" cmpd="sng">
                <a:solidFill>
                  <a:schemeClr val="tx2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grpSp>
          <p:nvGrpSpPr>
            <p:cNvPr id="333853" name="Group 29">
              <a:extLst>
                <a:ext uri="{FF2B5EF4-FFF2-40B4-BE49-F238E27FC236}">
                  <a16:creationId xmlns:a16="http://schemas.microsoft.com/office/drawing/2014/main" id="{28EE5E78-5767-0D3F-128F-80208422B5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592"/>
              <a:ext cx="240" cy="653"/>
              <a:chOff x="4032" y="3600"/>
              <a:chExt cx="240" cy="653"/>
            </a:xfrm>
          </p:grpSpPr>
          <p:sp>
            <p:nvSpPr>
              <p:cNvPr id="333854" name="Line 30">
                <a:extLst>
                  <a:ext uri="{FF2B5EF4-FFF2-40B4-BE49-F238E27FC236}">
                    <a16:creationId xmlns:a16="http://schemas.microsoft.com/office/drawing/2014/main" id="{75FA037B-533F-7E2F-BFED-2D84189404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3600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3855" name="Text Box 31">
                <a:extLst>
                  <a:ext uri="{FF2B5EF4-FFF2-40B4-BE49-F238E27FC236}">
                    <a16:creationId xmlns:a16="http://schemas.microsoft.com/office/drawing/2014/main" id="{7EE48332-C2DF-B36A-7502-AB0D946AC0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4080"/>
                <a:ext cx="240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0" rIns="18000" bIns="0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  <a:r>
                  <a:rPr lang="en-US" altLang="zh-CN" b="1" baseline="-2500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333856" name="Group 32">
              <a:extLst>
                <a:ext uri="{FF2B5EF4-FFF2-40B4-BE49-F238E27FC236}">
                  <a16:creationId xmlns:a16="http://schemas.microsoft.com/office/drawing/2014/main" id="{8012FA1A-3619-C886-790F-5168DFD08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2112"/>
              <a:ext cx="240" cy="1140"/>
              <a:chOff x="4704" y="3120"/>
              <a:chExt cx="240" cy="1140"/>
            </a:xfrm>
          </p:grpSpPr>
          <p:sp>
            <p:nvSpPr>
              <p:cNvPr id="333857" name="Line 33">
                <a:extLst>
                  <a:ext uri="{FF2B5EF4-FFF2-40B4-BE49-F238E27FC236}">
                    <a16:creationId xmlns:a16="http://schemas.microsoft.com/office/drawing/2014/main" id="{4621DDF3-54CD-B644-5921-1B1D12526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3120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3858" name="Text Box 34">
                <a:extLst>
                  <a:ext uri="{FF2B5EF4-FFF2-40B4-BE49-F238E27FC236}">
                    <a16:creationId xmlns:a16="http://schemas.microsoft.com/office/drawing/2014/main" id="{54AB1212-25A0-7AF2-91E3-2CC396C451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4080"/>
                <a:ext cx="240" cy="1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10800" rIns="18000" bIns="0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  <a:r>
                  <a:rPr lang="en-US" altLang="zh-CN" b="1" baseline="-2500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</p:grpSp>
      <p:sp>
        <p:nvSpPr>
          <p:cNvPr id="333860" name="Rectangle 36">
            <a:extLst>
              <a:ext uri="{FF2B5EF4-FFF2-40B4-BE49-F238E27FC236}">
                <a16:creationId xmlns:a16="http://schemas.microsoft.com/office/drawing/2014/main" id="{D270A1B7-F19D-15CC-FD4B-F439586903C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71550" y="2276475"/>
            <a:ext cx="304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大推进</a:t>
            </a:r>
          </a:p>
        </p:txBody>
      </p:sp>
      <p:sp>
        <p:nvSpPr>
          <p:cNvPr id="333862" name="Rectangle 38">
            <a:extLst>
              <a:ext uri="{FF2B5EF4-FFF2-40B4-BE49-F238E27FC236}">
                <a16:creationId xmlns:a16="http://schemas.microsoft.com/office/drawing/2014/main" id="{603FB5A9-7AAE-63B7-B3F7-638A07A072D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750888" y="5518150"/>
            <a:ext cx="7924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这些政策通常没有实现预期效果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理论没错，药方没错，但忽视了经济学的基本原理，即经济活动主体会对激励做出反应。</a:t>
            </a:r>
          </a:p>
        </p:txBody>
      </p:sp>
      <p:pic>
        <p:nvPicPr>
          <p:cNvPr id="333863" name="Picture 39">
            <a:extLst>
              <a:ext uri="{FF2B5EF4-FFF2-40B4-BE49-F238E27FC236}">
                <a16:creationId xmlns:a16="http://schemas.microsoft.com/office/drawing/2014/main" id="{1A5309D0-9F2E-8527-4CFC-328648B77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708275"/>
            <a:ext cx="4175125" cy="28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3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338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3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338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33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338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6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338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3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38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3338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386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6" grpId="0" animBg="1" autoUpdateAnimBg="0"/>
      <p:bldP spid="333835" grpId="0" autoUpdateAnimBg="0"/>
      <p:bldP spid="333837" grpId="0" autoUpdateAnimBg="0"/>
      <p:bldP spid="333838" grpId="0" autoUpdateAnimBg="0"/>
      <p:bldP spid="333860" grpId="0" autoUpdateAnimBg="0"/>
      <p:bldP spid="33386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474" name="Group 58">
            <a:extLst>
              <a:ext uri="{FF2B5EF4-FFF2-40B4-BE49-F238E27FC236}">
                <a16:creationId xmlns:a16="http://schemas.microsoft.com/office/drawing/2014/main" id="{A085B394-E238-6D0B-18F0-A370194E6010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1766888"/>
            <a:ext cx="3048000" cy="3109912"/>
            <a:chOff x="3408" y="1113"/>
            <a:chExt cx="1920" cy="1959"/>
          </a:xfrm>
        </p:grpSpPr>
        <p:sp>
          <p:nvSpPr>
            <p:cNvPr id="316465" name="Text Box 49">
              <a:extLst>
                <a:ext uri="{FF2B5EF4-FFF2-40B4-BE49-F238E27FC236}">
                  <a16:creationId xmlns:a16="http://schemas.microsoft.com/office/drawing/2014/main" id="{989B3052-1387-754E-BBE9-8F84325B2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4" y="1113"/>
              <a:ext cx="3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E5DF6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rgbClr val="E5DF6B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>
                  <a:solidFill>
                    <a:srgbClr val="E5DF6B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r>
                <a:rPr lang="en-US" altLang="zh-CN" b="1">
                  <a:solidFill>
                    <a:srgbClr val="E5DF6B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y</a:t>
              </a:r>
              <a:endParaRPr lang="en-US" altLang="zh-CN" b="1" baseline="30000">
                <a:solidFill>
                  <a:srgbClr val="E5DF6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16466" name="Freeform 50">
              <a:extLst>
                <a:ext uri="{FF2B5EF4-FFF2-40B4-BE49-F238E27FC236}">
                  <a16:creationId xmlns:a16="http://schemas.microsoft.com/office/drawing/2014/main" id="{19C266D0-18E9-F1A4-182A-C52D00579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208"/>
              <a:ext cx="1072" cy="864"/>
            </a:xfrm>
            <a:custGeom>
              <a:avLst/>
              <a:gdLst>
                <a:gd name="T0" fmla="*/ 0 w 1039"/>
                <a:gd name="T1" fmla="*/ 636 h 636"/>
                <a:gd name="T2" fmla="*/ 128 w 1039"/>
                <a:gd name="T3" fmla="*/ 292 h 636"/>
                <a:gd name="T4" fmla="*/ 342 w 1039"/>
                <a:gd name="T5" fmla="*/ 94 h 636"/>
                <a:gd name="T6" fmla="*/ 1039 w 1039"/>
                <a:gd name="T7" fmla="*/ 0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9" h="636">
                  <a:moveTo>
                    <a:pt x="0" y="636"/>
                  </a:moveTo>
                  <a:cubicBezTo>
                    <a:pt x="21" y="579"/>
                    <a:pt x="71" y="382"/>
                    <a:pt x="128" y="292"/>
                  </a:cubicBezTo>
                  <a:cubicBezTo>
                    <a:pt x="185" y="202"/>
                    <a:pt x="190" y="143"/>
                    <a:pt x="342" y="94"/>
                  </a:cubicBezTo>
                  <a:cubicBezTo>
                    <a:pt x="494" y="45"/>
                    <a:pt x="894" y="20"/>
                    <a:pt x="1039" y="0"/>
                  </a:cubicBezTo>
                </a:path>
              </a:pathLst>
            </a:custGeom>
            <a:noFill/>
            <a:ln w="76200" cmpd="sng">
              <a:solidFill>
                <a:srgbClr val="E5DF6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67" name="Freeform 51">
              <a:extLst>
                <a:ext uri="{FF2B5EF4-FFF2-40B4-BE49-F238E27FC236}">
                  <a16:creationId xmlns:a16="http://schemas.microsoft.com/office/drawing/2014/main" id="{BFD5940A-DD54-A238-8317-732673DBA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1296"/>
              <a:ext cx="528" cy="912"/>
            </a:xfrm>
            <a:custGeom>
              <a:avLst/>
              <a:gdLst>
                <a:gd name="T0" fmla="*/ 0 w 929"/>
                <a:gd name="T1" fmla="*/ 835 h 835"/>
                <a:gd name="T2" fmla="*/ 929 w 929"/>
                <a:gd name="T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29" h="835">
                  <a:moveTo>
                    <a:pt x="0" y="835"/>
                  </a:moveTo>
                  <a:lnTo>
                    <a:pt x="929" y="0"/>
                  </a:lnTo>
                </a:path>
              </a:pathLst>
            </a:custGeom>
            <a:noFill/>
            <a:ln w="76200" cmpd="sng">
              <a:solidFill>
                <a:srgbClr val="E5DF6B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</p:grpSp>
      <p:grpSp>
        <p:nvGrpSpPr>
          <p:cNvPr id="316473" name="Group 57">
            <a:extLst>
              <a:ext uri="{FF2B5EF4-FFF2-40B4-BE49-F238E27FC236}">
                <a16:creationId xmlns:a16="http://schemas.microsoft.com/office/drawing/2014/main" id="{02CF64F6-9876-2503-CFBC-18CB004D5E67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2362200"/>
            <a:ext cx="2085975" cy="2514600"/>
            <a:chOff x="3408" y="1488"/>
            <a:chExt cx="1314" cy="1584"/>
          </a:xfrm>
        </p:grpSpPr>
        <p:sp>
          <p:nvSpPr>
            <p:cNvPr id="316470" name="Text Box 54">
              <a:extLst>
                <a:ext uri="{FF2B5EF4-FFF2-40B4-BE49-F238E27FC236}">
                  <a16:creationId xmlns:a16="http://schemas.microsoft.com/office/drawing/2014/main" id="{6415C710-6D20-EF4B-2678-7180CB154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1488"/>
              <a:ext cx="3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b="1">
                  <a:solidFill>
                    <a:srgbClr val="00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sy</a:t>
              </a:r>
              <a:endParaRPr lang="en-US" altLang="zh-CN" b="1" baseline="3000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16471" name="Freeform 55">
              <a:extLst>
                <a:ext uri="{FF2B5EF4-FFF2-40B4-BE49-F238E27FC236}">
                  <a16:creationId xmlns:a16="http://schemas.microsoft.com/office/drawing/2014/main" id="{855E4DDA-FAC6-E87A-A567-18D05B6A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592"/>
              <a:ext cx="528" cy="480"/>
            </a:xfrm>
            <a:custGeom>
              <a:avLst/>
              <a:gdLst>
                <a:gd name="T0" fmla="*/ 0 w 1039"/>
                <a:gd name="T1" fmla="*/ 636 h 636"/>
                <a:gd name="T2" fmla="*/ 128 w 1039"/>
                <a:gd name="T3" fmla="*/ 292 h 636"/>
                <a:gd name="T4" fmla="*/ 342 w 1039"/>
                <a:gd name="T5" fmla="*/ 94 h 636"/>
                <a:gd name="T6" fmla="*/ 1039 w 1039"/>
                <a:gd name="T7" fmla="*/ 0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39" h="636">
                  <a:moveTo>
                    <a:pt x="0" y="636"/>
                  </a:moveTo>
                  <a:cubicBezTo>
                    <a:pt x="21" y="579"/>
                    <a:pt x="71" y="382"/>
                    <a:pt x="128" y="292"/>
                  </a:cubicBezTo>
                  <a:cubicBezTo>
                    <a:pt x="185" y="202"/>
                    <a:pt x="190" y="143"/>
                    <a:pt x="342" y="94"/>
                  </a:cubicBezTo>
                  <a:cubicBezTo>
                    <a:pt x="494" y="45"/>
                    <a:pt x="894" y="20"/>
                    <a:pt x="1039" y="0"/>
                  </a:cubicBezTo>
                </a:path>
              </a:pathLst>
            </a:custGeom>
            <a:noFill/>
            <a:ln w="76200" cmpd="sng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72" name="Freeform 56">
              <a:extLst>
                <a:ext uri="{FF2B5EF4-FFF2-40B4-BE49-F238E27FC236}">
                  <a16:creationId xmlns:a16="http://schemas.microsoft.com/office/drawing/2014/main" id="{CA54C981-94C4-0D2D-7BBF-5C249CC2E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728"/>
              <a:ext cx="576" cy="912"/>
            </a:xfrm>
            <a:custGeom>
              <a:avLst/>
              <a:gdLst>
                <a:gd name="T0" fmla="*/ 0 w 929"/>
                <a:gd name="T1" fmla="*/ 835 h 835"/>
                <a:gd name="T2" fmla="*/ 929 w 929"/>
                <a:gd name="T3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29" h="835">
                  <a:moveTo>
                    <a:pt x="0" y="835"/>
                  </a:moveTo>
                  <a:lnTo>
                    <a:pt x="929" y="0"/>
                  </a:lnTo>
                </a:path>
              </a:pathLst>
            </a:custGeom>
            <a:noFill/>
            <a:ln w="76200" cmpd="sng">
              <a:solidFill>
                <a:srgbClr val="00FF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</p:grpSp>
      <p:sp>
        <p:nvSpPr>
          <p:cNvPr id="316418" name="Rectangle 2">
            <a:extLst>
              <a:ext uri="{FF2B5EF4-FFF2-40B4-BE49-F238E27FC236}">
                <a16:creationId xmlns:a16="http://schemas.microsoft.com/office/drawing/2014/main" id="{F1C853DB-8A34-D2F4-B052-DF147A32D8D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sz="4000" b="1">
                <a:solidFill>
                  <a:srgbClr val="CC0000"/>
                </a:solidFill>
              </a:rPr>
              <a:t>3.1 </a:t>
            </a:r>
            <a:r>
              <a:rPr lang="zh-CN" altLang="en-US" sz="4000" b="1">
                <a:solidFill>
                  <a:srgbClr val="CC0000"/>
                </a:solidFill>
              </a:rPr>
              <a:t>索罗模型与内生增长理论的结合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78BEDA4D-6D7F-1A20-7076-D75520404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6420" name="Rectangle 4">
            <a:extLst>
              <a:ext uri="{FF2B5EF4-FFF2-40B4-BE49-F238E27FC236}">
                <a16:creationId xmlns:a16="http://schemas.microsoft.com/office/drawing/2014/main" id="{D813F26E-DB1B-0AAA-2F3D-3A481707B75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143000"/>
            <a:ext cx="5029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 b="1"/>
              <a:t>如何摆脱无增长的均衡？</a:t>
            </a:r>
            <a:endParaRPr lang="zh-CN" altLang="en-US" sz="2400" b="1"/>
          </a:p>
        </p:txBody>
      </p:sp>
      <p:sp>
        <p:nvSpPr>
          <p:cNvPr id="316421" name="Rectangle 5">
            <a:extLst>
              <a:ext uri="{FF2B5EF4-FFF2-40B4-BE49-F238E27FC236}">
                <a16:creationId xmlns:a16="http://schemas.microsoft.com/office/drawing/2014/main" id="{9CCDC58A-9DBD-8B1F-65D2-DCF2E3BDEF2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981200"/>
            <a:ext cx="304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三种方案：</a:t>
            </a:r>
            <a:endParaRPr lang="zh-CN" altLang="en-US" sz="2000" b="1"/>
          </a:p>
        </p:txBody>
      </p:sp>
      <p:grpSp>
        <p:nvGrpSpPr>
          <p:cNvPr id="316475" name="Group 59">
            <a:extLst>
              <a:ext uri="{FF2B5EF4-FFF2-40B4-BE49-F238E27FC236}">
                <a16:creationId xmlns:a16="http://schemas.microsoft.com/office/drawing/2014/main" id="{3C5C97A2-40E9-E614-7139-9B289B7A622A}"/>
              </a:ext>
            </a:extLst>
          </p:cNvPr>
          <p:cNvGrpSpPr>
            <a:grpSpLocks/>
          </p:cNvGrpSpPr>
          <p:nvPr/>
        </p:nvGrpSpPr>
        <p:grpSpPr bwMode="auto">
          <a:xfrm>
            <a:off x="4911725" y="2209800"/>
            <a:ext cx="4156075" cy="3048000"/>
            <a:chOff x="3094" y="1392"/>
            <a:chExt cx="2618" cy="1920"/>
          </a:xfrm>
        </p:grpSpPr>
        <p:grpSp>
          <p:nvGrpSpPr>
            <p:cNvPr id="316422" name="Group 6">
              <a:extLst>
                <a:ext uri="{FF2B5EF4-FFF2-40B4-BE49-F238E27FC236}">
                  <a16:creationId xmlns:a16="http://schemas.microsoft.com/office/drawing/2014/main" id="{D74007AA-D269-F76E-F4DE-78218E2F1E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1536"/>
              <a:ext cx="2304" cy="1536"/>
              <a:chOff x="3408" y="2544"/>
              <a:chExt cx="2304" cy="1536"/>
            </a:xfrm>
          </p:grpSpPr>
          <p:sp>
            <p:nvSpPr>
              <p:cNvPr id="316423" name="Text Box 7">
                <a:extLst>
                  <a:ext uri="{FF2B5EF4-FFF2-40B4-BE49-F238E27FC236}">
                    <a16:creationId xmlns:a16="http://schemas.microsoft.com/office/drawing/2014/main" id="{62169EC8-FAC0-7BC5-1146-056F21EF59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1" y="2544"/>
                <a:ext cx="631" cy="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zh-CN" altLang="en-US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（</a:t>
                </a:r>
                <a:r>
                  <a:rPr lang="en-US" altLang="zh-CN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n+d</a:t>
                </a:r>
                <a:r>
                  <a:rPr lang="zh-CN" altLang="en-US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）</a:t>
                </a:r>
                <a:r>
                  <a:rPr lang="en-US" altLang="zh-CN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316424" name="Freeform 8">
                <a:extLst>
                  <a:ext uri="{FF2B5EF4-FFF2-40B4-BE49-F238E27FC236}">
                    <a16:creationId xmlns:a16="http://schemas.microsoft.com/office/drawing/2014/main" id="{0CCD4BBF-7BE5-2906-4C07-D358BF57D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8" y="2688"/>
                <a:ext cx="1920" cy="1392"/>
              </a:xfrm>
              <a:custGeom>
                <a:avLst/>
                <a:gdLst>
                  <a:gd name="T0" fmla="*/ 0 w 2385"/>
                  <a:gd name="T1" fmla="*/ 2325 h 2325"/>
                  <a:gd name="T2" fmla="*/ 2385 w 2385"/>
                  <a:gd name="T3" fmla="*/ 0 h 2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85" h="2325">
                    <a:moveTo>
                      <a:pt x="0" y="2325"/>
                    </a:moveTo>
                    <a:lnTo>
                      <a:pt x="2385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grpSp>
          <p:nvGrpSpPr>
            <p:cNvPr id="316425" name="Group 9">
              <a:extLst>
                <a:ext uri="{FF2B5EF4-FFF2-40B4-BE49-F238E27FC236}">
                  <a16:creationId xmlns:a16="http://schemas.microsoft.com/office/drawing/2014/main" id="{CD138BE9-CD6B-7F51-240D-B1DB2666F6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4" y="1488"/>
              <a:ext cx="2448" cy="1824"/>
              <a:chOff x="2640" y="1488"/>
              <a:chExt cx="2448" cy="1824"/>
            </a:xfrm>
          </p:grpSpPr>
          <p:grpSp>
            <p:nvGrpSpPr>
              <p:cNvPr id="316426" name="Group 10">
                <a:extLst>
                  <a:ext uri="{FF2B5EF4-FFF2-40B4-BE49-F238E27FC236}">
                    <a16:creationId xmlns:a16="http://schemas.microsoft.com/office/drawing/2014/main" id="{09DA7FA9-3C3E-BC93-7F94-0189F06109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" y="1488"/>
                <a:ext cx="2043" cy="1596"/>
                <a:chOff x="722" y="2619"/>
                <a:chExt cx="2043" cy="1596"/>
              </a:xfrm>
            </p:grpSpPr>
            <p:sp>
              <p:nvSpPr>
                <p:cNvPr id="316427" name="Freeform 11">
                  <a:extLst>
                    <a:ext uri="{FF2B5EF4-FFF2-40B4-BE49-F238E27FC236}">
                      <a16:creationId xmlns:a16="http://schemas.microsoft.com/office/drawing/2014/main" id="{9675566C-AE36-E1F1-6114-C8D5721858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2" y="2619"/>
                  <a:ext cx="3" cy="1596"/>
                </a:xfrm>
                <a:custGeom>
                  <a:avLst/>
                  <a:gdLst>
                    <a:gd name="T0" fmla="*/ 0 w 5"/>
                    <a:gd name="T1" fmla="*/ 0 h 2499"/>
                    <a:gd name="T2" fmla="*/ 5 w 5"/>
                    <a:gd name="T3" fmla="*/ 2499 h 24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499">
                      <a:moveTo>
                        <a:pt x="0" y="0"/>
                      </a:moveTo>
                      <a:lnTo>
                        <a:pt x="5" y="2499"/>
                      </a:lnTo>
                    </a:path>
                  </a:pathLst>
                </a:custGeom>
                <a:noFill/>
                <a:ln w="57150" cmpd="sng">
                  <a:solidFill>
                    <a:schemeClr val="tx1"/>
                  </a:solidFill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bIns="0"/>
                <a:lstStyle/>
                <a:p>
                  <a:endParaRPr lang="zh-CN" altLang="en-US"/>
                </a:p>
              </p:txBody>
            </p:sp>
            <p:sp>
              <p:nvSpPr>
                <p:cNvPr id="316428" name="Freeform 12">
                  <a:extLst>
                    <a:ext uri="{FF2B5EF4-FFF2-40B4-BE49-F238E27FC236}">
                      <a16:creationId xmlns:a16="http://schemas.microsoft.com/office/drawing/2014/main" id="{832584F6-9042-44FD-1323-13E4B8BB22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51" y="4007"/>
                  <a:ext cx="2014" cy="197"/>
                </a:xfrm>
                <a:custGeom>
                  <a:avLst/>
                  <a:gdLst>
                    <a:gd name="T0" fmla="*/ 0 w 2670"/>
                    <a:gd name="T1" fmla="*/ 0 h 1"/>
                    <a:gd name="T2" fmla="*/ 2670 w 2670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670" h="1">
                      <a:moveTo>
                        <a:pt x="0" y="0"/>
                      </a:moveTo>
                      <a:lnTo>
                        <a:pt x="2670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bIns="0"/>
                <a:lstStyle/>
                <a:p>
                  <a:endParaRPr lang="zh-CN" altLang="en-US"/>
                </a:p>
              </p:txBody>
            </p:sp>
          </p:grpSp>
          <p:sp>
            <p:nvSpPr>
              <p:cNvPr id="316429" name="Text Box 13">
                <a:extLst>
                  <a:ext uri="{FF2B5EF4-FFF2-40B4-BE49-F238E27FC236}">
                    <a16:creationId xmlns:a16="http://schemas.microsoft.com/office/drawing/2014/main" id="{26A92E55-8840-3FA5-1835-3DF280AB48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3081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b="1"/>
                  <a:t>k</a:t>
                </a:r>
              </a:p>
            </p:txBody>
          </p:sp>
          <p:sp>
            <p:nvSpPr>
              <p:cNvPr id="316430" name="Text Box 14">
                <a:extLst>
                  <a:ext uri="{FF2B5EF4-FFF2-40B4-BE49-F238E27FC236}">
                    <a16:creationId xmlns:a16="http://schemas.microsoft.com/office/drawing/2014/main" id="{6DC0BA3B-AC65-C261-25D3-0580FFB9DA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488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b="1"/>
                  <a:t>y</a:t>
                </a:r>
              </a:p>
            </p:txBody>
          </p:sp>
        </p:grpSp>
        <p:grpSp>
          <p:nvGrpSpPr>
            <p:cNvPr id="316431" name="Group 15">
              <a:extLst>
                <a:ext uri="{FF2B5EF4-FFF2-40B4-BE49-F238E27FC236}">
                  <a16:creationId xmlns:a16="http://schemas.microsoft.com/office/drawing/2014/main" id="{C0485A09-5517-80C9-5D43-0AEADDE64A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1392"/>
              <a:ext cx="1824" cy="1680"/>
              <a:chOff x="3408" y="2400"/>
              <a:chExt cx="1824" cy="1680"/>
            </a:xfrm>
          </p:grpSpPr>
          <p:sp>
            <p:nvSpPr>
              <p:cNvPr id="316432" name="Text Box 16">
                <a:extLst>
                  <a:ext uri="{FF2B5EF4-FFF2-40B4-BE49-F238E27FC236}">
                    <a16:creationId xmlns:a16="http://schemas.microsoft.com/office/drawing/2014/main" id="{58FB0056-9703-9A9A-3B92-9201FCCD77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400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sy</a:t>
                </a:r>
                <a:endParaRPr lang="en-US" altLang="zh-CN" b="1" baseline="300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6433" name="Freeform 17">
                <a:extLst>
                  <a:ext uri="{FF2B5EF4-FFF2-40B4-BE49-F238E27FC236}">
                    <a16:creationId xmlns:a16="http://schemas.microsoft.com/office/drawing/2014/main" id="{5785BA45-79EF-592C-0DC3-F324500576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8" y="3547"/>
                <a:ext cx="1064" cy="533"/>
              </a:xfrm>
              <a:custGeom>
                <a:avLst/>
                <a:gdLst>
                  <a:gd name="T0" fmla="*/ 0 w 1039"/>
                  <a:gd name="T1" fmla="*/ 636 h 636"/>
                  <a:gd name="T2" fmla="*/ 128 w 1039"/>
                  <a:gd name="T3" fmla="*/ 292 h 636"/>
                  <a:gd name="T4" fmla="*/ 342 w 1039"/>
                  <a:gd name="T5" fmla="*/ 94 h 636"/>
                  <a:gd name="T6" fmla="*/ 1039 w 1039"/>
                  <a:gd name="T7" fmla="*/ 0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9" h="636">
                    <a:moveTo>
                      <a:pt x="0" y="636"/>
                    </a:moveTo>
                    <a:cubicBezTo>
                      <a:pt x="21" y="579"/>
                      <a:pt x="71" y="382"/>
                      <a:pt x="128" y="292"/>
                    </a:cubicBezTo>
                    <a:cubicBezTo>
                      <a:pt x="185" y="202"/>
                      <a:pt x="190" y="143"/>
                      <a:pt x="342" y="94"/>
                    </a:cubicBezTo>
                    <a:cubicBezTo>
                      <a:pt x="494" y="45"/>
                      <a:pt x="894" y="20"/>
                      <a:pt x="1039" y="0"/>
                    </a:cubicBezTo>
                  </a:path>
                </a:pathLst>
              </a:custGeom>
              <a:noFill/>
              <a:ln w="57150" cmpd="sng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434" name="Freeform 18">
                <a:extLst>
                  <a:ext uri="{FF2B5EF4-FFF2-40B4-BE49-F238E27FC236}">
                    <a16:creationId xmlns:a16="http://schemas.microsoft.com/office/drawing/2014/main" id="{17B2104E-54FD-235A-1241-043684965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2" y="2592"/>
                <a:ext cx="616" cy="940"/>
              </a:xfrm>
              <a:custGeom>
                <a:avLst/>
                <a:gdLst>
                  <a:gd name="T0" fmla="*/ 0 w 929"/>
                  <a:gd name="T1" fmla="*/ 835 h 835"/>
                  <a:gd name="T2" fmla="*/ 929 w 929"/>
                  <a:gd name="T3" fmla="*/ 0 h 8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929" h="835">
                    <a:moveTo>
                      <a:pt x="0" y="835"/>
                    </a:moveTo>
                    <a:lnTo>
                      <a:pt x="929" y="0"/>
                    </a:lnTo>
                  </a:path>
                </a:pathLst>
              </a:custGeom>
              <a:noFill/>
              <a:ln w="57150" cmpd="sng">
                <a:solidFill>
                  <a:schemeClr val="tx2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grpSp>
          <p:nvGrpSpPr>
            <p:cNvPr id="316452" name="Group 36">
              <a:extLst>
                <a:ext uri="{FF2B5EF4-FFF2-40B4-BE49-F238E27FC236}">
                  <a16:creationId xmlns:a16="http://schemas.microsoft.com/office/drawing/2014/main" id="{8934DC3C-DF11-4BCA-BE8F-D68B496CAD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592"/>
              <a:ext cx="240" cy="653"/>
              <a:chOff x="4032" y="3600"/>
              <a:chExt cx="240" cy="653"/>
            </a:xfrm>
          </p:grpSpPr>
          <p:sp>
            <p:nvSpPr>
              <p:cNvPr id="316453" name="Line 37">
                <a:extLst>
                  <a:ext uri="{FF2B5EF4-FFF2-40B4-BE49-F238E27FC236}">
                    <a16:creationId xmlns:a16="http://schemas.microsoft.com/office/drawing/2014/main" id="{31751AD1-F10E-BBD7-63CF-F4D857833B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3600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454" name="Text Box 38">
                <a:extLst>
                  <a:ext uri="{FF2B5EF4-FFF2-40B4-BE49-F238E27FC236}">
                    <a16:creationId xmlns:a16="http://schemas.microsoft.com/office/drawing/2014/main" id="{E9164D44-94EF-AB28-D699-3CD1E4223C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4080"/>
                <a:ext cx="240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0" rIns="18000" bIns="0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  <a:r>
                  <a:rPr lang="en-US" altLang="zh-CN" b="1" baseline="-2500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316455" name="Group 39">
              <a:extLst>
                <a:ext uri="{FF2B5EF4-FFF2-40B4-BE49-F238E27FC236}">
                  <a16:creationId xmlns:a16="http://schemas.microsoft.com/office/drawing/2014/main" id="{528D9766-225E-6731-3226-86A962B67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2112"/>
              <a:ext cx="240" cy="1140"/>
              <a:chOff x="4704" y="3120"/>
              <a:chExt cx="240" cy="1140"/>
            </a:xfrm>
          </p:grpSpPr>
          <p:sp>
            <p:nvSpPr>
              <p:cNvPr id="316456" name="Line 40">
                <a:extLst>
                  <a:ext uri="{FF2B5EF4-FFF2-40B4-BE49-F238E27FC236}">
                    <a16:creationId xmlns:a16="http://schemas.microsoft.com/office/drawing/2014/main" id="{85B1A68D-8B2C-3075-BD48-3E2497C87A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3120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457" name="Text Box 41">
                <a:extLst>
                  <a:ext uri="{FF2B5EF4-FFF2-40B4-BE49-F238E27FC236}">
                    <a16:creationId xmlns:a16="http://schemas.microsoft.com/office/drawing/2014/main" id="{683E50AC-718A-35BD-526D-58B4567D90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4080"/>
                <a:ext cx="240" cy="1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10800" rIns="18000" bIns="0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b="1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  <a:r>
                  <a:rPr lang="en-US" altLang="zh-CN" b="1" baseline="-2500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</p:grpSp>
      <p:sp>
        <p:nvSpPr>
          <p:cNvPr id="316461" name="Rectangle 45">
            <a:extLst>
              <a:ext uri="{FF2B5EF4-FFF2-40B4-BE49-F238E27FC236}">
                <a16:creationId xmlns:a16="http://schemas.microsoft.com/office/drawing/2014/main" id="{73A322EE-0A01-2CB4-BACC-88985601646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2924175"/>
            <a:ext cx="304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增加储蓄</a:t>
            </a:r>
          </a:p>
        </p:txBody>
      </p:sp>
      <p:sp>
        <p:nvSpPr>
          <p:cNvPr id="316463" name="Rectangle 47">
            <a:extLst>
              <a:ext uri="{FF2B5EF4-FFF2-40B4-BE49-F238E27FC236}">
                <a16:creationId xmlns:a16="http://schemas.microsoft.com/office/drawing/2014/main" id="{51961E23-C99E-DF75-9976-7D64D246A08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3609975"/>
            <a:ext cx="304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改善投资结构</a:t>
            </a:r>
          </a:p>
        </p:txBody>
      </p:sp>
      <p:sp>
        <p:nvSpPr>
          <p:cNvPr id="316476" name="Rectangle 60">
            <a:extLst>
              <a:ext uri="{FF2B5EF4-FFF2-40B4-BE49-F238E27FC236}">
                <a16:creationId xmlns:a16="http://schemas.microsoft.com/office/drawing/2014/main" id="{DE2DB82E-30DE-5F9C-95E1-1C2E2750496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90600" y="5181600"/>
            <a:ext cx="7924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这些政策通常没有实现预期效果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理论没错，药方没错，但忽视了经济学的基本原理，即经济活动主体会对激励做出反应。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1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16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6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3164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7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164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6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316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7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3164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647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8" grpId="0" autoUpdateAnimBg="0"/>
      <p:bldP spid="316420" grpId="0" autoUpdateAnimBg="0"/>
      <p:bldP spid="316421" grpId="0" autoUpdateAnimBg="0"/>
      <p:bldP spid="316461" grpId="0" autoUpdateAnimBg="0"/>
      <p:bldP spid="316463" grpId="0" autoUpdateAnimBg="0"/>
      <p:bldP spid="31647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D99BCEF4-31F9-7489-D7D3-C8972330EC5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sz="4000" b="1">
                <a:solidFill>
                  <a:srgbClr val="CC0000"/>
                </a:solidFill>
              </a:rPr>
              <a:t>3.2 </a:t>
            </a:r>
            <a:r>
              <a:rPr lang="zh-CN" altLang="en-US" sz="4000" b="1">
                <a:solidFill>
                  <a:srgbClr val="CC0000"/>
                </a:solidFill>
              </a:rPr>
              <a:t>索罗碰到了马尔萨斯</a:t>
            </a:r>
            <a:r>
              <a:rPr lang="en-US" altLang="zh-CN" sz="4000" b="1">
                <a:solidFill>
                  <a:srgbClr val="CC0000"/>
                </a:solidFill>
              </a:rPr>
              <a:t>_</a:t>
            </a:r>
            <a:r>
              <a:rPr lang="zh-CN" altLang="en-US" sz="4000" b="1">
                <a:solidFill>
                  <a:srgbClr val="CC0000"/>
                </a:solidFill>
              </a:rPr>
              <a:t>马尔萨斯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CC9286C6-238F-8605-434D-A95A5C687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8468" name="Rectangle 4">
            <a:extLst>
              <a:ext uri="{FF2B5EF4-FFF2-40B4-BE49-F238E27FC236}">
                <a16:creationId xmlns:a16="http://schemas.microsoft.com/office/drawing/2014/main" id="{84C5B6D2-9F08-2CD0-81BE-E1C7D12C1FB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143000"/>
            <a:ext cx="5029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endParaRPr lang="zh-CN" altLang="zh-CN" sz="2400" b="1"/>
          </a:p>
        </p:txBody>
      </p:sp>
      <p:sp>
        <p:nvSpPr>
          <p:cNvPr id="318469" name="Rectangle 5">
            <a:extLst>
              <a:ext uri="{FF2B5EF4-FFF2-40B4-BE49-F238E27FC236}">
                <a16:creationId xmlns:a16="http://schemas.microsoft.com/office/drawing/2014/main" id="{A058BB7F-B9C2-F963-E95B-E4127F2CE5D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143000"/>
            <a:ext cx="80010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>
                <a:latin typeface="宋体" panose="02010600030101010101" pitchFamily="2" charset="-122"/>
              </a:rPr>
              <a:t>马尔萨斯（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Malthus, 1766-1834</a:t>
            </a:r>
            <a:r>
              <a:rPr lang="zh-CN" altLang="en-US" sz="2400" b="1">
                <a:latin typeface="宋体" panose="02010600030101010101" pitchFamily="2" charset="-122"/>
              </a:rPr>
              <a:t>）的人口论认为人口是按几何级数增加，而粮食则是按算数级数有限的成长，若不能节制人口的成长，就会造成生存的竞争和不适者的淘汰。</a:t>
            </a:r>
            <a:r>
              <a:rPr lang="zh-CN" altLang="en-US" sz="2400" b="1"/>
              <a:t> </a:t>
            </a:r>
            <a:r>
              <a:rPr lang="zh-CN" altLang="en-US" sz="2400" b="1">
                <a:solidFill>
                  <a:schemeClr val="tx2"/>
                </a:solidFill>
              </a:rPr>
              <a:t>即人口增长阻碍高收入的实现。</a:t>
            </a:r>
          </a:p>
        </p:txBody>
      </p:sp>
      <p:sp>
        <p:nvSpPr>
          <p:cNvPr id="318470" name="Line 6">
            <a:extLst>
              <a:ext uri="{FF2B5EF4-FFF2-40B4-BE49-F238E27FC236}">
                <a16:creationId xmlns:a16="http://schemas.microsoft.com/office/drawing/2014/main" id="{1DEF839B-1494-0408-1CD8-40869B59C5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3240088"/>
            <a:ext cx="42863" cy="330835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8471" name="Line 7">
            <a:extLst>
              <a:ext uri="{FF2B5EF4-FFF2-40B4-BE49-F238E27FC236}">
                <a16:creationId xmlns:a16="http://schemas.microsoft.com/office/drawing/2014/main" id="{B1D7F039-5B24-BD82-7313-050C10671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5050" y="3211513"/>
            <a:ext cx="42863" cy="3308350"/>
          </a:xfrm>
          <a:prstGeom prst="line">
            <a:avLst/>
          </a:prstGeom>
          <a:noFill/>
          <a:ln w="57150" cap="rnd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8472" name="Group 8">
            <a:extLst>
              <a:ext uri="{FF2B5EF4-FFF2-40B4-BE49-F238E27FC236}">
                <a16:creationId xmlns:a16="http://schemas.microsoft.com/office/drawing/2014/main" id="{7F3E10FA-DDB7-B926-D7B3-E9484AC6EDED}"/>
              </a:ext>
            </a:extLst>
          </p:cNvPr>
          <p:cNvGrpSpPr>
            <a:grpSpLocks/>
          </p:cNvGrpSpPr>
          <p:nvPr/>
        </p:nvGrpSpPr>
        <p:grpSpPr bwMode="auto">
          <a:xfrm>
            <a:off x="2297113" y="3500438"/>
            <a:ext cx="4854575" cy="2533650"/>
            <a:chOff x="1447" y="2205"/>
            <a:chExt cx="3058" cy="1596"/>
          </a:xfrm>
        </p:grpSpPr>
        <p:sp>
          <p:nvSpPr>
            <p:cNvPr id="318473" name="Freeform 9">
              <a:extLst>
                <a:ext uri="{FF2B5EF4-FFF2-40B4-BE49-F238E27FC236}">
                  <a16:creationId xmlns:a16="http://schemas.microsoft.com/office/drawing/2014/main" id="{A540A864-7A2D-E36D-B5CE-4968C5C59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2365"/>
              <a:ext cx="3058" cy="1436"/>
            </a:xfrm>
            <a:custGeom>
              <a:avLst/>
              <a:gdLst>
                <a:gd name="T0" fmla="*/ 0 w 3058"/>
                <a:gd name="T1" fmla="*/ 142 h 1436"/>
                <a:gd name="T2" fmla="*/ 1659 w 3058"/>
                <a:gd name="T3" fmla="*/ 183 h 1436"/>
                <a:gd name="T4" fmla="*/ 2825 w 3058"/>
                <a:gd name="T5" fmla="*/ 1239 h 1436"/>
                <a:gd name="T6" fmla="*/ 3058 w 3058"/>
                <a:gd name="T7" fmla="*/ 136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58" h="1436">
                  <a:moveTo>
                    <a:pt x="0" y="142"/>
                  </a:moveTo>
                  <a:cubicBezTo>
                    <a:pt x="276" y="149"/>
                    <a:pt x="1188" y="0"/>
                    <a:pt x="1659" y="183"/>
                  </a:cubicBezTo>
                  <a:cubicBezTo>
                    <a:pt x="2130" y="366"/>
                    <a:pt x="2592" y="1042"/>
                    <a:pt x="2825" y="1239"/>
                  </a:cubicBezTo>
                  <a:cubicBezTo>
                    <a:pt x="3058" y="1436"/>
                    <a:pt x="3010" y="1337"/>
                    <a:pt x="3058" y="1363"/>
                  </a:cubicBezTo>
                </a:path>
              </a:pathLst>
            </a:custGeom>
            <a:noFill/>
            <a:ln w="38100" cap="flat" cmpd="sng">
              <a:solidFill>
                <a:srgbClr val="66FF33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474" name="Text Box 10">
              <a:extLst>
                <a:ext uri="{FF2B5EF4-FFF2-40B4-BE49-F238E27FC236}">
                  <a16:creationId xmlns:a16="http://schemas.microsoft.com/office/drawing/2014/main" id="{8A088017-CDBE-8A07-480F-6C62DFF17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2205"/>
              <a:ext cx="673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出生率</a:t>
              </a:r>
            </a:p>
          </p:txBody>
        </p:sp>
      </p:grpSp>
      <p:grpSp>
        <p:nvGrpSpPr>
          <p:cNvPr id="318475" name="Group 11">
            <a:extLst>
              <a:ext uri="{FF2B5EF4-FFF2-40B4-BE49-F238E27FC236}">
                <a16:creationId xmlns:a16="http://schemas.microsoft.com/office/drawing/2014/main" id="{2E031FFB-88C6-5276-5E80-8497DCE9F7EA}"/>
              </a:ext>
            </a:extLst>
          </p:cNvPr>
          <p:cNvGrpSpPr>
            <a:grpSpLocks/>
          </p:cNvGrpSpPr>
          <p:nvPr/>
        </p:nvGrpSpPr>
        <p:grpSpPr bwMode="auto">
          <a:xfrm>
            <a:off x="2297113" y="5022850"/>
            <a:ext cx="4659312" cy="1093788"/>
            <a:chOff x="1447" y="3164"/>
            <a:chExt cx="2935" cy="689"/>
          </a:xfrm>
        </p:grpSpPr>
        <p:sp>
          <p:nvSpPr>
            <p:cNvPr id="318476" name="Freeform 12">
              <a:extLst>
                <a:ext uri="{FF2B5EF4-FFF2-40B4-BE49-F238E27FC236}">
                  <a16:creationId xmlns:a16="http://schemas.microsoft.com/office/drawing/2014/main" id="{0C412F01-C93D-D5C2-BCAE-16E3FCFC3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3164"/>
              <a:ext cx="2935" cy="689"/>
            </a:xfrm>
            <a:custGeom>
              <a:avLst/>
              <a:gdLst>
                <a:gd name="T0" fmla="*/ 0 w 2935"/>
                <a:gd name="T1" fmla="*/ 84 h 689"/>
                <a:gd name="T2" fmla="*/ 809 w 2935"/>
                <a:gd name="T3" fmla="*/ 84 h 689"/>
                <a:gd name="T4" fmla="*/ 1659 w 2935"/>
                <a:gd name="T5" fmla="*/ 591 h 689"/>
                <a:gd name="T6" fmla="*/ 2935 w 2935"/>
                <a:gd name="T7" fmla="*/ 673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35" h="689">
                  <a:moveTo>
                    <a:pt x="0" y="84"/>
                  </a:moveTo>
                  <a:cubicBezTo>
                    <a:pt x="135" y="84"/>
                    <a:pt x="533" y="0"/>
                    <a:pt x="809" y="84"/>
                  </a:cubicBezTo>
                  <a:cubicBezTo>
                    <a:pt x="1085" y="168"/>
                    <a:pt x="1305" y="493"/>
                    <a:pt x="1659" y="591"/>
                  </a:cubicBezTo>
                  <a:cubicBezTo>
                    <a:pt x="2013" y="689"/>
                    <a:pt x="2669" y="656"/>
                    <a:pt x="2935" y="673"/>
                  </a:cubicBezTo>
                </a:path>
              </a:pathLst>
            </a:custGeom>
            <a:noFill/>
            <a:ln w="38100" cap="flat" cmpd="sng">
              <a:solidFill>
                <a:srgbClr val="66FF33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477" name="Text Box 13">
              <a:extLst>
                <a:ext uri="{FF2B5EF4-FFF2-40B4-BE49-F238E27FC236}">
                  <a16:creationId xmlns:a16="http://schemas.microsoft.com/office/drawing/2014/main" id="{5244FFEC-4512-0479-3A18-A2D4347DE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0" y="3223"/>
              <a:ext cx="673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死亡率</a:t>
              </a:r>
            </a:p>
          </p:txBody>
        </p:sp>
      </p:grpSp>
      <p:grpSp>
        <p:nvGrpSpPr>
          <p:cNvPr id="318478" name="Group 14">
            <a:extLst>
              <a:ext uri="{FF2B5EF4-FFF2-40B4-BE49-F238E27FC236}">
                <a16:creationId xmlns:a16="http://schemas.microsoft.com/office/drawing/2014/main" id="{EE5E8E43-8598-F713-7AD0-4FA93C5FE837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240088"/>
            <a:ext cx="7011988" cy="3313112"/>
            <a:chOff x="1056" y="2041"/>
            <a:chExt cx="4417" cy="2087"/>
          </a:xfrm>
        </p:grpSpPr>
        <p:sp>
          <p:nvSpPr>
            <p:cNvPr id="318479" name="Line 15">
              <a:extLst>
                <a:ext uri="{FF2B5EF4-FFF2-40B4-BE49-F238E27FC236}">
                  <a16:creationId xmlns:a16="http://schemas.microsoft.com/office/drawing/2014/main" id="{375E1AE7-E341-EB46-4EA9-B201C58BC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3" y="2041"/>
              <a:ext cx="0" cy="204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480" name="Line 16">
              <a:extLst>
                <a:ext uri="{FF2B5EF4-FFF2-40B4-BE49-F238E27FC236}">
                  <a16:creationId xmlns:a16="http://schemas.microsoft.com/office/drawing/2014/main" id="{8EEEE951-222F-6800-EEDA-E81C16A2B4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7" y="4071"/>
              <a:ext cx="3305" cy="1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481" name="Text Box 17">
              <a:extLst>
                <a:ext uri="{FF2B5EF4-FFF2-40B4-BE49-F238E27FC236}">
                  <a16:creationId xmlns:a16="http://schemas.microsoft.com/office/drawing/2014/main" id="{98D7DC81-2565-1EC6-DD38-C0B2D63BE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112"/>
              <a:ext cx="240" cy="1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</a:rPr>
                <a:t>人口增长速度</a:t>
              </a:r>
            </a:p>
          </p:txBody>
        </p:sp>
        <p:sp>
          <p:nvSpPr>
            <p:cNvPr id="318482" name="Text Box 18">
              <a:extLst>
                <a:ext uri="{FF2B5EF4-FFF2-40B4-BE49-F238E27FC236}">
                  <a16:creationId xmlns:a16="http://schemas.microsoft.com/office/drawing/2014/main" id="{ED665770-0261-FA6A-FF28-0D3A8AE42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3936"/>
              <a:ext cx="67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000" b="1">
                  <a:latin typeface="Times New Roman" panose="02020603050405020304" pitchFamily="18" charset="0"/>
                </a:rPr>
                <a:t>收入水平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6" grpId="0" autoUpdateAnimBg="0"/>
      <p:bldP spid="31846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>
            <a:extLst>
              <a:ext uri="{FF2B5EF4-FFF2-40B4-BE49-F238E27FC236}">
                <a16:creationId xmlns:a16="http://schemas.microsoft.com/office/drawing/2014/main" id="{24CC6D95-6E2F-B72C-92CE-4F52227046B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sz="4000" b="1">
                <a:solidFill>
                  <a:srgbClr val="CC0000"/>
                </a:solidFill>
              </a:rPr>
              <a:t>3.2 </a:t>
            </a:r>
            <a:r>
              <a:rPr lang="zh-CN" altLang="en-US" sz="4000" b="1">
                <a:solidFill>
                  <a:srgbClr val="CC0000"/>
                </a:solidFill>
              </a:rPr>
              <a:t>索罗碰到了马尔萨斯</a:t>
            </a:r>
            <a:r>
              <a:rPr lang="en-US" altLang="zh-CN" sz="4000" b="1">
                <a:solidFill>
                  <a:srgbClr val="CC0000"/>
                </a:solidFill>
              </a:rPr>
              <a:t>_n</a:t>
            </a:r>
            <a:r>
              <a:rPr lang="zh-CN" altLang="en-US" sz="4000" b="1">
                <a:solidFill>
                  <a:srgbClr val="CC0000"/>
                </a:solidFill>
              </a:rPr>
              <a:t>内生</a:t>
            </a:r>
          </a:p>
        </p:txBody>
      </p:sp>
      <p:sp>
        <p:nvSpPr>
          <p:cNvPr id="317443" name="Rectangle 3">
            <a:extLst>
              <a:ext uri="{FF2B5EF4-FFF2-40B4-BE49-F238E27FC236}">
                <a16:creationId xmlns:a16="http://schemas.microsoft.com/office/drawing/2014/main" id="{6C987E41-4202-2813-F9E5-EFC6B4735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444" name="Rectangle 4">
            <a:extLst>
              <a:ext uri="{FF2B5EF4-FFF2-40B4-BE49-F238E27FC236}">
                <a16:creationId xmlns:a16="http://schemas.microsoft.com/office/drawing/2014/main" id="{FFF5B9EB-DB4D-9E73-628A-49F92E03053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143000"/>
            <a:ext cx="5029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endParaRPr lang="zh-CN" altLang="zh-CN" sz="2400" b="1"/>
          </a:p>
        </p:txBody>
      </p:sp>
      <p:sp>
        <p:nvSpPr>
          <p:cNvPr id="317468" name="Rectangle 28">
            <a:extLst>
              <a:ext uri="{FF2B5EF4-FFF2-40B4-BE49-F238E27FC236}">
                <a16:creationId xmlns:a16="http://schemas.microsoft.com/office/drawing/2014/main" id="{73B2BA86-F8A3-2080-9B0A-B9F20AF6D7B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143000"/>
            <a:ext cx="80010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>
                <a:latin typeface="宋体" panose="02010600030101010101" pitchFamily="2" charset="-122"/>
              </a:rPr>
              <a:t>索罗碰到了马尔萨斯，即假定</a:t>
            </a:r>
            <a:r>
              <a:rPr lang="en-US" altLang="zh-CN" sz="2400" b="1">
                <a:latin typeface="宋体" panose="02010600030101010101" pitchFamily="2" charset="-122"/>
              </a:rPr>
              <a:t>n</a:t>
            </a:r>
            <a:r>
              <a:rPr lang="zh-CN" altLang="en-US" sz="2400" b="1">
                <a:latin typeface="宋体" panose="02010600030101010101" pitchFamily="2" charset="-122"/>
              </a:rPr>
              <a:t>不再是常数，而是随着收入水平的提高而上升、下降然后平直到零增长。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>
                <a:latin typeface="宋体" panose="02010600030101010101" pitchFamily="2" charset="-122"/>
              </a:rPr>
              <a:t>其他假定同前。</a:t>
            </a:r>
            <a:endParaRPr lang="zh-CN" altLang="en-US" sz="2400" b="1">
              <a:solidFill>
                <a:schemeClr val="tx2"/>
              </a:solidFill>
            </a:endParaRPr>
          </a:p>
        </p:txBody>
      </p:sp>
      <p:grpSp>
        <p:nvGrpSpPr>
          <p:cNvPr id="317491" name="Group 51">
            <a:extLst>
              <a:ext uri="{FF2B5EF4-FFF2-40B4-BE49-F238E27FC236}">
                <a16:creationId xmlns:a16="http://schemas.microsoft.com/office/drawing/2014/main" id="{51E0A92F-071A-31B5-B166-55A62A8367F5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581400"/>
            <a:ext cx="3748088" cy="3200400"/>
            <a:chOff x="2967" y="1200"/>
            <a:chExt cx="2361" cy="2016"/>
          </a:xfrm>
        </p:grpSpPr>
        <p:grpSp>
          <p:nvGrpSpPr>
            <p:cNvPr id="317492" name="Group 52">
              <a:extLst>
                <a:ext uri="{FF2B5EF4-FFF2-40B4-BE49-F238E27FC236}">
                  <a16:creationId xmlns:a16="http://schemas.microsoft.com/office/drawing/2014/main" id="{D2482AB3-8073-182D-70F8-EE4C444CB6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8" y="1200"/>
              <a:ext cx="2256" cy="1757"/>
              <a:chOff x="733" y="2539"/>
              <a:chExt cx="2095" cy="1666"/>
            </a:xfrm>
          </p:grpSpPr>
          <p:sp>
            <p:nvSpPr>
              <p:cNvPr id="317493" name="Text Box 53">
                <a:extLst>
                  <a:ext uri="{FF2B5EF4-FFF2-40B4-BE49-F238E27FC236}">
                    <a16:creationId xmlns:a16="http://schemas.microsoft.com/office/drawing/2014/main" id="{147DAB0A-2AF6-814A-B183-A23DC20C3B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6" y="2539"/>
                <a:ext cx="672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（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n+d</a:t>
                </a:r>
                <a:r>
                  <a:rPr lang="zh-CN" altLang="en-US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）</a:t>
                </a:r>
                <a:r>
                  <a:rPr lang="en-US" altLang="zh-CN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317494" name="Freeform 54">
                <a:extLst>
                  <a:ext uri="{FF2B5EF4-FFF2-40B4-BE49-F238E27FC236}">
                    <a16:creationId xmlns:a16="http://schemas.microsoft.com/office/drawing/2014/main" id="{DFDCA338-7BC5-6A00-E534-469CD66A4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" y="2720"/>
                <a:ext cx="1781" cy="1485"/>
              </a:xfrm>
              <a:custGeom>
                <a:avLst/>
                <a:gdLst>
                  <a:gd name="T0" fmla="*/ 0 w 2385"/>
                  <a:gd name="T1" fmla="*/ 2325 h 2325"/>
                  <a:gd name="T2" fmla="*/ 2385 w 2385"/>
                  <a:gd name="T3" fmla="*/ 0 h 2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385" h="2325">
                    <a:moveTo>
                      <a:pt x="0" y="2325"/>
                    </a:moveTo>
                    <a:lnTo>
                      <a:pt x="2385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317495" name="Text Box 55">
              <a:extLst>
                <a:ext uri="{FF2B5EF4-FFF2-40B4-BE49-F238E27FC236}">
                  <a16:creationId xmlns:a16="http://schemas.microsoft.com/office/drawing/2014/main" id="{38BA8F04-8820-C34D-B8AE-BF240B3449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" y="2976"/>
              <a:ext cx="29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k*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7496" name="Line 56">
              <a:extLst>
                <a:ext uri="{FF2B5EF4-FFF2-40B4-BE49-F238E27FC236}">
                  <a16:creationId xmlns:a16="http://schemas.microsoft.com/office/drawing/2014/main" id="{E02209AE-622C-21D5-7F9B-877D49791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4" y="1920"/>
              <a:ext cx="0" cy="10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17497" name="Text Box 57">
              <a:extLst>
                <a:ext uri="{FF2B5EF4-FFF2-40B4-BE49-F238E27FC236}">
                  <a16:creationId xmlns:a16="http://schemas.microsoft.com/office/drawing/2014/main" id="{2CFC3218-C74B-5865-012C-4ADB354EE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" y="2976"/>
              <a:ext cx="26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7498" name="Freeform 58">
              <a:extLst>
                <a:ext uri="{FF2B5EF4-FFF2-40B4-BE49-F238E27FC236}">
                  <a16:creationId xmlns:a16="http://schemas.microsoft.com/office/drawing/2014/main" id="{CD8CB3EC-BCE2-8302-7935-F10B35B62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2258"/>
              <a:ext cx="0" cy="699"/>
            </a:xfrm>
            <a:custGeom>
              <a:avLst/>
              <a:gdLst>
                <a:gd name="T0" fmla="*/ 0 w 1"/>
                <a:gd name="T1" fmla="*/ 0 h 1095"/>
                <a:gd name="T2" fmla="*/ 0 w 1"/>
                <a:gd name="T3" fmla="*/ 1095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5">
                  <a:moveTo>
                    <a:pt x="0" y="0"/>
                  </a:moveTo>
                  <a:lnTo>
                    <a:pt x="0" y="109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grpSp>
          <p:nvGrpSpPr>
            <p:cNvPr id="317499" name="Group 59">
              <a:extLst>
                <a:ext uri="{FF2B5EF4-FFF2-40B4-BE49-F238E27FC236}">
                  <a16:creationId xmlns:a16="http://schemas.microsoft.com/office/drawing/2014/main" id="{AE0FCC56-AE32-FF20-7C87-BB4A507876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7" y="1371"/>
              <a:ext cx="2043" cy="1596"/>
              <a:chOff x="722" y="2619"/>
              <a:chExt cx="2043" cy="1596"/>
            </a:xfrm>
          </p:grpSpPr>
          <p:sp>
            <p:nvSpPr>
              <p:cNvPr id="317500" name="Freeform 60">
                <a:extLst>
                  <a:ext uri="{FF2B5EF4-FFF2-40B4-BE49-F238E27FC236}">
                    <a16:creationId xmlns:a16="http://schemas.microsoft.com/office/drawing/2014/main" id="{430D6154-C908-0618-FC6D-D1B7981D4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" y="2619"/>
                <a:ext cx="3" cy="1596"/>
              </a:xfrm>
              <a:custGeom>
                <a:avLst/>
                <a:gdLst>
                  <a:gd name="T0" fmla="*/ 0 w 5"/>
                  <a:gd name="T1" fmla="*/ 0 h 2499"/>
                  <a:gd name="T2" fmla="*/ 5 w 5"/>
                  <a:gd name="T3" fmla="*/ 2499 h 2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499">
                    <a:moveTo>
                      <a:pt x="0" y="0"/>
                    </a:moveTo>
                    <a:lnTo>
                      <a:pt x="5" y="2499"/>
                    </a:ln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  <p:sp>
            <p:nvSpPr>
              <p:cNvPr id="317501" name="Freeform 61">
                <a:extLst>
                  <a:ext uri="{FF2B5EF4-FFF2-40B4-BE49-F238E27FC236}">
                    <a16:creationId xmlns:a16="http://schemas.microsoft.com/office/drawing/2014/main" id="{2FE12672-CEF0-94A0-EB0E-268D8D52D10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51" y="4007"/>
                <a:ext cx="2014" cy="197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sp>
          <p:nvSpPr>
            <p:cNvPr id="317502" name="Freeform 62">
              <a:extLst>
                <a:ext uri="{FF2B5EF4-FFF2-40B4-BE49-F238E27FC236}">
                  <a16:creationId xmlns:a16="http://schemas.microsoft.com/office/drawing/2014/main" id="{39A73FB4-90FF-DC80-3A06-77ADA4E94A3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87" y="2596"/>
              <a:ext cx="531" cy="100"/>
            </a:xfrm>
            <a:custGeom>
              <a:avLst/>
              <a:gdLst>
                <a:gd name="T0" fmla="*/ 0 w 2670"/>
                <a:gd name="T1" fmla="*/ 0 h 1"/>
                <a:gd name="T2" fmla="*/ 2670 w 267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70" h="1">
                  <a:moveTo>
                    <a:pt x="0" y="0"/>
                  </a:moveTo>
                  <a:lnTo>
                    <a:pt x="2670" y="0"/>
                  </a:lnTo>
                </a:path>
              </a:pathLst>
            </a:custGeom>
            <a:noFill/>
            <a:ln w="57150" cmpd="sng">
              <a:solidFill>
                <a:srgbClr val="24C03A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17503" name="Line 63">
              <a:extLst>
                <a:ext uri="{FF2B5EF4-FFF2-40B4-BE49-F238E27FC236}">
                  <a16:creationId xmlns:a16="http://schemas.microsoft.com/office/drawing/2014/main" id="{306BD567-12E2-EFEA-2C46-B8078251A5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697"/>
              <a:ext cx="383" cy="0"/>
            </a:xfrm>
            <a:prstGeom prst="line">
              <a:avLst/>
            </a:prstGeom>
            <a:noFill/>
            <a:ln w="57150">
              <a:solidFill>
                <a:srgbClr val="24C03A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17504" name="Text Box 64">
              <a:extLst>
                <a:ext uri="{FF2B5EF4-FFF2-40B4-BE49-F238E27FC236}">
                  <a16:creationId xmlns:a16="http://schemas.microsoft.com/office/drawing/2014/main" id="{A4545357-88D9-6F65-1D9B-15E5DB878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4" y="2961"/>
              <a:ext cx="236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17505" name="Line 65">
              <a:extLst>
                <a:ext uri="{FF2B5EF4-FFF2-40B4-BE49-F238E27FC236}">
                  <a16:creationId xmlns:a16="http://schemas.microsoft.com/office/drawing/2014/main" id="{0EBBD227-C366-EB58-621A-153FB985A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" y="1513"/>
              <a:ext cx="0" cy="1454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  <p:grpSp>
          <p:nvGrpSpPr>
            <p:cNvPr id="317506" name="Group 66">
              <a:extLst>
                <a:ext uri="{FF2B5EF4-FFF2-40B4-BE49-F238E27FC236}">
                  <a16:creationId xmlns:a16="http://schemas.microsoft.com/office/drawing/2014/main" id="{F5D58E99-CA7A-CB9F-1D68-6E3DA98F0E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3" y="1671"/>
              <a:ext cx="2345" cy="1296"/>
              <a:chOff x="738" y="2919"/>
              <a:chExt cx="2345" cy="1296"/>
            </a:xfrm>
          </p:grpSpPr>
          <p:sp>
            <p:nvSpPr>
              <p:cNvPr id="317507" name="Text Box 67">
                <a:extLst>
                  <a:ext uri="{FF2B5EF4-FFF2-40B4-BE49-F238E27FC236}">
                    <a16:creationId xmlns:a16="http://schemas.microsoft.com/office/drawing/2014/main" id="{00E39D4A-A366-81C9-9AEC-9D80809E0B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5" y="2919"/>
                <a:ext cx="3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sy</a:t>
                </a:r>
              </a:p>
            </p:txBody>
          </p:sp>
          <p:sp>
            <p:nvSpPr>
              <p:cNvPr id="317508" name="Freeform 68">
                <a:extLst>
                  <a:ext uri="{FF2B5EF4-FFF2-40B4-BE49-F238E27FC236}">
                    <a16:creationId xmlns:a16="http://schemas.microsoft.com/office/drawing/2014/main" id="{E8A4B60C-5564-CDFF-D3E7-34912B10A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" y="3054"/>
                <a:ext cx="2007" cy="1161"/>
              </a:xfrm>
              <a:custGeom>
                <a:avLst/>
                <a:gdLst>
                  <a:gd name="T0" fmla="*/ 0 w 2687"/>
                  <a:gd name="T1" fmla="*/ 1817 h 1817"/>
                  <a:gd name="T2" fmla="*/ 100 w 2687"/>
                  <a:gd name="T3" fmla="*/ 1426 h 1817"/>
                  <a:gd name="T4" fmla="*/ 153 w 2687"/>
                  <a:gd name="T5" fmla="*/ 1253 h 1817"/>
                  <a:gd name="T6" fmla="*/ 233 w 2687"/>
                  <a:gd name="T7" fmla="*/ 1093 h 1817"/>
                  <a:gd name="T8" fmla="*/ 367 w 2687"/>
                  <a:gd name="T9" fmla="*/ 893 h 1817"/>
                  <a:gd name="T10" fmla="*/ 567 w 2687"/>
                  <a:gd name="T11" fmla="*/ 706 h 1817"/>
                  <a:gd name="T12" fmla="*/ 727 w 2687"/>
                  <a:gd name="T13" fmla="*/ 586 h 1817"/>
                  <a:gd name="T14" fmla="*/ 900 w 2687"/>
                  <a:gd name="T15" fmla="*/ 466 h 1817"/>
                  <a:gd name="T16" fmla="*/ 1153 w 2687"/>
                  <a:gd name="T17" fmla="*/ 333 h 1817"/>
                  <a:gd name="T18" fmla="*/ 1380 w 2687"/>
                  <a:gd name="T19" fmla="*/ 226 h 1817"/>
                  <a:gd name="T20" fmla="*/ 1673 w 2687"/>
                  <a:gd name="T21" fmla="*/ 160 h 1817"/>
                  <a:gd name="T22" fmla="*/ 1887 w 2687"/>
                  <a:gd name="T23" fmla="*/ 106 h 1817"/>
                  <a:gd name="T24" fmla="*/ 2060 w 2687"/>
                  <a:gd name="T25" fmla="*/ 80 h 1817"/>
                  <a:gd name="T26" fmla="*/ 2687 w 2687"/>
                  <a:gd name="T27" fmla="*/ 0 h 18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87" h="1817">
                    <a:moveTo>
                      <a:pt x="0" y="1817"/>
                    </a:moveTo>
                    <a:lnTo>
                      <a:pt x="100" y="1426"/>
                    </a:lnTo>
                    <a:lnTo>
                      <a:pt x="153" y="1253"/>
                    </a:lnTo>
                    <a:lnTo>
                      <a:pt x="233" y="1093"/>
                    </a:lnTo>
                    <a:lnTo>
                      <a:pt x="367" y="893"/>
                    </a:lnTo>
                    <a:lnTo>
                      <a:pt x="567" y="706"/>
                    </a:lnTo>
                    <a:lnTo>
                      <a:pt x="727" y="586"/>
                    </a:lnTo>
                    <a:lnTo>
                      <a:pt x="900" y="466"/>
                    </a:lnTo>
                    <a:lnTo>
                      <a:pt x="1153" y="333"/>
                    </a:lnTo>
                    <a:lnTo>
                      <a:pt x="1380" y="226"/>
                    </a:lnTo>
                    <a:lnTo>
                      <a:pt x="1673" y="160"/>
                    </a:lnTo>
                    <a:lnTo>
                      <a:pt x="1887" y="106"/>
                    </a:lnTo>
                    <a:lnTo>
                      <a:pt x="2060" y="80"/>
                    </a:lnTo>
                    <a:lnTo>
                      <a:pt x="2687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17509" name="Oval 69">
            <a:extLst>
              <a:ext uri="{FF2B5EF4-FFF2-40B4-BE49-F238E27FC236}">
                <a16:creationId xmlns:a16="http://schemas.microsoft.com/office/drawing/2014/main" id="{4FCB22B7-CC03-E2AC-83C2-1710517E0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888" y="4495800"/>
            <a:ext cx="554037" cy="442913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10" name="Rectangle 70">
            <a:extLst>
              <a:ext uri="{FF2B5EF4-FFF2-40B4-BE49-F238E27FC236}">
                <a16:creationId xmlns:a16="http://schemas.microsoft.com/office/drawing/2014/main" id="{0E9BFC17-8181-F9D4-C856-1DC5EB72E1E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2438400"/>
            <a:ext cx="8001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>
                <a:latin typeface="宋体" panose="02010600030101010101" pitchFamily="2" charset="-122"/>
              </a:rPr>
              <a:t>这种假定大致与现实相吻合。问题是，在该假定下，索罗模型将会如何变化？</a:t>
            </a:r>
            <a:endParaRPr lang="zh-CN" altLang="en-US" sz="2400" b="1">
              <a:solidFill>
                <a:schemeClr val="tx2"/>
              </a:solidFill>
            </a:endParaRPr>
          </a:p>
        </p:txBody>
      </p:sp>
      <p:grpSp>
        <p:nvGrpSpPr>
          <p:cNvPr id="317530" name="Group 90">
            <a:extLst>
              <a:ext uri="{FF2B5EF4-FFF2-40B4-BE49-F238E27FC236}">
                <a16:creationId xmlns:a16="http://schemas.microsoft.com/office/drawing/2014/main" id="{61767554-3830-D9CD-3FC5-F547607CCDBE}"/>
              </a:ext>
            </a:extLst>
          </p:cNvPr>
          <p:cNvGrpSpPr>
            <a:grpSpLocks/>
          </p:cNvGrpSpPr>
          <p:nvPr/>
        </p:nvGrpSpPr>
        <p:grpSpPr bwMode="auto">
          <a:xfrm>
            <a:off x="4741863" y="4086225"/>
            <a:ext cx="4402137" cy="2284413"/>
            <a:chOff x="2987" y="2574"/>
            <a:chExt cx="2773" cy="1439"/>
          </a:xfrm>
        </p:grpSpPr>
        <p:sp>
          <p:nvSpPr>
            <p:cNvPr id="317513" name="Text Box 73">
              <a:extLst>
                <a:ext uri="{FF2B5EF4-FFF2-40B4-BE49-F238E27FC236}">
                  <a16:creationId xmlns:a16="http://schemas.microsoft.com/office/drawing/2014/main" id="{B0430CE1-2DD8-DD16-A259-CEB3B0044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4" y="2574"/>
              <a:ext cx="43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1600" b="1">
                  <a:solidFill>
                    <a:srgbClr val="00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(n+d)k</a:t>
              </a:r>
            </a:p>
          </p:txBody>
        </p:sp>
        <p:sp>
          <p:nvSpPr>
            <p:cNvPr id="317514" name="Freeform 74">
              <a:extLst>
                <a:ext uri="{FF2B5EF4-FFF2-40B4-BE49-F238E27FC236}">
                  <a16:creationId xmlns:a16="http://schemas.microsoft.com/office/drawing/2014/main" id="{84A30D21-E7DC-FE87-35AA-36A7D0F7E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" y="2688"/>
              <a:ext cx="2350" cy="1325"/>
            </a:xfrm>
            <a:custGeom>
              <a:avLst/>
              <a:gdLst>
                <a:gd name="T0" fmla="*/ 0 w 2399"/>
                <a:gd name="T1" fmla="*/ 1331 h 1331"/>
                <a:gd name="T2" fmla="*/ 199 w 2399"/>
                <a:gd name="T3" fmla="*/ 1049 h 1331"/>
                <a:gd name="T4" fmla="*/ 345 w 2399"/>
                <a:gd name="T5" fmla="*/ 456 h 1331"/>
                <a:gd name="T6" fmla="*/ 560 w 2399"/>
                <a:gd name="T7" fmla="*/ 327 h 1331"/>
                <a:gd name="T8" fmla="*/ 2185 w 2399"/>
                <a:gd name="T9" fmla="*/ 17 h 1331"/>
                <a:gd name="T10" fmla="*/ 2399 w 2399"/>
                <a:gd name="T11" fmla="*/ 0 h 1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99" h="1331">
                  <a:moveTo>
                    <a:pt x="0" y="1331"/>
                  </a:moveTo>
                  <a:lnTo>
                    <a:pt x="199" y="1049"/>
                  </a:lnTo>
                  <a:lnTo>
                    <a:pt x="345" y="456"/>
                  </a:lnTo>
                  <a:lnTo>
                    <a:pt x="560" y="327"/>
                  </a:lnTo>
                  <a:lnTo>
                    <a:pt x="2185" y="17"/>
                  </a:lnTo>
                  <a:lnTo>
                    <a:pt x="2399" y="0"/>
                  </a:lnTo>
                </a:path>
              </a:pathLst>
            </a:custGeom>
            <a:noFill/>
            <a:ln w="38100" cmpd="sng">
              <a:solidFill>
                <a:srgbClr val="00FF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</p:grpSp>
      <p:grpSp>
        <p:nvGrpSpPr>
          <p:cNvPr id="317532" name="Group 92">
            <a:extLst>
              <a:ext uri="{FF2B5EF4-FFF2-40B4-BE49-F238E27FC236}">
                <a16:creationId xmlns:a16="http://schemas.microsoft.com/office/drawing/2014/main" id="{C47A875E-9BB9-D337-B659-F52D2E77ECBC}"/>
              </a:ext>
            </a:extLst>
          </p:cNvPr>
          <p:cNvGrpSpPr>
            <a:grpSpLocks/>
          </p:cNvGrpSpPr>
          <p:nvPr/>
        </p:nvGrpSpPr>
        <p:grpSpPr bwMode="auto">
          <a:xfrm>
            <a:off x="5861050" y="4724400"/>
            <a:ext cx="463550" cy="1973263"/>
            <a:chOff x="3692" y="2976"/>
            <a:chExt cx="292" cy="1243"/>
          </a:xfrm>
        </p:grpSpPr>
        <p:sp>
          <p:nvSpPr>
            <p:cNvPr id="317515" name="Text Box 75">
              <a:extLst>
                <a:ext uri="{FF2B5EF4-FFF2-40B4-BE49-F238E27FC236}">
                  <a16:creationId xmlns:a16="http://schemas.microsoft.com/office/drawing/2014/main" id="{D69A3F95-4391-48E3-9E94-6A06E06D5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4032"/>
              <a:ext cx="29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k*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7516" name="Line 76">
              <a:extLst>
                <a:ext uri="{FF2B5EF4-FFF2-40B4-BE49-F238E27FC236}">
                  <a16:creationId xmlns:a16="http://schemas.microsoft.com/office/drawing/2014/main" id="{E0EA618F-DABA-D1F7-AD8B-28B8F0B06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976"/>
              <a:ext cx="0" cy="10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</p:grpSp>
      <p:grpSp>
        <p:nvGrpSpPr>
          <p:cNvPr id="317529" name="Group 89">
            <a:extLst>
              <a:ext uri="{FF2B5EF4-FFF2-40B4-BE49-F238E27FC236}">
                <a16:creationId xmlns:a16="http://schemas.microsoft.com/office/drawing/2014/main" id="{2F49C191-70AD-BB16-C8D7-F1DCEBA9005F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4419600"/>
            <a:ext cx="427038" cy="2438400"/>
            <a:chOff x="3600" y="3314"/>
            <a:chExt cx="269" cy="918"/>
          </a:xfrm>
        </p:grpSpPr>
        <p:sp>
          <p:nvSpPr>
            <p:cNvPr id="317517" name="Text Box 77">
              <a:extLst>
                <a:ext uri="{FF2B5EF4-FFF2-40B4-BE49-F238E27FC236}">
                  <a16:creationId xmlns:a16="http://schemas.microsoft.com/office/drawing/2014/main" id="{81B37D85-FCD4-30C6-99C5-75EA2919B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4032"/>
              <a:ext cx="26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7518" name="Freeform 78">
              <a:extLst>
                <a:ext uri="{FF2B5EF4-FFF2-40B4-BE49-F238E27FC236}">
                  <a16:creationId xmlns:a16="http://schemas.microsoft.com/office/drawing/2014/main" id="{32CD2B62-4B7A-8630-0832-2040666F0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3314"/>
              <a:ext cx="0" cy="699"/>
            </a:xfrm>
            <a:custGeom>
              <a:avLst/>
              <a:gdLst>
                <a:gd name="T0" fmla="*/ 0 w 1"/>
                <a:gd name="T1" fmla="*/ 0 h 1095"/>
                <a:gd name="T2" fmla="*/ 0 w 1"/>
                <a:gd name="T3" fmla="*/ 1095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95">
                  <a:moveTo>
                    <a:pt x="0" y="0"/>
                  </a:moveTo>
                  <a:lnTo>
                    <a:pt x="0" y="109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</p:grpSp>
      <p:grpSp>
        <p:nvGrpSpPr>
          <p:cNvPr id="317519" name="Group 79">
            <a:extLst>
              <a:ext uri="{FF2B5EF4-FFF2-40B4-BE49-F238E27FC236}">
                <a16:creationId xmlns:a16="http://schemas.microsoft.com/office/drawing/2014/main" id="{1414061A-32F1-BBE2-AACB-DCA81E5ECBD9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3852863"/>
            <a:ext cx="4038600" cy="2547937"/>
            <a:chOff x="722" y="2619"/>
            <a:chExt cx="2043" cy="1596"/>
          </a:xfrm>
        </p:grpSpPr>
        <p:sp>
          <p:nvSpPr>
            <p:cNvPr id="317520" name="Freeform 80">
              <a:extLst>
                <a:ext uri="{FF2B5EF4-FFF2-40B4-BE49-F238E27FC236}">
                  <a16:creationId xmlns:a16="http://schemas.microsoft.com/office/drawing/2014/main" id="{4BA6E418-4C8A-6AD2-F3CE-506FC2458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" y="2619"/>
              <a:ext cx="3" cy="1596"/>
            </a:xfrm>
            <a:custGeom>
              <a:avLst/>
              <a:gdLst>
                <a:gd name="T0" fmla="*/ 0 w 5"/>
                <a:gd name="T1" fmla="*/ 0 h 2499"/>
                <a:gd name="T2" fmla="*/ 5 w 5"/>
                <a:gd name="T3" fmla="*/ 2499 h 2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2499">
                  <a:moveTo>
                    <a:pt x="0" y="0"/>
                  </a:moveTo>
                  <a:lnTo>
                    <a:pt x="5" y="2499"/>
                  </a:ln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  <p:sp>
          <p:nvSpPr>
            <p:cNvPr id="317521" name="Freeform 81">
              <a:extLst>
                <a:ext uri="{FF2B5EF4-FFF2-40B4-BE49-F238E27FC236}">
                  <a16:creationId xmlns:a16="http://schemas.microsoft.com/office/drawing/2014/main" id="{FC4B5BD4-962B-EF47-585C-A2A5D79C378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51" y="4007"/>
              <a:ext cx="2014" cy="197"/>
            </a:xfrm>
            <a:custGeom>
              <a:avLst/>
              <a:gdLst>
                <a:gd name="T0" fmla="*/ 0 w 2670"/>
                <a:gd name="T1" fmla="*/ 0 h 1"/>
                <a:gd name="T2" fmla="*/ 2670 w 267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70" h="1">
                  <a:moveTo>
                    <a:pt x="0" y="0"/>
                  </a:moveTo>
                  <a:lnTo>
                    <a:pt x="2670" y="0"/>
                  </a:ln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bIns="0"/>
            <a:lstStyle/>
            <a:p>
              <a:endParaRPr lang="zh-CN" altLang="en-US"/>
            </a:p>
          </p:txBody>
        </p:sp>
      </p:grpSp>
      <p:sp>
        <p:nvSpPr>
          <p:cNvPr id="317522" name="Freeform 82">
            <a:extLst>
              <a:ext uri="{FF2B5EF4-FFF2-40B4-BE49-F238E27FC236}">
                <a16:creationId xmlns:a16="http://schemas.microsoft.com/office/drawing/2014/main" id="{5CA23C09-54C0-DA32-24C8-75DA848D3EA9}"/>
              </a:ext>
            </a:extLst>
          </p:cNvPr>
          <p:cNvSpPr>
            <a:spLocks/>
          </p:cNvSpPr>
          <p:nvPr/>
        </p:nvSpPr>
        <p:spPr bwMode="auto">
          <a:xfrm flipV="1">
            <a:off x="6477000" y="5943600"/>
            <a:ext cx="842963" cy="158750"/>
          </a:xfrm>
          <a:custGeom>
            <a:avLst/>
            <a:gdLst>
              <a:gd name="T0" fmla="*/ 0 w 2670"/>
              <a:gd name="T1" fmla="*/ 0 h 1"/>
              <a:gd name="T2" fmla="*/ 2670 w 2670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670" h="1">
                <a:moveTo>
                  <a:pt x="0" y="0"/>
                </a:moveTo>
                <a:lnTo>
                  <a:pt x="2670" y="0"/>
                </a:lnTo>
              </a:path>
            </a:pathLst>
          </a:custGeom>
          <a:noFill/>
          <a:ln w="57150" cmpd="sng">
            <a:solidFill>
              <a:srgbClr val="24C03A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bIns="0"/>
          <a:lstStyle/>
          <a:p>
            <a:endParaRPr lang="zh-CN" altLang="en-US"/>
          </a:p>
        </p:txBody>
      </p:sp>
      <p:sp>
        <p:nvSpPr>
          <p:cNvPr id="317523" name="Line 83">
            <a:extLst>
              <a:ext uri="{FF2B5EF4-FFF2-40B4-BE49-F238E27FC236}">
                <a16:creationId xmlns:a16="http://schemas.microsoft.com/office/drawing/2014/main" id="{72875B9C-02B4-721A-2DB7-8F41F8525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6172200"/>
            <a:ext cx="608013" cy="0"/>
          </a:xfrm>
          <a:prstGeom prst="line">
            <a:avLst/>
          </a:prstGeom>
          <a:noFill/>
          <a:ln w="57150">
            <a:solidFill>
              <a:srgbClr val="24C03A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bIns="0"/>
          <a:lstStyle/>
          <a:p>
            <a:endParaRPr lang="zh-CN" altLang="en-US"/>
          </a:p>
        </p:txBody>
      </p:sp>
      <p:grpSp>
        <p:nvGrpSpPr>
          <p:cNvPr id="317533" name="Group 93">
            <a:extLst>
              <a:ext uri="{FF2B5EF4-FFF2-40B4-BE49-F238E27FC236}">
                <a16:creationId xmlns:a16="http://schemas.microsoft.com/office/drawing/2014/main" id="{A42FF914-3198-BABC-9CDD-067934A438CB}"/>
              </a:ext>
            </a:extLst>
          </p:cNvPr>
          <p:cNvGrpSpPr>
            <a:grpSpLocks/>
          </p:cNvGrpSpPr>
          <p:nvPr/>
        </p:nvGrpSpPr>
        <p:grpSpPr bwMode="auto">
          <a:xfrm>
            <a:off x="5111750" y="5334000"/>
            <a:ext cx="374650" cy="1447800"/>
            <a:chOff x="3220" y="3360"/>
            <a:chExt cx="236" cy="912"/>
          </a:xfrm>
        </p:grpSpPr>
        <p:sp>
          <p:nvSpPr>
            <p:cNvPr id="317524" name="Text Box 84">
              <a:extLst>
                <a:ext uri="{FF2B5EF4-FFF2-40B4-BE49-F238E27FC236}">
                  <a16:creationId xmlns:a16="http://schemas.microsoft.com/office/drawing/2014/main" id="{E52192DA-217B-80ED-D094-C464E3BA3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0" y="4017"/>
              <a:ext cx="236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 i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i="1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317525" name="Line 85">
              <a:extLst>
                <a:ext uri="{FF2B5EF4-FFF2-40B4-BE49-F238E27FC236}">
                  <a16:creationId xmlns:a16="http://schemas.microsoft.com/office/drawing/2014/main" id="{6577541C-9184-417E-389B-1D0646107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360"/>
              <a:ext cx="0" cy="672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</p:grpSp>
      <p:grpSp>
        <p:nvGrpSpPr>
          <p:cNvPr id="317531" name="Group 91">
            <a:extLst>
              <a:ext uri="{FF2B5EF4-FFF2-40B4-BE49-F238E27FC236}">
                <a16:creationId xmlns:a16="http://schemas.microsoft.com/office/drawing/2014/main" id="{D63958D4-EE8A-4BFA-8926-BFC66A11778A}"/>
              </a:ext>
            </a:extLst>
          </p:cNvPr>
          <p:cNvGrpSpPr>
            <a:grpSpLocks/>
          </p:cNvGrpSpPr>
          <p:nvPr/>
        </p:nvGrpSpPr>
        <p:grpSpPr bwMode="auto">
          <a:xfrm>
            <a:off x="4749800" y="4221163"/>
            <a:ext cx="3784600" cy="2165350"/>
            <a:chOff x="2992" y="2659"/>
            <a:chExt cx="2384" cy="1364"/>
          </a:xfrm>
        </p:grpSpPr>
        <p:sp>
          <p:nvSpPr>
            <p:cNvPr id="317527" name="Text Box 87">
              <a:extLst>
                <a:ext uri="{FF2B5EF4-FFF2-40B4-BE49-F238E27FC236}">
                  <a16:creationId xmlns:a16="http://schemas.microsoft.com/office/drawing/2014/main" id="{2F44AE8F-C86A-836F-52EE-6EFFAA0FD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4" y="2659"/>
              <a:ext cx="30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sy</a:t>
              </a:r>
            </a:p>
          </p:txBody>
        </p:sp>
        <p:sp>
          <p:nvSpPr>
            <p:cNvPr id="317528" name="Freeform 88">
              <a:extLst>
                <a:ext uri="{FF2B5EF4-FFF2-40B4-BE49-F238E27FC236}">
                  <a16:creationId xmlns:a16="http://schemas.microsoft.com/office/drawing/2014/main" id="{780345F5-E144-7FA1-280E-B7BF2DDB6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2751"/>
              <a:ext cx="2094" cy="1272"/>
            </a:xfrm>
            <a:custGeom>
              <a:avLst/>
              <a:gdLst>
                <a:gd name="T0" fmla="*/ 0 w 2094"/>
                <a:gd name="T1" fmla="*/ 1272 h 1272"/>
                <a:gd name="T2" fmla="*/ 73 w 2094"/>
                <a:gd name="T3" fmla="*/ 996 h 1272"/>
                <a:gd name="T4" fmla="*/ 112 w 2094"/>
                <a:gd name="T5" fmla="*/ 874 h 1272"/>
                <a:gd name="T6" fmla="*/ 170 w 2094"/>
                <a:gd name="T7" fmla="*/ 761 h 1272"/>
                <a:gd name="T8" fmla="*/ 269 w 2094"/>
                <a:gd name="T9" fmla="*/ 620 h 1272"/>
                <a:gd name="T10" fmla="*/ 348 w 2094"/>
                <a:gd name="T11" fmla="*/ 473 h 1272"/>
                <a:gd name="T12" fmla="*/ 477 w 2094"/>
                <a:gd name="T13" fmla="*/ 378 h 1272"/>
                <a:gd name="T14" fmla="*/ 623 w 2094"/>
                <a:gd name="T15" fmla="*/ 292 h 1272"/>
                <a:gd name="T16" fmla="*/ 838 w 2094"/>
                <a:gd name="T17" fmla="*/ 172 h 1272"/>
                <a:gd name="T18" fmla="*/ 967 w 2094"/>
                <a:gd name="T19" fmla="*/ 129 h 1272"/>
                <a:gd name="T20" fmla="*/ 1165 w 2094"/>
                <a:gd name="T21" fmla="*/ 52 h 1272"/>
                <a:gd name="T22" fmla="*/ 1354 w 2094"/>
                <a:gd name="T23" fmla="*/ 17 h 1272"/>
                <a:gd name="T24" fmla="*/ 1526 w 2094"/>
                <a:gd name="T25" fmla="*/ 9 h 1272"/>
                <a:gd name="T26" fmla="*/ 2094 w 2094"/>
                <a:gd name="T27" fmla="*/ 0 h 1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94" h="1272">
                  <a:moveTo>
                    <a:pt x="0" y="1272"/>
                  </a:moveTo>
                  <a:lnTo>
                    <a:pt x="73" y="996"/>
                  </a:lnTo>
                  <a:lnTo>
                    <a:pt x="112" y="874"/>
                  </a:lnTo>
                  <a:lnTo>
                    <a:pt x="170" y="761"/>
                  </a:lnTo>
                  <a:lnTo>
                    <a:pt x="269" y="620"/>
                  </a:lnTo>
                  <a:lnTo>
                    <a:pt x="348" y="473"/>
                  </a:lnTo>
                  <a:lnTo>
                    <a:pt x="477" y="378"/>
                  </a:lnTo>
                  <a:lnTo>
                    <a:pt x="623" y="292"/>
                  </a:lnTo>
                  <a:lnTo>
                    <a:pt x="838" y="172"/>
                  </a:lnTo>
                  <a:lnTo>
                    <a:pt x="967" y="129"/>
                  </a:lnTo>
                  <a:lnTo>
                    <a:pt x="1165" y="52"/>
                  </a:lnTo>
                  <a:lnTo>
                    <a:pt x="1354" y="17"/>
                  </a:lnTo>
                  <a:lnTo>
                    <a:pt x="1526" y="9"/>
                  </a:lnTo>
                  <a:lnTo>
                    <a:pt x="2094" y="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7534" name="Oval 94">
            <a:extLst>
              <a:ext uri="{FF2B5EF4-FFF2-40B4-BE49-F238E27FC236}">
                <a16:creationId xmlns:a16="http://schemas.microsoft.com/office/drawing/2014/main" id="{0DEA63A0-1EFD-2771-A73F-74CAD2F92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105400"/>
            <a:ext cx="381000" cy="381000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b="1"/>
              <a:t>低</a:t>
            </a:r>
          </a:p>
        </p:txBody>
      </p:sp>
      <p:sp>
        <p:nvSpPr>
          <p:cNvPr id="317535" name="Oval 95">
            <a:extLst>
              <a:ext uri="{FF2B5EF4-FFF2-40B4-BE49-F238E27FC236}">
                <a16:creationId xmlns:a16="http://schemas.microsoft.com/office/drawing/2014/main" id="{79311055-F6D4-0D10-C90F-44CDB0134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191000"/>
            <a:ext cx="381000" cy="381000"/>
          </a:xfrm>
          <a:prstGeom prst="ellipse">
            <a:avLst/>
          </a:prstGeom>
          <a:solidFill>
            <a:srgbClr val="33CC33"/>
          </a:solidFill>
          <a:ln w="57150">
            <a:solidFill>
              <a:srgbClr val="33CC33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b="1"/>
              <a:t>高</a:t>
            </a:r>
          </a:p>
        </p:txBody>
      </p:sp>
      <p:sp>
        <p:nvSpPr>
          <p:cNvPr id="317536" name="Oval 96">
            <a:extLst>
              <a:ext uri="{FF2B5EF4-FFF2-40B4-BE49-F238E27FC236}">
                <a16:creationId xmlns:a16="http://schemas.microsoft.com/office/drawing/2014/main" id="{48D49CF2-4F3A-AF54-3E2E-2532DF424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72000"/>
            <a:ext cx="381000" cy="3810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74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75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5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7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7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7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31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31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317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31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3" dur="500"/>
                                        <p:tgtEl>
                                          <p:spTgt spid="317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8" dur="500"/>
                                        <p:tgtEl>
                                          <p:spTgt spid="317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7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7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17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17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7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7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1" dur="500"/>
                                        <p:tgtEl>
                                          <p:spTgt spid="31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6" dur="500"/>
                                        <p:tgtEl>
                                          <p:spTgt spid="31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2" grpId="0" autoUpdateAnimBg="0"/>
      <p:bldP spid="317468" grpId="0" autoUpdateAnimBg="0"/>
      <p:bldP spid="317510" grpId="0" autoUpdateAnimBg="0"/>
      <p:bldP spid="317534" grpId="0" animBg="1" autoUpdateAnimBg="0"/>
      <p:bldP spid="317535" grpId="0" animBg="1" autoUpdateAnimBg="0"/>
      <p:bldP spid="317536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21" name="AutoShape 133">
            <a:extLst>
              <a:ext uri="{FF2B5EF4-FFF2-40B4-BE49-F238E27FC236}">
                <a16:creationId xmlns:a16="http://schemas.microsoft.com/office/drawing/2014/main" id="{CF1FCBF2-AA99-414B-BEB2-EA8D55919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03860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rgbClr val="00FF00"/>
          </a:solidFill>
          <a:ln w="9525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1600" b="1"/>
              <a:t>大推进</a:t>
            </a:r>
          </a:p>
        </p:txBody>
      </p:sp>
      <p:sp>
        <p:nvSpPr>
          <p:cNvPr id="319627" name="Freeform 139">
            <a:extLst>
              <a:ext uri="{FF2B5EF4-FFF2-40B4-BE49-F238E27FC236}">
                <a16:creationId xmlns:a16="http://schemas.microsoft.com/office/drawing/2014/main" id="{60B7A9B3-D6CC-1FA7-08BD-B75EED277042}"/>
              </a:ext>
            </a:extLst>
          </p:cNvPr>
          <p:cNvSpPr>
            <a:spLocks/>
          </p:cNvSpPr>
          <p:nvPr/>
        </p:nvSpPr>
        <p:spPr bwMode="auto">
          <a:xfrm>
            <a:off x="4800600" y="2286000"/>
            <a:ext cx="3505200" cy="2057400"/>
          </a:xfrm>
          <a:custGeom>
            <a:avLst/>
            <a:gdLst>
              <a:gd name="T0" fmla="*/ 2208 w 2208"/>
              <a:gd name="T1" fmla="*/ 0 h 1296"/>
              <a:gd name="T2" fmla="*/ 960 w 2208"/>
              <a:gd name="T3" fmla="*/ 288 h 1296"/>
              <a:gd name="T4" fmla="*/ 336 w 2208"/>
              <a:gd name="T5" fmla="*/ 768 h 1296"/>
              <a:gd name="T6" fmla="*/ 0 w 2208"/>
              <a:gd name="T7" fmla="*/ 1296 h 1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08" h="1296">
                <a:moveTo>
                  <a:pt x="2208" y="0"/>
                </a:moveTo>
                <a:cubicBezTo>
                  <a:pt x="1740" y="80"/>
                  <a:pt x="1272" y="160"/>
                  <a:pt x="960" y="288"/>
                </a:cubicBezTo>
                <a:cubicBezTo>
                  <a:pt x="648" y="416"/>
                  <a:pt x="496" y="600"/>
                  <a:pt x="336" y="768"/>
                </a:cubicBezTo>
                <a:cubicBezTo>
                  <a:pt x="176" y="936"/>
                  <a:pt x="88" y="1116"/>
                  <a:pt x="0" y="1296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9626" name="Group 138">
            <a:extLst>
              <a:ext uri="{FF2B5EF4-FFF2-40B4-BE49-F238E27FC236}">
                <a16:creationId xmlns:a16="http://schemas.microsoft.com/office/drawing/2014/main" id="{7F89446A-50A5-1E16-7CBF-06A4559AB132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828800"/>
            <a:ext cx="3810000" cy="2590800"/>
            <a:chOff x="2976" y="1152"/>
            <a:chExt cx="2400" cy="1632"/>
          </a:xfrm>
        </p:grpSpPr>
        <p:sp>
          <p:nvSpPr>
            <p:cNvPr id="319623" name="Text Box 135">
              <a:extLst>
                <a:ext uri="{FF2B5EF4-FFF2-40B4-BE49-F238E27FC236}">
                  <a16:creationId xmlns:a16="http://schemas.microsoft.com/office/drawing/2014/main" id="{C399A414-ABBF-191A-0A3F-2302C49DE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8" y="1152"/>
              <a:ext cx="298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 eaLnBrk="0" hangingPunct="0"/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0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19625" name="Freeform 137">
              <a:extLst>
                <a:ext uri="{FF2B5EF4-FFF2-40B4-BE49-F238E27FC236}">
                  <a16:creationId xmlns:a16="http://schemas.microsoft.com/office/drawing/2014/main" id="{5217ADC8-06FB-37DC-E5C1-043F038B5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410"/>
              <a:ext cx="2182" cy="1374"/>
            </a:xfrm>
            <a:custGeom>
              <a:avLst/>
              <a:gdLst>
                <a:gd name="T0" fmla="*/ 0 w 2182"/>
                <a:gd name="T1" fmla="*/ 1374 h 1374"/>
                <a:gd name="T2" fmla="*/ 368 w 2182"/>
                <a:gd name="T3" fmla="*/ 335 h 1374"/>
                <a:gd name="T4" fmla="*/ 1116 w 2182"/>
                <a:gd name="T5" fmla="*/ 60 h 1374"/>
                <a:gd name="T6" fmla="*/ 2182 w 2182"/>
                <a:gd name="T7" fmla="*/ 0 h 1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82" h="1374">
                  <a:moveTo>
                    <a:pt x="0" y="1374"/>
                  </a:moveTo>
                  <a:cubicBezTo>
                    <a:pt x="61" y="1201"/>
                    <a:pt x="182" y="554"/>
                    <a:pt x="368" y="335"/>
                  </a:cubicBezTo>
                  <a:cubicBezTo>
                    <a:pt x="554" y="116"/>
                    <a:pt x="814" y="116"/>
                    <a:pt x="1116" y="60"/>
                  </a:cubicBezTo>
                  <a:cubicBezTo>
                    <a:pt x="1418" y="4"/>
                    <a:pt x="1960" y="12"/>
                    <a:pt x="2182" y="0"/>
                  </a:cubicBezTo>
                </a:path>
              </a:pathLst>
            </a:custGeom>
            <a:noFill/>
            <a:ln w="57150" cap="flat" cmpd="sng">
              <a:solidFill>
                <a:srgbClr val="E5DF6B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9490" name="Rectangle 2">
            <a:extLst>
              <a:ext uri="{FF2B5EF4-FFF2-40B4-BE49-F238E27FC236}">
                <a16:creationId xmlns:a16="http://schemas.microsoft.com/office/drawing/2014/main" id="{7E3C71F9-BCD1-214D-B7AA-00DBBE0D1C7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sz="4000" b="1">
                <a:solidFill>
                  <a:srgbClr val="CC0000"/>
                </a:solidFill>
              </a:rPr>
              <a:t>3.2 </a:t>
            </a:r>
            <a:r>
              <a:rPr lang="zh-CN" altLang="en-US" sz="4000" b="1">
                <a:solidFill>
                  <a:srgbClr val="CC0000"/>
                </a:solidFill>
              </a:rPr>
              <a:t>索罗碰到了马尔萨斯</a:t>
            </a:r>
            <a:r>
              <a:rPr lang="en-US" altLang="zh-CN" sz="4000" b="1">
                <a:solidFill>
                  <a:srgbClr val="CC0000"/>
                </a:solidFill>
              </a:rPr>
              <a:t>_</a:t>
            </a:r>
            <a:r>
              <a:rPr lang="zh-CN" altLang="en-US" sz="4000" b="1">
                <a:solidFill>
                  <a:srgbClr val="CC0000"/>
                </a:solidFill>
              </a:rPr>
              <a:t>政策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6CB73CD6-2959-2ACF-E5AF-5768F579F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9492" name="Rectangle 4">
            <a:extLst>
              <a:ext uri="{FF2B5EF4-FFF2-40B4-BE49-F238E27FC236}">
                <a16:creationId xmlns:a16="http://schemas.microsoft.com/office/drawing/2014/main" id="{F49521AF-FC55-BEB4-0052-5BB83F6A207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90600" y="1143000"/>
            <a:ext cx="5029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endParaRPr lang="zh-CN" altLang="zh-CN" sz="2400" b="1"/>
          </a:p>
        </p:txBody>
      </p:sp>
      <p:sp>
        <p:nvSpPr>
          <p:cNvPr id="319493" name="Rectangle 5">
            <a:extLst>
              <a:ext uri="{FF2B5EF4-FFF2-40B4-BE49-F238E27FC236}">
                <a16:creationId xmlns:a16="http://schemas.microsoft.com/office/drawing/2014/main" id="{73F08CB9-24DF-5FF9-A53F-F75A497E42F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143000"/>
            <a:ext cx="6400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>
                <a:latin typeface="宋体" panose="02010600030101010101" pitchFamily="2" charset="-122"/>
              </a:rPr>
              <a:t>如何摆脱低水平的均衡？</a:t>
            </a:r>
            <a:endParaRPr lang="zh-CN" altLang="en-US" sz="2400" b="1">
              <a:solidFill>
                <a:schemeClr val="tx2"/>
              </a:solidFill>
            </a:endParaRPr>
          </a:p>
        </p:txBody>
      </p:sp>
      <p:sp>
        <p:nvSpPr>
          <p:cNvPr id="319537" name="Rectangle 49">
            <a:extLst>
              <a:ext uri="{FF2B5EF4-FFF2-40B4-BE49-F238E27FC236}">
                <a16:creationId xmlns:a16="http://schemas.microsoft.com/office/drawing/2014/main" id="{4A886A04-280B-044C-3C94-8363D47664B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1981200"/>
            <a:ext cx="304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三种方案：</a:t>
            </a:r>
            <a:endParaRPr lang="zh-CN" altLang="en-US" sz="2000" b="1"/>
          </a:p>
        </p:txBody>
      </p:sp>
      <p:sp>
        <p:nvSpPr>
          <p:cNvPr id="319558" name="Rectangle 70">
            <a:extLst>
              <a:ext uri="{FF2B5EF4-FFF2-40B4-BE49-F238E27FC236}">
                <a16:creationId xmlns:a16="http://schemas.microsoft.com/office/drawing/2014/main" id="{B1FEEDB3-35A7-3B06-933E-DCDDA9010F64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3505200"/>
            <a:ext cx="304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增加储蓄</a:t>
            </a:r>
          </a:p>
        </p:txBody>
      </p:sp>
      <p:sp>
        <p:nvSpPr>
          <p:cNvPr id="319559" name="Rectangle 71">
            <a:extLst>
              <a:ext uri="{FF2B5EF4-FFF2-40B4-BE49-F238E27FC236}">
                <a16:creationId xmlns:a16="http://schemas.microsoft.com/office/drawing/2014/main" id="{E202A95C-273A-3E07-70D9-2C7EE2FE22A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143000" y="2743200"/>
            <a:ext cx="304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大推进</a:t>
            </a:r>
          </a:p>
        </p:txBody>
      </p:sp>
      <p:sp>
        <p:nvSpPr>
          <p:cNvPr id="319560" name="Rectangle 72">
            <a:extLst>
              <a:ext uri="{FF2B5EF4-FFF2-40B4-BE49-F238E27FC236}">
                <a16:creationId xmlns:a16="http://schemas.microsoft.com/office/drawing/2014/main" id="{CF6AB997-A834-FF54-3AE6-B4F6E8CDF29E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66800" y="4191000"/>
            <a:ext cx="304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控制人口</a:t>
            </a:r>
          </a:p>
        </p:txBody>
      </p:sp>
      <p:sp>
        <p:nvSpPr>
          <p:cNvPr id="319565" name="Rectangle 77">
            <a:extLst>
              <a:ext uri="{FF2B5EF4-FFF2-40B4-BE49-F238E27FC236}">
                <a16:creationId xmlns:a16="http://schemas.microsoft.com/office/drawing/2014/main" id="{D7732C9F-C0F8-3F6E-5B87-83FE3708A82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90600" y="5181600"/>
            <a:ext cx="7924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这些政策通常没有实现预期效果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理论没错，药方没错，但忽视了经济学的基本原理，即经济活动主体会对激励做出反应。</a:t>
            </a:r>
          </a:p>
        </p:txBody>
      </p:sp>
      <p:grpSp>
        <p:nvGrpSpPr>
          <p:cNvPr id="319620" name="Group 132">
            <a:extLst>
              <a:ext uri="{FF2B5EF4-FFF2-40B4-BE49-F238E27FC236}">
                <a16:creationId xmlns:a16="http://schemas.microsoft.com/office/drawing/2014/main" id="{F772400D-E3AB-D47F-B48F-0B599DDC8A39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905000"/>
            <a:ext cx="4419600" cy="3048000"/>
            <a:chOff x="2976" y="1152"/>
            <a:chExt cx="2784" cy="1920"/>
          </a:xfrm>
        </p:grpSpPr>
        <p:grpSp>
          <p:nvGrpSpPr>
            <p:cNvPr id="319597" name="Group 109">
              <a:extLst>
                <a:ext uri="{FF2B5EF4-FFF2-40B4-BE49-F238E27FC236}">
                  <a16:creationId xmlns:a16="http://schemas.microsoft.com/office/drawing/2014/main" id="{79B7BA30-CEE9-794D-204E-E31919B69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7" y="1299"/>
              <a:ext cx="2773" cy="1439"/>
              <a:chOff x="2987" y="2574"/>
              <a:chExt cx="2773" cy="1439"/>
            </a:xfrm>
          </p:grpSpPr>
          <p:sp>
            <p:nvSpPr>
              <p:cNvPr id="319598" name="Text Box 110">
                <a:extLst>
                  <a:ext uri="{FF2B5EF4-FFF2-40B4-BE49-F238E27FC236}">
                    <a16:creationId xmlns:a16="http://schemas.microsoft.com/office/drawing/2014/main" id="{E5BBE5C9-CC8B-F8E7-CE80-EAA509571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4" y="2574"/>
                <a:ext cx="436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1600" b="1">
                    <a:solidFill>
                      <a:srgbClr val="00FF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(n+d)k</a:t>
                </a:r>
              </a:p>
            </p:txBody>
          </p:sp>
          <p:sp>
            <p:nvSpPr>
              <p:cNvPr id="319599" name="Freeform 111">
                <a:extLst>
                  <a:ext uri="{FF2B5EF4-FFF2-40B4-BE49-F238E27FC236}">
                    <a16:creationId xmlns:a16="http://schemas.microsoft.com/office/drawing/2014/main" id="{BF132626-393D-757E-1753-E420EB395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2688"/>
                <a:ext cx="2350" cy="1325"/>
              </a:xfrm>
              <a:custGeom>
                <a:avLst/>
                <a:gdLst>
                  <a:gd name="T0" fmla="*/ 0 w 2399"/>
                  <a:gd name="T1" fmla="*/ 1331 h 1331"/>
                  <a:gd name="T2" fmla="*/ 199 w 2399"/>
                  <a:gd name="T3" fmla="*/ 1049 h 1331"/>
                  <a:gd name="T4" fmla="*/ 345 w 2399"/>
                  <a:gd name="T5" fmla="*/ 456 h 1331"/>
                  <a:gd name="T6" fmla="*/ 560 w 2399"/>
                  <a:gd name="T7" fmla="*/ 327 h 1331"/>
                  <a:gd name="T8" fmla="*/ 2185 w 2399"/>
                  <a:gd name="T9" fmla="*/ 17 h 1331"/>
                  <a:gd name="T10" fmla="*/ 2399 w 2399"/>
                  <a:gd name="T11" fmla="*/ 0 h 1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99" h="1331">
                    <a:moveTo>
                      <a:pt x="0" y="1331"/>
                    </a:moveTo>
                    <a:lnTo>
                      <a:pt x="199" y="1049"/>
                    </a:lnTo>
                    <a:lnTo>
                      <a:pt x="345" y="456"/>
                    </a:lnTo>
                    <a:lnTo>
                      <a:pt x="560" y="327"/>
                    </a:lnTo>
                    <a:lnTo>
                      <a:pt x="2185" y="17"/>
                    </a:lnTo>
                    <a:lnTo>
                      <a:pt x="2399" y="0"/>
                    </a:lnTo>
                  </a:path>
                </a:pathLst>
              </a:custGeom>
              <a:noFill/>
              <a:ln w="38100" cmpd="sng">
                <a:solidFill>
                  <a:srgbClr val="00FF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grpSp>
          <p:nvGrpSpPr>
            <p:cNvPr id="319600" name="Group 112">
              <a:extLst>
                <a:ext uri="{FF2B5EF4-FFF2-40B4-BE49-F238E27FC236}">
                  <a16:creationId xmlns:a16="http://schemas.microsoft.com/office/drawing/2014/main" id="{337B45EA-E65A-C42E-A4F1-F6B65C9A8F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2" y="1701"/>
              <a:ext cx="292" cy="1243"/>
              <a:chOff x="3692" y="2976"/>
              <a:chExt cx="292" cy="1243"/>
            </a:xfrm>
          </p:grpSpPr>
          <p:sp>
            <p:nvSpPr>
              <p:cNvPr id="319601" name="Text Box 113">
                <a:extLst>
                  <a:ext uri="{FF2B5EF4-FFF2-40B4-BE49-F238E27FC236}">
                    <a16:creationId xmlns:a16="http://schemas.microsoft.com/office/drawing/2014/main" id="{0C9B0237-36C3-E821-ED04-97B53F8105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2" y="4032"/>
                <a:ext cx="292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k*</a:t>
                </a:r>
                <a:endPara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602" name="Line 114">
                <a:extLst>
                  <a:ext uri="{FF2B5EF4-FFF2-40B4-BE49-F238E27FC236}">
                    <a16:creationId xmlns:a16="http://schemas.microsoft.com/office/drawing/2014/main" id="{2A7DA1BC-6D22-8654-C23A-57F6BCCA56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976"/>
                <a:ext cx="0" cy="104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grpSp>
          <p:nvGrpSpPr>
            <p:cNvPr id="319603" name="Group 115">
              <a:extLst>
                <a:ext uri="{FF2B5EF4-FFF2-40B4-BE49-F238E27FC236}">
                  <a16:creationId xmlns:a16="http://schemas.microsoft.com/office/drawing/2014/main" id="{2AECE32F-FD6F-4D8F-2008-C2DC91A0AF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152"/>
              <a:ext cx="2544" cy="1605"/>
              <a:chOff x="722" y="2619"/>
              <a:chExt cx="2043" cy="1596"/>
            </a:xfrm>
          </p:grpSpPr>
          <p:sp>
            <p:nvSpPr>
              <p:cNvPr id="319604" name="Freeform 116">
                <a:extLst>
                  <a:ext uri="{FF2B5EF4-FFF2-40B4-BE49-F238E27FC236}">
                    <a16:creationId xmlns:a16="http://schemas.microsoft.com/office/drawing/2014/main" id="{2992B3D4-C7A6-F62C-A917-EF32CBA7E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" y="2619"/>
                <a:ext cx="3" cy="1596"/>
              </a:xfrm>
              <a:custGeom>
                <a:avLst/>
                <a:gdLst>
                  <a:gd name="T0" fmla="*/ 0 w 5"/>
                  <a:gd name="T1" fmla="*/ 0 h 2499"/>
                  <a:gd name="T2" fmla="*/ 5 w 5"/>
                  <a:gd name="T3" fmla="*/ 2499 h 2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" h="2499">
                    <a:moveTo>
                      <a:pt x="0" y="0"/>
                    </a:moveTo>
                    <a:lnTo>
                      <a:pt x="5" y="2499"/>
                    </a:lnTo>
                  </a:path>
                </a:pathLst>
              </a:custGeom>
              <a:noFill/>
              <a:ln w="57150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  <p:sp>
            <p:nvSpPr>
              <p:cNvPr id="319605" name="Freeform 117">
                <a:extLst>
                  <a:ext uri="{FF2B5EF4-FFF2-40B4-BE49-F238E27FC236}">
                    <a16:creationId xmlns:a16="http://schemas.microsoft.com/office/drawing/2014/main" id="{A17C9C03-9FA5-CB8B-64F0-4607062C232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51" y="4007"/>
                <a:ext cx="2014" cy="197"/>
              </a:xfrm>
              <a:custGeom>
                <a:avLst/>
                <a:gdLst>
                  <a:gd name="T0" fmla="*/ 0 w 2670"/>
                  <a:gd name="T1" fmla="*/ 0 h 1"/>
                  <a:gd name="T2" fmla="*/ 2670 w 2670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670" h="1">
                    <a:moveTo>
                      <a:pt x="0" y="0"/>
                    </a:moveTo>
                    <a:lnTo>
                      <a:pt x="2670" y="0"/>
                    </a:ln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  <p:grpSp>
          <p:nvGrpSpPr>
            <p:cNvPr id="319608" name="Group 120">
              <a:extLst>
                <a:ext uri="{FF2B5EF4-FFF2-40B4-BE49-F238E27FC236}">
                  <a16:creationId xmlns:a16="http://schemas.microsoft.com/office/drawing/2014/main" id="{3F646F35-8B36-BCB4-2136-278C54E20E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0" y="2085"/>
              <a:ext cx="236" cy="912"/>
              <a:chOff x="3220" y="3360"/>
              <a:chExt cx="236" cy="912"/>
            </a:xfrm>
          </p:grpSpPr>
          <p:sp>
            <p:nvSpPr>
              <p:cNvPr id="319609" name="Text Box 121">
                <a:extLst>
                  <a:ext uri="{FF2B5EF4-FFF2-40B4-BE49-F238E27FC236}">
                    <a16:creationId xmlns:a16="http://schemas.microsoft.com/office/drawing/2014/main" id="{3336645E-60D3-96DE-4DC8-86B708FE78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0" y="4017"/>
                <a:ext cx="236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2000" b="1" i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000" b="1" i="1" baseline="-2500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  <a:endParaRPr lang="en-US" altLang="zh-CN" sz="20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610" name="Line 122">
                <a:extLst>
                  <a:ext uri="{FF2B5EF4-FFF2-40B4-BE49-F238E27FC236}">
                    <a16:creationId xmlns:a16="http://schemas.microsoft.com/office/drawing/2014/main" id="{A36654CF-B53E-22CD-AF77-D7C583A7D9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3360"/>
                <a:ext cx="0" cy="672"/>
              </a:xfrm>
              <a:prstGeom prst="line">
                <a:avLst/>
              </a:prstGeom>
              <a:noFill/>
              <a:ln w="3810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0" bIns="0"/>
              <a:lstStyle/>
              <a:p>
                <a:endParaRPr lang="zh-CN" altLang="en-US"/>
              </a:p>
            </p:txBody>
          </p:sp>
        </p:grpSp>
        <p:grpSp>
          <p:nvGrpSpPr>
            <p:cNvPr id="319611" name="Group 123">
              <a:extLst>
                <a:ext uri="{FF2B5EF4-FFF2-40B4-BE49-F238E27FC236}">
                  <a16:creationId xmlns:a16="http://schemas.microsoft.com/office/drawing/2014/main" id="{A4C11B73-DA30-5C2C-B46B-BF79E0EFB9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2" y="1384"/>
              <a:ext cx="2384" cy="1364"/>
              <a:chOff x="2992" y="2659"/>
              <a:chExt cx="2384" cy="1364"/>
            </a:xfrm>
          </p:grpSpPr>
          <p:sp>
            <p:nvSpPr>
              <p:cNvPr id="319612" name="Text Box 124">
                <a:extLst>
                  <a:ext uri="{FF2B5EF4-FFF2-40B4-BE49-F238E27FC236}">
                    <a16:creationId xmlns:a16="http://schemas.microsoft.com/office/drawing/2014/main" id="{42DC92B0-C525-B536-A822-742A6B5D67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4" y="2659"/>
                <a:ext cx="302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sy</a:t>
                </a:r>
              </a:p>
            </p:txBody>
          </p:sp>
          <p:sp>
            <p:nvSpPr>
              <p:cNvPr id="319613" name="Freeform 125">
                <a:extLst>
                  <a:ext uri="{FF2B5EF4-FFF2-40B4-BE49-F238E27FC236}">
                    <a16:creationId xmlns:a16="http://schemas.microsoft.com/office/drawing/2014/main" id="{73C0AD90-BD88-ED29-578F-29398D093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2" y="2751"/>
                <a:ext cx="2094" cy="1272"/>
              </a:xfrm>
              <a:custGeom>
                <a:avLst/>
                <a:gdLst>
                  <a:gd name="T0" fmla="*/ 0 w 2094"/>
                  <a:gd name="T1" fmla="*/ 1272 h 1272"/>
                  <a:gd name="T2" fmla="*/ 73 w 2094"/>
                  <a:gd name="T3" fmla="*/ 996 h 1272"/>
                  <a:gd name="T4" fmla="*/ 112 w 2094"/>
                  <a:gd name="T5" fmla="*/ 874 h 1272"/>
                  <a:gd name="T6" fmla="*/ 170 w 2094"/>
                  <a:gd name="T7" fmla="*/ 761 h 1272"/>
                  <a:gd name="T8" fmla="*/ 269 w 2094"/>
                  <a:gd name="T9" fmla="*/ 620 h 1272"/>
                  <a:gd name="T10" fmla="*/ 348 w 2094"/>
                  <a:gd name="T11" fmla="*/ 473 h 1272"/>
                  <a:gd name="T12" fmla="*/ 477 w 2094"/>
                  <a:gd name="T13" fmla="*/ 378 h 1272"/>
                  <a:gd name="T14" fmla="*/ 623 w 2094"/>
                  <a:gd name="T15" fmla="*/ 292 h 1272"/>
                  <a:gd name="T16" fmla="*/ 838 w 2094"/>
                  <a:gd name="T17" fmla="*/ 172 h 1272"/>
                  <a:gd name="T18" fmla="*/ 967 w 2094"/>
                  <a:gd name="T19" fmla="*/ 129 h 1272"/>
                  <a:gd name="T20" fmla="*/ 1165 w 2094"/>
                  <a:gd name="T21" fmla="*/ 52 h 1272"/>
                  <a:gd name="T22" fmla="*/ 1354 w 2094"/>
                  <a:gd name="T23" fmla="*/ 17 h 1272"/>
                  <a:gd name="T24" fmla="*/ 1526 w 2094"/>
                  <a:gd name="T25" fmla="*/ 9 h 1272"/>
                  <a:gd name="T26" fmla="*/ 2094 w 2094"/>
                  <a:gd name="T27" fmla="*/ 0 h 1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94" h="1272">
                    <a:moveTo>
                      <a:pt x="0" y="1272"/>
                    </a:moveTo>
                    <a:lnTo>
                      <a:pt x="73" y="996"/>
                    </a:lnTo>
                    <a:lnTo>
                      <a:pt x="112" y="874"/>
                    </a:lnTo>
                    <a:lnTo>
                      <a:pt x="170" y="761"/>
                    </a:lnTo>
                    <a:lnTo>
                      <a:pt x="269" y="620"/>
                    </a:lnTo>
                    <a:lnTo>
                      <a:pt x="348" y="473"/>
                    </a:lnTo>
                    <a:lnTo>
                      <a:pt x="477" y="378"/>
                    </a:lnTo>
                    <a:lnTo>
                      <a:pt x="623" y="292"/>
                    </a:lnTo>
                    <a:lnTo>
                      <a:pt x="838" y="172"/>
                    </a:lnTo>
                    <a:lnTo>
                      <a:pt x="967" y="129"/>
                    </a:lnTo>
                    <a:lnTo>
                      <a:pt x="1165" y="52"/>
                    </a:lnTo>
                    <a:lnTo>
                      <a:pt x="1354" y="17"/>
                    </a:lnTo>
                    <a:lnTo>
                      <a:pt x="1526" y="9"/>
                    </a:lnTo>
                    <a:lnTo>
                      <a:pt x="2094" y="0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9614" name="Oval 126">
              <a:extLst>
                <a:ext uri="{FF2B5EF4-FFF2-40B4-BE49-F238E27FC236}">
                  <a16:creationId xmlns:a16="http://schemas.microsoft.com/office/drawing/2014/main" id="{36D3DB59-C71E-5847-0A7F-1DBBC2CC5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941"/>
              <a:ext cx="240" cy="240"/>
            </a:xfrm>
            <a:prstGeom prst="ellipse">
              <a:avLst/>
            </a:prstGeom>
            <a:solidFill>
              <a:schemeClr val="bg2"/>
            </a:solidFill>
            <a:ln w="5715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b="1"/>
                <a:t>低</a:t>
              </a:r>
            </a:p>
          </p:txBody>
        </p:sp>
        <p:sp>
          <p:nvSpPr>
            <p:cNvPr id="319615" name="Oval 127">
              <a:extLst>
                <a:ext uri="{FF2B5EF4-FFF2-40B4-BE49-F238E27FC236}">
                  <a16:creationId xmlns:a16="http://schemas.microsoft.com/office/drawing/2014/main" id="{8B839B98-772C-4F97-1BD6-5F616CCD6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365"/>
              <a:ext cx="240" cy="240"/>
            </a:xfrm>
            <a:prstGeom prst="ellipse">
              <a:avLst/>
            </a:prstGeom>
            <a:solidFill>
              <a:srgbClr val="33CC33"/>
            </a:solidFill>
            <a:ln w="57150">
              <a:solidFill>
                <a:srgbClr val="33CC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b="1"/>
                <a:t>高</a:t>
              </a:r>
            </a:p>
          </p:txBody>
        </p:sp>
        <p:sp>
          <p:nvSpPr>
            <p:cNvPr id="319616" name="Oval 128">
              <a:extLst>
                <a:ext uri="{FF2B5EF4-FFF2-40B4-BE49-F238E27FC236}">
                  <a16:creationId xmlns:a16="http://schemas.microsoft.com/office/drawing/2014/main" id="{41D5970F-A816-1DA9-39E9-AADC62103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605"/>
              <a:ext cx="240" cy="240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grpSp>
          <p:nvGrpSpPr>
            <p:cNvPr id="319617" name="Group 129">
              <a:extLst>
                <a:ext uri="{FF2B5EF4-FFF2-40B4-BE49-F238E27FC236}">
                  <a16:creationId xmlns:a16="http://schemas.microsoft.com/office/drawing/2014/main" id="{7659C2A2-361E-0750-DF6F-368B34481E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1536"/>
              <a:ext cx="269" cy="1536"/>
              <a:chOff x="3600" y="3314"/>
              <a:chExt cx="269" cy="918"/>
            </a:xfrm>
          </p:grpSpPr>
          <p:sp>
            <p:nvSpPr>
              <p:cNvPr id="319618" name="Text Box 130">
                <a:extLst>
                  <a:ext uri="{FF2B5EF4-FFF2-40B4-BE49-F238E27FC236}">
                    <a16:creationId xmlns:a16="http://schemas.microsoft.com/office/drawing/2014/main" id="{D8A0DCE4-0F18-C6AD-2E88-78278630EC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4032"/>
                <a:ext cx="269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FF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 eaLnBrk="0" hangingPunct="0"/>
                <a:r>
                  <a:rPr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0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619" name="Freeform 131">
                <a:extLst>
                  <a:ext uri="{FF2B5EF4-FFF2-40B4-BE49-F238E27FC236}">
                    <a16:creationId xmlns:a16="http://schemas.microsoft.com/office/drawing/2014/main" id="{3816B8E6-B349-AD06-52EA-90A836481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2" y="3314"/>
                <a:ext cx="0" cy="699"/>
              </a:xfrm>
              <a:custGeom>
                <a:avLst/>
                <a:gdLst>
                  <a:gd name="T0" fmla="*/ 0 w 1"/>
                  <a:gd name="T1" fmla="*/ 0 h 1095"/>
                  <a:gd name="T2" fmla="*/ 0 w 1"/>
                  <a:gd name="T3" fmla="*/ 1095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095">
                    <a:moveTo>
                      <a:pt x="0" y="0"/>
                    </a:moveTo>
                    <a:lnTo>
                      <a:pt x="0" y="109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bIns="0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9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195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53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1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195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5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9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9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62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195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5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9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9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6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3195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56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9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9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6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3195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5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621" grpId="0" animBg="1" autoUpdateAnimBg="0"/>
      <p:bldP spid="319490" grpId="0" autoUpdateAnimBg="0"/>
      <p:bldP spid="319493" grpId="0" autoUpdateAnimBg="0"/>
      <p:bldP spid="319537" grpId="0" autoUpdateAnimBg="0"/>
      <p:bldP spid="319558" grpId="0" autoUpdateAnimBg="0"/>
      <p:bldP spid="319559" grpId="0" autoUpdateAnimBg="0"/>
      <p:bldP spid="319560" grpId="0" autoUpdateAnimBg="0"/>
      <p:bldP spid="31956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9" name="Rectangle 7">
            <a:extLst>
              <a:ext uri="{FF2B5EF4-FFF2-40B4-BE49-F238E27FC236}">
                <a16:creationId xmlns:a16="http://schemas.microsoft.com/office/drawing/2014/main" id="{951E5F39-EEB3-9791-9764-8E0B24E886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sz="4000" b="1">
                <a:solidFill>
                  <a:srgbClr val="CC0000"/>
                </a:solidFill>
              </a:rPr>
              <a:t>3.3 </a:t>
            </a:r>
            <a:r>
              <a:rPr lang="zh-CN" altLang="en-US" sz="4000" b="1">
                <a:solidFill>
                  <a:srgbClr val="CC0000"/>
                </a:solidFill>
              </a:rPr>
              <a:t>成功的个案</a:t>
            </a:r>
            <a:r>
              <a:rPr lang="en-US" altLang="zh-CN" sz="4000" b="1">
                <a:solidFill>
                  <a:srgbClr val="CC0000"/>
                </a:solidFill>
              </a:rPr>
              <a:t>_</a:t>
            </a:r>
            <a:r>
              <a:rPr lang="zh-CN" altLang="en-US" sz="4000" b="1">
                <a:solidFill>
                  <a:srgbClr val="CC0000"/>
                </a:solidFill>
              </a:rPr>
              <a:t>东亚增长奇迹</a:t>
            </a:r>
          </a:p>
        </p:txBody>
      </p:sp>
      <p:sp>
        <p:nvSpPr>
          <p:cNvPr id="320520" name="Rectangle 8">
            <a:extLst>
              <a:ext uri="{FF2B5EF4-FFF2-40B4-BE49-F238E27FC236}">
                <a16:creationId xmlns:a16="http://schemas.microsoft.com/office/drawing/2014/main" id="{A82CA5DA-83C2-77BB-FC33-2852C8B65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0521" name="Rectangle 9">
            <a:extLst>
              <a:ext uri="{FF2B5EF4-FFF2-40B4-BE49-F238E27FC236}">
                <a16:creationId xmlns:a16="http://schemas.microsoft.com/office/drawing/2014/main" id="{BE4A4534-4DF3-E3D5-00EF-B74564CC044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90600" y="1143000"/>
            <a:ext cx="5029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endParaRPr lang="zh-CN" altLang="zh-CN" sz="2400" b="1"/>
          </a:p>
        </p:txBody>
      </p:sp>
      <p:sp>
        <p:nvSpPr>
          <p:cNvPr id="320522" name="Rectangle 10">
            <a:extLst>
              <a:ext uri="{FF2B5EF4-FFF2-40B4-BE49-F238E27FC236}">
                <a16:creationId xmlns:a16="http://schemas.microsoft.com/office/drawing/2014/main" id="{A0F0611D-7C22-3EE4-4790-406BFDD76AF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295400"/>
            <a:ext cx="7924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>
                <a:latin typeface="宋体" panose="02010600030101010101" pitchFamily="2" charset="-122"/>
              </a:rPr>
              <a:t>在过去的半个世纪里，东亚四小龙创造了一个增长奇迹</a:t>
            </a:r>
            <a:endParaRPr lang="zh-CN" altLang="en-US" sz="2400" b="1">
              <a:solidFill>
                <a:schemeClr val="tx2"/>
              </a:solidFill>
            </a:endParaRPr>
          </a:p>
        </p:txBody>
      </p:sp>
      <p:pic>
        <p:nvPicPr>
          <p:cNvPr id="320552" name="Picture 40">
            <a:extLst>
              <a:ext uri="{FF2B5EF4-FFF2-40B4-BE49-F238E27FC236}">
                <a16:creationId xmlns:a16="http://schemas.microsoft.com/office/drawing/2014/main" id="{35B5282C-5E26-3CCD-FE62-71E77F1F7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060575"/>
            <a:ext cx="7272338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205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05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05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05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9" grpId="0" autoUpdateAnimBg="0"/>
      <p:bldP spid="32052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15F4794C-70CD-FDCA-F973-C74061D2732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sz="4000" b="1">
                <a:solidFill>
                  <a:srgbClr val="CC0000"/>
                </a:solidFill>
              </a:rPr>
              <a:t>3.3 </a:t>
            </a:r>
            <a:r>
              <a:rPr lang="zh-CN" altLang="en-US" sz="4000" b="1">
                <a:solidFill>
                  <a:srgbClr val="CC0000"/>
                </a:solidFill>
              </a:rPr>
              <a:t>成功的个案</a:t>
            </a:r>
            <a:r>
              <a:rPr lang="en-US" altLang="zh-CN" sz="4000" b="1">
                <a:solidFill>
                  <a:srgbClr val="CC0000"/>
                </a:solidFill>
              </a:rPr>
              <a:t>_</a:t>
            </a:r>
            <a:r>
              <a:rPr lang="zh-CN" altLang="en-US" sz="4000" b="1">
                <a:solidFill>
                  <a:srgbClr val="CC0000"/>
                </a:solidFill>
              </a:rPr>
              <a:t>东亚增长奇迹</a:t>
            </a:r>
          </a:p>
        </p:txBody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49855779-12C2-ACEF-3D7A-C8DDA7EF8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4852" name="Rectangle 4">
            <a:extLst>
              <a:ext uri="{FF2B5EF4-FFF2-40B4-BE49-F238E27FC236}">
                <a16:creationId xmlns:a16="http://schemas.microsoft.com/office/drawing/2014/main" id="{B22B6EE2-E991-8993-AD13-861088DAC9CD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90600" y="1143000"/>
            <a:ext cx="5029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endParaRPr lang="zh-CN" altLang="zh-CN" sz="2400" b="1"/>
          </a:p>
        </p:txBody>
      </p:sp>
      <p:sp>
        <p:nvSpPr>
          <p:cNvPr id="334853" name="Rectangle 5">
            <a:extLst>
              <a:ext uri="{FF2B5EF4-FFF2-40B4-BE49-F238E27FC236}">
                <a16:creationId xmlns:a16="http://schemas.microsoft.com/office/drawing/2014/main" id="{EBF85FFB-D0F9-18E1-5621-AF0CD98BE13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295400"/>
            <a:ext cx="7924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>
                <a:latin typeface="宋体" panose="02010600030101010101" pitchFamily="2" charset="-122"/>
              </a:rPr>
              <a:t>奇迹源何而起？</a:t>
            </a:r>
            <a:endParaRPr lang="zh-CN" altLang="en-US" sz="2400" b="1">
              <a:solidFill>
                <a:schemeClr val="tx2"/>
              </a:solidFill>
            </a:endParaRPr>
          </a:p>
        </p:txBody>
      </p:sp>
      <p:sp>
        <p:nvSpPr>
          <p:cNvPr id="334854" name="Rectangle 6">
            <a:extLst>
              <a:ext uri="{FF2B5EF4-FFF2-40B4-BE49-F238E27FC236}">
                <a16:creationId xmlns:a16="http://schemas.microsoft.com/office/drawing/2014/main" id="{40BCFCAF-5D21-51E1-A2CD-D8657190078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971550" y="1700213"/>
            <a:ext cx="3048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800" b="1"/>
              <a:t>增长核算结果</a:t>
            </a:r>
            <a:endParaRPr lang="zh-CN" altLang="en-US" sz="2000" b="1"/>
          </a:p>
        </p:txBody>
      </p:sp>
      <p:sp>
        <p:nvSpPr>
          <p:cNvPr id="334855" name="Rectangle 7">
            <a:extLst>
              <a:ext uri="{FF2B5EF4-FFF2-40B4-BE49-F238E27FC236}">
                <a16:creationId xmlns:a16="http://schemas.microsoft.com/office/drawing/2014/main" id="{739C7759-47B5-6057-7B71-E65DE600FC0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07950" y="5854700"/>
            <a:ext cx="8856663" cy="95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为什么这些“古老的”政策在东亚四小龙是成功的？</a:t>
            </a:r>
          </a:p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稳定的政府，积极参与国际竞争，在市场竞争求生存。</a:t>
            </a:r>
          </a:p>
        </p:txBody>
      </p:sp>
      <p:sp>
        <p:nvSpPr>
          <p:cNvPr id="334856" name="Rectangle 8">
            <a:extLst>
              <a:ext uri="{FF2B5EF4-FFF2-40B4-BE49-F238E27FC236}">
                <a16:creationId xmlns:a16="http://schemas.microsoft.com/office/drawing/2014/main" id="{14C48532-A9DA-AFF2-6D68-9D4414D5D823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98475" y="2205038"/>
            <a:ext cx="3352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2400" b="1"/>
              <a:t>主要是靠投入而不是技术进步</a:t>
            </a:r>
          </a:p>
        </p:txBody>
      </p:sp>
      <p:graphicFrame>
        <p:nvGraphicFramePr>
          <p:cNvPr id="334857" name="Object 9">
            <a:extLst>
              <a:ext uri="{FF2B5EF4-FFF2-40B4-BE49-F238E27FC236}">
                <a16:creationId xmlns:a16="http://schemas.microsoft.com/office/drawing/2014/main" id="{0B104172-1C7A-5B96-7CC9-37308E9B94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1196975"/>
          <a:ext cx="4191000" cy="259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196975"/>
                        <a:ext cx="4191000" cy="259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4859" name="Picture 11">
            <a:extLst>
              <a:ext uri="{FF2B5EF4-FFF2-40B4-BE49-F238E27FC236}">
                <a16:creationId xmlns:a16="http://schemas.microsoft.com/office/drawing/2014/main" id="{A02997D9-A3EE-AC1F-8693-070A99983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213100"/>
            <a:ext cx="3944937" cy="258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48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348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7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7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7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3348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4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34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334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3" grpId="0" autoUpdateAnimBg="0"/>
      <p:bldP spid="334854" grpId="0" autoUpdateAnimBg="0"/>
      <p:bldP spid="334855" grpId="0" autoUpdateAnimBg="0"/>
      <p:bldP spid="334856" grpId="0" autoUpdateAnimBg="0"/>
      <p:bldOleChart spid="334857" grpId="0" bld="series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A4D3778D-9556-00C4-7BD8-65FE172A959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/>
              <a:t>3.4  </a:t>
            </a:r>
            <a:r>
              <a:rPr lang="zh-CN" altLang="en-US" sz="3600" b="1"/>
              <a:t>最优储蓄率</a:t>
            </a:r>
            <a:endParaRPr lang="zh-CN" altLang="en-US" sz="4000" b="1">
              <a:latin typeface="Book Antiqua" pitchFamily="18" charset="0"/>
            </a:endParaRP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43D9843C-2722-1B75-0336-E93540502C3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762000" y="1524000"/>
            <a:ext cx="8153400" cy="685800"/>
          </a:xfrm>
        </p:spPr>
        <p:txBody>
          <a:bodyPr/>
          <a:lstStyle/>
          <a:p>
            <a:r>
              <a:rPr lang="zh-CN" altLang="en-US" sz="3600" b="1">
                <a:latin typeface="Book Antiqua" pitchFamily="18" charset="0"/>
              </a:rPr>
              <a:t>收入越高越好吗？</a:t>
            </a:r>
            <a:endParaRPr lang="zh-CN" altLang="en-US" sz="2800" b="1">
              <a:latin typeface="Book Antiqua" pitchFamily="18" charset="0"/>
            </a:endParaRPr>
          </a:p>
        </p:txBody>
      </p:sp>
      <p:sp>
        <p:nvSpPr>
          <p:cNvPr id="311300" name="Rectangle 4">
            <a:extLst>
              <a:ext uri="{FF2B5EF4-FFF2-40B4-BE49-F238E27FC236}">
                <a16:creationId xmlns:a16="http://schemas.microsoft.com/office/drawing/2014/main" id="{44F470C0-69AD-553A-204A-149243BCBED7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762000" y="2362200"/>
            <a:ext cx="8001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2800" b="1">
                <a:latin typeface="Book Antiqua" pitchFamily="18" charset="0"/>
              </a:rPr>
              <a:t>根于索罗模型，高储蓄导致高收入。如果所有收入都用于储蓄哪？</a:t>
            </a:r>
          </a:p>
        </p:txBody>
      </p:sp>
      <p:sp>
        <p:nvSpPr>
          <p:cNvPr id="311301" name="Rectangle 5">
            <a:extLst>
              <a:ext uri="{FF2B5EF4-FFF2-40B4-BE49-F238E27FC236}">
                <a16:creationId xmlns:a16="http://schemas.microsoft.com/office/drawing/2014/main" id="{7D2080D1-4243-EF5E-6A7B-DEC05731BB3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3505200"/>
            <a:ext cx="8001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2800" b="1">
                <a:latin typeface="Book Antiqua" pitchFamily="18" charset="0"/>
              </a:rPr>
              <a:t>高储蓄带来高收入，但也带来低消费</a:t>
            </a:r>
          </a:p>
        </p:txBody>
      </p:sp>
      <p:graphicFrame>
        <p:nvGraphicFramePr>
          <p:cNvPr id="311302" name="Object 6">
            <a:extLst>
              <a:ext uri="{FF2B5EF4-FFF2-40B4-BE49-F238E27FC236}">
                <a16:creationId xmlns:a16="http://schemas.microsoft.com/office/drawing/2014/main" id="{8931911B-FE2C-6FDF-3CD4-06FBDB7685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4267200"/>
          <a:ext cx="1054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40" imgH="228600" progId="Equation.DSMT4">
                  <p:embed/>
                </p:oleObj>
              </mc:Choice>
              <mc:Fallback>
                <p:oleObj name="Equation" r:id="rId2" imgW="43164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267200"/>
                        <a:ext cx="10541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3" name="Object 7">
            <a:extLst>
              <a:ext uri="{FF2B5EF4-FFF2-40B4-BE49-F238E27FC236}">
                <a16:creationId xmlns:a16="http://schemas.microsoft.com/office/drawing/2014/main" id="{6AFBFA77-C6BD-7276-2FAA-4FA362EC1B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4279900"/>
          <a:ext cx="3009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190440" progId="Equation.DSMT4">
                  <p:embed/>
                </p:oleObj>
              </mc:Choice>
              <mc:Fallback>
                <p:oleObj name="Equation" r:id="rId4" imgW="1231560" imgH="1904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279900"/>
                        <a:ext cx="3009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4" name="Rectangle 8">
            <a:extLst>
              <a:ext uri="{FF2B5EF4-FFF2-40B4-BE49-F238E27FC236}">
                <a16:creationId xmlns:a16="http://schemas.microsoft.com/office/drawing/2014/main" id="{651FD35A-A1BD-393B-0468-0C9185DFC642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85800" y="5334000"/>
            <a:ext cx="3048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2800" b="1">
                <a:latin typeface="Book Antiqua" pitchFamily="18" charset="0"/>
              </a:rPr>
              <a:t>黄金律资本存量</a:t>
            </a:r>
          </a:p>
        </p:txBody>
      </p:sp>
      <p:graphicFrame>
        <p:nvGraphicFramePr>
          <p:cNvPr id="311305" name="Object 9">
            <a:extLst>
              <a:ext uri="{FF2B5EF4-FFF2-40B4-BE49-F238E27FC236}">
                <a16:creationId xmlns:a16="http://schemas.microsoft.com/office/drawing/2014/main" id="{A7C2417A-69DD-046C-7377-1A6D97017B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1338" y="5422900"/>
          <a:ext cx="27003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840" imgH="190440" progId="Equation.DSMT4">
                  <p:embed/>
                </p:oleObj>
              </mc:Choice>
              <mc:Fallback>
                <p:oleObj name="Equation" r:id="rId6" imgW="1104840" imgH="1904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5422900"/>
                        <a:ext cx="27003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11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1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11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1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311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1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31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9" grpId="0" build="p" autoUpdateAnimBg="0"/>
      <p:bldP spid="311300" grpId="0" build="p" autoUpdateAnimBg="0"/>
      <p:bldP spid="311301" grpId="0" build="p" autoUpdateAnimBg="0"/>
      <p:bldP spid="311304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>
            <a:extLst>
              <a:ext uri="{FF2B5EF4-FFF2-40B4-BE49-F238E27FC236}">
                <a16:creationId xmlns:a16="http://schemas.microsoft.com/office/drawing/2014/main" id="{7F358EB9-F79C-0079-CF04-69D2FFE4EB0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3.5 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从增长到总供给曲线</a:t>
            </a:r>
          </a:p>
        </p:txBody>
      </p:sp>
      <p:pic>
        <p:nvPicPr>
          <p:cNvPr id="335879" name="Picture 7">
            <a:extLst>
              <a:ext uri="{FF2B5EF4-FFF2-40B4-BE49-F238E27FC236}">
                <a16:creationId xmlns:a16="http://schemas.microsoft.com/office/drawing/2014/main" id="{A148711E-C7B9-D937-003B-CBC3E40BE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5" y="1341438"/>
            <a:ext cx="5965825" cy="51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5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5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>
            <a:extLst>
              <a:ext uri="{FF2B5EF4-FFF2-40B4-BE49-F238E27FC236}">
                <a16:creationId xmlns:a16="http://schemas.microsoft.com/office/drawing/2014/main" id="{3DB41C7C-696A-7537-68FE-C8D3C458805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作业</a:t>
            </a:r>
          </a:p>
        </p:txBody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776E9379-3E73-175A-4D2C-3A3662639BC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52450" y="1657350"/>
            <a:ext cx="7905750" cy="4732338"/>
          </a:xfrm>
        </p:spPr>
        <p:txBody>
          <a:bodyPr/>
          <a:lstStyle/>
          <a:p>
            <a:r>
              <a:rPr lang="zh-CN" altLang="en-US" sz="3600" b="1"/>
              <a:t>课后作业：</a:t>
            </a:r>
          </a:p>
          <a:p>
            <a:pPr lvl="1"/>
            <a:r>
              <a:rPr lang="zh-CN" altLang="en-US" b="1"/>
              <a:t>第</a:t>
            </a:r>
            <a:r>
              <a:rPr lang="en-US" altLang="zh-CN" b="1"/>
              <a:t>80-81</a:t>
            </a:r>
            <a:r>
              <a:rPr lang="zh-CN" altLang="en-US" b="1"/>
              <a:t>页，概念题中的</a:t>
            </a:r>
            <a:r>
              <a:rPr lang="en-US" altLang="zh-CN" b="1"/>
              <a:t>1</a:t>
            </a:r>
            <a:r>
              <a:rPr lang="zh-CN" altLang="en-US" b="1"/>
              <a:t>、</a:t>
            </a:r>
            <a:r>
              <a:rPr lang="en-US" altLang="zh-CN" b="1"/>
              <a:t>2</a:t>
            </a:r>
            <a:r>
              <a:rPr lang="zh-CN" altLang="en-US" b="1"/>
              <a:t>、</a:t>
            </a:r>
            <a:r>
              <a:rPr lang="en-US" altLang="zh-CN" b="1"/>
              <a:t>5</a:t>
            </a:r>
            <a:r>
              <a:rPr lang="zh-CN" altLang="en-US" b="1"/>
              <a:t>、</a:t>
            </a:r>
            <a:r>
              <a:rPr lang="en-US" altLang="zh-CN" b="1"/>
              <a:t>10</a:t>
            </a:r>
          </a:p>
          <a:p>
            <a:pPr lvl="1"/>
            <a:r>
              <a:rPr lang="zh-CN" altLang="en-US" b="1"/>
              <a:t>第</a:t>
            </a:r>
            <a:r>
              <a:rPr lang="en-US" altLang="zh-CN" b="1"/>
              <a:t>81</a:t>
            </a:r>
            <a:r>
              <a:rPr lang="zh-CN" altLang="en-US" b="1"/>
              <a:t>页，技术题中的</a:t>
            </a:r>
            <a:r>
              <a:rPr lang="en-US" altLang="zh-CN" b="1"/>
              <a:t>2</a:t>
            </a:r>
            <a:r>
              <a:rPr lang="zh-CN" altLang="en-US" b="1"/>
              <a:t>、</a:t>
            </a:r>
            <a:r>
              <a:rPr lang="en-US" altLang="zh-CN" b="1"/>
              <a:t>4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36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36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9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WordArt 2">
            <a:extLst>
              <a:ext uri="{FF2B5EF4-FFF2-40B4-BE49-F238E27FC236}">
                <a16:creationId xmlns:a16="http://schemas.microsoft.com/office/drawing/2014/main" id="{38171D7C-48BC-7BE8-0AC3-C414F3209FB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16013" y="1844675"/>
            <a:ext cx="6911975" cy="27368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Triangle">
              <a:avLst>
                <a:gd name="adj" fmla="val 40333"/>
              </a:avLst>
            </a:prstTxWarp>
            <a:scene3d>
              <a:camera prst="legacyObliqueTopLeft"/>
              <a:lightRig rig="legacyNormal3" dir="r"/>
            </a:scene3d>
            <a:sp3d extrusionH="201600" prstMaterial="legacyMatte">
              <a:extrusionClr>
                <a:srgbClr val="0066CC"/>
              </a:extrusionClr>
              <a:contourClr>
                <a:srgbClr val="FFFFCC"/>
              </a:contourClr>
            </a:sp3d>
          </a:bodyPr>
          <a:lstStyle/>
          <a:p>
            <a:r>
              <a:rPr lang="en-US" altLang="zh-CN" sz="4800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FFFCC"/>
                    </a:gs>
                    <a:gs pos="100000">
                      <a:srgbClr val="FF9999"/>
                    </a:gs>
                  </a:gsLst>
                  <a:lin ang="5400000" scaled="1"/>
                </a:gradFill>
                <a:latin typeface="宋体" panose="02010600030101010101" pitchFamily="2" charset="-122"/>
              </a:rPr>
              <a:t>Thank You</a:t>
            </a:r>
            <a:endParaRPr lang="zh-CN" altLang="en-US" sz="4800" kern="10">
              <a:ln w="9525">
                <a:round/>
                <a:headEnd/>
                <a:tailEnd/>
              </a:ln>
              <a:gradFill rotWithShape="0">
                <a:gsLst>
                  <a:gs pos="0">
                    <a:srgbClr val="FFFFCC"/>
                  </a:gs>
                  <a:gs pos="100000">
                    <a:srgbClr val="FF9999"/>
                  </a:gs>
                </a:gsLst>
                <a:lin ang="5400000" scaled="1"/>
              </a:gra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2274</TotalTime>
  <Words>1388</Words>
  <Application>Microsoft Office PowerPoint</Application>
  <PresentationFormat>全屏显示(4:3)</PresentationFormat>
  <Paragraphs>296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Arial</vt:lpstr>
      <vt:lpstr>宋体</vt:lpstr>
      <vt:lpstr>Wingdings</vt:lpstr>
      <vt:lpstr>Wingdings 2</vt:lpstr>
      <vt:lpstr>华文楷体</vt:lpstr>
      <vt:lpstr>Times New Roman</vt:lpstr>
      <vt:lpstr>Symbol</vt:lpstr>
      <vt:lpstr>SymbolPS</vt:lpstr>
      <vt:lpstr>Monotype Sorts</vt:lpstr>
      <vt:lpstr>Book Antiqua</vt:lpstr>
      <vt:lpstr>吉祥如意</vt:lpstr>
      <vt:lpstr>MathType 5.0 Equation</vt:lpstr>
      <vt:lpstr>Microsoft Graph 2000 图表</vt:lpstr>
      <vt:lpstr>中级宏观经济学</vt:lpstr>
      <vt:lpstr>课程简介</vt:lpstr>
      <vt:lpstr>主要内容</vt:lpstr>
      <vt:lpstr>1.1 索罗模型的简要回顾</vt:lpstr>
      <vt:lpstr>2.1 内生增长理论</vt:lpstr>
      <vt:lpstr>2.2 内生增长理论—模型</vt:lpstr>
      <vt:lpstr>2.3 内生增长理论—微观基础</vt:lpstr>
      <vt:lpstr>2.4 内生增长理论—实证分析</vt:lpstr>
      <vt:lpstr>2.4 内生增长理论—实证分析</vt:lpstr>
      <vt:lpstr>2.4 内生增长理论—实证分析</vt:lpstr>
      <vt:lpstr>2.4 内生增长理论—实证分析</vt:lpstr>
      <vt:lpstr>2.4、条件趋同</vt:lpstr>
      <vt:lpstr>2.4、条件趋同</vt:lpstr>
      <vt:lpstr>2.4 内生增长理论—实证分析</vt:lpstr>
      <vt:lpstr>3.1 索罗模型与内生增长理论的结合</vt:lpstr>
      <vt:lpstr>3.1 索罗模型与内生增长理论的结合</vt:lpstr>
      <vt:lpstr>3.1 索罗模型与内生增长理论的结合</vt:lpstr>
      <vt:lpstr>3.2 索罗碰到了马尔萨斯_马尔萨斯</vt:lpstr>
      <vt:lpstr>3.2 索罗碰到了马尔萨斯_n内生</vt:lpstr>
      <vt:lpstr>3.2 索罗碰到了马尔萨斯_政策</vt:lpstr>
      <vt:lpstr>3.3 成功的个案_东亚增长奇迹</vt:lpstr>
      <vt:lpstr>3.3 成功的个案_东亚增长奇迹</vt:lpstr>
      <vt:lpstr>3.4  最优储蓄率</vt:lpstr>
      <vt:lpstr>3.5 从增长到总供给曲线</vt:lpstr>
      <vt:lpstr>作业</vt:lpstr>
      <vt:lpstr>PowerPoint 演示文稿</vt:lpstr>
    </vt:vector>
  </TitlesOfParts>
  <Company>MC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超然网络服务店 超然网络服务店</cp:lastModifiedBy>
  <cp:revision>190</cp:revision>
  <dcterms:created xsi:type="dcterms:W3CDTF">2004-10-12T17:05:21Z</dcterms:created>
  <dcterms:modified xsi:type="dcterms:W3CDTF">2023-10-24T11:37:14Z</dcterms:modified>
</cp:coreProperties>
</file>