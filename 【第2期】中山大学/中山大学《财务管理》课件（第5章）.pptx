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k object 66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k object 67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7836" y="630428"/>
            <a:ext cx="668832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5187" y="1581404"/>
            <a:ext cx="7834630" cy="1383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9508" y="2565908"/>
            <a:ext cx="735584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20">
                <a:latin typeface="Microsoft JhengHei"/>
                <a:cs typeface="Microsoft JhengHei"/>
              </a:rPr>
              <a:t>投资</a:t>
            </a:r>
            <a:r>
              <a:rPr dirty="0" sz="7200">
                <a:latin typeface="Microsoft JhengHei"/>
                <a:cs typeface="Microsoft JhengHei"/>
              </a:rPr>
              <a:t>项</a:t>
            </a:r>
            <a:r>
              <a:rPr dirty="0" sz="7200" spc="20">
                <a:latin typeface="Microsoft JhengHei"/>
                <a:cs typeface="Microsoft JhengHei"/>
              </a:rPr>
              <a:t>目财</a:t>
            </a:r>
            <a:r>
              <a:rPr dirty="0" sz="7200">
                <a:latin typeface="Microsoft JhengHei"/>
                <a:cs typeface="Microsoft JhengHei"/>
              </a:rPr>
              <a:t>务</a:t>
            </a:r>
            <a:r>
              <a:rPr dirty="0" sz="7200" spc="20">
                <a:latin typeface="Microsoft JhengHei"/>
                <a:cs typeface="Microsoft JhengHei"/>
              </a:rPr>
              <a:t>评</a:t>
            </a:r>
            <a:r>
              <a:rPr dirty="0" sz="7200">
                <a:latin typeface="Microsoft JhengHei"/>
                <a:cs typeface="Microsoft JhengHei"/>
              </a:rPr>
              <a:t>价</a:t>
            </a:r>
            <a:endParaRPr sz="72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本章要点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273300" y="1928876"/>
            <a:ext cx="4283710" cy="2886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投资项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目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财务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评价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概述</a:t>
            </a:r>
            <a:endParaRPr sz="2800">
              <a:latin typeface="微软雅黑"/>
              <a:cs typeface="微软雅黑"/>
            </a:endParaRPr>
          </a:p>
          <a:p>
            <a:pPr marL="12700" marR="361315">
              <a:lnSpc>
                <a:spcPct val="190000"/>
              </a:lnSpc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财务基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础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数据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的评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估 </a:t>
            </a: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投资项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目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财务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评价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方</a:t>
            </a:r>
            <a:r>
              <a:rPr dirty="0" sz="2800" spc="-2530" b="1">
                <a:solidFill>
                  <a:srgbClr val="FFFFFF"/>
                </a:solidFill>
                <a:latin typeface="微软雅黑"/>
                <a:cs typeface="微软雅黑"/>
              </a:rPr>
              <a:t>法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投资项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目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的不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确定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性分</a:t>
            </a:r>
            <a:r>
              <a:rPr dirty="0" sz="2800" spc="-2440" b="1">
                <a:solidFill>
                  <a:srgbClr val="FFFFFF"/>
                </a:solidFill>
                <a:latin typeface="微软雅黑"/>
                <a:cs typeface="微软雅黑"/>
              </a:rPr>
              <a:t>析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4220" y="584708"/>
            <a:ext cx="5109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投资项</a:t>
            </a:r>
            <a:r>
              <a:rPr dirty="0" sz="4000" spc="-20"/>
              <a:t>目</a:t>
            </a:r>
            <a:r>
              <a:rPr dirty="0" sz="4000" spc="5"/>
              <a:t>财</a:t>
            </a:r>
            <a:r>
              <a:rPr dirty="0" sz="4000" spc="-20"/>
              <a:t>务</a:t>
            </a:r>
            <a:r>
              <a:rPr dirty="0" sz="4000" spc="5"/>
              <a:t>评价概述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28675" y="1928876"/>
            <a:ext cx="8194040" cy="34404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评价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就是在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策之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前，对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建项</a:t>
            </a:r>
            <a:endParaRPr sz="2800">
              <a:latin typeface="宋体"/>
              <a:cs typeface="宋体"/>
            </a:endParaRPr>
          </a:p>
          <a:p>
            <a:pPr marL="356870" marR="5080">
              <a:lnSpc>
                <a:spcPct val="170000"/>
              </a:lnSpc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目进行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力、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偿债能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及风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析并试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从经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济上对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作出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或不可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评价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种方法。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70000"/>
              </a:lnSpc>
              <a:spcBef>
                <a:spcPts val="67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评价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是筹资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贷款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订合同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及环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保部门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政府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部门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、规划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门审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查的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依据。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566420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财务基</a:t>
            </a:r>
            <a:r>
              <a:rPr dirty="0" sz="4000" spc="-20"/>
              <a:t>础</a:t>
            </a:r>
            <a:r>
              <a:rPr dirty="0" sz="4000" spc="5"/>
              <a:t>数</a:t>
            </a:r>
            <a:r>
              <a:rPr dirty="0" sz="4000" spc="-20"/>
              <a:t>据</a:t>
            </a:r>
            <a:r>
              <a:rPr dirty="0" sz="4000" spc="5"/>
              <a:t>的评估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273300" y="1886204"/>
            <a:ext cx="4646295" cy="3876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资金筹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方案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04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总成本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营业收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金和利</a:t>
            </a:r>
            <a:r>
              <a:rPr dirty="0" sz="2800" spc="-2715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现金流量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3004" y="667004"/>
            <a:ext cx="3225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项目寿命期估算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1931" y="1564436"/>
            <a:ext cx="8029575" cy="3869690"/>
          </a:xfrm>
          <a:prstGeom prst="rect">
            <a:avLst/>
          </a:prstGeom>
        </p:spPr>
        <p:txBody>
          <a:bodyPr wrap="square" lIns="0" tIns="210185" rIns="0" bIns="0" rtlCol="0" vert="horz">
            <a:spAutoFit/>
          </a:bodyPr>
          <a:lstStyle/>
          <a:p>
            <a:pPr algn="just" marL="356870" indent="-344805">
              <a:lnSpc>
                <a:spcPct val="100000"/>
              </a:lnSpc>
              <a:spcBef>
                <a:spcPts val="165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建设期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endParaRPr sz="2800">
              <a:latin typeface="宋体"/>
              <a:cs typeface="宋体"/>
            </a:endParaRPr>
          </a:p>
          <a:p>
            <a:pPr algn="just" lvl="1" marL="756285" indent="-287020">
              <a:lnSpc>
                <a:spcPct val="100000"/>
              </a:lnSpc>
              <a:spcBef>
                <a:spcPts val="1425"/>
              </a:spcBef>
              <a:buClr>
                <a:srgbClr val="FF6600"/>
              </a:buClr>
              <a:buFont typeface="Arial"/>
              <a:buChar char="•"/>
              <a:tabLst>
                <a:tab pos="756920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按项目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性质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，根据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管部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门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定确定。</a:t>
            </a:r>
            <a:endParaRPr sz="2600">
              <a:latin typeface="宋体"/>
              <a:cs typeface="宋体"/>
            </a:endParaRPr>
          </a:p>
          <a:p>
            <a:pPr algn="just" lvl="1" marL="756285" marR="5080" indent="-287020">
              <a:lnSpc>
                <a:spcPct val="125400"/>
              </a:lnSpc>
              <a:spcBef>
                <a:spcPts val="625"/>
              </a:spcBef>
              <a:buClr>
                <a:srgbClr val="FF6600"/>
              </a:buClr>
              <a:buFont typeface="Arial"/>
              <a:buChar char="•"/>
              <a:tabLst>
                <a:tab pos="756920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依据或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参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照主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门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制定的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设期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并注意建 设项目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在地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别和工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定额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行确定。</a:t>
            </a:r>
            <a:endParaRPr sz="2600">
              <a:latin typeface="宋体"/>
              <a:cs typeface="宋体"/>
            </a:endParaRPr>
          </a:p>
          <a:p>
            <a:pPr algn="just" lvl="1" marL="756285" marR="5080" indent="-287020">
              <a:lnSpc>
                <a:spcPct val="125400"/>
              </a:lnSpc>
              <a:spcBef>
                <a:spcPts val="620"/>
              </a:spcBef>
              <a:buClr>
                <a:srgbClr val="FF6600"/>
              </a:buClr>
              <a:buFont typeface="Arial"/>
              <a:buChar char="•"/>
              <a:tabLst>
                <a:tab pos="756920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一次性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估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算法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统计资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料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，套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往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同类工程 建设期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或参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照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往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类似工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的实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际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，进行适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当的调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整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931" y="1363300"/>
            <a:ext cx="8270240" cy="502475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9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期估算</a:t>
            </a:r>
            <a:endParaRPr sz="2800">
              <a:latin typeface="宋体"/>
              <a:cs typeface="宋体"/>
            </a:endParaRPr>
          </a:p>
          <a:p>
            <a:pPr algn="just" marL="356870" marR="81915" indent="496570">
              <a:lnSpc>
                <a:spcPct val="105200"/>
              </a:lnSpc>
              <a:spcBef>
                <a:spcPts val="484"/>
              </a:spcBef>
            </a:pP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目生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期包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括投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产期和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常生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期。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投产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期是项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从建设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投产或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交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付使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起，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到实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际年产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达到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计生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产能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力时止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经历 的时间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正常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产期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也称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达到设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生产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力期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，它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是指达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设计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规定的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产能力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100%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产期。</a:t>
            </a:r>
            <a:endParaRPr sz="2200">
              <a:latin typeface="宋体"/>
              <a:cs typeface="宋体"/>
            </a:endParaRPr>
          </a:p>
          <a:p>
            <a:pPr algn="just" marL="356870" marR="5080" indent="636905">
              <a:lnSpc>
                <a:spcPct val="105200"/>
              </a:lnSpc>
              <a:spcBef>
                <a:spcPts val="509"/>
              </a:spcBef>
            </a:pP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业项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期一般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综合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折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旧寿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命期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确定。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定资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特别是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要设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备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寿命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期可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分为自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寿命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、技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术寿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命期和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济寿 命期。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目生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期的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确定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以主要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备的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济寿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命期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为基础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并考 虑其技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寿命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限的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影响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进行评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常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有以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下两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种估算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法：</a:t>
            </a:r>
            <a:endParaRPr sz="2200">
              <a:latin typeface="宋体"/>
              <a:cs typeface="宋体"/>
            </a:endParaRPr>
          </a:p>
          <a:p>
            <a:pPr lvl="1" marL="1104265" indent="-635000">
              <a:lnSpc>
                <a:spcPct val="100000"/>
              </a:lnSpc>
              <a:spcBef>
                <a:spcPts val="610"/>
              </a:spcBef>
              <a:buSzPct val="95000"/>
              <a:buAutoNum type="arabicPlain"/>
              <a:tabLst>
                <a:tab pos="11049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折旧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设备经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寿命期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=1/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endParaRPr sz="2000">
              <a:latin typeface="宋体"/>
              <a:cs typeface="宋体"/>
            </a:endParaRPr>
          </a:p>
          <a:p>
            <a:pPr lvl="1" marL="1104265" indent="-635000">
              <a:lnSpc>
                <a:spcPct val="100000"/>
              </a:lnSpc>
              <a:spcBef>
                <a:spcPts val="600"/>
              </a:spcBef>
              <a:buSzPct val="95000"/>
              <a:buAutoNum type="arabicPlain" startAt="2"/>
              <a:tabLst>
                <a:tab pos="11049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设备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佳更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期法</a:t>
            </a:r>
            <a:endParaRPr sz="20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有些部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对项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寿命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了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规定。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7204" y="667004"/>
            <a:ext cx="4597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项目寿命期估算（续）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3004" y="575564"/>
            <a:ext cx="3225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项目总投资估算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524" y="1186221"/>
            <a:ext cx="7343775" cy="528828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326390">
              <a:lnSpc>
                <a:spcPct val="100000"/>
              </a:lnSpc>
              <a:spcBef>
                <a:spcPts val="1345"/>
              </a:spcBef>
            </a:pP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设项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总投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包括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设投资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流动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金两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部分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115"/>
              </a:spcBef>
              <a:buClr>
                <a:srgbClr val="FF6600"/>
              </a:buClr>
              <a:buFont typeface="Wingdings"/>
              <a:buChar char="►"/>
              <a:tabLst>
                <a:tab pos="356870" algn="l"/>
                <a:tab pos="3575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建设投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估算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主要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资产投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和建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lvl="1" marL="1104265" indent="-635000">
              <a:lnSpc>
                <a:spcPct val="100000"/>
              </a:lnSpc>
              <a:spcBef>
                <a:spcPts val="935"/>
              </a:spcBef>
              <a:buSzPct val="95000"/>
              <a:buAutoNum type="arabicPlain"/>
              <a:tabLst>
                <a:tab pos="11049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固定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估算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编制概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894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估算建筑工程费用</a:t>
            </a:r>
            <a:endParaRPr sz="1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86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估算设备、工器具购置费用</a:t>
            </a:r>
            <a:endParaRPr sz="1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88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估算安装工程费用</a:t>
            </a:r>
            <a:endParaRPr sz="1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86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估算工程建设其他费用</a:t>
            </a:r>
            <a:endParaRPr sz="1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890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估算不可预见费</a:t>
            </a:r>
            <a:endParaRPr sz="1800">
              <a:latin typeface="宋体"/>
              <a:cs typeface="宋体"/>
            </a:endParaRPr>
          </a:p>
          <a:p>
            <a:pPr lvl="1" marL="1104265" indent="-635000">
              <a:lnSpc>
                <a:spcPct val="100000"/>
              </a:lnSpc>
              <a:spcBef>
                <a:spcPts val="950"/>
              </a:spcBef>
              <a:buSzPct val="95000"/>
              <a:buAutoNum type="arabicPlain"/>
              <a:tabLst>
                <a:tab pos="11049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建设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endParaRPr sz="20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87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各年贷款在年初一次支取使用时：</a:t>
            </a:r>
            <a:endParaRPr sz="1800">
              <a:latin typeface="宋体"/>
              <a:cs typeface="宋体"/>
            </a:endParaRPr>
          </a:p>
          <a:p>
            <a:pPr marL="1158240">
              <a:lnSpc>
                <a:spcPct val="100000"/>
              </a:lnSpc>
              <a:spcBef>
                <a:spcPts val="88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每年应计利息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（年初借款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息累计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本年初借款额）×年利率</a:t>
            </a:r>
            <a:endParaRPr sz="1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86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各年贷款在年中陆续支出时：</a:t>
            </a:r>
            <a:endParaRPr sz="1800">
              <a:latin typeface="宋体"/>
              <a:cs typeface="宋体"/>
            </a:endParaRPr>
          </a:p>
          <a:p>
            <a:pPr marL="1158240">
              <a:lnSpc>
                <a:spcPct val="100000"/>
              </a:lnSpc>
              <a:spcBef>
                <a:spcPts val="89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每年应计利息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（年初借款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息累计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本年借款额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/2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）×年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4972" y="6138164"/>
            <a:ext cx="1287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合计（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1+2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92883" y="5607812"/>
            <a:ext cx="116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建设期利息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9636" y="5623052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2883" y="5074412"/>
            <a:ext cx="116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涨价预备费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9636" y="5089652"/>
            <a:ext cx="600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2883" y="4541011"/>
            <a:ext cx="116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基本预备费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636" y="4556252"/>
            <a:ext cx="600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8707" y="4007611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预备费用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636" y="4022852"/>
            <a:ext cx="371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3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8707" y="3477260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其他费用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9636" y="3492500"/>
            <a:ext cx="371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08707" y="2943860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工程费用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9636" y="2959100"/>
            <a:ext cx="371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80107" y="2410460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固定资产投资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9636" y="2425700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64171" y="1825244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合计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99635" y="1688084"/>
            <a:ext cx="25679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07390" algn="l"/>
                <a:tab pos="1398905" algn="l"/>
                <a:tab pos="20974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建筑	设备	安装	其他 工程	购置	工程	费用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16443" y="1368044"/>
            <a:ext cx="116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占固定资产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16443" y="1642364"/>
            <a:ext cx="11684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投资的比例</a:t>
            </a:r>
            <a:endParaRPr sz="1800">
              <a:latin typeface="宋体"/>
              <a:cs typeface="宋体"/>
            </a:endParaRPr>
          </a:p>
          <a:p>
            <a:pPr marL="35687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％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45684" y="1322324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估算价值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64283" y="1642364"/>
            <a:ext cx="162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工程或费用名称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7548" y="1642364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序号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2998723" y="645668"/>
            <a:ext cx="3225800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/>
              <a:t>固定资</a:t>
            </a:r>
            <a:r>
              <a:rPr dirty="0" sz="2800" spc="-20"/>
              <a:t>产</a:t>
            </a:r>
            <a:r>
              <a:rPr dirty="0" sz="2800" spc="5"/>
              <a:t>投资</a:t>
            </a:r>
            <a:r>
              <a:rPr dirty="0" sz="2800" spc="-20"/>
              <a:t>估算</a:t>
            </a:r>
            <a:r>
              <a:rPr dirty="0" sz="2800" spc="5"/>
              <a:t>表</a:t>
            </a:r>
            <a:endParaRPr sz="2800"/>
          </a:p>
        </p:txBody>
      </p:sp>
      <p:sp>
        <p:nvSpPr>
          <p:cNvPr id="25" name="object 25"/>
          <p:cNvSpPr/>
          <p:nvPr/>
        </p:nvSpPr>
        <p:spPr>
          <a:xfrm>
            <a:off x="1066800" y="1298448"/>
            <a:ext cx="0" cy="1005840"/>
          </a:xfrm>
          <a:custGeom>
            <a:avLst/>
            <a:gdLst/>
            <a:ahLst/>
            <a:cxnLst/>
            <a:rect l="l" t="t" r="r" b="b"/>
            <a:pathLst>
              <a:path w="0" h="1005839">
                <a:moveTo>
                  <a:pt x="0" y="0"/>
                </a:moveTo>
                <a:lnTo>
                  <a:pt x="0" y="1005839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093464" y="1298448"/>
            <a:ext cx="0" cy="1005840"/>
          </a:xfrm>
          <a:custGeom>
            <a:avLst/>
            <a:gdLst/>
            <a:ahLst/>
            <a:cxnLst/>
            <a:rect l="l" t="t" r="r" b="b"/>
            <a:pathLst>
              <a:path w="0" h="1005839">
                <a:moveTo>
                  <a:pt x="0" y="0"/>
                </a:moveTo>
                <a:lnTo>
                  <a:pt x="0" y="1005839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788407" y="1664208"/>
            <a:ext cx="0" cy="640080"/>
          </a:xfrm>
          <a:custGeom>
            <a:avLst/>
            <a:gdLst/>
            <a:ahLst/>
            <a:cxnLst/>
            <a:rect l="l" t="t" r="r" b="b"/>
            <a:pathLst>
              <a:path w="0" h="640080">
                <a:moveTo>
                  <a:pt x="0" y="0"/>
                </a:moveTo>
                <a:lnTo>
                  <a:pt x="0" y="640079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93464" y="1664208"/>
            <a:ext cx="3444240" cy="0"/>
          </a:xfrm>
          <a:custGeom>
            <a:avLst/>
            <a:gdLst/>
            <a:ahLst/>
            <a:cxnLst/>
            <a:rect l="l" t="t" r="r" b="b"/>
            <a:pathLst>
              <a:path w="3444240" h="0">
                <a:moveTo>
                  <a:pt x="0" y="0"/>
                </a:moveTo>
                <a:lnTo>
                  <a:pt x="3444239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537703" y="1298448"/>
            <a:ext cx="0" cy="5267325"/>
          </a:xfrm>
          <a:custGeom>
            <a:avLst/>
            <a:gdLst/>
            <a:ahLst/>
            <a:cxnLst/>
            <a:rect l="l" t="t" r="r" b="b"/>
            <a:pathLst>
              <a:path w="0" h="5267325">
                <a:moveTo>
                  <a:pt x="0" y="0"/>
                </a:moveTo>
                <a:lnTo>
                  <a:pt x="0" y="5266943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483351" y="1664208"/>
            <a:ext cx="0" cy="4901565"/>
          </a:xfrm>
          <a:custGeom>
            <a:avLst/>
            <a:gdLst/>
            <a:ahLst/>
            <a:cxnLst/>
            <a:rect l="l" t="t" r="r" b="b"/>
            <a:pathLst>
              <a:path w="0" h="4901565">
                <a:moveTo>
                  <a:pt x="0" y="0"/>
                </a:moveTo>
                <a:lnTo>
                  <a:pt x="0" y="4901183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178295" y="1664208"/>
            <a:ext cx="0" cy="4901565"/>
          </a:xfrm>
          <a:custGeom>
            <a:avLst/>
            <a:gdLst/>
            <a:ahLst/>
            <a:cxnLst/>
            <a:rect l="l" t="t" r="r" b="b"/>
            <a:pathLst>
              <a:path w="0" h="4901565">
                <a:moveTo>
                  <a:pt x="0" y="0"/>
                </a:moveTo>
                <a:lnTo>
                  <a:pt x="0" y="4901183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873240" y="1664208"/>
            <a:ext cx="0" cy="4901565"/>
          </a:xfrm>
          <a:custGeom>
            <a:avLst/>
            <a:gdLst/>
            <a:ahLst/>
            <a:cxnLst/>
            <a:rect l="l" t="t" r="r" b="b"/>
            <a:pathLst>
              <a:path w="0" h="4901565">
                <a:moveTo>
                  <a:pt x="0" y="0"/>
                </a:moveTo>
                <a:lnTo>
                  <a:pt x="0" y="4901183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10895" y="1298448"/>
            <a:ext cx="8608060" cy="0"/>
          </a:xfrm>
          <a:custGeom>
            <a:avLst/>
            <a:gdLst/>
            <a:ahLst/>
            <a:cxnLst/>
            <a:rect l="l" t="t" r="r" b="b"/>
            <a:pathLst>
              <a:path w="8608060" h="0">
                <a:moveTo>
                  <a:pt x="0" y="0"/>
                </a:moveTo>
                <a:lnTo>
                  <a:pt x="8607551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10895" y="2304288"/>
            <a:ext cx="8608060" cy="0"/>
          </a:xfrm>
          <a:custGeom>
            <a:avLst/>
            <a:gdLst/>
            <a:ahLst/>
            <a:cxnLst/>
            <a:rect l="l" t="t" r="r" b="b"/>
            <a:pathLst>
              <a:path w="8608060" h="0">
                <a:moveTo>
                  <a:pt x="0" y="0"/>
                </a:moveTo>
                <a:lnTo>
                  <a:pt x="8607551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10895" y="1298448"/>
            <a:ext cx="0" cy="5267325"/>
          </a:xfrm>
          <a:custGeom>
            <a:avLst/>
            <a:gdLst/>
            <a:ahLst/>
            <a:cxnLst/>
            <a:rect l="l" t="t" r="r" b="b"/>
            <a:pathLst>
              <a:path w="0" h="5267325">
                <a:moveTo>
                  <a:pt x="0" y="0"/>
                </a:moveTo>
                <a:lnTo>
                  <a:pt x="0" y="5266943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66800" y="2304288"/>
            <a:ext cx="0" cy="4261485"/>
          </a:xfrm>
          <a:custGeom>
            <a:avLst/>
            <a:gdLst/>
            <a:ahLst/>
            <a:cxnLst/>
            <a:rect l="l" t="t" r="r" b="b"/>
            <a:pathLst>
              <a:path w="0" h="4261484">
                <a:moveTo>
                  <a:pt x="0" y="0"/>
                </a:moveTo>
                <a:lnTo>
                  <a:pt x="0" y="4261103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93464" y="2304288"/>
            <a:ext cx="0" cy="4261485"/>
          </a:xfrm>
          <a:custGeom>
            <a:avLst/>
            <a:gdLst/>
            <a:ahLst/>
            <a:cxnLst/>
            <a:rect l="l" t="t" r="r" b="b"/>
            <a:pathLst>
              <a:path w="0" h="4261484">
                <a:moveTo>
                  <a:pt x="0" y="0"/>
                </a:moveTo>
                <a:lnTo>
                  <a:pt x="0" y="4261103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788407" y="2304288"/>
            <a:ext cx="0" cy="4261485"/>
          </a:xfrm>
          <a:custGeom>
            <a:avLst/>
            <a:gdLst/>
            <a:ahLst/>
            <a:cxnLst/>
            <a:rect l="l" t="t" r="r" b="b"/>
            <a:pathLst>
              <a:path w="0" h="4261484">
                <a:moveTo>
                  <a:pt x="0" y="0"/>
                </a:moveTo>
                <a:lnTo>
                  <a:pt x="0" y="4261103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918447" y="1298448"/>
            <a:ext cx="0" cy="5267325"/>
          </a:xfrm>
          <a:custGeom>
            <a:avLst/>
            <a:gdLst/>
            <a:ahLst/>
            <a:cxnLst/>
            <a:rect l="l" t="t" r="r" b="b"/>
            <a:pathLst>
              <a:path w="0" h="5267325">
                <a:moveTo>
                  <a:pt x="0" y="0"/>
                </a:moveTo>
                <a:lnTo>
                  <a:pt x="0" y="5266943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10895" y="6565392"/>
            <a:ext cx="8608060" cy="0"/>
          </a:xfrm>
          <a:custGeom>
            <a:avLst/>
            <a:gdLst/>
            <a:ahLst/>
            <a:cxnLst/>
            <a:rect l="l" t="t" r="r" b="b"/>
            <a:pathLst>
              <a:path w="8608060" h="0">
                <a:moveTo>
                  <a:pt x="0" y="0"/>
                </a:moveTo>
                <a:lnTo>
                  <a:pt x="8607551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709492"/>
            <a:ext cx="7883525" cy="2925445"/>
          </a:xfrm>
          <a:prstGeom prst="rect">
            <a:avLst/>
          </a:prstGeom>
        </p:spPr>
        <p:txBody>
          <a:bodyPr wrap="square" lIns="0" tIns="2032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60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流动资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的估算</a:t>
            </a:r>
            <a:endParaRPr sz="3200">
              <a:latin typeface="宋体"/>
              <a:cs typeface="宋体"/>
            </a:endParaRPr>
          </a:p>
          <a:p>
            <a:pPr lvl="1" marL="756285" marR="5080" indent="-287020">
              <a:lnSpc>
                <a:spcPct val="120000"/>
              </a:lnSpc>
              <a:spcBef>
                <a:spcPts val="66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流动资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持生产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占用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部周转资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金，它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流动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与流动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差额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lvl="1" marL="756285" marR="5080" indent="-287020">
              <a:lnSpc>
                <a:spcPct val="120700"/>
              </a:lnSpc>
              <a:spcBef>
                <a:spcPts val="65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一般参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类似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流动资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占产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或销售收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入）、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总成本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确定。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7204" y="575564"/>
            <a:ext cx="4597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项目总投资估算（续）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5035" y="1700276"/>
            <a:ext cx="2082800" cy="4975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82295" marR="577850">
              <a:lnSpc>
                <a:spcPct val="1389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流动资产 应收账款 存货</a:t>
            </a:r>
            <a:endParaRPr sz="1800">
              <a:latin typeface="宋体"/>
              <a:cs typeface="宋体"/>
            </a:endParaRPr>
          </a:p>
          <a:p>
            <a:pPr algn="ctr" marL="698500" marR="690880">
              <a:lnSpc>
                <a:spcPct val="1387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原材料 燃料 在产品 产成品 其他 现金</a:t>
            </a:r>
            <a:endParaRPr sz="1800">
              <a:latin typeface="宋体"/>
              <a:cs typeface="宋体"/>
            </a:endParaRPr>
          </a:p>
          <a:p>
            <a:pPr algn="just" marL="582295" marR="577850">
              <a:lnSpc>
                <a:spcPct val="1389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流动负债 应付账款 流动资金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流动资金本年增加额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059" y="1715516"/>
            <a:ext cx="600075" cy="497586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 spc="5">
                <a:solidFill>
                  <a:srgbClr val="FFFFFF"/>
                </a:solidFill>
                <a:latin typeface="宋体"/>
                <a:cs typeface="宋体"/>
              </a:rPr>
              <a:t>1.1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 spc="5">
                <a:solidFill>
                  <a:srgbClr val="FFFFFF"/>
                </a:solidFill>
                <a:latin typeface="宋体"/>
                <a:cs typeface="宋体"/>
              </a:rPr>
              <a:t>1.2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3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4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5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800" spc="5">
                <a:solidFill>
                  <a:srgbClr val="FFFFFF"/>
                </a:solidFill>
                <a:latin typeface="宋体"/>
                <a:cs typeface="宋体"/>
              </a:rPr>
              <a:t>1.3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 spc="5">
                <a:solidFill>
                  <a:srgbClr val="FFFFFF"/>
                </a:solidFill>
                <a:latin typeface="宋体"/>
                <a:cs typeface="宋体"/>
              </a:rPr>
              <a:t>2.1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3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4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2628" y="1444244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……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93100" y="1279652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合计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89852" y="1090676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生产期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97044" y="1090676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投产期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8220" y="1176020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年份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0819" y="1380236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0116" y="1279652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序号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21811" y="490220"/>
            <a:ext cx="2519045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/>
              <a:t>流动资</a:t>
            </a:r>
            <a:r>
              <a:rPr dirty="0" sz="2800" spc="-20"/>
              <a:t>金</a:t>
            </a:r>
            <a:r>
              <a:rPr dirty="0" sz="2800" spc="5"/>
              <a:t>估算表</a:t>
            </a:r>
            <a:endParaRPr sz="2800"/>
          </a:p>
        </p:txBody>
      </p:sp>
      <p:sp>
        <p:nvSpPr>
          <p:cNvPr id="12" name="object 12"/>
          <p:cNvSpPr/>
          <p:nvPr/>
        </p:nvSpPr>
        <p:spPr>
          <a:xfrm>
            <a:off x="5154167" y="1417320"/>
            <a:ext cx="0" cy="5331460"/>
          </a:xfrm>
          <a:custGeom>
            <a:avLst/>
            <a:gdLst/>
            <a:ahLst/>
            <a:cxnLst/>
            <a:rect l="l" t="t" r="r" b="b"/>
            <a:pathLst>
              <a:path w="0" h="5331459">
                <a:moveTo>
                  <a:pt x="0" y="0"/>
                </a:moveTo>
                <a:lnTo>
                  <a:pt x="0" y="5330951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98264" y="1417320"/>
            <a:ext cx="3782695" cy="0"/>
          </a:xfrm>
          <a:custGeom>
            <a:avLst/>
            <a:gdLst/>
            <a:ahLst/>
            <a:cxnLst/>
            <a:rect l="l" t="t" r="r" b="b"/>
            <a:pathLst>
              <a:path w="3782695" h="0">
                <a:moveTo>
                  <a:pt x="0" y="0"/>
                </a:moveTo>
                <a:lnTo>
                  <a:pt x="3782567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13119" y="1121664"/>
            <a:ext cx="0" cy="5626735"/>
          </a:xfrm>
          <a:custGeom>
            <a:avLst/>
            <a:gdLst/>
            <a:ahLst/>
            <a:cxnLst/>
            <a:rect l="l" t="t" r="r" b="b"/>
            <a:pathLst>
              <a:path w="0" h="5626734">
                <a:moveTo>
                  <a:pt x="0" y="0"/>
                </a:moveTo>
                <a:lnTo>
                  <a:pt x="0" y="562660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80831" y="1121664"/>
            <a:ext cx="0" cy="5626735"/>
          </a:xfrm>
          <a:custGeom>
            <a:avLst/>
            <a:gdLst/>
            <a:ahLst/>
            <a:cxnLst/>
            <a:rect l="l" t="t" r="r" b="b"/>
            <a:pathLst>
              <a:path w="0" h="5626734">
                <a:moveTo>
                  <a:pt x="0" y="0"/>
                </a:moveTo>
                <a:lnTo>
                  <a:pt x="0" y="562660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69023" y="1417320"/>
            <a:ext cx="0" cy="5331460"/>
          </a:xfrm>
          <a:custGeom>
            <a:avLst/>
            <a:gdLst/>
            <a:ahLst/>
            <a:cxnLst/>
            <a:rect l="l" t="t" r="r" b="b"/>
            <a:pathLst>
              <a:path w="0" h="5331459">
                <a:moveTo>
                  <a:pt x="0" y="0"/>
                </a:moveTo>
                <a:lnTo>
                  <a:pt x="0" y="5330951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21879" y="1417320"/>
            <a:ext cx="0" cy="5331460"/>
          </a:xfrm>
          <a:custGeom>
            <a:avLst/>
            <a:gdLst/>
            <a:ahLst/>
            <a:cxnLst/>
            <a:rect l="l" t="t" r="r" b="b"/>
            <a:pathLst>
              <a:path w="0" h="5331459">
                <a:moveTo>
                  <a:pt x="0" y="0"/>
                </a:moveTo>
                <a:lnTo>
                  <a:pt x="0" y="5330951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54608" y="1121664"/>
            <a:ext cx="3343910" cy="676910"/>
          </a:xfrm>
          <a:custGeom>
            <a:avLst/>
            <a:gdLst/>
            <a:ahLst/>
            <a:cxnLst/>
            <a:rect l="l" t="t" r="r" b="b"/>
            <a:pathLst>
              <a:path w="3343910" h="676910">
                <a:moveTo>
                  <a:pt x="0" y="0"/>
                </a:moveTo>
                <a:lnTo>
                  <a:pt x="3343655" y="676655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54608" y="1121664"/>
            <a:ext cx="0" cy="5626735"/>
          </a:xfrm>
          <a:custGeom>
            <a:avLst/>
            <a:gdLst/>
            <a:ahLst/>
            <a:cxnLst/>
            <a:rect l="l" t="t" r="r" b="b"/>
            <a:pathLst>
              <a:path w="0" h="5626734">
                <a:moveTo>
                  <a:pt x="0" y="0"/>
                </a:moveTo>
                <a:lnTo>
                  <a:pt x="0" y="562660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398264" y="1121664"/>
            <a:ext cx="0" cy="5626735"/>
          </a:xfrm>
          <a:custGeom>
            <a:avLst/>
            <a:gdLst/>
            <a:ahLst/>
            <a:cxnLst/>
            <a:rect l="l" t="t" r="r" b="b"/>
            <a:pathLst>
              <a:path w="0" h="5626734">
                <a:moveTo>
                  <a:pt x="0" y="0"/>
                </a:moveTo>
                <a:lnTo>
                  <a:pt x="0" y="562660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74320" y="1121664"/>
            <a:ext cx="8616950" cy="0"/>
          </a:xfrm>
          <a:custGeom>
            <a:avLst/>
            <a:gdLst/>
            <a:ahLst/>
            <a:cxnLst/>
            <a:rect l="l" t="t" r="r" b="b"/>
            <a:pathLst>
              <a:path w="8616950" h="0">
                <a:moveTo>
                  <a:pt x="0" y="0"/>
                </a:moveTo>
                <a:lnTo>
                  <a:pt x="8616695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74320" y="1798320"/>
            <a:ext cx="8616950" cy="0"/>
          </a:xfrm>
          <a:custGeom>
            <a:avLst/>
            <a:gdLst/>
            <a:ahLst/>
            <a:cxnLst/>
            <a:rect l="l" t="t" r="r" b="b"/>
            <a:pathLst>
              <a:path w="8616950" h="0">
                <a:moveTo>
                  <a:pt x="0" y="0"/>
                </a:moveTo>
                <a:lnTo>
                  <a:pt x="8616695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4320" y="1121664"/>
            <a:ext cx="0" cy="5626735"/>
          </a:xfrm>
          <a:custGeom>
            <a:avLst/>
            <a:gdLst/>
            <a:ahLst/>
            <a:cxnLst/>
            <a:rect l="l" t="t" r="r" b="b"/>
            <a:pathLst>
              <a:path w="0" h="5626734">
                <a:moveTo>
                  <a:pt x="0" y="0"/>
                </a:moveTo>
                <a:lnTo>
                  <a:pt x="0" y="562660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891015" y="1121664"/>
            <a:ext cx="0" cy="5626735"/>
          </a:xfrm>
          <a:custGeom>
            <a:avLst/>
            <a:gdLst/>
            <a:ahLst/>
            <a:cxnLst/>
            <a:rect l="l" t="t" r="r" b="b"/>
            <a:pathLst>
              <a:path w="0" h="5626734">
                <a:moveTo>
                  <a:pt x="0" y="0"/>
                </a:moveTo>
                <a:lnTo>
                  <a:pt x="0" y="562660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74320" y="6748272"/>
            <a:ext cx="8616950" cy="0"/>
          </a:xfrm>
          <a:custGeom>
            <a:avLst/>
            <a:gdLst/>
            <a:ahLst/>
            <a:cxnLst/>
            <a:rect l="l" t="t" r="r" b="b"/>
            <a:pathLst>
              <a:path w="8616950" h="0">
                <a:moveTo>
                  <a:pt x="0" y="0"/>
                </a:moveTo>
                <a:lnTo>
                  <a:pt x="8616695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404" y="749300"/>
            <a:ext cx="36830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资金筹措方案评估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491" y="1445463"/>
            <a:ext cx="7767320" cy="4581525"/>
          </a:xfrm>
          <a:prstGeom prst="rect">
            <a:avLst/>
          </a:prstGeom>
        </p:spPr>
        <p:txBody>
          <a:bodyPr wrap="square" lIns="0" tIns="20129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58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资金筹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估</a:t>
            </a:r>
            <a:endParaRPr sz="2800">
              <a:latin typeface="宋体"/>
              <a:cs typeface="宋体"/>
            </a:endParaRPr>
          </a:p>
          <a:p>
            <a:pPr marL="356870" marR="5080" indent="642620">
              <a:lnSpc>
                <a:spcPct val="136400"/>
              </a:lnSpc>
              <a:spcBef>
                <a:spcPts val="26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段，投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金来源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自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有资金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负债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1455"/>
              </a:spcBef>
              <a:buClr>
                <a:srgbClr val="FF6600"/>
              </a:buClr>
              <a:buSzPct val="95833"/>
              <a:buFont typeface="Wingdings"/>
              <a:buChar char="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分析资金来源是否合理；</a:t>
            </a:r>
            <a:endParaRPr sz="24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1415"/>
              </a:spcBef>
              <a:buClr>
                <a:srgbClr val="FF6600"/>
              </a:buClr>
              <a:buSzPct val="95833"/>
              <a:buFont typeface="Wingdings"/>
              <a:buChar char="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分析资金数额的落实情况；</a:t>
            </a:r>
            <a:endParaRPr sz="24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1440"/>
              </a:spcBef>
              <a:buClr>
                <a:srgbClr val="FF6600"/>
              </a:buClr>
              <a:buSzPct val="95833"/>
              <a:buFont typeface="Wingdings"/>
              <a:buChar char="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分析筹资结构是否合理；</a:t>
            </a:r>
            <a:endParaRPr sz="24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1440"/>
              </a:spcBef>
              <a:buClr>
                <a:srgbClr val="FF6600"/>
              </a:buClr>
              <a:buSzPct val="95833"/>
              <a:buFont typeface="Wingdings"/>
              <a:buChar char="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分析筹资成本是否低廉；</a:t>
            </a:r>
            <a:endParaRPr sz="24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1440"/>
              </a:spcBef>
              <a:buClr>
                <a:srgbClr val="FF6600"/>
              </a:buClr>
              <a:buSzPct val="95833"/>
              <a:buFont typeface="Wingdings"/>
              <a:buChar char="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分析判断项目筹资风险。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291" y="1877060"/>
            <a:ext cx="7883525" cy="33585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资金分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使用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计划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评估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252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计划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额与建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相一致；</a:t>
            </a:r>
            <a:endParaRPr sz="2800">
              <a:latin typeface="宋体"/>
              <a:cs typeface="宋体"/>
            </a:endParaRPr>
          </a:p>
          <a:p>
            <a:pPr lvl="1" marL="1082040" marR="5080" indent="-612775">
              <a:lnSpc>
                <a:spcPts val="5900"/>
              </a:lnSpc>
              <a:spcBef>
                <a:spcPts val="60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划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额与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筹资方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数额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相平衡。 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筹措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方案进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评估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后，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应将评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结果</a:t>
            </a:r>
            <a:endParaRPr sz="2800">
              <a:latin typeface="宋体"/>
              <a:cs typeface="宋体"/>
            </a:endParaRPr>
          </a:p>
          <a:p>
            <a:pPr marL="356870">
              <a:lnSpc>
                <a:spcPct val="100000"/>
              </a:lnSpc>
              <a:spcBef>
                <a:spcPts val="123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编制成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划与资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筹措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38604" y="749300"/>
            <a:ext cx="5054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资金筹措方案评估（续）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2820" y="5656580"/>
            <a:ext cx="1397000" cy="86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533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其他短期借款 其他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42820" y="5379212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流动资金借款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5627" y="5245100"/>
            <a:ext cx="600075" cy="129349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2.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2.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3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800" spc="5">
                <a:solidFill>
                  <a:srgbClr val="FFFFFF"/>
                </a:solidFill>
                <a:latin typeface="宋体"/>
                <a:cs typeface="宋体"/>
              </a:rPr>
              <a:t>2.3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71420" y="3967988"/>
            <a:ext cx="939800" cy="1287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533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自有资金 借款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长期借款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71420" y="3690620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资金筹措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627" y="3556508"/>
            <a:ext cx="600075" cy="17145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800" spc="5">
                <a:solidFill>
                  <a:srgbClr val="FFFFFF"/>
                </a:solidFill>
                <a:latin typeface="宋体"/>
                <a:cs typeface="宋体"/>
              </a:rPr>
              <a:t>2.1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800" spc="5">
                <a:solidFill>
                  <a:srgbClr val="FFFFFF"/>
                </a:solidFill>
                <a:latin typeface="宋体"/>
                <a:cs typeface="宋体"/>
              </a:rPr>
              <a:t>2.2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2.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627" y="3285236"/>
            <a:ext cx="371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3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2820" y="2279396"/>
            <a:ext cx="1397000" cy="129032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ctr" marL="12700" marR="5080">
              <a:lnSpc>
                <a:spcPct val="153900"/>
              </a:lnSpc>
              <a:spcBef>
                <a:spcPts val="8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固定资产投资 建设期利息 流动资金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7244" y="2002028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总投资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627" y="1867916"/>
            <a:ext cx="371475" cy="129349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66635" y="1596644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……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05292" y="1368044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合计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53859" y="1157732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生产期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1155" y="1157732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投产期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0020" y="1233932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年份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00020" y="1508252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5083" y="1368044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序号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776220" y="520700"/>
            <a:ext cx="3582670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/>
              <a:t>投资计</a:t>
            </a:r>
            <a:r>
              <a:rPr dirty="0" sz="2800" spc="-20"/>
              <a:t>划</a:t>
            </a:r>
            <a:r>
              <a:rPr dirty="0" sz="2800" spc="5"/>
              <a:t>与资</a:t>
            </a:r>
            <a:r>
              <a:rPr dirty="0" sz="2800" spc="-20"/>
              <a:t>金筹</a:t>
            </a:r>
            <a:r>
              <a:rPr dirty="0" sz="2800" spc="5"/>
              <a:t>措表</a:t>
            </a:r>
            <a:endParaRPr sz="2800"/>
          </a:p>
        </p:txBody>
      </p:sp>
      <p:sp>
        <p:nvSpPr>
          <p:cNvPr id="20" name="object 20"/>
          <p:cNvSpPr/>
          <p:nvPr/>
        </p:nvSpPr>
        <p:spPr>
          <a:xfrm>
            <a:off x="1328927" y="1106424"/>
            <a:ext cx="0" cy="5489575"/>
          </a:xfrm>
          <a:custGeom>
            <a:avLst/>
            <a:gdLst/>
            <a:ahLst/>
            <a:cxnLst/>
            <a:rect l="l" t="t" r="r" b="b"/>
            <a:pathLst>
              <a:path w="0" h="5489575">
                <a:moveTo>
                  <a:pt x="0" y="0"/>
                </a:moveTo>
                <a:lnTo>
                  <a:pt x="0" y="548944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56759" y="1106424"/>
            <a:ext cx="0" cy="5489575"/>
          </a:xfrm>
          <a:custGeom>
            <a:avLst/>
            <a:gdLst/>
            <a:ahLst/>
            <a:cxnLst/>
            <a:rect l="l" t="t" r="r" b="b"/>
            <a:pathLst>
              <a:path w="0" h="5489575">
                <a:moveTo>
                  <a:pt x="0" y="0"/>
                </a:moveTo>
                <a:lnTo>
                  <a:pt x="0" y="548944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85232" y="1530096"/>
            <a:ext cx="0" cy="5066030"/>
          </a:xfrm>
          <a:custGeom>
            <a:avLst/>
            <a:gdLst/>
            <a:ahLst/>
            <a:cxnLst/>
            <a:rect l="l" t="t" r="r" b="b"/>
            <a:pathLst>
              <a:path w="0" h="5066030">
                <a:moveTo>
                  <a:pt x="0" y="0"/>
                </a:moveTo>
                <a:lnTo>
                  <a:pt x="0" y="5065775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56759" y="1530096"/>
            <a:ext cx="3648710" cy="0"/>
          </a:xfrm>
          <a:custGeom>
            <a:avLst/>
            <a:gdLst/>
            <a:ahLst/>
            <a:cxnLst/>
            <a:rect l="l" t="t" r="r" b="b"/>
            <a:pathLst>
              <a:path w="3648709" h="0">
                <a:moveTo>
                  <a:pt x="0" y="0"/>
                </a:moveTo>
                <a:lnTo>
                  <a:pt x="3648455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016751" y="1106424"/>
            <a:ext cx="0" cy="5489575"/>
          </a:xfrm>
          <a:custGeom>
            <a:avLst/>
            <a:gdLst/>
            <a:ahLst/>
            <a:cxnLst/>
            <a:rect l="l" t="t" r="r" b="b"/>
            <a:pathLst>
              <a:path w="0" h="5489575">
                <a:moveTo>
                  <a:pt x="0" y="0"/>
                </a:moveTo>
                <a:lnTo>
                  <a:pt x="0" y="548944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205215" y="1106424"/>
            <a:ext cx="0" cy="5489575"/>
          </a:xfrm>
          <a:custGeom>
            <a:avLst/>
            <a:gdLst/>
            <a:ahLst/>
            <a:cxnLst/>
            <a:rect l="l" t="t" r="r" b="b"/>
            <a:pathLst>
              <a:path w="0" h="5489575">
                <a:moveTo>
                  <a:pt x="0" y="0"/>
                </a:moveTo>
                <a:lnTo>
                  <a:pt x="0" y="548944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748271" y="1530096"/>
            <a:ext cx="0" cy="5066030"/>
          </a:xfrm>
          <a:custGeom>
            <a:avLst/>
            <a:gdLst/>
            <a:ahLst/>
            <a:cxnLst/>
            <a:rect l="l" t="t" r="r" b="b"/>
            <a:pathLst>
              <a:path w="0" h="5066030">
                <a:moveTo>
                  <a:pt x="0" y="0"/>
                </a:moveTo>
                <a:lnTo>
                  <a:pt x="0" y="5065775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73695" y="1530096"/>
            <a:ext cx="0" cy="5066030"/>
          </a:xfrm>
          <a:custGeom>
            <a:avLst/>
            <a:gdLst/>
            <a:ahLst/>
            <a:cxnLst/>
            <a:rect l="l" t="t" r="r" b="b"/>
            <a:pathLst>
              <a:path w="0" h="5066030">
                <a:moveTo>
                  <a:pt x="0" y="0"/>
                </a:moveTo>
                <a:lnTo>
                  <a:pt x="0" y="5065775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46887" y="1106424"/>
            <a:ext cx="8644255" cy="0"/>
          </a:xfrm>
          <a:custGeom>
            <a:avLst/>
            <a:gdLst/>
            <a:ahLst/>
            <a:cxnLst/>
            <a:rect l="l" t="t" r="r" b="b"/>
            <a:pathLst>
              <a:path w="8644255" h="0">
                <a:moveTo>
                  <a:pt x="0" y="0"/>
                </a:moveTo>
                <a:lnTo>
                  <a:pt x="8644127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46887" y="1950720"/>
            <a:ext cx="8644255" cy="0"/>
          </a:xfrm>
          <a:custGeom>
            <a:avLst/>
            <a:gdLst/>
            <a:ahLst/>
            <a:cxnLst/>
            <a:rect l="l" t="t" r="r" b="b"/>
            <a:pathLst>
              <a:path w="8644255" h="0">
                <a:moveTo>
                  <a:pt x="0" y="0"/>
                </a:moveTo>
                <a:lnTo>
                  <a:pt x="8644127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46887" y="1106424"/>
            <a:ext cx="0" cy="5489575"/>
          </a:xfrm>
          <a:custGeom>
            <a:avLst/>
            <a:gdLst/>
            <a:ahLst/>
            <a:cxnLst/>
            <a:rect l="l" t="t" r="r" b="b"/>
            <a:pathLst>
              <a:path w="0" h="5489575">
                <a:moveTo>
                  <a:pt x="0" y="0"/>
                </a:moveTo>
                <a:lnTo>
                  <a:pt x="0" y="548944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891015" y="1106424"/>
            <a:ext cx="0" cy="5489575"/>
          </a:xfrm>
          <a:custGeom>
            <a:avLst/>
            <a:gdLst/>
            <a:ahLst/>
            <a:cxnLst/>
            <a:rect l="l" t="t" r="r" b="b"/>
            <a:pathLst>
              <a:path w="0" h="5489575">
                <a:moveTo>
                  <a:pt x="0" y="0"/>
                </a:moveTo>
                <a:lnTo>
                  <a:pt x="0" y="548944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46887" y="6595872"/>
            <a:ext cx="8644255" cy="0"/>
          </a:xfrm>
          <a:custGeom>
            <a:avLst/>
            <a:gdLst/>
            <a:ahLst/>
            <a:cxnLst/>
            <a:rect l="l" t="t" r="r" b="b"/>
            <a:pathLst>
              <a:path w="8644255" h="0">
                <a:moveTo>
                  <a:pt x="0" y="0"/>
                </a:moveTo>
                <a:lnTo>
                  <a:pt x="8644127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1604" y="667004"/>
            <a:ext cx="2768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成本费用估算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524" y="1324052"/>
            <a:ext cx="8508365" cy="5333365"/>
          </a:xfrm>
          <a:prstGeom prst="rect">
            <a:avLst/>
          </a:prstGeom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总成本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endParaRPr sz="2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900" spc="5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1900" spc="-5">
                <a:solidFill>
                  <a:srgbClr val="FFFFFF"/>
                </a:solidFill>
                <a:latin typeface="宋体"/>
                <a:cs typeface="宋体"/>
              </a:rPr>
              <a:t>外购原材料、燃料及动</a:t>
            </a:r>
            <a:r>
              <a:rPr dirty="0" sz="1900" spc="15">
                <a:solidFill>
                  <a:srgbClr val="FFFFFF"/>
                </a:solidFill>
                <a:latin typeface="宋体"/>
                <a:cs typeface="宋体"/>
              </a:rPr>
              <a:t>力费</a:t>
            </a:r>
            <a:r>
              <a:rPr dirty="0" sz="1900" spc="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1900" spc="-5">
                <a:solidFill>
                  <a:srgbClr val="FFFFFF"/>
                </a:solidFill>
                <a:latin typeface="宋体"/>
                <a:cs typeface="宋体"/>
              </a:rPr>
              <a:t>工资及福利费</a:t>
            </a:r>
            <a:r>
              <a:rPr dirty="0" sz="1900" spc="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1900" spc="-5">
                <a:solidFill>
                  <a:srgbClr val="FFFFFF"/>
                </a:solidFill>
                <a:latin typeface="宋体"/>
                <a:cs typeface="宋体"/>
              </a:rPr>
              <a:t>修理费</a:t>
            </a:r>
            <a:r>
              <a:rPr dirty="0" sz="1900" spc="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1900" spc="-5">
                <a:solidFill>
                  <a:srgbClr val="FFFFFF"/>
                </a:solidFill>
                <a:latin typeface="宋体"/>
                <a:cs typeface="宋体"/>
              </a:rPr>
              <a:t>折</a:t>
            </a:r>
            <a:r>
              <a:rPr dirty="0" sz="1900" spc="15">
                <a:solidFill>
                  <a:srgbClr val="FFFFFF"/>
                </a:solidFill>
                <a:latin typeface="宋体"/>
                <a:cs typeface="宋体"/>
              </a:rPr>
              <a:t>旧</a:t>
            </a:r>
            <a:r>
              <a:rPr dirty="0" sz="1900" spc="-5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1900" spc="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1900" spc="-5">
                <a:solidFill>
                  <a:srgbClr val="FFFFFF"/>
                </a:solidFill>
                <a:latin typeface="宋体"/>
                <a:cs typeface="宋体"/>
              </a:rPr>
              <a:t>利息支出</a:t>
            </a:r>
            <a:r>
              <a:rPr dirty="0" sz="1900" spc="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1900" spc="-5">
                <a:solidFill>
                  <a:srgbClr val="FFFFFF"/>
                </a:solidFill>
                <a:latin typeface="宋体"/>
                <a:cs typeface="宋体"/>
              </a:rPr>
              <a:t>其他费用</a:t>
            </a:r>
            <a:endParaRPr sz="1900">
              <a:latin typeface="宋体"/>
              <a:cs typeface="宋体"/>
            </a:endParaRPr>
          </a:p>
          <a:p>
            <a:pPr marL="12700" marR="3793490">
              <a:lnSpc>
                <a:spcPct val="124000"/>
              </a:lnSpc>
              <a:spcBef>
                <a:spcPts val="62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经营成本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用－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旧费－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息支出  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、外购原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料、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料及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力费的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endParaRPr sz="20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42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外购原材料、燃料、动力费</a:t>
            </a:r>
            <a:endParaRPr sz="1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43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产品年产量×单位产品耗用原材料、燃料、动力定额×单价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、工资及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福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endParaRPr sz="2000">
              <a:latin typeface="宋体"/>
              <a:cs typeface="宋体"/>
            </a:endParaRPr>
          </a:p>
          <a:p>
            <a:pPr marL="469900" marR="3114040">
              <a:lnSpc>
                <a:spcPct val="120000"/>
              </a:lnSpc>
              <a:spcBef>
                <a:spcPts val="1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年工资总额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企业定员人数×每人年平均工资总额 年福利费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年工资总额×计提比例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、折旧费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修理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估算</a:t>
            </a:r>
            <a:endParaRPr sz="2000">
              <a:latin typeface="宋体"/>
              <a:cs typeface="宋体"/>
            </a:endParaRPr>
          </a:p>
          <a:p>
            <a:pPr marL="756285" marR="5080" indent="426720">
              <a:lnSpc>
                <a:spcPct val="120000"/>
              </a:lnSpc>
              <a:spcBef>
                <a:spcPts val="464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固定资产损耗价值的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移称为折旧。采用的折旧方法主要有平均年限法、 双倍余额递减法和年数总和法。固定资产应分类进行折旧。</a:t>
            </a:r>
            <a:endParaRPr sz="1800">
              <a:latin typeface="宋体"/>
              <a:cs typeface="宋体"/>
            </a:endParaRPr>
          </a:p>
          <a:p>
            <a:pPr marL="756285" marR="29209" indent="401955">
              <a:lnSpc>
                <a:spcPct val="120000"/>
              </a:lnSpc>
              <a:spcBef>
                <a:spcPts val="45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修理费按固定资产原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的一定百分比计提，计提比例可根据经验数据或参 考同类企业的数据加以确定。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7963" y="5083556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7963" y="3519932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2155" y="1828292"/>
            <a:ext cx="1397000" cy="4710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422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固定资产合计 原值</a:t>
            </a:r>
            <a:endParaRPr sz="1800">
              <a:latin typeface="宋体"/>
              <a:cs typeface="宋体"/>
            </a:endParaRPr>
          </a:p>
          <a:p>
            <a:pPr algn="ctr" marL="356870" marR="346075">
              <a:lnSpc>
                <a:spcPct val="1422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折旧费 净值</a:t>
            </a:r>
            <a:endParaRPr sz="1800">
              <a:latin typeface="宋体"/>
              <a:cs typeface="宋体"/>
            </a:endParaRPr>
          </a:p>
          <a:p>
            <a:pPr algn="ctr" marL="12700" marR="5080">
              <a:lnSpc>
                <a:spcPts val="3100"/>
              </a:lnSpc>
              <a:spcBef>
                <a:spcPts val="229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房屋及建筑物 原值</a:t>
            </a:r>
            <a:endParaRPr sz="1800">
              <a:latin typeface="宋体"/>
              <a:cs typeface="宋体"/>
            </a:endParaRPr>
          </a:p>
          <a:p>
            <a:pPr algn="ctr" marL="2540">
              <a:lnSpc>
                <a:spcPct val="100000"/>
              </a:lnSpc>
              <a:spcBef>
                <a:spcPts val="65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折旧费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净值</a:t>
            </a:r>
            <a:endParaRPr sz="1800">
              <a:latin typeface="宋体"/>
              <a:cs typeface="宋体"/>
            </a:endParaRPr>
          </a:p>
          <a:p>
            <a:pPr algn="ctr" marL="341630" marR="334010">
              <a:lnSpc>
                <a:spcPct val="142200"/>
              </a:lnSpc>
            </a:pP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××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设备 原值 折旧费 净值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32395" y="1569212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……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83043" y="1157732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生产期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1220" y="1157732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投产期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1435" y="1486916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年限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7620" y="1212596"/>
            <a:ext cx="1296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613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年份	折旧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7396" y="1486916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7276" y="1352804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序号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989579" y="523748"/>
            <a:ext cx="3225800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/>
              <a:t>固定资</a:t>
            </a:r>
            <a:r>
              <a:rPr dirty="0" sz="2800" spc="-20"/>
              <a:t>产</a:t>
            </a:r>
            <a:r>
              <a:rPr dirty="0" sz="2800" spc="5"/>
              <a:t>折旧</a:t>
            </a:r>
            <a:r>
              <a:rPr dirty="0" sz="2800" spc="-20"/>
              <a:t>估算</a:t>
            </a:r>
            <a:r>
              <a:rPr dirty="0" sz="2800" spc="5"/>
              <a:t>表</a:t>
            </a:r>
            <a:endParaRPr sz="2800"/>
          </a:p>
        </p:txBody>
      </p:sp>
      <p:sp>
        <p:nvSpPr>
          <p:cNvPr id="13" name="object 13"/>
          <p:cNvSpPr/>
          <p:nvPr/>
        </p:nvSpPr>
        <p:spPr>
          <a:xfrm>
            <a:off x="4011167" y="1112520"/>
            <a:ext cx="0" cy="5483860"/>
          </a:xfrm>
          <a:custGeom>
            <a:avLst/>
            <a:gdLst/>
            <a:ahLst/>
            <a:cxnLst/>
            <a:rect l="l" t="t" r="r" b="b"/>
            <a:pathLst>
              <a:path w="0" h="5483859">
                <a:moveTo>
                  <a:pt x="0" y="0"/>
                </a:moveTo>
                <a:lnTo>
                  <a:pt x="0" y="5483351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53000" y="1517904"/>
            <a:ext cx="0" cy="5078095"/>
          </a:xfrm>
          <a:custGeom>
            <a:avLst/>
            <a:gdLst/>
            <a:ahLst/>
            <a:cxnLst/>
            <a:rect l="l" t="t" r="r" b="b"/>
            <a:pathLst>
              <a:path w="0" h="5078095">
                <a:moveTo>
                  <a:pt x="0" y="0"/>
                </a:moveTo>
                <a:lnTo>
                  <a:pt x="0" y="507796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11167" y="1517904"/>
            <a:ext cx="4806950" cy="0"/>
          </a:xfrm>
          <a:custGeom>
            <a:avLst/>
            <a:gdLst/>
            <a:ahLst/>
            <a:cxnLst/>
            <a:rect l="l" t="t" r="r" b="b"/>
            <a:pathLst>
              <a:path w="4806950" h="0">
                <a:moveTo>
                  <a:pt x="0" y="0"/>
                </a:moveTo>
                <a:lnTo>
                  <a:pt x="4806695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59423" y="1112520"/>
            <a:ext cx="0" cy="5483860"/>
          </a:xfrm>
          <a:custGeom>
            <a:avLst/>
            <a:gdLst/>
            <a:ahLst/>
            <a:cxnLst/>
            <a:rect l="l" t="t" r="r" b="b"/>
            <a:pathLst>
              <a:path w="0" h="5483859">
                <a:moveTo>
                  <a:pt x="0" y="0"/>
                </a:moveTo>
                <a:lnTo>
                  <a:pt x="0" y="5483351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68311" y="1517904"/>
            <a:ext cx="0" cy="5078095"/>
          </a:xfrm>
          <a:custGeom>
            <a:avLst/>
            <a:gdLst/>
            <a:ahLst/>
            <a:cxnLst/>
            <a:rect l="l" t="t" r="r" b="b"/>
            <a:pathLst>
              <a:path w="0" h="5078095">
                <a:moveTo>
                  <a:pt x="0" y="0"/>
                </a:moveTo>
                <a:lnTo>
                  <a:pt x="0" y="507796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885176" y="1517904"/>
            <a:ext cx="0" cy="5078095"/>
          </a:xfrm>
          <a:custGeom>
            <a:avLst/>
            <a:gdLst/>
            <a:ahLst/>
            <a:cxnLst/>
            <a:rect l="l" t="t" r="r" b="b"/>
            <a:pathLst>
              <a:path w="0" h="5078095">
                <a:moveTo>
                  <a:pt x="0" y="0"/>
                </a:moveTo>
                <a:lnTo>
                  <a:pt x="0" y="507796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3191" y="1112520"/>
            <a:ext cx="8425180" cy="0"/>
          </a:xfrm>
          <a:custGeom>
            <a:avLst/>
            <a:gdLst/>
            <a:ahLst/>
            <a:cxnLst/>
            <a:rect l="l" t="t" r="r" b="b"/>
            <a:pathLst>
              <a:path w="8425180" h="0">
                <a:moveTo>
                  <a:pt x="0" y="0"/>
                </a:moveTo>
                <a:lnTo>
                  <a:pt x="8424671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93191" y="1908048"/>
            <a:ext cx="8425180" cy="0"/>
          </a:xfrm>
          <a:custGeom>
            <a:avLst/>
            <a:gdLst/>
            <a:ahLst/>
            <a:cxnLst/>
            <a:rect l="l" t="t" r="r" b="b"/>
            <a:pathLst>
              <a:path w="8425180" h="0">
                <a:moveTo>
                  <a:pt x="0" y="0"/>
                </a:moveTo>
                <a:lnTo>
                  <a:pt x="8424671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3191" y="1112520"/>
            <a:ext cx="0" cy="5483860"/>
          </a:xfrm>
          <a:custGeom>
            <a:avLst/>
            <a:gdLst/>
            <a:ahLst/>
            <a:cxnLst/>
            <a:rect l="l" t="t" r="r" b="b"/>
            <a:pathLst>
              <a:path w="0" h="5483859">
                <a:moveTo>
                  <a:pt x="0" y="0"/>
                </a:moveTo>
                <a:lnTo>
                  <a:pt x="0" y="5483351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817864" y="1112520"/>
            <a:ext cx="0" cy="5483860"/>
          </a:xfrm>
          <a:custGeom>
            <a:avLst/>
            <a:gdLst/>
            <a:ahLst/>
            <a:cxnLst/>
            <a:rect l="l" t="t" r="r" b="b"/>
            <a:pathLst>
              <a:path w="0" h="5483859">
                <a:moveTo>
                  <a:pt x="0" y="0"/>
                </a:moveTo>
                <a:lnTo>
                  <a:pt x="0" y="5483351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93191" y="6595872"/>
            <a:ext cx="8425180" cy="0"/>
          </a:xfrm>
          <a:custGeom>
            <a:avLst/>
            <a:gdLst/>
            <a:ahLst/>
            <a:cxnLst/>
            <a:rect l="l" t="t" r="r" b="b"/>
            <a:pathLst>
              <a:path w="8425180" h="0">
                <a:moveTo>
                  <a:pt x="0" y="0"/>
                </a:moveTo>
                <a:lnTo>
                  <a:pt x="8424671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07008" y="1112520"/>
            <a:ext cx="1987550" cy="795655"/>
          </a:xfrm>
          <a:custGeom>
            <a:avLst/>
            <a:gdLst/>
            <a:ahLst/>
            <a:cxnLst/>
            <a:rect l="l" t="t" r="r" b="b"/>
            <a:pathLst>
              <a:path w="1987550" h="795655">
                <a:moveTo>
                  <a:pt x="0" y="0"/>
                </a:moveTo>
                <a:lnTo>
                  <a:pt x="1987295" y="79552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07008" y="1908048"/>
            <a:ext cx="0" cy="4688205"/>
          </a:xfrm>
          <a:custGeom>
            <a:avLst/>
            <a:gdLst/>
            <a:ahLst/>
            <a:cxnLst/>
            <a:rect l="l" t="t" r="r" b="b"/>
            <a:pathLst>
              <a:path w="0" h="4688205">
                <a:moveTo>
                  <a:pt x="0" y="0"/>
                </a:moveTo>
                <a:lnTo>
                  <a:pt x="0" y="4687823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07008" y="1112520"/>
            <a:ext cx="0" cy="795655"/>
          </a:xfrm>
          <a:custGeom>
            <a:avLst/>
            <a:gdLst/>
            <a:ahLst/>
            <a:cxnLst/>
            <a:rect l="l" t="t" r="r" b="b"/>
            <a:pathLst>
              <a:path w="0" h="795655">
                <a:moveTo>
                  <a:pt x="0" y="0"/>
                </a:moveTo>
                <a:lnTo>
                  <a:pt x="0" y="79552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94303" y="1908048"/>
            <a:ext cx="0" cy="4688205"/>
          </a:xfrm>
          <a:custGeom>
            <a:avLst/>
            <a:gdLst/>
            <a:ahLst/>
            <a:cxnLst/>
            <a:rect l="l" t="t" r="r" b="b"/>
            <a:pathLst>
              <a:path w="0" h="4688205">
                <a:moveTo>
                  <a:pt x="0" y="0"/>
                </a:moveTo>
                <a:lnTo>
                  <a:pt x="0" y="4687823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94303" y="1112520"/>
            <a:ext cx="0" cy="795655"/>
          </a:xfrm>
          <a:custGeom>
            <a:avLst/>
            <a:gdLst/>
            <a:ahLst/>
            <a:cxnLst/>
            <a:rect l="l" t="t" r="r" b="b"/>
            <a:pathLst>
              <a:path w="0" h="795655">
                <a:moveTo>
                  <a:pt x="0" y="0"/>
                </a:moveTo>
                <a:lnTo>
                  <a:pt x="0" y="795527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13943" y="1545336"/>
          <a:ext cx="8516620" cy="4983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6135"/>
                <a:gridCol w="3423285"/>
                <a:gridCol w="2124710"/>
                <a:gridCol w="2124710"/>
              </a:tblGrid>
              <a:tr h="3809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序号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项目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投产期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生产期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9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rowSpan="10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外购原材料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algn="ctr" marL="908050" marR="907415">
                        <a:lnSpc>
                          <a:spcPct val="138900"/>
                        </a:lnSpc>
                        <a:spcBef>
                          <a:spcPts val="2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外购燃料及动力 工资及福利费 修理费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algn="ctr" marL="1252220" marR="1247775" indent="-3175">
                        <a:lnSpc>
                          <a:spcPct val="139300"/>
                        </a:lnSpc>
                        <a:spcBef>
                          <a:spcPts val="1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折旧费 摊销费 利息支出 其他费用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总成本费用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其中</a:t>
                      </a: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：1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、固定成本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621665" marR="617855" indent="801370">
                        <a:lnSpc>
                          <a:spcPts val="3020"/>
                        </a:lnSpc>
                        <a:spcBef>
                          <a:spcPts val="225"/>
                        </a:spcBef>
                      </a:pP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、可变成本 经营成本（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9-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5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-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</a:t>
                      </a:r>
                      <a:r>
                        <a:rPr dirty="0" sz="18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-7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82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3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82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4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82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5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82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82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7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8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650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9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51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9788" y="840740"/>
            <a:ext cx="2872740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/>
              <a:t>总成本</a:t>
            </a:r>
            <a:r>
              <a:rPr dirty="0" sz="2800" spc="-20"/>
              <a:t>费</a:t>
            </a:r>
            <a:r>
              <a:rPr dirty="0" sz="2800" spc="5"/>
              <a:t>用估</a:t>
            </a:r>
            <a:r>
              <a:rPr dirty="0" sz="2800" spc="-20"/>
              <a:t>算</a:t>
            </a:r>
            <a:r>
              <a:rPr dirty="0" sz="2800" spc="5"/>
              <a:t>表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0004" y="654812"/>
            <a:ext cx="5511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营业收入、税金和利润估算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091" y="1573198"/>
            <a:ext cx="8227695" cy="4304030"/>
          </a:xfrm>
          <a:prstGeom prst="rect">
            <a:avLst/>
          </a:prstGeom>
        </p:spPr>
        <p:txBody>
          <a:bodyPr wrap="square" lIns="0" tIns="18351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44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营业收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估算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14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营业收入=业务量×单价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35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营业税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及附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加估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endParaRPr sz="2800">
              <a:latin typeface="宋体"/>
              <a:cs typeface="宋体"/>
            </a:endParaRPr>
          </a:p>
          <a:p>
            <a:pPr marL="756285" marR="5080" indent="627380">
              <a:lnSpc>
                <a:spcPct val="120000"/>
              </a:lnSpc>
              <a:spcBef>
                <a:spcPts val="565"/>
              </a:spcBef>
            </a:pP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营业税金及附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是指增值税、营业税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消费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资 源税、城市维护建设税、教育费附加等。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35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利润估算</a:t>
            </a:r>
            <a:endParaRPr sz="2800">
              <a:latin typeface="宋体"/>
              <a:cs typeface="宋体"/>
            </a:endParaRPr>
          </a:p>
          <a:p>
            <a:pPr marL="469265" marR="281940">
              <a:lnSpc>
                <a:spcPts val="4029"/>
              </a:lnSpc>
              <a:spcBef>
                <a:spcPts val="32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利润总额=营业收入－主营业务税金及附加－总成本费用 税后利润=利润总额－所得税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855723" y="697484"/>
            <a:ext cx="5362575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/>
              <a:t>营业收</a:t>
            </a:r>
            <a:r>
              <a:rPr dirty="0" sz="2800" spc="-20"/>
              <a:t>入</a:t>
            </a:r>
            <a:r>
              <a:rPr dirty="0" sz="2800" spc="5"/>
              <a:t>和营</a:t>
            </a:r>
            <a:r>
              <a:rPr dirty="0" sz="2800" spc="-20"/>
              <a:t>业税</a:t>
            </a:r>
            <a:r>
              <a:rPr dirty="0" sz="2800" spc="5"/>
              <a:t>金及附</a:t>
            </a:r>
            <a:r>
              <a:rPr dirty="0" sz="2800" spc="-20"/>
              <a:t>加</a:t>
            </a:r>
            <a:r>
              <a:rPr dirty="0" sz="2800" spc="5"/>
              <a:t>估算表</a:t>
            </a:r>
            <a:endParaRPr sz="2800"/>
          </a:p>
        </p:txBody>
      </p:sp>
      <p:sp>
        <p:nvSpPr>
          <p:cNvPr id="27" name="object 27"/>
          <p:cNvSpPr/>
          <p:nvPr/>
        </p:nvSpPr>
        <p:spPr>
          <a:xfrm>
            <a:off x="393191" y="1459992"/>
            <a:ext cx="8290559" cy="0"/>
          </a:xfrm>
          <a:custGeom>
            <a:avLst/>
            <a:gdLst/>
            <a:ahLst/>
            <a:cxnLst/>
            <a:rect l="l" t="t" r="r" b="b"/>
            <a:pathLst>
              <a:path w="8290559" h="0">
                <a:moveTo>
                  <a:pt x="0" y="0"/>
                </a:moveTo>
                <a:lnTo>
                  <a:pt x="8290559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115823" y="1499616"/>
          <a:ext cx="8860790" cy="5066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/>
                <a:gridCol w="895985"/>
                <a:gridCol w="2505074"/>
                <a:gridCol w="898525"/>
                <a:gridCol w="895350"/>
                <a:gridCol w="1218565"/>
                <a:gridCol w="1873885"/>
                <a:gridCol w="292100"/>
              </a:tblGrid>
              <a:tr h="402336"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序号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产品名称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单位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单价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销售量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销售收入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53049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244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营业收入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509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……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123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51663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营业税金及附加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51663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增值税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51663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营业税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51663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……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51663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资源税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518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2.3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城市维护建设税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51039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2.4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教育费附加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48055" y="1597152"/>
          <a:ext cx="8248015" cy="4859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0750"/>
                <a:gridCol w="3517900"/>
                <a:gridCol w="1957070"/>
                <a:gridCol w="1835150"/>
              </a:tblGrid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序号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项目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37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投产期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生产期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161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营业收入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row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84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营业税金及附加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3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总成本费用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69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4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利润总额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84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5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所得税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6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税后利润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7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可供分配利润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6907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7.1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盈余公积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6907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7.2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应付利润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7.3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未分配利润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0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累计未分配利润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019803" y="852932"/>
            <a:ext cx="109537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 b="1">
                <a:solidFill>
                  <a:srgbClr val="FFCC00"/>
                </a:solidFill>
                <a:latin typeface="微软雅黑"/>
                <a:cs typeface="微软雅黑"/>
              </a:rPr>
              <a:t>损益表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1604" y="737108"/>
            <a:ext cx="2768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现金流量估算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524" y="1497889"/>
            <a:ext cx="8620760" cy="4986020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3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初始现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流量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包括固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资产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流动资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 marL="356870" marR="5080" indent="-344805">
              <a:lnSpc>
                <a:spcPct val="140000"/>
              </a:lnSpc>
              <a:spcBef>
                <a:spcPts val="2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营业现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流量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这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指项目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入运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生产经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中企</a:t>
            </a:r>
            <a:r>
              <a:rPr dirty="0" sz="2600" spc="-2075">
                <a:solidFill>
                  <a:srgbClr val="FFFFFF"/>
                </a:solidFill>
                <a:latin typeface="宋体"/>
                <a:cs typeface="宋体"/>
              </a:rPr>
              <a:t>业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所增加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预期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量。</a:t>
            </a:r>
            <a:endParaRPr sz="26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98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所得税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营业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年营业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-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税金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附加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-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endParaRPr sz="20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96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所得税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营业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年税前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息支出</a:t>
            </a:r>
            <a:endParaRPr sz="20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96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所得税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营业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所得税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营业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-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年所得税</a:t>
            </a:r>
            <a:endParaRPr sz="20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96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所得税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营业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年税后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息支出</a:t>
            </a:r>
            <a:endParaRPr sz="20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25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期末现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流量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寿命期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最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后一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金流量。</a:t>
            </a:r>
            <a:endParaRPr sz="26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1160"/>
              </a:spcBef>
              <a:buClr>
                <a:srgbClr val="FF3300"/>
              </a:buClr>
              <a:buChar char="•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回收固定资产余值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1150"/>
              </a:spcBef>
              <a:buClr>
                <a:srgbClr val="FF3300"/>
              </a:buClr>
              <a:buChar char="•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回收流动资金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476" y="1404619"/>
            <a:ext cx="371475" cy="5161280"/>
          </a:xfrm>
          <a:prstGeom prst="rect">
            <a:avLst/>
          </a:prstGeom>
        </p:spPr>
        <p:txBody>
          <a:bodyPr wrap="square" lIns="0" tIns="1073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3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2.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2.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2.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3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2.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4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2.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5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3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4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5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6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2940" y="1118108"/>
            <a:ext cx="1534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362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生产期	合计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3867" y="1026667"/>
            <a:ext cx="5252720" cy="552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97280" marR="5080" indent="228600">
              <a:lnSpc>
                <a:spcPct val="133300"/>
              </a:lnSpc>
              <a:spcBef>
                <a:spcPts val="100"/>
              </a:spcBef>
              <a:tabLst>
                <a:tab pos="3566160" algn="l"/>
                <a:tab pos="455358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项目	建设期	投产期 现金流入</a:t>
            </a:r>
            <a:endParaRPr sz="1800">
              <a:latin typeface="宋体"/>
              <a:cs typeface="宋体"/>
            </a:endParaRPr>
          </a:p>
          <a:p>
            <a:pPr algn="ctr" marR="2134870">
              <a:lnSpc>
                <a:spcPct val="100000"/>
              </a:lnSpc>
              <a:spcBef>
                <a:spcPts val="74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营业收入</a:t>
            </a:r>
            <a:endParaRPr sz="1800">
              <a:latin typeface="宋体"/>
              <a:cs typeface="宋体"/>
            </a:endParaRPr>
          </a:p>
          <a:p>
            <a:pPr algn="ctr" marL="640080" marR="2775585">
              <a:lnSpc>
                <a:spcPct val="1333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回收固定资产余值 回收流动资金</a:t>
            </a:r>
            <a:endParaRPr sz="1800">
              <a:latin typeface="宋体"/>
              <a:cs typeface="宋体"/>
            </a:endParaRPr>
          </a:p>
          <a:p>
            <a:pPr marL="868680" marR="3004185" indent="228600">
              <a:lnSpc>
                <a:spcPct val="133300"/>
              </a:lnSpc>
              <a:spcBef>
                <a:spcPts val="2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现金流出 固定资产投资</a:t>
            </a:r>
            <a:endParaRPr sz="1800">
              <a:latin typeface="宋体"/>
              <a:cs typeface="宋体"/>
            </a:endParaRPr>
          </a:p>
          <a:p>
            <a:pPr algn="ctr" marL="1097280" marR="3232785">
              <a:lnSpc>
                <a:spcPts val="2900"/>
              </a:lnSpc>
              <a:spcBef>
                <a:spcPts val="2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流动资金 经营成本</a:t>
            </a:r>
            <a:endParaRPr sz="1800">
              <a:latin typeface="宋体"/>
              <a:cs typeface="宋体"/>
            </a:endParaRPr>
          </a:p>
          <a:p>
            <a:pPr algn="ctr" marL="756285" marR="2887980">
              <a:lnSpc>
                <a:spcPts val="288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营业税金及附加 所得税</a:t>
            </a:r>
            <a:endParaRPr sz="1800">
              <a:latin typeface="宋体"/>
              <a:cs typeface="宋体"/>
            </a:endParaRPr>
          </a:p>
          <a:p>
            <a:pPr algn="ctr" marL="585470" marR="2711450">
              <a:lnSpc>
                <a:spcPts val="2880"/>
              </a:lnSpc>
              <a:spcBef>
                <a:spcPts val="2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净现金流量（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1-2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） 累计净现金流量</a:t>
            </a:r>
            <a:endParaRPr sz="1800">
              <a:latin typeface="宋体"/>
              <a:cs typeface="宋体"/>
            </a:endParaRPr>
          </a:p>
          <a:p>
            <a:pPr algn="ctr" marL="12065" marR="2141220">
              <a:lnSpc>
                <a:spcPts val="288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所得税前净现金流量（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3+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.5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） 所得税前累计净现金流量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5563" y="111810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序号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29916" y="465836"/>
            <a:ext cx="3939540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/>
              <a:t>现金流</a:t>
            </a:r>
            <a:r>
              <a:rPr dirty="0" sz="2800" spc="-20"/>
              <a:t>量</a:t>
            </a:r>
            <a:r>
              <a:rPr dirty="0" sz="2800" spc="5"/>
              <a:t>表（</a:t>
            </a:r>
            <a:r>
              <a:rPr dirty="0" sz="2800" spc="-20"/>
              <a:t>全部</a:t>
            </a:r>
            <a:r>
              <a:rPr dirty="0" sz="2800" spc="5"/>
              <a:t>投资）</a:t>
            </a:r>
            <a:endParaRPr sz="2800"/>
          </a:p>
        </p:txBody>
      </p:sp>
      <p:sp>
        <p:nvSpPr>
          <p:cNvPr id="7" name="object 7"/>
          <p:cNvSpPr/>
          <p:nvPr/>
        </p:nvSpPr>
        <p:spPr>
          <a:xfrm>
            <a:off x="1182623" y="1094232"/>
            <a:ext cx="0" cy="5501640"/>
          </a:xfrm>
          <a:custGeom>
            <a:avLst/>
            <a:gdLst/>
            <a:ahLst/>
            <a:cxnLst/>
            <a:rect l="l" t="t" r="r" b="b"/>
            <a:pathLst>
              <a:path w="0" h="5501640">
                <a:moveTo>
                  <a:pt x="0" y="0"/>
                </a:moveTo>
                <a:lnTo>
                  <a:pt x="0" y="5501639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98135" y="1094232"/>
            <a:ext cx="0" cy="5501640"/>
          </a:xfrm>
          <a:custGeom>
            <a:avLst/>
            <a:gdLst/>
            <a:ahLst/>
            <a:cxnLst/>
            <a:rect l="l" t="t" r="r" b="b"/>
            <a:pathLst>
              <a:path w="0" h="5501640">
                <a:moveTo>
                  <a:pt x="0" y="0"/>
                </a:moveTo>
                <a:lnTo>
                  <a:pt x="0" y="5501639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85688" y="1094232"/>
            <a:ext cx="0" cy="5501640"/>
          </a:xfrm>
          <a:custGeom>
            <a:avLst/>
            <a:gdLst/>
            <a:ahLst/>
            <a:cxnLst/>
            <a:rect l="l" t="t" r="r" b="b"/>
            <a:pathLst>
              <a:path w="0" h="5501640">
                <a:moveTo>
                  <a:pt x="0" y="0"/>
                </a:moveTo>
                <a:lnTo>
                  <a:pt x="0" y="5501639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76288" y="1094232"/>
            <a:ext cx="0" cy="5501640"/>
          </a:xfrm>
          <a:custGeom>
            <a:avLst/>
            <a:gdLst/>
            <a:ahLst/>
            <a:cxnLst/>
            <a:rect l="l" t="t" r="r" b="b"/>
            <a:pathLst>
              <a:path w="0" h="5501640">
                <a:moveTo>
                  <a:pt x="0" y="0"/>
                </a:moveTo>
                <a:lnTo>
                  <a:pt x="0" y="5501639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63840" y="1094232"/>
            <a:ext cx="0" cy="5501640"/>
          </a:xfrm>
          <a:custGeom>
            <a:avLst/>
            <a:gdLst/>
            <a:ahLst/>
            <a:cxnLst/>
            <a:rect l="l" t="t" r="r" b="b"/>
            <a:pathLst>
              <a:path w="0" h="5501640">
                <a:moveTo>
                  <a:pt x="0" y="0"/>
                </a:moveTo>
                <a:lnTo>
                  <a:pt x="0" y="5501639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4151" y="1094232"/>
            <a:ext cx="8290559" cy="0"/>
          </a:xfrm>
          <a:custGeom>
            <a:avLst/>
            <a:gdLst/>
            <a:ahLst/>
            <a:cxnLst/>
            <a:rect l="l" t="t" r="r" b="b"/>
            <a:pathLst>
              <a:path w="8290559" h="0">
                <a:moveTo>
                  <a:pt x="0" y="0"/>
                </a:moveTo>
                <a:lnTo>
                  <a:pt x="8290559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4151" y="1459992"/>
            <a:ext cx="8290559" cy="0"/>
          </a:xfrm>
          <a:custGeom>
            <a:avLst/>
            <a:gdLst/>
            <a:ahLst/>
            <a:cxnLst/>
            <a:rect l="l" t="t" r="r" b="b"/>
            <a:pathLst>
              <a:path w="8290559" h="0">
                <a:moveTo>
                  <a:pt x="0" y="0"/>
                </a:moveTo>
                <a:lnTo>
                  <a:pt x="8290559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4151" y="1094232"/>
            <a:ext cx="0" cy="5501640"/>
          </a:xfrm>
          <a:custGeom>
            <a:avLst/>
            <a:gdLst/>
            <a:ahLst/>
            <a:cxnLst/>
            <a:rect l="l" t="t" r="r" b="b"/>
            <a:pathLst>
              <a:path w="0" h="5501640">
                <a:moveTo>
                  <a:pt x="0" y="0"/>
                </a:moveTo>
                <a:lnTo>
                  <a:pt x="0" y="5501639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744711" y="1094232"/>
            <a:ext cx="0" cy="5501640"/>
          </a:xfrm>
          <a:custGeom>
            <a:avLst/>
            <a:gdLst/>
            <a:ahLst/>
            <a:cxnLst/>
            <a:rect l="l" t="t" r="r" b="b"/>
            <a:pathLst>
              <a:path w="0" h="5501640">
                <a:moveTo>
                  <a:pt x="0" y="0"/>
                </a:moveTo>
                <a:lnTo>
                  <a:pt x="0" y="5501639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4151" y="6595872"/>
            <a:ext cx="8290559" cy="0"/>
          </a:xfrm>
          <a:custGeom>
            <a:avLst/>
            <a:gdLst/>
            <a:ahLst/>
            <a:cxnLst/>
            <a:rect l="l" t="t" r="r" b="b"/>
            <a:pathLst>
              <a:path w="8290559" h="0">
                <a:moveTo>
                  <a:pt x="0" y="0"/>
                </a:moveTo>
                <a:lnTo>
                  <a:pt x="8290559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115823" y="1499616"/>
          <a:ext cx="8860790" cy="5013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"/>
                <a:gridCol w="871855"/>
                <a:gridCol w="2898775"/>
                <a:gridCol w="1185545"/>
                <a:gridCol w="1185545"/>
                <a:gridCol w="1185545"/>
                <a:gridCol w="1024254"/>
                <a:gridCol w="231775"/>
              </a:tblGrid>
              <a:tr h="374904">
                <a:tc rowSpan="1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序号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项目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955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建设期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955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投产期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955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生产期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合计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1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9485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现金流入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8404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营业收入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8557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回收固定资产余值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8557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1.3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回收流动资金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8557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现金流出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8557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自有资金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8557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借款本金偿还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8557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2.3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借款利息支付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8557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2.4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经营成本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8557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2.5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营业税金及附加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8557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2.6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所得税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37780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3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净现金流量</a:t>
                      </a:r>
                      <a:r>
                        <a:rPr dirty="0" sz="18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（1-2）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599435" y="923036"/>
            <a:ext cx="3939540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/>
              <a:t>现金流</a:t>
            </a:r>
            <a:r>
              <a:rPr dirty="0" sz="2800" spc="-20"/>
              <a:t>量</a:t>
            </a:r>
            <a:r>
              <a:rPr dirty="0" sz="2800" spc="5"/>
              <a:t>表（</a:t>
            </a:r>
            <a:r>
              <a:rPr dirty="0" sz="2800" spc="-20"/>
              <a:t>自有</a:t>
            </a:r>
            <a:r>
              <a:rPr dirty="0" sz="2800" spc="5"/>
              <a:t>资金）</a:t>
            </a:r>
            <a:endParaRPr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2779" y="602996"/>
            <a:ext cx="5109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投资项</a:t>
            </a:r>
            <a:r>
              <a:rPr dirty="0" sz="4000" spc="-20"/>
              <a:t>目</a:t>
            </a:r>
            <a:r>
              <a:rPr dirty="0" sz="4000" spc="5"/>
              <a:t>财</a:t>
            </a:r>
            <a:r>
              <a:rPr dirty="0" sz="4000" spc="-20"/>
              <a:t>务</a:t>
            </a:r>
            <a:r>
              <a:rPr dirty="0" sz="4000" spc="5"/>
              <a:t>评价方法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99948" y="1421079"/>
            <a:ext cx="8559800" cy="4168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725170">
              <a:lnSpc>
                <a:spcPct val="155000"/>
              </a:lnSpc>
              <a:spcBef>
                <a:spcPts val="9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根据国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制度体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计算项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直接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发生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的财务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费用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，编制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计算评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指标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察项目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盈利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能力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、清偿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力等财 务状况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据以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判断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宋体"/>
              <a:cs typeface="宋体"/>
            </a:endParaRPr>
          </a:p>
          <a:p>
            <a:pPr marL="1496695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的静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态评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价方法</a:t>
            </a:r>
            <a:endParaRPr sz="2800">
              <a:latin typeface="宋体"/>
              <a:cs typeface="宋体"/>
            </a:endParaRPr>
          </a:p>
          <a:p>
            <a:pPr marL="1496695">
              <a:lnSpc>
                <a:spcPct val="100000"/>
              </a:lnSpc>
              <a:spcBef>
                <a:spcPts val="252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态评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价方法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8604" y="618236"/>
            <a:ext cx="5054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投资项目的静态评价方法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779" y="1372335"/>
            <a:ext cx="8295005" cy="170370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ts val="2740"/>
              </a:lnSpc>
              <a:spcBef>
                <a:spcPts val="63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是指以项目的净收益抵偿全部投资所需要的时间。它是考察 项目在财务上的投资回收能力的主要静态评价指标。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359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投资回收期（以年表示）一般从建设开始年算起。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79" y="3958844"/>
            <a:ext cx="8434705" cy="2671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0370" marR="81280" indent="-344805">
              <a:lnSpc>
                <a:spcPct val="110000"/>
              </a:lnSpc>
              <a:spcBef>
                <a:spcPts val="100"/>
              </a:spcBef>
              <a:buClr>
                <a:srgbClr val="FF6600"/>
              </a:buClr>
              <a:buChar char="•"/>
              <a:tabLst>
                <a:tab pos="4210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投资回收期可根据财务现金流量表（全部投资）中累计净现 金流量计算求得。</a:t>
            </a:r>
            <a:endParaRPr sz="2400">
              <a:latin typeface="宋体"/>
              <a:cs typeface="宋体"/>
            </a:endParaRPr>
          </a:p>
          <a:p>
            <a:pPr marL="420370" indent="-344805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Char char="•"/>
              <a:tabLst>
                <a:tab pos="4210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投资回收期（P</a:t>
            </a:r>
            <a:r>
              <a:rPr dirty="0" baseline="-20833" sz="2400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）=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累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计净现金流量开始出现正值年份数-1+</a:t>
            </a:r>
            <a:endParaRPr sz="2400">
              <a:latin typeface="宋体"/>
              <a:cs typeface="宋体"/>
            </a:endParaRPr>
          </a:p>
          <a:p>
            <a:pPr marL="420370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（上年累计净现金流量的绝对值/当年净现金流量）</a:t>
            </a:r>
            <a:endParaRPr sz="2400">
              <a:latin typeface="宋体"/>
              <a:cs typeface="宋体"/>
            </a:endParaRPr>
          </a:p>
          <a:p>
            <a:pPr marL="420370" marR="181610" indent="-344805">
              <a:lnSpc>
                <a:spcPts val="3860"/>
              </a:lnSpc>
              <a:spcBef>
                <a:spcPts val="175"/>
              </a:spcBef>
              <a:buClr>
                <a:srgbClr val="FF6600"/>
              </a:buClr>
              <a:buChar char="•"/>
              <a:tabLst>
                <a:tab pos="421005" algn="l"/>
                <a:tab pos="828675" algn="l"/>
                <a:tab pos="128587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投资回收期（P</a:t>
            </a:r>
            <a:r>
              <a:rPr dirty="0" baseline="-20833" sz="2400" spc="15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）与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业的基准投资回收期（P</a:t>
            </a:r>
            <a:r>
              <a:rPr dirty="0" baseline="-20833" sz="2400" spc="15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）比较，当  P</a:t>
            </a:r>
            <a:r>
              <a:rPr dirty="0" baseline="-20833" sz="2400">
                <a:solidFill>
                  <a:srgbClr val="FFFFFF"/>
                </a:solidFill>
                <a:latin typeface="宋体"/>
                <a:cs typeface="宋体"/>
              </a:rPr>
              <a:t>t	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≤	</a:t>
            </a:r>
            <a:r>
              <a:rPr dirty="0" sz="2400" spc="5">
                <a:solidFill>
                  <a:srgbClr val="FFFFFF"/>
                </a:solidFill>
                <a:latin typeface="宋体"/>
                <a:cs typeface="宋体"/>
              </a:rPr>
              <a:t>P</a:t>
            </a:r>
            <a:r>
              <a:rPr dirty="0" baseline="-20833" sz="2400" spc="7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时，表明项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投资能在规定的投资期内收回。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97480" y="3139440"/>
            <a:ext cx="3599815" cy="866140"/>
          </a:xfrm>
          <a:custGeom>
            <a:avLst/>
            <a:gdLst/>
            <a:ahLst/>
            <a:cxnLst/>
            <a:rect l="l" t="t" r="r" b="b"/>
            <a:pathLst>
              <a:path w="3599815" h="866139">
                <a:moveTo>
                  <a:pt x="0" y="0"/>
                </a:moveTo>
                <a:lnTo>
                  <a:pt x="0" y="865632"/>
                </a:lnTo>
                <a:lnTo>
                  <a:pt x="3599688" y="865632"/>
                </a:lnTo>
                <a:lnTo>
                  <a:pt x="35996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85439" y="3154172"/>
            <a:ext cx="22542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1350" spc="-5" i="1">
                <a:latin typeface="Times New Roman"/>
                <a:cs typeface="Times New Roman"/>
              </a:rPr>
              <a:t>P</a:t>
            </a:r>
            <a:r>
              <a:rPr dirty="0" sz="1350" spc="-195" i="1">
                <a:latin typeface="Times New Roman"/>
                <a:cs typeface="Times New Roman"/>
              </a:rPr>
              <a:t> </a:t>
            </a:r>
            <a:r>
              <a:rPr dirty="0" baseline="-20467" sz="1425" i="1">
                <a:latin typeface="Times New Roman"/>
                <a:cs typeface="Times New Roman"/>
              </a:rPr>
              <a:t>t</a:t>
            </a:r>
            <a:endParaRPr baseline="-20467" sz="1425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4535" y="3269996"/>
            <a:ext cx="412115" cy="718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4015"/>
              </a:lnSpc>
              <a:spcBef>
                <a:spcPts val="105"/>
              </a:spcBef>
            </a:pPr>
            <a:r>
              <a:rPr dirty="0" sz="3500" spc="95">
                <a:latin typeface="Symbol"/>
                <a:cs typeface="Symbol"/>
              </a:rPr>
              <a:t></a:t>
            </a:r>
            <a:endParaRPr sz="3500">
              <a:latin typeface="Symbol"/>
              <a:cs typeface="Symbol"/>
            </a:endParaRPr>
          </a:p>
          <a:p>
            <a:pPr marL="69850">
              <a:lnSpc>
                <a:spcPts val="1435"/>
              </a:lnSpc>
            </a:pPr>
            <a:r>
              <a:rPr dirty="0" sz="1350" spc="-5" i="1">
                <a:latin typeface="Times New Roman"/>
                <a:cs typeface="Times New Roman"/>
              </a:rPr>
              <a:t>t </a:t>
            </a:r>
            <a:r>
              <a:rPr dirty="0" sz="1350" spc="-5">
                <a:latin typeface="Symbol"/>
                <a:cs typeface="Symbol"/>
              </a:rPr>
              <a:t></a:t>
            </a:r>
            <a:r>
              <a:rPr dirty="0" sz="1350" spc="45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3015" y="3349244"/>
            <a:ext cx="2867025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805180" algn="l"/>
                <a:tab pos="1146810" algn="l"/>
                <a:tab pos="1820545" algn="l"/>
                <a:tab pos="2289810" algn="l"/>
                <a:tab pos="2667635" algn="l"/>
              </a:tabLst>
            </a:pPr>
            <a:r>
              <a:rPr dirty="0" sz="2300" spc="5">
                <a:latin typeface="Times New Roman"/>
                <a:cs typeface="Times New Roman"/>
              </a:rPr>
              <a:t>(</a:t>
            </a:r>
            <a:r>
              <a:rPr dirty="0" sz="2300" spc="-130">
                <a:latin typeface="Times New Roman"/>
                <a:cs typeface="Times New Roman"/>
              </a:rPr>
              <a:t> </a:t>
            </a:r>
            <a:r>
              <a:rPr dirty="0" sz="2300" spc="15" i="1">
                <a:latin typeface="Times New Roman"/>
                <a:cs typeface="Times New Roman"/>
              </a:rPr>
              <a:t>CI	</a:t>
            </a:r>
            <a:r>
              <a:rPr dirty="0" sz="2300" spc="-1025">
                <a:latin typeface="Symbol"/>
                <a:cs typeface="Symbol"/>
              </a:rPr>
              <a:t></a:t>
            </a:r>
            <a:r>
              <a:rPr dirty="0" sz="2300" spc="-1025">
                <a:latin typeface="Times New Roman"/>
                <a:cs typeface="Times New Roman"/>
              </a:rPr>
              <a:t>	</a:t>
            </a:r>
            <a:r>
              <a:rPr dirty="0" sz="2300" spc="20" i="1">
                <a:latin typeface="Times New Roman"/>
                <a:cs typeface="Times New Roman"/>
              </a:rPr>
              <a:t>CO	</a:t>
            </a:r>
            <a:r>
              <a:rPr dirty="0" sz="2300" spc="5">
                <a:latin typeface="Times New Roman"/>
                <a:cs typeface="Times New Roman"/>
              </a:rPr>
              <a:t>)</a:t>
            </a:r>
            <a:r>
              <a:rPr dirty="0" sz="2300" spc="135">
                <a:latin typeface="Times New Roman"/>
                <a:cs typeface="Times New Roman"/>
              </a:rPr>
              <a:t> </a:t>
            </a:r>
            <a:r>
              <a:rPr dirty="0" baseline="-24691" sz="2025" spc="-7" i="1">
                <a:latin typeface="Times New Roman"/>
                <a:cs typeface="Times New Roman"/>
              </a:rPr>
              <a:t>t	</a:t>
            </a:r>
            <a:r>
              <a:rPr dirty="0" sz="2300" spc="15">
                <a:latin typeface="Symbol"/>
                <a:cs typeface="Symbol"/>
              </a:rPr>
              <a:t></a:t>
            </a:r>
            <a:r>
              <a:rPr dirty="0" sz="2300" spc="15">
                <a:latin typeface="Times New Roman"/>
                <a:cs typeface="Times New Roman"/>
              </a:rPr>
              <a:t>	</a:t>
            </a:r>
            <a:r>
              <a:rPr dirty="0" sz="2300" spc="10">
                <a:latin typeface="Times New Roman"/>
                <a:cs typeface="Times New Roman"/>
              </a:rPr>
              <a:t>0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1566164"/>
            <a:ext cx="8371205" cy="39300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90"/>
              </a:spcBef>
              <a:buClr>
                <a:srgbClr val="FF6600"/>
              </a:buClr>
              <a:buFont typeface="Wingdings"/>
              <a:buChar char="►"/>
              <a:tabLst>
                <a:tab pos="356870" algn="l"/>
                <a:tab pos="3575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投资利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endParaRPr sz="2000">
              <a:latin typeface="宋体"/>
              <a:cs typeface="宋体"/>
            </a:endParaRPr>
          </a:p>
          <a:p>
            <a:pPr marL="356870" marR="5080" indent="-344805">
              <a:lnSpc>
                <a:spcPct val="170000"/>
              </a:lnSpc>
              <a:spcBef>
                <a:spcPts val="440"/>
              </a:spcBef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是指项目生产经营期内的年平均利润总额与项目总投资的比率，它是考察项目单 位投资盈利的静态指标。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6600"/>
              </a:buClr>
              <a:buFont typeface=""/>
              <a:buChar char="•"/>
            </a:pPr>
            <a:endParaRPr sz="15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投资利润率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年平均利润总额</a:t>
            </a:r>
            <a:r>
              <a:rPr dirty="0" sz="1800" spc="-15">
                <a:solidFill>
                  <a:srgbClr val="FFFFFF"/>
                </a:solidFill>
                <a:latin typeface="宋体"/>
                <a:cs typeface="宋体"/>
              </a:rPr>
              <a:t>/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项目总投资×100%</a:t>
            </a:r>
            <a:endParaRPr sz="1800">
              <a:latin typeface="宋体"/>
              <a:cs typeface="宋体"/>
            </a:endParaRPr>
          </a:p>
          <a:p>
            <a:pPr marL="356870" marR="5080" indent="-344805">
              <a:lnSpc>
                <a:spcPct val="170000"/>
              </a:lnSpc>
              <a:spcBef>
                <a:spcPts val="434"/>
              </a:spcBef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将投资利润率与行业平均投资利润率对比，以判断项目单位投资盈利能力是否达 到本行业的平均水平。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6870" algn="l"/>
                <a:tab pos="3575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借款偿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endParaRPr sz="20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95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可由资金来源与运用表及国内借款还本付息计算表直接推算。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43660" y="618236"/>
            <a:ext cx="64477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投资</a:t>
            </a:r>
            <a:r>
              <a:rPr dirty="0"/>
              <a:t>项</a:t>
            </a:r>
            <a:r>
              <a:rPr dirty="0" spc="20"/>
              <a:t>目</a:t>
            </a:r>
            <a:r>
              <a:rPr dirty="0"/>
              <a:t>的静</a:t>
            </a:r>
            <a:r>
              <a:rPr dirty="0" spc="20"/>
              <a:t>态评</a:t>
            </a:r>
            <a:r>
              <a:rPr dirty="0"/>
              <a:t>价</a:t>
            </a:r>
            <a:r>
              <a:rPr dirty="0" spc="20"/>
              <a:t>方</a:t>
            </a:r>
            <a:r>
              <a:rPr dirty="0"/>
              <a:t>法（</a:t>
            </a:r>
            <a:r>
              <a:rPr dirty="0" spc="20"/>
              <a:t>续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630428"/>
            <a:ext cx="7849870" cy="2605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1770">
              <a:lnSpc>
                <a:spcPct val="100000"/>
              </a:lnSpc>
              <a:spcBef>
                <a:spcPts val="100"/>
              </a:spcBef>
            </a:pPr>
            <a:r>
              <a:rPr dirty="0" sz="3600" spc="20" b="1">
                <a:solidFill>
                  <a:srgbClr val="FFCC00"/>
                </a:solidFill>
                <a:latin typeface="微软雅黑"/>
                <a:cs typeface="微软雅黑"/>
              </a:rPr>
              <a:t>投资</a:t>
            </a:r>
            <a:r>
              <a:rPr dirty="0" sz="3600" b="1">
                <a:solidFill>
                  <a:srgbClr val="FFCC00"/>
                </a:solidFill>
                <a:latin typeface="微软雅黑"/>
                <a:cs typeface="微软雅黑"/>
              </a:rPr>
              <a:t>项</a:t>
            </a:r>
            <a:r>
              <a:rPr dirty="0" sz="3600" spc="20" b="1">
                <a:solidFill>
                  <a:srgbClr val="FFCC00"/>
                </a:solidFill>
                <a:latin typeface="微软雅黑"/>
                <a:cs typeface="微软雅黑"/>
              </a:rPr>
              <a:t>目</a:t>
            </a:r>
            <a:r>
              <a:rPr dirty="0" sz="3600" b="1">
                <a:solidFill>
                  <a:srgbClr val="FFCC00"/>
                </a:solidFill>
                <a:latin typeface="微软雅黑"/>
                <a:cs typeface="微软雅黑"/>
              </a:rPr>
              <a:t>的动</a:t>
            </a:r>
            <a:r>
              <a:rPr dirty="0" sz="3600" spc="20" b="1">
                <a:solidFill>
                  <a:srgbClr val="FFCC00"/>
                </a:solidFill>
                <a:latin typeface="微软雅黑"/>
                <a:cs typeface="微软雅黑"/>
              </a:rPr>
              <a:t>态评</a:t>
            </a:r>
            <a:r>
              <a:rPr dirty="0" sz="3600" b="1">
                <a:solidFill>
                  <a:srgbClr val="FFCC00"/>
                </a:solidFill>
                <a:latin typeface="微软雅黑"/>
                <a:cs typeface="微软雅黑"/>
              </a:rPr>
              <a:t>价</a:t>
            </a:r>
            <a:r>
              <a:rPr dirty="0" sz="3600" spc="20" b="1">
                <a:solidFill>
                  <a:srgbClr val="FFCC00"/>
                </a:solidFill>
                <a:latin typeface="微软雅黑"/>
                <a:cs typeface="微软雅黑"/>
              </a:rPr>
              <a:t>方</a:t>
            </a:r>
            <a:r>
              <a:rPr dirty="0" sz="3600" b="1">
                <a:solidFill>
                  <a:srgbClr val="FFCC00"/>
                </a:solidFill>
                <a:latin typeface="微软雅黑"/>
                <a:cs typeface="微软雅黑"/>
              </a:rPr>
              <a:t>法</a:t>
            </a:r>
            <a:endParaRPr sz="3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100">
              <a:latin typeface="微软雅黑"/>
              <a:cs typeface="微软雅黑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动态投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回收期</a:t>
            </a:r>
            <a:endParaRPr sz="2800">
              <a:latin typeface="宋体"/>
              <a:cs typeface="宋体"/>
            </a:endParaRPr>
          </a:p>
          <a:p>
            <a:pPr marL="356870" marR="5080" indent="725170">
              <a:lnSpc>
                <a:spcPct val="120000"/>
              </a:lnSpc>
              <a:spcBef>
                <a:spcPts val="69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开始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建设后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现值回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全部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要的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时间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88592" y="3785616"/>
            <a:ext cx="5544820" cy="1442085"/>
          </a:xfrm>
          <a:custGeom>
            <a:avLst/>
            <a:gdLst/>
            <a:ahLst/>
            <a:cxnLst/>
            <a:rect l="l" t="t" r="r" b="b"/>
            <a:pathLst>
              <a:path w="5544820" h="1442085">
                <a:moveTo>
                  <a:pt x="0" y="0"/>
                </a:moveTo>
                <a:lnTo>
                  <a:pt x="0" y="1441704"/>
                </a:lnTo>
                <a:lnTo>
                  <a:pt x="5544312" y="1441704"/>
                </a:lnTo>
                <a:lnTo>
                  <a:pt x="55443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91792" y="3815588"/>
            <a:ext cx="254635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2250" spc="-160" i="1">
                <a:latin typeface="Times New Roman"/>
                <a:cs typeface="Times New Roman"/>
              </a:rPr>
              <a:t>P</a:t>
            </a:r>
            <a:r>
              <a:rPr dirty="0" baseline="-20833" sz="2400" spc="-240" i="1">
                <a:latin typeface="Times New Roman"/>
                <a:cs typeface="Times New Roman"/>
              </a:rPr>
              <a:t>t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1744" y="4010660"/>
            <a:ext cx="541020" cy="1183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6670"/>
              </a:lnSpc>
              <a:spcBef>
                <a:spcPts val="130"/>
              </a:spcBef>
            </a:pPr>
            <a:r>
              <a:rPr dirty="0" sz="5800" spc="175">
                <a:latin typeface="Symbol"/>
                <a:cs typeface="Symbol"/>
              </a:rPr>
              <a:t></a:t>
            </a:r>
            <a:endParaRPr sz="5800">
              <a:latin typeface="Symbol"/>
              <a:cs typeface="Symbol"/>
            </a:endParaRPr>
          </a:p>
          <a:p>
            <a:pPr marL="73025">
              <a:lnSpc>
                <a:spcPts val="2410"/>
              </a:lnSpc>
            </a:pPr>
            <a:r>
              <a:rPr dirty="0" sz="2250" i="1">
                <a:latin typeface="Times New Roman"/>
                <a:cs typeface="Times New Roman"/>
              </a:rPr>
              <a:t>t</a:t>
            </a:r>
            <a:r>
              <a:rPr dirty="0" sz="2250" spc="-315" i="1">
                <a:latin typeface="Times New Roman"/>
                <a:cs typeface="Times New Roman"/>
              </a:rPr>
              <a:t> </a:t>
            </a:r>
            <a:r>
              <a:rPr dirty="0" sz="2250" spc="-45">
                <a:latin typeface="Symbol"/>
                <a:cs typeface="Symbol"/>
              </a:rPr>
              <a:t></a:t>
            </a:r>
            <a:r>
              <a:rPr dirty="0" sz="2250" spc="-45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41135" y="4129532"/>
            <a:ext cx="263525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250" spc="-910">
                <a:latin typeface="Symbol"/>
                <a:cs typeface="Symbol"/>
              </a:rPr>
              <a:t></a:t>
            </a:r>
            <a:r>
              <a:rPr dirty="0" sz="2250" i="1">
                <a:latin typeface="Times New Roman"/>
                <a:cs typeface="Times New Roman"/>
              </a:rPr>
              <a:t>t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27148" y="4144772"/>
            <a:ext cx="4876800" cy="618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4185920" algn="l"/>
              </a:tabLst>
            </a:pPr>
            <a:r>
              <a:rPr dirty="0" sz="3850" spc="15">
                <a:latin typeface="Times New Roman"/>
                <a:cs typeface="Times New Roman"/>
              </a:rPr>
              <a:t>(</a:t>
            </a:r>
            <a:r>
              <a:rPr dirty="0" sz="3850" spc="15" i="1">
                <a:latin typeface="Times New Roman"/>
                <a:cs typeface="Times New Roman"/>
              </a:rPr>
              <a:t>CI</a:t>
            </a:r>
            <a:r>
              <a:rPr dirty="0" sz="3850" spc="409" i="1">
                <a:latin typeface="Times New Roman"/>
                <a:cs typeface="Times New Roman"/>
              </a:rPr>
              <a:t> </a:t>
            </a:r>
            <a:r>
              <a:rPr dirty="0" sz="3850" spc="-1720">
                <a:latin typeface="Symbol"/>
                <a:cs typeface="Symbol"/>
              </a:rPr>
              <a:t></a:t>
            </a:r>
            <a:r>
              <a:rPr dirty="0" sz="3850" spc="-220">
                <a:latin typeface="Times New Roman"/>
                <a:cs typeface="Times New Roman"/>
              </a:rPr>
              <a:t> </a:t>
            </a:r>
            <a:r>
              <a:rPr dirty="0" sz="3850" spc="25" i="1">
                <a:latin typeface="Times New Roman"/>
                <a:cs typeface="Times New Roman"/>
              </a:rPr>
              <a:t>CO</a:t>
            </a:r>
            <a:r>
              <a:rPr dirty="0" sz="3850" spc="-680" i="1">
                <a:latin typeface="Times New Roman"/>
                <a:cs typeface="Times New Roman"/>
              </a:rPr>
              <a:t> </a:t>
            </a:r>
            <a:r>
              <a:rPr dirty="0" sz="3850" spc="10">
                <a:latin typeface="Times New Roman"/>
                <a:cs typeface="Times New Roman"/>
              </a:rPr>
              <a:t>)</a:t>
            </a:r>
            <a:r>
              <a:rPr dirty="0" sz="3850" spc="-670">
                <a:latin typeface="Times New Roman"/>
                <a:cs typeface="Times New Roman"/>
              </a:rPr>
              <a:t> </a:t>
            </a:r>
            <a:r>
              <a:rPr dirty="0" baseline="-23456" sz="3375" i="1">
                <a:latin typeface="Times New Roman"/>
                <a:cs typeface="Times New Roman"/>
              </a:rPr>
              <a:t>t</a:t>
            </a:r>
            <a:r>
              <a:rPr dirty="0" baseline="-23456" sz="3375" spc="262" i="1">
                <a:latin typeface="Times New Roman"/>
                <a:cs typeface="Times New Roman"/>
              </a:rPr>
              <a:t> </a:t>
            </a:r>
            <a:r>
              <a:rPr dirty="0" sz="3850" spc="-130">
                <a:latin typeface="Times New Roman"/>
                <a:cs typeface="Times New Roman"/>
              </a:rPr>
              <a:t>(1</a:t>
            </a:r>
            <a:r>
              <a:rPr dirty="0" sz="3850" spc="-484">
                <a:latin typeface="Times New Roman"/>
                <a:cs typeface="Times New Roman"/>
              </a:rPr>
              <a:t> </a:t>
            </a:r>
            <a:r>
              <a:rPr dirty="0" sz="3850" spc="20">
                <a:latin typeface="Symbol"/>
                <a:cs typeface="Symbol"/>
              </a:rPr>
              <a:t></a:t>
            </a:r>
            <a:r>
              <a:rPr dirty="0" sz="3850" spc="-140">
                <a:latin typeface="Times New Roman"/>
                <a:cs typeface="Times New Roman"/>
              </a:rPr>
              <a:t> </a:t>
            </a:r>
            <a:r>
              <a:rPr dirty="0" sz="3850" spc="50" i="1">
                <a:latin typeface="Times New Roman"/>
                <a:cs typeface="Times New Roman"/>
              </a:rPr>
              <a:t>i</a:t>
            </a:r>
            <a:r>
              <a:rPr dirty="0" baseline="-23456" sz="3375" spc="75" i="1">
                <a:latin typeface="Times New Roman"/>
                <a:cs typeface="Times New Roman"/>
              </a:rPr>
              <a:t>c</a:t>
            </a:r>
            <a:r>
              <a:rPr dirty="0" baseline="-23456" sz="3375" spc="135" i="1">
                <a:latin typeface="Times New Roman"/>
                <a:cs typeface="Times New Roman"/>
              </a:rPr>
              <a:t> </a:t>
            </a:r>
            <a:r>
              <a:rPr dirty="0" sz="3850" spc="10">
                <a:latin typeface="Times New Roman"/>
                <a:cs typeface="Times New Roman"/>
              </a:rPr>
              <a:t>)	</a:t>
            </a:r>
            <a:r>
              <a:rPr dirty="0" sz="3850" spc="20">
                <a:latin typeface="Symbol"/>
                <a:cs typeface="Symbol"/>
              </a:rPr>
              <a:t></a:t>
            </a:r>
            <a:r>
              <a:rPr dirty="0" sz="3850" spc="25">
                <a:latin typeface="Times New Roman"/>
                <a:cs typeface="Times New Roman"/>
              </a:rPr>
              <a:t> </a:t>
            </a:r>
            <a:r>
              <a:rPr dirty="0" sz="3850" spc="15">
                <a:latin typeface="Times New Roman"/>
                <a:cs typeface="Times New Roman"/>
              </a:rPr>
              <a:t>0</a:t>
            </a:r>
            <a:endParaRPr sz="3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524" y="1280072"/>
            <a:ext cx="8599805" cy="2018664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4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净现值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（NPV）</a:t>
            </a:r>
            <a:endParaRPr sz="2800">
              <a:latin typeface="宋体"/>
              <a:cs typeface="宋体"/>
            </a:endParaRPr>
          </a:p>
          <a:p>
            <a:pPr algn="just" marL="356870" marR="5080" indent="569595">
              <a:lnSpc>
                <a:spcPct val="120000"/>
              </a:lnSpc>
              <a:spcBef>
                <a:spcPts val="59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是指按行业的基准收益率或设定的折现率，将项目计算期 内各年净现金流量折现到建设期初的现值之和。它是考察项目 在计算期内盈利能力的动态评价指标。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948" y="4547108"/>
            <a:ext cx="8255000" cy="203453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569595">
              <a:lnSpc>
                <a:spcPct val="109800"/>
              </a:lnSpc>
              <a:spcBef>
                <a:spcPts val="10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净现值可根据财务现金流量表计算求得。净现值大于零，  说明投资项目的投资报酬率除达到基准收益率外还有剩余，即 投资项目的投资报酬率大于基准收益率，项目可行；如果净现 值小于零，说明投资项目的投资报酬率没有达到基准收益率， 即投资项目的投资报酬率小于基准收益率，项目不可行。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8928" y="3425952"/>
            <a:ext cx="6266815" cy="1091565"/>
          </a:xfrm>
          <a:custGeom>
            <a:avLst/>
            <a:gdLst/>
            <a:ahLst/>
            <a:cxnLst/>
            <a:rect l="l" t="t" r="r" b="b"/>
            <a:pathLst>
              <a:path w="6266815" h="1091564">
                <a:moveTo>
                  <a:pt x="0" y="0"/>
                </a:moveTo>
                <a:lnTo>
                  <a:pt x="0" y="1091184"/>
                </a:lnTo>
                <a:lnTo>
                  <a:pt x="6266688" y="1091184"/>
                </a:lnTo>
                <a:lnTo>
                  <a:pt x="62666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06495" y="3440684"/>
            <a:ext cx="12446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50" i="1">
                <a:latin typeface="Times New Roman"/>
                <a:cs typeface="Times New Roman"/>
              </a:rPr>
              <a:t>n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1123" y="3672332"/>
            <a:ext cx="3098165" cy="5486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ts val="2795"/>
              </a:lnSpc>
              <a:spcBef>
                <a:spcPts val="125"/>
              </a:spcBef>
              <a:tabLst>
                <a:tab pos="394335" algn="l"/>
                <a:tab pos="1132205" algn="l"/>
                <a:tab pos="1482725" algn="l"/>
                <a:tab pos="2275205" algn="l"/>
                <a:tab pos="2613025" algn="l"/>
              </a:tabLst>
            </a:pPr>
            <a:r>
              <a:rPr dirty="0" sz="3000" spc="-1345">
                <a:latin typeface="Symbol"/>
                <a:cs typeface="Symbol"/>
              </a:rPr>
              <a:t></a:t>
            </a:r>
            <a:r>
              <a:rPr dirty="0" sz="3000" spc="-1345">
                <a:latin typeface="Times New Roman"/>
                <a:cs typeface="Times New Roman"/>
              </a:rPr>
              <a:t>	</a:t>
            </a:r>
            <a:r>
              <a:rPr dirty="0" sz="3000" spc="15" i="1">
                <a:latin typeface="Times New Roman"/>
                <a:cs typeface="Times New Roman"/>
              </a:rPr>
              <a:t>CO	</a:t>
            </a:r>
            <a:r>
              <a:rPr dirty="0" sz="3000" spc="5">
                <a:latin typeface="Times New Roman"/>
                <a:cs typeface="Times New Roman"/>
              </a:rPr>
              <a:t>)	</a:t>
            </a:r>
            <a:r>
              <a:rPr dirty="0" sz="3000" spc="10">
                <a:latin typeface="Times New Roman"/>
                <a:cs typeface="Times New Roman"/>
              </a:rPr>
              <a:t>(1</a:t>
            </a:r>
            <a:r>
              <a:rPr dirty="0" sz="3000" spc="110">
                <a:latin typeface="Times New Roman"/>
                <a:cs typeface="Times New Roman"/>
              </a:rPr>
              <a:t> </a:t>
            </a:r>
            <a:r>
              <a:rPr dirty="0" sz="3000" spc="10">
                <a:latin typeface="Symbol"/>
                <a:cs typeface="Symbol"/>
              </a:rPr>
              <a:t></a:t>
            </a:r>
            <a:r>
              <a:rPr dirty="0" sz="3000" spc="10">
                <a:latin typeface="Times New Roman"/>
                <a:cs typeface="Times New Roman"/>
              </a:rPr>
              <a:t>	</a:t>
            </a:r>
            <a:r>
              <a:rPr dirty="0" sz="3000" spc="5" i="1">
                <a:latin typeface="Times New Roman"/>
                <a:cs typeface="Times New Roman"/>
              </a:rPr>
              <a:t>i	</a:t>
            </a:r>
            <a:r>
              <a:rPr dirty="0" sz="3000" spc="5">
                <a:latin typeface="Times New Roman"/>
                <a:cs typeface="Times New Roman"/>
              </a:rPr>
              <a:t>)</a:t>
            </a:r>
            <a:r>
              <a:rPr dirty="0" sz="3000" spc="-240">
                <a:latin typeface="Times New Roman"/>
                <a:cs typeface="Times New Roman"/>
              </a:rPr>
              <a:t> </a:t>
            </a:r>
            <a:r>
              <a:rPr dirty="0" baseline="42857" sz="2625" spc="-1185">
                <a:latin typeface="Symbol"/>
                <a:cs typeface="Symbol"/>
              </a:rPr>
              <a:t></a:t>
            </a:r>
            <a:r>
              <a:rPr dirty="0" baseline="42857" sz="2625" spc="-89">
                <a:latin typeface="Times New Roman"/>
                <a:cs typeface="Times New Roman"/>
              </a:rPr>
              <a:t> </a:t>
            </a:r>
            <a:r>
              <a:rPr dirty="0" baseline="42857" sz="2625" i="1">
                <a:latin typeface="Times New Roman"/>
                <a:cs typeface="Times New Roman"/>
              </a:rPr>
              <a:t>t</a:t>
            </a:r>
            <a:endParaRPr baseline="42857" sz="2625">
              <a:latin typeface="Times New Roman"/>
              <a:cs typeface="Times New Roman"/>
            </a:endParaRPr>
          </a:p>
          <a:p>
            <a:pPr marL="1320800">
              <a:lnSpc>
                <a:spcPts val="1295"/>
              </a:lnSpc>
              <a:tabLst>
                <a:tab pos="2412365" algn="l"/>
              </a:tabLst>
            </a:pPr>
            <a:r>
              <a:rPr dirty="0" sz="1750" i="1">
                <a:latin typeface="Times New Roman"/>
                <a:cs typeface="Times New Roman"/>
              </a:rPr>
              <a:t>t	c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7160" y="3407707"/>
            <a:ext cx="2822575" cy="108458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705"/>
              </a:spcBef>
              <a:tabLst>
                <a:tab pos="1198245" algn="l"/>
                <a:tab pos="1600835" algn="l"/>
              </a:tabLst>
            </a:pPr>
            <a:r>
              <a:rPr dirty="0" sz="3000" spc="15" i="1">
                <a:latin typeface="Times New Roman"/>
                <a:cs typeface="Times New Roman"/>
              </a:rPr>
              <a:t>NPV	</a:t>
            </a:r>
            <a:r>
              <a:rPr dirty="0" sz="3000" spc="10">
                <a:latin typeface="Symbol"/>
                <a:cs typeface="Symbol"/>
              </a:rPr>
              <a:t></a:t>
            </a:r>
            <a:r>
              <a:rPr dirty="0" sz="3000" spc="10">
                <a:latin typeface="Times New Roman"/>
                <a:cs typeface="Times New Roman"/>
              </a:rPr>
              <a:t>	</a:t>
            </a:r>
            <a:r>
              <a:rPr dirty="0" baseline="-8641" sz="6750" spc="217">
                <a:latin typeface="Symbol"/>
                <a:cs typeface="Symbol"/>
              </a:rPr>
              <a:t></a:t>
            </a:r>
            <a:r>
              <a:rPr dirty="0" baseline="-8641" sz="6750" spc="217">
                <a:latin typeface="Times New Roman"/>
                <a:cs typeface="Times New Roman"/>
              </a:rPr>
              <a:t> </a:t>
            </a:r>
            <a:r>
              <a:rPr dirty="0" sz="3000" spc="5">
                <a:latin typeface="Times New Roman"/>
                <a:cs typeface="Times New Roman"/>
              </a:rPr>
              <a:t>(</a:t>
            </a:r>
            <a:r>
              <a:rPr dirty="0" sz="3000" spc="-155">
                <a:latin typeface="Times New Roman"/>
                <a:cs typeface="Times New Roman"/>
              </a:rPr>
              <a:t> </a:t>
            </a:r>
            <a:r>
              <a:rPr dirty="0" sz="3000" spc="10" i="1">
                <a:latin typeface="Times New Roman"/>
                <a:cs typeface="Times New Roman"/>
              </a:rPr>
              <a:t>CI</a:t>
            </a:r>
            <a:endParaRPr sz="3000">
              <a:latin typeface="Times New Roman"/>
              <a:cs typeface="Times New Roman"/>
            </a:endParaRPr>
          </a:p>
          <a:p>
            <a:pPr marL="1677035">
              <a:lnSpc>
                <a:spcPct val="100000"/>
              </a:lnSpc>
              <a:spcBef>
                <a:spcPts val="229"/>
              </a:spcBef>
            </a:pPr>
            <a:r>
              <a:rPr dirty="0" sz="1750" i="1">
                <a:latin typeface="Times New Roman"/>
                <a:cs typeface="Times New Roman"/>
              </a:rPr>
              <a:t>t </a:t>
            </a:r>
            <a:r>
              <a:rPr dirty="0" sz="1750">
                <a:latin typeface="Symbol"/>
                <a:cs typeface="Symbol"/>
              </a:rPr>
              <a:t></a:t>
            </a:r>
            <a:r>
              <a:rPr dirty="0" sz="1750" spc="-250">
                <a:latin typeface="Times New Roman"/>
                <a:cs typeface="Times New Roman"/>
              </a:rPr>
              <a:t> </a:t>
            </a:r>
            <a:r>
              <a:rPr dirty="0" sz="175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15644" y="606044"/>
            <a:ext cx="67005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投资</a:t>
            </a:r>
            <a:r>
              <a:rPr dirty="0"/>
              <a:t>项</a:t>
            </a:r>
            <a:r>
              <a:rPr dirty="0" spc="20"/>
              <a:t>目</a:t>
            </a:r>
            <a:r>
              <a:rPr dirty="0"/>
              <a:t>的动</a:t>
            </a:r>
            <a:r>
              <a:rPr dirty="0" spc="20"/>
              <a:t>态评</a:t>
            </a:r>
            <a:r>
              <a:rPr dirty="0"/>
              <a:t>价</a:t>
            </a:r>
            <a:r>
              <a:rPr dirty="0" spc="20"/>
              <a:t>方</a:t>
            </a:r>
            <a:r>
              <a:rPr dirty="0"/>
              <a:t>法（</a:t>
            </a:r>
            <a:r>
              <a:rPr dirty="0" spc="20"/>
              <a:t>续</a:t>
            </a:r>
            <a:r>
              <a:rPr dirty="0" spc="-15">
                <a:latin typeface="Arial"/>
                <a:cs typeface="Arial"/>
              </a:rPr>
              <a:t>1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931" y="1390623"/>
            <a:ext cx="8267700" cy="168592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内部收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（IRR）</a:t>
            </a:r>
            <a:endParaRPr sz="2800">
              <a:latin typeface="宋体"/>
              <a:cs typeface="宋体"/>
            </a:endParaRPr>
          </a:p>
          <a:p>
            <a:pPr marL="356870" marR="5080" indent="584835">
              <a:lnSpc>
                <a:spcPct val="102499"/>
              </a:lnSpc>
              <a:spcBef>
                <a:spcPts val="35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是指项目在整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计算期内各年净现金流量累计等于零时 的折现率，它反映项目所占用资金的盈利率，是考察项目 在计算期内盈利能力的主要动态评价指标。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855" y="4217924"/>
            <a:ext cx="7987030" cy="2290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 marR="170180" indent="56959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IRR可根据现金流量表中的净现金流量，用尝试法计算 求得。</a:t>
            </a:r>
            <a:endParaRPr sz="2400">
              <a:latin typeface="宋体"/>
              <a:cs typeface="宋体"/>
            </a:endParaRPr>
          </a:p>
          <a:p>
            <a:pPr marL="76200" marR="17780" indent="569595">
              <a:lnSpc>
                <a:spcPct val="100000"/>
              </a:lnSpc>
              <a:spcBef>
                <a:spcPts val="550"/>
              </a:spcBef>
              <a:tabLst>
                <a:tab pos="2361565" algn="l"/>
                <a:tab pos="2770505" algn="l"/>
                <a:tab pos="520573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在财务评价中，将求出的全部投资或自有资金（投资者 的实际出资）的内部收益率（IRR）与行业的基准收益率或 设定的折现率（	i</a:t>
            </a:r>
            <a:r>
              <a:rPr dirty="0" baseline="-20833" sz="2400">
                <a:solidFill>
                  <a:srgbClr val="FFFFFF"/>
                </a:solidFill>
                <a:latin typeface="宋体"/>
                <a:cs typeface="宋体"/>
              </a:rPr>
              <a:t>c	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比较，当IRR≥	</a:t>
            </a:r>
            <a:r>
              <a:rPr dirty="0" sz="2400" spc="5">
                <a:solidFill>
                  <a:srgbClr val="FFFFFF"/>
                </a:solidFill>
                <a:latin typeface="宋体"/>
                <a:cs typeface="宋体"/>
              </a:rPr>
              <a:t>i</a:t>
            </a:r>
            <a:r>
              <a:rPr dirty="0" baseline="-20833" sz="2400" spc="7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即认为其盈利 能力已满足最低要求，在财务上是可以考虑接受的。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44624" y="3139440"/>
            <a:ext cx="5145405" cy="1091565"/>
          </a:xfrm>
          <a:custGeom>
            <a:avLst/>
            <a:gdLst/>
            <a:ahLst/>
            <a:cxnLst/>
            <a:rect l="l" t="t" r="r" b="b"/>
            <a:pathLst>
              <a:path w="5145405" h="1091564">
                <a:moveTo>
                  <a:pt x="0" y="0"/>
                </a:moveTo>
                <a:lnTo>
                  <a:pt x="0" y="1091184"/>
                </a:lnTo>
                <a:lnTo>
                  <a:pt x="5145024" y="1091184"/>
                </a:lnTo>
                <a:lnTo>
                  <a:pt x="514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344" y="3373628"/>
            <a:ext cx="7493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50" i="1">
                <a:latin typeface="Times New Roman"/>
                <a:cs typeface="Times New Roman"/>
              </a:rPr>
              <a:t>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5416" y="3154172"/>
            <a:ext cx="12446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50" i="1">
                <a:latin typeface="Times New Roman"/>
                <a:cs typeface="Times New Roman"/>
              </a:rPr>
              <a:t>n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11679" y="3282188"/>
            <a:ext cx="426084" cy="9239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ts val="5165"/>
              </a:lnSpc>
              <a:spcBef>
                <a:spcPts val="135"/>
              </a:spcBef>
            </a:pPr>
            <a:r>
              <a:rPr dirty="0" sz="4500" spc="145">
                <a:latin typeface="Symbol"/>
                <a:cs typeface="Symbol"/>
              </a:rPr>
              <a:t></a:t>
            </a:r>
            <a:endParaRPr sz="4500">
              <a:latin typeface="Symbol"/>
              <a:cs typeface="Symbol"/>
            </a:endParaRPr>
          </a:p>
          <a:p>
            <a:pPr marL="63500">
              <a:lnSpc>
                <a:spcPts val="1864"/>
              </a:lnSpc>
            </a:pPr>
            <a:r>
              <a:rPr dirty="0" sz="1750" i="1">
                <a:latin typeface="Times New Roman"/>
                <a:cs typeface="Times New Roman"/>
              </a:rPr>
              <a:t>t</a:t>
            </a:r>
            <a:r>
              <a:rPr dirty="0" sz="1750" spc="-185" i="1">
                <a:latin typeface="Times New Roman"/>
                <a:cs typeface="Times New Roman"/>
              </a:rPr>
              <a:t> </a:t>
            </a:r>
            <a:r>
              <a:rPr dirty="0" sz="1750" spc="45">
                <a:latin typeface="Symbol"/>
                <a:cs typeface="Symbol"/>
              </a:rPr>
              <a:t></a:t>
            </a:r>
            <a:r>
              <a:rPr dirty="0" sz="1750" spc="45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9600" y="3641852"/>
            <a:ext cx="7493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50" i="1">
                <a:latin typeface="Times New Roman"/>
                <a:cs typeface="Times New Roman"/>
              </a:rPr>
              <a:t>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54223" y="3385820"/>
            <a:ext cx="4423410" cy="4864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734060" algn="l"/>
                <a:tab pos="2008505" algn="l"/>
                <a:tab pos="3870325" algn="l"/>
              </a:tabLst>
            </a:pPr>
            <a:r>
              <a:rPr dirty="0" sz="3000" spc="65">
                <a:latin typeface="Times New Roman"/>
                <a:cs typeface="Times New Roman"/>
              </a:rPr>
              <a:t>(</a:t>
            </a:r>
            <a:r>
              <a:rPr dirty="0" sz="3000" spc="65" i="1">
                <a:latin typeface="Times New Roman"/>
                <a:cs typeface="Times New Roman"/>
              </a:rPr>
              <a:t>CI	</a:t>
            </a:r>
            <a:r>
              <a:rPr dirty="0" sz="3000" spc="-1345">
                <a:latin typeface="Symbol"/>
                <a:cs typeface="Symbol"/>
              </a:rPr>
              <a:t></a:t>
            </a:r>
            <a:r>
              <a:rPr dirty="0" sz="3000" spc="60">
                <a:latin typeface="Times New Roman"/>
                <a:cs typeface="Times New Roman"/>
              </a:rPr>
              <a:t> </a:t>
            </a:r>
            <a:r>
              <a:rPr dirty="0" sz="3000" spc="15" i="1">
                <a:latin typeface="Times New Roman"/>
                <a:cs typeface="Times New Roman"/>
              </a:rPr>
              <a:t>CO</a:t>
            </a:r>
            <a:r>
              <a:rPr dirty="0" sz="3000" spc="190" i="1">
                <a:latin typeface="Times New Roman"/>
                <a:cs typeface="Times New Roman"/>
              </a:rPr>
              <a:t> </a:t>
            </a:r>
            <a:r>
              <a:rPr dirty="0" sz="3000" spc="5">
                <a:latin typeface="Times New Roman"/>
                <a:cs typeface="Times New Roman"/>
              </a:rPr>
              <a:t>)	</a:t>
            </a:r>
            <a:r>
              <a:rPr dirty="0" sz="3000" spc="-40">
                <a:latin typeface="Times New Roman"/>
                <a:cs typeface="Times New Roman"/>
              </a:rPr>
              <a:t>(1 </a:t>
            </a:r>
            <a:r>
              <a:rPr dirty="0" sz="3000" spc="10">
                <a:latin typeface="Symbol"/>
                <a:cs typeface="Symbol"/>
              </a:rPr>
              <a:t></a:t>
            </a:r>
            <a:r>
              <a:rPr dirty="0" sz="3000" spc="195">
                <a:latin typeface="Times New Roman"/>
                <a:cs typeface="Times New Roman"/>
              </a:rPr>
              <a:t> </a:t>
            </a:r>
            <a:r>
              <a:rPr dirty="0" sz="3000" spc="10" i="1">
                <a:latin typeface="Times New Roman"/>
                <a:cs typeface="Times New Roman"/>
              </a:rPr>
              <a:t>IRR</a:t>
            </a:r>
            <a:r>
              <a:rPr dirty="0" sz="3000" spc="240" i="1">
                <a:latin typeface="Times New Roman"/>
                <a:cs typeface="Times New Roman"/>
              </a:rPr>
              <a:t> </a:t>
            </a:r>
            <a:r>
              <a:rPr dirty="0" sz="3000" spc="5">
                <a:latin typeface="Times New Roman"/>
                <a:cs typeface="Times New Roman"/>
              </a:rPr>
              <a:t>)	</a:t>
            </a:r>
            <a:r>
              <a:rPr dirty="0" sz="3000" spc="10">
                <a:latin typeface="Symbol"/>
                <a:cs typeface="Symbol"/>
              </a:rPr>
              <a:t></a:t>
            </a:r>
            <a:r>
              <a:rPr dirty="0" sz="3000" spc="240">
                <a:latin typeface="Times New Roman"/>
                <a:cs typeface="Times New Roman"/>
              </a:rPr>
              <a:t> </a:t>
            </a:r>
            <a:r>
              <a:rPr dirty="0" sz="3000" spc="10">
                <a:latin typeface="Times New Roman"/>
                <a:cs typeface="Times New Roman"/>
              </a:rPr>
              <a:t>0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27836" y="630428"/>
            <a:ext cx="6679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投资</a:t>
            </a:r>
            <a:r>
              <a:rPr dirty="0"/>
              <a:t>项</a:t>
            </a:r>
            <a:r>
              <a:rPr dirty="0" spc="20"/>
              <a:t>目</a:t>
            </a:r>
            <a:r>
              <a:rPr dirty="0"/>
              <a:t>的动</a:t>
            </a:r>
            <a:r>
              <a:rPr dirty="0" spc="20"/>
              <a:t>态评</a:t>
            </a:r>
            <a:r>
              <a:rPr dirty="0"/>
              <a:t>价</a:t>
            </a:r>
            <a:r>
              <a:rPr dirty="0" spc="20"/>
              <a:t>方</a:t>
            </a:r>
            <a:r>
              <a:rPr dirty="0"/>
              <a:t>法（</a:t>
            </a:r>
            <a:r>
              <a:rPr dirty="0" spc="20"/>
              <a:t>续</a:t>
            </a:r>
            <a:r>
              <a:rPr dirty="0" spc="-405"/>
              <a:t>2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0223" y="3468624"/>
            <a:ext cx="7239000" cy="0"/>
          </a:xfrm>
          <a:custGeom>
            <a:avLst/>
            <a:gdLst/>
            <a:ahLst/>
            <a:cxnLst/>
            <a:rect l="l" t="t" r="r" b="b"/>
            <a:pathLst>
              <a:path w="7239000" h="0">
                <a:moveTo>
                  <a:pt x="0" y="0"/>
                </a:moveTo>
                <a:lnTo>
                  <a:pt x="72389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30223" y="3468624"/>
            <a:ext cx="0" cy="899160"/>
          </a:xfrm>
          <a:custGeom>
            <a:avLst/>
            <a:gdLst/>
            <a:ahLst/>
            <a:cxnLst/>
            <a:rect l="l" t="t" r="r" b="b"/>
            <a:pathLst>
              <a:path w="0" h="899160">
                <a:moveTo>
                  <a:pt x="0" y="0"/>
                </a:moveTo>
                <a:lnTo>
                  <a:pt x="0" y="89915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81455" y="4361688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100584" y="0"/>
                </a:moveTo>
                <a:lnTo>
                  <a:pt x="0" y="0"/>
                </a:lnTo>
                <a:lnTo>
                  <a:pt x="51816" y="97536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01823" y="2798064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53055" y="2709672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51816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518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73423" y="2798064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24655" y="2709672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51816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518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97423" y="2798064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48655" y="2709672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51816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518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45223" y="2798064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96456" y="2709672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48768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487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269223" y="2798064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220456" y="2709672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48768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487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035555" y="2130044"/>
            <a:ext cx="787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30000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16300" y="2130044"/>
            <a:ext cx="787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40000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25059" y="2130044"/>
            <a:ext cx="787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40000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66764" y="2130044"/>
            <a:ext cx="787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30000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78571" y="2130044"/>
            <a:ext cx="787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20000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08963" y="359308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61107" y="359308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02811" y="359308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26428" y="359308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14620" y="359308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68131" y="359308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2891" y="4577588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100000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489707" y="630428"/>
            <a:ext cx="41554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投资</a:t>
            </a:r>
            <a:r>
              <a:rPr dirty="0"/>
              <a:t>项</a:t>
            </a:r>
            <a:r>
              <a:rPr dirty="0" spc="20"/>
              <a:t>目</a:t>
            </a:r>
            <a:r>
              <a:rPr dirty="0"/>
              <a:t>的评</a:t>
            </a:r>
            <a:r>
              <a:rPr dirty="0" spc="20"/>
              <a:t>价案</a:t>
            </a:r>
            <a:r>
              <a:rPr dirty="0"/>
              <a:t>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931" y="1294892"/>
            <a:ext cx="6426200" cy="3604260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25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静态投资回收期</a:t>
            </a:r>
            <a:endParaRPr sz="2400">
              <a:latin typeface="宋体"/>
              <a:cs typeface="宋体"/>
            </a:endParaRPr>
          </a:p>
          <a:p>
            <a:pPr marL="774700">
              <a:lnSpc>
                <a:spcPct val="100000"/>
              </a:lnSpc>
              <a:spcBef>
                <a:spcPts val="1155"/>
              </a:spcBef>
              <a:tabLst>
                <a:tab pos="1078865" algn="l"/>
                <a:tab pos="1383665" algn="l"/>
                <a:tab pos="1688464" algn="l"/>
                <a:tab pos="2907665" algn="l"/>
                <a:tab pos="3212465" algn="l"/>
                <a:tab pos="5193665" algn="l"/>
                <a:tab pos="54984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	2	+	(100000	-	70000)/40000	=	2.75年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12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投资利润率</a:t>
            </a:r>
            <a:endParaRPr sz="2400">
              <a:latin typeface="宋体"/>
              <a:cs typeface="宋体"/>
            </a:endParaRPr>
          </a:p>
          <a:p>
            <a:pPr marL="774700">
              <a:lnSpc>
                <a:spcPct val="100000"/>
              </a:lnSpc>
              <a:spcBef>
                <a:spcPts val="1155"/>
              </a:spcBef>
              <a:tabLst>
                <a:tab pos="1078865" algn="l"/>
                <a:tab pos="3060065" algn="l"/>
                <a:tab pos="33648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	14000/100000	=	14%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15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动态投资回收期（折现率=10%）</a:t>
            </a:r>
            <a:endParaRPr sz="2400">
              <a:latin typeface="宋体"/>
              <a:cs typeface="宋体"/>
            </a:endParaRPr>
          </a:p>
          <a:p>
            <a:pPr marL="622300">
              <a:lnSpc>
                <a:spcPct val="100000"/>
              </a:lnSpc>
              <a:spcBef>
                <a:spcPts val="1130"/>
              </a:spcBef>
              <a:tabLst>
                <a:tab pos="926465" algn="l"/>
                <a:tab pos="1231265" algn="l"/>
                <a:tab pos="1536065" algn="l"/>
                <a:tab pos="3212465" algn="l"/>
                <a:tab pos="35172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	3	+	9617/20490	=	3.47年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15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净现值（NPV）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88083" y="630428"/>
            <a:ext cx="57619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投资</a:t>
            </a:r>
            <a:r>
              <a:rPr dirty="0"/>
              <a:t>项</a:t>
            </a:r>
            <a:r>
              <a:rPr dirty="0" spc="20"/>
              <a:t>目</a:t>
            </a:r>
            <a:r>
              <a:rPr dirty="0"/>
              <a:t>的评</a:t>
            </a:r>
            <a:r>
              <a:rPr dirty="0" spc="20"/>
              <a:t>价案</a:t>
            </a:r>
            <a:r>
              <a:rPr dirty="0"/>
              <a:t>例</a:t>
            </a:r>
            <a:r>
              <a:rPr dirty="0" spc="20"/>
              <a:t>（</a:t>
            </a:r>
            <a:r>
              <a:rPr dirty="0" spc="-260"/>
              <a:t>续</a:t>
            </a:r>
            <a:r>
              <a:rPr dirty="0" spc="-145"/>
              <a:t>1</a:t>
            </a:r>
            <a:r>
              <a:rPr dirty="0"/>
              <a:t>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31867" y="5104892"/>
            <a:ext cx="1974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0396" y="5129276"/>
            <a:ext cx="1974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39823" y="5324856"/>
            <a:ext cx="935990" cy="0"/>
          </a:xfrm>
          <a:custGeom>
            <a:avLst/>
            <a:gdLst/>
            <a:ahLst/>
            <a:cxnLst/>
            <a:rect l="l" t="t" r="r" b="b"/>
            <a:pathLst>
              <a:path w="935989" h="0">
                <a:moveTo>
                  <a:pt x="0" y="0"/>
                </a:moveTo>
                <a:lnTo>
                  <a:pt x="935735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50595" y="4842764"/>
            <a:ext cx="2401570" cy="678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0160">
              <a:lnSpc>
                <a:spcPts val="257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30000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70"/>
              </a:lnSpc>
              <a:tabLst>
                <a:tab pos="221615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净现值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=	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5411" y="5418836"/>
            <a:ext cx="907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10%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29983" y="5352288"/>
            <a:ext cx="1511935" cy="0"/>
          </a:xfrm>
          <a:custGeom>
            <a:avLst/>
            <a:gdLst/>
            <a:ahLst/>
            <a:cxnLst/>
            <a:rect l="l" t="t" r="r" b="b"/>
            <a:pathLst>
              <a:path w="1511934" h="0">
                <a:moveTo>
                  <a:pt x="0" y="0"/>
                </a:moveTo>
                <a:lnTo>
                  <a:pt x="1511807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089140" y="4915916"/>
            <a:ext cx="787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30000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16700" y="5443220"/>
            <a:ext cx="1516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%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07171" y="5327396"/>
            <a:ext cx="12763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35223" y="5324856"/>
            <a:ext cx="1511935" cy="0"/>
          </a:xfrm>
          <a:custGeom>
            <a:avLst/>
            <a:gdLst/>
            <a:ahLst/>
            <a:cxnLst/>
            <a:rect l="l" t="t" r="r" b="b"/>
            <a:pathLst>
              <a:path w="1511935" h="0">
                <a:moveTo>
                  <a:pt x="0" y="0"/>
                </a:moveTo>
                <a:lnTo>
                  <a:pt x="1511807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797555" y="5275580"/>
            <a:ext cx="1617980" cy="5073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ts val="1410"/>
              </a:lnSpc>
              <a:spcBef>
                <a:spcPts val="105"/>
              </a:spcBef>
            </a:pP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2370"/>
              </a:lnSpc>
            </a:pP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1+10%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09744" y="5324856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 h="0">
                <a:moveTo>
                  <a:pt x="0" y="0"/>
                </a:moveTo>
                <a:lnTo>
                  <a:pt x="1581911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230372" y="4818380"/>
            <a:ext cx="2661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86585" algn="l"/>
              </a:tabLst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40000	40000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42179" y="5303012"/>
            <a:ext cx="1617980" cy="5073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ts val="1410"/>
              </a:lnSpc>
              <a:spcBef>
                <a:spcPts val="105"/>
              </a:spcBef>
            </a:pP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2370"/>
              </a:lnSpc>
            </a:pP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1+10%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97227" y="5994908"/>
            <a:ext cx="1974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53767" y="6217920"/>
            <a:ext cx="1511935" cy="0"/>
          </a:xfrm>
          <a:custGeom>
            <a:avLst/>
            <a:gdLst/>
            <a:ahLst/>
            <a:cxnLst/>
            <a:rect l="l" t="t" r="r" b="b"/>
            <a:pathLst>
              <a:path w="1511935" h="0">
                <a:moveTo>
                  <a:pt x="0" y="0"/>
                </a:moveTo>
                <a:lnTo>
                  <a:pt x="1511807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166620" y="5778500"/>
            <a:ext cx="787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20000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40483" y="6308852"/>
            <a:ext cx="1516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%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30955" y="6193028"/>
            <a:ext cx="12763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98596" y="5994908"/>
            <a:ext cx="55302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100000</a:t>
            </a:r>
            <a:r>
              <a:rPr dirty="0" sz="2400" spc="-3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=123,260­</a:t>
            </a:r>
            <a:r>
              <a:rPr dirty="0" sz="2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100,000=23,260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（元）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931" y="1369263"/>
            <a:ext cx="6614159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内部收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（IRR）</a:t>
            </a:r>
            <a:endParaRPr sz="2800">
              <a:latin typeface="宋体"/>
              <a:cs typeface="宋体"/>
            </a:endParaRPr>
          </a:p>
          <a:p>
            <a:pPr marL="1091565">
              <a:lnSpc>
                <a:spcPct val="100000"/>
              </a:lnSpc>
              <a:spcBef>
                <a:spcPts val="670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试法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现率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19%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净现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=510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62148" y="2477516"/>
            <a:ext cx="447103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现率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20%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净现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=-1590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88083" y="630428"/>
            <a:ext cx="57619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投资</a:t>
            </a:r>
            <a:r>
              <a:rPr dirty="0"/>
              <a:t>项</a:t>
            </a:r>
            <a:r>
              <a:rPr dirty="0" spc="20"/>
              <a:t>目</a:t>
            </a:r>
            <a:r>
              <a:rPr dirty="0"/>
              <a:t>的评</a:t>
            </a:r>
            <a:r>
              <a:rPr dirty="0" spc="20"/>
              <a:t>价案</a:t>
            </a:r>
            <a:r>
              <a:rPr dirty="0"/>
              <a:t>例</a:t>
            </a:r>
            <a:r>
              <a:rPr dirty="0" spc="20"/>
              <a:t>（</a:t>
            </a:r>
            <a:r>
              <a:rPr dirty="0" spc="-260"/>
              <a:t>续</a:t>
            </a:r>
            <a:r>
              <a:rPr dirty="0" spc="-145"/>
              <a:t>2</a:t>
            </a:r>
            <a:r>
              <a:rPr dirty="0"/>
              <a:t>）</a:t>
            </a:r>
          </a:p>
        </p:txBody>
      </p:sp>
      <p:sp>
        <p:nvSpPr>
          <p:cNvPr id="5" name="object 5"/>
          <p:cNvSpPr/>
          <p:nvPr/>
        </p:nvSpPr>
        <p:spPr>
          <a:xfrm>
            <a:off x="1255775" y="4361688"/>
            <a:ext cx="7223759" cy="0"/>
          </a:xfrm>
          <a:custGeom>
            <a:avLst/>
            <a:gdLst/>
            <a:ahLst/>
            <a:cxnLst/>
            <a:rect l="l" t="t" r="r" b="b"/>
            <a:pathLst>
              <a:path w="7223759" h="0">
                <a:moveTo>
                  <a:pt x="0" y="0"/>
                </a:moveTo>
                <a:lnTo>
                  <a:pt x="722375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473440" y="4312920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5" h="100964">
                <a:moveTo>
                  <a:pt x="0" y="0"/>
                </a:moveTo>
                <a:lnTo>
                  <a:pt x="0" y="100584"/>
                </a:lnTo>
                <a:lnTo>
                  <a:pt x="100584" y="48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55775" y="3185160"/>
            <a:ext cx="6350" cy="3194685"/>
          </a:xfrm>
          <a:custGeom>
            <a:avLst/>
            <a:gdLst/>
            <a:ahLst/>
            <a:cxnLst/>
            <a:rect l="l" t="t" r="r" b="b"/>
            <a:pathLst>
              <a:path w="6350" h="3194685">
                <a:moveTo>
                  <a:pt x="0" y="3194303"/>
                </a:moveTo>
                <a:lnTo>
                  <a:pt x="6095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13104" y="3093720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5" h="100964">
                <a:moveTo>
                  <a:pt x="51816" y="0"/>
                </a:moveTo>
                <a:lnTo>
                  <a:pt x="0" y="100584"/>
                </a:lnTo>
                <a:lnTo>
                  <a:pt x="100584" y="100584"/>
                </a:lnTo>
                <a:lnTo>
                  <a:pt x="518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42287" y="4002024"/>
            <a:ext cx="24765" cy="360045"/>
          </a:xfrm>
          <a:custGeom>
            <a:avLst/>
            <a:gdLst/>
            <a:ahLst/>
            <a:cxnLst/>
            <a:rect l="l" t="t" r="r" b="b"/>
            <a:pathLst>
              <a:path w="24765" h="360045">
                <a:moveTo>
                  <a:pt x="0" y="359663"/>
                </a:moveTo>
                <a:lnTo>
                  <a:pt x="24383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66672" y="4002024"/>
            <a:ext cx="228600" cy="685800"/>
          </a:xfrm>
          <a:custGeom>
            <a:avLst/>
            <a:gdLst/>
            <a:ahLst/>
            <a:cxnLst/>
            <a:rect l="l" t="t" r="r" b="b"/>
            <a:pathLst>
              <a:path w="228600" h="685800">
                <a:moveTo>
                  <a:pt x="0" y="0"/>
                </a:moveTo>
                <a:lnTo>
                  <a:pt x="228599" y="6857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95272" y="4361688"/>
            <a:ext cx="0" cy="304800"/>
          </a:xfrm>
          <a:custGeom>
            <a:avLst/>
            <a:gdLst/>
            <a:ahLst/>
            <a:cxnLst/>
            <a:rect l="l" t="t" r="r" b="b"/>
            <a:pathLst>
              <a:path w="0" h="304800">
                <a:moveTo>
                  <a:pt x="0" y="30479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04872" y="3931920"/>
            <a:ext cx="3175" cy="429895"/>
          </a:xfrm>
          <a:custGeom>
            <a:avLst/>
            <a:gdLst/>
            <a:ahLst/>
            <a:cxnLst/>
            <a:rect l="l" t="t" r="r" b="b"/>
            <a:pathLst>
              <a:path w="3175" h="429895">
                <a:moveTo>
                  <a:pt x="0" y="429767"/>
                </a:moveTo>
                <a:lnTo>
                  <a:pt x="3047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40423" y="4361688"/>
            <a:ext cx="3175" cy="1442085"/>
          </a:xfrm>
          <a:custGeom>
            <a:avLst/>
            <a:gdLst/>
            <a:ahLst/>
            <a:cxnLst/>
            <a:rect l="l" t="t" r="r" b="b"/>
            <a:pathLst>
              <a:path w="3175" h="1442085">
                <a:moveTo>
                  <a:pt x="3047" y="0"/>
                </a:moveTo>
                <a:lnTo>
                  <a:pt x="0" y="1441703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07919" y="3931920"/>
            <a:ext cx="4032885" cy="1871980"/>
          </a:xfrm>
          <a:custGeom>
            <a:avLst/>
            <a:gdLst/>
            <a:ahLst/>
            <a:cxnLst/>
            <a:rect l="l" t="t" r="r" b="b"/>
            <a:pathLst>
              <a:path w="4032885" h="1871979">
                <a:moveTo>
                  <a:pt x="0" y="0"/>
                </a:moveTo>
                <a:lnTo>
                  <a:pt x="4032503" y="1871471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480819" y="452882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0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26995" y="4455668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19%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29603" y="3879596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20%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59500" y="5897372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1590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44459" y="4550156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折现率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4747" y="2678684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净现值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03067" y="5772404"/>
            <a:ext cx="305054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内部收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=19.24%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26995" y="3449828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510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092" y="676148"/>
            <a:ext cx="563118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投</a:t>
            </a:r>
            <a:r>
              <a:rPr dirty="0" sz="4000" spc="25"/>
              <a:t>资</a:t>
            </a:r>
            <a:r>
              <a:rPr dirty="0" sz="4000" spc="5"/>
              <a:t>项目的不确</a:t>
            </a:r>
            <a:r>
              <a:rPr dirty="0" sz="4000" spc="25"/>
              <a:t>定</a:t>
            </a:r>
            <a:r>
              <a:rPr dirty="0" sz="4000" spc="5"/>
              <a:t>性分析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43204" y="1363167"/>
            <a:ext cx="7880350" cy="474726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just" marL="12700" marR="5080" indent="740410">
              <a:lnSpc>
                <a:spcPct val="152100"/>
              </a:lnSpc>
              <a:spcBef>
                <a:spcPts val="26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评价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采用的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据，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大部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分来自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测和估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算，有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度的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不确定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了分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析不确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性因 素对经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评价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指标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的影响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需进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确定性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析，  以估计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能承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担的风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目在经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上的 可靠性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我国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不确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定性分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主要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包括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496695">
              <a:lnSpc>
                <a:spcPct val="100000"/>
              </a:lnSpc>
              <a:spcBef>
                <a:spcPts val="235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敏感性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endParaRPr sz="2800">
              <a:latin typeface="宋体"/>
              <a:cs typeface="宋体"/>
            </a:endParaRPr>
          </a:p>
          <a:p>
            <a:pPr marL="1496695">
              <a:lnSpc>
                <a:spcPct val="100000"/>
              </a:lnSpc>
              <a:spcBef>
                <a:spcPts val="237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盈亏平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7155" y="630428"/>
            <a:ext cx="23209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敏感</a:t>
            </a:r>
            <a:r>
              <a:rPr dirty="0"/>
              <a:t>性</a:t>
            </a:r>
            <a:r>
              <a:rPr dirty="0" spc="20"/>
              <a:t>分</a:t>
            </a:r>
            <a:r>
              <a:rPr dirty="0"/>
              <a:t>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0116" y="1508252"/>
            <a:ext cx="8559800" cy="5320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69595">
              <a:lnSpc>
                <a:spcPct val="129800"/>
              </a:lnSpc>
              <a:spcBef>
                <a:spcPts val="10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敏感性分析是通过分析、预测项目主要因素发生变化时对 经济评价指标的影响，从中找出敏感因素，以确定其影响程度。 在项目计算期内可能发生变化的因素有产品产量（生产负荷）、 产品价格、产品成本或主要原材料与动力价格、固定资产投资 等。</a:t>
            </a:r>
            <a:endParaRPr sz="2400">
              <a:latin typeface="宋体"/>
              <a:cs typeface="宋体"/>
            </a:endParaRPr>
          </a:p>
          <a:p>
            <a:pPr marL="12700" marR="158115" indent="569595">
              <a:lnSpc>
                <a:spcPct val="129800"/>
              </a:lnSpc>
              <a:spcBef>
                <a:spcPts val="555"/>
              </a:spcBef>
              <a:tabLst>
                <a:tab pos="3060065" algn="l"/>
                <a:tab pos="4279265" algn="l"/>
                <a:tab pos="4736465" algn="l"/>
                <a:tab pos="56508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敏感性分析通常是分析这些因素单独变化对净现值、内含 报酬率的影响</a:t>
            </a:r>
            <a:r>
              <a:rPr dirty="0" sz="2400" spc="2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从而找出影响决策的不利因素，并及早采取措 施予以纠正。项目对某种因素的敏感程度可以表示为该因素按 一定比例（如±10%、	±15%、	±	20%）	变化时引起评价指标 变动的幅度。也可以表示为评价指标达到临界点时允许某个因 素变化的最大幅度。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8555" y="667004"/>
            <a:ext cx="2778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盈亏</a:t>
            </a:r>
            <a:r>
              <a:rPr dirty="0"/>
              <a:t>平</a:t>
            </a:r>
            <a:r>
              <a:rPr dirty="0" spc="20"/>
              <a:t>衡</a:t>
            </a:r>
            <a:r>
              <a:rPr dirty="0"/>
              <a:t>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80819" y="5961380"/>
            <a:ext cx="2768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盈亏平衡点销售量＝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1435100"/>
            <a:ext cx="7990205" cy="4655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6870" marR="5080" indent="569595">
              <a:lnSpc>
                <a:spcPct val="13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固定成本是指总额在一定时期和一定业务量范围内不 受业务量增减变动影响而固定不变的成本，如固定资产折 旧、租金、管理费等。</a:t>
            </a:r>
            <a:endParaRPr sz="2400">
              <a:latin typeface="宋体"/>
              <a:cs typeface="宋体"/>
            </a:endParaRPr>
          </a:p>
          <a:p>
            <a:pPr marL="356870" marR="44450" indent="569595">
              <a:lnSpc>
                <a:spcPct val="129200"/>
              </a:lnSpc>
              <a:spcBef>
                <a:spcPts val="6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变动成本是指总额随业务量变动而成正比例变动的成 本，如直接材料、直接人工等。</a:t>
            </a:r>
            <a:endParaRPr sz="2400">
              <a:latin typeface="宋体"/>
              <a:cs typeface="宋体"/>
            </a:endParaRPr>
          </a:p>
          <a:p>
            <a:pPr marL="357505" marR="614680" indent="-357505">
              <a:lnSpc>
                <a:spcPct val="145000"/>
              </a:lnSpc>
              <a:spcBef>
                <a:spcPts val="140"/>
              </a:spcBef>
              <a:buClr>
                <a:srgbClr val="FF6600"/>
              </a:buClr>
              <a:buChar char="•"/>
              <a:tabLst>
                <a:tab pos="357505" algn="l"/>
                <a:tab pos="151193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本量利关系：是指成本、业务量和利润之间的关系。 利润	=（单价－单位变动成本</a:t>
            </a:r>
            <a:r>
              <a:rPr dirty="0" sz="2400" spc="6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400" spc="65">
                <a:solidFill>
                  <a:srgbClr val="FFFFFF"/>
                </a:solidFill>
                <a:latin typeface="Symbol"/>
                <a:cs typeface="Symbol"/>
              </a:rPr>
              <a:t>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销量－固定成本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56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盈亏平衡分析：在何种业务量下企业将不亏不盈。</a:t>
            </a:r>
            <a:endParaRPr sz="2400">
              <a:latin typeface="宋体"/>
              <a:cs typeface="宋体"/>
            </a:endParaRPr>
          </a:p>
          <a:p>
            <a:pPr marL="4855845">
              <a:lnSpc>
                <a:spcPct val="100000"/>
              </a:lnSpc>
              <a:spcBef>
                <a:spcPts val="137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固定成本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79391" y="6160008"/>
            <a:ext cx="3599815" cy="0"/>
          </a:xfrm>
          <a:custGeom>
            <a:avLst/>
            <a:gdLst/>
            <a:ahLst/>
            <a:cxnLst/>
            <a:rect l="l" t="t" r="r" b="b"/>
            <a:pathLst>
              <a:path w="3599815" h="0">
                <a:moveTo>
                  <a:pt x="0" y="0"/>
                </a:moveTo>
                <a:lnTo>
                  <a:pt x="3599687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720844" y="6183884"/>
            <a:ext cx="2921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单价</a:t>
            </a:r>
            <a:r>
              <a:rPr dirty="0" sz="2400" spc="-65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400" spc="-64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单位变动成本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7175" y="4824984"/>
            <a:ext cx="6644640" cy="0"/>
          </a:xfrm>
          <a:custGeom>
            <a:avLst/>
            <a:gdLst/>
            <a:ahLst/>
            <a:cxnLst/>
            <a:rect l="l" t="t" r="r" b="b"/>
            <a:pathLst>
              <a:path w="6644640" h="0">
                <a:moveTo>
                  <a:pt x="0" y="0"/>
                </a:moveTo>
                <a:lnTo>
                  <a:pt x="664463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65720" y="4776216"/>
            <a:ext cx="97790" cy="100965"/>
          </a:xfrm>
          <a:custGeom>
            <a:avLst/>
            <a:gdLst/>
            <a:ahLst/>
            <a:cxnLst/>
            <a:rect l="l" t="t" r="r" b="b"/>
            <a:pathLst>
              <a:path w="97790" h="100964">
                <a:moveTo>
                  <a:pt x="0" y="0"/>
                </a:moveTo>
                <a:lnTo>
                  <a:pt x="0" y="100584"/>
                </a:lnTo>
                <a:lnTo>
                  <a:pt x="97536" y="48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7175" y="1362456"/>
            <a:ext cx="0" cy="4871085"/>
          </a:xfrm>
          <a:custGeom>
            <a:avLst/>
            <a:gdLst/>
            <a:ahLst/>
            <a:cxnLst/>
            <a:rect l="l" t="t" r="r" b="b"/>
            <a:pathLst>
              <a:path w="0" h="4871085">
                <a:moveTo>
                  <a:pt x="0" y="4870703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8408" y="1271016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5" h="100965">
                <a:moveTo>
                  <a:pt x="48768" y="0"/>
                </a:moveTo>
                <a:lnTo>
                  <a:pt x="0" y="100584"/>
                </a:lnTo>
                <a:lnTo>
                  <a:pt x="100584" y="100584"/>
                </a:lnTo>
                <a:lnTo>
                  <a:pt x="487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7175" y="3642360"/>
            <a:ext cx="5553710" cy="0"/>
          </a:xfrm>
          <a:custGeom>
            <a:avLst/>
            <a:gdLst/>
            <a:ahLst/>
            <a:cxnLst/>
            <a:rect l="l" t="t" r="r" b="b"/>
            <a:pathLst>
              <a:path w="5553709" h="0">
                <a:moveTo>
                  <a:pt x="0" y="0"/>
                </a:moveTo>
                <a:lnTo>
                  <a:pt x="5553455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7175" y="1197864"/>
            <a:ext cx="4441190" cy="3627120"/>
          </a:xfrm>
          <a:custGeom>
            <a:avLst/>
            <a:gdLst/>
            <a:ahLst/>
            <a:cxnLst/>
            <a:rect l="l" t="t" r="r" b="b"/>
            <a:pathLst>
              <a:path w="4441190" h="3627120">
                <a:moveTo>
                  <a:pt x="0" y="3627119"/>
                </a:moveTo>
                <a:lnTo>
                  <a:pt x="4440935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27175" y="1938528"/>
            <a:ext cx="5331460" cy="1704339"/>
          </a:xfrm>
          <a:custGeom>
            <a:avLst/>
            <a:gdLst/>
            <a:ahLst/>
            <a:cxnLst/>
            <a:rect l="l" t="t" r="r" b="b"/>
            <a:pathLst>
              <a:path w="5331460" h="1704339">
                <a:moveTo>
                  <a:pt x="0" y="1703831"/>
                </a:moveTo>
                <a:lnTo>
                  <a:pt x="5330951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95471" y="2901696"/>
            <a:ext cx="0" cy="1923414"/>
          </a:xfrm>
          <a:custGeom>
            <a:avLst/>
            <a:gdLst/>
            <a:ahLst/>
            <a:cxnLst/>
            <a:rect l="l" t="t" r="r" b="b"/>
            <a:pathLst>
              <a:path w="0" h="1923414">
                <a:moveTo>
                  <a:pt x="0" y="0"/>
                </a:moveTo>
                <a:lnTo>
                  <a:pt x="0" y="1923287"/>
                </a:lnTo>
              </a:path>
            </a:pathLst>
          </a:custGeom>
          <a:ln w="9143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03647" y="1789176"/>
            <a:ext cx="0" cy="3112135"/>
          </a:xfrm>
          <a:custGeom>
            <a:avLst/>
            <a:gdLst/>
            <a:ahLst/>
            <a:cxnLst/>
            <a:rect l="l" t="t" r="r" b="b"/>
            <a:pathLst>
              <a:path w="0" h="3112135">
                <a:moveTo>
                  <a:pt x="0" y="0"/>
                </a:moveTo>
                <a:lnTo>
                  <a:pt x="0" y="3112007"/>
                </a:lnTo>
              </a:path>
            </a:pathLst>
          </a:custGeom>
          <a:ln w="9143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18691" y="499211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8588" y="1157732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成本或收入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88940" y="1020572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销售收入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97244" y="1715516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总成本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07556" y="3401060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固定成本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50100" y="4940300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销售量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49955" y="4940300"/>
            <a:ext cx="2360295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 marR="5080" indent="139700">
              <a:lnSpc>
                <a:spcPts val="2740"/>
              </a:lnSpc>
              <a:spcBef>
                <a:spcPts val="305"/>
              </a:spcBef>
              <a:tabLst>
                <a:tab pos="1432560" algn="l"/>
                <a:tab pos="15697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盈亏		正常 平衡点	销售量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9707" y="670052"/>
            <a:ext cx="41554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盈亏</a:t>
            </a:r>
            <a:r>
              <a:rPr dirty="0"/>
              <a:t>平</a:t>
            </a:r>
            <a:r>
              <a:rPr dirty="0" spc="20"/>
              <a:t>衡</a:t>
            </a:r>
            <a:r>
              <a:rPr dirty="0"/>
              <a:t>分析</a:t>
            </a:r>
            <a:r>
              <a:rPr dirty="0" spc="20"/>
              <a:t>（续</a:t>
            </a:r>
            <a:r>
              <a:rPr dirty="0"/>
              <a:t>）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16863" y="3919728"/>
          <a:ext cx="7580630" cy="1313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1745"/>
                <a:gridCol w="1258570"/>
                <a:gridCol w="1261744"/>
                <a:gridCol w="1261745"/>
                <a:gridCol w="1258570"/>
                <a:gridCol w="1258570"/>
              </a:tblGrid>
              <a:tr h="701039">
                <a:tc>
                  <a:txBody>
                    <a:bodyPr/>
                    <a:lstStyle/>
                    <a:p>
                      <a:pPr marL="466090" marR="120014" indent="-344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安全边际 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率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dirty="0" sz="20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40%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以上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87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30%-40%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057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20%-30%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057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10%-20%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057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dirty="0" sz="20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10%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以下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87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00455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安全等级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很安全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安全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较安全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值得注意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危险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45083" y="2888996"/>
            <a:ext cx="170497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安全边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际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200" spc="-7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6870" marR="5080" indent="-344805">
              <a:lnSpc>
                <a:spcPct val="130000"/>
              </a:lnSpc>
              <a:spcBef>
                <a:spcPts val="10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pc="70"/>
              <a:t>经营安</a:t>
            </a:r>
            <a:r>
              <a:rPr dirty="0" spc="45"/>
              <a:t>全性分析：是</a:t>
            </a:r>
            <a:r>
              <a:rPr dirty="0" spc="20"/>
              <a:t>指</a:t>
            </a:r>
            <a:r>
              <a:rPr dirty="0" spc="45"/>
              <a:t>企业经营安全的程度</a:t>
            </a:r>
            <a:r>
              <a:rPr dirty="0" spc="70"/>
              <a:t>，</a:t>
            </a:r>
            <a:r>
              <a:rPr dirty="0" spc="45"/>
              <a:t>用安全</a:t>
            </a:r>
            <a:r>
              <a:rPr dirty="0"/>
              <a:t>边 际率反映。</a:t>
            </a:r>
          </a:p>
          <a:p>
            <a:pPr marL="1813560">
              <a:lnSpc>
                <a:spcPct val="100000"/>
              </a:lnSpc>
              <a:spcBef>
                <a:spcPts val="560"/>
              </a:spcBef>
            </a:pPr>
            <a:r>
              <a:rPr dirty="0" sz="2200" spc="5"/>
              <a:t>正常销</a:t>
            </a:r>
            <a:r>
              <a:rPr dirty="0" sz="2200" spc="-20"/>
              <a:t>售</a:t>
            </a:r>
            <a:r>
              <a:rPr dirty="0" sz="2200" spc="5"/>
              <a:t>量（</a:t>
            </a:r>
            <a:r>
              <a:rPr dirty="0" sz="2200" spc="-20"/>
              <a:t>额</a:t>
            </a:r>
            <a:r>
              <a:rPr dirty="0" sz="2200" spc="5"/>
              <a:t>）—</a:t>
            </a:r>
            <a:r>
              <a:rPr dirty="0" sz="2200" spc="-20"/>
              <a:t>盈亏</a:t>
            </a:r>
            <a:r>
              <a:rPr dirty="0" sz="2200" spc="5"/>
              <a:t>平衡点</a:t>
            </a:r>
            <a:r>
              <a:rPr dirty="0" sz="2200" spc="-20"/>
              <a:t>销</a:t>
            </a:r>
            <a:r>
              <a:rPr dirty="0" sz="2200" spc="5"/>
              <a:t>售量</a:t>
            </a:r>
            <a:r>
              <a:rPr dirty="0" sz="2200" spc="-20"/>
              <a:t>（</a:t>
            </a:r>
            <a:r>
              <a:rPr dirty="0" sz="2200" spc="5"/>
              <a:t>额）</a:t>
            </a:r>
            <a:endParaRPr sz="2200"/>
          </a:p>
        </p:txBody>
      </p:sp>
      <p:sp>
        <p:nvSpPr>
          <p:cNvPr id="6" name="object 6"/>
          <p:cNvSpPr txBox="1"/>
          <p:nvPr/>
        </p:nvSpPr>
        <p:spPr>
          <a:xfrm>
            <a:off x="3669284" y="3172460"/>
            <a:ext cx="226314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正常销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量（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4019" y="2873756"/>
            <a:ext cx="74168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135">
                <a:solidFill>
                  <a:srgbClr val="FFFFFF"/>
                </a:solidFill>
                <a:latin typeface="Symbol"/>
                <a:cs typeface="Symbol"/>
              </a:rPr>
              <a:t>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100%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64663" y="3063240"/>
            <a:ext cx="5690870" cy="0"/>
          </a:xfrm>
          <a:custGeom>
            <a:avLst/>
            <a:gdLst/>
            <a:ahLst/>
            <a:cxnLst/>
            <a:rect l="l" t="t" r="r" b="b"/>
            <a:pathLst>
              <a:path w="5690870" h="0">
                <a:moveTo>
                  <a:pt x="0" y="0"/>
                </a:moveTo>
                <a:lnTo>
                  <a:pt x="5690615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372" y="1806956"/>
            <a:ext cx="7651750" cy="897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21995">
              <a:lnSpc>
                <a:spcPct val="119200"/>
              </a:lnSpc>
              <a:spcBef>
                <a:spcPts val="100"/>
              </a:spcBef>
            </a:pP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例如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某企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年固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,0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每件售价10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0 元，每件变动成本60元，则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948" y="3337052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6600"/>
                </a:solidFill>
                <a:latin typeface="宋体"/>
                <a:cs typeface="宋体"/>
              </a:rPr>
              <a:t>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3867" y="3404108"/>
            <a:ext cx="2635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盈亏平衡点销售量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2996" y="3163316"/>
            <a:ext cx="1016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200,000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948" y="3690620"/>
            <a:ext cx="7724775" cy="2506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89598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100—60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当销售量为10,000件时，</a:t>
            </a:r>
            <a:endParaRPr sz="2400">
              <a:latin typeface="宋体"/>
              <a:cs typeface="宋体"/>
            </a:endParaRPr>
          </a:p>
          <a:p>
            <a:pPr marL="152400">
              <a:lnSpc>
                <a:spcPct val="100000"/>
              </a:lnSpc>
              <a:spcBef>
                <a:spcPts val="944"/>
              </a:spcBef>
              <a:tabLst>
                <a:tab pos="3380104" algn="l"/>
                <a:tab pos="74314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（100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60）</a:t>
            </a:r>
            <a:r>
              <a:rPr dirty="0" sz="2200" spc="-4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125">
                <a:solidFill>
                  <a:srgbClr val="FFFFFF"/>
                </a:solidFill>
                <a:latin typeface="Symbol"/>
                <a:cs typeface="Symbol"/>
              </a:rPr>
              <a:t></a:t>
            </a:r>
            <a:r>
              <a:rPr dirty="0" sz="2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10,0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00,000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200,000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endParaRPr sz="2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  <a:tab pos="2033270" algn="l"/>
                <a:tab pos="2338070" algn="l"/>
                <a:tab pos="3404870" algn="l"/>
                <a:tab pos="3862070" algn="l"/>
                <a:tab pos="5690870" algn="l"/>
                <a:tab pos="599567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安全边际率	=	（8000	－	5000）/8000	=	37.5%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2676" y="3404108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-69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5,000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12335" y="3596640"/>
            <a:ext cx="1442085" cy="0"/>
          </a:xfrm>
          <a:custGeom>
            <a:avLst/>
            <a:gdLst/>
            <a:ahLst/>
            <a:cxnLst/>
            <a:rect l="l" t="t" r="r" b="b"/>
            <a:pathLst>
              <a:path w="1442085" h="0">
                <a:moveTo>
                  <a:pt x="0" y="0"/>
                </a:moveTo>
                <a:lnTo>
                  <a:pt x="1441703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18307" y="670052"/>
            <a:ext cx="36957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盈亏</a:t>
            </a:r>
            <a:r>
              <a:rPr dirty="0"/>
              <a:t>平</a:t>
            </a:r>
            <a:r>
              <a:rPr dirty="0" spc="20"/>
              <a:t>衡</a:t>
            </a:r>
            <a:r>
              <a:rPr dirty="0"/>
              <a:t>分析</a:t>
            </a:r>
            <a:r>
              <a:rPr dirty="0" spc="20"/>
              <a:t>案</a:t>
            </a:r>
            <a:r>
              <a:rPr dirty="0"/>
              <a:t>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2023-10-22T13:36:53Z</dcterms:created>
  <dcterms:modified xsi:type="dcterms:W3CDTF">2023-10-22T13:36:53Z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