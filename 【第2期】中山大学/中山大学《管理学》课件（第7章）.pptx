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317" r:id="rId2"/>
    <p:sldId id="257" r:id="rId3"/>
    <p:sldId id="318" r:id="rId4"/>
    <p:sldId id="319" r:id="rId5"/>
    <p:sldId id="316" r:id="rId6"/>
    <p:sldId id="320" r:id="rId7"/>
    <p:sldId id="321" r:id="rId8"/>
    <p:sldId id="328" r:id="rId9"/>
    <p:sldId id="333" r:id="rId10"/>
    <p:sldId id="329" r:id="rId11"/>
    <p:sldId id="330" r:id="rId12"/>
    <p:sldId id="322" r:id="rId13"/>
    <p:sldId id="332" r:id="rId14"/>
    <p:sldId id="331" r:id="rId15"/>
    <p:sldId id="323" r:id="rId16"/>
    <p:sldId id="325" r:id="rId17"/>
    <p:sldId id="326" r:id="rId18"/>
    <p:sldId id="327" r:id="rId19"/>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9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53589040-056A-2879-1623-15DA079A252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75779" name="Rectangle 3">
            <a:extLst>
              <a:ext uri="{FF2B5EF4-FFF2-40B4-BE49-F238E27FC236}">
                <a16:creationId xmlns:a16="http://schemas.microsoft.com/office/drawing/2014/main" id="{3453F3C2-E25E-E38F-2B2A-58C035DBE90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75780" name="Rectangle 4">
            <a:extLst>
              <a:ext uri="{FF2B5EF4-FFF2-40B4-BE49-F238E27FC236}">
                <a16:creationId xmlns:a16="http://schemas.microsoft.com/office/drawing/2014/main" id="{79C05070-2ACC-6353-5CE8-30A6CE786DCC}"/>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a:extLst>
              <a:ext uri="{FF2B5EF4-FFF2-40B4-BE49-F238E27FC236}">
                <a16:creationId xmlns:a16="http://schemas.microsoft.com/office/drawing/2014/main" id="{7E0B0285-EB90-4951-97F0-6125446DE955}"/>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5782" name="Rectangle 6">
            <a:extLst>
              <a:ext uri="{FF2B5EF4-FFF2-40B4-BE49-F238E27FC236}">
                <a16:creationId xmlns:a16="http://schemas.microsoft.com/office/drawing/2014/main" id="{8E13C0FA-2A85-9B6E-853C-B10FB09CCB9A}"/>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75783" name="Rectangle 7">
            <a:extLst>
              <a:ext uri="{FF2B5EF4-FFF2-40B4-BE49-F238E27FC236}">
                <a16:creationId xmlns:a16="http://schemas.microsoft.com/office/drawing/2014/main" id="{B74D59A9-8AE8-6D8F-8F47-0C3A5ACEE085}"/>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93B5DB8-15BE-4B28-903C-946B77E6C11F}"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3868B-9666-39C2-4D1C-0E6B463C9E56}"/>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777F6AA-D998-7531-5DB6-E1358D15DFD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3B15C10-1973-1A7B-6BD7-A03C0422057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A6B3F977-CA99-6087-26E1-68ABEC86F7F9}"/>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133948AB-3910-B7BC-4D0D-40692459B576}"/>
              </a:ext>
            </a:extLst>
          </p:cNvPr>
          <p:cNvSpPr>
            <a:spLocks noGrp="1"/>
          </p:cNvSpPr>
          <p:nvPr>
            <p:ph type="sldNum" sz="quarter" idx="12"/>
          </p:nvPr>
        </p:nvSpPr>
        <p:spPr/>
        <p:txBody>
          <a:bodyPr/>
          <a:lstStyle>
            <a:lvl1pPr>
              <a:defRPr/>
            </a:lvl1pPr>
          </a:lstStyle>
          <a:p>
            <a:fld id="{1173DBE4-E607-4C44-85BD-5C7DF01134E3}" type="slidenum">
              <a:rPr lang="en-US" altLang="zh-CN"/>
              <a:pPr/>
              <a:t>‹#›</a:t>
            </a:fld>
            <a:endParaRPr lang="en-US" altLang="zh-CN"/>
          </a:p>
        </p:txBody>
      </p:sp>
    </p:spTree>
    <p:extLst>
      <p:ext uri="{BB962C8B-B14F-4D97-AF65-F5344CB8AC3E}">
        <p14:creationId xmlns:p14="http://schemas.microsoft.com/office/powerpoint/2010/main" val="3798309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1D86C1-FFD4-1AB1-D14E-8B69F246E03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50F5C7C-8943-FE2D-C464-055447CBB5C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EB59C2-8ADF-F2AE-A5F2-EE4EF49999C8}"/>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8FB420C3-EF27-65CB-8418-4A74684186F8}"/>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DEBAB2C0-58BD-0B98-71BB-35F7B771A6A1}"/>
              </a:ext>
            </a:extLst>
          </p:cNvPr>
          <p:cNvSpPr>
            <a:spLocks noGrp="1"/>
          </p:cNvSpPr>
          <p:nvPr>
            <p:ph type="sldNum" sz="quarter" idx="12"/>
          </p:nvPr>
        </p:nvSpPr>
        <p:spPr/>
        <p:txBody>
          <a:bodyPr/>
          <a:lstStyle>
            <a:lvl1pPr>
              <a:defRPr/>
            </a:lvl1pPr>
          </a:lstStyle>
          <a:p>
            <a:fld id="{CDC0D903-43DE-4C37-A3EF-84B98BD832C7}" type="slidenum">
              <a:rPr lang="en-US" altLang="zh-CN"/>
              <a:pPr/>
              <a:t>‹#›</a:t>
            </a:fld>
            <a:endParaRPr lang="en-US" altLang="zh-CN"/>
          </a:p>
        </p:txBody>
      </p:sp>
    </p:spTree>
    <p:extLst>
      <p:ext uri="{BB962C8B-B14F-4D97-AF65-F5344CB8AC3E}">
        <p14:creationId xmlns:p14="http://schemas.microsoft.com/office/powerpoint/2010/main" val="1176763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ACA7D5-FB6A-780B-A097-16FAF712A8DB}"/>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FEA7A3F-D501-FDBF-D364-28DA4FFD581F}"/>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2E5B5EA-D5D3-BADD-99A4-902EB83ABA70}"/>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6A68633D-4F7A-B1C1-2279-D61E2D42C039}"/>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2BD42BD2-BEFC-8F64-9C08-28C3EE2E843A}"/>
              </a:ext>
            </a:extLst>
          </p:cNvPr>
          <p:cNvSpPr>
            <a:spLocks noGrp="1"/>
          </p:cNvSpPr>
          <p:nvPr>
            <p:ph type="sldNum" sz="quarter" idx="12"/>
          </p:nvPr>
        </p:nvSpPr>
        <p:spPr/>
        <p:txBody>
          <a:bodyPr/>
          <a:lstStyle>
            <a:lvl1pPr>
              <a:defRPr/>
            </a:lvl1pPr>
          </a:lstStyle>
          <a:p>
            <a:fld id="{5B8B1F97-9BCA-4636-B3C4-0B9256F8E524}" type="slidenum">
              <a:rPr lang="en-US" altLang="zh-CN"/>
              <a:pPr/>
              <a:t>‹#›</a:t>
            </a:fld>
            <a:endParaRPr lang="en-US" altLang="zh-CN"/>
          </a:p>
        </p:txBody>
      </p:sp>
    </p:spTree>
    <p:extLst>
      <p:ext uri="{BB962C8B-B14F-4D97-AF65-F5344CB8AC3E}">
        <p14:creationId xmlns:p14="http://schemas.microsoft.com/office/powerpoint/2010/main" val="940278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C3A3B5-B87B-0921-7026-7AAA79383CD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913691C-7675-D06D-4FA8-1C7B2CA1DADB}"/>
              </a:ext>
            </a:extLst>
          </p:cNvPr>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7D1341E-4026-87B2-EC3A-7D9B1CAAF647}"/>
              </a:ext>
            </a:extLst>
          </p:cNvPr>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ABD4C8-BE65-5CBC-204F-815F8B500474}"/>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829FA1AF-0970-022C-39AD-3CC87C02B30F}"/>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39850CD6-EBB2-8038-C52C-7E7579D50618}"/>
              </a:ext>
            </a:extLst>
          </p:cNvPr>
          <p:cNvSpPr>
            <a:spLocks noGrp="1"/>
          </p:cNvSpPr>
          <p:nvPr>
            <p:ph type="sldNum" sz="quarter" idx="12"/>
          </p:nvPr>
        </p:nvSpPr>
        <p:spPr/>
        <p:txBody>
          <a:bodyPr/>
          <a:lstStyle>
            <a:lvl1pPr>
              <a:defRPr/>
            </a:lvl1pPr>
          </a:lstStyle>
          <a:p>
            <a:fld id="{038AE72F-F76A-4F6A-8832-39B71372E2D7}" type="slidenum">
              <a:rPr lang="en-US" altLang="zh-CN"/>
              <a:pPr/>
              <a:t>‹#›</a:t>
            </a:fld>
            <a:endParaRPr lang="en-US" altLang="zh-CN"/>
          </a:p>
        </p:txBody>
      </p:sp>
    </p:spTree>
    <p:extLst>
      <p:ext uri="{BB962C8B-B14F-4D97-AF65-F5344CB8AC3E}">
        <p14:creationId xmlns:p14="http://schemas.microsoft.com/office/powerpoint/2010/main" val="231392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7864F-CF80-DE64-073D-C6B8D881C4C0}"/>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7E9C6E-07A2-CEAF-3F7D-11B51080F27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65849C4-5CC7-274C-F8F8-AC71979BB483}"/>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E028822-2C33-A631-71FB-CD7DA48D9F3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65BF70A-B124-8872-B245-3E104800C617}"/>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3C901E1-E5A0-6EC5-4313-FE442103B94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8" name="页脚占位符 7">
            <a:extLst>
              <a:ext uri="{FF2B5EF4-FFF2-40B4-BE49-F238E27FC236}">
                <a16:creationId xmlns:a16="http://schemas.microsoft.com/office/drawing/2014/main" id="{94B15CBF-CC0E-4721-94D7-FA972CF352A1}"/>
              </a:ext>
            </a:extLst>
          </p:cNvPr>
          <p:cNvSpPr>
            <a:spLocks noGrp="1"/>
          </p:cNvSpPr>
          <p:nvPr>
            <p:ph type="ftr" sz="quarter" idx="11"/>
          </p:nvPr>
        </p:nvSpPr>
        <p:spPr/>
        <p:txBody>
          <a:bodyPr/>
          <a:lstStyle>
            <a:lvl1pPr>
              <a:defRPr/>
            </a:lvl1pPr>
          </a:lstStyle>
          <a:p>
            <a:r>
              <a:rPr lang="en-US" altLang="zh-CN"/>
              <a:t>管理学</a:t>
            </a:r>
          </a:p>
        </p:txBody>
      </p:sp>
      <p:sp>
        <p:nvSpPr>
          <p:cNvPr id="9" name="灯片编号占位符 8">
            <a:extLst>
              <a:ext uri="{FF2B5EF4-FFF2-40B4-BE49-F238E27FC236}">
                <a16:creationId xmlns:a16="http://schemas.microsoft.com/office/drawing/2014/main" id="{426DB1B2-C6E9-06B1-873A-AC62F909383D}"/>
              </a:ext>
            </a:extLst>
          </p:cNvPr>
          <p:cNvSpPr>
            <a:spLocks noGrp="1"/>
          </p:cNvSpPr>
          <p:nvPr>
            <p:ph type="sldNum" sz="quarter" idx="12"/>
          </p:nvPr>
        </p:nvSpPr>
        <p:spPr/>
        <p:txBody>
          <a:bodyPr/>
          <a:lstStyle>
            <a:lvl1pPr>
              <a:defRPr/>
            </a:lvl1pPr>
          </a:lstStyle>
          <a:p>
            <a:fld id="{04C6735D-A8FB-4AE6-9A09-BC4B585555AC}" type="slidenum">
              <a:rPr lang="en-US" altLang="zh-CN"/>
              <a:pPr/>
              <a:t>‹#›</a:t>
            </a:fld>
            <a:endParaRPr lang="en-US" altLang="zh-CN"/>
          </a:p>
        </p:txBody>
      </p:sp>
    </p:spTree>
    <p:extLst>
      <p:ext uri="{BB962C8B-B14F-4D97-AF65-F5344CB8AC3E}">
        <p14:creationId xmlns:p14="http://schemas.microsoft.com/office/powerpoint/2010/main" val="3531564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99A0E9-11DB-D8A4-864F-610E7A6A1D6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9CC82AC-3EE9-9E9C-BC2D-3EB5A4646C1F}"/>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CB3D7EFB-A2A8-E82A-041C-DCF89A4F04F0}"/>
              </a:ext>
            </a:extLst>
          </p:cNvPr>
          <p:cNvSpPr>
            <a:spLocks noGrp="1"/>
          </p:cNvSpPr>
          <p:nvPr>
            <p:ph type="ftr" sz="quarter" idx="11"/>
          </p:nvPr>
        </p:nvSpPr>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597E9923-D4DF-FEA6-5454-75E37E56FDC2}"/>
              </a:ext>
            </a:extLst>
          </p:cNvPr>
          <p:cNvSpPr>
            <a:spLocks noGrp="1"/>
          </p:cNvSpPr>
          <p:nvPr>
            <p:ph type="sldNum" sz="quarter" idx="12"/>
          </p:nvPr>
        </p:nvSpPr>
        <p:spPr/>
        <p:txBody>
          <a:bodyPr/>
          <a:lstStyle>
            <a:lvl1pPr>
              <a:defRPr/>
            </a:lvl1pPr>
          </a:lstStyle>
          <a:p>
            <a:fld id="{DF92AE90-D3BB-49D8-A3DA-B2976ED68319}" type="slidenum">
              <a:rPr lang="en-US" altLang="zh-CN"/>
              <a:pPr/>
              <a:t>‹#›</a:t>
            </a:fld>
            <a:endParaRPr lang="en-US" altLang="zh-CN"/>
          </a:p>
        </p:txBody>
      </p:sp>
    </p:spTree>
    <p:extLst>
      <p:ext uri="{BB962C8B-B14F-4D97-AF65-F5344CB8AC3E}">
        <p14:creationId xmlns:p14="http://schemas.microsoft.com/office/powerpoint/2010/main" val="1187404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9822CDB-35F1-0E1D-188F-B5AB294F57B0}"/>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3" name="页脚占位符 2">
            <a:extLst>
              <a:ext uri="{FF2B5EF4-FFF2-40B4-BE49-F238E27FC236}">
                <a16:creationId xmlns:a16="http://schemas.microsoft.com/office/drawing/2014/main" id="{57809C07-97C9-7CC1-11C8-5ACFD3381905}"/>
              </a:ext>
            </a:extLst>
          </p:cNvPr>
          <p:cNvSpPr>
            <a:spLocks noGrp="1"/>
          </p:cNvSpPr>
          <p:nvPr>
            <p:ph type="ftr" sz="quarter" idx="11"/>
          </p:nvPr>
        </p:nvSpPr>
        <p:spPr/>
        <p:txBody>
          <a:bodyPr/>
          <a:lstStyle>
            <a:lvl1pPr>
              <a:defRPr/>
            </a:lvl1pPr>
          </a:lstStyle>
          <a:p>
            <a:r>
              <a:rPr lang="en-US" altLang="zh-CN"/>
              <a:t>管理学</a:t>
            </a:r>
          </a:p>
        </p:txBody>
      </p:sp>
      <p:sp>
        <p:nvSpPr>
          <p:cNvPr id="4" name="灯片编号占位符 3">
            <a:extLst>
              <a:ext uri="{FF2B5EF4-FFF2-40B4-BE49-F238E27FC236}">
                <a16:creationId xmlns:a16="http://schemas.microsoft.com/office/drawing/2014/main" id="{F26D5C18-53B7-D406-23D9-39C6A80419B1}"/>
              </a:ext>
            </a:extLst>
          </p:cNvPr>
          <p:cNvSpPr>
            <a:spLocks noGrp="1"/>
          </p:cNvSpPr>
          <p:nvPr>
            <p:ph type="sldNum" sz="quarter" idx="12"/>
          </p:nvPr>
        </p:nvSpPr>
        <p:spPr/>
        <p:txBody>
          <a:bodyPr/>
          <a:lstStyle>
            <a:lvl1pPr>
              <a:defRPr/>
            </a:lvl1pPr>
          </a:lstStyle>
          <a:p>
            <a:fld id="{C90E2128-615E-423F-BC71-BC7438E67DEC}" type="slidenum">
              <a:rPr lang="en-US" altLang="zh-CN"/>
              <a:pPr/>
              <a:t>‹#›</a:t>
            </a:fld>
            <a:endParaRPr lang="en-US" altLang="zh-CN"/>
          </a:p>
        </p:txBody>
      </p:sp>
    </p:spTree>
    <p:extLst>
      <p:ext uri="{BB962C8B-B14F-4D97-AF65-F5344CB8AC3E}">
        <p14:creationId xmlns:p14="http://schemas.microsoft.com/office/powerpoint/2010/main" val="26039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9FC0D-BFF5-91AD-F720-A0715C0C7CC4}"/>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79E3183-0106-D73C-2A1A-FB92D5A913B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C18DEDF-DD29-0555-893C-F233372E881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36C4C9-0200-1644-EEC8-E7880AE0C7FD}"/>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0D8FAEDE-D1DB-F552-0D08-32DBD850D38B}"/>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42534AD5-9D05-0755-49CB-A815255503D3}"/>
              </a:ext>
            </a:extLst>
          </p:cNvPr>
          <p:cNvSpPr>
            <a:spLocks noGrp="1"/>
          </p:cNvSpPr>
          <p:nvPr>
            <p:ph type="sldNum" sz="quarter" idx="12"/>
          </p:nvPr>
        </p:nvSpPr>
        <p:spPr/>
        <p:txBody>
          <a:bodyPr/>
          <a:lstStyle>
            <a:lvl1pPr>
              <a:defRPr/>
            </a:lvl1pPr>
          </a:lstStyle>
          <a:p>
            <a:fld id="{25014B89-9076-4D38-B445-E09FD61AFA10}" type="slidenum">
              <a:rPr lang="en-US" altLang="zh-CN"/>
              <a:pPr/>
              <a:t>‹#›</a:t>
            </a:fld>
            <a:endParaRPr lang="en-US" altLang="zh-CN"/>
          </a:p>
        </p:txBody>
      </p:sp>
    </p:spTree>
    <p:extLst>
      <p:ext uri="{BB962C8B-B14F-4D97-AF65-F5344CB8AC3E}">
        <p14:creationId xmlns:p14="http://schemas.microsoft.com/office/powerpoint/2010/main" val="3243161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9A40E5-9C04-C8E2-54CD-838C55AA4FAA}"/>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47A57D1-F9A2-A433-9659-29D5AB0E554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922AF0B-B84D-9C44-8231-C3466F21831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5AF5B84-614C-4402-73E6-55DA02DD019F}"/>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0A393C1B-5166-7229-288F-133D7C7E33E9}"/>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0FC27578-9A28-B2DD-E9FF-6F3559C1EBC5}"/>
              </a:ext>
            </a:extLst>
          </p:cNvPr>
          <p:cNvSpPr>
            <a:spLocks noGrp="1"/>
          </p:cNvSpPr>
          <p:nvPr>
            <p:ph type="sldNum" sz="quarter" idx="12"/>
          </p:nvPr>
        </p:nvSpPr>
        <p:spPr/>
        <p:txBody>
          <a:bodyPr/>
          <a:lstStyle>
            <a:lvl1pPr>
              <a:defRPr/>
            </a:lvl1pPr>
          </a:lstStyle>
          <a:p>
            <a:fld id="{F0F8208B-14C0-49BF-9679-92A1B442392A}" type="slidenum">
              <a:rPr lang="en-US" altLang="zh-CN"/>
              <a:pPr/>
              <a:t>‹#›</a:t>
            </a:fld>
            <a:endParaRPr lang="en-US" altLang="zh-CN"/>
          </a:p>
        </p:txBody>
      </p:sp>
    </p:spTree>
    <p:extLst>
      <p:ext uri="{BB962C8B-B14F-4D97-AF65-F5344CB8AC3E}">
        <p14:creationId xmlns:p14="http://schemas.microsoft.com/office/powerpoint/2010/main" val="4232318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6F659-D791-44F4-13BD-0D555509976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2C1A6F-9429-FA3A-498C-06A614C28A4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83F5174-9819-9F5A-AFF6-485B9C8D94D5}"/>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E7A01F67-A6C2-CF43-F0FC-DFB71F234A09}"/>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F6206EF4-6C0A-74C4-680E-371E22B96C8F}"/>
              </a:ext>
            </a:extLst>
          </p:cNvPr>
          <p:cNvSpPr>
            <a:spLocks noGrp="1"/>
          </p:cNvSpPr>
          <p:nvPr>
            <p:ph type="sldNum" sz="quarter" idx="12"/>
          </p:nvPr>
        </p:nvSpPr>
        <p:spPr/>
        <p:txBody>
          <a:bodyPr/>
          <a:lstStyle>
            <a:lvl1pPr>
              <a:defRPr/>
            </a:lvl1pPr>
          </a:lstStyle>
          <a:p>
            <a:fld id="{8FFBBE96-EA0B-4D4F-8185-7699CF4D23E0}" type="slidenum">
              <a:rPr lang="en-US" altLang="zh-CN"/>
              <a:pPr/>
              <a:t>‹#›</a:t>
            </a:fld>
            <a:endParaRPr lang="en-US" altLang="zh-CN"/>
          </a:p>
        </p:txBody>
      </p:sp>
    </p:spTree>
    <p:extLst>
      <p:ext uri="{BB962C8B-B14F-4D97-AF65-F5344CB8AC3E}">
        <p14:creationId xmlns:p14="http://schemas.microsoft.com/office/powerpoint/2010/main" val="599132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61B5218-DF66-3FFD-6996-714D09424827}"/>
              </a:ext>
            </a:extLst>
          </p:cNvPr>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FDCB87-46E1-60EC-2499-0FE11E0B9B6D}"/>
              </a:ext>
            </a:extLst>
          </p:cNvPr>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E14633-9B8B-8EA6-79A5-994902D1F0E2}"/>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89BE5475-F50D-141C-DDC2-6D9F46FCC459}"/>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E861CF82-BD67-A535-9B1E-02C51DC2DE60}"/>
              </a:ext>
            </a:extLst>
          </p:cNvPr>
          <p:cNvSpPr>
            <a:spLocks noGrp="1"/>
          </p:cNvSpPr>
          <p:nvPr>
            <p:ph type="sldNum" sz="quarter" idx="12"/>
          </p:nvPr>
        </p:nvSpPr>
        <p:spPr/>
        <p:txBody>
          <a:bodyPr/>
          <a:lstStyle>
            <a:lvl1pPr>
              <a:defRPr/>
            </a:lvl1pPr>
          </a:lstStyle>
          <a:p>
            <a:fld id="{5BE63AA3-18CF-4A83-822F-DFD055EE3CAD}" type="slidenum">
              <a:rPr lang="en-US" altLang="zh-CN"/>
              <a:pPr/>
              <a:t>‹#›</a:t>
            </a:fld>
            <a:endParaRPr lang="en-US" altLang="zh-CN"/>
          </a:p>
        </p:txBody>
      </p:sp>
    </p:spTree>
    <p:extLst>
      <p:ext uri="{BB962C8B-B14F-4D97-AF65-F5344CB8AC3E}">
        <p14:creationId xmlns:p14="http://schemas.microsoft.com/office/powerpoint/2010/main" val="225108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4EE3011-D73C-BAD2-88BF-2E728A64AFDC}"/>
              </a:ext>
            </a:extLst>
          </p:cNvPr>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EAE2568A-0E16-E808-FA27-D21C1CD751FB}"/>
              </a:ext>
            </a:extLst>
          </p:cNvPr>
          <p:cNvSpPr>
            <a:spLocks noGrp="1"/>
          </p:cNvSpPr>
          <p:nvPr>
            <p:ph type="dt" sz="half" idx="10"/>
          </p:nvPr>
        </p:nvSpPr>
        <p:spPr>
          <a:xfrm>
            <a:off x="685800" y="6248400"/>
            <a:ext cx="1905000" cy="457200"/>
          </a:xfrm>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C1194F1A-9EB3-4985-EFC9-8AE80296A74F}"/>
              </a:ext>
            </a:extLst>
          </p:cNvPr>
          <p:cNvSpPr>
            <a:spLocks noGrp="1"/>
          </p:cNvSpPr>
          <p:nvPr>
            <p:ph type="ftr" sz="quarter" idx="11"/>
          </p:nvPr>
        </p:nvSpPr>
        <p:spPr>
          <a:xfrm>
            <a:off x="3124200" y="6248400"/>
            <a:ext cx="2895600" cy="457200"/>
          </a:xfrm>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7EF46425-C446-5362-BBB8-B0D07E9D9E76}"/>
              </a:ext>
            </a:extLst>
          </p:cNvPr>
          <p:cNvSpPr>
            <a:spLocks noGrp="1"/>
          </p:cNvSpPr>
          <p:nvPr>
            <p:ph type="sldNum" sz="quarter" idx="12"/>
          </p:nvPr>
        </p:nvSpPr>
        <p:spPr>
          <a:xfrm>
            <a:off x="6553200" y="6248400"/>
            <a:ext cx="1905000" cy="457200"/>
          </a:xfrm>
        </p:spPr>
        <p:txBody>
          <a:bodyPr/>
          <a:lstStyle>
            <a:lvl1pPr>
              <a:defRPr/>
            </a:lvl1pPr>
          </a:lstStyle>
          <a:p>
            <a:fld id="{452C0442-AF26-4BFC-AE0F-12A8ADF527A9}" type="slidenum">
              <a:rPr lang="en-US" altLang="zh-CN"/>
              <a:pPr/>
              <a:t>‹#›</a:t>
            </a:fld>
            <a:endParaRPr lang="en-US" altLang="zh-CN"/>
          </a:p>
        </p:txBody>
      </p:sp>
    </p:spTree>
    <p:extLst>
      <p:ext uri="{BB962C8B-B14F-4D97-AF65-F5344CB8AC3E}">
        <p14:creationId xmlns:p14="http://schemas.microsoft.com/office/powerpoint/2010/main" val="2192992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3A4F21-53B1-8A7B-96B2-5460CEE8357E}"/>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7EA1DB73-6E50-E8AD-62B1-5785252ECCF4}"/>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13434C2D-3F5C-E198-9599-71DA65921C58}"/>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zh-CN" altLang="en-US"/>
              <a:t>版本：2004</a:t>
            </a:r>
            <a:endParaRPr lang="en-US" altLang="zh-CN"/>
          </a:p>
        </p:txBody>
      </p:sp>
      <p:sp>
        <p:nvSpPr>
          <p:cNvPr id="1029" name="Rectangle 5">
            <a:extLst>
              <a:ext uri="{FF2B5EF4-FFF2-40B4-BE49-F238E27FC236}">
                <a16:creationId xmlns:a16="http://schemas.microsoft.com/office/drawing/2014/main" id="{311AA7A6-8020-44FF-66DE-FE22038F1927}"/>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zh-CN"/>
              <a:t>管理学</a:t>
            </a:r>
          </a:p>
        </p:txBody>
      </p:sp>
      <p:sp>
        <p:nvSpPr>
          <p:cNvPr id="1030" name="Rectangle 6">
            <a:extLst>
              <a:ext uri="{FF2B5EF4-FFF2-40B4-BE49-F238E27FC236}">
                <a16:creationId xmlns:a16="http://schemas.microsoft.com/office/drawing/2014/main" id="{185518F9-F5C4-23CF-DADC-7D405A16E69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F4EFAF3-B83B-4EC8-AB4B-4EB44BF74D2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4">
            <a:extLst>
              <a:ext uri="{FF2B5EF4-FFF2-40B4-BE49-F238E27FC236}">
                <a16:creationId xmlns:a16="http://schemas.microsoft.com/office/drawing/2014/main" id="{C0F1A385-0A2B-BE09-E3E9-266B4AC93B4F}"/>
              </a:ext>
            </a:extLst>
          </p:cNvPr>
          <p:cNvSpPr>
            <a:spLocks noGrp="1" noChangeArrowheads="1"/>
          </p:cNvSpPr>
          <p:nvPr>
            <p:ph type="ctrTitle"/>
          </p:nvPr>
        </p:nvSpPr>
        <p:spPr>
          <a:xfrm>
            <a:off x="685800" y="2130425"/>
            <a:ext cx="7772400" cy="1470025"/>
          </a:xfrm>
        </p:spPr>
        <p:txBody>
          <a:bodyPr anchor="ctr"/>
          <a:lstStyle/>
          <a:p>
            <a:r>
              <a:rPr lang="zh-CN" altLang="en-US" sz="4400">
                <a:latin typeface="华文行楷" panose="02010800040101010101" pitchFamily="2" charset="-122"/>
                <a:ea typeface="华文行楷" panose="02010800040101010101" pitchFamily="2" charset="-122"/>
              </a:rPr>
              <a:t>第</a:t>
            </a:r>
            <a:r>
              <a:rPr lang="en-US" altLang="zh-CN" sz="4400">
                <a:latin typeface="华文行楷" panose="02010800040101010101" pitchFamily="2" charset="-122"/>
                <a:ea typeface="华文行楷" panose="02010800040101010101" pitchFamily="2" charset="-122"/>
              </a:rPr>
              <a:t>7</a:t>
            </a:r>
            <a:r>
              <a:rPr lang="zh-CN" altLang="en-US" sz="4400">
                <a:latin typeface="华文行楷" panose="02010800040101010101" pitchFamily="2" charset="-122"/>
                <a:ea typeface="华文行楷" panose="02010800040101010101" pitchFamily="2" charset="-122"/>
              </a:rPr>
              <a:t>讲 组织结构</a:t>
            </a:r>
          </a:p>
        </p:txBody>
      </p:sp>
      <p:sp>
        <p:nvSpPr>
          <p:cNvPr id="71685" name="Rectangle 5">
            <a:extLst>
              <a:ext uri="{FF2B5EF4-FFF2-40B4-BE49-F238E27FC236}">
                <a16:creationId xmlns:a16="http://schemas.microsoft.com/office/drawing/2014/main" id="{4EDED923-2225-5506-16DB-A2F4B845077C}"/>
              </a:ext>
            </a:extLst>
          </p:cNvPr>
          <p:cNvSpPr>
            <a:spLocks noGrp="1" noChangeArrowheads="1"/>
          </p:cNvSpPr>
          <p:nvPr>
            <p:ph type="subTitle" idx="1"/>
          </p:nvPr>
        </p:nvSpPr>
        <p:spPr>
          <a:xfrm>
            <a:off x="1371600" y="3886200"/>
            <a:ext cx="6400800" cy="1752600"/>
          </a:xfrm>
        </p:spPr>
        <p:txBody>
          <a:bodyPr/>
          <a:lstStyle/>
          <a:p>
            <a:r>
              <a:rPr lang="zh-CN" altLang="en-US" sz="3600">
                <a:latin typeface="华文行楷" panose="02010800040101010101" pitchFamily="2" charset="-122"/>
                <a:ea typeface="华文行楷" panose="02010800040101010101" pitchFamily="2" charset="-122"/>
              </a:rPr>
              <a:t>邵  冲</a:t>
            </a:r>
          </a:p>
          <a:p>
            <a:r>
              <a:rPr lang="zh-CN" altLang="en-US" sz="3600">
                <a:latin typeface="华文行楷" panose="02010800040101010101" pitchFamily="2" charset="-122"/>
                <a:ea typeface="华文行楷" panose="02010800040101010101" pitchFamily="2" charset="-122"/>
              </a:rPr>
              <a:t>中山大学管理学院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9A77760-C50D-1AA4-64A1-23596F64A64A}"/>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B53A0793-EB03-70CE-B6CB-5801649A8468}"/>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D1AE7719-22C9-4C1C-4A38-DF304863F4C9}"/>
              </a:ext>
            </a:extLst>
          </p:cNvPr>
          <p:cNvSpPr>
            <a:spLocks noGrp="1"/>
          </p:cNvSpPr>
          <p:nvPr>
            <p:ph type="sldNum" sz="quarter" idx="12"/>
          </p:nvPr>
        </p:nvSpPr>
        <p:spPr/>
        <p:txBody>
          <a:bodyPr/>
          <a:lstStyle/>
          <a:p>
            <a:fld id="{B7317122-05FA-40CD-9164-0617161393AC}" type="slidenum">
              <a:rPr lang="en-US" altLang="zh-CN"/>
              <a:pPr/>
              <a:t>2</a:t>
            </a:fld>
            <a:endParaRPr lang="en-US" altLang="zh-CN"/>
          </a:p>
        </p:txBody>
      </p:sp>
      <p:sp>
        <p:nvSpPr>
          <p:cNvPr id="3076" name="Text Box 4">
            <a:extLst>
              <a:ext uri="{FF2B5EF4-FFF2-40B4-BE49-F238E27FC236}">
                <a16:creationId xmlns:a16="http://schemas.microsoft.com/office/drawing/2014/main" id="{0C3442D1-AA81-384D-FE1E-35766710B35E}"/>
              </a:ext>
            </a:extLst>
          </p:cNvPr>
          <p:cNvSpPr txBox="1">
            <a:spLocks noChangeArrowheads="1"/>
          </p:cNvSpPr>
          <p:nvPr/>
        </p:nvSpPr>
        <p:spPr bwMode="auto">
          <a:xfrm>
            <a:off x="1403350" y="908050"/>
            <a:ext cx="172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tx2"/>
                </a:solidFill>
              </a:rPr>
              <a:t>学习内容</a:t>
            </a:r>
          </a:p>
        </p:txBody>
      </p:sp>
      <p:sp>
        <p:nvSpPr>
          <p:cNvPr id="17412" name="Rectangle 1028">
            <a:extLst>
              <a:ext uri="{FF2B5EF4-FFF2-40B4-BE49-F238E27FC236}">
                <a16:creationId xmlns:a16="http://schemas.microsoft.com/office/drawing/2014/main" id="{E2A2A854-1E27-769D-F5FD-BF7E3E99A276}"/>
              </a:ext>
            </a:extLst>
          </p:cNvPr>
          <p:cNvSpPr>
            <a:spLocks noChangeArrowheads="1"/>
          </p:cNvSpPr>
          <p:nvPr/>
        </p:nvSpPr>
        <p:spPr bwMode="auto">
          <a:xfrm>
            <a:off x="1258888" y="1844675"/>
            <a:ext cx="2303462" cy="1079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1.</a:t>
            </a:r>
            <a:r>
              <a:rPr lang="zh-CN" altLang="en-US" sz="2000"/>
              <a:t>组织工作的性质、</a:t>
            </a:r>
          </a:p>
          <a:p>
            <a:pPr algn="ctr"/>
            <a:r>
              <a:rPr lang="zh-CN" altLang="en-US" sz="2000"/>
              <a:t>过程和结构</a:t>
            </a:r>
          </a:p>
        </p:txBody>
      </p:sp>
      <p:sp>
        <p:nvSpPr>
          <p:cNvPr id="17413" name="Text Box 1029">
            <a:extLst>
              <a:ext uri="{FF2B5EF4-FFF2-40B4-BE49-F238E27FC236}">
                <a16:creationId xmlns:a16="http://schemas.microsoft.com/office/drawing/2014/main" id="{B25D5963-5BCC-E995-E3F0-BF2BB2AEB0D6}"/>
              </a:ext>
            </a:extLst>
          </p:cNvPr>
          <p:cNvSpPr txBox="1">
            <a:spLocks noChangeArrowheads="1"/>
          </p:cNvSpPr>
          <p:nvPr/>
        </p:nvSpPr>
        <p:spPr bwMode="auto">
          <a:xfrm>
            <a:off x="250825" y="188913"/>
            <a:ext cx="2449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宋体" panose="02010600030101010101" pitchFamily="2" charset="-122"/>
              </a:rPr>
              <a:t>7.3</a:t>
            </a:r>
            <a:r>
              <a:rPr lang="zh-CN" altLang="en-US" sz="1600">
                <a:latin typeface="宋体" panose="02010600030101010101" pitchFamily="2" charset="-122"/>
              </a:rPr>
              <a:t>管理幅度与组织层次</a:t>
            </a:r>
          </a:p>
        </p:txBody>
      </p:sp>
      <p:sp>
        <p:nvSpPr>
          <p:cNvPr id="17414" name="Rectangle 1030">
            <a:extLst>
              <a:ext uri="{FF2B5EF4-FFF2-40B4-BE49-F238E27FC236}">
                <a16:creationId xmlns:a16="http://schemas.microsoft.com/office/drawing/2014/main" id="{73399198-4ADE-9ACD-1799-43EF340631EB}"/>
              </a:ext>
            </a:extLst>
          </p:cNvPr>
          <p:cNvSpPr>
            <a:spLocks noChangeArrowheads="1"/>
          </p:cNvSpPr>
          <p:nvPr/>
        </p:nvSpPr>
        <p:spPr bwMode="auto">
          <a:xfrm>
            <a:off x="5003800" y="1844675"/>
            <a:ext cx="2303463" cy="1079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2.</a:t>
            </a:r>
            <a:r>
              <a:rPr lang="zh-CN" altLang="en-US" sz="2000"/>
              <a:t>职务</a:t>
            </a:r>
            <a:r>
              <a:rPr lang="en-US" altLang="zh-CN" sz="2000"/>
              <a:t>/</a:t>
            </a:r>
            <a:r>
              <a:rPr lang="zh-CN" altLang="en-US" sz="2000"/>
              <a:t>岗位设计</a:t>
            </a:r>
          </a:p>
        </p:txBody>
      </p:sp>
      <p:sp>
        <p:nvSpPr>
          <p:cNvPr id="17415" name="Rectangle 1031">
            <a:extLst>
              <a:ext uri="{FF2B5EF4-FFF2-40B4-BE49-F238E27FC236}">
                <a16:creationId xmlns:a16="http://schemas.microsoft.com/office/drawing/2014/main" id="{0E6F4ED8-9D9F-9C62-126F-0DF51C019295}"/>
              </a:ext>
            </a:extLst>
          </p:cNvPr>
          <p:cNvSpPr>
            <a:spLocks noChangeArrowheads="1"/>
          </p:cNvSpPr>
          <p:nvPr/>
        </p:nvSpPr>
        <p:spPr bwMode="auto">
          <a:xfrm>
            <a:off x="1258888" y="3429000"/>
            <a:ext cx="2303462" cy="1079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3.</a:t>
            </a:r>
            <a:r>
              <a:rPr lang="zh-CN" altLang="en-US" sz="2000"/>
              <a:t>管理幅度与</a:t>
            </a:r>
          </a:p>
          <a:p>
            <a:pPr algn="ctr"/>
            <a:r>
              <a:rPr lang="zh-CN" altLang="en-US" sz="2000"/>
              <a:t>组织层次</a:t>
            </a:r>
          </a:p>
        </p:txBody>
      </p:sp>
      <p:sp>
        <p:nvSpPr>
          <p:cNvPr id="17416" name="Rectangle 1032">
            <a:extLst>
              <a:ext uri="{FF2B5EF4-FFF2-40B4-BE49-F238E27FC236}">
                <a16:creationId xmlns:a16="http://schemas.microsoft.com/office/drawing/2014/main" id="{F0899620-06ED-D9B8-8745-5CCD2F068F24}"/>
              </a:ext>
            </a:extLst>
          </p:cNvPr>
          <p:cNvSpPr>
            <a:spLocks noChangeArrowheads="1"/>
          </p:cNvSpPr>
          <p:nvPr/>
        </p:nvSpPr>
        <p:spPr bwMode="auto">
          <a:xfrm>
            <a:off x="5003800" y="3429000"/>
            <a:ext cx="2303463" cy="1079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a:t>4.</a:t>
            </a:r>
            <a:r>
              <a:rPr lang="zh-CN" altLang="en-US" sz="2000"/>
              <a:t>部门划分</a:t>
            </a:r>
          </a:p>
        </p:txBody>
      </p:sp>
      <p:sp>
        <p:nvSpPr>
          <p:cNvPr id="17418" name="Line 1034">
            <a:extLst>
              <a:ext uri="{FF2B5EF4-FFF2-40B4-BE49-F238E27FC236}">
                <a16:creationId xmlns:a16="http://schemas.microsoft.com/office/drawing/2014/main" id="{E50498CB-63F0-D0C9-8FA4-CFF3B2445CF5}"/>
              </a:ext>
            </a:extLst>
          </p:cNvPr>
          <p:cNvSpPr>
            <a:spLocks noChangeShapeType="1"/>
          </p:cNvSpPr>
          <p:nvPr/>
        </p:nvSpPr>
        <p:spPr bwMode="auto">
          <a:xfrm>
            <a:off x="2339975" y="3141663"/>
            <a:ext cx="3816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9" name="Line 1035">
            <a:extLst>
              <a:ext uri="{FF2B5EF4-FFF2-40B4-BE49-F238E27FC236}">
                <a16:creationId xmlns:a16="http://schemas.microsoft.com/office/drawing/2014/main" id="{BD5C45E2-5495-BD42-04F6-E31E914E7723}"/>
              </a:ext>
            </a:extLst>
          </p:cNvPr>
          <p:cNvSpPr>
            <a:spLocks noChangeShapeType="1"/>
          </p:cNvSpPr>
          <p:nvPr/>
        </p:nvSpPr>
        <p:spPr bwMode="auto">
          <a:xfrm>
            <a:off x="3563938" y="2420938"/>
            <a:ext cx="14398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0" name="Line 1036">
            <a:extLst>
              <a:ext uri="{FF2B5EF4-FFF2-40B4-BE49-F238E27FC236}">
                <a16:creationId xmlns:a16="http://schemas.microsoft.com/office/drawing/2014/main" id="{1D460F05-CACD-89D8-0DB4-0143DF607F29}"/>
              </a:ext>
            </a:extLst>
          </p:cNvPr>
          <p:cNvSpPr>
            <a:spLocks noChangeShapeType="1"/>
          </p:cNvSpPr>
          <p:nvPr/>
        </p:nvSpPr>
        <p:spPr bwMode="auto">
          <a:xfrm>
            <a:off x="6156325" y="2924175"/>
            <a:ext cx="0" cy="5048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1" name="Line 1037">
            <a:extLst>
              <a:ext uri="{FF2B5EF4-FFF2-40B4-BE49-F238E27FC236}">
                <a16:creationId xmlns:a16="http://schemas.microsoft.com/office/drawing/2014/main" id="{1FCBD888-6A11-AA3A-5CF7-EE0C068FFEAF}"/>
              </a:ext>
            </a:extLst>
          </p:cNvPr>
          <p:cNvSpPr>
            <a:spLocks noChangeShapeType="1"/>
          </p:cNvSpPr>
          <p:nvPr/>
        </p:nvSpPr>
        <p:spPr bwMode="auto">
          <a:xfrm>
            <a:off x="2339975" y="3141663"/>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8AFAC7-37EF-0C3A-CEE7-19C75D00810D}"/>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59FD503-424C-EF75-FEC5-396B3BDE405F}"/>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AF3EE535-528E-D888-4683-F5AF7363E5E6}"/>
              </a:ext>
            </a:extLst>
          </p:cNvPr>
          <p:cNvSpPr>
            <a:spLocks noGrp="1"/>
          </p:cNvSpPr>
          <p:nvPr>
            <p:ph type="sldNum" sz="quarter" idx="12"/>
          </p:nvPr>
        </p:nvSpPr>
        <p:spPr/>
        <p:txBody>
          <a:bodyPr/>
          <a:lstStyle/>
          <a:p>
            <a:fld id="{5883F056-D4FB-4958-A583-82D826257BE3}" type="slidenum">
              <a:rPr lang="en-US" altLang="zh-CN"/>
              <a:pPr/>
              <a:t>3</a:t>
            </a:fld>
            <a:endParaRPr lang="en-US" altLang="zh-CN"/>
          </a:p>
        </p:txBody>
      </p:sp>
      <p:sp>
        <p:nvSpPr>
          <p:cNvPr id="76802" name="Text Box 2">
            <a:extLst>
              <a:ext uri="{FF2B5EF4-FFF2-40B4-BE49-F238E27FC236}">
                <a16:creationId xmlns:a16="http://schemas.microsoft.com/office/drawing/2014/main" id="{548D54A4-078A-F3A4-56AA-C4307696D1D4}"/>
              </a:ext>
            </a:extLst>
          </p:cNvPr>
          <p:cNvSpPr txBox="1">
            <a:spLocks noChangeArrowheads="1"/>
          </p:cNvSpPr>
          <p:nvPr/>
        </p:nvSpPr>
        <p:spPr bwMode="auto">
          <a:xfrm>
            <a:off x="179388" y="188913"/>
            <a:ext cx="3240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a:latin typeface="宋体" panose="02010600030101010101" pitchFamily="2" charset="-122"/>
              </a:rPr>
              <a:t>7.1.</a:t>
            </a:r>
            <a:r>
              <a:rPr kumimoji="0" lang="zh-CN" altLang="en-US" sz="1600">
                <a:latin typeface="宋体" panose="02010600030101010101" pitchFamily="2" charset="-122"/>
              </a:rPr>
              <a:t>组织工作的性质、过程和结构</a:t>
            </a:r>
          </a:p>
        </p:txBody>
      </p:sp>
      <p:graphicFrame>
        <p:nvGraphicFramePr>
          <p:cNvPr id="76852" name="Group 52">
            <a:extLst>
              <a:ext uri="{FF2B5EF4-FFF2-40B4-BE49-F238E27FC236}">
                <a16:creationId xmlns:a16="http://schemas.microsoft.com/office/drawing/2014/main" id="{9A48716C-AB35-28C0-8343-9359A23E31B3}"/>
              </a:ext>
            </a:extLst>
          </p:cNvPr>
          <p:cNvGraphicFramePr>
            <a:graphicFrameLocks noGrp="1"/>
          </p:cNvGraphicFramePr>
          <p:nvPr>
            <p:ph sz="half" idx="4294967295"/>
          </p:nvPr>
        </p:nvGraphicFramePr>
        <p:xfrm>
          <a:off x="468313" y="1196975"/>
          <a:ext cx="8207375" cy="2089150"/>
        </p:xfrm>
        <a:graphic>
          <a:graphicData uri="http://schemas.openxmlformats.org/drawingml/2006/table">
            <a:tbl>
              <a:tblPr/>
              <a:tblGrid>
                <a:gridCol w="2016125">
                  <a:extLst>
                    <a:ext uri="{9D8B030D-6E8A-4147-A177-3AD203B41FA5}">
                      <a16:colId xmlns:a16="http://schemas.microsoft.com/office/drawing/2014/main" val="3951119518"/>
                    </a:ext>
                  </a:extLst>
                </a:gridCol>
                <a:gridCol w="6191250">
                  <a:extLst>
                    <a:ext uri="{9D8B030D-6E8A-4147-A177-3AD203B41FA5}">
                      <a16:colId xmlns:a16="http://schemas.microsoft.com/office/drawing/2014/main" val="1139722371"/>
                    </a:ext>
                  </a:extLst>
                </a:gridCol>
              </a:tblGrid>
              <a:tr h="6715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组织工作的性质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根据组织的目标和要完成的任务，明确组织成员的职务及其相互关系的过程。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1207731"/>
                  </a:ext>
                </a:extLst>
              </a:tr>
              <a:tr h="681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组织工作的效能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如果能够促使组织成员在达到目标的过程中做出贡献，该组织结构就是有效能的。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8875839"/>
                  </a:ext>
                </a:extLst>
              </a:tr>
              <a:tr h="736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组织工作的效率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如果能够促使组织成员用最小的失误或资源完成任务或目标，则该组织结构就是有效率的。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7383026"/>
                  </a:ext>
                </a:extLst>
              </a:tr>
            </a:tbl>
          </a:graphicData>
        </a:graphic>
      </p:graphicFrame>
      <p:sp>
        <p:nvSpPr>
          <p:cNvPr id="76817" name="Text Box 17">
            <a:extLst>
              <a:ext uri="{FF2B5EF4-FFF2-40B4-BE49-F238E27FC236}">
                <a16:creationId xmlns:a16="http://schemas.microsoft.com/office/drawing/2014/main" id="{0BB2159F-14E3-D718-1B5C-619BA822265C}"/>
              </a:ext>
            </a:extLst>
          </p:cNvPr>
          <p:cNvSpPr txBox="1">
            <a:spLocks noChangeArrowheads="1"/>
          </p:cNvSpPr>
          <p:nvPr/>
        </p:nvSpPr>
        <p:spPr bwMode="auto">
          <a:xfrm>
            <a:off x="2771775" y="765175"/>
            <a:ext cx="3529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a:latin typeface="Arial" panose="020B0604020202020204" pitchFamily="34" charset="0"/>
                <a:ea typeface="黑体" panose="02010609060101010101" pitchFamily="49" charset="-122"/>
              </a:rPr>
              <a:t>组织工作的性质、效能和效率</a:t>
            </a:r>
          </a:p>
        </p:txBody>
      </p:sp>
      <p:graphicFrame>
        <p:nvGraphicFramePr>
          <p:cNvPr id="76851" name="Group 51">
            <a:extLst>
              <a:ext uri="{FF2B5EF4-FFF2-40B4-BE49-F238E27FC236}">
                <a16:creationId xmlns:a16="http://schemas.microsoft.com/office/drawing/2014/main" id="{EDAC8AF1-F780-8833-7E55-3C0B9F61662F}"/>
              </a:ext>
            </a:extLst>
          </p:cNvPr>
          <p:cNvGraphicFramePr>
            <a:graphicFrameLocks noGrp="1"/>
          </p:cNvGraphicFramePr>
          <p:nvPr>
            <p:ph sz="half" idx="4294967295"/>
          </p:nvPr>
        </p:nvGraphicFramePr>
        <p:xfrm>
          <a:off x="468313" y="3429000"/>
          <a:ext cx="8207375" cy="2365375"/>
        </p:xfrm>
        <a:graphic>
          <a:graphicData uri="http://schemas.openxmlformats.org/drawingml/2006/table">
            <a:tbl>
              <a:tblPr/>
              <a:tblGrid>
                <a:gridCol w="2016125">
                  <a:extLst>
                    <a:ext uri="{9D8B030D-6E8A-4147-A177-3AD203B41FA5}">
                      <a16:colId xmlns:a16="http://schemas.microsoft.com/office/drawing/2014/main" val="22848397"/>
                    </a:ext>
                  </a:extLst>
                </a:gridCol>
                <a:gridCol w="6191250">
                  <a:extLst>
                    <a:ext uri="{9D8B030D-6E8A-4147-A177-3AD203B41FA5}">
                      <a16:colId xmlns:a16="http://schemas.microsoft.com/office/drawing/2014/main" val="2910589177"/>
                    </a:ext>
                  </a:extLst>
                </a:gridCol>
              </a:tblGrid>
              <a:tr h="4460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概念</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8413804"/>
                  </a:ext>
                </a:extLst>
              </a:tr>
              <a:tr h="6334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决定组织成员如何运用资源达到组织目标的任务和报告关系的正式系统。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00526327"/>
                  </a:ext>
                </a:extLst>
              </a:tr>
              <a:tr h="5080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组织设计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管理者做出明确的组织选择的过程，明确组织选择能促使特定组织结构的建立。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58211901"/>
                  </a:ext>
                </a:extLst>
              </a:tr>
              <a:tr h="1444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组织理论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是深入而准确地洞察和分析组织的方法，这种观察和思维方式是以组织设计和行为的方式及规律为基础的。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851654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DAAA834-69DE-AC84-AF23-A827CA021ACD}"/>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E07B78EF-179C-0641-8715-DF59757E1B70}"/>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76BA8451-455C-F864-E512-F01551C123E9}"/>
              </a:ext>
            </a:extLst>
          </p:cNvPr>
          <p:cNvSpPr>
            <a:spLocks noGrp="1"/>
          </p:cNvSpPr>
          <p:nvPr>
            <p:ph type="sldNum" sz="quarter" idx="12"/>
          </p:nvPr>
        </p:nvSpPr>
        <p:spPr/>
        <p:txBody>
          <a:bodyPr/>
          <a:lstStyle/>
          <a:p>
            <a:fld id="{11D4E398-0EEF-4E06-BFFF-F554007437B3}" type="slidenum">
              <a:rPr lang="en-US" altLang="zh-CN"/>
              <a:pPr/>
              <a:t>4</a:t>
            </a:fld>
            <a:endParaRPr lang="en-US" altLang="zh-CN"/>
          </a:p>
        </p:txBody>
      </p:sp>
      <p:sp>
        <p:nvSpPr>
          <p:cNvPr id="77827" name="Rectangle 3">
            <a:extLst>
              <a:ext uri="{FF2B5EF4-FFF2-40B4-BE49-F238E27FC236}">
                <a16:creationId xmlns:a16="http://schemas.microsoft.com/office/drawing/2014/main" id="{0B41041C-8678-CFD5-4D8C-8EDBAA6B46C9}"/>
              </a:ext>
            </a:extLst>
          </p:cNvPr>
          <p:cNvSpPr>
            <a:spLocks noChangeArrowheads="1"/>
          </p:cNvSpPr>
          <p:nvPr/>
        </p:nvSpPr>
        <p:spPr bwMode="auto">
          <a:xfrm>
            <a:off x="1042988" y="1844675"/>
            <a:ext cx="1728787" cy="7921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1.</a:t>
            </a:r>
            <a:r>
              <a:rPr kumimoji="0" lang="zh-CN" altLang="en-US" sz="1800">
                <a:latin typeface="Arial" panose="020B0604020202020204" pitchFamily="34" charset="0"/>
              </a:rPr>
              <a:t>明确目标、</a:t>
            </a:r>
          </a:p>
          <a:p>
            <a:pPr algn="ctr"/>
            <a:r>
              <a:rPr kumimoji="0" lang="zh-CN" altLang="en-US" sz="1800">
                <a:latin typeface="Arial" panose="020B0604020202020204" pitchFamily="34" charset="0"/>
              </a:rPr>
              <a:t>计划和任务</a:t>
            </a:r>
          </a:p>
        </p:txBody>
      </p:sp>
      <p:sp>
        <p:nvSpPr>
          <p:cNvPr id="77828" name="Rectangle 4">
            <a:extLst>
              <a:ext uri="{FF2B5EF4-FFF2-40B4-BE49-F238E27FC236}">
                <a16:creationId xmlns:a16="http://schemas.microsoft.com/office/drawing/2014/main" id="{7CE32A1F-ABBB-9F53-9124-07E2C0097C6A}"/>
              </a:ext>
            </a:extLst>
          </p:cNvPr>
          <p:cNvSpPr>
            <a:spLocks noChangeArrowheads="1"/>
          </p:cNvSpPr>
          <p:nvPr/>
        </p:nvSpPr>
        <p:spPr bwMode="auto">
          <a:xfrm>
            <a:off x="3563938" y="1844675"/>
            <a:ext cx="1728787" cy="7921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2.</a:t>
            </a:r>
            <a:r>
              <a:rPr kumimoji="0" lang="zh-CN" altLang="en-US" sz="1800">
                <a:latin typeface="Arial" panose="020B0604020202020204" pitchFamily="34" charset="0"/>
              </a:rPr>
              <a:t>职务</a:t>
            </a:r>
            <a:r>
              <a:rPr kumimoji="0" lang="en-US" altLang="zh-CN" sz="1800">
                <a:latin typeface="Arial" panose="020B0604020202020204" pitchFamily="34" charset="0"/>
              </a:rPr>
              <a:t>/</a:t>
            </a:r>
            <a:r>
              <a:rPr kumimoji="0" lang="zh-CN" altLang="en-US" sz="1800">
                <a:latin typeface="Arial" panose="020B0604020202020204" pitchFamily="34" charset="0"/>
              </a:rPr>
              <a:t>岗位设计</a:t>
            </a:r>
          </a:p>
        </p:txBody>
      </p:sp>
      <p:sp>
        <p:nvSpPr>
          <p:cNvPr id="77829" name="Rectangle 5">
            <a:extLst>
              <a:ext uri="{FF2B5EF4-FFF2-40B4-BE49-F238E27FC236}">
                <a16:creationId xmlns:a16="http://schemas.microsoft.com/office/drawing/2014/main" id="{08B39892-5683-6D21-A26A-D68A43DFE800}"/>
              </a:ext>
            </a:extLst>
          </p:cNvPr>
          <p:cNvSpPr>
            <a:spLocks noChangeArrowheads="1"/>
          </p:cNvSpPr>
          <p:nvPr/>
        </p:nvSpPr>
        <p:spPr bwMode="auto">
          <a:xfrm>
            <a:off x="6084888" y="1844675"/>
            <a:ext cx="1728787" cy="7921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3.</a:t>
            </a:r>
            <a:r>
              <a:rPr kumimoji="0" lang="zh-CN" altLang="en-US" sz="1800">
                <a:latin typeface="Arial" panose="020B0604020202020204" pitchFamily="34" charset="0"/>
              </a:rPr>
              <a:t>分层</a:t>
            </a:r>
            <a:r>
              <a:rPr kumimoji="0" lang="en-US" altLang="zh-CN" sz="1800">
                <a:latin typeface="Arial" panose="020B0604020202020204" pitchFamily="34" charset="0"/>
              </a:rPr>
              <a:t>/</a:t>
            </a:r>
            <a:r>
              <a:rPr kumimoji="0" lang="zh-CN" altLang="en-US" sz="1800">
                <a:latin typeface="Arial" panose="020B0604020202020204" pitchFamily="34" charset="0"/>
              </a:rPr>
              <a:t>分组</a:t>
            </a:r>
          </a:p>
        </p:txBody>
      </p:sp>
      <p:sp>
        <p:nvSpPr>
          <p:cNvPr id="77830" name="Rectangle 6">
            <a:extLst>
              <a:ext uri="{FF2B5EF4-FFF2-40B4-BE49-F238E27FC236}">
                <a16:creationId xmlns:a16="http://schemas.microsoft.com/office/drawing/2014/main" id="{67A1C1D6-6F6E-1B3E-3F8A-D273E1CDA374}"/>
              </a:ext>
            </a:extLst>
          </p:cNvPr>
          <p:cNvSpPr>
            <a:spLocks noChangeArrowheads="1"/>
          </p:cNvSpPr>
          <p:nvPr/>
        </p:nvSpPr>
        <p:spPr bwMode="auto">
          <a:xfrm>
            <a:off x="1042988" y="3644900"/>
            <a:ext cx="1728787" cy="7921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6.</a:t>
            </a:r>
            <a:r>
              <a:rPr kumimoji="0" lang="zh-CN" altLang="en-US" sz="1800">
                <a:latin typeface="Arial" panose="020B0604020202020204" pitchFamily="34" charset="0"/>
              </a:rPr>
              <a:t>协调配合</a:t>
            </a:r>
          </a:p>
        </p:txBody>
      </p:sp>
      <p:sp>
        <p:nvSpPr>
          <p:cNvPr id="77831" name="Rectangle 7">
            <a:extLst>
              <a:ext uri="{FF2B5EF4-FFF2-40B4-BE49-F238E27FC236}">
                <a16:creationId xmlns:a16="http://schemas.microsoft.com/office/drawing/2014/main" id="{A466F20C-EE6D-A989-CFF9-8885E4522808}"/>
              </a:ext>
            </a:extLst>
          </p:cNvPr>
          <p:cNvSpPr>
            <a:spLocks noChangeArrowheads="1"/>
          </p:cNvSpPr>
          <p:nvPr/>
        </p:nvSpPr>
        <p:spPr bwMode="auto">
          <a:xfrm>
            <a:off x="3563938" y="3644900"/>
            <a:ext cx="1728787" cy="7921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5.</a:t>
            </a:r>
            <a:r>
              <a:rPr kumimoji="0" lang="zh-CN" altLang="en-US" sz="1800">
                <a:latin typeface="Arial" panose="020B0604020202020204" pitchFamily="34" charset="0"/>
              </a:rPr>
              <a:t>授权</a:t>
            </a:r>
          </a:p>
        </p:txBody>
      </p:sp>
      <p:sp>
        <p:nvSpPr>
          <p:cNvPr id="77832" name="Rectangle 8">
            <a:extLst>
              <a:ext uri="{FF2B5EF4-FFF2-40B4-BE49-F238E27FC236}">
                <a16:creationId xmlns:a16="http://schemas.microsoft.com/office/drawing/2014/main" id="{96B2C9AB-9A37-2980-943B-43A79BA495BE}"/>
              </a:ext>
            </a:extLst>
          </p:cNvPr>
          <p:cNvSpPr>
            <a:spLocks noChangeArrowheads="1"/>
          </p:cNvSpPr>
          <p:nvPr/>
        </p:nvSpPr>
        <p:spPr bwMode="auto">
          <a:xfrm>
            <a:off x="6084888" y="3644900"/>
            <a:ext cx="1728787" cy="7921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4.</a:t>
            </a:r>
            <a:r>
              <a:rPr kumimoji="0" lang="zh-CN" altLang="en-US" sz="1800">
                <a:latin typeface="Arial" panose="020B0604020202020204" pitchFamily="34" charset="0"/>
              </a:rPr>
              <a:t>配备人员</a:t>
            </a:r>
          </a:p>
        </p:txBody>
      </p:sp>
      <p:sp>
        <p:nvSpPr>
          <p:cNvPr id="77833" name="Line 9">
            <a:extLst>
              <a:ext uri="{FF2B5EF4-FFF2-40B4-BE49-F238E27FC236}">
                <a16:creationId xmlns:a16="http://schemas.microsoft.com/office/drawing/2014/main" id="{C16CAC42-4909-137F-EFC1-C5BFEB43EDCB}"/>
              </a:ext>
            </a:extLst>
          </p:cNvPr>
          <p:cNvSpPr>
            <a:spLocks noChangeShapeType="1"/>
          </p:cNvSpPr>
          <p:nvPr/>
        </p:nvSpPr>
        <p:spPr bwMode="auto">
          <a:xfrm>
            <a:off x="2771775" y="2205038"/>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4" name="Line 10">
            <a:extLst>
              <a:ext uri="{FF2B5EF4-FFF2-40B4-BE49-F238E27FC236}">
                <a16:creationId xmlns:a16="http://schemas.microsoft.com/office/drawing/2014/main" id="{A345C71B-5CC7-C077-FBA9-3363562978B9}"/>
              </a:ext>
            </a:extLst>
          </p:cNvPr>
          <p:cNvSpPr>
            <a:spLocks noChangeShapeType="1"/>
          </p:cNvSpPr>
          <p:nvPr/>
        </p:nvSpPr>
        <p:spPr bwMode="auto">
          <a:xfrm>
            <a:off x="5292725" y="2205038"/>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5" name="Line 11">
            <a:extLst>
              <a:ext uri="{FF2B5EF4-FFF2-40B4-BE49-F238E27FC236}">
                <a16:creationId xmlns:a16="http://schemas.microsoft.com/office/drawing/2014/main" id="{E9E9A966-360B-0998-F530-48F37F68155E}"/>
              </a:ext>
            </a:extLst>
          </p:cNvPr>
          <p:cNvSpPr>
            <a:spLocks noChangeShapeType="1"/>
          </p:cNvSpPr>
          <p:nvPr/>
        </p:nvSpPr>
        <p:spPr bwMode="auto">
          <a:xfrm>
            <a:off x="6948488" y="2636838"/>
            <a:ext cx="0" cy="10080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6" name="Line 12">
            <a:extLst>
              <a:ext uri="{FF2B5EF4-FFF2-40B4-BE49-F238E27FC236}">
                <a16:creationId xmlns:a16="http://schemas.microsoft.com/office/drawing/2014/main" id="{1B0332D9-8513-6D8E-4EDA-DC237EFE1E3F}"/>
              </a:ext>
            </a:extLst>
          </p:cNvPr>
          <p:cNvSpPr>
            <a:spLocks noChangeShapeType="1"/>
          </p:cNvSpPr>
          <p:nvPr/>
        </p:nvSpPr>
        <p:spPr bwMode="auto">
          <a:xfrm flipH="1">
            <a:off x="5292725" y="4005263"/>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7" name="Line 13">
            <a:extLst>
              <a:ext uri="{FF2B5EF4-FFF2-40B4-BE49-F238E27FC236}">
                <a16:creationId xmlns:a16="http://schemas.microsoft.com/office/drawing/2014/main" id="{C96936F8-849E-C2CA-46A5-7E9BF0EF160B}"/>
              </a:ext>
            </a:extLst>
          </p:cNvPr>
          <p:cNvSpPr>
            <a:spLocks noChangeShapeType="1"/>
          </p:cNvSpPr>
          <p:nvPr/>
        </p:nvSpPr>
        <p:spPr bwMode="auto">
          <a:xfrm flipH="1">
            <a:off x="2771775" y="4005263"/>
            <a:ext cx="7921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8" name="Line 14">
            <a:extLst>
              <a:ext uri="{FF2B5EF4-FFF2-40B4-BE49-F238E27FC236}">
                <a16:creationId xmlns:a16="http://schemas.microsoft.com/office/drawing/2014/main" id="{E337B8C0-0EF2-4462-6FFF-B7CDCC625E8E}"/>
              </a:ext>
            </a:extLst>
          </p:cNvPr>
          <p:cNvSpPr>
            <a:spLocks noChangeShapeType="1"/>
          </p:cNvSpPr>
          <p:nvPr/>
        </p:nvSpPr>
        <p:spPr bwMode="auto">
          <a:xfrm flipV="1">
            <a:off x="1835150" y="2636838"/>
            <a:ext cx="0" cy="1008062"/>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39" name="Text Box 15">
            <a:extLst>
              <a:ext uri="{FF2B5EF4-FFF2-40B4-BE49-F238E27FC236}">
                <a16:creationId xmlns:a16="http://schemas.microsoft.com/office/drawing/2014/main" id="{D5EFB786-B889-81B2-BB09-364AC1C902BE}"/>
              </a:ext>
            </a:extLst>
          </p:cNvPr>
          <p:cNvSpPr txBox="1">
            <a:spLocks noChangeArrowheads="1"/>
          </p:cNvSpPr>
          <p:nvPr/>
        </p:nvSpPr>
        <p:spPr bwMode="auto">
          <a:xfrm>
            <a:off x="3419475" y="4699000"/>
            <a:ext cx="196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2000">
                <a:latin typeface="黑体" panose="02010609060101010101" pitchFamily="49" charset="-122"/>
                <a:ea typeface="黑体" panose="02010609060101010101" pitchFamily="49" charset="-122"/>
              </a:rPr>
              <a:t>组织工作的过程</a:t>
            </a:r>
          </a:p>
        </p:txBody>
      </p:sp>
      <p:sp>
        <p:nvSpPr>
          <p:cNvPr id="77840" name="Text Box 16">
            <a:extLst>
              <a:ext uri="{FF2B5EF4-FFF2-40B4-BE49-F238E27FC236}">
                <a16:creationId xmlns:a16="http://schemas.microsoft.com/office/drawing/2014/main" id="{B55A77E9-A17F-EAF5-3F4D-F8486B85A56A}"/>
              </a:ext>
            </a:extLst>
          </p:cNvPr>
          <p:cNvSpPr txBox="1">
            <a:spLocks noChangeArrowheads="1"/>
          </p:cNvSpPr>
          <p:nvPr/>
        </p:nvSpPr>
        <p:spPr bwMode="auto">
          <a:xfrm>
            <a:off x="179388" y="188913"/>
            <a:ext cx="3240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a:latin typeface="宋体" panose="02010600030101010101" pitchFamily="2" charset="-122"/>
              </a:rPr>
              <a:t>7.1.</a:t>
            </a:r>
            <a:r>
              <a:rPr kumimoji="0" lang="zh-CN" altLang="en-US" sz="1600">
                <a:latin typeface="宋体" panose="02010600030101010101" pitchFamily="2" charset="-122"/>
              </a:rPr>
              <a:t>组织工作的性质、过程和结构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B25A419-A07C-6AA6-0906-AFD4BB467FD8}"/>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9CFB31F4-7D39-9D61-4DD4-73DA01B1DA6E}"/>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A635FEBB-D5BA-D125-F6FE-489482A84601}"/>
              </a:ext>
            </a:extLst>
          </p:cNvPr>
          <p:cNvSpPr>
            <a:spLocks noGrp="1"/>
          </p:cNvSpPr>
          <p:nvPr>
            <p:ph type="sldNum" sz="quarter" idx="12"/>
          </p:nvPr>
        </p:nvSpPr>
        <p:spPr/>
        <p:txBody>
          <a:bodyPr/>
          <a:lstStyle/>
          <a:p>
            <a:fld id="{8DA4626A-9B52-4C1E-B7C6-4C6DCFA58F19}" type="slidenum">
              <a:rPr lang="en-US" altLang="zh-CN"/>
              <a:pPr/>
              <a:t>5</a:t>
            </a:fld>
            <a:endParaRPr lang="en-US" altLang="zh-CN"/>
          </a:p>
        </p:txBody>
      </p:sp>
      <p:graphicFrame>
        <p:nvGraphicFramePr>
          <p:cNvPr id="70695" name="Group 39">
            <a:extLst>
              <a:ext uri="{FF2B5EF4-FFF2-40B4-BE49-F238E27FC236}">
                <a16:creationId xmlns:a16="http://schemas.microsoft.com/office/drawing/2014/main" id="{FE5EA20F-F39D-0C26-4717-BF4E4689096E}"/>
              </a:ext>
            </a:extLst>
          </p:cNvPr>
          <p:cNvGraphicFramePr>
            <a:graphicFrameLocks noGrp="1"/>
          </p:cNvGraphicFramePr>
          <p:nvPr/>
        </p:nvGraphicFramePr>
        <p:xfrm>
          <a:off x="468313" y="1196975"/>
          <a:ext cx="8280400" cy="2016125"/>
        </p:xfrm>
        <a:graphic>
          <a:graphicData uri="http://schemas.openxmlformats.org/drawingml/2006/table">
            <a:tbl>
              <a:tblPr/>
              <a:tblGrid>
                <a:gridCol w="1446212">
                  <a:extLst>
                    <a:ext uri="{9D8B030D-6E8A-4147-A177-3AD203B41FA5}">
                      <a16:colId xmlns:a16="http://schemas.microsoft.com/office/drawing/2014/main" val="1786133258"/>
                    </a:ext>
                  </a:extLst>
                </a:gridCol>
                <a:gridCol w="4770438">
                  <a:extLst>
                    <a:ext uri="{9D8B030D-6E8A-4147-A177-3AD203B41FA5}">
                      <a16:colId xmlns:a16="http://schemas.microsoft.com/office/drawing/2014/main" val="860978814"/>
                    </a:ext>
                  </a:extLst>
                </a:gridCol>
                <a:gridCol w="2063750">
                  <a:extLst>
                    <a:ext uri="{9D8B030D-6E8A-4147-A177-3AD203B41FA5}">
                      <a16:colId xmlns:a16="http://schemas.microsoft.com/office/drawing/2014/main" val="4130382421"/>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定义</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举例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6688418"/>
                  </a:ext>
                </a:extLst>
              </a:tr>
              <a:tr h="5842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正式组织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指在组织中有意形成的角色职务结构。在正式组织中的成员都有法定的职位与权责，依据法定规章行事，每个人都要经过合法程序进入或退出组织。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董事会，总经理，厂长，车间主任，销售部，事业部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91476203"/>
                  </a:ext>
                </a:extLst>
              </a:tr>
              <a:tr h="8270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非正式组织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指组织中不是由正式组织所建立或所需要的，而是由于人们互相联系而自发形成的个人和社会关系的网络。</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校友，老乡，同学，朋友</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5053800"/>
                  </a:ext>
                </a:extLst>
              </a:tr>
            </a:tbl>
          </a:graphicData>
        </a:graphic>
      </p:graphicFrame>
      <p:graphicFrame>
        <p:nvGraphicFramePr>
          <p:cNvPr id="70696" name="Group 40">
            <a:extLst>
              <a:ext uri="{FF2B5EF4-FFF2-40B4-BE49-F238E27FC236}">
                <a16:creationId xmlns:a16="http://schemas.microsoft.com/office/drawing/2014/main" id="{950F7840-802B-DC9D-A824-92E5DFE429DA}"/>
              </a:ext>
            </a:extLst>
          </p:cNvPr>
          <p:cNvGraphicFramePr>
            <a:graphicFrameLocks noGrp="1"/>
          </p:cNvGraphicFramePr>
          <p:nvPr/>
        </p:nvGraphicFramePr>
        <p:xfrm>
          <a:off x="468313" y="3284538"/>
          <a:ext cx="8280400" cy="2592387"/>
        </p:xfrm>
        <a:graphic>
          <a:graphicData uri="http://schemas.openxmlformats.org/drawingml/2006/table">
            <a:tbl>
              <a:tblPr/>
              <a:tblGrid>
                <a:gridCol w="3024187">
                  <a:extLst>
                    <a:ext uri="{9D8B030D-6E8A-4147-A177-3AD203B41FA5}">
                      <a16:colId xmlns:a16="http://schemas.microsoft.com/office/drawing/2014/main" val="4266622059"/>
                    </a:ext>
                  </a:extLst>
                </a:gridCol>
                <a:gridCol w="5256213">
                  <a:extLst>
                    <a:ext uri="{9D8B030D-6E8A-4147-A177-3AD203B41FA5}">
                      <a16:colId xmlns:a16="http://schemas.microsoft.com/office/drawing/2014/main" val="2651210012"/>
                    </a:ext>
                  </a:extLst>
                </a:gridCol>
              </a:tblGrid>
              <a:tr h="7477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非正式组织的积极作用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满足人们的社会心理方面的需求</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建立和维持良好的人际关系</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通过非正式组织来提高效率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9177092"/>
                  </a:ext>
                </a:extLst>
              </a:tr>
              <a:tr h="7477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非正式组织的消极作用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限制产量</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传播谣言</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抵制变革</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4381108"/>
                  </a:ext>
                </a:extLst>
              </a:tr>
              <a:tr h="7477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对待非正式组织的策略</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正视和承认非正式组织的存在</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向组织需要的方向引导非正式组织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8217080"/>
                  </a:ext>
                </a:extLst>
              </a:tr>
            </a:tbl>
          </a:graphicData>
        </a:graphic>
      </p:graphicFrame>
      <p:sp>
        <p:nvSpPr>
          <p:cNvPr id="70697" name="Text Box 41">
            <a:extLst>
              <a:ext uri="{FF2B5EF4-FFF2-40B4-BE49-F238E27FC236}">
                <a16:creationId xmlns:a16="http://schemas.microsoft.com/office/drawing/2014/main" id="{FAD8880B-0155-9130-854A-F587C343E2C3}"/>
              </a:ext>
            </a:extLst>
          </p:cNvPr>
          <p:cNvSpPr txBox="1">
            <a:spLocks noChangeArrowheads="1"/>
          </p:cNvSpPr>
          <p:nvPr/>
        </p:nvSpPr>
        <p:spPr bwMode="auto">
          <a:xfrm>
            <a:off x="3419475" y="692150"/>
            <a:ext cx="2808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正式组织与非正式组织</a:t>
            </a:r>
          </a:p>
        </p:txBody>
      </p:sp>
      <p:sp>
        <p:nvSpPr>
          <p:cNvPr id="70699" name="Text Box 43">
            <a:extLst>
              <a:ext uri="{FF2B5EF4-FFF2-40B4-BE49-F238E27FC236}">
                <a16:creationId xmlns:a16="http://schemas.microsoft.com/office/drawing/2014/main" id="{C4A71AED-D69D-7754-8A61-33F51F43A2D8}"/>
              </a:ext>
            </a:extLst>
          </p:cNvPr>
          <p:cNvSpPr txBox="1">
            <a:spLocks noChangeArrowheads="1"/>
          </p:cNvSpPr>
          <p:nvPr/>
        </p:nvSpPr>
        <p:spPr bwMode="auto">
          <a:xfrm>
            <a:off x="179388" y="188913"/>
            <a:ext cx="32400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sz="1600">
                <a:latin typeface="宋体" panose="02010600030101010101" pitchFamily="2" charset="-122"/>
              </a:rPr>
              <a:t>7.1.</a:t>
            </a:r>
            <a:r>
              <a:rPr kumimoji="0" lang="zh-CN" altLang="en-US" sz="1600">
                <a:latin typeface="宋体" panose="02010600030101010101" pitchFamily="2" charset="-122"/>
              </a:rPr>
              <a:t>组织工作的性质、过程和结构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961AC26-081A-DB25-6044-C3202759E6F0}"/>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E7CF660E-FED0-DBFE-03FD-59AD7EF51651}"/>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9B7C7E0F-EFCD-803E-5420-8810D853FEA7}"/>
              </a:ext>
            </a:extLst>
          </p:cNvPr>
          <p:cNvSpPr>
            <a:spLocks noGrp="1"/>
          </p:cNvSpPr>
          <p:nvPr>
            <p:ph type="sldNum" sz="quarter" idx="12"/>
          </p:nvPr>
        </p:nvSpPr>
        <p:spPr/>
        <p:txBody>
          <a:bodyPr/>
          <a:lstStyle/>
          <a:p>
            <a:fld id="{A08454C8-1F1E-47A3-9C45-188D86BCD50A}" type="slidenum">
              <a:rPr lang="en-US" altLang="zh-CN"/>
              <a:pPr/>
              <a:t>6</a:t>
            </a:fld>
            <a:endParaRPr lang="en-US" altLang="zh-CN"/>
          </a:p>
        </p:txBody>
      </p:sp>
      <p:sp>
        <p:nvSpPr>
          <p:cNvPr id="78850" name="Text Box 2">
            <a:extLst>
              <a:ext uri="{FF2B5EF4-FFF2-40B4-BE49-F238E27FC236}">
                <a16:creationId xmlns:a16="http://schemas.microsoft.com/office/drawing/2014/main" id="{73E7902D-F20C-1969-1672-EDFD41D7CEEF}"/>
              </a:ext>
            </a:extLst>
          </p:cNvPr>
          <p:cNvSpPr txBox="1">
            <a:spLocks noChangeArrowheads="1"/>
          </p:cNvSpPr>
          <p:nvPr/>
        </p:nvSpPr>
        <p:spPr bwMode="auto">
          <a:xfrm>
            <a:off x="7235825" y="3141663"/>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职务广度</a:t>
            </a:r>
          </a:p>
        </p:txBody>
      </p:sp>
      <p:sp>
        <p:nvSpPr>
          <p:cNvPr id="78851" name="Text Box 3">
            <a:extLst>
              <a:ext uri="{FF2B5EF4-FFF2-40B4-BE49-F238E27FC236}">
                <a16:creationId xmlns:a16="http://schemas.microsoft.com/office/drawing/2014/main" id="{DD5F1B66-966E-11D2-CF67-C0EC7719D3DA}"/>
              </a:ext>
            </a:extLst>
          </p:cNvPr>
          <p:cNvSpPr txBox="1">
            <a:spLocks noChangeArrowheads="1"/>
          </p:cNvSpPr>
          <p:nvPr/>
        </p:nvSpPr>
        <p:spPr bwMode="auto">
          <a:xfrm>
            <a:off x="4067175" y="5589588"/>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职务深度</a:t>
            </a:r>
          </a:p>
        </p:txBody>
      </p:sp>
      <p:sp>
        <p:nvSpPr>
          <p:cNvPr id="78852" name="Text Box 4">
            <a:extLst>
              <a:ext uri="{FF2B5EF4-FFF2-40B4-BE49-F238E27FC236}">
                <a16:creationId xmlns:a16="http://schemas.microsoft.com/office/drawing/2014/main" id="{F7811348-D1DC-A62A-B0C4-B890A90BAE9C}"/>
              </a:ext>
            </a:extLst>
          </p:cNvPr>
          <p:cNvSpPr txBox="1">
            <a:spLocks noChangeArrowheads="1"/>
          </p:cNvSpPr>
          <p:nvPr/>
        </p:nvSpPr>
        <p:spPr bwMode="auto">
          <a:xfrm>
            <a:off x="4427538" y="1125538"/>
            <a:ext cx="5048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大</a:t>
            </a:r>
          </a:p>
        </p:txBody>
      </p:sp>
      <p:sp>
        <p:nvSpPr>
          <p:cNvPr id="78853" name="Text Box 5">
            <a:extLst>
              <a:ext uri="{FF2B5EF4-FFF2-40B4-BE49-F238E27FC236}">
                <a16:creationId xmlns:a16="http://schemas.microsoft.com/office/drawing/2014/main" id="{064C57F1-62A9-F611-369F-020D881A981F}"/>
              </a:ext>
            </a:extLst>
          </p:cNvPr>
          <p:cNvSpPr txBox="1">
            <a:spLocks noChangeArrowheads="1"/>
          </p:cNvSpPr>
          <p:nvPr/>
        </p:nvSpPr>
        <p:spPr bwMode="auto">
          <a:xfrm>
            <a:off x="4427538" y="5229225"/>
            <a:ext cx="4333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小</a:t>
            </a:r>
          </a:p>
        </p:txBody>
      </p:sp>
      <p:sp>
        <p:nvSpPr>
          <p:cNvPr id="78854" name="Text Box 6">
            <a:extLst>
              <a:ext uri="{FF2B5EF4-FFF2-40B4-BE49-F238E27FC236}">
                <a16:creationId xmlns:a16="http://schemas.microsoft.com/office/drawing/2014/main" id="{BAD90633-E6A2-9A2E-9BB3-070E74CB6E0B}"/>
              </a:ext>
            </a:extLst>
          </p:cNvPr>
          <p:cNvSpPr txBox="1">
            <a:spLocks noChangeArrowheads="1"/>
          </p:cNvSpPr>
          <p:nvPr/>
        </p:nvSpPr>
        <p:spPr bwMode="auto">
          <a:xfrm>
            <a:off x="1835150" y="3141663"/>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窄</a:t>
            </a:r>
          </a:p>
        </p:txBody>
      </p:sp>
      <p:sp>
        <p:nvSpPr>
          <p:cNvPr id="78855" name="Text Box 7">
            <a:extLst>
              <a:ext uri="{FF2B5EF4-FFF2-40B4-BE49-F238E27FC236}">
                <a16:creationId xmlns:a16="http://schemas.microsoft.com/office/drawing/2014/main" id="{CDA3A0BD-3881-A9A9-2738-93A38CB57343}"/>
              </a:ext>
            </a:extLst>
          </p:cNvPr>
          <p:cNvSpPr txBox="1">
            <a:spLocks noChangeArrowheads="1"/>
          </p:cNvSpPr>
          <p:nvPr/>
        </p:nvSpPr>
        <p:spPr bwMode="auto">
          <a:xfrm>
            <a:off x="6877050" y="3141663"/>
            <a:ext cx="433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宽</a:t>
            </a:r>
          </a:p>
        </p:txBody>
      </p:sp>
      <p:sp>
        <p:nvSpPr>
          <p:cNvPr id="78856" name="Line 8">
            <a:extLst>
              <a:ext uri="{FF2B5EF4-FFF2-40B4-BE49-F238E27FC236}">
                <a16:creationId xmlns:a16="http://schemas.microsoft.com/office/drawing/2014/main" id="{74C73493-A9A7-8D3E-A9BD-824991D5EC59}"/>
              </a:ext>
            </a:extLst>
          </p:cNvPr>
          <p:cNvSpPr>
            <a:spLocks noChangeShapeType="1"/>
          </p:cNvSpPr>
          <p:nvPr/>
        </p:nvSpPr>
        <p:spPr bwMode="auto">
          <a:xfrm>
            <a:off x="2339975" y="3716338"/>
            <a:ext cx="50403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57" name="Line 9">
            <a:extLst>
              <a:ext uri="{FF2B5EF4-FFF2-40B4-BE49-F238E27FC236}">
                <a16:creationId xmlns:a16="http://schemas.microsoft.com/office/drawing/2014/main" id="{FFA7510B-1E39-8CD0-BFBB-BFBBB2913896}"/>
              </a:ext>
            </a:extLst>
          </p:cNvPr>
          <p:cNvSpPr>
            <a:spLocks noChangeShapeType="1"/>
          </p:cNvSpPr>
          <p:nvPr/>
        </p:nvSpPr>
        <p:spPr bwMode="auto">
          <a:xfrm>
            <a:off x="2339975" y="3357563"/>
            <a:ext cx="45354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58" name="Line 10">
            <a:extLst>
              <a:ext uri="{FF2B5EF4-FFF2-40B4-BE49-F238E27FC236}">
                <a16:creationId xmlns:a16="http://schemas.microsoft.com/office/drawing/2014/main" id="{B10B9D96-1CC2-0043-D0C5-6316F08F4265}"/>
              </a:ext>
            </a:extLst>
          </p:cNvPr>
          <p:cNvSpPr>
            <a:spLocks noChangeShapeType="1"/>
          </p:cNvSpPr>
          <p:nvPr/>
        </p:nvSpPr>
        <p:spPr bwMode="auto">
          <a:xfrm flipV="1">
            <a:off x="4643438" y="1557338"/>
            <a:ext cx="0" cy="36718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59" name="Text Box 11">
            <a:extLst>
              <a:ext uri="{FF2B5EF4-FFF2-40B4-BE49-F238E27FC236}">
                <a16:creationId xmlns:a16="http://schemas.microsoft.com/office/drawing/2014/main" id="{14235C6C-6EBB-AB8A-7014-D5855C9BE305}"/>
              </a:ext>
            </a:extLst>
          </p:cNvPr>
          <p:cNvSpPr txBox="1">
            <a:spLocks noChangeArrowheads="1"/>
          </p:cNvSpPr>
          <p:nvPr/>
        </p:nvSpPr>
        <p:spPr bwMode="auto">
          <a:xfrm>
            <a:off x="7308850" y="3573463"/>
            <a:ext cx="1439863"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职务扩大化</a:t>
            </a:r>
          </a:p>
          <a:p>
            <a:pPr>
              <a:spcBef>
                <a:spcPct val="50000"/>
              </a:spcBef>
            </a:pPr>
            <a:r>
              <a:rPr kumimoji="0" lang="zh-CN" altLang="en-US" sz="1600">
                <a:latin typeface="Arial" panose="020B0604020202020204" pitchFamily="34" charset="0"/>
              </a:rPr>
              <a:t>增加任务数量</a:t>
            </a:r>
          </a:p>
        </p:txBody>
      </p:sp>
      <p:sp>
        <p:nvSpPr>
          <p:cNvPr id="78860" name="Line 12">
            <a:extLst>
              <a:ext uri="{FF2B5EF4-FFF2-40B4-BE49-F238E27FC236}">
                <a16:creationId xmlns:a16="http://schemas.microsoft.com/office/drawing/2014/main" id="{2E3901E9-D285-7035-2F74-E1B1D2D94838}"/>
              </a:ext>
            </a:extLst>
          </p:cNvPr>
          <p:cNvSpPr>
            <a:spLocks noChangeShapeType="1"/>
          </p:cNvSpPr>
          <p:nvPr/>
        </p:nvSpPr>
        <p:spPr bwMode="auto">
          <a:xfrm flipV="1">
            <a:off x="4859338" y="1125538"/>
            <a:ext cx="0" cy="41036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1" name="Text Box 13">
            <a:extLst>
              <a:ext uri="{FF2B5EF4-FFF2-40B4-BE49-F238E27FC236}">
                <a16:creationId xmlns:a16="http://schemas.microsoft.com/office/drawing/2014/main" id="{69AF52CD-2F0F-0678-9383-BB55B865EBF4}"/>
              </a:ext>
            </a:extLst>
          </p:cNvPr>
          <p:cNvSpPr txBox="1">
            <a:spLocks noChangeArrowheads="1"/>
          </p:cNvSpPr>
          <p:nvPr/>
        </p:nvSpPr>
        <p:spPr bwMode="auto">
          <a:xfrm>
            <a:off x="5076825" y="908050"/>
            <a:ext cx="15113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职务丰富化</a:t>
            </a:r>
          </a:p>
          <a:p>
            <a:pPr>
              <a:spcBef>
                <a:spcPct val="50000"/>
              </a:spcBef>
            </a:pPr>
            <a:r>
              <a:rPr kumimoji="0" lang="zh-CN" altLang="en-US" sz="1600">
                <a:latin typeface="Arial" panose="020B0604020202020204" pitchFamily="34" charset="0"/>
              </a:rPr>
              <a:t>提高工作的负责程度</a:t>
            </a:r>
          </a:p>
        </p:txBody>
      </p:sp>
      <p:sp>
        <p:nvSpPr>
          <p:cNvPr id="78862" name="Text Box 14">
            <a:extLst>
              <a:ext uri="{FF2B5EF4-FFF2-40B4-BE49-F238E27FC236}">
                <a16:creationId xmlns:a16="http://schemas.microsoft.com/office/drawing/2014/main" id="{3AE7748B-0564-C283-D353-2DDC71E836FD}"/>
              </a:ext>
            </a:extLst>
          </p:cNvPr>
          <p:cNvSpPr txBox="1">
            <a:spLocks noChangeArrowheads="1"/>
          </p:cNvSpPr>
          <p:nvPr/>
        </p:nvSpPr>
        <p:spPr bwMode="auto">
          <a:xfrm>
            <a:off x="539750" y="3357563"/>
            <a:ext cx="151130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职务简化</a:t>
            </a:r>
          </a:p>
          <a:p>
            <a:pPr>
              <a:spcBef>
                <a:spcPct val="50000"/>
              </a:spcBef>
            </a:pPr>
            <a:r>
              <a:rPr kumimoji="0" lang="zh-CN" altLang="en-US" sz="1600">
                <a:latin typeface="Arial" panose="020B0604020202020204" pitchFamily="34" charset="0"/>
              </a:rPr>
              <a:t>减少任务数量</a:t>
            </a:r>
          </a:p>
        </p:txBody>
      </p:sp>
      <p:sp>
        <p:nvSpPr>
          <p:cNvPr id="78863" name="Text Box 15">
            <a:extLst>
              <a:ext uri="{FF2B5EF4-FFF2-40B4-BE49-F238E27FC236}">
                <a16:creationId xmlns:a16="http://schemas.microsoft.com/office/drawing/2014/main" id="{C4331097-384E-7DFC-13FA-F590A3534B07}"/>
              </a:ext>
            </a:extLst>
          </p:cNvPr>
          <p:cNvSpPr txBox="1">
            <a:spLocks noChangeArrowheads="1"/>
          </p:cNvSpPr>
          <p:nvPr/>
        </p:nvSpPr>
        <p:spPr bwMode="auto">
          <a:xfrm>
            <a:off x="250825" y="1052513"/>
            <a:ext cx="27368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职务</a:t>
            </a:r>
            <a:r>
              <a:rPr kumimoji="0" lang="en-US" altLang="zh-CN" sz="1800">
                <a:latin typeface="Arial" panose="020B0604020202020204" pitchFamily="34" charset="0"/>
              </a:rPr>
              <a:t>/</a:t>
            </a:r>
            <a:r>
              <a:rPr kumimoji="0" lang="zh-CN" altLang="en-US" sz="1800">
                <a:latin typeface="Arial" panose="020B0604020202020204" pitchFamily="34" charset="0"/>
              </a:rPr>
              <a:t>岗位设计：将职务分割成需要执行的任务。</a:t>
            </a:r>
          </a:p>
        </p:txBody>
      </p:sp>
      <p:sp>
        <p:nvSpPr>
          <p:cNvPr id="78864" name="Line 16">
            <a:extLst>
              <a:ext uri="{FF2B5EF4-FFF2-40B4-BE49-F238E27FC236}">
                <a16:creationId xmlns:a16="http://schemas.microsoft.com/office/drawing/2014/main" id="{5A8E52B7-7AE8-C289-71FB-B9D468EFF3B4}"/>
              </a:ext>
            </a:extLst>
          </p:cNvPr>
          <p:cNvSpPr>
            <a:spLocks noChangeShapeType="1"/>
          </p:cNvSpPr>
          <p:nvPr/>
        </p:nvSpPr>
        <p:spPr bwMode="auto">
          <a:xfrm flipH="1">
            <a:off x="1692275" y="3500438"/>
            <a:ext cx="51847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5" name="Text Box 17">
            <a:extLst>
              <a:ext uri="{FF2B5EF4-FFF2-40B4-BE49-F238E27FC236}">
                <a16:creationId xmlns:a16="http://schemas.microsoft.com/office/drawing/2014/main" id="{A5CD8D80-EECD-2E56-03E8-ECAC643E0962}"/>
              </a:ext>
            </a:extLst>
          </p:cNvPr>
          <p:cNvSpPr txBox="1">
            <a:spLocks noChangeArrowheads="1"/>
          </p:cNvSpPr>
          <p:nvPr/>
        </p:nvSpPr>
        <p:spPr bwMode="auto">
          <a:xfrm>
            <a:off x="179388" y="215900"/>
            <a:ext cx="1809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宋体" panose="02010600030101010101" pitchFamily="2" charset="-122"/>
              </a:rPr>
              <a:t>7.2</a:t>
            </a:r>
            <a:r>
              <a:rPr kumimoji="0" lang="zh-CN" altLang="en-US" sz="1600">
                <a:latin typeface="宋体" panose="02010600030101010101" pitchFamily="2" charset="-122"/>
              </a:rPr>
              <a:t>职务</a:t>
            </a:r>
            <a:r>
              <a:rPr kumimoji="0" lang="en-US" altLang="zh-CN" sz="1600">
                <a:latin typeface="宋体" panose="02010600030101010101" pitchFamily="2" charset="-122"/>
              </a:rPr>
              <a:t>/</a:t>
            </a:r>
            <a:r>
              <a:rPr kumimoji="0" lang="zh-CN" altLang="en-US" sz="1600">
                <a:latin typeface="宋体" panose="02010600030101010101" pitchFamily="2" charset="-122"/>
              </a:rPr>
              <a:t>岗位设计</a:t>
            </a:r>
          </a:p>
        </p:txBody>
      </p:sp>
      <p:sp>
        <p:nvSpPr>
          <p:cNvPr id="78866" name="Line 18">
            <a:extLst>
              <a:ext uri="{FF2B5EF4-FFF2-40B4-BE49-F238E27FC236}">
                <a16:creationId xmlns:a16="http://schemas.microsoft.com/office/drawing/2014/main" id="{F79C065A-07E5-7243-2987-F3B591465F84}"/>
              </a:ext>
            </a:extLst>
          </p:cNvPr>
          <p:cNvSpPr>
            <a:spLocks noChangeShapeType="1"/>
          </p:cNvSpPr>
          <p:nvPr/>
        </p:nvSpPr>
        <p:spPr bwMode="auto">
          <a:xfrm flipH="1">
            <a:off x="2339975" y="2781300"/>
            <a:ext cx="2952750" cy="25923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867" name="Text Box 19">
            <a:extLst>
              <a:ext uri="{FF2B5EF4-FFF2-40B4-BE49-F238E27FC236}">
                <a16:creationId xmlns:a16="http://schemas.microsoft.com/office/drawing/2014/main" id="{F3941D02-7D2D-32BA-151A-79646C7DCB10}"/>
              </a:ext>
            </a:extLst>
          </p:cNvPr>
          <p:cNvSpPr txBox="1">
            <a:spLocks noChangeArrowheads="1"/>
          </p:cNvSpPr>
          <p:nvPr/>
        </p:nvSpPr>
        <p:spPr bwMode="auto">
          <a:xfrm>
            <a:off x="900113" y="5300663"/>
            <a:ext cx="1512887"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职务专业化</a:t>
            </a:r>
          </a:p>
          <a:p>
            <a:pPr>
              <a:spcBef>
                <a:spcPct val="50000"/>
              </a:spcBef>
            </a:pPr>
            <a:r>
              <a:rPr kumimoji="0" lang="zh-CN" altLang="en-US" sz="1600">
                <a:latin typeface="Arial" panose="020B0604020202020204" pitchFamily="34" charset="0"/>
              </a:rPr>
              <a:t>同时减少任务数量和自主权</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FEE74F3-843B-6079-9456-C15A8B905415}"/>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2287C22C-F8C2-B61D-0B9D-8B75E480AD64}"/>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579292DA-B467-8A26-0293-0B491E2FB517}"/>
              </a:ext>
            </a:extLst>
          </p:cNvPr>
          <p:cNvSpPr>
            <a:spLocks noGrp="1"/>
          </p:cNvSpPr>
          <p:nvPr>
            <p:ph type="sldNum" sz="quarter" idx="12"/>
          </p:nvPr>
        </p:nvSpPr>
        <p:spPr/>
        <p:txBody>
          <a:bodyPr/>
          <a:lstStyle/>
          <a:p>
            <a:fld id="{5E75E446-9DBE-4929-89FF-B1B0DFF16E42}" type="slidenum">
              <a:rPr lang="en-US" altLang="zh-CN"/>
              <a:pPr/>
              <a:t>7</a:t>
            </a:fld>
            <a:endParaRPr lang="en-US" altLang="zh-CN"/>
          </a:p>
        </p:txBody>
      </p:sp>
      <p:sp>
        <p:nvSpPr>
          <p:cNvPr id="79874" name="Rectangle 2">
            <a:extLst>
              <a:ext uri="{FF2B5EF4-FFF2-40B4-BE49-F238E27FC236}">
                <a16:creationId xmlns:a16="http://schemas.microsoft.com/office/drawing/2014/main" id="{CEF83941-8C5D-D67B-B92C-84C1AE158832}"/>
              </a:ext>
            </a:extLst>
          </p:cNvPr>
          <p:cNvSpPr>
            <a:spLocks noChangeArrowheads="1"/>
          </p:cNvSpPr>
          <p:nvPr/>
        </p:nvSpPr>
        <p:spPr bwMode="auto">
          <a:xfrm>
            <a:off x="900113" y="1844675"/>
            <a:ext cx="2087562"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技能多样性</a:t>
            </a:r>
          </a:p>
          <a:p>
            <a:pPr algn="ctr"/>
            <a:r>
              <a:rPr kumimoji="0" lang="zh-CN" altLang="en-US" sz="1800">
                <a:latin typeface="Arial" panose="020B0604020202020204" pitchFamily="34" charset="0"/>
              </a:rPr>
              <a:t>任务一致性</a:t>
            </a:r>
          </a:p>
          <a:p>
            <a:pPr algn="ctr"/>
            <a:r>
              <a:rPr kumimoji="0" lang="zh-CN" altLang="en-US" sz="1800">
                <a:latin typeface="Arial" panose="020B0604020202020204" pitchFamily="34" charset="0"/>
              </a:rPr>
              <a:t>任务的意义</a:t>
            </a:r>
          </a:p>
        </p:txBody>
      </p:sp>
      <p:sp>
        <p:nvSpPr>
          <p:cNvPr id="79875" name="Rectangle 3">
            <a:extLst>
              <a:ext uri="{FF2B5EF4-FFF2-40B4-BE49-F238E27FC236}">
                <a16:creationId xmlns:a16="http://schemas.microsoft.com/office/drawing/2014/main" id="{1623D59C-CAB9-4BBE-9F3E-1A3D7743A7B8}"/>
              </a:ext>
            </a:extLst>
          </p:cNvPr>
          <p:cNvSpPr>
            <a:spLocks noChangeArrowheads="1"/>
          </p:cNvSpPr>
          <p:nvPr/>
        </p:nvSpPr>
        <p:spPr bwMode="auto">
          <a:xfrm>
            <a:off x="900113" y="3141663"/>
            <a:ext cx="2087562"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自主性</a:t>
            </a:r>
          </a:p>
        </p:txBody>
      </p:sp>
      <p:sp>
        <p:nvSpPr>
          <p:cNvPr id="79876" name="Rectangle 4">
            <a:extLst>
              <a:ext uri="{FF2B5EF4-FFF2-40B4-BE49-F238E27FC236}">
                <a16:creationId xmlns:a16="http://schemas.microsoft.com/office/drawing/2014/main" id="{07D882CA-A060-9B9F-5AA3-5B338CA11FF7}"/>
              </a:ext>
            </a:extLst>
          </p:cNvPr>
          <p:cNvSpPr>
            <a:spLocks noChangeArrowheads="1"/>
          </p:cNvSpPr>
          <p:nvPr/>
        </p:nvSpPr>
        <p:spPr bwMode="auto">
          <a:xfrm>
            <a:off x="900113" y="4221163"/>
            <a:ext cx="2087562"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反馈</a:t>
            </a:r>
          </a:p>
        </p:txBody>
      </p:sp>
      <p:sp>
        <p:nvSpPr>
          <p:cNvPr id="79877" name="Rectangle 5">
            <a:extLst>
              <a:ext uri="{FF2B5EF4-FFF2-40B4-BE49-F238E27FC236}">
                <a16:creationId xmlns:a16="http://schemas.microsoft.com/office/drawing/2014/main" id="{607D22CC-1300-230B-E1D8-F16FFEB42C1D}"/>
              </a:ext>
            </a:extLst>
          </p:cNvPr>
          <p:cNvSpPr>
            <a:spLocks noChangeArrowheads="1"/>
          </p:cNvSpPr>
          <p:nvPr/>
        </p:nvSpPr>
        <p:spPr bwMode="auto">
          <a:xfrm>
            <a:off x="3419475" y="2060575"/>
            <a:ext cx="2089150"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对工作意义的体验</a:t>
            </a:r>
          </a:p>
        </p:txBody>
      </p:sp>
      <p:sp>
        <p:nvSpPr>
          <p:cNvPr id="79878" name="Rectangle 6">
            <a:extLst>
              <a:ext uri="{FF2B5EF4-FFF2-40B4-BE49-F238E27FC236}">
                <a16:creationId xmlns:a16="http://schemas.microsoft.com/office/drawing/2014/main" id="{4ABE925D-020E-6938-AD84-75608CA9C91A}"/>
              </a:ext>
            </a:extLst>
          </p:cNvPr>
          <p:cNvSpPr>
            <a:spLocks noChangeArrowheads="1"/>
          </p:cNvSpPr>
          <p:nvPr/>
        </p:nvSpPr>
        <p:spPr bwMode="auto">
          <a:xfrm>
            <a:off x="3419475" y="3141663"/>
            <a:ext cx="2089150"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对工作结果的责任感</a:t>
            </a:r>
          </a:p>
        </p:txBody>
      </p:sp>
      <p:sp>
        <p:nvSpPr>
          <p:cNvPr id="79879" name="Rectangle 7">
            <a:extLst>
              <a:ext uri="{FF2B5EF4-FFF2-40B4-BE49-F238E27FC236}">
                <a16:creationId xmlns:a16="http://schemas.microsoft.com/office/drawing/2014/main" id="{23126055-F050-A51D-1ABF-B9A1EC18E75E}"/>
              </a:ext>
            </a:extLst>
          </p:cNvPr>
          <p:cNvSpPr>
            <a:spLocks noChangeArrowheads="1"/>
          </p:cNvSpPr>
          <p:nvPr/>
        </p:nvSpPr>
        <p:spPr bwMode="auto">
          <a:xfrm>
            <a:off x="3419475" y="4221163"/>
            <a:ext cx="2089150"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了解工作结果</a:t>
            </a:r>
          </a:p>
        </p:txBody>
      </p:sp>
      <p:sp>
        <p:nvSpPr>
          <p:cNvPr id="79880" name="Line 8">
            <a:extLst>
              <a:ext uri="{FF2B5EF4-FFF2-40B4-BE49-F238E27FC236}">
                <a16:creationId xmlns:a16="http://schemas.microsoft.com/office/drawing/2014/main" id="{3C7BF6ED-7F71-39F9-6A41-4200F2B6DB4B}"/>
              </a:ext>
            </a:extLst>
          </p:cNvPr>
          <p:cNvSpPr>
            <a:spLocks noChangeShapeType="1"/>
          </p:cNvSpPr>
          <p:nvPr/>
        </p:nvSpPr>
        <p:spPr bwMode="auto">
          <a:xfrm>
            <a:off x="2987675" y="23495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1" name="Line 9">
            <a:extLst>
              <a:ext uri="{FF2B5EF4-FFF2-40B4-BE49-F238E27FC236}">
                <a16:creationId xmlns:a16="http://schemas.microsoft.com/office/drawing/2014/main" id="{649B8203-31ED-8BA2-5139-EE3F21713042}"/>
              </a:ext>
            </a:extLst>
          </p:cNvPr>
          <p:cNvSpPr>
            <a:spLocks noChangeShapeType="1"/>
          </p:cNvSpPr>
          <p:nvPr/>
        </p:nvSpPr>
        <p:spPr bwMode="auto">
          <a:xfrm>
            <a:off x="2987675" y="335756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2" name="Line 10">
            <a:extLst>
              <a:ext uri="{FF2B5EF4-FFF2-40B4-BE49-F238E27FC236}">
                <a16:creationId xmlns:a16="http://schemas.microsoft.com/office/drawing/2014/main" id="{06996997-DF11-BBA7-21FA-01B7BC9DBD31}"/>
              </a:ext>
            </a:extLst>
          </p:cNvPr>
          <p:cNvSpPr>
            <a:spLocks noChangeShapeType="1"/>
          </p:cNvSpPr>
          <p:nvPr/>
        </p:nvSpPr>
        <p:spPr bwMode="auto">
          <a:xfrm>
            <a:off x="2987675" y="4437063"/>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3" name="Rectangle 11">
            <a:extLst>
              <a:ext uri="{FF2B5EF4-FFF2-40B4-BE49-F238E27FC236}">
                <a16:creationId xmlns:a16="http://schemas.microsoft.com/office/drawing/2014/main" id="{B50661C3-B708-D264-77EE-FC9C1DF9EC09}"/>
              </a:ext>
            </a:extLst>
          </p:cNvPr>
          <p:cNvSpPr>
            <a:spLocks noChangeArrowheads="1"/>
          </p:cNvSpPr>
          <p:nvPr/>
        </p:nvSpPr>
        <p:spPr bwMode="auto">
          <a:xfrm>
            <a:off x="6011863" y="1844675"/>
            <a:ext cx="2089150" cy="28797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高激励</a:t>
            </a:r>
          </a:p>
          <a:p>
            <a:pPr algn="ctr"/>
            <a:r>
              <a:rPr kumimoji="0" lang="zh-CN" altLang="en-US" sz="1800">
                <a:latin typeface="Arial" panose="020B0604020202020204" pitchFamily="34" charset="0"/>
              </a:rPr>
              <a:t>高绩效</a:t>
            </a:r>
          </a:p>
          <a:p>
            <a:pPr algn="ctr"/>
            <a:r>
              <a:rPr kumimoji="0" lang="zh-CN" altLang="en-US" sz="1800">
                <a:latin typeface="Arial" panose="020B0604020202020204" pitchFamily="34" charset="0"/>
              </a:rPr>
              <a:t>高满足感</a:t>
            </a:r>
          </a:p>
          <a:p>
            <a:pPr algn="ctr"/>
            <a:r>
              <a:rPr kumimoji="0" lang="zh-CN" altLang="en-US" sz="1800">
                <a:latin typeface="Arial" panose="020B0604020202020204" pitchFamily="34" charset="0"/>
              </a:rPr>
              <a:t>低流动率</a:t>
            </a:r>
          </a:p>
          <a:p>
            <a:pPr algn="ctr"/>
            <a:r>
              <a:rPr kumimoji="0" lang="zh-CN" altLang="en-US" sz="1800">
                <a:latin typeface="Arial" panose="020B0604020202020204" pitchFamily="34" charset="0"/>
              </a:rPr>
              <a:t>低缺勤率</a:t>
            </a:r>
          </a:p>
        </p:txBody>
      </p:sp>
      <p:sp>
        <p:nvSpPr>
          <p:cNvPr id="79884" name="Line 12">
            <a:extLst>
              <a:ext uri="{FF2B5EF4-FFF2-40B4-BE49-F238E27FC236}">
                <a16:creationId xmlns:a16="http://schemas.microsoft.com/office/drawing/2014/main" id="{6FF0C7C0-BB66-78E2-4207-ED5C1FCB1C40}"/>
              </a:ext>
            </a:extLst>
          </p:cNvPr>
          <p:cNvSpPr>
            <a:spLocks noChangeShapeType="1"/>
          </p:cNvSpPr>
          <p:nvPr/>
        </p:nvSpPr>
        <p:spPr bwMode="auto">
          <a:xfrm>
            <a:off x="5508625" y="2276475"/>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5" name="Line 13">
            <a:extLst>
              <a:ext uri="{FF2B5EF4-FFF2-40B4-BE49-F238E27FC236}">
                <a16:creationId xmlns:a16="http://schemas.microsoft.com/office/drawing/2014/main" id="{BCE1EE90-BF44-15FC-058F-67D312C9D180}"/>
              </a:ext>
            </a:extLst>
          </p:cNvPr>
          <p:cNvSpPr>
            <a:spLocks noChangeShapeType="1"/>
          </p:cNvSpPr>
          <p:nvPr/>
        </p:nvSpPr>
        <p:spPr bwMode="auto">
          <a:xfrm flipV="1">
            <a:off x="5508625" y="4437063"/>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6" name="Line 14">
            <a:extLst>
              <a:ext uri="{FF2B5EF4-FFF2-40B4-BE49-F238E27FC236}">
                <a16:creationId xmlns:a16="http://schemas.microsoft.com/office/drawing/2014/main" id="{AC3AA861-0F7A-C4F0-D6D5-8680B284DA0E}"/>
              </a:ext>
            </a:extLst>
          </p:cNvPr>
          <p:cNvSpPr>
            <a:spLocks noChangeShapeType="1"/>
          </p:cNvSpPr>
          <p:nvPr/>
        </p:nvSpPr>
        <p:spPr bwMode="auto">
          <a:xfrm flipV="1">
            <a:off x="5508625" y="3357563"/>
            <a:ext cx="5032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87" name="Rectangle 15">
            <a:extLst>
              <a:ext uri="{FF2B5EF4-FFF2-40B4-BE49-F238E27FC236}">
                <a16:creationId xmlns:a16="http://schemas.microsoft.com/office/drawing/2014/main" id="{DEC9988C-E4B4-0686-EBB9-83E14A986F06}"/>
              </a:ext>
            </a:extLst>
          </p:cNvPr>
          <p:cNvSpPr>
            <a:spLocks noChangeArrowheads="1"/>
          </p:cNvSpPr>
          <p:nvPr/>
        </p:nvSpPr>
        <p:spPr bwMode="auto">
          <a:xfrm>
            <a:off x="6011863" y="981075"/>
            <a:ext cx="2089150"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结果</a:t>
            </a:r>
          </a:p>
        </p:txBody>
      </p:sp>
      <p:sp>
        <p:nvSpPr>
          <p:cNvPr id="79888" name="Text Box 16">
            <a:extLst>
              <a:ext uri="{FF2B5EF4-FFF2-40B4-BE49-F238E27FC236}">
                <a16:creationId xmlns:a16="http://schemas.microsoft.com/office/drawing/2014/main" id="{6915B620-97FD-2128-2EFC-43A6FEB9E7B1}"/>
              </a:ext>
            </a:extLst>
          </p:cNvPr>
          <p:cNvSpPr txBox="1">
            <a:spLocks noChangeArrowheads="1"/>
          </p:cNvSpPr>
          <p:nvPr/>
        </p:nvSpPr>
        <p:spPr bwMode="auto">
          <a:xfrm>
            <a:off x="3203575" y="5157788"/>
            <a:ext cx="2736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职务设计的职务特征模型</a:t>
            </a:r>
          </a:p>
        </p:txBody>
      </p:sp>
      <p:sp>
        <p:nvSpPr>
          <p:cNvPr id="79889" name="Rectangle 17">
            <a:extLst>
              <a:ext uri="{FF2B5EF4-FFF2-40B4-BE49-F238E27FC236}">
                <a16:creationId xmlns:a16="http://schemas.microsoft.com/office/drawing/2014/main" id="{70718DF1-34D0-41CA-A410-35E196F21D2F}"/>
              </a:ext>
            </a:extLst>
          </p:cNvPr>
          <p:cNvSpPr>
            <a:spLocks noChangeArrowheads="1"/>
          </p:cNvSpPr>
          <p:nvPr/>
        </p:nvSpPr>
        <p:spPr bwMode="auto">
          <a:xfrm>
            <a:off x="900113" y="981075"/>
            <a:ext cx="2089150"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工作特征</a:t>
            </a:r>
          </a:p>
        </p:txBody>
      </p:sp>
      <p:sp>
        <p:nvSpPr>
          <p:cNvPr id="79890" name="Rectangle 18">
            <a:extLst>
              <a:ext uri="{FF2B5EF4-FFF2-40B4-BE49-F238E27FC236}">
                <a16:creationId xmlns:a16="http://schemas.microsoft.com/office/drawing/2014/main" id="{D913380B-1479-F73A-1F79-819CDDC87703}"/>
              </a:ext>
            </a:extLst>
          </p:cNvPr>
          <p:cNvSpPr>
            <a:spLocks noChangeArrowheads="1"/>
          </p:cNvSpPr>
          <p:nvPr/>
        </p:nvSpPr>
        <p:spPr bwMode="auto">
          <a:xfrm>
            <a:off x="3419475" y="981075"/>
            <a:ext cx="2087563" cy="503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心理状况</a:t>
            </a:r>
          </a:p>
        </p:txBody>
      </p:sp>
      <p:sp>
        <p:nvSpPr>
          <p:cNvPr id="79891" name="Line 19">
            <a:extLst>
              <a:ext uri="{FF2B5EF4-FFF2-40B4-BE49-F238E27FC236}">
                <a16:creationId xmlns:a16="http://schemas.microsoft.com/office/drawing/2014/main" id="{E6BF7803-31B7-BD8D-F2BE-69E3E1B8E0D2}"/>
              </a:ext>
            </a:extLst>
          </p:cNvPr>
          <p:cNvSpPr>
            <a:spLocks noChangeShapeType="1"/>
          </p:cNvSpPr>
          <p:nvPr/>
        </p:nvSpPr>
        <p:spPr bwMode="auto">
          <a:xfrm>
            <a:off x="2987675" y="1196975"/>
            <a:ext cx="4318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2" name="Line 20">
            <a:extLst>
              <a:ext uri="{FF2B5EF4-FFF2-40B4-BE49-F238E27FC236}">
                <a16:creationId xmlns:a16="http://schemas.microsoft.com/office/drawing/2014/main" id="{F013F041-B381-1AF7-F525-D4E148CAC7A3}"/>
              </a:ext>
            </a:extLst>
          </p:cNvPr>
          <p:cNvSpPr>
            <a:spLocks noChangeShapeType="1"/>
          </p:cNvSpPr>
          <p:nvPr/>
        </p:nvSpPr>
        <p:spPr bwMode="auto">
          <a:xfrm>
            <a:off x="5508625" y="1196975"/>
            <a:ext cx="503238"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3" name="Line 21">
            <a:extLst>
              <a:ext uri="{FF2B5EF4-FFF2-40B4-BE49-F238E27FC236}">
                <a16:creationId xmlns:a16="http://schemas.microsoft.com/office/drawing/2014/main" id="{EBC9F92D-C7AD-C808-EE17-4AFD1FE38E01}"/>
              </a:ext>
            </a:extLst>
          </p:cNvPr>
          <p:cNvSpPr>
            <a:spLocks noChangeShapeType="1"/>
          </p:cNvSpPr>
          <p:nvPr/>
        </p:nvSpPr>
        <p:spPr bwMode="auto">
          <a:xfrm>
            <a:off x="1979613" y="2852738"/>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4" name="Line 22">
            <a:extLst>
              <a:ext uri="{FF2B5EF4-FFF2-40B4-BE49-F238E27FC236}">
                <a16:creationId xmlns:a16="http://schemas.microsoft.com/office/drawing/2014/main" id="{29B5E701-5A91-B49A-C1BB-2416CC0BE18A}"/>
              </a:ext>
            </a:extLst>
          </p:cNvPr>
          <p:cNvSpPr>
            <a:spLocks noChangeShapeType="1"/>
          </p:cNvSpPr>
          <p:nvPr/>
        </p:nvSpPr>
        <p:spPr bwMode="auto">
          <a:xfrm>
            <a:off x="1979613" y="3644900"/>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896" name="Rectangle 24">
            <a:extLst>
              <a:ext uri="{FF2B5EF4-FFF2-40B4-BE49-F238E27FC236}">
                <a16:creationId xmlns:a16="http://schemas.microsoft.com/office/drawing/2014/main" id="{6357B58A-79BD-4030-EED3-E3BFD98C368F}"/>
              </a:ext>
            </a:extLst>
          </p:cNvPr>
          <p:cNvSpPr>
            <a:spLocks noChangeArrowheads="1"/>
          </p:cNvSpPr>
          <p:nvPr/>
        </p:nvSpPr>
        <p:spPr bwMode="auto">
          <a:xfrm>
            <a:off x="395288" y="692150"/>
            <a:ext cx="8208962" cy="4321175"/>
          </a:xfrm>
          <a:prstGeom prst="rect">
            <a:avLst/>
          </a:prstGeom>
          <a:solidFill>
            <a:schemeClr val="bg1">
              <a:alpha val="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897" name="Text Box 25">
            <a:extLst>
              <a:ext uri="{FF2B5EF4-FFF2-40B4-BE49-F238E27FC236}">
                <a16:creationId xmlns:a16="http://schemas.microsoft.com/office/drawing/2014/main" id="{6A6EB23D-74CE-F295-1B11-17E0C0794205}"/>
              </a:ext>
            </a:extLst>
          </p:cNvPr>
          <p:cNvSpPr txBox="1">
            <a:spLocks noChangeArrowheads="1"/>
          </p:cNvSpPr>
          <p:nvPr/>
        </p:nvSpPr>
        <p:spPr bwMode="auto">
          <a:xfrm>
            <a:off x="179388" y="215900"/>
            <a:ext cx="18097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宋体" panose="02010600030101010101" pitchFamily="2" charset="-122"/>
              </a:rPr>
              <a:t>7.2</a:t>
            </a:r>
            <a:r>
              <a:rPr kumimoji="0" lang="zh-CN" altLang="en-US" sz="1600">
                <a:latin typeface="宋体" panose="02010600030101010101" pitchFamily="2" charset="-122"/>
              </a:rPr>
              <a:t>职务</a:t>
            </a:r>
            <a:r>
              <a:rPr kumimoji="0" lang="en-US" altLang="zh-CN" sz="1600">
                <a:latin typeface="宋体" panose="02010600030101010101" pitchFamily="2" charset="-122"/>
              </a:rPr>
              <a:t>/</a:t>
            </a:r>
            <a:r>
              <a:rPr kumimoji="0" lang="zh-CN" altLang="en-US" sz="1600">
                <a:latin typeface="宋体" panose="02010600030101010101" pitchFamily="2" charset="-122"/>
              </a:rPr>
              <a:t>岗位设计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E040999-E888-2ACF-092F-610B41C56097}"/>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4A7B30C-CACE-9FB4-E976-F73D7370703D}"/>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9C6A6B22-D665-6B5F-5B97-0A2718E8445D}"/>
              </a:ext>
            </a:extLst>
          </p:cNvPr>
          <p:cNvSpPr>
            <a:spLocks noGrp="1"/>
          </p:cNvSpPr>
          <p:nvPr>
            <p:ph type="sldNum" sz="quarter" idx="12"/>
          </p:nvPr>
        </p:nvSpPr>
        <p:spPr/>
        <p:txBody>
          <a:bodyPr/>
          <a:lstStyle/>
          <a:p>
            <a:fld id="{DB1CA9BD-3278-452C-BF57-1E4ED218288B}" type="slidenum">
              <a:rPr lang="en-US" altLang="zh-CN"/>
              <a:pPr/>
              <a:t>8</a:t>
            </a:fld>
            <a:endParaRPr lang="en-US" altLang="zh-CN"/>
          </a:p>
        </p:txBody>
      </p:sp>
      <p:sp>
        <p:nvSpPr>
          <p:cNvPr id="87042" name="Rectangle 2">
            <a:extLst>
              <a:ext uri="{FF2B5EF4-FFF2-40B4-BE49-F238E27FC236}">
                <a16:creationId xmlns:a16="http://schemas.microsoft.com/office/drawing/2014/main" id="{8C719BA1-FEED-1D79-D569-84CE95DE2D43}"/>
              </a:ext>
            </a:extLst>
          </p:cNvPr>
          <p:cNvSpPr>
            <a:spLocks noChangeArrowheads="1"/>
          </p:cNvSpPr>
          <p:nvPr/>
        </p:nvSpPr>
        <p:spPr bwMode="auto">
          <a:xfrm>
            <a:off x="250825" y="566102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3" name="Rectangle 3">
            <a:extLst>
              <a:ext uri="{FF2B5EF4-FFF2-40B4-BE49-F238E27FC236}">
                <a16:creationId xmlns:a16="http://schemas.microsoft.com/office/drawing/2014/main" id="{3DDC4295-AA6D-D206-5D48-EE0F0148F619}"/>
              </a:ext>
            </a:extLst>
          </p:cNvPr>
          <p:cNvSpPr>
            <a:spLocks noChangeArrowheads="1"/>
          </p:cNvSpPr>
          <p:nvPr/>
        </p:nvSpPr>
        <p:spPr bwMode="auto">
          <a:xfrm>
            <a:off x="827088" y="494188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乙</a:t>
            </a:r>
          </a:p>
        </p:txBody>
      </p:sp>
      <p:sp>
        <p:nvSpPr>
          <p:cNvPr id="87044" name="Rectangle 4">
            <a:extLst>
              <a:ext uri="{FF2B5EF4-FFF2-40B4-BE49-F238E27FC236}">
                <a16:creationId xmlns:a16="http://schemas.microsoft.com/office/drawing/2014/main" id="{790EA183-0DA2-7D01-6DC0-785DB398B339}"/>
              </a:ext>
            </a:extLst>
          </p:cNvPr>
          <p:cNvSpPr>
            <a:spLocks noChangeArrowheads="1"/>
          </p:cNvSpPr>
          <p:nvPr/>
        </p:nvSpPr>
        <p:spPr bwMode="auto">
          <a:xfrm>
            <a:off x="5292725" y="566102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800">
              <a:latin typeface="Arial" panose="020B0604020202020204" pitchFamily="34" charset="0"/>
            </a:endParaRPr>
          </a:p>
        </p:txBody>
      </p:sp>
      <p:sp>
        <p:nvSpPr>
          <p:cNvPr id="87045" name="Rectangle 5">
            <a:extLst>
              <a:ext uri="{FF2B5EF4-FFF2-40B4-BE49-F238E27FC236}">
                <a16:creationId xmlns:a16="http://schemas.microsoft.com/office/drawing/2014/main" id="{7F41C056-1E4F-AD2E-71F9-062E409CE481}"/>
              </a:ext>
            </a:extLst>
          </p:cNvPr>
          <p:cNvSpPr>
            <a:spLocks noChangeArrowheads="1"/>
          </p:cNvSpPr>
          <p:nvPr/>
        </p:nvSpPr>
        <p:spPr bwMode="auto">
          <a:xfrm>
            <a:off x="4284663" y="5661025"/>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6" name="Rectangle 6">
            <a:extLst>
              <a:ext uri="{FF2B5EF4-FFF2-40B4-BE49-F238E27FC236}">
                <a16:creationId xmlns:a16="http://schemas.microsoft.com/office/drawing/2014/main" id="{FB3603ED-5A87-F429-C357-ACE715FE6279}"/>
              </a:ext>
            </a:extLst>
          </p:cNvPr>
          <p:cNvSpPr>
            <a:spLocks noChangeArrowheads="1"/>
          </p:cNvSpPr>
          <p:nvPr/>
        </p:nvSpPr>
        <p:spPr bwMode="auto">
          <a:xfrm>
            <a:off x="3276600" y="566102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7" name="Rectangle 7">
            <a:extLst>
              <a:ext uri="{FF2B5EF4-FFF2-40B4-BE49-F238E27FC236}">
                <a16:creationId xmlns:a16="http://schemas.microsoft.com/office/drawing/2014/main" id="{9714DB62-DE09-40A5-B276-D95A7B0FC75D}"/>
              </a:ext>
            </a:extLst>
          </p:cNvPr>
          <p:cNvSpPr>
            <a:spLocks noChangeArrowheads="1"/>
          </p:cNvSpPr>
          <p:nvPr/>
        </p:nvSpPr>
        <p:spPr bwMode="auto">
          <a:xfrm>
            <a:off x="2268538" y="5661025"/>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8" name="Rectangle 8">
            <a:extLst>
              <a:ext uri="{FF2B5EF4-FFF2-40B4-BE49-F238E27FC236}">
                <a16:creationId xmlns:a16="http://schemas.microsoft.com/office/drawing/2014/main" id="{5DB0F828-E1B6-CA02-0111-6E5ABAC24E13}"/>
              </a:ext>
            </a:extLst>
          </p:cNvPr>
          <p:cNvSpPr>
            <a:spLocks noChangeArrowheads="1"/>
          </p:cNvSpPr>
          <p:nvPr/>
        </p:nvSpPr>
        <p:spPr bwMode="auto">
          <a:xfrm>
            <a:off x="1258888" y="5661025"/>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9" name="Rectangle 9">
            <a:extLst>
              <a:ext uri="{FF2B5EF4-FFF2-40B4-BE49-F238E27FC236}">
                <a16:creationId xmlns:a16="http://schemas.microsoft.com/office/drawing/2014/main" id="{6E98DF01-FACA-0ADF-04DE-3423D99B3057}"/>
              </a:ext>
            </a:extLst>
          </p:cNvPr>
          <p:cNvSpPr>
            <a:spLocks noChangeArrowheads="1"/>
          </p:cNvSpPr>
          <p:nvPr/>
        </p:nvSpPr>
        <p:spPr bwMode="auto">
          <a:xfrm>
            <a:off x="2700338" y="4221163"/>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甲</a:t>
            </a:r>
          </a:p>
        </p:txBody>
      </p:sp>
      <p:sp>
        <p:nvSpPr>
          <p:cNvPr id="87050" name="Line 10">
            <a:extLst>
              <a:ext uri="{FF2B5EF4-FFF2-40B4-BE49-F238E27FC236}">
                <a16:creationId xmlns:a16="http://schemas.microsoft.com/office/drawing/2014/main" id="{910A45FA-2521-45CC-1BCD-C02F386BE334}"/>
              </a:ext>
            </a:extLst>
          </p:cNvPr>
          <p:cNvSpPr>
            <a:spLocks noChangeShapeType="1"/>
          </p:cNvSpPr>
          <p:nvPr/>
        </p:nvSpPr>
        <p:spPr bwMode="auto">
          <a:xfrm>
            <a:off x="1258888" y="4797425"/>
            <a:ext cx="3889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1" name="Line 11">
            <a:extLst>
              <a:ext uri="{FF2B5EF4-FFF2-40B4-BE49-F238E27FC236}">
                <a16:creationId xmlns:a16="http://schemas.microsoft.com/office/drawing/2014/main" id="{E1672AC2-30D2-F89C-10E2-AD27FFC8671B}"/>
              </a:ext>
            </a:extLst>
          </p:cNvPr>
          <p:cNvSpPr>
            <a:spLocks noChangeShapeType="1"/>
          </p:cNvSpPr>
          <p:nvPr/>
        </p:nvSpPr>
        <p:spPr bwMode="auto">
          <a:xfrm>
            <a:off x="755650" y="5516563"/>
            <a:ext cx="1944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2" name="Line 12">
            <a:extLst>
              <a:ext uri="{FF2B5EF4-FFF2-40B4-BE49-F238E27FC236}">
                <a16:creationId xmlns:a16="http://schemas.microsoft.com/office/drawing/2014/main" id="{F7AC835F-DE15-ADB8-D25E-73CA724BDB14}"/>
              </a:ext>
            </a:extLst>
          </p:cNvPr>
          <p:cNvSpPr>
            <a:spLocks noChangeShapeType="1"/>
          </p:cNvSpPr>
          <p:nvPr/>
        </p:nvSpPr>
        <p:spPr bwMode="auto">
          <a:xfrm>
            <a:off x="3203575" y="46529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3" name="Line 13">
            <a:extLst>
              <a:ext uri="{FF2B5EF4-FFF2-40B4-BE49-F238E27FC236}">
                <a16:creationId xmlns:a16="http://schemas.microsoft.com/office/drawing/2014/main" id="{711ACF99-F7F7-74CC-78EE-A21F5C413744}"/>
              </a:ext>
            </a:extLst>
          </p:cNvPr>
          <p:cNvSpPr>
            <a:spLocks noChangeShapeType="1"/>
          </p:cNvSpPr>
          <p:nvPr/>
        </p:nvSpPr>
        <p:spPr bwMode="auto">
          <a:xfrm>
            <a:off x="1258888" y="47974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4" name="Line 14">
            <a:extLst>
              <a:ext uri="{FF2B5EF4-FFF2-40B4-BE49-F238E27FC236}">
                <a16:creationId xmlns:a16="http://schemas.microsoft.com/office/drawing/2014/main" id="{808D03CB-34AD-55E4-8E3D-500FA85123AA}"/>
              </a:ext>
            </a:extLst>
          </p:cNvPr>
          <p:cNvSpPr>
            <a:spLocks noChangeShapeType="1"/>
          </p:cNvSpPr>
          <p:nvPr/>
        </p:nvSpPr>
        <p:spPr bwMode="auto">
          <a:xfrm>
            <a:off x="5148263" y="47974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5" name="Line 15">
            <a:extLst>
              <a:ext uri="{FF2B5EF4-FFF2-40B4-BE49-F238E27FC236}">
                <a16:creationId xmlns:a16="http://schemas.microsoft.com/office/drawing/2014/main" id="{305BE856-4AB2-72B0-6C5E-9B1707881350}"/>
              </a:ext>
            </a:extLst>
          </p:cNvPr>
          <p:cNvSpPr>
            <a:spLocks noChangeShapeType="1"/>
          </p:cNvSpPr>
          <p:nvPr/>
        </p:nvSpPr>
        <p:spPr bwMode="auto">
          <a:xfrm>
            <a:off x="1763713"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6" name="Line 16">
            <a:extLst>
              <a:ext uri="{FF2B5EF4-FFF2-40B4-BE49-F238E27FC236}">
                <a16:creationId xmlns:a16="http://schemas.microsoft.com/office/drawing/2014/main" id="{955694E9-7B60-4612-EBA6-E42523A46FFE}"/>
              </a:ext>
            </a:extLst>
          </p:cNvPr>
          <p:cNvSpPr>
            <a:spLocks noChangeShapeType="1"/>
          </p:cNvSpPr>
          <p:nvPr/>
        </p:nvSpPr>
        <p:spPr bwMode="auto">
          <a:xfrm>
            <a:off x="755650"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7" name="Line 17">
            <a:extLst>
              <a:ext uri="{FF2B5EF4-FFF2-40B4-BE49-F238E27FC236}">
                <a16:creationId xmlns:a16="http://schemas.microsoft.com/office/drawing/2014/main" id="{46A98CF9-EE79-35BA-0AB6-36A32FABF745}"/>
              </a:ext>
            </a:extLst>
          </p:cNvPr>
          <p:cNvSpPr>
            <a:spLocks noChangeShapeType="1"/>
          </p:cNvSpPr>
          <p:nvPr/>
        </p:nvSpPr>
        <p:spPr bwMode="auto">
          <a:xfrm>
            <a:off x="3708400" y="5516563"/>
            <a:ext cx="41036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8" name="Line 18">
            <a:extLst>
              <a:ext uri="{FF2B5EF4-FFF2-40B4-BE49-F238E27FC236}">
                <a16:creationId xmlns:a16="http://schemas.microsoft.com/office/drawing/2014/main" id="{4DE4E7D5-0B3A-F97B-F866-16CE2E92AD68}"/>
              </a:ext>
            </a:extLst>
          </p:cNvPr>
          <p:cNvSpPr>
            <a:spLocks noChangeShapeType="1"/>
          </p:cNvSpPr>
          <p:nvPr/>
        </p:nvSpPr>
        <p:spPr bwMode="auto">
          <a:xfrm>
            <a:off x="2700338"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59" name="Line 19">
            <a:extLst>
              <a:ext uri="{FF2B5EF4-FFF2-40B4-BE49-F238E27FC236}">
                <a16:creationId xmlns:a16="http://schemas.microsoft.com/office/drawing/2014/main" id="{08804CB8-B77A-2915-5867-6DD3AC682E9F}"/>
              </a:ext>
            </a:extLst>
          </p:cNvPr>
          <p:cNvSpPr>
            <a:spLocks noChangeShapeType="1"/>
          </p:cNvSpPr>
          <p:nvPr/>
        </p:nvSpPr>
        <p:spPr bwMode="auto">
          <a:xfrm>
            <a:off x="3708400"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0" name="Line 20">
            <a:extLst>
              <a:ext uri="{FF2B5EF4-FFF2-40B4-BE49-F238E27FC236}">
                <a16:creationId xmlns:a16="http://schemas.microsoft.com/office/drawing/2014/main" id="{807D0E3B-7F0B-49D5-3545-CBB6D326699F}"/>
              </a:ext>
            </a:extLst>
          </p:cNvPr>
          <p:cNvSpPr>
            <a:spLocks noChangeShapeType="1"/>
          </p:cNvSpPr>
          <p:nvPr/>
        </p:nvSpPr>
        <p:spPr bwMode="auto">
          <a:xfrm>
            <a:off x="5724525"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1" name="Line 21">
            <a:extLst>
              <a:ext uri="{FF2B5EF4-FFF2-40B4-BE49-F238E27FC236}">
                <a16:creationId xmlns:a16="http://schemas.microsoft.com/office/drawing/2014/main" id="{D4EB9FA7-E2BB-D402-74CC-CB013F61510E}"/>
              </a:ext>
            </a:extLst>
          </p:cNvPr>
          <p:cNvSpPr>
            <a:spLocks noChangeShapeType="1"/>
          </p:cNvSpPr>
          <p:nvPr/>
        </p:nvSpPr>
        <p:spPr bwMode="auto">
          <a:xfrm>
            <a:off x="4716463"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2" name="Line 22">
            <a:extLst>
              <a:ext uri="{FF2B5EF4-FFF2-40B4-BE49-F238E27FC236}">
                <a16:creationId xmlns:a16="http://schemas.microsoft.com/office/drawing/2014/main" id="{428095D1-85BD-D722-F7B9-37D71FA98960}"/>
              </a:ext>
            </a:extLst>
          </p:cNvPr>
          <p:cNvSpPr>
            <a:spLocks noChangeShapeType="1"/>
          </p:cNvSpPr>
          <p:nvPr/>
        </p:nvSpPr>
        <p:spPr bwMode="auto">
          <a:xfrm>
            <a:off x="1258888" y="5373688"/>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3" name="Line 23">
            <a:extLst>
              <a:ext uri="{FF2B5EF4-FFF2-40B4-BE49-F238E27FC236}">
                <a16:creationId xmlns:a16="http://schemas.microsoft.com/office/drawing/2014/main" id="{1346E6F3-8A9C-A19A-B9F1-4025FB2F33C0}"/>
              </a:ext>
            </a:extLst>
          </p:cNvPr>
          <p:cNvSpPr>
            <a:spLocks noChangeShapeType="1"/>
          </p:cNvSpPr>
          <p:nvPr/>
        </p:nvSpPr>
        <p:spPr bwMode="auto">
          <a:xfrm>
            <a:off x="5148263" y="5373688"/>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64" name="Rectangle 24">
            <a:extLst>
              <a:ext uri="{FF2B5EF4-FFF2-40B4-BE49-F238E27FC236}">
                <a16:creationId xmlns:a16="http://schemas.microsoft.com/office/drawing/2014/main" id="{6FBBC3B0-1047-5006-4075-B10423D3813E}"/>
              </a:ext>
            </a:extLst>
          </p:cNvPr>
          <p:cNvSpPr>
            <a:spLocks noChangeArrowheads="1"/>
          </p:cNvSpPr>
          <p:nvPr/>
        </p:nvSpPr>
        <p:spPr bwMode="auto">
          <a:xfrm>
            <a:off x="4643438" y="494188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丙</a:t>
            </a:r>
          </a:p>
        </p:txBody>
      </p:sp>
      <p:graphicFrame>
        <p:nvGraphicFramePr>
          <p:cNvPr id="87115" name="Group 75">
            <a:extLst>
              <a:ext uri="{FF2B5EF4-FFF2-40B4-BE49-F238E27FC236}">
                <a16:creationId xmlns:a16="http://schemas.microsoft.com/office/drawing/2014/main" id="{CE475616-01C7-8BC7-1829-9FAB0F05DFB1}"/>
              </a:ext>
            </a:extLst>
          </p:cNvPr>
          <p:cNvGraphicFramePr>
            <a:graphicFrameLocks noGrp="1"/>
          </p:cNvGraphicFramePr>
          <p:nvPr>
            <p:ph sz="half" idx="4294967295"/>
          </p:nvPr>
        </p:nvGraphicFramePr>
        <p:xfrm>
          <a:off x="468313" y="908050"/>
          <a:ext cx="8207375" cy="1298575"/>
        </p:xfrm>
        <a:graphic>
          <a:graphicData uri="http://schemas.openxmlformats.org/drawingml/2006/table">
            <a:tbl>
              <a:tblPr/>
              <a:tblGrid>
                <a:gridCol w="1079500">
                  <a:extLst>
                    <a:ext uri="{9D8B030D-6E8A-4147-A177-3AD203B41FA5}">
                      <a16:colId xmlns:a16="http://schemas.microsoft.com/office/drawing/2014/main" val="2205138356"/>
                    </a:ext>
                  </a:extLst>
                </a:gridCol>
                <a:gridCol w="7127875">
                  <a:extLst>
                    <a:ext uri="{9D8B030D-6E8A-4147-A177-3AD203B41FA5}">
                      <a16:colId xmlns:a16="http://schemas.microsoft.com/office/drawing/2014/main" val="3342416523"/>
                    </a:ext>
                  </a:extLst>
                </a:gridCol>
              </a:tblGrid>
              <a:tr h="5762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管理幅度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指一个管理者能够直接管辖的人员数目。</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管理幅度的限制是形成组织层次的主要原因。</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3754388"/>
                  </a:ext>
                </a:extLst>
              </a:tr>
              <a:tr h="3063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影响因素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工作能力；</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工作内容与性质；</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工作条件；</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工作环境</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4727616"/>
                  </a:ext>
                </a:extLst>
              </a:tr>
              <a:tr h="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管理层次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指一级管理机构。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9097765"/>
                  </a:ext>
                </a:extLst>
              </a:tr>
            </a:tbl>
          </a:graphicData>
        </a:graphic>
      </p:graphicFrame>
      <p:sp>
        <p:nvSpPr>
          <p:cNvPr id="87077" name="Rectangle 37">
            <a:extLst>
              <a:ext uri="{FF2B5EF4-FFF2-40B4-BE49-F238E27FC236}">
                <a16:creationId xmlns:a16="http://schemas.microsoft.com/office/drawing/2014/main" id="{25E271F3-07E0-3437-D4A6-81465758FDF1}"/>
              </a:ext>
            </a:extLst>
          </p:cNvPr>
          <p:cNvSpPr>
            <a:spLocks noChangeArrowheads="1"/>
          </p:cNvSpPr>
          <p:nvPr/>
        </p:nvSpPr>
        <p:spPr bwMode="auto">
          <a:xfrm>
            <a:off x="7308850" y="566102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8" name="Rectangle 38">
            <a:extLst>
              <a:ext uri="{FF2B5EF4-FFF2-40B4-BE49-F238E27FC236}">
                <a16:creationId xmlns:a16="http://schemas.microsoft.com/office/drawing/2014/main" id="{D2D18740-9842-4E36-CB70-08FCCD47A17C}"/>
              </a:ext>
            </a:extLst>
          </p:cNvPr>
          <p:cNvSpPr>
            <a:spLocks noChangeArrowheads="1"/>
          </p:cNvSpPr>
          <p:nvPr/>
        </p:nvSpPr>
        <p:spPr bwMode="auto">
          <a:xfrm>
            <a:off x="6300788" y="5661025"/>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9" name="Line 39">
            <a:extLst>
              <a:ext uri="{FF2B5EF4-FFF2-40B4-BE49-F238E27FC236}">
                <a16:creationId xmlns:a16="http://schemas.microsoft.com/office/drawing/2014/main" id="{01C421A2-5E90-A795-C1FF-7023F42E6B91}"/>
              </a:ext>
            </a:extLst>
          </p:cNvPr>
          <p:cNvSpPr>
            <a:spLocks noChangeShapeType="1"/>
          </p:cNvSpPr>
          <p:nvPr/>
        </p:nvSpPr>
        <p:spPr bwMode="auto">
          <a:xfrm>
            <a:off x="7812088"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80" name="Line 40">
            <a:extLst>
              <a:ext uri="{FF2B5EF4-FFF2-40B4-BE49-F238E27FC236}">
                <a16:creationId xmlns:a16="http://schemas.microsoft.com/office/drawing/2014/main" id="{7DB34D95-A6BD-12E3-00AF-F0E8B6D82CD3}"/>
              </a:ext>
            </a:extLst>
          </p:cNvPr>
          <p:cNvSpPr>
            <a:spLocks noChangeShapeType="1"/>
          </p:cNvSpPr>
          <p:nvPr/>
        </p:nvSpPr>
        <p:spPr bwMode="auto">
          <a:xfrm>
            <a:off x="6732588"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081" name="Text Box 41">
            <a:extLst>
              <a:ext uri="{FF2B5EF4-FFF2-40B4-BE49-F238E27FC236}">
                <a16:creationId xmlns:a16="http://schemas.microsoft.com/office/drawing/2014/main" id="{A694A7D9-2FD4-A33D-D7A3-320935F59F62}"/>
              </a:ext>
            </a:extLst>
          </p:cNvPr>
          <p:cNvSpPr txBox="1">
            <a:spLocks noChangeArrowheads="1"/>
          </p:cNvSpPr>
          <p:nvPr/>
        </p:nvSpPr>
        <p:spPr bwMode="auto">
          <a:xfrm>
            <a:off x="3635375" y="4292600"/>
            <a:ext cx="1368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400">
                <a:latin typeface="Arial" panose="020B0604020202020204" pitchFamily="34" charset="0"/>
              </a:rPr>
              <a:t>管理幅度＝</a:t>
            </a:r>
            <a:r>
              <a:rPr kumimoji="0" lang="en-US" altLang="zh-CN" sz="1400">
                <a:latin typeface="Arial" panose="020B0604020202020204" pitchFamily="34" charset="0"/>
              </a:rPr>
              <a:t>2</a:t>
            </a:r>
          </a:p>
        </p:txBody>
      </p:sp>
      <p:sp>
        <p:nvSpPr>
          <p:cNvPr id="87082" name="Text Box 42">
            <a:extLst>
              <a:ext uri="{FF2B5EF4-FFF2-40B4-BE49-F238E27FC236}">
                <a16:creationId xmlns:a16="http://schemas.microsoft.com/office/drawing/2014/main" id="{19DF3980-3151-658C-BF13-16C4C900A601}"/>
              </a:ext>
            </a:extLst>
          </p:cNvPr>
          <p:cNvSpPr txBox="1">
            <a:spLocks noChangeArrowheads="1"/>
          </p:cNvSpPr>
          <p:nvPr/>
        </p:nvSpPr>
        <p:spPr bwMode="auto">
          <a:xfrm>
            <a:off x="1763713" y="5013325"/>
            <a:ext cx="12239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400">
                <a:latin typeface="Arial" panose="020B0604020202020204" pitchFamily="34" charset="0"/>
              </a:rPr>
              <a:t>管理幅度＝</a:t>
            </a:r>
            <a:r>
              <a:rPr kumimoji="0" lang="en-US" altLang="zh-CN" sz="1400">
                <a:latin typeface="Arial" panose="020B0604020202020204" pitchFamily="34" charset="0"/>
              </a:rPr>
              <a:t>3</a:t>
            </a:r>
          </a:p>
        </p:txBody>
      </p:sp>
      <p:sp>
        <p:nvSpPr>
          <p:cNvPr id="87083" name="Text Box 43">
            <a:extLst>
              <a:ext uri="{FF2B5EF4-FFF2-40B4-BE49-F238E27FC236}">
                <a16:creationId xmlns:a16="http://schemas.microsoft.com/office/drawing/2014/main" id="{6ACF31DA-E29D-58DB-3E77-01D0B7B8A188}"/>
              </a:ext>
            </a:extLst>
          </p:cNvPr>
          <p:cNvSpPr txBox="1">
            <a:spLocks noChangeArrowheads="1"/>
          </p:cNvSpPr>
          <p:nvPr/>
        </p:nvSpPr>
        <p:spPr bwMode="auto">
          <a:xfrm>
            <a:off x="5580063" y="5013325"/>
            <a:ext cx="12239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400">
                <a:latin typeface="Arial" panose="020B0604020202020204" pitchFamily="34" charset="0"/>
              </a:rPr>
              <a:t>管理幅度＝</a:t>
            </a:r>
            <a:r>
              <a:rPr kumimoji="0" lang="en-US" altLang="zh-CN" sz="1400">
                <a:latin typeface="Arial" panose="020B0604020202020204" pitchFamily="34" charset="0"/>
              </a:rPr>
              <a:t>5</a:t>
            </a:r>
          </a:p>
        </p:txBody>
      </p:sp>
      <p:graphicFrame>
        <p:nvGraphicFramePr>
          <p:cNvPr id="87110" name="Group 70">
            <a:extLst>
              <a:ext uri="{FF2B5EF4-FFF2-40B4-BE49-F238E27FC236}">
                <a16:creationId xmlns:a16="http://schemas.microsoft.com/office/drawing/2014/main" id="{2D4F8C37-8960-F6A3-C342-FDEF863C58FE}"/>
              </a:ext>
            </a:extLst>
          </p:cNvPr>
          <p:cNvGraphicFramePr>
            <a:graphicFrameLocks noGrp="1"/>
          </p:cNvGraphicFramePr>
          <p:nvPr>
            <p:ph sz="half" idx="4294967295"/>
          </p:nvPr>
        </p:nvGraphicFramePr>
        <p:xfrm>
          <a:off x="468313" y="2276475"/>
          <a:ext cx="8207375" cy="1749425"/>
        </p:xfrm>
        <a:graphic>
          <a:graphicData uri="http://schemas.openxmlformats.org/drawingml/2006/table">
            <a:tbl>
              <a:tblPr/>
              <a:tblGrid>
                <a:gridCol w="1076325">
                  <a:extLst>
                    <a:ext uri="{9D8B030D-6E8A-4147-A177-3AD203B41FA5}">
                      <a16:colId xmlns:a16="http://schemas.microsoft.com/office/drawing/2014/main" val="94938193"/>
                    </a:ext>
                  </a:extLst>
                </a:gridCol>
                <a:gridCol w="7131050">
                  <a:extLst>
                    <a:ext uri="{9D8B030D-6E8A-4147-A177-3AD203B41FA5}">
                      <a16:colId xmlns:a16="http://schemas.microsoft.com/office/drawing/2014/main" val="360656834"/>
                    </a:ext>
                  </a:extLst>
                </a:gridCol>
              </a:tblGrid>
              <a:tr h="2889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法约尔</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工厂中管理幅度最大不会超过</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人，政治和宗教领袖不会超过</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43925465"/>
                  </a:ext>
                </a:extLst>
              </a:tr>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厄威克</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对于所有上级来说，理想的下级人数是</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人，在基层组织可以是</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24463477"/>
                  </a:ext>
                </a:extLst>
              </a:tr>
              <a:tr h="2238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汉密尔顿</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军队的管理幅度应该是</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人，接近高层是</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人，接近基层最好是</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40587696"/>
                  </a:ext>
                </a:extLst>
              </a:tr>
              <a:tr h="3841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戴维斯</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上层管理幅度应为</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人，基层管理职务的管理幅度可以多达</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7402640"/>
                  </a:ext>
                </a:extLst>
              </a:tr>
              <a:tr h="3286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孔茨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不存在固定不变的最佳管理幅度。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3401381"/>
                  </a:ext>
                </a:extLst>
              </a:tr>
            </a:tbl>
          </a:graphicData>
        </a:graphic>
      </p:graphicFrame>
      <p:sp>
        <p:nvSpPr>
          <p:cNvPr id="87104" name="Text Box 64">
            <a:extLst>
              <a:ext uri="{FF2B5EF4-FFF2-40B4-BE49-F238E27FC236}">
                <a16:creationId xmlns:a16="http://schemas.microsoft.com/office/drawing/2014/main" id="{38F8CA3B-317B-9671-35CA-CA82072352AF}"/>
              </a:ext>
            </a:extLst>
          </p:cNvPr>
          <p:cNvSpPr txBox="1">
            <a:spLocks noChangeArrowheads="1"/>
          </p:cNvSpPr>
          <p:nvPr/>
        </p:nvSpPr>
        <p:spPr bwMode="auto">
          <a:xfrm>
            <a:off x="250825" y="188913"/>
            <a:ext cx="2449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宋体" panose="02010600030101010101" pitchFamily="2" charset="-122"/>
              </a:rPr>
              <a:t>7.3</a:t>
            </a:r>
            <a:r>
              <a:rPr lang="zh-CN" altLang="en-US" sz="1600">
                <a:latin typeface="宋体" panose="02010600030101010101" pitchFamily="2" charset="-122"/>
              </a:rPr>
              <a:t>管理幅度与组织层次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4F59EBD0-3AEE-61F6-D664-855E46D8FFAF}"/>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236C78D0-60C4-A857-B328-61CB4DF3A529}"/>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71D1C88E-4DB9-8EC4-F53B-51BC7D21180B}"/>
              </a:ext>
            </a:extLst>
          </p:cNvPr>
          <p:cNvSpPr>
            <a:spLocks noGrp="1"/>
          </p:cNvSpPr>
          <p:nvPr>
            <p:ph type="sldNum" sz="quarter" idx="12"/>
          </p:nvPr>
        </p:nvSpPr>
        <p:spPr/>
        <p:txBody>
          <a:bodyPr/>
          <a:lstStyle/>
          <a:p>
            <a:fld id="{4A31E35F-B50E-4852-9596-C2C16073E13F}" type="slidenum">
              <a:rPr lang="en-US" altLang="zh-CN"/>
              <a:pPr/>
              <a:t>9</a:t>
            </a:fld>
            <a:endParaRPr lang="en-US" altLang="zh-CN"/>
          </a:p>
        </p:txBody>
      </p:sp>
      <p:graphicFrame>
        <p:nvGraphicFramePr>
          <p:cNvPr id="96386" name="Group 130">
            <a:extLst>
              <a:ext uri="{FF2B5EF4-FFF2-40B4-BE49-F238E27FC236}">
                <a16:creationId xmlns:a16="http://schemas.microsoft.com/office/drawing/2014/main" id="{F014596D-AB2E-C962-DFA1-2C082D938AF4}"/>
              </a:ext>
            </a:extLst>
          </p:cNvPr>
          <p:cNvGraphicFramePr>
            <a:graphicFrameLocks noGrp="1"/>
          </p:cNvGraphicFramePr>
          <p:nvPr>
            <p:ph/>
          </p:nvPr>
        </p:nvGraphicFramePr>
        <p:xfrm>
          <a:off x="684213" y="1052513"/>
          <a:ext cx="7772400" cy="5035550"/>
        </p:xfrm>
        <a:graphic>
          <a:graphicData uri="http://schemas.openxmlformats.org/drawingml/2006/table">
            <a:tbl>
              <a:tblPr/>
              <a:tblGrid>
                <a:gridCol w="1554162">
                  <a:extLst>
                    <a:ext uri="{9D8B030D-6E8A-4147-A177-3AD203B41FA5}">
                      <a16:colId xmlns:a16="http://schemas.microsoft.com/office/drawing/2014/main" val="179976788"/>
                    </a:ext>
                  </a:extLst>
                </a:gridCol>
                <a:gridCol w="1554163">
                  <a:extLst>
                    <a:ext uri="{9D8B030D-6E8A-4147-A177-3AD203B41FA5}">
                      <a16:colId xmlns:a16="http://schemas.microsoft.com/office/drawing/2014/main" val="1714186505"/>
                    </a:ext>
                  </a:extLst>
                </a:gridCol>
                <a:gridCol w="1555750">
                  <a:extLst>
                    <a:ext uri="{9D8B030D-6E8A-4147-A177-3AD203B41FA5}">
                      <a16:colId xmlns:a16="http://schemas.microsoft.com/office/drawing/2014/main" val="853286653"/>
                    </a:ext>
                  </a:extLst>
                </a:gridCol>
                <a:gridCol w="1554162">
                  <a:extLst>
                    <a:ext uri="{9D8B030D-6E8A-4147-A177-3AD203B41FA5}">
                      <a16:colId xmlns:a16="http://schemas.microsoft.com/office/drawing/2014/main" val="2018553789"/>
                    </a:ext>
                  </a:extLst>
                </a:gridCol>
                <a:gridCol w="1554163">
                  <a:extLst>
                    <a:ext uri="{9D8B030D-6E8A-4147-A177-3AD203B41FA5}">
                      <a16:colId xmlns:a16="http://schemas.microsoft.com/office/drawing/2014/main" val="4110519875"/>
                    </a:ext>
                  </a:extLst>
                </a:gridCol>
              </a:tblGrid>
              <a:tr h="300038">
                <a:tc row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下属人数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上下级关系数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88600308"/>
                  </a:ext>
                </a:extLst>
              </a:tr>
              <a:tr h="346075">
                <a:tc v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直接个人关系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直接群体关系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交叉关系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关系总和</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6694444"/>
                  </a:ext>
                </a:extLst>
              </a:tr>
              <a:tr h="298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1032844"/>
                  </a:ext>
                </a:extLst>
              </a:tr>
              <a:tr h="300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54607174"/>
                  </a:ext>
                </a:extLst>
              </a:tr>
              <a:tr h="298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31079281"/>
                  </a:ext>
                </a:extLst>
              </a:tr>
              <a:tr h="300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01840781"/>
                  </a:ext>
                </a:extLst>
              </a:tr>
              <a:tr h="298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6849216"/>
                  </a:ext>
                </a:extLst>
              </a:tr>
              <a:tr h="300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8906553"/>
                  </a:ext>
                </a:extLst>
              </a:tr>
              <a:tr h="300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0081271"/>
                  </a:ext>
                </a:extLst>
              </a:tr>
              <a:tr h="298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5057946"/>
                  </a:ext>
                </a:extLst>
              </a:tr>
              <a:tr h="300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2 295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2 376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6071770"/>
                  </a:ext>
                </a:extLst>
              </a:tr>
              <a:tr h="298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5 110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5 210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6582278"/>
                  </a:ext>
                </a:extLst>
              </a:tr>
              <a:tr h="300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24 564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24 708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2533057"/>
                  </a:ext>
                </a:extLst>
              </a:tr>
              <a:tr h="2873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2 359 278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2 359 602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1094409"/>
                  </a:ext>
                </a:extLst>
              </a:tr>
              <a:tr h="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10 485 740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10 486 140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96857484"/>
                  </a:ext>
                </a:extLst>
              </a:tr>
            </a:tbl>
          </a:graphicData>
        </a:graphic>
      </p:graphicFrame>
      <p:sp>
        <p:nvSpPr>
          <p:cNvPr id="96387" name="Text Box 131">
            <a:extLst>
              <a:ext uri="{FF2B5EF4-FFF2-40B4-BE49-F238E27FC236}">
                <a16:creationId xmlns:a16="http://schemas.microsoft.com/office/drawing/2014/main" id="{2BBD97DF-2830-D176-692A-996F6A84B7E8}"/>
              </a:ext>
            </a:extLst>
          </p:cNvPr>
          <p:cNvSpPr txBox="1">
            <a:spLocks noChangeArrowheads="1"/>
          </p:cNvSpPr>
          <p:nvPr/>
        </p:nvSpPr>
        <p:spPr bwMode="auto">
          <a:xfrm>
            <a:off x="2916238" y="620713"/>
            <a:ext cx="30241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ea typeface="黑体" panose="02010609060101010101" pitchFamily="49" charset="-122"/>
              </a:rPr>
              <a:t>格兰丘纳斯的管理幅度理论</a:t>
            </a:r>
          </a:p>
        </p:txBody>
      </p:sp>
      <p:sp>
        <p:nvSpPr>
          <p:cNvPr id="96388" name="Text Box 132">
            <a:extLst>
              <a:ext uri="{FF2B5EF4-FFF2-40B4-BE49-F238E27FC236}">
                <a16:creationId xmlns:a16="http://schemas.microsoft.com/office/drawing/2014/main" id="{EEE36A6C-38D8-A213-AB5D-5B3D43EECED9}"/>
              </a:ext>
            </a:extLst>
          </p:cNvPr>
          <p:cNvSpPr txBox="1">
            <a:spLocks noChangeArrowheads="1"/>
          </p:cNvSpPr>
          <p:nvPr/>
        </p:nvSpPr>
        <p:spPr bwMode="auto">
          <a:xfrm>
            <a:off x="179388" y="188913"/>
            <a:ext cx="24495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宋体" panose="02010600030101010101" pitchFamily="2" charset="-122"/>
              </a:rPr>
              <a:t>7.3</a:t>
            </a:r>
            <a:r>
              <a:rPr lang="zh-CN" altLang="en-US" sz="1600">
                <a:latin typeface="宋体" panose="02010600030101010101" pitchFamily="2" charset="-122"/>
              </a:rPr>
              <a:t>管理幅度与组织层次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AFA50721-76B8-29CE-9AFE-C3D3965936AB}"/>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56C84900-624F-0630-98E5-2DDB18CA11EE}"/>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56C755F5-5D9F-AA11-786E-590280B630E5}"/>
              </a:ext>
            </a:extLst>
          </p:cNvPr>
          <p:cNvSpPr>
            <a:spLocks noGrp="1"/>
          </p:cNvSpPr>
          <p:nvPr>
            <p:ph type="sldNum" sz="quarter" idx="12"/>
          </p:nvPr>
        </p:nvSpPr>
        <p:spPr/>
        <p:txBody>
          <a:bodyPr/>
          <a:lstStyle/>
          <a:p>
            <a:fld id="{EFF5D35F-1B05-47C9-8540-9FBD14D19BAE}" type="slidenum">
              <a:rPr lang="en-US" altLang="zh-CN"/>
              <a:pPr/>
              <a:t>10</a:t>
            </a:fld>
            <a:endParaRPr lang="en-US" altLang="zh-CN"/>
          </a:p>
        </p:txBody>
      </p:sp>
      <p:sp>
        <p:nvSpPr>
          <p:cNvPr id="88066" name="Rectangle 2">
            <a:extLst>
              <a:ext uri="{FF2B5EF4-FFF2-40B4-BE49-F238E27FC236}">
                <a16:creationId xmlns:a16="http://schemas.microsoft.com/office/drawing/2014/main" id="{1FC7C960-C025-5282-5852-35968A0F701B}"/>
              </a:ext>
            </a:extLst>
          </p:cNvPr>
          <p:cNvSpPr>
            <a:spLocks noChangeArrowheads="1"/>
          </p:cNvSpPr>
          <p:nvPr/>
        </p:nvSpPr>
        <p:spPr bwMode="auto">
          <a:xfrm>
            <a:off x="2700338" y="4652963"/>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7" name="Rectangle 3">
            <a:extLst>
              <a:ext uri="{FF2B5EF4-FFF2-40B4-BE49-F238E27FC236}">
                <a16:creationId xmlns:a16="http://schemas.microsoft.com/office/drawing/2014/main" id="{6D5025CE-25D2-C857-534C-A0831D82170A}"/>
              </a:ext>
            </a:extLst>
          </p:cNvPr>
          <p:cNvSpPr>
            <a:spLocks noChangeArrowheads="1"/>
          </p:cNvSpPr>
          <p:nvPr/>
        </p:nvSpPr>
        <p:spPr bwMode="auto">
          <a:xfrm>
            <a:off x="323850" y="5373688"/>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8" name="Rectangle 4">
            <a:extLst>
              <a:ext uri="{FF2B5EF4-FFF2-40B4-BE49-F238E27FC236}">
                <a16:creationId xmlns:a16="http://schemas.microsoft.com/office/drawing/2014/main" id="{095170BB-282B-5D95-9343-C2B871A666B9}"/>
              </a:ext>
            </a:extLst>
          </p:cNvPr>
          <p:cNvSpPr>
            <a:spLocks noChangeArrowheads="1"/>
          </p:cNvSpPr>
          <p:nvPr/>
        </p:nvSpPr>
        <p:spPr bwMode="auto">
          <a:xfrm>
            <a:off x="827088" y="4652963"/>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69" name="Rectangle 5">
            <a:extLst>
              <a:ext uri="{FF2B5EF4-FFF2-40B4-BE49-F238E27FC236}">
                <a16:creationId xmlns:a16="http://schemas.microsoft.com/office/drawing/2014/main" id="{DB21D95A-F5C5-E4A9-01F2-DFEA86571BBB}"/>
              </a:ext>
            </a:extLst>
          </p:cNvPr>
          <p:cNvSpPr>
            <a:spLocks noChangeArrowheads="1"/>
          </p:cNvSpPr>
          <p:nvPr/>
        </p:nvSpPr>
        <p:spPr bwMode="auto">
          <a:xfrm>
            <a:off x="5364163" y="537368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3</a:t>
            </a:r>
          </a:p>
        </p:txBody>
      </p:sp>
      <p:sp>
        <p:nvSpPr>
          <p:cNvPr id="88070" name="Rectangle 6">
            <a:extLst>
              <a:ext uri="{FF2B5EF4-FFF2-40B4-BE49-F238E27FC236}">
                <a16:creationId xmlns:a16="http://schemas.microsoft.com/office/drawing/2014/main" id="{EB01AA98-F535-FE06-843E-5B221BA68701}"/>
              </a:ext>
            </a:extLst>
          </p:cNvPr>
          <p:cNvSpPr>
            <a:spLocks noChangeArrowheads="1"/>
          </p:cNvSpPr>
          <p:nvPr/>
        </p:nvSpPr>
        <p:spPr bwMode="auto">
          <a:xfrm>
            <a:off x="4356100" y="5373688"/>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1" name="Rectangle 7">
            <a:extLst>
              <a:ext uri="{FF2B5EF4-FFF2-40B4-BE49-F238E27FC236}">
                <a16:creationId xmlns:a16="http://schemas.microsoft.com/office/drawing/2014/main" id="{8BC70298-5887-041B-1435-6B196F37CA2C}"/>
              </a:ext>
            </a:extLst>
          </p:cNvPr>
          <p:cNvSpPr>
            <a:spLocks noChangeArrowheads="1"/>
          </p:cNvSpPr>
          <p:nvPr/>
        </p:nvSpPr>
        <p:spPr bwMode="auto">
          <a:xfrm>
            <a:off x="3348038" y="537368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2" name="Rectangle 8">
            <a:extLst>
              <a:ext uri="{FF2B5EF4-FFF2-40B4-BE49-F238E27FC236}">
                <a16:creationId xmlns:a16="http://schemas.microsoft.com/office/drawing/2014/main" id="{36BA969A-3E4C-4774-110D-BA119DE148AD}"/>
              </a:ext>
            </a:extLst>
          </p:cNvPr>
          <p:cNvSpPr>
            <a:spLocks noChangeArrowheads="1"/>
          </p:cNvSpPr>
          <p:nvPr/>
        </p:nvSpPr>
        <p:spPr bwMode="auto">
          <a:xfrm>
            <a:off x="2339975" y="5373688"/>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3" name="Rectangle 9">
            <a:extLst>
              <a:ext uri="{FF2B5EF4-FFF2-40B4-BE49-F238E27FC236}">
                <a16:creationId xmlns:a16="http://schemas.microsoft.com/office/drawing/2014/main" id="{ED0AF319-B2B0-1CF3-7EDD-69F25916DA7B}"/>
              </a:ext>
            </a:extLst>
          </p:cNvPr>
          <p:cNvSpPr>
            <a:spLocks noChangeArrowheads="1"/>
          </p:cNvSpPr>
          <p:nvPr/>
        </p:nvSpPr>
        <p:spPr bwMode="auto">
          <a:xfrm>
            <a:off x="1331913" y="537368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74" name="Rectangle 10">
            <a:extLst>
              <a:ext uri="{FF2B5EF4-FFF2-40B4-BE49-F238E27FC236}">
                <a16:creationId xmlns:a16="http://schemas.microsoft.com/office/drawing/2014/main" id="{393C860D-2306-449C-B15D-15FF31307956}"/>
              </a:ext>
            </a:extLst>
          </p:cNvPr>
          <p:cNvSpPr>
            <a:spLocks noChangeArrowheads="1"/>
          </p:cNvSpPr>
          <p:nvPr/>
        </p:nvSpPr>
        <p:spPr bwMode="auto">
          <a:xfrm>
            <a:off x="2700338" y="3933825"/>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1</a:t>
            </a:r>
          </a:p>
        </p:txBody>
      </p:sp>
      <p:sp>
        <p:nvSpPr>
          <p:cNvPr id="88075" name="Rectangle 11">
            <a:extLst>
              <a:ext uri="{FF2B5EF4-FFF2-40B4-BE49-F238E27FC236}">
                <a16:creationId xmlns:a16="http://schemas.microsoft.com/office/drawing/2014/main" id="{5A74F1F9-21F1-3DDA-81C9-589CC5D0E7F2}"/>
              </a:ext>
            </a:extLst>
          </p:cNvPr>
          <p:cNvSpPr>
            <a:spLocks noChangeArrowheads="1"/>
          </p:cNvSpPr>
          <p:nvPr/>
        </p:nvSpPr>
        <p:spPr bwMode="auto">
          <a:xfrm>
            <a:off x="7956550" y="393382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5</a:t>
            </a:r>
          </a:p>
        </p:txBody>
      </p:sp>
      <p:sp>
        <p:nvSpPr>
          <p:cNvPr id="88076" name="Line 12">
            <a:extLst>
              <a:ext uri="{FF2B5EF4-FFF2-40B4-BE49-F238E27FC236}">
                <a16:creationId xmlns:a16="http://schemas.microsoft.com/office/drawing/2014/main" id="{0CE40D29-EA02-F97A-4CC3-257FD37BCD2A}"/>
              </a:ext>
            </a:extLst>
          </p:cNvPr>
          <p:cNvSpPr>
            <a:spLocks noChangeShapeType="1"/>
          </p:cNvSpPr>
          <p:nvPr/>
        </p:nvSpPr>
        <p:spPr bwMode="auto">
          <a:xfrm>
            <a:off x="1258888" y="4508500"/>
            <a:ext cx="38893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7" name="Line 13">
            <a:extLst>
              <a:ext uri="{FF2B5EF4-FFF2-40B4-BE49-F238E27FC236}">
                <a16:creationId xmlns:a16="http://schemas.microsoft.com/office/drawing/2014/main" id="{F8ACF4F6-D918-FB01-5593-44164E55873E}"/>
              </a:ext>
            </a:extLst>
          </p:cNvPr>
          <p:cNvSpPr>
            <a:spLocks noChangeShapeType="1"/>
          </p:cNvSpPr>
          <p:nvPr/>
        </p:nvSpPr>
        <p:spPr bwMode="auto">
          <a:xfrm>
            <a:off x="755650" y="5229225"/>
            <a:ext cx="10080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8" name="Line 14">
            <a:extLst>
              <a:ext uri="{FF2B5EF4-FFF2-40B4-BE49-F238E27FC236}">
                <a16:creationId xmlns:a16="http://schemas.microsoft.com/office/drawing/2014/main" id="{2D989C7F-6D78-CA79-0669-36BD85C3C365}"/>
              </a:ext>
            </a:extLst>
          </p:cNvPr>
          <p:cNvSpPr>
            <a:spLocks noChangeShapeType="1"/>
          </p:cNvSpPr>
          <p:nvPr/>
        </p:nvSpPr>
        <p:spPr bwMode="auto">
          <a:xfrm>
            <a:off x="3203575" y="4365625"/>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9" name="Line 15">
            <a:extLst>
              <a:ext uri="{FF2B5EF4-FFF2-40B4-BE49-F238E27FC236}">
                <a16:creationId xmlns:a16="http://schemas.microsoft.com/office/drawing/2014/main" id="{8B090273-99F9-89C3-2111-2ED41087DBCF}"/>
              </a:ext>
            </a:extLst>
          </p:cNvPr>
          <p:cNvSpPr>
            <a:spLocks noChangeShapeType="1"/>
          </p:cNvSpPr>
          <p:nvPr/>
        </p:nvSpPr>
        <p:spPr bwMode="auto">
          <a:xfrm>
            <a:off x="1258888" y="450850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0" name="Line 16">
            <a:extLst>
              <a:ext uri="{FF2B5EF4-FFF2-40B4-BE49-F238E27FC236}">
                <a16:creationId xmlns:a16="http://schemas.microsoft.com/office/drawing/2014/main" id="{570CF519-9BB9-48F4-8A89-5FD345D52B16}"/>
              </a:ext>
            </a:extLst>
          </p:cNvPr>
          <p:cNvSpPr>
            <a:spLocks noChangeShapeType="1"/>
          </p:cNvSpPr>
          <p:nvPr/>
        </p:nvSpPr>
        <p:spPr bwMode="auto">
          <a:xfrm>
            <a:off x="5148263" y="450850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Line 17">
            <a:extLst>
              <a:ext uri="{FF2B5EF4-FFF2-40B4-BE49-F238E27FC236}">
                <a16:creationId xmlns:a16="http://schemas.microsoft.com/office/drawing/2014/main" id="{6CCEE0DE-BE85-0799-4F3D-747126979D68}"/>
              </a:ext>
            </a:extLst>
          </p:cNvPr>
          <p:cNvSpPr>
            <a:spLocks noChangeShapeType="1"/>
          </p:cNvSpPr>
          <p:nvPr/>
        </p:nvSpPr>
        <p:spPr bwMode="auto">
          <a:xfrm>
            <a:off x="1763713" y="522922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2" name="Line 18">
            <a:extLst>
              <a:ext uri="{FF2B5EF4-FFF2-40B4-BE49-F238E27FC236}">
                <a16:creationId xmlns:a16="http://schemas.microsoft.com/office/drawing/2014/main" id="{05A82F69-D03E-5505-8401-59DB1E8EE0E9}"/>
              </a:ext>
            </a:extLst>
          </p:cNvPr>
          <p:cNvSpPr>
            <a:spLocks noChangeShapeType="1"/>
          </p:cNvSpPr>
          <p:nvPr/>
        </p:nvSpPr>
        <p:spPr bwMode="auto">
          <a:xfrm>
            <a:off x="755650" y="522922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3" name="Line 19">
            <a:extLst>
              <a:ext uri="{FF2B5EF4-FFF2-40B4-BE49-F238E27FC236}">
                <a16:creationId xmlns:a16="http://schemas.microsoft.com/office/drawing/2014/main" id="{8811094E-AC30-BE53-9E09-A2C7CF5C5291}"/>
              </a:ext>
            </a:extLst>
          </p:cNvPr>
          <p:cNvSpPr>
            <a:spLocks noChangeShapeType="1"/>
          </p:cNvSpPr>
          <p:nvPr/>
        </p:nvSpPr>
        <p:spPr bwMode="auto">
          <a:xfrm>
            <a:off x="2700338" y="5229225"/>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4" name="Line 20">
            <a:extLst>
              <a:ext uri="{FF2B5EF4-FFF2-40B4-BE49-F238E27FC236}">
                <a16:creationId xmlns:a16="http://schemas.microsoft.com/office/drawing/2014/main" id="{B2AAC5D7-B3B7-1D81-F738-5B4F464B096D}"/>
              </a:ext>
            </a:extLst>
          </p:cNvPr>
          <p:cNvSpPr>
            <a:spLocks noChangeShapeType="1"/>
          </p:cNvSpPr>
          <p:nvPr/>
        </p:nvSpPr>
        <p:spPr bwMode="auto">
          <a:xfrm>
            <a:off x="2700338" y="522922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5" name="Line 21">
            <a:extLst>
              <a:ext uri="{FF2B5EF4-FFF2-40B4-BE49-F238E27FC236}">
                <a16:creationId xmlns:a16="http://schemas.microsoft.com/office/drawing/2014/main" id="{FE4F8CC0-D5F3-901C-1B1B-93E235725CEC}"/>
              </a:ext>
            </a:extLst>
          </p:cNvPr>
          <p:cNvSpPr>
            <a:spLocks noChangeShapeType="1"/>
          </p:cNvSpPr>
          <p:nvPr/>
        </p:nvSpPr>
        <p:spPr bwMode="auto">
          <a:xfrm>
            <a:off x="3708400" y="522922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6" name="Line 22">
            <a:extLst>
              <a:ext uri="{FF2B5EF4-FFF2-40B4-BE49-F238E27FC236}">
                <a16:creationId xmlns:a16="http://schemas.microsoft.com/office/drawing/2014/main" id="{29ADFE09-A365-FF6B-470F-5FE33D196CF8}"/>
              </a:ext>
            </a:extLst>
          </p:cNvPr>
          <p:cNvSpPr>
            <a:spLocks noChangeShapeType="1"/>
          </p:cNvSpPr>
          <p:nvPr/>
        </p:nvSpPr>
        <p:spPr bwMode="auto">
          <a:xfrm>
            <a:off x="4643438" y="5229225"/>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7" name="Line 23">
            <a:extLst>
              <a:ext uri="{FF2B5EF4-FFF2-40B4-BE49-F238E27FC236}">
                <a16:creationId xmlns:a16="http://schemas.microsoft.com/office/drawing/2014/main" id="{4A0F2699-55A2-9CBE-7DA6-EE79F5F666B4}"/>
              </a:ext>
            </a:extLst>
          </p:cNvPr>
          <p:cNvSpPr>
            <a:spLocks noChangeShapeType="1"/>
          </p:cNvSpPr>
          <p:nvPr/>
        </p:nvSpPr>
        <p:spPr bwMode="auto">
          <a:xfrm>
            <a:off x="5651500" y="522922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8" name="Line 24">
            <a:extLst>
              <a:ext uri="{FF2B5EF4-FFF2-40B4-BE49-F238E27FC236}">
                <a16:creationId xmlns:a16="http://schemas.microsoft.com/office/drawing/2014/main" id="{210BE981-7CFC-F75A-6704-AB0679CADEA9}"/>
              </a:ext>
            </a:extLst>
          </p:cNvPr>
          <p:cNvSpPr>
            <a:spLocks noChangeShapeType="1"/>
          </p:cNvSpPr>
          <p:nvPr/>
        </p:nvSpPr>
        <p:spPr bwMode="auto">
          <a:xfrm>
            <a:off x="4643438" y="522922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9" name="Line 25">
            <a:extLst>
              <a:ext uri="{FF2B5EF4-FFF2-40B4-BE49-F238E27FC236}">
                <a16:creationId xmlns:a16="http://schemas.microsoft.com/office/drawing/2014/main" id="{58F9C8B9-F352-A8E6-B68D-752E85D04F75}"/>
              </a:ext>
            </a:extLst>
          </p:cNvPr>
          <p:cNvSpPr>
            <a:spLocks noChangeShapeType="1"/>
          </p:cNvSpPr>
          <p:nvPr/>
        </p:nvSpPr>
        <p:spPr bwMode="auto">
          <a:xfrm>
            <a:off x="1258888" y="5084763"/>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0" name="Line 26">
            <a:extLst>
              <a:ext uri="{FF2B5EF4-FFF2-40B4-BE49-F238E27FC236}">
                <a16:creationId xmlns:a16="http://schemas.microsoft.com/office/drawing/2014/main" id="{6BFAFEE3-D23E-AD3C-CB6A-626E270E99F4}"/>
              </a:ext>
            </a:extLst>
          </p:cNvPr>
          <p:cNvSpPr>
            <a:spLocks noChangeShapeType="1"/>
          </p:cNvSpPr>
          <p:nvPr/>
        </p:nvSpPr>
        <p:spPr bwMode="auto">
          <a:xfrm>
            <a:off x="3203575" y="5084763"/>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1" name="Line 27">
            <a:extLst>
              <a:ext uri="{FF2B5EF4-FFF2-40B4-BE49-F238E27FC236}">
                <a16:creationId xmlns:a16="http://schemas.microsoft.com/office/drawing/2014/main" id="{688BFBB4-1191-4C0C-CD99-C982BBB00364}"/>
              </a:ext>
            </a:extLst>
          </p:cNvPr>
          <p:cNvSpPr>
            <a:spLocks noChangeShapeType="1"/>
          </p:cNvSpPr>
          <p:nvPr/>
        </p:nvSpPr>
        <p:spPr bwMode="auto">
          <a:xfrm>
            <a:off x="5148263" y="5084763"/>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2" name="Rectangle 28">
            <a:extLst>
              <a:ext uri="{FF2B5EF4-FFF2-40B4-BE49-F238E27FC236}">
                <a16:creationId xmlns:a16="http://schemas.microsoft.com/office/drawing/2014/main" id="{7E5F27E8-592C-F48D-6394-D165DDAED560}"/>
              </a:ext>
            </a:extLst>
          </p:cNvPr>
          <p:cNvSpPr>
            <a:spLocks noChangeArrowheads="1"/>
          </p:cNvSpPr>
          <p:nvPr/>
        </p:nvSpPr>
        <p:spPr bwMode="auto">
          <a:xfrm>
            <a:off x="7451725" y="119697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1</a:t>
            </a:r>
          </a:p>
        </p:txBody>
      </p:sp>
      <p:sp>
        <p:nvSpPr>
          <p:cNvPr id="88093" name="Rectangle 29">
            <a:extLst>
              <a:ext uri="{FF2B5EF4-FFF2-40B4-BE49-F238E27FC236}">
                <a16:creationId xmlns:a16="http://schemas.microsoft.com/office/drawing/2014/main" id="{1B01BCBE-E99D-1778-BF2C-395EF5190F61}"/>
              </a:ext>
            </a:extLst>
          </p:cNvPr>
          <p:cNvSpPr>
            <a:spLocks noChangeArrowheads="1"/>
          </p:cNvSpPr>
          <p:nvPr/>
        </p:nvSpPr>
        <p:spPr bwMode="auto">
          <a:xfrm>
            <a:off x="7451725" y="1916113"/>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2</a:t>
            </a:r>
          </a:p>
        </p:txBody>
      </p:sp>
      <p:sp>
        <p:nvSpPr>
          <p:cNvPr id="88094" name="Rectangle 30">
            <a:extLst>
              <a:ext uri="{FF2B5EF4-FFF2-40B4-BE49-F238E27FC236}">
                <a16:creationId xmlns:a16="http://schemas.microsoft.com/office/drawing/2014/main" id="{01EB2029-DF9B-A2E3-BDC1-E441151247B3}"/>
              </a:ext>
            </a:extLst>
          </p:cNvPr>
          <p:cNvSpPr>
            <a:spLocks noChangeArrowheads="1"/>
          </p:cNvSpPr>
          <p:nvPr/>
        </p:nvSpPr>
        <p:spPr bwMode="auto">
          <a:xfrm>
            <a:off x="6948488" y="263683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5" name="Rectangle 31">
            <a:extLst>
              <a:ext uri="{FF2B5EF4-FFF2-40B4-BE49-F238E27FC236}">
                <a16:creationId xmlns:a16="http://schemas.microsoft.com/office/drawing/2014/main" id="{63127A79-C355-11FB-1149-8654D5B2C825}"/>
              </a:ext>
            </a:extLst>
          </p:cNvPr>
          <p:cNvSpPr>
            <a:spLocks noChangeArrowheads="1"/>
          </p:cNvSpPr>
          <p:nvPr/>
        </p:nvSpPr>
        <p:spPr bwMode="auto">
          <a:xfrm>
            <a:off x="7956550" y="2636838"/>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3</a:t>
            </a:r>
          </a:p>
        </p:txBody>
      </p:sp>
      <p:sp>
        <p:nvSpPr>
          <p:cNvPr id="88096" name="Rectangle 32">
            <a:extLst>
              <a:ext uri="{FF2B5EF4-FFF2-40B4-BE49-F238E27FC236}">
                <a16:creationId xmlns:a16="http://schemas.microsoft.com/office/drawing/2014/main" id="{61EEFAAE-42AF-1D95-735C-7C29875B8A8A}"/>
              </a:ext>
            </a:extLst>
          </p:cNvPr>
          <p:cNvSpPr>
            <a:spLocks noChangeArrowheads="1"/>
          </p:cNvSpPr>
          <p:nvPr/>
        </p:nvSpPr>
        <p:spPr bwMode="auto">
          <a:xfrm>
            <a:off x="6948488" y="328453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097" name="Rectangle 33">
            <a:extLst>
              <a:ext uri="{FF2B5EF4-FFF2-40B4-BE49-F238E27FC236}">
                <a16:creationId xmlns:a16="http://schemas.microsoft.com/office/drawing/2014/main" id="{72F5F2D1-9A32-37C9-E009-735AC9C36108}"/>
              </a:ext>
            </a:extLst>
          </p:cNvPr>
          <p:cNvSpPr>
            <a:spLocks noChangeArrowheads="1"/>
          </p:cNvSpPr>
          <p:nvPr/>
        </p:nvSpPr>
        <p:spPr bwMode="auto">
          <a:xfrm>
            <a:off x="7956550" y="3284538"/>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4</a:t>
            </a:r>
          </a:p>
        </p:txBody>
      </p:sp>
      <p:sp>
        <p:nvSpPr>
          <p:cNvPr id="88098" name="Rectangle 34">
            <a:extLst>
              <a:ext uri="{FF2B5EF4-FFF2-40B4-BE49-F238E27FC236}">
                <a16:creationId xmlns:a16="http://schemas.microsoft.com/office/drawing/2014/main" id="{8A71951C-392A-EF49-3EDE-6ACFBB5F9147}"/>
              </a:ext>
            </a:extLst>
          </p:cNvPr>
          <p:cNvSpPr>
            <a:spLocks noChangeArrowheads="1"/>
          </p:cNvSpPr>
          <p:nvPr/>
        </p:nvSpPr>
        <p:spPr bwMode="auto">
          <a:xfrm>
            <a:off x="4643438" y="4652963"/>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2</a:t>
            </a:r>
          </a:p>
        </p:txBody>
      </p:sp>
      <p:sp>
        <p:nvSpPr>
          <p:cNvPr id="88099" name="Rectangle 35">
            <a:extLst>
              <a:ext uri="{FF2B5EF4-FFF2-40B4-BE49-F238E27FC236}">
                <a16:creationId xmlns:a16="http://schemas.microsoft.com/office/drawing/2014/main" id="{A4716D45-23E6-AFF7-BF7D-A71231CE7BE1}"/>
              </a:ext>
            </a:extLst>
          </p:cNvPr>
          <p:cNvSpPr>
            <a:spLocks noChangeArrowheads="1"/>
          </p:cNvSpPr>
          <p:nvPr/>
        </p:nvSpPr>
        <p:spPr bwMode="auto">
          <a:xfrm>
            <a:off x="7956550" y="4581525"/>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6</a:t>
            </a:r>
          </a:p>
        </p:txBody>
      </p:sp>
      <p:sp>
        <p:nvSpPr>
          <p:cNvPr id="88100" name="Rectangle 36">
            <a:extLst>
              <a:ext uri="{FF2B5EF4-FFF2-40B4-BE49-F238E27FC236}">
                <a16:creationId xmlns:a16="http://schemas.microsoft.com/office/drawing/2014/main" id="{3B516A66-211E-91FA-547D-FBE208B99D68}"/>
              </a:ext>
            </a:extLst>
          </p:cNvPr>
          <p:cNvSpPr>
            <a:spLocks noChangeArrowheads="1"/>
          </p:cNvSpPr>
          <p:nvPr/>
        </p:nvSpPr>
        <p:spPr bwMode="auto">
          <a:xfrm>
            <a:off x="7956550" y="5373688"/>
            <a:ext cx="9350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1800">
                <a:latin typeface="Arial" panose="020B0604020202020204" pitchFamily="34" charset="0"/>
              </a:rPr>
              <a:t>7</a:t>
            </a:r>
          </a:p>
        </p:txBody>
      </p:sp>
      <p:sp>
        <p:nvSpPr>
          <p:cNvPr id="88101" name="Rectangle 37">
            <a:extLst>
              <a:ext uri="{FF2B5EF4-FFF2-40B4-BE49-F238E27FC236}">
                <a16:creationId xmlns:a16="http://schemas.microsoft.com/office/drawing/2014/main" id="{879B2BCB-6B2F-A26E-0094-31CB4B786687}"/>
              </a:ext>
            </a:extLst>
          </p:cNvPr>
          <p:cNvSpPr>
            <a:spLocks noChangeArrowheads="1"/>
          </p:cNvSpPr>
          <p:nvPr/>
        </p:nvSpPr>
        <p:spPr bwMode="auto">
          <a:xfrm>
            <a:off x="6948488" y="5373688"/>
            <a:ext cx="9350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102" name="Line 38">
            <a:extLst>
              <a:ext uri="{FF2B5EF4-FFF2-40B4-BE49-F238E27FC236}">
                <a16:creationId xmlns:a16="http://schemas.microsoft.com/office/drawing/2014/main" id="{527D15D0-766F-A32B-05EF-6D3D85FAD56C}"/>
              </a:ext>
            </a:extLst>
          </p:cNvPr>
          <p:cNvSpPr>
            <a:spLocks noChangeShapeType="1"/>
          </p:cNvSpPr>
          <p:nvPr/>
        </p:nvSpPr>
        <p:spPr bwMode="auto">
          <a:xfrm>
            <a:off x="7885113" y="1628775"/>
            <a:ext cx="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3" name="Line 39">
            <a:extLst>
              <a:ext uri="{FF2B5EF4-FFF2-40B4-BE49-F238E27FC236}">
                <a16:creationId xmlns:a16="http://schemas.microsoft.com/office/drawing/2014/main" id="{9DABB2EF-0D74-B877-44B3-DC2A3CC90AF9}"/>
              </a:ext>
            </a:extLst>
          </p:cNvPr>
          <p:cNvSpPr>
            <a:spLocks noChangeShapeType="1"/>
          </p:cNvSpPr>
          <p:nvPr/>
        </p:nvSpPr>
        <p:spPr bwMode="auto">
          <a:xfrm>
            <a:off x="7380288" y="2492375"/>
            <a:ext cx="1079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4" name="Line 40">
            <a:extLst>
              <a:ext uri="{FF2B5EF4-FFF2-40B4-BE49-F238E27FC236}">
                <a16:creationId xmlns:a16="http://schemas.microsoft.com/office/drawing/2014/main" id="{9700ABB6-4454-0B8E-54CB-1E23BBFBFAD3}"/>
              </a:ext>
            </a:extLst>
          </p:cNvPr>
          <p:cNvSpPr>
            <a:spLocks noChangeShapeType="1"/>
          </p:cNvSpPr>
          <p:nvPr/>
        </p:nvSpPr>
        <p:spPr bwMode="auto">
          <a:xfrm>
            <a:off x="7380288" y="249237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5" name="Line 41">
            <a:extLst>
              <a:ext uri="{FF2B5EF4-FFF2-40B4-BE49-F238E27FC236}">
                <a16:creationId xmlns:a16="http://schemas.microsoft.com/office/drawing/2014/main" id="{D99A9A7C-42F5-C187-5573-E541EE4CA691}"/>
              </a:ext>
            </a:extLst>
          </p:cNvPr>
          <p:cNvSpPr>
            <a:spLocks noChangeShapeType="1"/>
          </p:cNvSpPr>
          <p:nvPr/>
        </p:nvSpPr>
        <p:spPr bwMode="auto">
          <a:xfrm>
            <a:off x="8459788" y="249237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6" name="Line 42">
            <a:extLst>
              <a:ext uri="{FF2B5EF4-FFF2-40B4-BE49-F238E27FC236}">
                <a16:creationId xmlns:a16="http://schemas.microsoft.com/office/drawing/2014/main" id="{6201B478-B7ED-03B6-0FC3-3F7DB2C49CEA}"/>
              </a:ext>
            </a:extLst>
          </p:cNvPr>
          <p:cNvSpPr>
            <a:spLocks noChangeShapeType="1"/>
          </p:cNvSpPr>
          <p:nvPr/>
        </p:nvSpPr>
        <p:spPr bwMode="auto">
          <a:xfrm>
            <a:off x="7885113" y="23495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7" name="Line 43">
            <a:extLst>
              <a:ext uri="{FF2B5EF4-FFF2-40B4-BE49-F238E27FC236}">
                <a16:creationId xmlns:a16="http://schemas.microsoft.com/office/drawing/2014/main" id="{4E85EEF8-C042-1A0C-A8D9-4CEDF52039B0}"/>
              </a:ext>
            </a:extLst>
          </p:cNvPr>
          <p:cNvSpPr>
            <a:spLocks noChangeShapeType="1"/>
          </p:cNvSpPr>
          <p:nvPr/>
        </p:nvSpPr>
        <p:spPr bwMode="auto">
          <a:xfrm>
            <a:off x="7451725" y="3068638"/>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8" name="Line 44">
            <a:extLst>
              <a:ext uri="{FF2B5EF4-FFF2-40B4-BE49-F238E27FC236}">
                <a16:creationId xmlns:a16="http://schemas.microsoft.com/office/drawing/2014/main" id="{22FF2A29-9498-1866-C1FA-726440BC1998}"/>
              </a:ext>
            </a:extLst>
          </p:cNvPr>
          <p:cNvSpPr>
            <a:spLocks noChangeShapeType="1"/>
          </p:cNvSpPr>
          <p:nvPr/>
        </p:nvSpPr>
        <p:spPr bwMode="auto">
          <a:xfrm>
            <a:off x="8459788" y="3068638"/>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09" name="Line 45">
            <a:extLst>
              <a:ext uri="{FF2B5EF4-FFF2-40B4-BE49-F238E27FC236}">
                <a16:creationId xmlns:a16="http://schemas.microsoft.com/office/drawing/2014/main" id="{6041A6F9-9BE0-F851-50F2-7A461C6DFC19}"/>
              </a:ext>
            </a:extLst>
          </p:cNvPr>
          <p:cNvSpPr>
            <a:spLocks noChangeShapeType="1"/>
          </p:cNvSpPr>
          <p:nvPr/>
        </p:nvSpPr>
        <p:spPr bwMode="auto">
          <a:xfrm>
            <a:off x="8459788" y="3716338"/>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0" name="Line 46">
            <a:extLst>
              <a:ext uri="{FF2B5EF4-FFF2-40B4-BE49-F238E27FC236}">
                <a16:creationId xmlns:a16="http://schemas.microsoft.com/office/drawing/2014/main" id="{E0C99712-E1B5-116D-8C06-3FAAD68962C3}"/>
              </a:ext>
            </a:extLst>
          </p:cNvPr>
          <p:cNvSpPr>
            <a:spLocks noChangeShapeType="1"/>
          </p:cNvSpPr>
          <p:nvPr/>
        </p:nvSpPr>
        <p:spPr bwMode="auto">
          <a:xfrm>
            <a:off x="8459788" y="4365625"/>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1" name="Line 47">
            <a:extLst>
              <a:ext uri="{FF2B5EF4-FFF2-40B4-BE49-F238E27FC236}">
                <a16:creationId xmlns:a16="http://schemas.microsoft.com/office/drawing/2014/main" id="{C96E2121-2C8A-FDD6-79AE-E381F6850A0E}"/>
              </a:ext>
            </a:extLst>
          </p:cNvPr>
          <p:cNvSpPr>
            <a:spLocks noChangeShapeType="1"/>
          </p:cNvSpPr>
          <p:nvPr/>
        </p:nvSpPr>
        <p:spPr bwMode="auto">
          <a:xfrm>
            <a:off x="8459788" y="5013325"/>
            <a:ext cx="0" cy="360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2" name="Line 48">
            <a:extLst>
              <a:ext uri="{FF2B5EF4-FFF2-40B4-BE49-F238E27FC236}">
                <a16:creationId xmlns:a16="http://schemas.microsoft.com/office/drawing/2014/main" id="{B57387CB-ADB4-11FF-EF8C-0E62319D1B65}"/>
              </a:ext>
            </a:extLst>
          </p:cNvPr>
          <p:cNvSpPr>
            <a:spLocks noChangeShapeType="1"/>
          </p:cNvSpPr>
          <p:nvPr/>
        </p:nvSpPr>
        <p:spPr bwMode="auto">
          <a:xfrm flipH="1">
            <a:off x="7380288" y="5157788"/>
            <a:ext cx="1079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3" name="Line 49">
            <a:extLst>
              <a:ext uri="{FF2B5EF4-FFF2-40B4-BE49-F238E27FC236}">
                <a16:creationId xmlns:a16="http://schemas.microsoft.com/office/drawing/2014/main" id="{41BFA931-0F28-A450-1EE1-DCE85F08BC34}"/>
              </a:ext>
            </a:extLst>
          </p:cNvPr>
          <p:cNvSpPr>
            <a:spLocks noChangeShapeType="1"/>
          </p:cNvSpPr>
          <p:nvPr/>
        </p:nvSpPr>
        <p:spPr bwMode="auto">
          <a:xfrm>
            <a:off x="7380288" y="5157788"/>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157" name="Group 93">
            <a:extLst>
              <a:ext uri="{FF2B5EF4-FFF2-40B4-BE49-F238E27FC236}">
                <a16:creationId xmlns:a16="http://schemas.microsoft.com/office/drawing/2014/main" id="{5CBC2822-196E-EB1B-487E-86749F943E7F}"/>
              </a:ext>
            </a:extLst>
          </p:cNvPr>
          <p:cNvGraphicFramePr>
            <a:graphicFrameLocks noGrp="1"/>
          </p:cNvGraphicFramePr>
          <p:nvPr>
            <p:ph/>
          </p:nvPr>
        </p:nvGraphicFramePr>
        <p:xfrm>
          <a:off x="395288" y="765175"/>
          <a:ext cx="6275387" cy="2784475"/>
        </p:xfrm>
        <a:graphic>
          <a:graphicData uri="http://schemas.openxmlformats.org/drawingml/2006/table">
            <a:tbl>
              <a:tblPr/>
              <a:tblGrid>
                <a:gridCol w="1512887">
                  <a:extLst>
                    <a:ext uri="{9D8B030D-6E8A-4147-A177-3AD203B41FA5}">
                      <a16:colId xmlns:a16="http://schemas.microsoft.com/office/drawing/2014/main" val="3932345735"/>
                    </a:ext>
                  </a:extLst>
                </a:gridCol>
                <a:gridCol w="1584325">
                  <a:extLst>
                    <a:ext uri="{9D8B030D-6E8A-4147-A177-3AD203B41FA5}">
                      <a16:colId xmlns:a16="http://schemas.microsoft.com/office/drawing/2014/main" val="1126217703"/>
                    </a:ext>
                  </a:extLst>
                </a:gridCol>
                <a:gridCol w="1584325">
                  <a:extLst>
                    <a:ext uri="{9D8B030D-6E8A-4147-A177-3AD203B41FA5}">
                      <a16:colId xmlns:a16="http://schemas.microsoft.com/office/drawing/2014/main" val="1031240862"/>
                    </a:ext>
                  </a:extLst>
                </a:gridCol>
                <a:gridCol w="1593850">
                  <a:extLst>
                    <a:ext uri="{9D8B030D-6E8A-4147-A177-3AD203B41FA5}">
                      <a16:colId xmlns:a16="http://schemas.microsoft.com/office/drawing/2014/main" val="3439744716"/>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设计模式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优点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8963085"/>
                  </a:ext>
                </a:extLst>
              </a:tr>
              <a:tr h="5937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竖直结构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管理幅度小</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管理层次多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横向协调好；</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指导具体；</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晋升机会多。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信息沟通慢；</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工作效率低；</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管理成本高。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2079932"/>
                  </a:ext>
                </a:extLst>
              </a:tr>
              <a:tr h="8048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扁平结构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管理幅度大</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管理层次少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信息沟通快；</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办事效率高；</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管理成本低。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横向协调差；</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粗放指导；</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缺乏激励性。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9072577"/>
                  </a:ext>
                </a:extLst>
              </a:tr>
              <a:tr h="144463">
                <a:tc gridSpan="4">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组织规模、管理幅度与组织层次的关系：组织层次与管理幅度成反比，与组织规模成正比。</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3697953"/>
                  </a:ext>
                </a:extLst>
              </a:tr>
            </a:tbl>
          </a:graphicData>
        </a:graphic>
      </p:graphicFrame>
      <p:sp>
        <p:nvSpPr>
          <p:cNvPr id="88136" name="Text Box 72">
            <a:extLst>
              <a:ext uri="{FF2B5EF4-FFF2-40B4-BE49-F238E27FC236}">
                <a16:creationId xmlns:a16="http://schemas.microsoft.com/office/drawing/2014/main" id="{B18FB9D8-2326-BD66-BFBB-E0764CEFD320}"/>
              </a:ext>
            </a:extLst>
          </p:cNvPr>
          <p:cNvSpPr txBox="1">
            <a:spLocks noChangeArrowheads="1"/>
          </p:cNvSpPr>
          <p:nvPr/>
        </p:nvSpPr>
        <p:spPr bwMode="auto">
          <a:xfrm>
            <a:off x="7308850" y="836613"/>
            <a:ext cx="12239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竖直结构</a:t>
            </a:r>
          </a:p>
        </p:txBody>
      </p:sp>
      <p:sp>
        <p:nvSpPr>
          <p:cNvPr id="88137" name="Text Box 73">
            <a:extLst>
              <a:ext uri="{FF2B5EF4-FFF2-40B4-BE49-F238E27FC236}">
                <a16:creationId xmlns:a16="http://schemas.microsoft.com/office/drawing/2014/main" id="{C14E06E8-9E42-6CFB-9C9F-AF94B76F5C14}"/>
              </a:ext>
            </a:extLst>
          </p:cNvPr>
          <p:cNvSpPr txBox="1">
            <a:spLocks noChangeArrowheads="1"/>
          </p:cNvSpPr>
          <p:nvPr/>
        </p:nvSpPr>
        <p:spPr bwMode="auto">
          <a:xfrm>
            <a:off x="2627313" y="3573463"/>
            <a:ext cx="1152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扁平结构</a:t>
            </a:r>
          </a:p>
        </p:txBody>
      </p:sp>
      <p:sp>
        <p:nvSpPr>
          <p:cNvPr id="88139" name="Text Box 75">
            <a:extLst>
              <a:ext uri="{FF2B5EF4-FFF2-40B4-BE49-F238E27FC236}">
                <a16:creationId xmlns:a16="http://schemas.microsoft.com/office/drawing/2014/main" id="{3F41FCF6-CFF0-CD5B-F1A1-77EA14CA0D7E}"/>
              </a:ext>
            </a:extLst>
          </p:cNvPr>
          <p:cNvSpPr txBox="1">
            <a:spLocks noChangeArrowheads="1"/>
          </p:cNvSpPr>
          <p:nvPr/>
        </p:nvSpPr>
        <p:spPr bwMode="auto">
          <a:xfrm>
            <a:off x="250825" y="188913"/>
            <a:ext cx="2449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宋体" panose="02010600030101010101" pitchFamily="2" charset="-122"/>
              </a:rPr>
              <a:t>7.3</a:t>
            </a:r>
            <a:r>
              <a:rPr lang="zh-CN" altLang="en-US" sz="1600">
                <a:latin typeface="宋体" panose="02010600030101010101" pitchFamily="2" charset="-122"/>
              </a:rPr>
              <a:t>管理幅度与组织层次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74EA8DC0-0849-AAE2-2236-DF713E0F2893}"/>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CEF963E6-6F01-FB33-02F2-DD91D78885DE}"/>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BA327BD7-F531-AE33-99EA-ED0641BA5792}"/>
              </a:ext>
            </a:extLst>
          </p:cNvPr>
          <p:cNvSpPr>
            <a:spLocks noGrp="1"/>
          </p:cNvSpPr>
          <p:nvPr>
            <p:ph type="sldNum" sz="quarter" idx="12"/>
          </p:nvPr>
        </p:nvSpPr>
        <p:spPr/>
        <p:txBody>
          <a:bodyPr/>
          <a:lstStyle/>
          <a:p>
            <a:fld id="{188DCC70-2154-4A85-8701-49602B89B23F}" type="slidenum">
              <a:rPr lang="en-US" altLang="zh-CN"/>
              <a:pPr/>
              <a:t>11</a:t>
            </a:fld>
            <a:endParaRPr lang="en-US" altLang="zh-CN"/>
          </a:p>
        </p:txBody>
      </p:sp>
      <p:sp>
        <p:nvSpPr>
          <p:cNvPr id="89090" name="Text Box 2">
            <a:extLst>
              <a:ext uri="{FF2B5EF4-FFF2-40B4-BE49-F238E27FC236}">
                <a16:creationId xmlns:a16="http://schemas.microsoft.com/office/drawing/2014/main" id="{F82671F2-8E02-B98E-967A-766E15A0F8B0}"/>
              </a:ext>
            </a:extLst>
          </p:cNvPr>
          <p:cNvSpPr txBox="1">
            <a:spLocks noChangeArrowheads="1"/>
          </p:cNvSpPr>
          <p:nvPr/>
        </p:nvSpPr>
        <p:spPr bwMode="auto">
          <a:xfrm>
            <a:off x="611188" y="5516563"/>
            <a:ext cx="52562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rPr>
              <a:t>扁平化＝管理层削减＝缩短指挥链＝扩大管理幅度</a:t>
            </a:r>
          </a:p>
        </p:txBody>
      </p:sp>
      <p:graphicFrame>
        <p:nvGraphicFramePr>
          <p:cNvPr id="89092" name="Group 4">
            <a:extLst>
              <a:ext uri="{FF2B5EF4-FFF2-40B4-BE49-F238E27FC236}">
                <a16:creationId xmlns:a16="http://schemas.microsoft.com/office/drawing/2014/main" id="{C43EE19D-DCB1-8FE8-4CE0-29725F672FFC}"/>
              </a:ext>
            </a:extLst>
          </p:cNvPr>
          <p:cNvGraphicFramePr>
            <a:graphicFrameLocks noGrp="1"/>
          </p:cNvGraphicFramePr>
          <p:nvPr>
            <p:ph/>
          </p:nvPr>
        </p:nvGraphicFramePr>
        <p:xfrm>
          <a:off x="539750" y="1196975"/>
          <a:ext cx="8135938" cy="4300538"/>
        </p:xfrm>
        <a:graphic>
          <a:graphicData uri="http://schemas.openxmlformats.org/drawingml/2006/table">
            <a:tbl>
              <a:tblPr/>
              <a:tblGrid>
                <a:gridCol w="8135938">
                  <a:extLst>
                    <a:ext uri="{9D8B030D-6E8A-4147-A177-3AD203B41FA5}">
                      <a16:colId xmlns:a16="http://schemas.microsoft.com/office/drawing/2014/main" val="1690409661"/>
                    </a:ext>
                  </a:extLst>
                </a:gridCol>
              </a:tblGrid>
              <a:tr h="4651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组织层次多的弊端</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7585867"/>
                  </a:ext>
                </a:extLst>
              </a:tr>
              <a:tr h="4651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管理费用增加；</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沟通复杂化；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计划与控制工作复杂化；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对环境变化的反应速度减慢。</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01988383"/>
                  </a:ext>
                </a:extLst>
              </a:tr>
              <a:tr h="4635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减少管理层次的好处</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788858"/>
                  </a:ext>
                </a:extLst>
              </a:tr>
              <a:tr h="4651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需要更少的管理人员；</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官僚主义的减少；</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能够国家迅速地决策；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鼓励革新；</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使管理者与顾客的接触更加频繁和容易；</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使员工能够胜任更多方面的工作。</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4269857"/>
                  </a:ext>
                </a:extLst>
              </a:tr>
            </a:tbl>
          </a:graphicData>
        </a:graphic>
      </p:graphicFrame>
      <p:sp>
        <p:nvSpPr>
          <p:cNvPr id="89104" name="Text Box 16">
            <a:extLst>
              <a:ext uri="{FF2B5EF4-FFF2-40B4-BE49-F238E27FC236}">
                <a16:creationId xmlns:a16="http://schemas.microsoft.com/office/drawing/2014/main" id="{35288354-3539-8D84-9E32-A048066BE752}"/>
              </a:ext>
            </a:extLst>
          </p:cNvPr>
          <p:cNvSpPr txBox="1">
            <a:spLocks noChangeArrowheads="1"/>
          </p:cNvSpPr>
          <p:nvPr/>
        </p:nvSpPr>
        <p:spPr bwMode="auto">
          <a:xfrm>
            <a:off x="3276600" y="765175"/>
            <a:ext cx="252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组织设计的扁平化趋势</a:t>
            </a:r>
          </a:p>
        </p:txBody>
      </p:sp>
      <p:sp>
        <p:nvSpPr>
          <p:cNvPr id="89105" name="Text Box 17">
            <a:extLst>
              <a:ext uri="{FF2B5EF4-FFF2-40B4-BE49-F238E27FC236}">
                <a16:creationId xmlns:a16="http://schemas.microsoft.com/office/drawing/2014/main" id="{EB9FDF96-0320-1C13-4F31-2E44D9C0C3A0}"/>
              </a:ext>
            </a:extLst>
          </p:cNvPr>
          <p:cNvSpPr txBox="1">
            <a:spLocks noChangeArrowheads="1"/>
          </p:cNvSpPr>
          <p:nvPr/>
        </p:nvSpPr>
        <p:spPr bwMode="auto">
          <a:xfrm>
            <a:off x="250825" y="188913"/>
            <a:ext cx="2449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latin typeface="宋体" panose="02010600030101010101" pitchFamily="2" charset="-122"/>
              </a:rPr>
              <a:t>7.3</a:t>
            </a:r>
            <a:r>
              <a:rPr lang="zh-CN" altLang="en-US" sz="1600">
                <a:latin typeface="宋体" panose="02010600030101010101" pitchFamily="2" charset="-122"/>
              </a:rPr>
              <a:t>管理幅度与组织层次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3390F9C-2E89-BFC8-85CA-830AAFD676A9}"/>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0C6E0506-A5D9-BD23-8B42-3E2723D59A55}"/>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BAC3A232-953A-9DC7-EF40-4EFF306EC2F4}"/>
              </a:ext>
            </a:extLst>
          </p:cNvPr>
          <p:cNvSpPr>
            <a:spLocks noGrp="1"/>
          </p:cNvSpPr>
          <p:nvPr>
            <p:ph type="sldNum" sz="quarter" idx="12"/>
          </p:nvPr>
        </p:nvSpPr>
        <p:spPr/>
        <p:txBody>
          <a:bodyPr/>
          <a:lstStyle/>
          <a:p>
            <a:fld id="{7E430574-07D9-49C9-B19F-C458E2A1C7B9}" type="slidenum">
              <a:rPr lang="en-US" altLang="zh-CN"/>
              <a:pPr/>
              <a:t>12</a:t>
            </a:fld>
            <a:endParaRPr lang="en-US" altLang="zh-CN"/>
          </a:p>
        </p:txBody>
      </p:sp>
      <p:sp>
        <p:nvSpPr>
          <p:cNvPr id="80898" name="Rectangle 2">
            <a:extLst>
              <a:ext uri="{FF2B5EF4-FFF2-40B4-BE49-F238E27FC236}">
                <a16:creationId xmlns:a16="http://schemas.microsoft.com/office/drawing/2014/main" id="{F0C7CF87-2D5C-7DE3-5DB5-CA1A68016E06}"/>
              </a:ext>
            </a:extLst>
          </p:cNvPr>
          <p:cNvSpPr>
            <a:spLocks noChangeArrowheads="1"/>
          </p:cNvSpPr>
          <p:nvPr/>
        </p:nvSpPr>
        <p:spPr bwMode="auto">
          <a:xfrm>
            <a:off x="4859338" y="47625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总经理</a:t>
            </a:r>
          </a:p>
        </p:txBody>
      </p:sp>
      <p:sp>
        <p:nvSpPr>
          <p:cNvPr id="80899" name="Rectangle 3">
            <a:extLst>
              <a:ext uri="{FF2B5EF4-FFF2-40B4-BE49-F238E27FC236}">
                <a16:creationId xmlns:a16="http://schemas.microsoft.com/office/drawing/2014/main" id="{DD9E2367-D649-16BA-3129-91C243435663}"/>
              </a:ext>
            </a:extLst>
          </p:cNvPr>
          <p:cNvSpPr>
            <a:spLocks noChangeArrowheads="1"/>
          </p:cNvSpPr>
          <p:nvPr/>
        </p:nvSpPr>
        <p:spPr bwMode="auto">
          <a:xfrm>
            <a:off x="179388" y="188913"/>
            <a:ext cx="1279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7.4</a:t>
            </a:r>
            <a:r>
              <a:rPr kumimoji="0" lang="zh-CN" altLang="en-US" sz="1600">
                <a:latin typeface="Arial" panose="020B0604020202020204" pitchFamily="34" charset="0"/>
              </a:rPr>
              <a:t>部门划分</a:t>
            </a:r>
          </a:p>
        </p:txBody>
      </p:sp>
      <p:sp>
        <p:nvSpPr>
          <p:cNvPr id="80900" name="Rectangle 4">
            <a:extLst>
              <a:ext uri="{FF2B5EF4-FFF2-40B4-BE49-F238E27FC236}">
                <a16:creationId xmlns:a16="http://schemas.microsoft.com/office/drawing/2014/main" id="{A68DB637-CB47-65A5-7D23-96CDA5EF9684}"/>
              </a:ext>
            </a:extLst>
          </p:cNvPr>
          <p:cNvSpPr>
            <a:spLocks noChangeArrowheads="1"/>
          </p:cNvSpPr>
          <p:nvPr/>
        </p:nvSpPr>
        <p:spPr bwMode="auto">
          <a:xfrm>
            <a:off x="3492500" y="105251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采购部</a:t>
            </a:r>
          </a:p>
        </p:txBody>
      </p:sp>
      <p:sp>
        <p:nvSpPr>
          <p:cNvPr id="80901" name="Rectangle 5">
            <a:extLst>
              <a:ext uri="{FF2B5EF4-FFF2-40B4-BE49-F238E27FC236}">
                <a16:creationId xmlns:a16="http://schemas.microsoft.com/office/drawing/2014/main" id="{28DA034D-492D-DA8F-7EB6-AED351AF3542}"/>
              </a:ext>
            </a:extLst>
          </p:cNvPr>
          <p:cNvSpPr>
            <a:spLocks noChangeArrowheads="1"/>
          </p:cNvSpPr>
          <p:nvPr/>
        </p:nvSpPr>
        <p:spPr bwMode="auto">
          <a:xfrm>
            <a:off x="4859338" y="105251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生产部</a:t>
            </a:r>
          </a:p>
        </p:txBody>
      </p:sp>
      <p:sp>
        <p:nvSpPr>
          <p:cNvPr id="80902" name="Rectangle 6">
            <a:extLst>
              <a:ext uri="{FF2B5EF4-FFF2-40B4-BE49-F238E27FC236}">
                <a16:creationId xmlns:a16="http://schemas.microsoft.com/office/drawing/2014/main" id="{FD55B7FF-80EF-629A-74B2-AB660EC84F74}"/>
              </a:ext>
            </a:extLst>
          </p:cNvPr>
          <p:cNvSpPr>
            <a:spLocks noChangeArrowheads="1"/>
          </p:cNvSpPr>
          <p:nvPr/>
        </p:nvSpPr>
        <p:spPr bwMode="auto">
          <a:xfrm>
            <a:off x="2124075" y="105251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销售部</a:t>
            </a:r>
          </a:p>
        </p:txBody>
      </p:sp>
      <p:sp>
        <p:nvSpPr>
          <p:cNvPr id="80903" name="Rectangle 7">
            <a:extLst>
              <a:ext uri="{FF2B5EF4-FFF2-40B4-BE49-F238E27FC236}">
                <a16:creationId xmlns:a16="http://schemas.microsoft.com/office/drawing/2014/main" id="{84366738-5114-B2C5-CC98-92B2E77E45DB}"/>
              </a:ext>
            </a:extLst>
          </p:cNvPr>
          <p:cNvSpPr>
            <a:spLocks noChangeArrowheads="1"/>
          </p:cNvSpPr>
          <p:nvPr/>
        </p:nvSpPr>
        <p:spPr bwMode="auto">
          <a:xfrm>
            <a:off x="6227763" y="105251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财务部</a:t>
            </a:r>
          </a:p>
        </p:txBody>
      </p:sp>
      <p:sp>
        <p:nvSpPr>
          <p:cNvPr id="80904" name="Rectangle 8">
            <a:extLst>
              <a:ext uri="{FF2B5EF4-FFF2-40B4-BE49-F238E27FC236}">
                <a16:creationId xmlns:a16="http://schemas.microsoft.com/office/drawing/2014/main" id="{530CA062-AD82-D745-A51E-57BD92C32B50}"/>
              </a:ext>
            </a:extLst>
          </p:cNvPr>
          <p:cNvSpPr>
            <a:spLocks noChangeArrowheads="1"/>
          </p:cNvSpPr>
          <p:nvPr/>
        </p:nvSpPr>
        <p:spPr bwMode="auto">
          <a:xfrm>
            <a:off x="7596188" y="105251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技术部</a:t>
            </a:r>
          </a:p>
        </p:txBody>
      </p:sp>
      <p:sp>
        <p:nvSpPr>
          <p:cNvPr id="80905" name="Line 9">
            <a:extLst>
              <a:ext uri="{FF2B5EF4-FFF2-40B4-BE49-F238E27FC236}">
                <a16:creationId xmlns:a16="http://schemas.microsoft.com/office/drawing/2014/main" id="{CE7F1AA3-B11B-DF72-5F7B-D8E9506FC02F}"/>
              </a:ext>
            </a:extLst>
          </p:cNvPr>
          <p:cNvSpPr>
            <a:spLocks noChangeShapeType="1"/>
          </p:cNvSpPr>
          <p:nvPr/>
        </p:nvSpPr>
        <p:spPr bwMode="auto">
          <a:xfrm>
            <a:off x="2771775" y="981075"/>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6" name="Line 10">
            <a:extLst>
              <a:ext uri="{FF2B5EF4-FFF2-40B4-BE49-F238E27FC236}">
                <a16:creationId xmlns:a16="http://schemas.microsoft.com/office/drawing/2014/main" id="{8F293D90-D183-1F66-219B-5A8D8F78479A}"/>
              </a:ext>
            </a:extLst>
          </p:cNvPr>
          <p:cNvSpPr>
            <a:spLocks noChangeShapeType="1"/>
          </p:cNvSpPr>
          <p:nvPr/>
        </p:nvSpPr>
        <p:spPr bwMode="auto">
          <a:xfrm>
            <a:off x="8243888" y="981075"/>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7" name="Line 11">
            <a:extLst>
              <a:ext uri="{FF2B5EF4-FFF2-40B4-BE49-F238E27FC236}">
                <a16:creationId xmlns:a16="http://schemas.microsoft.com/office/drawing/2014/main" id="{0FFCCDBA-4FDC-35BC-2524-38752449AF18}"/>
              </a:ext>
            </a:extLst>
          </p:cNvPr>
          <p:cNvSpPr>
            <a:spLocks noChangeShapeType="1"/>
          </p:cNvSpPr>
          <p:nvPr/>
        </p:nvSpPr>
        <p:spPr bwMode="auto">
          <a:xfrm>
            <a:off x="2771775" y="981075"/>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8" name="Line 12">
            <a:extLst>
              <a:ext uri="{FF2B5EF4-FFF2-40B4-BE49-F238E27FC236}">
                <a16:creationId xmlns:a16="http://schemas.microsoft.com/office/drawing/2014/main" id="{72360AF5-AA37-CC63-9D62-12B2E59D3726}"/>
              </a:ext>
            </a:extLst>
          </p:cNvPr>
          <p:cNvSpPr>
            <a:spLocks noChangeShapeType="1"/>
          </p:cNvSpPr>
          <p:nvPr/>
        </p:nvSpPr>
        <p:spPr bwMode="auto">
          <a:xfrm>
            <a:off x="4140200" y="981075"/>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09" name="Line 13">
            <a:extLst>
              <a:ext uri="{FF2B5EF4-FFF2-40B4-BE49-F238E27FC236}">
                <a16:creationId xmlns:a16="http://schemas.microsoft.com/office/drawing/2014/main" id="{8D001D26-1BF9-0377-C2D8-307D364F730D}"/>
              </a:ext>
            </a:extLst>
          </p:cNvPr>
          <p:cNvSpPr>
            <a:spLocks noChangeShapeType="1"/>
          </p:cNvSpPr>
          <p:nvPr/>
        </p:nvSpPr>
        <p:spPr bwMode="auto">
          <a:xfrm>
            <a:off x="5508625" y="90805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0" name="Line 14">
            <a:extLst>
              <a:ext uri="{FF2B5EF4-FFF2-40B4-BE49-F238E27FC236}">
                <a16:creationId xmlns:a16="http://schemas.microsoft.com/office/drawing/2014/main" id="{57B2F16D-F558-973C-F2BF-A328D1FC7A28}"/>
              </a:ext>
            </a:extLst>
          </p:cNvPr>
          <p:cNvSpPr>
            <a:spLocks noChangeShapeType="1"/>
          </p:cNvSpPr>
          <p:nvPr/>
        </p:nvSpPr>
        <p:spPr bwMode="auto">
          <a:xfrm>
            <a:off x="6877050" y="981075"/>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1" name="Rectangle 15">
            <a:extLst>
              <a:ext uri="{FF2B5EF4-FFF2-40B4-BE49-F238E27FC236}">
                <a16:creationId xmlns:a16="http://schemas.microsoft.com/office/drawing/2014/main" id="{6C6390F0-6639-3E64-DD77-D4D6AA828393}"/>
              </a:ext>
            </a:extLst>
          </p:cNvPr>
          <p:cNvSpPr>
            <a:spLocks noChangeArrowheads="1"/>
          </p:cNvSpPr>
          <p:nvPr/>
        </p:nvSpPr>
        <p:spPr bwMode="auto">
          <a:xfrm>
            <a:off x="4859338" y="162877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总经理</a:t>
            </a:r>
          </a:p>
        </p:txBody>
      </p:sp>
      <p:sp>
        <p:nvSpPr>
          <p:cNvPr id="80912" name="Rectangle 16">
            <a:extLst>
              <a:ext uri="{FF2B5EF4-FFF2-40B4-BE49-F238E27FC236}">
                <a16:creationId xmlns:a16="http://schemas.microsoft.com/office/drawing/2014/main" id="{844F2C29-EF93-3067-85DA-B3C3772F9CD4}"/>
              </a:ext>
            </a:extLst>
          </p:cNvPr>
          <p:cNvSpPr>
            <a:spLocks noChangeArrowheads="1"/>
          </p:cNvSpPr>
          <p:nvPr/>
        </p:nvSpPr>
        <p:spPr bwMode="auto">
          <a:xfrm>
            <a:off x="7596188" y="2205038"/>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炼油</a:t>
            </a:r>
          </a:p>
        </p:txBody>
      </p:sp>
      <p:sp>
        <p:nvSpPr>
          <p:cNvPr id="80913" name="Rectangle 17">
            <a:extLst>
              <a:ext uri="{FF2B5EF4-FFF2-40B4-BE49-F238E27FC236}">
                <a16:creationId xmlns:a16="http://schemas.microsoft.com/office/drawing/2014/main" id="{F6BAF5D6-0239-1A44-66F8-F4187AEEEAEA}"/>
              </a:ext>
            </a:extLst>
          </p:cNvPr>
          <p:cNvSpPr>
            <a:spLocks noChangeArrowheads="1"/>
          </p:cNvSpPr>
          <p:nvPr/>
        </p:nvSpPr>
        <p:spPr bwMode="auto">
          <a:xfrm>
            <a:off x="3492500" y="2205038"/>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勘探</a:t>
            </a:r>
          </a:p>
        </p:txBody>
      </p:sp>
      <p:sp>
        <p:nvSpPr>
          <p:cNvPr id="80914" name="Rectangle 18">
            <a:extLst>
              <a:ext uri="{FF2B5EF4-FFF2-40B4-BE49-F238E27FC236}">
                <a16:creationId xmlns:a16="http://schemas.microsoft.com/office/drawing/2014/main" id="{65057D1B-0E5C-2744-1E6A-98843C5FDB18}"/>
              </a:ext>
            </a:extLst>
          </p:cNvPr>
          <p:cNvSpPr>
            <a:spLocks noChangeArrowheads="1"/>
          </p:cNvSpPr>
          <p:nvPr/>
        </p:nvSpPr>
        <p:spPr bwMode="auto">
          <a:xfrm>
            <a:off x="2124075" y="2205038"/>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规划</a:t>
            </a:r>
          </a:p>
        </p:txBody>
      </p:sp>
      <p:sp>
        <p:nvSpPr>
          <p:cNvPr id="80915" name="Rectangle 19">
            <a:extLst>
              <a:ext uri="{FF2B5EF4-FFF2-40B4-BE49-F238E27FC236}">
                <a16:creationId xmlns:a16="http://schemas.microsoft.com/office/drawing/2014/main" id="{26FD7652-0223-014F-E908-93EECB7FB90F}"/>
              </a:ext>
            </a:extLst>
          </p:cNvPr>
          <p:cNvSpPr>
            <a:spLocks noChangeArrowheads="1"/>
          </p:cNvSpPr>
          <p:nvPr/>
        </p:nvSpPr>
        <p:spPr bwMode="auto">
          <a:xfrm>
            <a:off x="4859338" y="2205038"/>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钻井</a:t>
            </a:r>
          </a:p>
        </p:txBody>
      </p:sp>
      <p:sp>
        <p:nvSpPr>
          <p:cNvPr id="80916" name="Rectangle 20">
            <a:extLst>
              <a:ext uri="{FF2B5EF4-FFF2-40B4-BE49-F238E27FC236}">
                <a16:creationId xmlns:a16="http://schemas.microsoft.com/office/drawing/2014/main" id="{5E8D758E-D4FA-B05D-DEAF-E8DF95271908}"/>
              </a:ext>
            </a:extLst>
          </p:cNvPr>
          <p:cNvSpPr>
            <a:spLocks noChangeArrowheads="1"/>
          </p:cNvSpPr>
          <p:nvPr/>
        </p:nvSpPr>
        <p:spPr bwMode="auto">
          <a:xfrm>
            <a:off x="6227763" y="2205038"/>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采油</a:t>
            </a:r>
          </a:p>
        </p:txBody>
      </p:sp>
      <p:sp>
        <p:nvSpPr>
          <p:cNvPr id="80917" name="Line 21">
            <a:extLst>
              <a:ext uri="{FF2B5EF4-FFF2-40B4-BE49-F238E27FC236}">
                <a16:creationId xmlns:a16="http://schemas.microsoft.com/office/drawing/2014/main" id="{8DBFE915-8E89-9638-E723-0C99D2B47BC7}"/>
              </a:ext>
            </a:extLst>
          </p:cNvPr>
          <p:cNvSpPr>
            <a:spLocks noChangeShapeType="1"/>
          </p:cNvSpPr>
          <p:nvPr/>
        </p:nvSpPr>
        <p:spPr bwMode="auto">
          <a:xfrm>
            <a:off x="395288" y="1557338"/>
            <a:ext cx="849788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8" name="Line 22">
            <a:extLst>
              <a:ext uri="{FF2B5EF4-FFF2-40B4-BE49-F238E27FC236}">
                <a16:creationId xmlns:a16="http://schemas.microsoft.com/office/drawing/2014/main" id="{042841AE-CB1D-FE8B-3770-FC1AAFCFDFB2}"/>
              </a:ext>
            </a:extLst>
          </p:cNvPr>
          <p:cNvSpPr>
            <a:spLocks noChangeShapeType="1"/>
          </p:cNvSpPr>
          <p:nvPr/>
        </p:nvSpPr>
        <p:spPr bwMode="auto">
          <a:xfrm>
            <a:off x="5508625" y="206057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19" name="Line 23">
            <a:extLst>
              <a:ext uri="{FF2B5EF4-FFF2-40B4-BE49-F238E27FC236}">
                <a16:creationId xmlns:a16="http://schemas.microsoft.com/office/drawing/2014/main" id="{F052F516-1682-B476-4D04-145D06C261C0}"/>
              </a:ext>
            </a:extLst>
          </p:cNvPr>
          <p:cNvSpPr>
            <a:spLocks noChangeShapeType="1"/>
          </p:cNvSpPr>
          <p:nvPr/>
        </p:nvSpPr>
        <p:spPr bwMode="auto">
          <a:xfrm>
            <a:off x="2771775" y="2133600"/>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0" name="Line 24">
            <a:extLst>
              <a:ext uri="{FF2B5EF4-FFF2-40B4-BE49-F238E27FC236}">
                <a16:creationId xmlns:a16="http://schemas.microsoft.com/office/drawing/2014/main" id="{F88EB44B-1B24-7AF2-1F22-7256118F2944}"/>
              </a:ext>
            </a:extLst>
          </p:cNvPr>
          <p:cNvSpPr>
            <a:spLocks noChangeShapeType="1"/>
          </p:cNvSpPr>
          <p:nvPr/>
        </p:nvSpPr>
        <p:spPr bwMode="auto">
          <a:xfrm>
            <a:off x="2771775" y="2133600"/>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1" name="Line 25">
            <a:extLst>
              <a:ext uri="{FF2B5EF4-FFF2-40B4-BE49-F238E27FC236}">
                <a16:creationId xmlns:a16="http://schemas.microsoft.com/office/drawing/2014/main" id="{E69E1BD8-CF13-2CB2-AF72-7DFA1CA3C043}"/>
              </a:ext>
            </a:extLst>
          </p:cNvPr>
          <p:cNvSpPr>
            <a:spLocks noChangeShapeType="1"/>
          </p:cNvSpPr>
          <p:nvPr/>
        </p:nvSpPr>
        <p:spPr bwMode="auto">
          <a:xfrm>
            <a:off x="4140200" y="2133600"/>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2" name="Line 26">
            <a:extLst>
              <a:ext uri="{FF2B5EF4-FFF2-40B4-BE49-F238E27FC236}">
                <a16:creationId xmlns:a16="http://schemas.microsoft.com/office/drawing/2014/main" id="{99432DA8-DF10-AB15-C1D9-0A688F683640}"/>
              </a:ext>
            </a:extLst>
          </p:cNvPr>
          <p:cNvSpPr>
            <a:spLocks noChangeShapeType="1"/>
          </p:cNvSpPr>
          <p:nvPr/>
        </p:nvSpPr>
        <p:spPr bwMode="auto">
          <a:xfrm>
            <a:off x="6877050" y="2133600"/>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3" name="Line 27">
            <a:extLst>
              <a:ext uri="{FF2B5EF4-FFF2-40B4-BE49-F238E27FC236}">
                <a16:creationId xmlns:a16="http://schemas.microsoft.com/office/drawing/2014/main" id="{07502CEC-B20B-215B-6B98-322F882F2C4B}"/>
              </a:ext>
            </a:extLst>
          </p:cNvPr>
          <p:cNvSpPr>
            <a:spLocks noChangeShapeType="1"/>
          </p:cNvSpPr>
          <p:nvPr/>
        </p:nvSpPr>
        <p:spPr bwMode="auto">
          <a:xfrm>
            <a:off x="8243888" y="2133600"/>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24" name="Rectangle 28">
            <a:extLst>
              <a:ext uri="{FF2B5EF4-FFF2-40B4-BE49-F238E27FC236}">
                <a16:creationId xmlns:a16="http://schemas.microsoft.com/office/drawing/2014/main" id="{868FAA8B-9B0F-EDD5-4EA3-8BB9B7906467}"/>
              </a:ext>
            </a:extLst>
          </p:cNvPr>
          <p:cNvSpPr>
            <a:spLocks noChangeArrowheads="1"/>
          </p:cNvSpPr>
          <p:nvPr/>
        </p:nvSpPr>
        <p:spPr bwMode="auto">
          <a:xfrm>
            <a:off x="4859338" y="278130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总经理</a:t>
            </a:r>
          </a:p>
        </p:txBody>
      </p:sp>
      <p:sp>
        <p:nvSpPr>
          <p:cNvPr id="80925" name="Rectangle 29">
            <a:extLst>
              <a:ext uri="{FF2B5EF4-FFF2-40B4-BE49-F238E27FC236}">
                <a16:creationId xmlns:a16="http://schemas.microsoft.com/office/drawing/2014/main" id="{883D2926-3EEC-FF36-269C-BF5142A4FB4D}"/>
              </a:ext>
            </a:extLst>
          </p:cNvPr>
          <p:cNvSpPr>
            <a:spLocks noChangeArrowheads="1"/>
          </p:cNvSpPr>
          <p:nvPr/>
        </p:nvSpPr>
        <p:spPr bwMode="auto">
          <a:xfrm>
            <a:off x="2124075" y="33575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冰箱事业部</a:t>
            </a:r>
          </a:p>
        </p:txBody>
      </p:sp>
      <p:sp>
        <p:nvSpPr>
          <p:cNvPr id="80926" name="Rectangle 30">
            <a:extLst>
              <a:ext uri="{FF2B5EF4-FFF2-40B4-BE49-F238E27FC236}">
                <a16:creationId xmlns:a16="http://schemas.microsoft.com/office/drawing/2014/main" id="{3A583905-849A-F869-AAB3-1F77292422CB}"/>
              </a:ext>
            </a:extLst>
          </p:cNvPr>
          <p:cNvSpPr>
            <a:spLocks noChangeArrowheads="1"/>
          </p:cNvSpPr>
          <p:nvPr/>
        </p:nvSpPr>
        <p:spPr bwMode="auto">
          <a:xfrm>
            <a:off x="3492500" y="33575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空调事业部</a:t>
            </a:r>
          </a:p>
        </p:txBody>
      </p:sp>
      <p:sp>
        <p:nvSpPr>
          <p:cNvPr id="80927" name="Rectangle 31">
            <a:extLst>
              <a:ext uri="{FF2B5EF4-FFF2-40B4-BE49-F238E27FC236}">
                <a16:creationId xmlns:a16="http://schemas.microsoft.com/office/drawing/2014/main" id="{AFA4DDA5-E931-2BA3-B02A-9C26EE1DB5BE}"/>
              </a:ext>
            </a:extLst>
          </p:cNvPr>
          <p:cNvSpPr>
            <a:spLocks noChangeArrowheads="1"/>
          </p:cNvSpPr>
          <p:nvPr/>
        </p:nvSpPr>
        <p:spPr bwMode="auto">
          <a:xfrm>
            <a:off x="4859338" y="33575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洗衣机事业部</a:t>
            </a:r>
          </a:p>
        </p:txBody>
      </p:sp>
      <p:sp>
        <p:nvSpPr>
          <p:cNvPr id="80928" name="Rectangle 32">
            <a:extLst>
              <a:ext uri="{FF2B5EF4-FFF2-40B4-BE49-F238E27FC236}">
                <a16:creationId xmlns:a16="http://schemas.microsoft.com/office/drawing/2014/main" id="{2C70AA11-2BAF-9FEB-045E-F2A3AA69F2E0}"/>
              </a:ext>
            </a:extLst>
          </p:cNvPr>
          <p:cNvSpPr>
            <a:spLocks noChangeArrowheads="1"/>
          </p:cNvSpPr>
          <p:nvPr/>
        </p:nvSpPr>
        <p:spPr bwMode="auto">
          <a:xfrm>
            <a:off x="6227763" y="33575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600">
                <a:latin typeface="Arial" panose="020B0604020202020204" pitchFamily="34" charset="0"/>
              </a:rPr>
              <a:t>电视机事业部</a:t>
            </a:r>
          </a:p>
        </p:txBody>
      </p:sp>
      <p:sp>
        <p:nvSpPr>
          <p:cNvPr id="80929" name="Rectangle 33">
            <a:extLst>
              <a:ext uri="{FF2B5EF4-FFF2-40B4-BE49-F238E27FC236}">
                <a16:creationId xmlns:a16="http://schemas.microsoft.com/office/drawing/2014/main" id="{DAF48C6B-30FF-0876-127B-9DA1BFDDE2FB}"/>
              </a:ext>
            </a:extLst>
          </p:cNvPr>
          <p:cNvSpPr>
            <a:spLocks noChangeArrowheads="1"/>
          </p:cNvSpPr>
          <p:nvPr/>
        </p:nvSpPr>
        <p:spPr bwMode="auto">
          <a:xfrm>
            <a:off x="7596188" y="33575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照明事业部</a:t>
            </a:r>
          </a:p>
        </p:txBody>
      </p:sp>
      <p:sp>
        <p:nvSpPr>
          <p:cNvPr id="80930" name="Line 34">
            <a:extLst>
              <a:ext uri="{FF2B5EF4-FFF2-40B4-BE49-F238E27FC236}">
                <a16:creationId xmlns:a16="http://schemas.microsoft.com/office/drawing/2014/main" id="{CD435267-A029-B9C0-8F0F-106765FDF490}"/>
              </a:ext>
            </a:extLst>
          </p:cNvPr>
          <p:cNvSpPr>
            <a:spLocks noChangeShapeType="1"/>
          </p:cNvSpPr>
          <p:nvPr/>
        </p:nvSpPr>
        <p:spPr bwMode="auto">
          <a:xfrm>
            <a:off x="5508625" y="32131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31" name="Line 35">
            <a:extLst>
              <a:ext uri="{FF2B5EF4-FFF2-40B4-BE49-F238E27FC236}">
                <a16:creationId xmlns:a16="http://schemas.microsoft.com/office/drawing/2014/main" id="{01503133-9371-D505-DC59-E2A944625B8A}"/>
              </a:ext>
            </a:extLst>
          </p:cNvPr>
          <p:cNvSpPr>
            <a:spLocks noChangeShapeType="1"/>
          </p:cNvSpPr>
          <p:nvPr/>
        </p:nvSpPr>
        <p:spPr bwMode="auto">
          <a:xfrm>
            <a:off x="2771775" y="3284538"/>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32" name="Line 36">
            <a:extLst>
              <a:ext uri="{FF2B5EF4-FFF2-40B4-BE49-F238E27FC236}">
                <a16:creationId xmlns:a16="http://schemas.microsoft.com/office/drawing/2014/main" id="{0868A88F-4856-CC06-4EF5-792181300DCC}"/>
              </a:ext>
            </a:extLst>
          </p:cNvPr>
          <p:cNvSpPr>
            <a:spLocks noChangeShapeType="1"/>
          </p:cNvSpPr>
          <p:nvPr/>
        </p:nvSpPr>
        <p:spPr bwMode="auto">
          <a:xfrm>
            <a:off x="2771775" y="3284538"/>
            <a:ext cx="0" cy="73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33" name="Line 37">
            <a:extLst>
              <a:ext uri="{FF2B5EF4-FFF2-40B4-BE49-F238E27FC236}">
                <a16:creationId xmlns:a16="http://schemas.microsoft.com/office/drawing/2014/main" id="{4C04DC46-CBBA-52F5-5ABC-2333BE10340B}"/>
              </a:ext>
            </a:extLst>
          </p:cNvPr>
          <p:cNvSpPr>
            <a:spLocks noChangeShapeType="1"/>
          </p:cNvSpPr>
          <p:nvPr/>
        </p:nvSpPr>
        <p:spPr bwMode="auto">
          <a:xfrm>
            <a:off x="4140200" y="3284538"/>
            <a:ext cx="0" cy="73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34" name="Line 38">
            <a:extLst>
              <a:ext uri="{FF2B5EF4-FFF2-40B4-BE49-F238E27FC236}">
                <a16:creationId xmlns:a16="http://schemas.microsoft.com/office/drawing/2014/main" id="{74677E29-BA1E-8DED-3548-13625B3A3C0B}"/>
              </a:ext>
            </a:extLst>
          </p:cNvPr>
          <p:cNvSpPr>
            <a:spLocks noChangeShapeType="1"/>
          </p:cNvSpPr>
          <p:nvPr/>
        </p:nvSpPr>
        <p:spPr bwMode="auto">
          <a:xfrm>
            <a:off x="6877050" y="3284538"/>
            <a:ext cx="0" cy="73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35" name="Line 39">
            <a:extLst>
              <a:ext uri="{FF2B5EF4-FFF2-40B4-BE49-F238E27FC236}">
                <a16:creationId xmlns:a16="http://schemas.microsoft.com/office/drawing/2014/main" id="{10096C96-22C8-90AA-6B01-347B63D9385D}"/>
              </a:ext>
            </a:extLst>
          </p:cNvPr>
          <p:cNvSpPr>
            <a:spLocks noChangeShapeType="1"/>
          </p:cNvSpPr>
          <p:nvPr/>
        </p:nvSpPr>
        <p:spPr bwMode="auto">
          <a:xfrm>
            <a:off x="8243888" y="3284538"/>
            <a:ext cx="0" cy="73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36" name="Rectangle 40">
            <a:extLst>
              <a:ext uri="{FF2B5EF4-FFF2-40B4-BE49-F238E27FC236}">
                <a16:creationId xmlns:a16="http://schemas.microsoft.com/office/drawing/2014/main" id="{C261E36A-4025-03B7-A233-154ED5768BBE}"/>
              </a:ext>
            </a:extLst>
          </p:cNvPr>
          <p:cNvSpPr>
            <a:spLocks noChangeArrowheads="1"/>
          </p:cNvSpPr>
          <p:nvPr/>
        </p:nvSpPr>
        <p:spPr bwMode="auto">
          <a:xfrm>
            <a:off x="4859338" y="393382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总经理</a:t>
            </a:r>
          </a:p>
        </p:txBody>
      </p:sp>
      <p:sp>
        <p:nvSpPr>
          <p:cNvPr id="80937" name="Rectangle 41">
            <a:extLst>
              <a:ext uri="{FF2B5EF4-FFF2-40B4-BE49-F238E27FC236}">
                <a16:creationId xmlns:a16="http://schemas.microsoft.com/office/drawing/2014/main" id="{49B413AC-D904-A506-F58C-53B51CA2C354}"/>
              </a:ext>
            </a:extLst>
          </p:cNvPr>
          <p:cNvSpPr>
            <a:spLocks noChangeArrowheads="1"/>
          </p:cNvSpPr>
          <p:nvPr/>
        </p:nvSpPr>
        <p:spPr bwMode="auto">
          <a:xfrm>
            <a:off x="4859338" y="450850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欧洲事业部</a:t>
            </a:r>
          </a:p>
        </p:txBody>
      </p:sp>
      <p:sp>
        <p:nvSpPr>
          <p:cNvPr id="80938" name="Rectangle 42">
            <a:extLst>
              <a:ext uri="{FF2B5EF4-FFF2-40B4-BE49-F238E27FC236}">
                <a16:creationId xmlns:a16="http://schemas.microsoft.com/office/drawing/2014/main" id="{75F2AE7B-88BD-C01B-3064-DA8C80CB21E6}"/>
              </a:ext>
            </a:extLst>
          </p:cNvPr>
          <p:cNvSpPr>
            <a:spLocks noChangeArrowheads="1"/>
          </p:cNvSpPr>
          <p:nvPr/>
        </p:nvSpPr>
        <p:spPr bwMode="auto">
          <a:xfrm>
            <a:off x="4859338" y="5084763"/>
            <a:ext cx="1295400" cy="4333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总经理</a:t>
            </a:r>
          </a:p>
        </p:txBody>
      </p:sp>
      <p:sp>
        <p:nvSpPr>
          <p:cNvPr id="80939" name="Rectangle 43">
            <a:extLst>
              <a:ext uri="{FF2B5EF4-FFF2-40B4-BE49-F238E27FC236}">
                <a16:creationId xmlns:a16="http://schemas.microsoft.com/office/drawing/2014/main" id="{AA453386-9166-01FF-3F2E-F4418B7CEBF8}"/>
              </a:ext>
            </a:extLst>
          </p:cNvPr>
          <p:cNvSpPr>
            <a:spLocks noChangeArrowheads="1"/>
          </p:cNvSpPr>
          <p:nvPr/>
        </p:nvSpPr>
        <p:spPr bwMode="auto">
          <a:xfrm>
            <a:off x="4859338" y="566102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800">
              <a:latin typeface="Arial" panose="020B0604020202020204" pitchFamily="34" charset="0"/>
            </a:endParaRPr>
          </a:p>
        </p:txBody>
      </p:sp>
      <p:sp>
        <p:nvSpPr>
          <p:cNvPr id="80940" name="Line 44">
            <a:extLst>
              <a:ext uri="{FF2B5EF4-FFF2-40B4-BE49-F238E27FC236}">
                <a16:creationId xmlns:a16="http://schemas.microsoft.com/office/drawing/2014/main" id="{F0D3FA13-9793-87A4-522E-A58D063A7D73}"/>
              </a:ext>
            </a:extLst>
          </p:cNvPr>
          <p:cNvSpPr>
            <a:spLocks noChangeShapeType="1"/>
          </p:cNvSpPr>
          <p:nvPr/>
        </p:nvSpPr>
        <p:spPr bwMode="auto">
          <a:xfrm>
            <a:off x="5508625" y="43656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41" name="Line 45">
            <a:extLst>
              <a:ext uri="{FF2B5EF4-FFF2-40B4-BE49-F238E27FC236}">
                <a16:creationId xmlns:a16="http://schemas.microsoft.com/office/drawing/2014/main" id="{B4906E17-5B01-49D9-E17E-03E2CE7B8F92}"/>
              </a:ext>
            </a:extLst>
          </p:cNvPr>
          <p:cNvSpPr>
            <a:spLocks noChangeShapeType="1"/>
          </p:cNvSpPr>
          <p:nvPr/>
        </p:nvSpPr>
        <p:spPr bwMode="auto">
          <a:xfrm>
            <a:off x="5508625" y="551656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42" name="Rectangle 46">
            <a:extLst>
              <a:ext uri="{FF2B5EF4-FFF2-40B4-BE49-F238E27FC236}">
                <a16:creationId xmlns:a16="http://schemas.microsoft.com/office/drawing/2014/main" id="{2D201CAA-48C6-5F1A-4592-F67A1FDDAC02}"/>
              </a:ext>
            </a:extLst>
          </p:cNvPr>
          <p:cNvSpPr>
            <a:spLocks noChangeArrowheads="1"/>
          </p:cNvSpPr>
          <p:nvPr/>
        </p:nvSpPr>
        <p:spPr bwMode="auto">
          <a:xfrm>
            <a:off x="3492500" y="450850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拉丁事业部</a:t>
            </a:r>
          </a:p>
        </p:txBody>
      </p:sp>
      <p:sp>
        <p:nvSpPr>
          <p:cNvPr id="80943" name="Rectangle 47">
            <a:extLst>
              <a:ext uri="{FF2B5EF4-FFF2-40B4-BE49-F238E27FC236}">
                <a16:creationId xmlns:a16="http://schemas.microsoft.com/office/drawing/2014/main" id="{2151E45B-1431-B814-BDCB-E3DA416C5790}"/>
              </a:ext>
            </a:extLst>
          </p:cNvPr>
          <p:cNvSpPr>
            <a:spLocks noChangeArrowheads="1"/>
          </p:cNvSpPr>
          <p:nvPr/>
        </p:nvSpPr>
        <p:spPr bwMode="auto">
          <a:xfrm>
            <a:off x="2124075" y="450850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北美事业部</a:t>
            </a:r>
          </a:p>
        </p:txBody>
      </p:sp>
      <p:sp>
        <p:nvSpPr>
          <p:cNvPr id="80944" name="Rectangle 48">
            <a:extLst>
              <a:ext uri="{FF2B5EF4-FFF2-40B4-BE49-F238E27FC236}">
                <a16:creationId xmlns:a16="http://schemas.microsoft.com/office/drawing/2014/main" id="{AF22ED82-4396-2B6F-EC99-D29BF88F0317}"/>
              </a:ext>
            </a:extLst>
          </p:cNvPr>
          <p:cNvSpPr>
            <a:spLocks noChangeArrowheads="1"/>
          </p:cNvSpPr>
          <p:nvPr/>
        </p:nvSpPr>
        <p:spPr bwMode="auto">
          <a:xfrm>
            <a:off x="6227763" y="450850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亚太事业部</a:t>
            </a:r>
          </a:p>
        </p:txBody>
      </p:sp>
      <p:sp>
        <p:nvSpPr>
          <p:cNvPr id="80945" name="Rectangle 49">
            <a:extLst>
              <a:ext uri="{FF2B5EF4-FFF2-40B4-BE49-F238E27FC236}">
                <a16:creationId xmlns:a16="http://schemas.microsoft.com/office/drawing/2014/main" id="{8F9565AB-F4A2-5D7C-A74C-E8FD9A458F23}"/>
              </a:ext>
            </a:extLst>
          </p:cNvPr>
          <p:cNvSpPr>
            <a:spLocks noChangeArrowheads="1"/>
          </p:cNvSpPr>
          <p:nvPr/>
        </p:nvSpPr>
        <p:spPr bwMode="auto">
          <a:xfrm>
            <a:off x="7596188" y="4508500"/>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中东事业部</a:t>
            </a:r>
          </a:p>
        </p:txBody>
      </p:sp>
      <p:sp>
        <p:nvSpPr>
          <p:cNvPr id="80946" name="Line 50">
            <a:extLst>
              <a:ext uri="{FF2B5EF4-FFF2-40B4-BE49-F238E27FC236}">
                <a16:creationId xmlns:a16="http://schemas.microsoft.com/office/drawing/2014/main" id="{B9A87BED-CA22-DD27-8A6A-C1C259FBA3CA}"/>
              </a:ext>
            </a:extLst>
          </p:cNvPr>
          <p:cNvSpPr>
            <a:spLocks noChangeShapeType="1"/>
          </p:cNvSpPr>
          <p:nvPr/>
        </p:nvSpPr>
        <p:spPr bwMode="auto">
          <a:xfrm>
            <a:off x="2771775" y="4437063"/>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47" name="Line 51">
            <a:extLst>
              <a:ext uri="{FF2B5EF4-FFF2-40B4-BE49-F238E27FC236}">
                <a16:creationId xmlns:a16="http://schemas.microsoft.com/office/drawing/2014/main" id="{B46DD8BC-D0E1-E757-F15F-E5CDB5EA0756}"/>
              </a:ext>
            </a:extLst>
          </p:cNvPr>
          <p:cNvSpPr>
            <a:spLocks noChangeShapeType="1"/>
          </p:cNvSpPr>
          <p:nvPr/>
        </p:nvSpPr>
        <p:spPr bwMode="auto">
          <a:xfrm>
            <a:off x="2771775" y="4437063"/>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48" name="Line 52">
            <a:extLst>
              <a:ext uri="{FF2B5EF4-FFF2-40B4-BE49-F238E27FC236}">
                <a16:creationId xmlns:a16="http://schemas.microsoft.com/office/drawing/2014/main" id="{BCBAFBC7-9982-DFAB-B9F6-57348E166C40}"/>
              </a:ext>
            </a:extLst>
          </p:cNvPr>
          <p:cNvSpPr>
            <a:spLocks noChangeShapeType="1"/>
          </p:cNvSpPr>
          <p:nvPr/>
        </p:nvSpPr>
        <p:spPr bwMode="auto">
          <a:xfrm>
            <a:off x="4140200" y="4437063"/>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49" name="Line 53">
            <a:extLst>
              <a:ext uri="{FF2B5EF4-FFF2-40B4-BE49-F238E27FC236}">
                <a16:creationId xmlns:a16="http://schemas.microsoft.com/office/drawing/2014/main" id="{5BE66524-D6A1-B931-D7DA-FA334AD49536}"/>
              </a:ext>
            </a:extLst>
          </p:cNvPr>
          <p:cNvSpPr>
            <a:spLocks noChangeShapeType="1"/>
          </p:cNvSpPr>
          <p:nvPr/>
        </p:nvSpPr>
        <p:spPr bwMode="auto">
          <a:xfrm>
            <a:off x="6877050" y="4437063"/>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0" name="Line 54">
            <a:extLst>
              <a:ext uri="{FF2B5EF4-FFF2-40B4-BE49-F238E27FC236}">
                <a16:creationId xmlns:a16="http://schemas.microsoft.com/office/drawing/2014/main" id="{40FC10BA-9F74-2098-8B0B-33657407B863}"/>
              </a:ext>
            </a:extLst>
          </p:cNvPr>
          <p:cNvSpPr>
            <a:spLocks noChangeShapeType="1"/>
          </p:cNvSpPr>
          <p:nvPr/>
        </p:nvSpPr>
        <p:spPr bwMode="auto">
          <a:xfrm>
            <a:off x="8243888" y="4437063"/>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1" name="Rectangle 55">
            <a:extLst>
              <a:ext uri="{FF2B5EF4-FFF2-40B4-BE49-F238E27FC236}">
                <a16:creationId xmlns:a16="http://schemas.microsoft.com/office/drawing/2014/main" id="{39480DA2-7B8E-2927-2F13-2EF6F0A70F29}"/>
              </a:ext>
            </a:extLst>
          </p:cNvPr>
          <p:cNvSpPr>
            <a:spLocks noChangeArrowheads="1"/>
          </p:cNvSpPr>
          <p:nvPr/>
        </p:nvSpPr>
        <p:spPr bwMode="auto">
          <a:xfrm>
            <a:off x="3492500" y="566102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商业客户部</a:t>
            </a:r>
          </a:p>
        </p:txBody>
      </p:sp>
      <p:sp>
        <p:nvSpPr>
          <p:cNvPr id="80952" name="Rectangle 56">
            <a:extLst>
              <a:ext uri="{FF2B5EF4-FFF2-40B4-BE49-F238E27FC236}">
                <a16:creationId xmlns:a16="http://schemas.microsoft.com/office/drawing/2014/main" id="{EEAF7CAE-26DA-EF91-9B34-18D546437365}"/>
              </a:ext>
            </a:extLst>
          </p:cNvPr>
          <p:cNvSpPr>
            <a:spLocks noChangeArrowheads="1"/>
          </p:cNvSpPr>
          <p:nvPr/>
        </p:nvSpPr>
        <p:spPr bwMode="auto">
          <a:xfrm>
            <a:off x="6227763" y="566102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800">
              <a:latin typeface="Arial" panose="020B0604020202020204" pitchFamily="34" charset="0"/>
            </a:endParaRPr>
          </a:p>
        </p:txBody>
      </p:sp>
      <p:sp>
        <p:nvSpPr>
          <p:cNvPr id="80953" name="Rectangle 57">
            <a:extLst>
              <a:ext uri="{FF2B5EF4-FFF2-40B4-BE49-F238E27FC236}">
                <a16:creationId xmlns:a16="http://schemas.microsoft.com/office/drawing/2014/main" id="{00626EAC-CEFC-A19F-7FA1-5E7E16EE7D61}"/>
              </a:ext>
            </a:extLst>
          </p:cNvPr>
          <p:cNvSpPr>
            <a:spLocks noChangeArrowheads="1"/>
          </p:cNvSpPr>
          <p:nvPr/>
        </p:nvSpPr>
        <p:spPr bwMode="auto">
          <a:xfrm>
            <a:off x="7596188" y="566102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流动客户部</a:t>
            </a:r>
          </a:p>
        </p:txBody>
      </p:sp>
      <p:sp>
        <p:nvSpPr>
          <p:cNvPr id="80954" name="Rectangle 58">
            <a:extLst>
              <a:ext uri="{FF2B5EF4-FFF2-40B4-BE49-F238E27FC236}">
                <a16:creationId xmlns:a16="http://schemas.microsoft.com/office/drawing/2014/main" id="{D19E1A83-8DAB-4872-0981-6DC4A19676AF}"/>
              </a:ext>
            </a:extLst>
          </p:cNvPr>
          <p:cNvSpPr>
            <a:spLocks noChangeArrowheads="1"/>
          </p:cNvSpPr>
          <p:nvPr/>
        </p:nvSpPr>
        <p:spPr bwMode="auto">
          <a:xfrm>
            <a:off x="2124075" y="5661025"/>
            <a:ext cx="1295400" cy="4333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大客户部</a:t>
            </a:r>
          </a:p>
        </p:txBody>
      </p:sp>
      <p:sp>
        <p:nvSpPr>
          <p:cNvPr id="80955" name="Line 59">
            <a:extLst>
              <a:ext uri="{FF2B5EF4-FFF2-40B4-BE49-F238E27FC236}">
                <a16:creationId xmlns:a16="http://schemas.microsoft.com/office/drawing/2014/main" id="{A35D7781-BD8B-9F4D-3D89-DB70DACF1E00}"/>
              </a:ext>
            </a:extLst>
          </p:cNvPr>
          <p:cNvSpPr>
            <a:spLocks noChangeShapeType="1"/>
          </p:cNvSpPr>
          <p:nvPr/>
        </p:nvSpPr>
        <p:spPr bwMode="auto">
          <a:xfrm>
            <a:off x="2771775" y="5589588"/>
            <a:ext cx="54721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6" name="Line 60">
            <a:extLst>
              <a:ext uri="{FF2B5EF4-FFF2-40B4-BE49-F238E27FC236}">
                <a16:creationId xmlns:a16="http://schemas.microsoft.com/office/drawing/2014/main" id="{558705D3-07A9-1224-B082-9065096E50A9}"/>
              </a:ext>
            </a:extLst>
          </p:cNvPr>
          <p:cNvSpPr>
            <a:spLocks noChangeShapeType="1"/>
          </p:cNvSpPr>
          <p:nvPr/>
        </p:nvSpPr>
        <p:spPr bwMode="auto">
          <a:xfrm>
            <a:off x="2771775" y="5589588"/>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7" name="Line 61">
            <a:extLst>
              <a:ext uri="{FF2B5EF4-FFF2-40B4-BE49-F238E27FC236}">
                <a16:creationId xmlns:a16="http://schemas.microsoft.com/office/drawing/2014/main" id="{ABBCCAC5-2E2B-9F27-7DB7-5D5C515C42DC}"/>
              </a:ext>
            </a:extLst>
          </p:cNvPr>
          <p:cNvSpPr>
            <a:spLocks noChangeShapeType="1"/>
          </p:cNvSpPr>
          <p:nvPr/>
        </p:nvSpPr>
        <p:spPr bwMode="auto">
          <a:xfrm>
            <a:off x="4140200" y="5589588"/>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8" name="Line 62">
            <a:extLst>
              <a:ext uri="{FF2B5EF4-FFF2-40B4-BE49-F238E27FC236}">
                <a16:creationId xmlns:a16="http://schemas.microsoft.com/office/drawing/2014/main" id="{0782D173-F51A-1C6B-42DC-BF18D0BC2A9F}"/>
              </a:ext>
            </a:extLst>
          </p:cNvPr>
          <p:cNvSpPr>
            <a:spLocks noChangeShapeType="1"/>
          </p:cNvSpPr>
          <p:nvPr/>
        </p:nvSpPr>
        <p:spPr bwMode="auto">
          <a:xfrm>
            <a:off x="6877050" y="5589588"/>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59" name="Line 63">
            <a:extLst>
              <a:ext uri="{FF2B5EF4-FFF2-40B4-BE49-F238E27FC236}">
                <a16:creationId xmlns:a16="http://schemas.microsoft.com/office/drawing/2014/main" id="{1263C6E0-2373-9243-E0D4-32F9C94DBD0B}"/>
              </a:ext>
            </a:extLst>
          </p:cNvPr>
          <p:cNvSpPr>
            <a:spLocks noChangeShapeType="1"/>
          </p:cNvSpPr>
          <p:nvPr/>
        </p:nvSpPr>
        <p:spPr bwMode="auto">
          <a:xfrm>
            <a:off x="8243888" y="5589588"/>
            <a:ext cx="0"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60" name="Text Box 64">
            <a:extLst>
              <a:ext uri="{FF2B5EF4-FFF2-40B4-BE49-F238E27FC236}">
                <a16:creationId xmlns:a16="http://schemas.microsoft.com/office/drawing/2014/main" id="{D21F967F-B79E-5058-B9C1-C907149D71E0}"/>
              </a:ext>
            </a:extLst>
          </p:cNvPr>
          <p:cNvSpPr txBox="1">
            <a:spLocks noChangeArrowheads="1"/>
          </p:cNvSpPr>
          <p:nvPr/>
        </p:nvSpPr>
        <p:spPr bwMode="auto">
          <a:xfrm>
            <a:off x="827088" y="1125538"/>
            <a:ext cx="1223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职能部门化</a:t>
            </a:r>
          </a:p>
        </p:txBody>
      </p:sp>
      <p:sp>
        <p:nvSpPr>
          <p:cNvPr id="80961" name="Line 65">
            <a:extLst>
              <a:ext uri="{FF2B5EF4-FFF2-40B4-BE49-F238E27FC236}">
                <a16:creationId xmlns:a16="http://schemas.microsoft.com/office/drawing/2014/main" id="{BC8AE078-CEE4-522F-D440-CA5EE14510DA}"/>
              </a:ext>
            </a:extLst>
          </p:cNvPr>
          <p:cNvSpPr>
            <a:spLocks noChangeShapeType="1"/>
          </p:cNvSpPr>
          <p:nvPr/>
        </p:nvSpPr>
        <p:spPr bwMode="auto">
          <a:xfrm>
            <a:off x="395288" y="2708275"/>
            <a:ext cx="849788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62" name="Line 66">
            <a:extLst>
              <a:ext uri="{FF2B5EF4-FFF2-40B4-BE49-F238E27FC236}">
                <a16:creationId xmlns:a16="http://schemas.microsoft.com/office/drawing/2014/main" id="{67CEEBBA-71F8-6EFB-8BF2-2936BCD52176}"/>
              </a:ext>
            </a:extLst>
          </p:cNvPr>
          <p:cNvSpPr>
            <a:spLocks noChangeShapeType="1"/>
          </p:cNvSpPr>
          <p:nvPr/>
        </p:nvSpPr>
        <p:spPr bwMode="auto">
          <a:xfrm>
            <a:off x="395288" y="3860800"/>
            <a:ext cx="849788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63" name="Line 67">
            <a:extLst>
              <a:ext uri="{FF2B5EF4-FFF2-40B4-BE49-F238E27FC236}">
                <a16:creationId xmlns:a16="http://schemas.microsoft.com/office/drawing/2014/main" id="{B5F74765-7932-5056-F040-3915EDF3BDA2}"/>
              </a:ext>
            </a:extLst>
          </p:cNvPr>
          <p:cNvSpPr>
            <a:spLocks noChangeShapeType="1"/>
          </p:cNvSpPr>
          <p:nvPr/>
        </p:nvSpPr>
        <p:spPr bwMode="auto">
          <a:xfrm>
            <a:off x="395288" y="5013325"/>
            <a:ext cx="849788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64" name="Line 68">
            <a:extLst>
              <a:ext uri="{FF2B5EF4-FFF2-40B4-BE49-F238E27FC236}">
                <a16:creationId xmlns:a16="http://schemas.microsoft.com/office/drawing/2014/main" id="{5E976AA2-169F-CE8C-4450-D544C2347525}"/>
              </a:ext>
            </a:extLst>
          </p:cNvPr>
          <p:cNvSpPr>
            <a:spLocks noChangeShapeType="1"/>
          </p:cNvSpPr>
          <p:nvPr/>
        </p:nvSpPr>
        <p:spPr bwMode="auto">
          <a:xfrm>
            <a:off x="395288" y="6524625"/>
            <a:ext cx="8497887"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965" name="Text Box 69">
            <a:extLst>
              <a:ext uri="{FF2B5EF4-FFF2-40B4-BE49-F238E27FC236}">
                <a16:creationId xmlns:a16="http://schemas.microsoft.com/office/drawing/2014/main" id="{575A06D4-A78E-6F2E-F43F-098F09C21769}"/>
              </a:ext>
            </a:extLst>
          </p:cNvPr>
          <p:cNvSpPr txBox="1">
            <a:spLocks noChangeArrowheads="1"/>
          </p:cNvSpPr>
          <p:nvPr/>
        </p:nvSpPr>
        <p:spPr bwMode="auto">
          <a:xfrm>
            <a:off x="827088" y="2205038"/>
            <a:ext cx="1223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流程部门化</a:t>
            </a:r>
          </a:p>
        </p:txBody>
      </p:sp>
      <p:sp>
        <p:nvSpPr>
          <p:cNvPr id="80966" name="Text Box 70">
            <a:extLst>
              <a:ext uri="{FF2B5EF4-FFF2-40B4-BE49-F238E27FC236}">
                <a16:creationId xmlns:a16="http://schemas.microsoft.com/office/drawing/2014/main" id="{4B504FB2-EDBB-BE4B-769E-14B889BEBB07}"/>
              </a:ext>
            </a:extLst>
          </p:cNvPr>
          <p:cNvSpPr txBox="1">
            <a:spLocks noChangeArrowheads="1"/>
          </p:cNvSpPr>
          <p:nvPr/>
        </p:nvSpPr>
        <p:spPr bwMode="auto">
          <a:xfrm>
            <a:off x="827088" y="3357563"/>
            <a:ext cx="1223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产品部门化</a:t>
            </a:r>
          </a:p>
        </p:txBody>
      </p:sp>
      <p:sp>
        <p:nvSpPr>
          <p:cNvPr id="80967" name="Text Box 71">
            <a:extLst>
              <a:ext uri="{FF2B5EF4-FFF2-40B4-BE49-F238E27FC236}">
                <a16:creationId xmlns:a16="http://schemas.microsoft.com/office/drawing/2014/main" id="{A4765B6D-98AE-1026-8E67-7367E39A7D93}"/>
              </a:ext>
            </a:extLst>
          </p:cNvPr>
          <p:cNvSpPr txBox="1">
            <a:spLocks noChangeArrowheads="1"/>
          </p:cNvSpPr>
          <p:nvPr/>
        </p:nvSpPr>
        <p:spPr bwMode="auto">
          <a:xfrm>
            <a:off x="827088" y="4508500"/>
            <a:ext cx="1223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区域部门化</a:t>
            </a:r>
          </a:p>
        </p:txBody>
      </p:sp>
      <p:sp>
        <p:nvSpPr>
          <p:cNvPr id="80968" name="Text Box 72">
            <a:extLst>
              <a:ext uri="{FF2B5EF4-FFF2-40B4-BE49-F238E27FC236}">
                <a16:creationId xmlns:a16="http://schemas.microsoft.com/office/drawing/2014/main" id="{2B456935-5205-60AF-6E1A-6458FF37D8E6}"/>
              </a:ext>
            </a:extLst>
          </p:cNvPr>
          <p:cNvSpPr txBox="1">
            <a:spLocks noChangeArrowheads="1"/>
          </p:cNvSpPr>
          <p:nvPr/>
        </p:nvSpPr>
        <p:spPr bwMode="auto">
          <a:xfrm>
            <a:off x="827088" y="5661025"/>
            <a:ext cx="1223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600">
                <a:latin typeface="Arial" panose="020B0604020202020204" pitchFamily="34" charset="0"/>
              </a:rPr>
              <a:t>市场部门化</a:t>
            </a:r>
          </a:p>
        </p:txBody>
      </p:sp>
      <p:sp>
        <p:nvSpPr>
          <p:cNvPr id="80969" name="Line 73">
            <a:extLst>
              <a:ext uri="{FF2B5EF4-FFF2-40B4-BE49-F238E27FC236}">
                <a16:creationId xmlns:a16="http://schemas.microsoft.com/office/drawing/2014/main" id="{3DF77BC2-676C-34E1-9AF2-2BAD66A3E071}"/>
              </a:ext>
            </a:extLst>
          </p:cNvPr>
          <p:cNvSpPr>
            <a:spLocks noChangeShapeType="1"/>
          </p:cNvSpPr>
          <p:nvPr/>
        </p:nvSpPr>
        <p:spPr bwMode="auto">
          <a:xfrm>
            <a:off x="4140200" y="981075"/>
            <a:ext cx="0" cy="7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55D6C29C-E289-9F1D-6837-F2E3C2DF0246}"/>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43BB6F57-9601-3FDB-B72A-D5A16413BD57}"/>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0B322EEB-EF61-2613-BD17-D064F7831D30}"/>
              </a:ext>
            </a:extLst>
          </p:cNvPr>
          <p:cNvSpPr>
            <a:spLocks noGrp="1"/>
          </p:cNvSpPr>
          <p:nvPr>
            <p:ph type="sldNum" sz="quarter" idx="12"/>
          </p:nvPr>
        </p:nvSpPr>
        <p:spPr/>
        <p:txBody>
          <a:bodyPr/>
          <a:lstStyle/>
          <a:p>
            <a:fld id="{7CA3F0F5-5BC8-4B9C-898F-E9A34735F455}" type="slidenum">
              <a:rPr lang="en-US" altLang="zh-CN"/>
              <a:pPr/>
              <a:t>13</a:t>
            </a:fld>
            <a:endParaRPr lang="en-US" altLang="zh-CN"/>
          </a:p>
        </p:txBody>
      </p:sp>
      <p:graphicFrame>
        <p:nvGraphicFramePr>
          <p:cNvPr id="94210" name="Group 2">
            <a:extLst>
              <a:ext uri="{FF2B5EF4-FFF2-40B4-BE49-F238E27FC236}">
                <a16:creationId xmlns:a16="http://schemas.microsoft.com/office/drawing/2014/main" id="{2DEFCDF9-E456-33A6-66DA-A485FE2031EA}"/>
              </a:ext>
            </a:extLst>
          </p:cNvPr>
          <p:cNvGraphicFramePr>
            <a:graphicFrameLocks noGrp="1"/>
          </p:cNvGraphicFramePr>
          <p:nvPr>
            <p:ph/>
          </p:nvPr>
        </p:nvGraphicFramePr>
        <p:xfrm>
          <a:off x="395288" y="1341438"/>
          <a:ext cx="8424862" cy="4389437"/>
        </p:xfrm>
        <a:graphic>
          <a:graphicData uri="http://schemas.openxmlformats.org/drawingml/2006/table">
            <a:tbl>
              <a:tblPr/>
              <a:tblGrid>
                <a:gridCol w="1296987">
                  <a:extLst>
                    <a:ext uri="{9D8B030D-6E8A-4147-A177-3AD203B41FA5}">
                      <a16:colId xmlns:a16="http://schemas.microsoft.com/office/drawing/2014/main" val="404926202"/>
                    </a:ext>
                  </a:extLst>
                </a:gridCol>
                <a:gridCol w="3600450">
                  <a:extLst>
                    <a:ext uri="{9D8B030D-6E8A-4147-A177-3AD203B41FA5}">
                      <a16:colId xmlns:a16="http://schemas.microsoft.com/office/drawing/2014/main" val="1722337618"/>
                    </a:ext>
                  </a:extLst>
                </a:gridCol>
                <a:gridCol w="3527425">
                  <a:extLst>
                    <a:ext uri="{9D8B030D-6E8A-4147-A177-3AD203B41FA5}">
                      <a16:colId xmlns:a16="http://schemas.microsoft.com/office/drawing/2014/main" val="1340324462"/>
                    </a:ext>
                  </a:extLst>
                </a:gridCol>
              </a:tblGrid>
              <a:tr h="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部门划分方法</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优点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缺点</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67485341"/>
                  </a:ext>
                </a:extLst>
              </a:tr>
              <a:tr h="12922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职能部门化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合乎逻辑；</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确保高层维护企业基本活动的权力与威望；</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符合专业化的原则；</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简化人事工作；</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高层承担最终成果的责任</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不适合多元化经营的企业；</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降低整个企业的目标，职能部门之间的协调困难；</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只有高层对利润负责；</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难以很快适应环境变化；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不利于培养管理通才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429029"/>
                  </a:ext>
                </a:extLst>
              </a:tr>
              <a:tr h="9683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区域部门化</a:t>
                      </a:r>
                      <a:endPar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把责任下放到较低层次，鼓励参与决策，加强区域活动的协调；</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使经理能够特别注意区域市场的需求和问题；</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可按区域组织生产，减少运输费用和运输时间；</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有利于培养管理通才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管理通才难找；</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重复劳动；</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高层管理监督困难。</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2777232"/>
                  </a:ext>
                </a:extLst>
              </a:tr>
              <a:tr h="8080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1" lang="zh-CN" altLang="en-US" sz="1400" b="0"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顾客部门化</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可以在明确规定的服务项目方面满足顾客特殊的而又多样化的需求</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可以在明确规定的服务项目方面满足顾客特殊的而又多样化的需求</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在满足顾客的特殊要求方面面临压力；</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协调困难；</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设备和人员得不到充分使用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693721"/>
                  </a:ext>
                </a:extLst>
              </a:tr>
              <a:tr h="8731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400" b="0"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产品部门化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有利于专门技术的使用；</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有利于某种形式的协调；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可以最大限度地利用个人技能和专业知识；</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可以要求部门经理对利润负责</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人才问题；</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重复设置部门；</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高层控制问题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52242029"/>
                  </a:ext>
                </a:extLst>
              </a:tr>
            </a:tbl>
          </a:graphicData>
        </a:graphic>
      </p:graphicFrame>
      <p:sp>
        <p:nvSpPr>
          <p:cNvPr id="94236" name="Text Box 28">
            <a:extLst>
              <a:ext uri="{FF2B5EF4-FFF2-40B4-BE49-F238E27FC236}">
                <a16:creationId xmlns:a16="http://schemas.microsoft.com/office/drawing/2014/main" id="{B1D64ADC-DA41-345B-2FD5-6EE94278FFF8}"/>
              </a:ext>
            </a:extLst>
          </p:cNvPr>
          <p:cNvSpPr txBox="1">
            <a:spLocks noChangeArrowheads="1"/>
          </p:cNvSpPr>
          <p:nvPr/>
        </p:nvSpPr>
        <p:spPr bwMode="auto">
          <a:xfrm>
            <a:off x="2843213" y="836613"/>
            <a:ext cx="38179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各种部门划分方法的优点和缺点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DA50D4-900B-B632-3BAB-03B4880F8B11}"/>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5D8E1F06-F513-A1AD-F6F3-C7038E356A66}"/>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77115D4A-2AD5-D469-8D06-0019E639028E}"/>
              </a:ext>
            </a:extLst>
          </p:cNvPr>
          <p:cNvSpPr>
            <a:spLocks noGrp="1"/>
          </p:cNvSpPr>
          <p:nvPr>
            <p:ph type="sldNum" sz="quarter" idx="12"/>
          </p:nvPr>
        </p:nvSpPr>
        <p:spPr/>
        <p:txBody>
          <a:bodyPr/>
          <a:lstStyle/>
          <a:p>
            <a:fld id="{F11BEC18-B772-43A0-B808-B740A77310BA}" type="slidenum">
              <a:rPr lang="en-US" altLang="zh-CN"/>
              <a:pPr/>
              <a:t>14</a:t>
            </a:fld>
            <a:endParaRPr lang="en-US" altLang="zh-CN"/>
          </a:p>
        </p:txBody>
      </p:sp>
      <p:sp>
        <p:nvSpPr>
          <p:cNvPr id="90114" name="Rectangle 2">
            <a:extLst>
              <a:ext uri="{FF2B5EF4-FFF2-40B4-BE49-F238E27FC236}">
                <a16:creationId xmlns:a16="http://schemas.microsoft.com/office/drawing/2014/main" id="{FF426F23-AC57-50CD-8AF4-4B8CBEB6CA3B}"/>
              </a:ext>
            </a:extLst>
          </p:cNvPr>
          <p:cNvSpPr>
            <a:spLocks noChangeArrowheads="1"/>
          </p:cNvSpPr>
          <p:nvPr/>
        </p:nvSpPr>
        <p:spPr bwMode="auto">
          <a:xfrm>
            <a:off x="3851275" y="1628775"/>
            <a:ext cx="1371600" cy="4476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校长</a:t>
            </a:r>
          </a:p>
        </p:txBody>
      </p:sp>
      <p:sp>
        <p:nvSpPr>
          <p:cNvPr id="90115" name="Rectangle 3">
            <a:extLst>
              <a:ext uri="{FF2B5EF4-FFF2-40B4-BE49-F238E27FC236}">
                <a16:creationId xmlns:a16="http://schemas.microsoft.com/office/drawing/2014/main" id="{BABE94B0-8464-13F1-90E9-8935DC4581D5}"/>
              </a:ext>
            </a:extLst>
          </p:cNvPr>
          <p:cNvSpPr>
            <a:spLocks noChangeArrowheads="1"/>
          </p:cNvSpPr>
          <p:nvPr/>
        </p:nvSpPr>
        <p:spPr bwMode="auto">
          <a:xfrm>
            <a:off x="755650" y="2420938"/>
            <a:ext cx="11509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教务处</a:t>
            </a:r>
          </a:p>
        </p:txBody>
      </p:sp>
      <p:sp>
        <p:nvSpPr>
          <p:cNvPr id="90116" name="Rectangle 4">
            <a:extLst>
              <a:ext uri="{FF2B5EF4-FFF2-40B4-BE49-F238E27FC236}">
                <a16:creationId xmlns:a16="http://schemas.microsoft.com/office/drawing/2014/main" id="{5FD7E710-CA76-19C5-8B11-D70FEA495FEC}"/>
              </a:ext>
            </a:extLst>
          </p:cNvPr>
          <p:cNvSpPr>
            <a:spLocks noChangeArrowheads="1"/>
          </p:cNvSpPr>
          <p:nvPr/>
        </p:nvSpPr>
        <p:spPr bwMode="auto">
          <a:xfrm>
            <a:off x="1979613" y="2420938"/>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人事处</a:t>
            </a:r>
          </a:p>
        </p:txBody>
      </p:sp>
      <p:sp>
        <p:nvSpPr>
          <p:cNvPr id="90117" name="Rectangle 5">
            <a:extLst>
              <a:ext uri="{FF2B5EF4-FFF2-40B4-BE49-F238E27FC236}">
                <a16:creationId xmlns:a16="http://schemas.microsoft.com/office/drawing/2014/main" id="{B405C19E-EE54-31C7-30D3-72E6B404D5BE}"/>
              </a:ext>
            </a:extLst>
          </p:cNvPr>
          <p:cNvSpPr>
            <a:spLocks noChangeArrowheads="1"/>
          </p:cNvSpPr>
          <p:nvPr/>
        </p:nvSpPr>
        <p:spPr bwMode="auto">
          <a:xfrm>
            <a:off x="5867400" y="2420938"/>
            <a:ext cx="1150938" cy="43021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财务处</a:t>
            </a:r>
          </a:p>
        </p:txBody>
      </p:sp>
      <p:sp>
        <p:nvSpPr>
          <p:cNvPr id="90118" name="Rectangle 6">
            <a:extLst>
              <a:ext uri="{FF2B5EF4-FFF2-40B4-BE49-F238E27FC236}">
                <a16:creationId xmlns:a16="http://schemas.microsoft.com/office/drawing/2014/main" id="{E53F704B-F3C8-3C76-5B93-AE761C4C7723}"/>
              </a:ext>
            </a:extLst>
          </p:cNvPr>
          <p:cNvSpPr>
            <a:spLocks noChangeArrowheads="1"/>
          </p:cNvSpPr>
          <p:nvPr/>
        </p:nvSpPr>
        <p:spPr bwMode="auto">
          <a:xfrm>
            <a:off x="7092950" y="2420938"/>
            <a:ext cx="11509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总务处</a:t>
            </a:r>
          </a:p>
        </p:txBody>
      </p:sp>
      <p:sp>
        <p:nvSpPr>
          <p:cNvPr id="90119" name="Rectangle 7">
            <a:extLst>
              <a:ext uri="{FF2B5EF4-FFF2-40B4-BE49-F238E27FC236}">
                <a16:creationId xmlns:a16="http://schemas.microsoft.com/office/drawing/2014/main" id="{2C276203-0B0A-781C-F9B1-330B59E6C700}"/>
              </a:ext>
            </a:extLst>
          </p:cNvPr>
          <p:cNvSpPr>
            <a:spLocks noChangeArrowheads="1"/>
          </p:cNvSpPr>
          <p:nvPr/>
        </p:nvSpPr>
        <p:spPr bwMode="auto">
          <a:xfrm>
            <a:off x="755650" y="3141663"/>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研究生院</a:t>
            </a:r>
          </a:p>
        </p:txBody>
      </p:sp>
      <p:sp>
        <p:nvSpPr>
          <p:cNvPr id="90120" name="Rectangle 8">
            <a:extLst>
              <a:ext uri="{FF2B5EF4-FFF2-40B4-BE49-F238E27FC236}">
                <a16:creationId xmlns:a16="http://schemas.microsoft.com/office/drawing/2014/main" id="{050E3F23-AFB6-1480-6D7A-6892BBB0E2DC}"/>
              </a:ext>
            </a:extLst>
          </p:cNvPr>
          <p:cNvSpPr>
            <a:spLocks noChangeArrowheads="1"/>
          </p:cNvSpPr>
          <p:nvPr/>
        </p:nvSpPr>
        <p:spPr bwMode="auto">
          <a:xfrm>
            <a:off x="3203575" y="3141663"/>
            <a:ext cx="11509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教育学院</a:t>
            </a:r>
          </a:p>
        </p:txBody>
      </p:sp>
      <p:sp>
        <p:nvSpPr>
          <p:cNvPr id="90121" name="Rectangle 9">
            <a:extLst>
              <a:ext uri="{FF2B5EF4-FFF2-40B4-BE49-F238E27FC236}">
                <a16:creationId xmlns:a16="http://schemas.microsoft.com/office/drawing/2014/main" id="{95C6FF71-4014-D670-95D3-6521776D930C}"/>
              </a:ext>
            </a:extLst>
          </p:cNvPr>
          <p:cNvSpPr>
            <a:spLocks noChangeArrowheads="1"/>
          </p:cNvSpPr>
          <p:nvPr/>
        </p:nvSpPr>
        <p:spPr bwMode="auto">
          <a:xfrm>
            <a:off x="1979613" y="3141663"/>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a:latin typeface="Arial" panose="020B0604020202020204" pitchFamily="34" charset="0"/>
              </a:rPr>
              <a:t>高等继续</a:t>
            </a:r>
          </a:p>
          <a:p>
            <a:pPr algn="ctr"/>
            <a:r>
              <a:rPr lang="zh-CN" altLang="en-US" sz="1400">
                <a:latin typeface="Arial" panose="020B0604020202020204" pitchFamily="34" charset="0"/>
              </a:rPr>
              <a:t>教育学院</a:t>
            </a:r>
          </a:p>
        </p:txBody>
      </p:sp>
      <p:sp>
        <p:nvSpPr>
          <p:cNvPr id="90122" name="Rectangle 10">
            <a:extLst>
              <a:ext uri="{FF2B5EF4-FFF2-40B4-BE49-F238E27FC236}">
                <a16:creationId xmlns:a16="http://schemas.microsoft.com/office/drawing/2014/main" id="{DC0FB774-FD9A-D6D7-F3A1-7AEB0CF5B4D3}"/>
              </a:ext>
            </a:extLst>
          </p:cNvPr>
          <p:cNvSpPr>
            <a:spLocks noChangeArrowheads="1"/>
          </p:cNvSpPr>
          <p:nvPr/>
        </p:nvSpPr>
        <p:spPr bwMode="auto">
          <a:xfrm>
            <a:off x="4643438" y="3141663"/>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医学院</a:t>
            </a:r>
          </a:p>
        </p:txBody>
      </p:sp>
      <p:sp>
        <p:nvSpPr>
          <p:cNvPr id="90123" name="Line 11">
            <a:extLst>
              <a:ext uri="{FF2B5EF4-FFF2-40B4-BE49-F238E27FC236}">
                <a16:creationId xmlns:a16="http://schemas.microsoft.com/office/drawing/2014/main" id="{9146F411-5791-4799-F6DE-EE4AFD94B475}"/>
              </a:ext>
            </a:extLst>
          </p:cNvPr>
          <p:cNvSpPr>
            <a:spLocks noChangeShapeType="1"/>
          </p:cNvSpPr>
          <p:nvPr/>
        </p:nvSpPr>
        <p:spPr bwMode="auto">
          <a:xfrm>
            <a:off x="1258888" y="2276475"/>
            <a:ext cx="64087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4" name="Line 12">
            <a:extLst>
              <a:ext uri="{FF2B5EF4-FFF2-40B4-BE49-F238E27FC236}">
                <a16:creationId xmlns:a16="http://schemas.microsoft.com/office/drawing/2014/main" id="{3A13CC8C-8CA0-85AB-01BF-AE0DDACA3BD5}"/>
              </a:ext>
            </a:extLst>
          </p:cNvPr>
          <p:cNvSpPr>
            <a:spLocks noChangeShapeType="1"/>
          </p:cNvSpPr>
          <p:nvPr/>
        </p:nvSpPr>
        <p:spPr bwMode="auto">
          <a:xfrm>
            <a:off x="1258888" y="2276475"/>
            <a:ext cx="0" cy="165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5" name="Line 13">
            <a:extLst>
              <a:ext uri="{FF2B5EF4-FFF2-40B4-BE49-F238E27FC236}">
                <a16:creationId xmlns:a16="http://schemas.microsoft.com/office/drawing/2014/main" id="{053DCBBD-D1B8-4A9D-C911-B89727EB074F}"/>
              </a:ext>
            </a:extLst>
          </p:cNvPr>
          <p:cNvSpPr>
            <a:spLocks noChangeShapeType="1"/>
          </p:cNvSpPr>
          <p:nvPr/>
        </p:nvSpPr>
        <p:spPr bwMode="auto">
          <a:xfrm>
            <a:off x="6443663" y="2276475"/>
            <a:ext cx="0" cy="165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6" name="Line 14">
            <a:extLst>
              <a:ext uri="{FF2B5EF4-FFF2-40B4-BE49-F238E27FC236}">
                <a16:creationId xmlns:a16="http://schemas.microsoft.com/office/drawing/2014/main" id="{B77215AB-DC18-B389-8ED9-FF8472C2CF53}"/>
              </a:ext>
            </a:extLst>
          </p:cNvPr>
          <p:cNvSpPr>
            <a:spLocks noChangeShapeType="1"/>
          </p:cNvSpPr>
          <p:nvPr/>
        </p:nvSpPr>
        <p:spPr bwMode="auto">
          <a:xfrm>
            <a:off x="2555875" y="2276475"/>
            <a:ext cx="0" cy="165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7" name="Line 15">
            <a:extLst>
              <a:ext uri="{FF2B5EF4-FFF2-40B4-BE49-F238E27FC236}">
                <a16:creationId xmlns:a16="http://schemas.microsoft.com/office/drawing/2014/main" id="{38135690-5953-8AF2-BF5C-6F10C4353240}"/>
              </a:ext>
            </a:extLst>
          </p:cNvPr>
          <p:cNvSpPr>
            <a:spLocks noChangeShapeType="1"/>
          </p:cNvSpPr>
          <p:nvPr/>
        </p:nvSpPr>
        <p:spPr bwMode="auto">
          <a:xfrm>
            <a:off x="5219700" y="2276475"/>
            <a:ext cx="0" cy="165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8" name="Line 16">
            <a:extLst>
              <a:ext uri="{FF2B5EF4-FFF2-40B4-BE49-F238E27FC236}">
                <a16:creationId xmlns:a16="http://schemas.microsoft.com/office/drawing/2014/main" id="{E45B1C35-7358-33B6-56CB-E7C4A3EAEAF6}"/>
              </a:ext>
            </a:extLst>
          </p:cNvPr>
          <p:cNvSpPr>
            <a:spLocks noChangeShapeType="1"/>
          </p:cNvSpPr>
          <p:nvPr/>
        </p:nvSpPr>
        <p:spPr bwMode="auto">
          <a:xfrm>
            <a:off x="1331913" y="2997200"/>
            <a:ext cx="6335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29" name="Line 17">
            <a:extLst>
              <a:ext uri="{FF2B5EF4-FFF2-40B4-BE49-F238E27FC236}">
                <a16:creationId xmlns:a16="http://schemas.microsoft.com/office/drawing/2014/main" id="{0246BD5B-4AC3-F297-19C8-FBD89CD6D3EA}"/>
              </a:ext>
            </a:extLst>
          </p:cNvPr>
          <p:cNvSpPr>
            <a:spLocks noChangeShapeType="1"/>
          </p:cNvSpPr>
          <p:nvPr/>
        </p:nvSpPr>
        <p:spPr bwMode="auto">
          <a:xfrm>
            <a:off x="1331913" y="29972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0" name="Line 18">
            <a:extLst>
              <a:ext uri="{FF2B5EF4-FFF2-40B4-BE49-F238E27FC236}">
                <a16:creationId xmlns:a16="http://schemas.microsoft.com/office/drawing/2014/main" id="{82280CDC-5143-F008-535D-D3B83238D5B8}"/>
              </a:ext>
            </a:extLst>
          </p:cNvPr>
          <p:cNvSpPr>
            <a:spLocks noChangeShapeType="1"/>
          </p:cNvSpPr>
          <p:nvPr/>
        </p:nvSpPr>
        <p:spPr bwMode="auto">
          <a:xfrm flipH="1">
            <a:off x="5219700" y="29972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1" name="Line 19">
            <a:extLst>
              <a:ext uri="{FF2B5EF4-FFF2-40B4-BE49-F238E27FC236}">
                <a16:creationId xmlns:a16="http://schemas.microsoft.com/office/drawing/2014/main" id="{56D1E560-02E0-B985-0B64-3C0065A10696}"/>
              </a:ext>
            </a:extLst>
          </p:cNvPr>
          <p:cNvSpPr>
            <a:spLocks noChangeShapeType="1"/>
          </p:cNvSpPr>
          <p:nvPr/>
        </p:nvSpPr>
        <p:spPr bwMode="auto">
          <a:xfrm>
            <a:off x="2555875" y="29972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2" name="Line 20">
            <a:extLst>
              <a:ext uri="{FF2B5EF4-FFF2-40B4-BE49-F238E27FC236}">
                <a16:creationId xmlns:a16="http://schemas.microsoft.com/office/drawing/2014/main" id="{98359647-DD10-C763-3E7D-1F87DE8A716D}"/>
              </a:ext>
            </a:extLst>
          </p:cNvPr>
          <p:cNvSpPr>
            <a:spLocks noChangeShapeType="1"/>
          </p:cNvSpPr>
          <p:nvPr/>
        </p:nvSpPr>
        <p:spPr bwMode="auto">
          <a:xfrm>
            <a:off x="3779838" y="29972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3" name="Rectangle 21">
            <a:extLst>
              <a:ext uri="{FF2B5EF4-FFF2-40B4-BE49-F238E27FC236}">
                <a16:creationId xmlns:a16="http://schemas.microsoft.com/office/drawing/2014/main" id="{DD156BE6-C552-750C-A6A2-CE5F7B635636}"/>
              </a:ext>
            </a:extLst>
          </p:cNvPr>
          <p:cNvSpPr>
            <a:spLocks noChangeArrowheads="1"/>
          </p:cNvSpPr>
          <p:nvPr/>
        </p:nvSpPr>
        <p:spPr bwMode="auto">
          <a:xfrm>
            <a:off x="4643438" y="2420938"/>
            <a:ext cx="1150937"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科研处</a:t>
            </a:r>
          </a:p>
        </p:txBody>
      </p:sp>
      <p:sp>
        <p:nvSpPr>
          <p:cNvPr id="90134" name="Rectangle 22">
            <a:extLst>
              <a:ext uri="{FF2B5EF4-FFF2-40B4-BE49-F238E27FC236}">
                <a16:creationId xmlns:a16="http://schemas.microsoft.com/office/drawing/2014/main" id="{DF7B8AE2-D883-2787-311E-5409E78EEB5D}"/>
              </a:ext>
            </a:extLst>
          </p:cNvPr>
          <p:cNvSpPr>
            <a:spLocks noChangeArrowheads="1"/>
          </p:cNvSpPr>
          <p:nvPr/>
        </p:nvSpPr>
        <p:spPr bwMode="auto">
          <a:xfrm>
            <a:off x="3203575" y="2420938"/>
            <a:ext cx="1150938"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外事处</a:t>
            </a:r>
          </a:p>
        </p:txBody>
      </p:sp>
      <p:sp>
        <p:nvSpPr>
          <p:cNvPr id="90135" name="Line 23">
            <a:extLst>
              <a:ext uri="{FF2B5EF4-FFF2-40B4-BE49-F238E27FC236}">
                <a16:creationId xmlns:a16="http://schemas.microsoft.com/office/drawing/2014/main" id="{68AA07F4-A6ED-AACB-DD37-36AEA750E243}"/>
              </a:ext>
            </a:extLst>
          </p:cNvPr>
          <p:cNvSpPr>
            <a:spLocks noChangeShapeType="1"/>
          </p:cNvSpPr>
          <p:nvPr/>
        </p:nvSpPr>
        <p:spPr bwMode="auto">
          <a:xfrm>
            <a:off x="7667625" y="2276475"/>
            <a:ext cx="0" cy="165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6" name="Line 24">
            <a:extLst>
              <a:ext uri="{FF2B5EF4-FFF2-40B4-BE49-F238E27FC236}">
                <a16:creationId xmlns:a16="http://schemas.microsoft.com/office/drawing/2014/main" id="{05FB1BFD-475B-C3D8-08C4-4FF289D68C5C}"/>
              </a:ext>
            </a:extLst>
          </p:cNvPr>
          <p:cNvSpPr>
            <a:spLocks noChangeShapeType="1"/>
          </p:cNvSpPr>
          <p:nvPr/>
        </p:nvSpPr>
        <p:spPr bwMode="auto">
          <a:xfrm flipV="1">
            <a:off x="3779838" y="2276475"/>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7" name="Line 25">
            <a:extLst>
              <a:ext uri="{FF2B5EF4-FFF2-40B4-BE49-F238E27FC236}">
                <a16:creationId xmlns:a16="http://schemas.microsoft.com/office/drawing/2014/main" id="{95B806AE-EA23-2B97-3FA3-287D8460E6D8}"/>
              </a:ext>
            </a:extLst>
          </p:cNvPr>
          <p:cNvSpPr>
            <a:spLocks noChangeShapeType="1"/>
          </p:cNvSpPr>
          <p:nvPr/>
        </p:nvSpPr>
        <p:spPr bwMode="auto">
          <a:xfrm>
            <a:off x="4500563" y="2060575"/>
            <a:ext cx="0" cy="1655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8" name="Rectangle 26">
            <a:extLst>
              <a:ext uri="{FF2B5EF4-FFF2-40B4-BE49-F238E27FC236}">
                <a16:creationId xmlns:a16="http://schemas.microsoft.com/office/drawing/2014/main" id="{7B4E6BA5-47DB-4713-52BC-03C4E120536D}"/>
              </a:ext>
            </a:extLst>
          </p:cNvPr>
          <p:cNvSpPr>
            <a:spLocks noChangeArrowheads="1"/>
          </p:cNvSpPr>
          <p:nvPr/>
        </p:nvSpPr>
        <p:spPr bwMode="auto">
          <a:xfrm>
            <a:off x="7092950" y="3141663"/>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理工学院</a:t>
            </a:r>
          </a:p>
        </p:txBody>
      </p:sp>
      <p:sp>
        <p:nvSpPr>
          <p:cNvPr id="90139" name="Rectangle 27">
            <a:extLst>
              <a:ext uri="{FF2B5EF4-FFF2-40B4-BE49-F238E27FC236}">
                <a16:creationId xmlns:a16="http://schemas.microsoft.com/office/drawing/2014/main" id="{4457618A-8A02-36CC-0C73-398A0708258B}"/>
              </a:ext>
            </a:extLst>
          </p:cNvPr>
          <p:cNvSpPr>
            <a:spLocks noChangeArrowheads="1"/>
          </p:cNvSpPr>
          <p:nvPr/>
        </p:nvSpPr>
        <p:spPr bwMode="auto">
          <a:xfrm>
            <a:off x="5867400" y="3141663"/>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管理学院</a:t>
            </a:r>
          </a:p>
        </p:txBody>
      </p:sp>
      <p:sp>
        <p:nvSpPr>
          <p:cNvPr id="90140" name="Line 28">
            <a:extLst>
              <a:ext uri="{FF2B5EF4-FFF2-40B4-BE49-F238E27FC236}">
                <a16:creationId xmlns:a16="http://schemas.microsoft.com/office/drawing/2014/main" id="{58AFBDA6-9691-0A86-23E3-A58923F461B2}"/>
              </a:ext>
            </a:extLst>
          </p:cNvPr>
          <p:cNvSpPr>
            <a:spLocks noChangeShapeType="1"/>
          </p:cNvSpPr>
          <p:nvPr/>
        </p:nvSpPr>
        <p:spPr bwMode="auto">
          <a:xfrm>
            <a:off x="6443663" y="29972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41" name="Line 29">
            <a:extLst>
              <a:ext uri="{FF2B5EF4-FFF2-40B4-BE49-F238E27FC236}">
                <a16:creationId xmlns:a16="http://schemas.microsoft.com/office/drawing/2014/main" id="{F6C5A281-62EB-75CE-8E00-5894529E8AE8}"/>
              </a:ext>
            </a:extLst>
          </p:cNvPr>
          <p:cNvSpPr>
            <a:spLocks noChangeShapeType="1"/>
          </p:cNvSpPr>
          <p:nvPr/>
        </p:nvSpPr>
        <p:spPr bwMode="auto">
          <a:xfrm flipV="1">
            <a:off x="7667625" y="2997200"/>
            <a:ext cx="0" cy="144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42" name="Rectangle 30">
            <a:extLst>
              <a:ext uri="{FF2B5EF4-FFF2-40B4-BE49-F238E27FC236}">
                <a16:creationId xmlns:a16="http://schemas.microsoft.com/office/drawing/2014/main" id="{309A7EC9-2AAC-82EB-C200-F13D57D9AC7C}"/>
              </a:ext>
            </a:extLst>
          </p:cNvPr>
          <p:cNvSpPr>
            <a:spLocks noChangeArrowheads="1"/>
          </p:cNvSpPr>
          <p:nvPr/>
        </p:nvSpPr>
        <p:spPr bwMode="auto">
          <a:xfrm>
            <a:off x="755650" y="3860800"/>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南校区</a:t>
            </a:r>
          </a:p>
        </p:txBody>
      </p:sp>
      <p:sp>
        <p:nvSpPr>
          <p:cNvPr id="90143" name="Rectangle 31">
            <a:extLst>
              <a:ext uri="{FF2B5EF4-FFF2-40B4-BE49-F238E27FC236}">
                <a16:creationId xmlns:a16="http://schemas.microsoft.com/office/drawing/2014/main" id="{A6CA0D2D-F19A-EA9E-2F85-339B4CCEED60}"/>
              </a:ext>
            </a:extLst>
          </p:cNvPr>
          <p:cNvSpPr>
            <a:spLocks noChangeArrowheads="1"/>
          </p:cNvSpPr>
          <p:nvPr/>
        </p:nvSpPr>
        <p:spPr bwMode="auto">
          <a:xfrm>
            <a:off x="2916238" y="3860800"/>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北校区</a:t>
            </a:r>
          </a:p>
        </p:txBody>
      </p:sp>
      <p:sp>
        <p:nvSpPr>
          <p:cNvPr id="90144" name="Rectangle 32">
            <a:extLst>
              <a:ext uri="{FF2B5EF4-FFF2-40B4-BE49-F238E27FC236}">
                <a16:creationId xmlns:a16="http://schemas.microsoft.com/office/drawing/2014/main" id="{3BA9594C-5C78-757C-A150-ACFBC175269B}"/>
              </a:ext>
            </a:extLst>
          </p:cNvPr>
          <p:cNvSpPr>
            <a:spLocks noChangeArrowheads="1"/>
          </p:cNvSpPr>
          <p:nvPr/>
        </p:nvSpPr>
        <p:spPr bwMode="auto">
          <a:xfrm>
            <a:off x="4932363" y="3860800"/>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东校区</a:t>
            </a:r>
          </a:p>
        </p:txBody>
      </p:sp>
      <p:sp>
        <p:nvSpPr>
          <p:cNvPr id="90145" name="Rectangle 33">
            <a:extLst>
              <a:ext uri="{FF2B5EF4-FFF2-40B4-BE49-F238E27FC236}">
                <a16:creationId xmlns:a16="http://schemas.microsoft.com/office/drawing/2014/main" id="{66142A22-B9EC-46E6-1B2E-32332C18C3FC}"/>
              </a:ext>
            </a:extLst>
          </p:cNvPr>
          <p:cNvSpPr>
            <a:spLocks noChangeArrowheads="1"/>
          </p:cNvSpPr>
          <p:nvPr/>
        </p:nvSpPr>
        <p:spPr bwMode="auto">
          <a:xfrm>
            <a:off x="7092950" y="3860800"/>
            <a:ext cx="1152525" cy="431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珠海校区</a:t>
            </a:r>
          </a:p>
        </p:txBody>
      </p:sp>
      <p:sp>
        <p:nvSpPr>
          <p:cNvPr id="90146" name="Line 34">
            <a:extLst>
              <a:ext uri="{FF2B5EF4-FFF2-40B4-BE49-F238E27FC236}">
                <a16:creationId xmlns:a16="http://schemas.microsoft.com/office/drawing/2014/main" id="{E8B45278-61BA-4483-FED0-3EB5E9813F2F}"/>
              </a:ext>
            </a:extLst>
          </p:cNvPr>
          <p:cNvSpPr>
            <a:spLocks noChangeShapeType="1"/>
          </p:cNvSpPr>
          <p:nvPr/>
        </p:nvSpPr>
        <p:spPr bwMode="auto">
          <a:xfrm>
            <a:off x="1331913" y="3716338"/>
            <a:ext cx="64087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47" name="Line 35">
            <a:extLst>
              <a:ext uri="{FF2B5EF4-FFF2-40B4-BE49-F238E27FC236}">
                <a16:creationId xmlns:a16="http://schemas.microsoft.com/office/drawing/2014/main" id="{4527843F-2685-34DF-5BF5-F1282348F118}"/>
              </a:ext>
            </a:extLst>
          </p:cNvPr>
          <p:cNvSpPr>
            <a:spLocks noChangeShapeType="1"/>
          </p:cNvSpPr>
          <p:nvPr/>
        </p:nvSpPr>
        <p:spPr bwMode="auto">
          <a:xfrm>
            <a:off x="1331913" y="371633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48" name="Line 36">
            <a:extLst>
              <a:ext uri="{FF2B5EF4-FFF2-40B4-BE49-F238E27FC236}">
                <a16:creationId xmlns:a16="http://schemas.microsoft.com/office/drawing/2014/main" id="{C4FC22AD-7800-3117-72E7-28366FE6B452}"/>
              </a:ext>
            </a:extLst>
          </p:cNvPr>
          <p:cNvSpPr>
            <a:spLocks noChangeShapeType="1"/>
          </p:cNvSpPr>
          <p:nvPr/>
        </p:nvSpPr>
        <p:spPr bwMode="auto">
          <a:xfrm>
            <a:off x="7740650" y="371633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49" name="Line 37">
            <a:extLst>
              <a:ext uri="{FF2B5EF4-FFF2-40B4-BE49-F238E27FC236}">
                <a16:creationId xmlns:a16="http://schemas.microsoft.com/office/drawing/2014/main" id="{AF837F3D-089D-2032-90CB-59E435894DB5}"/>
              </a:ext>
            </a:extLst>
          </p:cNvPr>
          <p:cNvSpPr>
            <a:spLocks noChangeShapeType="1"/>
          </p:cNvSpPr>
          <p:nvPr/>
        </p:nvSpPr>
        <p:spPr bwMode="auto">
          <a:xfrm flipH="1">
            <a:off x="3419475" y="371633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0" name="Line 38">
            <a:extLst>
              <a:ext uri="{FF2B5EF4-FFF2-40B4-BE49-F238E27FC236}">
                <a16:creationId xmlns:a16="http://schemas.microsoft.com/office/drawing/2014/main" id="{09F999D5-EC07-A61D-EA89-A92EFCE2C999}"/>
              </a:ext>
            </a:extLst>
          </p:cNvPr>
          <p:cNvSpPr>
            <a:spLocks noChangeShapeType="1"/>
          </p:cNvSpPr>
          <p:nvPr/>
        </p:nvSpPr>
        <p:spPr bwMode="auto">
          <a:xfrm>
            <a:off x="5508625" y="3716338"/>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2" name="Text Box 40">
            <a:extLst>
              <a:ext uri="{FF2B5EF4-FFF2-40B4-BE49-F238E27FC236}">
                <a16:creationId xmlns:a16="http://schemas.microsoft.com/office/drawing/2014/main" id="{C4827359-FEA9-F960-C73F-DE2565EA7EC0}"/>
              </a:ext>
            </a:extLst>
          </p:cNvPr>
          <p:cNvSpPr txBox="1">
            <a:spLocks noChangeArrowheads="1"/>
          </p:cNvSpPr>
          <p:nvPr/>
        </p:nvSpPr>
        <p:spPr bwMode="auto">
          <a:xfrm>
            <a:off x="2916238" y="4508500"/>
            <a:ext cx="34559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中山大学组织结构图（部分）</a:t>
            </a:r>
          </a:p>
        </p:txBody>
      </p:sp>
      <p:sp>
        <p:nvSpPr>
          <p:cNvPr id="90153" name="Rectangle 41">
            <a:extLst>
              <a:ext uri="{FF2B5EF4-FFF2-40B4-BE49-F238E27FC236}">
                <a16:creationId xmlns:a16="http://schemas.microsoft.com/office/drawing/2014/main" id="{42EF3FBB-E9EF-8F6B-E53F-DA725B5FECD4}"/>
              </a:ext>
            </a:extLst>
          </p:cNvPr>
          <p:cNvSpPr>
            <a:spLocks noChangeArrowheads="1"/>
          </p:cNvSpPr>
          <p:nvPr/>
        </p:nvSpPr>
        <p:spPr bwMode="auto">
          <a:xfrm>
            <a:off x="3851275" y="908050"/>
            <a:ext cx="1371600" cy="4476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Arial" panose="020B0604020202020204" pitchFamily="34" charset="0"/>
              </a:rPr>
              <a:t>党委</a:t>
            </a:r>
          </a:p>
        </p:txBody>
      </p:sp>
      <p:sp>
        <p:nvSpPr>
          <p:cNvPr id="90154" name="Line 42">
            <a:extLst>
              <a:ext uri="{FF2B5EF4-FFF2-40B4-BE49-F238E27FC236}">
                <a16:creationId xmlns:a16="http://schemas.microsoft.com/office/drawing/2014/main" id="{51D8D3E4-5C46-0F84-4DBF-B0E95780B133}"/>
              </a:ext>
            </a:extLst>
          </p:cNvPr>
          <p:cNvSpPr>
            <a:spLocks noChangeShapeType="1"/>
          </p:cNvSpPr>
          <p:nvPr/>
        </p:nvSpPr>
        <p:spPr bwMode="auto">
          <a:xfrm>
            <a:off x="4500563" y="1341438"/>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55" name="Rectangle 43">
            <a:extLst>
              <a:ext uri="{FF2B5EF4-FFF2-40B4-BE49-F238E27FC236}">
                <a16:creationId xmlns:a16="http://schemas.microsoft.com/office/drawing/2014/main" id="{9D1616A8-C6B5-7627-53B6-A6EF5651DA12}"/>
              </a:ext>
            </a:extLst>
          </p:cNvPr>
          <p:cNvSpPr>
            <a:spLocks noChangeArrowheads="1"/>
          </p:cNvSpPr>
          <p:nvPr/>
        </p:nvSpPr>
        <p:spPr bwMode="auto">
          <a:xfrm>
            <a:off x="179388" y="188913"/>
            <a:ext cx="1279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7.4</a:t>
            </a:r>
            <a:r>
              <a:rPr kumimoji="0" lang="zh-CN" altLang="en-US" sz="1600">
                <a:latin typeface="Arial" panose="020B0604020202020204" pitchFamily="34" charset="0"/>
              </a:rPr>
              <a:t>部门划分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5FDC03B-4AA2-933F-014A-0C90EAF7B305}"/>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9A942238-E5D7-7950-C7D6-29AF1B746387}"/>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B68DEE11-DEC3-5D95-D528-13AABCE6DD72}"/>
              </a:ext>
            </a:extLst>
          </p:cNvPr>
          <p:cNvSpPr>
            <a:spLocks noGrp="1"/>
          </p:cNvSpPr>
          <p:nvPr>
            <p:ph type="sldNum" sz="quarter" idx="12"/>
          </p:nvPr>
        </p:nvSpPr>
        <p:spPr/>
        <p:txBody>
          <a:bodyPr/>
          <a:lstStyle/>
          <a:p>
            <a:fld id="{A7604EB4-1EE9-4461-9C1F-D9769FF17347}" type="slidenum">
              <a:rPr lang="en-US" altLang="zh-CN"/>
              <a:pPr/>
              <a:t>15</a:t>
            </a:fld>
            <a:endParaRPr lang="en-US" altLang="zh-CN"/>
          </a:p>
        </p:txBody>
      </p:sp>
      <p:graphicFrame>
        <p:nvGraphicFramePr>
          <p:cNvPr id="81923" name="Group 3">
            <a:extLst>
              <a:ext uri="{FF2B5EF4-FFF2-40B4-BE49-F238E27FC236}">
                <a16:creationId xmlns:a16="http://schemas.microsoft.com/office/drawing/2014/main" id="{E7797870-0C8D-EE1F-F6F8-A32174A68D68}"/>
              </a:ext>
            </a:extLst>
          </p:cNvPr>
          <p:cNvGraphicFramePr>
            <a:graphicFrameLocks noGrp="1"/>
          </p:cNvGraphicFramePr>
          <p:nvPr>
            <p:ph sz="half" idx="4294967295"/>
          </p:nvPr>
        </p:nvGraphicFramePr>
        <p:xfrm>
          <a:off x="395288" y="1268413"/>
          <a:ext cx="8280400" cy="2420937"/>
        </p:xfrm>
        <a:graphic>
          <a:graphicData uri="http://schemas.openxmlformats.org/drawingml/2006/table">
            <a:tbl>
              <a:tblPr/>
              <a:tblGrid>
                <a:gridCol w="1519237">
                  <a:extLst>
                    <a:ext uri="{9D8B030D-6E8A-4147-A177-3AD203B41FA5}">
                      <a16:colId xmlns:a16="http://schemas.microsoft.com/office/drawing/2014/main" val="1152751636"/>
                    </a:ext>
                  </a:extLst>
                </a:gridCol>
                <a:gridCol w="1241425">
                  <a:extLst>
                    <a:ext uri="{9D8B030D-6E8A-4147-A177-3AD203B41FA5}">
                      <a16:colId xmlns:a16="http://schemas.microsoft.com/office/drawing/2014/main" val="2078347270"/>
                    </a:ext>
                  </a:extLst>
                </a:gridCol>
                <a:gridCol w="2759075">
                  <a:extLst>
                    <a:ext uri="{9D8B030D-6E8A-4147-A177-3AD203B41FA5}">
                      <a16:colId xmlns:a16="http://schemas.microsoft.com/office/drawing/2014/main" val="843377316"/>
                    </a:ext>
                  </a:extLst>
                </a:gridCol>
                <a:gridCol w="2760663">
                  <a:extLst>
                    <a:ext uri="{9D8B030D-6E8A-4147-A177-3AD203B41FA5}">
                      <a16:colId xmlns:a16="http://schemas.microsoft.com/office/drawing/2014/main" val="1089413540"/>
                    </a:ext>
                  </a:extLst>
                </a:gridCol>
              </a:tblGrid>
              <a:tr h="369888">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部门划分方法</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特点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图示</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7825800"/>
                  </a:ext>
                </a:extLst>
              </a:tr>
              <a:tr h="8794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职能部门化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流程部门化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过程导向</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职能结构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部门之间实行专业分工</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部门之间的关联性强</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管理者的职业化倾向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917433"/>
                  </a:ext>
                </a:extLst>
              </a:tr>
              <a:tr h="909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产品部门化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区域部门化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市场部门化</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目的导向</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分部结构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部门之间实行自给自足</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部门之间的关联性弱</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管理者的多面手倾向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5077385"/>
                  </a:ext>
                </a:extLst>
              </a:tr>
            </a:tbl>
          </a:graphicData>
        </a:graphic>
      </p:graphicFrame>
      <p:sp>
        <p:nvSpPr>
          <p:cNvPr id="81944" name="Oval 24">
            <a:extLst>
              <a:ext uri="{FF2B5EF4-FFF2-40B4-BE49-F238E27FC236}">
                <a16:creationId xmlns:a16="http://schemas.microsoft.com/office/drawing/2014/main" id="{2B7D1F13-FF08-1E8E-9FEE-E0D7795A5D1E}"/>
              </a:ext>
            </a:extLst>
          </p:cNvPr>
          <p:cNvSpPr>
            <a:spLocks noChangeArrowheads="1"/>
          </p:cNvSpPr>
          <p:nvPr/>
        </p:nvSpPr>
        <p:spPr bwMode="auto">
          <a:xfrm>
            <a:off x="6516688" y="2060575"/>
            <a:ext cx="215900" cy="2159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5" name="Oval 25">
            <a:extLst>
              <a:ext uri="{FF2B5EF4-FFF2-40B4-BE49-F238E27FC236}">
                <a16:creationId xmlns:a16="http://schemas.microsoft.com/office/drawing/2014/main" id="{B8B6C939-AE15-4D1D-06EB-877B28FC3A06}"/>
              </a:ext>
            </a:extLst>
          </p:cNvPr>
          <p:cNvSpPr>
            <a:spLocks noChangeArrowheads="1"/>
          </p:cNvSpPr>
          <p:nvPr/>
        </p:nvSpPr>
        <p:spPr bwMode="auto">
          <a:xfrm>
            <a:off x="7164388" y="2060575"/>
            <a:ext cx="215900" cy="2159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6" name="Oval 26">
            <a:extLst>
              <a:ext uri="{FF2B5EF4-FFF2-40B4-BE49-F238E27FC236}">
                <a16:creationId xmlns:a16="http://schemas.microsoft.com/office/drawing/2014/main" id="{072835F5-C204-D0FC-2CF4-00F63FE3A49F}"/>
              </a:ext>
            </a:extLst>
          </p:cNvPr>
          <p:cNvSpPr>
            <a:spLocks noChangeArrowheads="1"/>
          </p:cNvSpPr>
          <p:nvPr/>
        </p:nvSpPr>
        <p:spPr bwMode="auto">
          <a:xfrm>
            <a:off x="7812088" y="2060575"/>
            <a:ext cx="215900" cy="2159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7" name="Oval 27">
            <a:extLst>
              <a:ext uri="{FF2B5EF4-FFF2-40B4-BE49-F238E27FC236}">
                <a16:creationId xmlns:a16="http://schemas.microsoft.com/office/drawing/2014/main" id="{D3D4FBE5-9FD0-5F33-CFD5-1164DE5FE105}"/>
              </a:ext>
            </a:extLst>
          </p:cNvPr>
          <p:cNvSpPr>
            <a:spLocks noChangeArrowheads="1"/>
          </p:cNvSpPr>
          <p:nvPr/>
        </p:nvSpPr>
        <p:spPr bwMode="auto">
          <a:xfrm>
            <a:off x="7164388" y="3068638"/>
            <a:ext cx="215900" cy="2159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8" name="Oval 28">
            <a:extLst>
              <a:ext uri="{FF2B5EF4-FFF2-40B4-BE49-F238E27FC236}">
                <a16:creationId xmlns:a16="http://schemas.microsoft.com/office/drawing/2014/main" id="{1FDB03A9-9045-9B1B-B198-9916898E9CF5}"/>
              </a:ext>
            </a:extLst>
          </p:cNvPr>
          <p:cNvSpPr>
            <a:spLocks noChangeArrowheads="1"/>
          </p:cNvSpPr>
          <p:nvPr/>
        </p:nvSpPr>
        <p:spPr bwMode="auto">
          <a:xfrm>
            <a:off x="7164388" y="2781300"/>
            <a:ext cx="215900" cy="2159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49" name="Oval 29">
            <a:extLst>
              <a:ext uri="{FF2B5EF4-FFF2-40B4-BE49-F238E27FC236}">
                <a16:creationId xmlns:a16="http://schemas.microsoft.com/office/drawing/2014/main" id="{28881A26-AC9F-51FB-C3F0-CA027937A253}"/>
              </a:ext>
            </a:extLst>
          </p:cNvPr>
          <p:cNvSpPr>
            <a:spLocks noChangeArrowheads="1"/>
          </p:cNvSpPr>
          <p:nvPr/>
        </p:nvSpPr>
        <p:spPr bwMode="auto">
          <a:xfrm>
            <a:off x="7164388" y="3357563"/>
            <a:ext cx="215900" cy="2159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50" name="Line 30">
            <a:extLst>
              <a:ext uri="{FF2B5EF4-FFF2-40B4-BE49-F238E27FC236}">
                <a16:creationId xmlns:a16="http://schemas.microsoft.com/office/drawing/2014/main" id="{82B5B25B-DAA8-EAA5-E514-CB430BFDB46D}"/>
              </a:ext>
            </a:extLst>
          </p:cNvPr>
          <p:cNvSpPr>
            <a:spLocks noChangeShapeType="1"/>
          </p:cNvSpPr>
          <p:nvPr/>
        </p:nvSpPr>
        <p:spPr bwMode="auto">
          <a:xfrm>
            <a:off x="6084888" y="21336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1" name="Line 31">
            <a:extLst>
              <a:ext uri="{FF2B5EF4-FFF2-40B4-BE49-F238E27FC236}">
                <a16:creationId xmlns:a16="http://schemas.microsoft.com/office/drawing/2014/main" id="{A35BC715-C17E-D25A-9611-A38A6D243BE2}"/>
              </a:ext>
            </a:extLst>
          </p:cNvPr>
          <p:cNvSpPr>
            <a:spLocks noChangeShapeType="1"/>
          </p:cNvSpPr>
          <p:nvPr/>
        </p:nvSpPr>
        <p:spPr bwMode="auto">
          <a:xfrm>
            <a:off x="6732588" y="21336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2" name="Line 32">
            <a:extLst>
              <a:ext uri="{FF2B5EF4-FFF2-40B4-BE49-F238E27FC236}">
                <a16:creationId xmlns:a16="http://schemas.microsoft.com/office/drawing/2014/main" id="{B170EABF-ADCD-3FC2-B9F7-DD089BD33CC3}"/>
              </a:ext>
            </a:extLst>
          </p:cNvPr>
          <p:cNvSpPr>
            <a:spLocks noChangeShapeType="1"/>
          </p:cNvSpPr>
          <p:nvPr/>
        </p:nvSpPr>
        <p:spPr bwMode="auto">
          <a:xfrm>
            <a:off x="7380288" y="21336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3" name="Line 33">
            <a:extLst>
              <a:ext uri="{FF2B5EF4-FFF2-40B4-BE49-F238E27FC236}">
                <a16:creationId xmlns:a16="http://schemas.microsoft.com/office/drawing/2014/main" id="{5D237728-A264-1642-188E-ED0B8A72E19B}"/>
              </a:ext>
            </a:extLst>
          </p:cNvPr>
          <p:cNvSpPr>
            <a:spLocks noChangeShapeType="1"/>
          </p:cNvSpPr>
          <p:nvPr/>
        </p:nvSpPr>
        <p:spPr bwMode="auto">
          <a:xfrm>
            <a:off x="6732588" y="2924175"/>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4" name="Line 34">
            <a:extLst>
              <a:ext uri="{FF2B5EF4-FFF2-40B4-BE49-F238E27FC236}">
                <a16:creationId xmlns:a16="http://schemas.microsoft.com/office/drawing/2014/main" id="{F077E413-8FE4-EF90-AEC5-68C4E3237E4C}"/>
              </a:ext>
            </a:extLst>
          </p:cNvPr>
          <p:cNvSpPr>
            <a:spLocks noChangeShapeType="1"/>
          </p:cNvSpPr>
          <p:nvPr/>
        </p:nvSpPr>
        <p:spPr bwMode="auto">
          <a:xfrm>
            <a:off x="6300788" y="3213100"/>
            <a:ext cx="863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5" name="Line 35">
            <a:extLst>
              <a:ext uri="{FF2B5EF4-FFF2-40B4-BE49-F238E27FC236}">
                <a16:creationId xmlns:a16="http://schemas.microsoft.com/office/drawing/2014/main" id="{ADA74B86-6407-DBAE-C054-2E8360F2C85C}"/>
              </a:ext>
            </a:extLst>
          </p:cNvPr>
          <p:cNvSpPr>
            <a:spLocks noChangeShapeType="1"/>
          </p:cNvSpPr>
          <p:nvPr/>
        </p:nvSpPr>
        <p:spPr bwMode="auto">
          <a:xfrm>
            <a:off x="6732588" y="3500438"/>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6" name="Line 36">
            <a:extLst>
              <a:ext uri="{FF2B5EF4-FFF2-40B4-BE49-F238E27FC236}">
                <a16:creationId xmlns:a16="http://schemas.microsoft.com/office/drawing/2014/main" id="{5F1B51C5-0D2D-7277-F863-1F39C0D2004D}"/>
              </a:ext>
            </a:extLst>
          </p:cNvPr>
          <p:cNvSpPr>
            <a:spLocks noChangeShapeType="1"/>
          </p:cNvSpPr>
          <p:nvPr/>
        </p:nvSpPr>
        <p:spPr bwMode="auto">
          <a:xfrm>
            <a:off x="7380288" y="3213100"/>
            <a:ext cx="7921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7" name="Line 37">
            <a:extLst>
              <a:ext uri="{FF2B5EF4-FFF2-40B4-BE49-F238E27FC236}">
                <a16:creationId xmlns:a16="http://schemas.microsoft.com/office/drawing/2014/main" id="{50AD7ED3-D330-B0CF-6944-6DE1563ED5BF}"/>
              </a:ext>
            </a:extLst>
          </p:cNvPr>
          <p:cNvSpPr>
            <a:spLocks noChangeShapeType="1"/>
          </p:cNvSpPr>
          <p:nvPr/>
        </p:nvSpPr>
        <p:spPr bwMode="auto">
          <a:xfrm>
            <a:off x="6732588" y="29241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8" name="Line 38">
            <a:extLst>
              <a:ext uri="{FF2B5EF4-FFF2-40B4-BE49-F238E27FC236}">
                <a16:creationId xmlns:a16="http://schemas.microsoft.com/office/drawing/2014/main" id="{44860A84-9FC2-BC3B-3D1F-97D6BB6E9AF9}"/>
              </a:ext>
            </a:extLst>
          </p:cNvPr>
          <p:cNvSpPr>
            <a:spLocks noChangeShapeType="1"/>
          </p:cNvSpPr>
          <p:nvPr/>
        </p:nvSpPr>
        <p:spPr bwMode="auto">
          <a:xfrm>
            <a:off x="7380288" y="2924175"/>
            <a:ext cx="3603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59" name="Line 39">
            <a:extLst>
              <a:ext uri="{FF2B5EF4-FFF2-40B4-BE49-F238E27FC236}">
                <a16:creationId xmlns:a16="http://schemas.microsoft.com/office/drawing/2014/main" id="{AC231970-5906-736F-CD7C-9E151BDCA59B}"/>
              </a:ext>
            </a:extLst>
          </p:cNvPr>
          <p:cNvSpPr>
            <a:spLocks noChangeShapeType="1"/>
          </p:cNvSpPr>
          <p:nvPr/>
        </p:nvSpPr>
        <p:spPr bwMode="auto">
          <a:xfrm>
            <a:off x="7380288" y="3500438"/>
            <a:ext cx="3603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60" name="Line 40">
            <a:extLst>
              <a:ext uri="{FF2B5EF4-FFF2-40B4-BE49-F238E27FC236}">
                <a16:creationId xmlns:a16="http://schemas.microsoft.com/office/drawing/2014/main" id="{E56F26B2-6336-006D-EB17-A3AAA47965CE}"/>
              </a:ext>
            </a:extLst>
          </p:cNvPr>
          <p:cNvSpPr>
            <a:spLocks noChangeShapeType="1"/>
          </p:cNvSpPr>
          <p:nvPr/>
        </p:nvSpPr>
        <p:spPr bwMode="auto">
          <a:xfrm>
            <a:off x="7740650" y="29241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61" name="Line 41">
            <a:extLst>
              <a:ext uri="{FF2B5EF4-FFF2-40B4-BE49-F238E27FC236}">
                <a16:creationId xmlns:a16="http://schemas.microsoft.com/office/drawing/2014/main" id="{3BD95E2E-D69D-3D19-A498-85F891DE53F4}"/>
              </a:ext>
            </a:extLst>
          </p:cNvPr>
          <p:cNvSpPr>
            <a:spLocks noChangeShapeType="1"/>
          </p:cNvSpPr>
          <p:nvPr/>
        </p:nvSpPr>
        <p:spPr bwMode="auto">
          <a:xfrm>
            <a:off x="8027988" y="2133600"/>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62" name="Text Box 42">
            <a:extLst>
              <a:ext uri="{FF2B5EF4-FFF2-40B4-BE49-F238E27FC236}">
                <a16:creationId xmlns:a16="http://schemas.microsoft.com/office/drawing/2014/main" id="{1E7740B0-75E7-F17D-6AE7-AC91D3E38D59}"/>
              </a:ext>
            </a:extLst>
          </p:cNvPr>
          <p:cNvSpPr txBox="1">
            <a:spLocks noChangeArrowheads="1"/>
          </p:cNvSpPr>
          <p:nvPr/>
        </p:nvSpPr>
        <p:spPr bwMode="auto">
          <a:xfrm>
            <a:off x="3492500" y="765175"/>
            <a:ext cx="237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部门划分方法的比较</a:t>
            </a:r>
          </a:p>
        </p:txBody>
      </p:sp>
      <p:graphicFrame>
        <p:nvGraphicFramePr>
          <p:cNvPr id="81963" name="Group 43">
            <a:extLst>
              <a:ext uri="{FF2B5EF4-FFF2-40B4-BE49-F238E27FC236}">
                <a16:creationId xmlns:a16="http://schemas.microsoft.com/office/drawing/2014/main" id="{8780F499-FC71-D141-7D15-52DD339B520A}"/>
              </a:ext>
            </a:extLst>
          </p:cNvPr>
          <p:cNvGraphicFramePr>
            <a:graphicFrameLocks noGrp="1"/>
          </p:cNvGraphicFramePr>
          <p:nvPr>
            <p:ph sz="half" idx="4294967295"/>
          </p:nvPr>
        </p:nvGraphicFramePr>
        <p:xfrm>
          <a:off x="395288" y="3789363"/>
          <a:ext cx="8280400" cy="1835150"/>
        </p:xfrm>
        <a:graphic>
          <a:graphicData uri="http://schemas.openxmlformats.org/drawingml/2006/table">
            <a:tbl>
              <a:tblPr/>
              <a:tblGrid>
                <a:gridCol w="3168650">
                  <a:extLst>
                    <a:ext uri="{9D8B030D-6E8A-4147-A177-3AD203B41FA5}">
                      <a16:colId xmlns:a16="http://schemas.microsoft.com/office/drawing/2014/main" val="3651929522"/>
                    </a:ext>
                  </a:extLst>
                </a:gridCol>
                <a:gridCol w="2520950">
                  <a:extLst>
                    <a:ext uri="{9D8B030D-6E8A-4147-A177-3AD203B41FA5}">
                      <a16:colId xmlns:a16="http://schemas.microsoft.com/office/drawing/2014/main" val="2889508469"/>
                    </a:ext>
                  </a:extLst>
                </a:gridCol>
                <a:gridCol w="2590800">
                  <a:extLst>
                    <a:ext uri="{9D8B030D-6E8A-4147-A177-3AD203B41FA5}">
                      <a16:colId xmlns:a16="http://schemas.microsoft.com/office/drawing/2014/main" val="3059330264"/>
                    </a:ext>
                  </a:extLst>
                </a:gridCol>
              </a:tblGrid>
              <a:tr h="2778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选择部门划分方法的原则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过程导向</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目的导向</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2658600"/>
                  </a:ext>
                </a:extLst>
              </a:tr>
              <a:tr h="2825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业务的差异化程度和业务量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无差异或业务量小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有差异且业务量大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9489271"/>
                  </a:ext>
                </a:extLst>
              </a:tr>
              <a:tr h="3746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对效率或反应的要求</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效率优先</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反应优先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39169241"/>
                  </a:ext>
                </a:extLst>
              </a:tr>
              <a:tr h="3349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需要完成的任务的性质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例行业务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新颖业务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7037769"/>
                  </a:ext>
                </a:extLst>
              </a:tr>
              <a:tr h="3476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外部环境的性质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不确定程度低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不确定程度高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3717265"/>
                  </a:ext>
                </a:extLst>
              </a:tr>
            </a:tbl>
          </a:graphicData>
        </a:graphic>
      </p:graphicFrame>
      <p:sp>
        <p:nvSpPr>
          <p:cNvPr id="81989" name="Rectangle 69">
            <a:extLst>
              <a:ext uri="{FF2B5EF4-FFF2-40B4-BE49-F238E27FC236}">
                <a16:creationId xmlns:a16="http://schemas.microsoft.com/office/drawing/2014/main" id="{370AF330-EC3C-332B-ED29-17EA7EF2F580}"/>
              </a:ext>
            </a:extLst>
          </p:cNvPr>
          <p:cNvSpPr>
            <a:spLocks noChangeArrowheads="1"/>
          </p:cNvSpPr>
          <p:nvPr/>
        </p:nvSpPr>
        <p:spPr bwMode="auto">
          <a:xfrm>
            <a:off x="179388" y="188913"/>
            <a:ext cx="1279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7.4</a:t>
            </a:r>
            <a:r>
              <a:rPr kumimoji="0" lang="zh-CN" altLang="en-US" sz="1600">
                <a:latin typeface="Arial" panose="020B0604020202020204" pitchFamily="34" charset="0"/>
              </a:rPr>
              <a:t>部门划分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3BF05D1-A1B3-61FE-1B2E-1B116FB78B02}"/>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A0218709-087E-6F86-C4A7-D1772979EE52}"/>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5B48E2CB-D4D7-F01F-F082-513916ABE0D3}"/>
              </a:ext>
            </a:extLst>
          </p:cNvPr>
          <p:cNvSpPr>
            <a:spLocks noGrp="1"/>
          </p:cNvSpPr>
          <p:nvPr>
            <p:ph type="sldNum" sz="quarter" idx="12"/>
          </p:nvPr>
        </p:nvSpPr>
        <p:spPr/>
        <p:txBody>
          <a:bodyPr/>
          <a:lstStyle/>
          <a:p>
            <a:fld id="{35FD753C-A476-49BF-B859-7BB2E12F3C87}" type="slidenum">
              <a:rPr lang="en-US" altLang="zh-CN"/>
              <a:pPr/>
              <a:t>16</a:t>
            </a:fld>
            <a:endParaRPr lang="en-US" altLang="zh-CN"/>
          </a:p>
        </p:txBody>
      </p:sp>
      <p:sp>
        <p:nvSpPr>
          <p:cNvPr id="83970" name="Rectangle 2">
            <a:extLst>
              <a:ext uri="{FF2B5EF4-FFF2-40B4-BE49-F238E27FC236}">
                <a16:creationId xmlns:a16="http://schemas.microsoft.com/office/drawing/2014/main" id="{25C55197-EED7-D10B-3A40-F5B212C1FE76}"/>
              </a:ext>
            </a:extLst>
          </p:cNvPr>
          <p:cNvSpPr>
            <a:spLocks noChangeArrowheads="1"/>
          </p:cNvSpPr>
          <p:nvPr/>
        </p:nvSpPr>
        <p:spPr bwMode="auto">
          <a:xfrm>
            <a:off x="3059113" y="1628775"/>
            <a:ext cx="1079500"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工程</a:t>
            </a:r>
          </a:p>
        </p:txBody>
      </p:sp>
      <p:sp>
        <p:nvSpPr>
          <p:cNvPr id="83971" name="Rectangle 3">
            <a:extLst>
              <a:ext uri="{FF2B5EF4-FFF2-40B4-BE49-F238E27FC236}">
                <a16:creationId xmlns:a16="http://schemas.microsoft.com/office/drawing/2014/main" id="{8A8CDCD9-F652-2009-1BA7-D6B9D8B97E29}"/>
              </a:ext>
            </a:extLst>
          </p:cNvPr>
          <p:cNvSpPr>
            <a:spLocks noChangeArrowheads="1"/>
          </p:cNvSpPr>
          <p:nvPr/>
        </p:nvSpPr>
        <p:spPr bwMode="auto">
          <a:xfrm>
            <a:off x="4211638" y="1628775"/>
            <a:ext cx="1081087"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销售</a:t>
            </a:r>
          </a:p>
        </p:txBody>
      </p:sp>
      <p:sp>
        <p:nvSpPr>
          <p:cNvPr id="83972" name="Rectangle 4">
            <a:extLst>
              <a:ext uri="{FF2B5EF4-FFF2-40B4-BE49-F238E27FC236}">
                <a16:creationId xmlns:a16="http://schemas.microsoft.com/office/drawing/2014/main" id="{732922DC-1AEF-D146-3D13-7DA2D191C7B3}"/>
              </a:ext>
            </a:extLst>
          </p:cNvPr>
          <p:cNvSpPr>
            <a:spLocks noChangeArrowheads="1"/>
          </p:cNvSpPr>
          <p:nvPr/>
        </p:nvSpPr>
        <p:spPr bwMode="auto">
          <a:xfrm>
            <a:off x="5364163" y="1628775"/>
            <a:ext cx="1079500"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产品设计</a:t>
            </a:r>
          </a:p>
        </p:txBody>
      </p:sp>
      <p:sp>
        <p:nvSpPr>
          <p:cNvPr id="83973" name="Rectangle 5">
            <a:extLst>
              <a:ext uri="{FF2B5EF4-FFF2-40B4-BE49-F238E27FC236}">
                <a16:creationId xmlns:a16="http://schemas.microsoft.com/office/drawing/2014/main" id="{11C3DD60-3AEB-5D27-2103-C888E5984EC7}"/>
              </a:ext>
            </a:extLst>
          </p:cNvPr>
          <p:cNvSpPr>
            <a:spLocks noChangeArrowheads="1"/>
          </p:cNvSpPr>
          <p:nvPr/>
        </p:nvSpPr>
        <p:spPr bwMode="auto">
          <a:xfrm>
            <a:off x="6516688" y="1628775"/>
            <a:ext cx="1079500"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研发</a:t>
            </a:r>
          </a:p>
        </p:txBody>
      </p:sp>
      <p:sp>
        <p:nvSpPr>
          <p:cNvPr id="83974" name="Rectangle 6">
            <a:extLst>
              <a:ext uri="{FF2B5EF4-FFF2-40B4-BE49-F238E27FC236}">
                <a16:creationId xmlns:a16="http://schemas.microsoft.com/office/drawing/2014/main" id="{795FEFDF-9726-F226-13B2-2627F1E8AA18}"/>
              </a:ext>
            </a:extLst>
          </p:cNvPr>
          <p:cNvSpPr>
            <a:spLocks noChangeArrowheads="1"/>
          </p:cNvSpPr>
          <p:nvPr/>
        </p:nvSpPr>
        <p:spPr bwMode="auto">
          <a:xfrm>
            <a:off x="7667625" y="1628775"/>
            <a:ext cx="1079500"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制造</a:t>
            </a:r>
          </a:p>
        </p:txBody>
      </p:sp>
      <p:sp>
        <p:nvSpPr>
          <p:cNvPr id="83975" name="Rectangle 7">
            <a:extLst>
              <a:ext uri="{FF2B5EF4-FFF2-40B4-BE49-F238E27FC236}">
                <a16:creationId xmlns:a16="http://schemas.microsoft.com/office/drawing/2014/main" id="{FB56A2EB-B140-26A3-C7AE-40DBEF6D67C8}"/>
              </a:ext>
            </a:extLst>
          </p:cNvPr>
          <p:cNvSpPr>
            <a:spLocks noChangeArrowheads="1"/>
          </p:cNvSpPr>
          <p:nvPr/>
        </p:nvSpPr>
        <p:spPr bwMode="auto">
          <a:xfrm>
            <a:off x="1835150" y="4149725"/>
            <a:ext cx="1152525"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产品小组</a:t>
            </a:r>
            <a:r>
              <a:rPr kumimoji="0" lang="en-US" altLang="zh-CN" sz="1800">
                <a:latin typeface="Arial" panose="020B0604020202020204" pitchFamily="34" charset="0"/>
              </a:rPr>
              <a:t>D</a:t>
            </a:r>
          </a:p>
        </p:txBody>
      </p:sp>
      <p:sp>
        <p:nvSpPr>
          <p:cNvPr id="83976" name="Rectangle 8">
            <a:extLst>
              <a:ext uri="{FF2B5EF4-FFF2-40B4-BE49-F238E27FC236}">
                <a16:creationId xmlns:a16="http://schemas.microsoft.com/office/drawing/2014/main" id="{1C64991A-46A7-A43C-DE0D-36440151A216}"/>
              </a:ext>
            </a:extLst>
          </p:cNvPr>
          <p:cNvSpPr>
            <a:spLocks noChangeArrowheads="1"/>
          </p:cNvSpPr>
          <p:nvPr/>
        </p:nvSpPr>
        <p:spPr bwMode="auto">
          <a:xfrm>
            <a:off x="1835150" y="3573463"/>
            <a:ext cx="1152525"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产品小组</a:t>
            </a:r>
            <a:r>
              <a:rPr kumimoji="0" lang="en-US" altLang="zh-CN" sz="1800">
                <a:latin typeface="Arial" panose="020B0604020202020204" pitchFamily="34" charset="0"/>
              </a:rPr>
              <a:t>C</a:t>
            </a:r>
          </a:p>
        </p:txBody>
      </p:sp>
      <p:sp>
        <p:nvSpPr>
          <p:cNvPr id="83977" name="Rectangle 9">
            <a:extLst>
              <a:ext uri="{FF2B5EF4-FFF2-40B4-BE49-F238E27FC236}">
                <a16:creationId xmlns:a16="http://schemas.microsoft.com/office/drawing/2014/main" id="{64F692BA-A920-726C-83E7-0593C42E480E}"/>
              </a:ext>
            </a:extLst>
          </p:cNvPr>
          <p:cNvSpPr>
            <a:spLocks noChangeArrowheads="1"/>
          </p:cNvSpPr>
          <p:nvPr/>
        </p:nvSpPr>
        <p:spPr bwMode="auto">
          <a:xfrm>
            <a:off x="1835150" y="2997200"/>
            <a:ext cx="1152525"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产品小组</a:t>
            </a:r>
            <a:r>
              <a:rPr kumimoji="0" lang="en-US" altLang="zh-CN" sz="1800">
                <a:latin typeface="Arial" panose="020B0604020202020204" pitchFamily="34" charset="0"/>
              </a:rPr>
              <a:t>B</a:t>
            </a:r>
          </a:p>
        </p:txBody>
      </p:sp>
      <p:sp>
        <p:nvSpPr>
          <p:cNvPr id="83978" name="Rectangle 10">
            <a:extLst>
              <a:ext uri="{FF2B5EF4-FFF2-40B4-BE49-F238E27FC236}">
                <a16:creationId xmlns:a16="http://schemas.microsoft.com/office/drawing/2014/main" id="{90BEB615-C202-1BBC-1EF0-ED298367B23B}"/>
              </a:ext>
            </a:extLst>
          </p:cNvPr>
          <p:cNvSpPr>
            <a:spLocks noChangeArrowheads="1"/>
          </p:cNvSpPr>
          <p:nvPr/>
        </p:nvSpPr>
        <p:spPr bwMode="auto">
          <a:xfrm>
            <a:off x="1835150" y="2420938"/>
            <a:ext cx="1152525" cy="5048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产品小组</a:t>
            </a:r>
            <a:r>
              <a:rPr kumimoji="0" lang="en-US" altLang="zh-CN" sz="1800">
                <a:latin typeface="Arial" panose="020B0604020202020204" pitchFamily="34" charset="0"/>
              </a:rPr>
              <a:t>A</a:t>
            </a:r>
          </a:p>
        </p:txBody>
      </p:sp>
      <p:sp>
        <p:nvSpPr>
          <p:cNvPr id="83979" name="Rectangle 11">
            <a:extLst>
              <a:ext uri="{FF2B5EF4-FFF2-40B4-BE49-F238E27FC236}">
                <a16:creationId xmlns:a16="http://schemas.microsoft.com/office/drawing/2014/main" id="{5F66BE82-A94D-3A79-4843-F2ADA58E1432}"/>
              </a:ext>
            </a:extLst>
          </p:cNvPr>
          <p:cNvSpPr>
            <a:spLocks noChangeArrowheads="1"/>
          </p:cNvSpPr>
          <p:nvPr/>
        </p:nvSpPr>
        <p:spPr bwMode="auto">
          <a:xfrm>
            <a:off x="1835150" y="1268413"/>
            <a:ext cx="1079500" cy="503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zh-CN" altLang="en-US" sz="1800">
                <a:latin typeface="Arial" panose="020B0604020202020204" pitchFamily="34" charset="0"/>
              </a:rPr>
              <a:t>总经理</a:t>
            </a:r>
          </a:p>
        </p:txBody>
      </p:sp>
      <p:sp>
        <p:nvSpPr>
          <p:cNvPr id="83980" name="Line 12">
            <a:extLst>
              <a:ext uri="{FF2B5EF4-FFF2-40B4-BE49-F238E27FC236}">
                <a16:creationId xmlns:a16="http://schemas.microsoft.com/office/drawing/2014/main" id="{B7F7E232-A3E0-C154-274C-8FBF040B50E3}"/>
              </a:ext>
            </a:extLst>
          </p:cNvPr>
          <p:cNvSpPr>
            <a:spLocks noChangeShapeType="1"/>
          </p:cNvSpPr>
          <p:nvPr/>
        </p:nvSpPr>
        <p:spPr bwMode="auto">
          <a:xfrm>
            <a:off x="2916238" y="1484313"/>
            <a:ext cx="5256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1" name="Line 13">
            <a:extLst>
              <a:ext uri="{FF2B5EF4-FFF2-40B4-BE49-F238E27FC236}">
                <a16:creationId xmlns:a16="http://schemas.microsoft.com/office/drawing/2014/main" id="{7F4CC816-2B3B-F44A-9AB3-F907674C1CB4}"/>
              </a:ext>
            </a:extLst>
          </p:cNvPr>
          <p:cNvSpPr>
            <a:spLocks noChangeShapeType="1"/>
          </p:cNvSpPr>
          <p:nvPr/>
        </p:nvSpPr>
        <p:spPr bwMode="auto">
          <a:xfrm>
            <a:off x="1619250" y="1484313"/>
            <a:ext cx="0" cy="2881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2" name="Line 14">
            <a:extLst>
              <a:ext uri="{FF2B5EF4-FFF2-40B4-BE49-F238E27FC236}">
                <a16:creationId xmlns:a16="http://schemas.microsoft.com/office/drawing/2014/main" id="{45DFFE1D-69A9-1FB2-7942-50B3EB97A77B}"/>
              </a:ext>
            </a:extLst>
          </p:cNvPr>
          <p:cNvSpPr>
            <a:spLocks noChangeShapeType="1"/>
          </p:cNvSpPr>
          <p:nvPr/>
        </p:nvSpPr>
        <p:spPr bwMode="auto">
          <a:xfrm>
            <a:off x="1619250" y="2636838"/>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3" name="Line 15">
            <a:extLst>
              <a:ext uri="{FF2B5EF4-FFF2-40B4-BE49-F238E27FC236}">
                <a16:creationId xmlns:a16="http://schemas.microsoft.com/office/drawing/2014/main" id="{7BCF4646-224F-2DEB-F129-5B65B1B0EBC2}"/>
              </a:ext>
            </a:extLst>
          </p:cNvPr>
          <p:cNvSpPr>
            <a:spLocks noChangeShapeType="1"/>
          </p:cNvSpPr>
          <p:nvPr/>
        </p:nvSpPr>
        <p:spPr bwMode="auto">
          <a:xfrm>
            <a:off x="1619250" y="32131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4" name="Line 16">
            <a:extLst>
              <a:ext uri="{FF2B5EF4-FFF2-40B4-BE49-F238E27FC236}">
                <a16:creationId xmlns:a16="http://schemas.microsoft.com/office/drawing/2014/main" id="{34786CD9-4A2C-1D18-3313-C010F095A9E2}"/>
              </a:ext>
            </a:extLst>
          </p:cNvPr>
          <p:cNvSpPr>
            <a:spLocks noChangeShapeType="1"/>
          </p:cNvSpPr>
          <p:nvPr/>
        </p:nvSpPr>
        <p:spPr bwMode="auto">
          <a:xfrm>
            <a:off x="1619250" y="38608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5" name="Line 17">
            <a:extLst>
              <a:ext uri="{FF2B5EF4-FFF2-40B4-BE49-F238E27FC236}">
                <a16:creationId xmlns:a16="http://schemas.microsoft.com/office/drawing/2014/main" id="{878634B4-BEA7-9997-C5B5-4AD032BA9907}"/>
              </a:ext>
            </a:extLst>
          </p:cNvPr>
          <p:cNvSpPr>
            <a:spLocks noChangeShapeType="1"/>
          </p:cNvSpPr>
          <p:nvPr/>
        </p:nvSpPr>
        <p:spPr bwMode="auto">
          <a:xfrm>
            <a:off x="1619250" y="4365625"/>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6" name="Line 18">
            <a:extLst>
              <a:ext uri="{FF2B5EF4-FFF2-40B4-BE49-F238E27FC236}">
                <a16:creationId xmlns:a16="http://schemas.microsoft.com/office/drawing/2014/main" id="{BC143B75-431C-3B30-6F83-30D32875A417}"/>
              </a:ext>
            </a:extLst>
          </p:cNvPr>
          <p:cNvSpPr>
            <a:spLocks noChangeShapeType="1"/>
          </p:cNvSpPr>
          <p:nvPr/>
        </p:nvSpPr>
        <p:spPr bwMode="auto">
          <a:xfrm>
            <a:off x="3563938"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7" name="Line 19">
            <a:extLst>
              <a:ext uri="{FF2B5EF4-FFF2-40B4-BE49-F238E27FC236}">
                <a16:creationId xmlns:a16="http://schemas.microsoft.com/office/drawing/2014/main" id="{D191916E-56F0-CCD0-0A28-C0FDF2E1DB2A}"/>
              </a:ext>
            </a:extLst>
          </p:cNvPr>
          <p:cNvSpPr>
            <a:spLocks noChangeShapeType="1"/>
          </p:cNvSpPr>
          <p:nvPr/>
        </p:nvSpPr>
        <p:spPr bwMode="auto">
          <a:xfrm>
            <a:off x="8172450"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8" name="Line 20">
            <a:extLst>
              <a:ext uri="{FF2B5EF4-FFF2-40B4-BE49-F238E27FC236}">
                <a16:creationId xmlns:a16="http://schemas.microsoft.com/office/drawing/2014/main" id="{65AB1BF8-82FA-1C06-AB08-FA7D9859A71B}"/>
              </a:ext>
            </a:extLst>
          </p:cNvPr>
          <p:cNvSpPr>
            <a:spLocks noChangeShapeType="1"/>
          </p:cNvSpPr>
          <p:nvPr/>
        </p:nvSpPr>
        <p:spPr bwMode="auto">
          <a:xfrm>
            <a:off x="4787900"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9" name="Line 21">
            <a:extLst>
              <a:ext uri="{FF2B5EF4-FFF2-40B4-BE49-F238E27FC236}">
                <a16:creationId xmlns:a16="http://schemas.microsoft.com/office/drawing/2014/main" id="{62E45719-BF07-B2E4-464B-A76AE35A6F98}"/>
              </a:ext>
            </a:extLst>
          </p:cNvPr>
          <p:cNvSpPr>
            <a:spLocks noChangeShapeType="1"/>
          </p:cNvSpPr>
          <p:nvPr/>
        </p:nvSpPr>
        <p:spPr bwMode="auto">
          <a:xfrm>
            <a:off x="5940425"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0" name="Line 22">
            <a:extLst>
              <a:ext uri="{FF2B5EF4-FFF2-40B4-BE49-F238E27FC236}">
                <a16:creationId xmlns:a16="http://schemas.microsoft.com/office/drawing/2014/main" id="{77AF89BE-221E-6572-6527-B72FB87BAED5}"/>
              </a:ext>
            </a:extLst>
          </p:cNvPr>
          <p:cNvSpPr>
            <a:spLocks noChangeShapeType="1"/>
          </p:cNvSpPr>
          <p:nvPr/>
        </p:nvSpPr>
        <p:spPr bwMode="auto">
          <a:xfrm>
            <a:off x="7019925" y="1484313"/>
            <a:ext cx="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1" name="Line 23">
            <a:extLst>
              <a:ext uri="{FF2B5EF4-FFF2-40B4-BE49-F238E27FC236}">
                <a16:creationId xmlns:a16="http://schemas.microsoft.com/office/drawing/2014/main" id="{BB6072D0-2388-9BAA-512F-1C035DEB51F0}"/>
              </a:ext>
            </a:extLst>
          </p:cNvPr>
          <p:cNvSpPr>
            <a:spLocks noChangeShapeType="1"/>
          </p:cNvSpPr>
          <p:nvPr/>
        </p:nvSpPr>
        <p:spPr bwMode="auto">
          <a:xfrm>
            <a:off x="2987675" y="2636838"/>
            <a:ext cx="51847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2" name="Line 24">
            <a:extLst>
              <a:ext uri="{FF2B5EF4-FFF2-40B4-BE49-F238E27FC236}">
                <a16:creationId xmlns:a16="http://schemas.microsoft.com/office/drawing/2014/main" id="{B9911666-2EBB-7E0A-6EED-BC95EFCA7B42}"/>
              </a:ext>
            </a:extLst>
          </p:cNvPr>
          <p:cNvSpPr>
            <a:spLocks noChangeShapeType="1"/>
          </p:cNvSpPr>
          <p:nvPr/>
        </p:nvSpPr>
        <p:spPr bwMode="auto">
          <a:xfrm>
            <a:off x="2987675" y="3213100"/>
            <a:ext cx="51847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3" name="Line 25">
            <a:extLst>
              <a:ext uri="{FF2B5EF4-FFF2-40B4-BE49-F238E27FC236}">
                <a16:creationId xmlns:a16="http://schemas.microsoft.com/office/drawing/2014/main" id="{8145BD41-105F-951A-D84C-3C8CB3AF06A9}"/>
              </a:ext>
            </a:extLst>
          </p:cNvPr>
          <p:cNvSpPr>
            <a:spLocks noChangeShapeType="1"/>
          </p:cNvSpPr>
          <p:nvPr/>
        </p:nvSpPr>
        <p:spPr bwMode="auto">
          <a:xfrm>
            <a:off x="2987675" y="3789363"/>
            <a:ext cx="51847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4" name="Line 26">
            <a:extLst>
              <a:ext uri="{FF2B5EF4-FFF2-40B4-BE49-F238E27FC236}">
                <a16:creationId xmlns:a16="http://schemas.microsoft.com/office/drawing/2014/main" id="{BD0C5B8C-E08D-0795-8A9E-C4C0A628D79B}"/>
              </a:ext>
            </a:extLst>
          </p:cNvPr>
          <p:cNvSpPr>
            <a:spLocks noChangeShapeType="1"/>
          </p:cNvSpPr>
          <p:nvPr/>
        </p:nvSpPr>
        <p:spPr bwMode="auto">
          <a:xfrm>
            <a:off x="2987675" y="4365625"/>
            <a:ext cx="51847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5" name="Line 27">
            <a:extLst>
              <a:ext uri="{FF2B5EF4-FFF2-40B4-BE49-F238E27FC236}">
                <a16:creationId xmlns:a16="http://schemas.microsoft.com/office/drawing/2014/main" id="{ADC6B084-D8E4-30AF-944F-A935500D5BB9}"/>
              </a:ext>
            </a:extLst>
          </p:cNvPr>
          <p:cNvSpPr>
            <a:spLocks noChangeShapeType="1"/>
          </p:cNvSpPr>
          <p:nvPr/>
        </p:nvSpPr>
        <p:spPr bwMode="auto">
          <a:xfrm>
            <a:off x="3563938" y="2133600"/>
            <a:ext cx="0" cy="2232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6" name="Line 28">
            <a:extLst>
              <a:ext uri="{FF2B5EF4-FFF2-40B4-BE49-F238E27FC236}">
                <a16:creationId xmlns:a16="http://schemas.microsoft.com/office/drawing/2014/main" id="{602800EA-4520-2070-2674-6C8A77D964C3}"/>
              </a:ext>
            </a:extLst>
          </p:cNvPr>
          <p:cNvSpPr>
            <a:spLocks noChangeShapeType="1"/>
          </p:cNvSpPr>
          <p:nvPr/>
        </p:nvSpPr>
        <p:spPr bwMode="auto">
          <a:xfrm>
            <a:off x="4787900" y="2133600"/>
            <a:ext cx="0" cy="2232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7" name="Line 29">
            <a:extLst>
              <a:ext uri="{FF2B5EF4-FFF2-40B4-BE49-F238E27FC236}">
                <a16:creationId xmlns:a16="http://schemas.microsoft.com/office/drawing/2014/main" id="{869A6709-23FB-B037-73F6-406D32999865}"/>
              </a:ext>
            </a:extLst>
          </p:cNvPr>
          <p:cNvSpPr>
            <a:spLocks noChangeShapeType="1"/>
          </p:cNvSpPr>
          <p:nvPr/>
        </p:nvSpPr>
        <p:spPr bwMode="auto">
          <a:xfrm>
            <a:off x="5940425" y="2133600"/>
            <a:ext cx="0" cy="2232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8" name="Line 30">
            <a:extLst>
              <a:ext uri="{FF2B5EF4-FFF2-40B4-BE49-F238E27FC236}">
                <a16:creationId xmlns:a16="http://schemas.microsoft.com/office/drawing/2014/main" id="{85992D6F-5F0D-979E-4B0A-9D7BB9FB281A}"/>
              </a:ext>
            </a:extLst>
          </p:cNvPr>
          <p:cNvSpPr>
            <a:spLocks noChangeShapeType="1"/>
          </p:cNvSpPr>
          <p:nvPr/>
        </p:nvSpPr>
        <p:spPr bwMode="auto">
          <a:xfrm>
            <a:off x="7019925" y="2133600"/>
            <a:ext cx="0" cy="2232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9" name="Line 31">
            <a:extLst>
              <a:ext uri="{FF2B5EF4-FFF2-40B4-BE49-F238E27FC236}">
                <a16:creationId xmlns:a16="http://schemas.microsoft.com/office/drawing/2014/main" id="{5E6B42C7-7057-1E85-32F0-9286A2AD780B}"/>
              </a:ext>
            </a:extLst>
          </p:cNvPr>
          <p:cNvSpPr>
            <a:spLocks noChangeShapeType="1"/>
          </p:cNvSpPr>
          <p:nvPr/>
        </p:nvSpPr>
        <p:spPr bwMode="auto">
          <a:xfrm>
            <a:off x="8172450" y="2133600"/>
            <a:ext cx="0" cy="2232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00" name="Oval 32">
            <a:extLst>
              <a:ext uri="{FF2B5EF4-FFF2-40B4-BE49-F238E27FC236}">
                <a16:creationId xmlns:a16="http://schemas.microsoft.com/office/drawing/2014/main" id="{05AAA260-3D09-DFBE-DDC7-CC57F1C3B1B2}"/>
              </a:ext>
            </a:extLst>
          </p:cNvPr>
          <p:cNvSpPr>
            <a:spLocks noChangeArrowheads="1"/>
          </p:cNvSpPr>
          <p:nvPr/>
        </p:nvSpPr>
        <p:spPr bwMode="auto">
          <a:xfrm>
            <a:off x="4643438" y="4221163"/>
            <a:ext cx="287337"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1" name="Oval 33">
            <a:extLst>
              <a:ext uri="{FF2B5EF4-FFF2-40B4-BE49-F238E27FC236}">
                <a16:creationId xmlns:a16="http://schemas.microsoft.com/office/drawing/2014/main" id="{E08CF91A-3544-1B77-1F30-F4BEC7FC4734}"/>
              </a:ext>
            </a:extLst>
          </p:cNvPr>
          <p:cNvSpPr>
            <a:spLocks noChangeArrowheads="1"/>
          </p:cNvSpPr>
          <p:nvPr/>
        </p:nvSpPr>
        <p:spPr bwMode="auto">
          <a:xfrm>
            <a:off x="3419475" y="4221163"/>
            <a:ext cx="287338"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2" name="Oval 34">
            <a:extLst>
              <a:ext uri="{FF2B5EF4-FFF2-40B4-BE49-F238E27FC236}">
                <a16:creationId xmlns:a16="http://schemas.microsoft.com/office/drawing/2014/main" id="{D6CE5394-42B0-A550-4EE2-BA7D8294549B}"/>
              </a:ext>
            </a:extLst>
          </p:cNvPr>
          <p:cNvSpPr>
            <a:spLocks noChangeArrowheads="1"/>
          </p:cNvSpPr>
          <p:nvPr/>
        </p:nvSpPr>
        <p:spPr bwMode="auto">
          <a:xfrm>
            <a:off x="5795963" y="4221163"/>
            <a:ext cx="287337"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3" name="Oval 35">
            <a:extLst>
              <a:ext uri="{FF2B5EF4-FFF2-40B4-BE49-F238E27FC236}">
                <a16:creationId xmlns:a16="http://schemas.microsoft.com/office/drawing/2014/main" id="{1B87ECFC-185A-3EDB-3171-8CDE1A27151D}"/>
              </a:ext>
            </a:extLst>
          </p:cNvPr>
          <p:cNvSpPr>
            <a:spLocks noChangeArrowheads="1"/>
          </p:cNvSpPr>
          <p:nvPr/>
        </p:nvSpPr>
        <p:spPr bwMode="auto">
          <a:xfrm>
            <a:off x="6877050" y="4221163"/>
            <a:ext cx="287338"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4" name="Oval 36">
            <a:extLst>
              <a:ext uri="{FF2B5EF4-FFF2-40B4-BE49-F238E27FC236}">
                <a16:creationId xmlns:a16="http://schemas.microsoft.com/office/drawing/2014/main" id="{7E57729F-4C63-2CD1-C065-FB12992774ED}"/>
              </a:ext>
            </a:extLst>
          </p:cNvPr>
          <p:cNvSpPr>
            <a:spLocks noChangeArrowheads="1"/>
          </p:cNvSpPr>
          <p:nvPr/>
        </p:nvSpPr>
        <p:spPr bwMode="auto">
          <a:xfrm>
            <a:off x="8027988" y="4221163"/>
            <a:ext cx="287337"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5" name="Oval 37">
            <a:extLst>
              <a:ext uri="{FF2B5EF4-FFF2-40B4-BE49-F238E27FC236}">
                <a16:creationId xmlns:a16="http://schemas.microsoft.com/office/drawing/2014/main" id="{5C271824-2F53-59E5-603A-C3DC2B7900C0}"/>
              </a:ext>
            </a:extLst>
          </p:cNvPr>
          <p:cNvSpPr>
            <a:spLocks noChangeArrowheads="1"/>
          </p:cNvSpPr>
          <p:nvPr/>
        </p:nvSpPr>
        <p:spPr bwMode="auto">
          <a:xfrm>
            <a:off x="3419475" y="3644900"/>
            <a:ext cx="287338"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6" name="Oval 38">
            <a:extLst>
              <a:ext uri="{FF2B5EF4-FFF2-40B4-BE49-F238E27FC236}">
                <a16:creationId xmlns:a16="http://schemas.microsoft.com/office/drawing/2014/main" id="{39E388AF-C089-03F1-F073-8E21350995B4}"/>
              </a:ext>
            </a:extLst>
          </p:cNvPr>
          <p:cNvSpPr>
            <a:spLocks noChangeArrowheads="1"/>
          </p:cNvSpPr>
          <p:nvPr/>
        </p:nvSpPr>
        <p:spPr bwMode="auto">
          <a:xfrm>
            <a:off x="4643438" y="3644900"/>
            <a:ext cx="287337"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7" name="Oval 39">
            <a:extLst>
              <a:ext uri="{FF2B5EF4-FFF2-40B4-BE49-F238E27FC236}">
                <a16:creationId xmlns:a16="http://schemas.microsoft.com/office/drawing/2014/main" id="{78566DF8-4E39-9595-3832-A98192C2C117}"/>
              </a:ext>
            </a:extLst>
          </p:cNvPr>
          <p:cNvSpPr>
            <a:spLocks noChangeArrowheads="1"/>
          </p:cNvSpPr>
          <p:nvPr/>
        </p:nvSpPr>
        <p:spPr bwMode="auto">
          <a:xfrm>
            <a:off x="5795963" y="3644900"/>
            <a:ext cx="287337"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8" name="Oval 40">
            <a:extLst>
              <a:ext uri="{FF2B5EF4-FFF2-40B4-BE49-F238E27FC236}">
                <a16:creationId xmlns:a16="http://schemas.microsoft.com/office/drawing/2014/main" id="{C7A8D5D3-F1E3-7116-A905-3215A757B31F}"/>
              </a:ext>
            </a:extLst>
          </p:cNvPr>
          <p:cNvSpPr>
            <a:spLocks noChangeArrowheads="1"/>
          </p:cNvSpPr>
          <p:nvPr/>
        </p:nvSpPr>
        <p:spPr bwMode="auto">
          <a:xfrm>
            <a:off x="6877050" y="3644900"/>
            <a:ext cx="287338"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09" name="Oval 41">
            <a:extLst>
              <a:ext uri="{FF2B5EF4-FFF2-40B4-BE49-F238E27FC236}">
                <a16:creationId xmlns:a16="http://schemas.microsoft.com/office/drawing/2014/main" id="{4CA3064E-F144-8F0E-5427-9E887874D586}"/>
              </a:ext>
            </a:extLst>
          </p:cNvPr>
          <p:cNvSpPr>
            <a:spLocks noChangeArrowheads="1"/>
          </p:cNvSpPr>
          <p:nvPr/>
        </p:nvSpPr>
        <p:spPr bwMode="auto">
          <a:xfrm>
            <a:off x="8027988" y="3644900"/>
            <a:ext cx="287337"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0" name="Oval 42">
            <a:extLst>
              <a:ext uri="{FF2B5EF4-FFF2-40B4-BE49-F238E27FC236}">
                <a16:creationId xmlns:a16="http://schemas.microsoft.com/office/drawing/2014/main" id="{AC521093-1F2C-AA75-2042-75F61FEA0B06}"/>
              </a:ext>
            </a:extLst>
          </p:cNvPr>
          <p:cNvSpPr>
            <a:spLocks noChangeArrowheads="1"/>
          </p:cNvSpPr>
          <p:nvPr/>
        </p:nvSpPr>
        <p:spPr bwMode="auto">
          <a:xfrm>
            <a:off x="3419475" y="3068638"/>
            <a:ext cx="287338"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1" name="Oval 43">
            <a:extLst>
              <a:ext uri="{FF2B5EF4-FFF2-40B4-BE49-F238E27FC236}">
                <a16:creationId xmlns:a16="http://schemas.microsoft.com/office/drawing/2014/main" id="{0ADAFA5E-1323-265A-7C00-67805E884F3E}"/>
              </a:ext>
            </a:extLst>
          </p:cNvPr>
          <p:cNvSpPr>
            <a:spLocks noChangeArrowheads="1"/>
          </p:cNvSpPr>
          <p:nvPr/>
        </p:nvSpPr>
        <p:spPr bwMode="auto">
          <a:xfrm>
            <a:off x="4643438" y="3068638"/>
            <a:ext cx="287337"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2" name="Oval 44">
            <a:extLst>
              <a:ext uri="{FF2B5EF4-FFF2-40B4-BE49-F238E27FC236}">
                <a16:creationId xmlns:a16="http://schemas.microsoft.com/office/drawing/2014/main" id="{FB619ABF-8C0F-F6A6-7418-79E330AE98A1}"/>
              </a:ext>
            </a:extLst>
          </p:cNvPr>
          <p:cNvSpPr>
            <a:spLocks noChangeArrowheads="1"/>
          </p:cNvSpPr>
          <p:nvPr/>
        </p:nvSpPr>
        <p:spPr bwMode="auto">
          <a:xfrm>
            <a:off x="5795963" y="3068638"/>
            <a:ext cx="287337"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3" name="Oval 45">
            <a:extLst>
              <a:ext uri="{FF2B5EF4-FFF2-40B4-BE49-F238E27FC236}">
                <a16:creationId xmlns:a16="http://schemas.microsoft.com/office/drawing/2014/main" id="{23C94E34-D445-5E76-569D-3DE6F9BC9176}"/>
              </a:ext>
            </a:extLst>
          </p:cNvPr>
          <p:cNvSpPr>
            <a:spLocks noChangeArrowheads="1"/>
          </p:cNvSpPr>
          <p:nvPr/>
        </p:nvSpPr>
        <p:spPr bwMode="auto">
          <a:xfrm>
            <a:off x="6877050" y="3068638"/>
            <a:ext cx="287338"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4" name="Oval 46">
            <a:extLst>
              <a:ext uri="{FF2B5EF4-FFF2-40B4-BE49-F238E27FC236}">
                <a16:creationId xmlns:a16="http://schemas.microsoft.com/office/drawing/2014/main" id="{19E0C12E-82D5-533A-5650-7ED1834A3D67}"/>
              </a:ext>
            </a:extLst>
          </p:cNvPr>
          <p:cNvSpPr>
            <a:spLocks noChangeArrowheads="1"/>
          </p:cNvSpPr>
          <p:nvPr/>
        </p:nvSpPr>
        <p:spPr bwMode="auto">
          <a:xfrm>
            <a:off x="8027988" y="3068638"/>
            <a:ext cx="287337" cy="28733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5" name="Oval 47">
            <a:extLst>
              <a:ext uri="{FF2B5EF4-FFF2-40B4-BE49-F238E27FC236}">
                <a16:creationId xmlns:a16="http://schemas.microsoft.com/office/drawing/2014/main" id="{C7CE5A67-513F-D11F-A03C-A231D971AE9A}"/>
              </a:ext>
            </a:extLst>
          </p:cNvPr>
          <p:cNvSpPr>
            <a:spLocks noChangeArrowheads="1"/>
          </p:cNvSpPr>
          <p:nvPr/>
        </p:nvSpPr>
        <p:spPr bwMode="auto">
          <a:xfrm>
            <a:off x="3419475" y="2492375"/>
            <a:ext cx="287338"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6" name="Oval 48">
            <a:extLst>
              <a:ext uri="{FF2B5EF4-FFF2-40B4-BE49-F238E27FC236}">
                <a16:creationId xmlns:a16="http://schemas.microsoft.com/office/drawing/2014/main" id="{879E781A-8FC9-E1D5-EF3F-A770D7AEBBEA}"/>
              </a:ext>
            </a:extLst>
          </p:cNvPr>
          <p:cNvSpPr>
            <a:spLocks noChangeArrowheads="1"/>
          </p:cNvSpPr>
          <p:nvPr/>
        </p:nvSpPr>
        <p:spPr bwMode="auto">
          <a:xfrm>
            <a:off x="4643438" y="2492375"/>
            <a:ext cx="287337"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7" name="Oval 49">
            <a:extLst>
              <a:ext uri="{FF2B5EF4-FFF2-40B4-BE49-F238E27FC236}">
                <a16:creationId xmlns:a16="http://schemas.microsoft.com/office/drawing/2014/main" id="{BC556CC1-9D59-1D0C-099E-13D1AAE3432D}"/>
              </a:ext>
            </a:extLst>
          </p:cNvPr>
          <p:cNvSpPr>
            <a:spLocks noChangeArrowheads="1"/>
          </p:cNvSpPr>
          <p:nvPr/>
        </p:nvSpPr>
        <p:spPr bwMode="auto">
          <a:xfrm>
            <a:off x="5795963" y="2492375"/>
            <a:ext cx="287337"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8" name="Oval 50">
            <a:extLst>
              <a:ext uri="{FF2B5EF4-FFF2-40B4-BE49-F238E27FC236}">
                <a16:creationId xmlns:a16="http://schemas.microsoft.com/office/drawing/2014/main" id="{D959CF42-777A-7AAF-E95B-C7B262E2859A}"/>
              </a:ext>
            </a:extLst>
          </p:cNvPr>
          <p:cNvSpPr>
            <a:spLocks noChangeArrowheads="1"/>
          </p:cNvSpPr>
          <p:nvPr/>
        </p:nvSpPr>
        <p:spPr bwMode="auto">
          <a:xfrm>
            <a:off x="6877050" y="2492375"/>
            <a:ext cx="287338"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19" name="Oval 51">
            <a:extLst>
              <a:ext uri="{FF2B5EF4-FFF2-40B4-BE49-F238E27FC236}">
                <a16:creationId xmlns:a16="http://schemas.microsoft.com/office/drawing/2014/main" id="{F3CE5DA5-D328-6373-B14E-91D3DD0157CB}"/>
              </a:ext>
            </a:extLst>
          </p:cNvPr>
          <p:cNvSpPr>
            <a:spLocks noChangeArrowheads="1"/>
          </p:cNvSpPr>
          <p:nvPr/>
        </p:nvSpPr>
        <p:spPr bwMode="auto">
          <a:xfrm>
            <a:off x="8027988" y="2492375"/>
            <a:ext cx="287337" cy="28733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020" name="Text Box 52">
            <a:extLst>
              <a:ext uri="{FF2B5EF4-FFF2-40B4-BE49-F238E27FC236}">
                <a16:creationId xmlns:a16="http://schemas.microsoft.com/office/drawing/2014/main" id="{7A08B592-92B4-59C7-FEC1-432E8AF9390A}"/>
              </a:ext>
            </a:extLst>
          </p:cNvPr>
          <p:cNvSpPr txBox="1">
            <a:spLocks noChangeArrowheads="1"/>
          </p:cNvSpPr>
          <p:nvPr/>
        </p:nvSpPr>
        <p:spPr bwMode="auto">
          <a:xfrm>
            <a:off x="4572000" y="5013325"/>
            <a:ext cx="1296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矩阵结构</a:t>
            </a:r>
          </a:p>
        </p:txBody>
      </p:sp>
      <p:sp>
        <p:nvSpPr>
          <p:cNvPr id="84021" name="Line 53">
            <a:extLst>
              <a:ext uri="{FF2B5EF4-FFF2-40B4-BE49-F238E27FC236}">
                <a16:creationId xmlns:a16="http://schemas.microsoft.com/office/drawing/2014/main" id="{49DA019F-0776-0366-1079-AB5AE324381C}"/>
              </a:ext>
            </a:extLst>
          </p:cNvPr>
          <p:cNvSpPr>
            <a:spLocks noChangeShapeType="1"/>
          </p:cNvSpPr>
          <p:nvPr/>
        </p:nvSpPr>
        <p:spPr bwMode="auto">
          <a:xfrm>
            <a:off x="1619250" y="1484313"/>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23" name="Rectangle 55">
            <a:extLst>
              <a:ext uri="{FF2B5EF4-FFF2-40B4-BE49-F238E27FC236}">
                <a16:creationId xmlns:a16="http://schemas.microsoft.com/office/drawing/2014/main" id="{C53DBE3A-90DC-DA53-2C4B-008BD6705205}"/>
              </a:ext>
            </a:extLst>
          </p:cNvPr>
          <p:cNvSpPr>
            <a:spLocks noChangeArrowheads="1"/>
          </p:cNvSpPr>
          <p:nvPr/>
        </p:nvSpPr>
        <p:spPr bwMode="auto">
          <a:xfrm>
            <a:off x="179388" y="188913"/>
            <a:ext cx="1279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7.4</a:t>
            </a:r>
            <a:r>
              <a:rPr kumimoji="0" lang="zh-CN" altLang="en-US" sz="1600">
                <a:latin typeface="Arial" panose="020B0604020202020204" pitchFamily="34" charset="0"/>
              </a:rPr>
              <a:t>部门划分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B70F1C2B-F050-CE44-227E-003B7C739EEC}"/>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1F291461-EF46-3497-BD2D-027CACB32C2A}"/>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AFAB072E-4852-3A11-4E2D-C0C661864D61}"/>
              </a:ext>
            </a:extLst>
          </p:cNvPr>
          <p:cNvSpPr>
            <a:spLocks noGrp="1"/>
          </p:cNvSpPr>
          <p:nvPr>
            <p:ph type="sldNum" sz="quarter" idx="12"/>
          </p:nvPr>
        </p:nvSpPr>
        <p:spPr/>
        <p:txBody>
          <a:bodyPr/>
          <a:lstStyle/>
          <a:p>
            <a:fld id="{D6EDEBD1-CFF1-4F80-9D67-4C402FD5281A}" type="slidenum">
              <a:rPr lang="en-US" altLang="zh-CN"/>
              <a:pPr/>
              <a:t>17</a:t>
            </a:fld>
            <a:endParaRPr lang="en-US" altLang="zh-CN"/>
          </a:p>
        </p:txBody>
      </p:sp>
      <p:graphicFrame>
        <p:nvGraphicFramePr>
          <p:cNvPr id="85044" name="Group 52">
            <a:extLst>
              <a:ext uri="{FF2B5EF4-FFF2-40B4-BE49-F238E27FC236}">
                <a16:creationId xmlns:a16="http://schemas.microsoft.com/office/drawing/2014/main" id="{3B3A999A-375E-37C5-2AB8-A7076FB0C490}"/>
              </a:ext>
            </a:extLst>
          </p:cNvPr>
          <p:cNvGraphicFramePr>
            <a:graphicFrameLocks noGrp="1"/>
          </p:cNvGraphicFramePr>
          <p:nvPr>
            <p:ph/>
          </p:nvPr>
        </p:nvGraphicFramePr>
        <p:xfrm>
          <a:off x="468313" y="1196975"/>
          <a:ext cx="8229600" cy="4508500"/>
        </p:xfrm>
        <a:graphic>
          <a:graphicData uri="http://schemas.openxmlformats.org/drawingml/2006/table">
            <a:tbl>
              <a:tblPr/>
              <a:tblGrid>
                <a:gridCol w="1366837">
                  <a:extLst>
                    <a:ext uri="{9D8B030D-6E8A-4147-A177-3AD203B41FA5}">
                      <a16:colId xmlns:a16="http://schemas.microsoft.com/office/drawing/2014/main" val="754547978"/>
                    </a:ext>
                  </a:extLst>
                </a:gridCol>
                <a:gridCol w="2232025">
                  <a:extLst>
                    <a:ext uri="{9D8B030D-6E8A-4147-A177-3AD203B41FA5}">
                      <a16:colId xmlns:a16="http://schemas.microsoft.com/office/drawing/2014/main" val="1369950863"/>
                    </a:ext>
                  </a:extLst>
                </a:gridCol>
                <a:gridCol w="2316163">
                  <a:extLst>
                    <a:ext uri="{9D8B030D-6E8A-4147-A177-3AD203B41FA5}">
                      <a16:colId xmlns:a16="http://schemas.microsoft.com/office/drawing/2014/main" val="2901339135"/>
                    </a:ext>
                  </a:extLst>
                </a:gridCol>
                <a:gridCol w="2314575">
                  <a:extLst>
                    <a:ext uri="{9D8B030D-6E8A-4147-A177-3AD203B41FA5}">
                      <a16:colId xmlns:a16="http://schemas.microsoft.com/office/drawing/2014/main" val="2720854270"/>
                    </a:ext>
                  </a:extLst>
                </a:gridCol>
              </a:tblGrid>
              <a:tr h="4318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特征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职能结构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分部结构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矩阵结构</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8817644"/>
                  </a:ext>
                </a:extLst>
              </a:tr>
              <a:tr h="4333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分部式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混合式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0298555"/>
                  </a:ext>
                </a:extLst>
              </a:tr>
              <a:tr h="606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环境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较低的不确定性，稳定</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中等到高度不确定性，变化性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中等到高度不确定性，变化性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0547979"/>
                  </a:ext>
                </a:extLst>
              </a:tr>
              <a:tr h="6080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技术</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例行，较低的相互依存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非例行，部门间较高的相互依存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例行或非例行，职能间一定的依存</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6404657"/>
                  </a:ext>
                </a:extLst>
              </a:tr>
              <a:tr h="6080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战略，目标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内部效率，技术质量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外部效益，适应，顾客满意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外部有效性，适应，顾客满意</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91568433"/>
                  </a:ext>
                </a:extLst>
              </a:tr>
              <a:tr h="606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经营目标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强调职能目标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强调产品线</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强调产品线和某些职能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6964871"/>
                  </a:ext>
                </a:extLst>
              </a:tr>
              <a:tr h="60642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计划，预算</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基于成本的预算，统计报告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基于成本和收益的利润中心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基于分部的利润中心，基于核心职能的成功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707078"/>
                  </a:ext>
                </a:extLst>
              </a:tr>
              <a:tr h="6080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职能经理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产品经理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产品经理，取决于职能经理的协作</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384933"/>
                  </a:ext>
                </a:extLst>
              </a:tr>
            </a:tbl>
          </a:graphicData>
        </a:graphic>
      </p:graphicFrame>
      <p:sp>
        <p:nvSpPr>
          <p:cNvPr id="85041" name="Text Box 49">
            <a:extLst>
              <a:ext uri="{FF2B5EF4-FFF2-40B4-BE49-F238E27FC236}">
                <a16:creationId xmlns:a16="http://schemas.microsoft.com/office/drawing/2014/main" id="{80735A22-BEF3-C353-415A-2583BAFF2AC2}"/>
              </a:ext>
            </a:extLst>
          </p:cNvPr>
          <p:cNvSpPr txBox="1">
            <a:spLocks noChangeArrowheads="1"/>
          </p:cNvSpPr>
          <p:nvPr/>
        </p:nvSpPr>
        <p:spPr bwMode="auto">
          <a:xfrm>
            <a:off x="2411413" y="765175"/>
            <a:ext cx="467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职能结构、分部结构和矩阵结构的特征比较</a:t>
            </a:r>
          </a:p>
        </p:txBody>
      </p:sp>
      <p:sp>
        <p:nvSpPr>
          <p:cNvPr id="85043" name="Rectangle 51">
            <a:extLst>
              <a:ext uri="{FF2B5EF4-FFF2-40B4-BE49-F238E27FC236}">
                <a16:creationId xmlns:a16="http://schemas.microsoft.com/office/drawing/2014/main" id="{859CF8AE-70F5-D33A-B268-5DCC90BEE596}"/>
              </a:ext>
            </a:extLst>
          </p:cNvPr>
          <p:cNvSpPr>
            <a:spLocks noChangeArrowheads="1"/>
          </p:cNvSpPr>
          <p:nvPr/>
        </p:nvSpPr>
        <p:spPr bwMode="auto">
          <a:xfrm>
            <a:off x="179388" y="188913"/>
            <a:ext cx="1279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7.4</a:t>
            </a:r>
            <a:r>
              <a:rPr kumimoji="0" lang="zh-CN" altLang="en-US" sz="1600">
                <a:latin typeface="Arial" panose="020B0604020202020204" pitchFamily="34" charset="0"/>
              </a:rPr>
              <a:t>部门划分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D992F549-C75F-6616-301F-BC668CC18ED4}"/>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FA519764-1FD6-F358-A8E2-39B854F04852}"/>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5EFA2280-AE54-8440-CCE6-01102E4C686B}"/>
              </a:ext>
            </a:extLst>
          </p:cNvPr>
          <p:cNvSpPr>
            <a:spLocks noGrp="1"/>
          </p:cNvSpPr>
          <p:nvPr>
            <p:ph type="sldNum" sz="quarter" idx="12"/>
          </p:nvPr>
        </p:nvSpPr>
        <p:spPr/>
        <p:txBody>
          <a:bodyPr/>
          <a:lstStyle/>
          <a:p>
            <a:fld id="{DC5CE9FD-4305-4B29-BA20-C1F2372209C3}" type="slidenum">
              <a:rPr lang="en-US" altLang="zh-CN"/>
              <a:pPr/>
              <a:t>18</a:t>
            </a:fld>
            <a:endParaRPr lang="en-US" altLang="zh-CN"/>
          </a:p>
        </p:txBody>
      </p:sp>
      <p:graphicFrame>
        <p:nvGraphicFramePr>
          <p:cNvPr id="86018" name="Group 2">
            <a:extLst>
              <a:ext uri="{FF2B5EF4-FFF2-40B4-BE49-F238E27FC236}">
                <a16:creationId xmlns:a16="http://schemas.microsoft.com/office/drawing/2014/main" id="{A00795CA-D09F-51FE-D277-03D145A4CF42}"/>
              </a:ext>
            </a:extLst>
          </p:cNvPr>
          <p:cNvGraphicFramePr>
            <a:graphicFrameLocks noGrp="1"/>
          </p:cNvGraphicFramePr>
          <p:nvPr>
            <p:ph/>
          </p:nvPr>
        </p:nvGraphicFramePr>
        <p:xfrm>
          <a:off x="468313" y="1125538"/>
          <a:ext cx="8229600" cy="5089525"/>
        </p:xfrm>
        <a:graphic>
          <a:graphicData uri="http://schemas.openxmlformats.org/drawingml/2006/table">
            <a:tbl>
              <a:tblPr/>
              <a:tblGrid>
                <a:gridCol w="1162050">
                  <a:extLst>
                    <a:ext uri="{9D8B030D-6E8A-4147-A177-3AD203B41FA5}">
                      <a16:colId xmlns:a16="http://schemas.microsoft.com/office/drawing/2014/main" val="1274483564"/>
                    </a:ext>
                  </a:extLst>
                </a:gridCol>
                <a:gridCol w="3589337">
                  <a:extLst>
                    <a:ext uri="{9D8B030D-6E8A-4147-A177-3AD203B41FA5}">
                      <a16:colId xmlns:a16="http://schemas.microsoft.com/office/drawing/2014/main" val="2712292980"/>
                    </a:ext>
                  </a:extLst>
                </a:gridCol>
                <a:gridCol w="3478213">
                  <a:extLst>
                    <a:ext uri="{9D8B030D-6E8A-4147-A177-3AD203B41FA5}">
                      <a16:colId xmlns:a16="http://schemas.microsoft.com/office/drawing/2014/main" val="3302218004"/>
                    </a:ext>
                  </a:extLst>
                </a:gridCol>
              </a:tblGrid>
              <a:tr h="3603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优势</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劣势</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6685373"/>
                  </a:ext>
                </a:extLst>
              </a:tr>
              <a:tr h="13223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职能结构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鼓励部门内部规模经济；</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促进深层次技能提高；</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促进组织实现职能目标；</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在中小企业中最优；</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一种或少数几种产品时最优。</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对外界环境变化反应较慢；</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可能引起高层决策缓慢，负荷重；</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导致部门之间缺少横向协调；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导致缺乏创新；</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对组织目标的认识有限。</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18146161"/>
                  </a:ext>
                </a:extLst>
              </a:tr>
              <a:tr h="13223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分部结构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适应不稳定环境下的高度变化；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实现顾客满意；</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跨职能的高度协调；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使各分部适应不同的产品；</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在产品较多的大公司中效果好；</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决策分权。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失去了职能部门内部的规模经济；</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导致产品线之间缺乏协调；</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失去了深度竞争和技术专门化；</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产品线间的整合与标准化变得困难。</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11543797"/>
                  </a:ext>
                </a:extLst>
              </a:tr>
              <a:tr h="13223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矩阵结构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在分部内获得适应性和协调，在核心职能部门内实现效率；</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公司和分部目标更好的一致性效果；</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获得产品线内和产品线间的协调。</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存在过多管理费用的可能性；</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导致分部和公司部门间的冲突。</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339042"/>
                  </a:ext>
                </a:extLst>
              </a:tr>
            </a:tbl>
          </a:graphicData>
        </a:graphic>
      </p:graphicFrame>
      <p:sp>
        <p:nvSpPr>
          <p:cNvPr id="86040" name="Text Box 24">
            <a:extLst>
              <a:ext uri="{FF2B5EF4-FFF2-40B4-BE49-F238E27FC236}">
                <a16:creationId xmlns:a16="http://schemas.microsoft.com/office/drawing/2014/main" id="{FC52100A-E247-8039-8774-8354C8C829A6}"/>
              </a:ext>
            </a:extLst>
          </p:cNvPr>
          <p:cNvSpPr txBox="1">
            <a:spLocks noChangeArrowheads="1"/>
          </p:cNvSpPr>
          <p:nvPr/>
        </p:nvSpPr>
        <p:spPr bwMode="auto">
          <a:xfrm>
            <a:off x="2843213" y="620713"/>
            <a:ext cx="4103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1800">
                <a:latin typeface="Arial" panose="020B0604020202020204" pitchFamily="34" charset="0"/>
                <a:ea typeface="黑体" panose="02010609060101010101" pitchFamily="49" charset="-122"/>
              </a:rPr>
              <a:t>职能结构、分部结构和矩阵结构的比较</a:t>
            </a:r>
          </a:p>
        </p:txBody>
      </p:sp>
      <p:sp>
        <p:nvSpPr>
          <p:cNvPr id="86042" name="Rectangle 26">
            <a:extLst>
              <a:ext uri="{FF2B5EF4-FFF2-40B4-BE49-F238E27FC236}">
                <a16:creationId xmlns:a16="http://schemas.microsoft.com/office/drawing/2014/main" id="{F784B9D4-E4BD-6576-6C97-568C93A0A524}"/>
              </a:ext>
            </a:extLst>
          </p:cNvPr>
          <p:cNvSpPr>
            <a:spLocks noChangeArrowheads="1"/>
          </p:cNvSpPr>
          <p:nvPr/>
        </p:nvSpPr>
        <p:spPr bwMode="auto">
          <a:xfrm>
            <a:off x="179388" y="188913"/>
            <a:ext cx="1279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en-US" altLang="zh-CN" sz="1600">
                <a:latin typeface="Arial" panose="020B0604020202020204" pitchFamily="34" charset="0"/>
              </a:rPr>
              <a:t>7.4</a:t>
            </a:r>
            <a:r>
              <a:rPr kumimoji="0" lang="zh-CN" altLang="en-US" sz="1600">
                <a:latin typeface="Arial" panose="020B0604020202020204" pitchFamily="34" charset="0"/>
              </a:rPr>
              <a:t>部门划分</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TotalTime>
  <Words>2148</Words>
  <Application>Microsoft Office PowerPoint</Application>
  <PresentationFormat>全屏显示(4:3)</PresentationFormat>
  <Paragraphs>495</Paragraphs>
  <Slides>18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Times New Roman</vt:lpstr>
      <vt:lpstr>宋体</vt:lpstr>
      <vt:lpstr>华文行楷</vt:lpstr>
      <vt:lpstr>Arial</vt:lpstr>
      <vt:lpstr>黑体</vt:lpstr>
      <vt:lpstr>默认设计模板</vt:lpstr>
      <vt:lpstr>第7讲 组织结构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TDR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组织结构设计</dc:title>
  <dc:creator>sc</dc:creator>
  <cp:lastModifiedBy>先生 刘</cp:lastModifiedBy>
  <cp:revision>46</cp:revision>
  <dcterms:created xsi:type="dcterms:W3CDTF">2002-04-02T02:06:15Z</dcterms:created>
  <dcterms:modified xsi:type="dcterms:W3CDTF">2023-10-22T14:25:05Z</dcterms:modified>
</cp:coreProperties>
</file>